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5"/>
  </p:notesMasterIdLst>
  <p:handoutMasterIdLst>
    <p:handoutMasterId r:id="rId25"/>
  </p:handoutMasterIdLst>
  <p:sldIdLst>
    <p:sldId id="301" r:id="rId3"/>
    <p:sldId id="291" r:id="rId4"/>
    <p:sldId id="272" r:id="rId6"/>
    <p:sldId id="303" r:id="rId7"/>
    <p:sldId id="305" r:id="rId8"/>
    <p:sldId id="306" r:id="rId9"/>
    <p:sldId id="307" r:id="rId10"/>
    <p:sldId id="309" r:id="rId11"/>
    <p:sldId id="324" r:id="rId12"/>
    <p:sldId id="310" r:id="rId13"/>
    <p:sldId id="311" r:id="rId14"/>
    <p:sldId id="312" r:id="rId15"/>
    <p:sldId id="302" r:id="rId16"/>
    <p:sldId id="314" r:id="rId17"/>
    <p:sldId id="315" r:id="rId18"/>
    <p:sldId id="316" r:id="rId19"/>
    <p:sldId id="317" r:id="rId20"/>
    <p:sldId id="318" r:id="rId21"/>
    <p:sldId id="319" r:id="rId22"/>
    <p:sldId id="321" r:id="rId23"/>
    <p:sldId id="322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3" userDrawn="1">
          <p15:clr>
            <a:srgbClr val="A4A3A4"/>
          </p15:clr>
        </p15:guide>
        <p15:guide id="2" pos="36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  <a:srgbClr val="2E3C63"/>
    <a:srgbClr val="174995"/>
    <a:srgbClr val="4874CB"/>
    <a:srgbClr val="174994"/>
    <a:srgbClr val="DCEAF6"/>
    <a:srgbClr val="FCF7F0"/>
    <a:srgbClr val="4B72AD"/>
    <a:srgbClr val="F7E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/>
    <p:restoredTop sz="87958" autoAdjust="0"/>
  </p:normalViewPr>
  <p:slideViewPr>
    <p:cSldViewPr snapToGrid="0" showGuides="1">
      <p:cViewPr varScale="1">
        <p:scale>
          <a:sx n="72" d="100"/>
          <a:sy n="72" d="100"/>
        </p:scale>
        <p:origin x="1157" y="43"/>
      </p:cViewPr>
      <p:guideLst>
        <p:guide orient="horz" pos="2263"/>
        <p:guide pos="369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27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5.xml"/><Relationship Id="rId15" Type="http://schemas.openxmlformats.org/officeDocument/2006/relationships/tags" Target="../tags/tag4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073" y="608044"/>
            <a:ext cx="10970706" cy="706473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608073" y="1490740"/>
            <a:ext cx="10970706" cy="475957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 baseline="0"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4.png"/><Relationship Id="rId2" Type="http://schemas.openxmlformats.org/officeDocument/2006/relationships/tags" Target="../tags/tag6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image" Target="../media/image5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4.png"/><Relationship Id="rId2" Type="http://schemas.openxmlformats.org/officeDocument/2006/relationships/tags" Target="../tags/tag1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4.png"/><Relationship Id="rId2" Type="http://schemas.openxmlformats.org/officeDocument/2006/relationships/tags" Target="../tags/tag18.xml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image" Target="../media/image4.png"/><Relationship Id="rId2" Type="http://schemas.openxmlformats.org/officeDocument/2006/relationships/tags" Target="../tags/tag24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9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image" Target="../media/image4.png"/><Relationship Id="rId2" Type="http://schemas.openxmlformats.org/officeDocument/2006/relationships/tags" Target="../tags/tag30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5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image" Target="../media/image4.png"/><Relationship Id="rId2" Type="http://schemas.openxmlformats.org/officeDocument/2006/relationships/tags" Target="../tags/tag36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4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image" Target="../media/image12.png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image" Target="../media/image4.png"/><Relationship Id="rId2" Type="http://schemas.openxmlformats.org/officeDocument/2006/relationships/tags" Target="../tags/tag42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image" Target="../media/image13.png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image" Target="../media/image4.png"/><Relationship Id="rId2" Type="http://schemas.openxmlformats.org/officeDocument/2006/relationships/tags" Target="../tags/tag48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image" Target="../media/image4.png"/><Relationship Id="rId2" Type="http://schemas.openxmlformats.org/officeDocument/2006/relationships/tags" Target="../tags/tag54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59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64.xml"/><Relationship Id="rId7" Type="http://schemas.openxmlformats.org/officeDocument/2006/relationships/image" Target="../media/image16.png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image" Target="../media/image4.png"/><Relationship Id="rId2" Type="http://schemas.openxmlformats.org/officeDocument/2006/relationships/tags" Target="../tags/tag60.xml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65.xml"/><Relationship Id="rId10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image" Target="../media/image18.png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image" Target="../media/image4.png"/><Relationship Id="rId2" Type="http://schemas.openxmlformats.org/officeDocument/2006/relationships/tags" Target="../tags/tag66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4.png"/><Relationship Id="rId2" Type="http://schemas.openxmlformats.org/officeDocument/2006/relationships/tags" Target="../tags/tag72.xml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image" Target="../media/image5.png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image" Target="../media/image4.png"/><Relationship Id="rId2" Type="http://schemas.openxmlformats.org/officeDocument/2006/relationships/tags" Target="../tags/tag78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image" Target="../media/image4.png"/><Relationship Id="rId2" Type="http://schemas.openxmlformats.org/officeDocument/2006/relationships/tags" Target="../tags/tag84.xml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image" Target="../media/image19.png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image" Target="../media/image4.png"/><Relationship Id="rId2" Type="http://schemas.openxmlformats.org/officeDocument/2006/relationships/tags" Target="../tags/tag90.xml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image" Target="../media/image4.png"/><Relationship Id="rId2" Type="http://schemas.openxmlformats.org/officeDocument/2006/relationships/tags" Target="../tags/tag96.xml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02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image" Target="../media/image4.png"/><Relationship Id="rId2" Type="http://schemas.openxmlformats.org/officeDocument/2006/relationships/tags" Target="../tags/tag103.xml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image" Target="../media/image21.png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image" Target="../media/image4.png"/><Relationship Id="rId2" Type="http://schemas.openxmlformats.org/officeDocument/2006/relationships/tags" Target="../tags/tag109.xml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image" Target="../media/image22.png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image" Target="../media/image4.png"/><Relationship Id="rId2" Type="http://schemas.openxmlformats.org/officeDocument/2006/relationships/tags" Target="../tags/tag115.xml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23.png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image" Target="../media/image4.png"/><Relationship Id="rId2" Type="http://schemas.openxmlformats.org/officeDocument/2006/relationships/tags" Target="../tags/tag121.xml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47845" y="2352675"/>
            <a:ext cx="81178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2E3C63"/>
                </a:solidFill>
                <a:latin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en-US" sz="3200" b="1">
                <a:solidFill>
                  <a:srgbClr val="2E3C63"/>
                </a:solidFill>
                <a:sym typeface="+mn-ea"/>
              </a:rPr>
              <a:t>Model </a:t>
            </a:r>
            <a:r>
              <a:rPr lang="en-US" altLang="zh-CN" sz="3200" b="1">
                <a:solidFill>
                  <a:srgbClr val="2E3C63"/>
                </a:solidFill>
                <a:sym typeface="+mn-ea"/>
              </a:rPr>
              <a:t>Inference Acceleration</a:t>
            </a:r>
            <a:endParaRPr lang="zh-CN" altLang="en-US" sz="3200" b="1" dirty="0">
              <a:solidFill>
                <a:srgbClr val="2E3C63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3200" b="1" dirty="0">
                <a:solidFill>
                  <a:srgbClr val="2E3C63"/>
                </a:solidFill>
                <a:latin typeface="微软雅黑" panose="020B0503020204020204" charset="-122"/>
                <a:cs typeface="微软雅黑" panose="020B0503020204020204" charset="-122"/>
              </a:rPr>
              <a:t>4. Training &amp; Distributed Computing</a:t>
            </a:r>
            <a:endParaRPr lang="en-US" altLang="zh-CN" sz="3200" b="1" dirty="0">
              <a:solidFill>
                <a:srgbClr val="2E3C63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21553" y="2352821"/>
            <a:ext cx="2413000" cy="7067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1" cap="none" spc="0" dirty="0">
                <a:ln w="0"/>
                <a:solidFill>
                  <a:srgbClr val="2E3C6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OUTLINE</a:t>
            </a:r>
            <a:endParaRPr lang="en-US" altLang="zh-CN" sz="4000" b="1" cap="none" spc="0" dirty="0">
              <a:ln w="0"/>
              <a:solidFill>
                <a:srgbClr val="2E3C6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图片 5" descr="剪影居中蓝 低版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1" descr="国科大标准Logo横式一（蓝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01625" y="1356360"/>
            <a:ext cx="11657330" cy="702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spc="200" dirty="0"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AI Infrasturcture</a:t>
            </a:r>
            <a:endParaRPr lang="en-US" altLang="zh-CN" sz="4400" b="1" spc="200" dirty="0"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2840" y="4027805"/>
            <a:ext cx="4159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latin typeface="微软雅黑" panose="020B0503020204020204" charset="-122"/>
                <a:cs typeface="微软雅黑" panose="020B0503020204020204" charset="-122"/>
              </a:rPr>
              <a:t>夏梓轩</a:t>
            </a:r>
            <a:r>
              <a:rPr lang="en-US" altLang="zh-CN" sz="1800" b="1" dirty="0">
                <a:latin typeface="微软雅黑" panose="020B0503020204020204" charset="-122"/>
                <a:cs typeface="微软雅黑" panose="020B0503020204020204" charset="-122"/>
              </a:rPr>
              <a:t>       2026.04.09</a:t>
            </a:r>
            <a:endParaRPr lang="en-US" altLang="zh-CN" sz="1800" b="1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92810" y="1654175"/>
            <a:ext cx="10399395" cy="144843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600" b="1">
                <a:solidFill>
                  <a:srgbClr val="2E3C63"/>
                </a:solidFill>
                <a:sym typeface="+mn-ea"/>
              </a:rPr>
              <a:t>Model </a:t>
            </a:r>
            <a:r>
              <a:rPr lang="en-US" altLang="zh-CN" sz="3600" b="1">
                <a:solidFill>
                  <a:srgbClr val="2E3C63"/>
                </a:solidFill>
                <a:sym typeface="+mn-ea"/>
              </a:rPr>
              <a:t>Inference Acceleration</a:t>
            </a:r>
            <a:endParaRPr lang="en-US" altLang="zh-CN" sz="3600" b="1">
              <a:solidFill>
                <a:srgbClr val="2E3C63"/>
              </a:solidFill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542415" y="2734945"/>
            <a:ext cx="7473950" cy="236156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</a:t>
            </a:r>
            <a:r>
              <a:rPr lang="zh-CN" altLang="en-US" sz="2400" b="1" dirty="0">
                <a:solidFill>
                  <a:srgbClr val="2E3C63"/>
                </a:solidFill>
                <a:sym typeface="+mn-ea"/>
              </a:rPr>
              <a:t>原理</a:t>
            </a:r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&amp; </a:t>
            </a:r>
            <a:r>
              <a:rPr lang="zh-CN" altLang="en-US" sz="2400" b="1" dirty="0">
                <a:solidFill>
                  <a:srgbClr val="2E3C63"/>
                </a:solidFill>
                <a:sym typeface="+mn-ea"/>
              </a:rPr>
              <a:t>性能分析</a:t>
            </a:r>
            <a:endParaRPr lang="zh-CN" altLang="en-US" sz="2400" b="1" dirty="0">
              <a:solidFill>
                <a:srgbClr val="2E3C63"/>
              </a:solidFill>
              <a:sym typeface="+mn-ea"/>
            </a:endParaRPr>
          </a:p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Decode </a:t>
            </a:r>
            <a:r>
              <a:rPr lang="zh-CN" altLang="en-US" sz="2400" b="1" dirty="0">
                <a:solidFill>
                  <a:srgbClr val="2E3C63"/>
                </a:solidFill>
                <a:sym typeface="+mn-ea"/>
              </a:rPr>
              <a:t>层核心架构</a:t>
            </a:r>
            <a:endParaRPr lang="en-US" altLang="zh-CN" sz="2400" b="1" dirty="0">
              <a:solidFill>
                <a:srgbClr val="2E3C63"/>
              </a:solidFill>
              <a:sym typeface="+mn-ea"/>
            </a:endParaRPr>
          </a:p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</a:t>
            </a:r>
            <a:r>
              <a:rPr lang="zh-CN" altLang="en-US" sz="2400" b="1" dirty="0">
                <a:solidFill>
                  <a:srgbClr val="2E3C63"/>
                </a:solidFill>
                <a:sym typeface="+mn-ea"/>
              </a:rPr>
              <a:t>算法级优化</a:t>
            </a:r>
            <a:endParaRPr lang="zh-CN" altLang="en-US" sz="2400" b="1" dirty="0">
              <a:solidFill>
                <a:srgbClr val="2E3C63"/>
              </a:solidFill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Inference Acceleration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620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推理原理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以</a:t>
            </a:r>
            <a:r>
              <a:rPr lang="en-US" altLang="zh-CN" b="1">
                <a:solidFill>
                  <a:schemeClr val="tx1"/>
                </a:solidFill>
              </a:rPr>
              <a:t> Qwen3 </a:t>
            </a:r>
            <a:r>
              <a:rPr lang="zh-CN" altLang="en-US" b="1">
                <a:solidFill>
                  <a:schemeClr val="tx1"/>
                </a:solidFill>
              </a:rPr>
              <a:t>为例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Embedding + RoPe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Decode Layer * N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RMSNorm</a:t>
            </a:r>
            <a:endParaRPr lang="en-US" altLang="zh-CN" b="1">
              <a:solidFill>
                <a:schemeClr val="tx1"/>
              </a:solidFill>
            </a:endParaRPr>
          </a:p>
          <a:p>
            <a:pPr lvl="0"/>
            <a:endParaRPr lang="zh-CN" altLang="en-US" b="1">
              <a:solidFill>
                <a:srgbClr val="C00000"/>
              </a:solidFill>
            </a:endParaRPr>
          </a:p>
          <a:p>
            <a:pPr lvl="0"/>
            <a:r>
              <a:rPr lang="zh-CN" altLang="en-US" b="1">
                <a:solidFill>
                  <a:schemeClr val="tx1"/>
                </a:solidFill>
              </a:rPr>
              <a:t>自回归 (Autoregressive)</a:t>
            </a:r>
            <a:endParaRPr lang="zh-CN" altLang="en-US" b="1">
              <a:solidFill>
                <a:schemeClr val="tx1"/>
              </a:solidFill>
            </a:endParaRPr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13" name="图片 12" descr="图片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2155" y="1295400"/>
            <a:ext cx="7287895" cy="43700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Inference Acceleration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chemeClr val="tx1"/>
                </a:solidFill>
              </a:rPr>
              <a:t>性能分析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阶段一：</a:t>
            </a:r>
            <a:r>
              <a:rPr lang="en-US" altLang="zh-CN" b="1">
                <a:solidFill>
                  <a:schemeClr val="tx1"/>
                </a:solidFill>
              </a:rPr>
              <a:t>Prefill</a:t>
            </a:r>
            <a:r>
              <a:rPr lang="zh-CN" altLang="en-US" b="1">
                <a:solidFill>
                  <a:schemeClr val="tx1"/>
                </a:solidFill>
              </a:rPr>
              <a:t>（预填充阶段）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行为：一次性处理全量</a:t>
            </a:r>
            <a:r>
              <a:rPr lang="en-US" altLang="zh-CN" b="1">
                <a:solidFill>
                  <a:schemeClr val="tx1"/>
                </a:solidFill>
              </a:rPr>
              <a:t> Prompt</a:t>
            </a:r>
            <a:r>
              <a:rPr lang="zh-CN" altLang="en-US" b="1">
                <a:solidFill>
                  <a:schemeClr val="tx1"/>
                </a:solidFill>
              </a:rPr>
              <a:t>，输出首个</a:t>
            </a:r>
            <a:r>
              <a:rPr lang="en-US" altLang="zh-CN" b="1">
                <a:solidFill>
                  <a:schemeClr val="tx1"/>
                </a:solidFill>
              </a:rPr>
              <a:t> token (Time To First Token</a:t>
            </a:r>
            <a:r>
              <a:rPr lang="zh-CN" altLang="en-US" b="1">
                <a:solidFill>
                  <a:schemeClr val="tx1"/>
                </a:solidFill>
              </a:rPr>
              <a:t>，</a:t>
            </a:r>
            <a:r>
              <a:rPr lang="en-US" altLang="zh-CN" b="1">
                <a:solidFill>
                  <a:schemeClr val="tx1"/>
                </a:solidFill>
              </a:rPr>
              <a:t>TTFT)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特性：高度并行的矩阵乘法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Compute-bound</a:t>
            </a:r>
            <a:r>
              <a:rPr lang="zh-CN" altLang="en-US" b="1">
                <a:solidFill>
                  <a:schemeClr val="tx1"/>
                </a:solidFill>
              </a:rPr>
              <a:t>：数据传输速度跟得上计算速度，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算力单元（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ALU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）满载，</a:t>
            </a:r>
            <a:r>
              <a:rPr lang="en-US" altLang="zh-CN" b="1">
                <a:solidFill>
                  <a:schemeClr val="tx1"/>
                </a:solidFill>
              </a:rPr>
              <a:t>GPU</a:t>
            </a:r>
            <a:r>
              <a:rPr lang="zh-CN" altLang="en-US" b="1">
                <a:solidFill>
                  <a:schemeClr val="tx1"/>
                </a:solidFill>
              </a:rPr>
              <a:t>利用率高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sz="1600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阶段二：</a:t>
            </a:r>
            <a:r>
              <a:rPr lang="en-US" altLang="zh-CN" b="1">
                <a:solidFill>
                  <a:schemeClr val="tx1"/>
                </a:solidFill>
              </a:rPr>
              <a:t>Decode</a:t>
            </a:r>
            <a:r>
              <a:rPr lang="zh-CN" altLang="en-US" b="1">
                <a:solidFill>
                  <a:schemeClr val="tx1"/>
                </a:solidFill>
              </a:rPr>
              <a:t>（解码阶段）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行为：逐字生成，每次仅处理</a:t>
            </a:r>
            <a:r>
              <a:rPr lang="en-US" altLang="zh-CN" b="1">
                <a:solidFill>
                  <a:schemeClr val="tx1"/>
                </a:solidFill>
              </a:rPr>
              <a:t> 1 </a:t>
            </a:r>
            <a:r>
              <a:rPr lang="zh-CN" altLang="en-US" b="1">
                <a:solidFill>
                  <a:schemeClr val="tx1"/>
                </a:solidFill>
              </a:rPr>
              <a:t>个新</a:t>
            </a:r>
            <a:r>
              <a:rPr lang="en-US" altLang="zh-CN" b="1">
                <a:solidFill>
                  <a:schemeClr val="tx1"/>
                </a:solidFill>
              </a:rPr>
              <a:t> token (Time Per Output Token</a:t>
            </a:r>
            <a:r>
              <a:rPr lang="zh-CN" altLang="en-US" b="1">
                <a:solidFill>
                  <a:schemeClr val="tx1"/>
                </a:solidFill>
              </a:rPr>
              <a:t>，</a:t>
            </a:r>
            <a:r>
              <a:rPr lang="en-US" altLang="zh-CN" b="1">
                <a:solidFill>
                  <a:schemeClr val="tx1"/>
                </a:solidFill>
              </a:rPr>
              <a:t>TPOT)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特性：退化为矩阵</a:t>
            </a:r>
            <a:r>
              <a:rPr lang="en-US" altLang="zh-CN" b="1">
                <a:solidFill>
                  <a:schemeClr val="tx1"/>
                </a:solidFill>
              </a:rPr>
              <a:t>-</a:t>
            </a:r>
            <a:r>
              <a:rPr lang="zh-CN" altLang="en-US" b="1">
                <a:solidFill>
                  <a:schemeClr val="tx1"/>
                </a:solidFill>
              </a:rPr>
              <a:t>向量乘法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Memory-bound</a:t>
            </a:r>
            <a:r>
              <a:rPr lang="zh-CN" altLang="en-US" b="1">
                <a:solidFill>
                  <a:schemeClr val="tx1"/>
                </a:solidFill>
              </a:rPr>
              <a:t>：绝大部分时间在等待权重数据从显存搬运到计算单元</a:t>
            </a:r>
            <a:r>
              <a:rPr lang="en-US" altLang="zh-CN" b="1">
                <a:solidFill>
                  <a:schemeClr val="tx1"/>
                </a:solidFill>
              </a:rPr>
              <a:t> (SRAM)</a:t>
            </a:r>
            <a:r>
              <a:rPr lang="zh-CN" altLang="en-US" b="1">
                <a:solidFill>
                  <a:schemeClr val="tx1"/>
                </a:solidFill>
              </a:rPr>
              <a:t>。算力大量闲置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rgbClr val="C00000"/>
              </a:solidFill>
            </a:endParaRPr>
          </a:p>
          <a:p>
            <a:pPr lvl="1"/>
            <a:endParaRPr lang="zh-CN" altLang="en-US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Inference Acceleration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chemeClr val="tx1"/>
                </a:solidFill>
              </a:rPr>
              <a:t>Decode </a:t>
            </a:r>
            <a:r>
              <a:rPr lang="zh-CN" altLang="en-US" b="1">
                <a:solidFill>
                  <a:schemeClr val="tx1"/>
                </a:solidFill>
              </a:rPr>
              <a:t>阶段核心调度架构</a:t>
            </a:r>
            <a:r>
              <a:rPr lang="en-US" altLang="zh-CN" b="1">
                <a:solidFill>
                  <a:schemeClr val="tx1"/>
                </a:solidFill>
              </a:rPr>
              <a:t> - KV Cache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核心思想：缓存历史计算中的键（</a:t>
            </a:r>
            <a:r>
              <a:rPr lang="en-US" altLang="zh-CN" b="1">
                <a:solidFill>
                  <a:schemeClr val="tx1"/>
                </a:solidFill>
              </a:rPr>
              <a:t>Key</a:t>
            </a:r>
            <a:r>
              <a:rPr lang="zh-CN" altLang="en-US" b="1">
                <a:solidFill>
                  <a:schemeClr val="tx1"/>
                </a:solidFill>
              </a:rPr>
              <a:t>）和值（</a:t>
            </a:r>
            <a:r>
              <a:rPr lang="en-US" altLang="zh-CN" b="1">
                <a:solidFill>
                  <a:schemeClr val="tx1"/>
                </a:solidFill>
              </a:rPr>
              <a:t>Value</a:t>
            </a:r>
            <a:r>
              <a:rPr lang="zh-CN" altLang="en-US" b="1">
                <a:solidFill>
                  <a:schemeClr val="tx1"/>
                </a:solidFill>
              </a:rPr>
              <a:t>）矩阵，避免重复计算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在生成第一个</a:t>
            </a:r>
            <a:r>
              <a:rPr lang="en-US" altLang="zh-CN" b="1">
                <a:solidFill>
                  <a:schemeClr val="tx1"/>
                </a:solidFill>
              </a:rPr>
              <a:t> token </a:t>
            </a:r>
            <a:r>
              <a:rPr lang="zh-CN" altLang="en-US" b="1">
                <a:solidFill>
                  <a:schemeClr val="tx1"/>
                </a:solidFill>
              </a:rPr>
              <a:t>时，模型计算并缓存所有输入</a:t>
            </a:r>
            <a:r>
              <a:rPr lang="en-US" altLang="zh-CN" b="1">
                <a:solidFill>
                  <a:schemeClr val="tx1"/>
                </a:solidFill>
              </a:rPr>
              <a:t> token </a:t>
            </a:r>
            <a:r>
              <a:rPr lang="zh-CN" altLang="en-US" b="1">
                <a:solidFill>
                  <a:schemeClr val="tx1"/>
                </a:solidFill>
              </a:rPr>
              <a:t>的</a:t>
            </a:r>
            <a:r>
              <a:rPr lang="en-US" altLang="zh-CN" b="1">
                <a:solidFill>
                  <a:schemeClr val="tx1"/>
                </a:solidFill>
              </a:rPr>
              <a:t> K </a:t>
            </a:r>
            <a:r>
              <a:rPr lang="zh-CN" altLang="en-US" b="1">
                <a:solidFill>
                  <a:schemeClr val="tx1"/>
                </a:solidFill>
              </a:rPr>
              <a:t>和</a:t>
            </a:r>
            <a:r>
              <a:rPr lang="en-US" altLang="zh-CN" b="1">
                <a:solidFill>
                  <a:schemeClr val="tx1"/>
                </a:solidFill>
              </a:rPr>
              <a:t> V </a:t>
            </a:r>
            <a:r>
              <a:rPr lang="zh-CN" altLang="en-US" b="1">
                <a:solidFill>
                  <a:schemeClr val="tx1"/>
                </a:solidFill>
              </a:rPr>
              <a:t>矩阵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每次新生成</a:t>
            </a:r>
            <a:r>
              <a:rPr lang="en-US" altLang="zh-CN" b="1">
                <a:solidFill>
                  <a:schemeClr val="tx1"/>
                </a:solidFill>
              </a:rPr>
              <a:t> token </a:t>
            </a:r>
            <a:r>
              <a:rPr lang="zh-CN" altLang="en-US" b="1">
                <a:solidFill>
                  <a:schemeClr val="tx1"/>
                </a:solidFill>
              </a:rPr>
              <a:t>时，只需计算新的</a:t>
            </a:r>
            <a:r>
              <a:rPr lang="en-US" altLang="zh-CN" b="1">
                <a:solidFill>
                  <a:schemeClr val="tx1"/>
                </a:solidFill>
              </a:rPr>
              <a:t> Q </a:t>
            </a:r>
            <a:r>
              <a:rPr lang="zh-CN" altLang="en-US" b="1">
                <a:solidFill>
                  <a:schemeClr val="tx1"/>
                </a:solidFill>
              </a:rPr>
              <a:t>矩阵并与历史</a:t>
            </a:r>
            <a:r>
              <a:rPr lang="en-US" altLang="zh-CN" b="1">
                <a:solidFill>
                  <a:schemeClr val="tx1"/>
                </a:solidFill>
              </a:rPr>
              <a:t> KV </a:t>
            </a:r>
            <a:r>
              <a:rPr lang="zh-CN" altLang="en-US" b="1">
                <a:solidFill>
                  <a:schemeClr val="tx1"/>
                </a:solidFill>
              </a:rPr>
              <a:t>矩阵进行注意力计算</a:t>
            </a:r>
            <a:endParaRPr lang="zh-CN" altLang="en-US" b="1">
              <a:solidFill>
                <a:schemeClr val="tx1"/>
              </a:solidFill>
            </a:endParaRPr>
          </a:p>
          <a:p>
            <a:endParaRPr lang="zh-CN" altLang="en-US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15" name="图片 14" descr="image-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7415" y="2983230"/>
            <a:ext cx="5996305" cy="3242945"/>
          </a:xfrm>
          <a:prstGeom prst="rect">
            <a:avLst/>
          </a:prstGeom>
        </p:spPr>
      </p:pic>
      <p:pic>
        <p:nvPicPr>
          <p:cNvPr id="14" name="图片 13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755" y="2976880"/>
            <a:ext cx="5997575" cy="317817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Inference Acceleration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chemeClr val="tx1"/>
                </a:solidFill>
              </a:rPr>
              <a:t>Decode </a:t>
            </a:r>
            <a:r>
              <a:rPr lang="zh-CN" altLang="en-US" b="1">
                <a:solidFill>
                  <a:schemeClr val="tx1"/>
                </a:solidFill>
              </a:rPr>
              <a:t>阶段核心调度架构</a:t>
            </a:r>
            <a:r>
              <a:rPr lang="en-US" altLang="zh-CN" b="1">
                <a:solidFill>
                  <a:schemeClr val="tx1"/>
                </a:solidFill>
              </a:rPr>
              <a:t> - KV Cache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核心思想：缓存历史计算中的键（</a:t>
            </a:r>
            <a:r>
              <a:rPr lang="en-US" altLang="zh-CN" b="1">
                <a:solidFill>
                  <a:schemeClr val="tx1"/>
                </a:solidFill>
              </a:rPr>
              <a:t>Key</a:t>
            </a:r>
            <a:r>
              <a:rPr lang="zh-CN" altLang="en-US" b="1">
                <a:solidFill>
                  <a:schemeClr val="tx1"/>
                </a:solidFill>
              </a:rPr>
              <a:t>）和值（</a:t>
            </a:r>
            <a:r>
              <a:rPr lang="en-US" altLang="zh-CN" b="1">
                <a:solidFill>
                  <a:schemeClr val="tx1"/>
                </a:solidFill>
              </a:rPr>
              <a:t>Value</a:t>
            </a:r>
            <a:r>
              <a:rPr lang="zh-CN" altLang="en-US" b="1">
                <a:solidFill>
                  <a:schemeClr val="tx1"/>
                </a:solidFill>
              </a:rPr>
              <a:t>）矩阵，避免重复计算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将时间复杂度</a:t>
            </a:r>
            <a:r>
              <a:rPr lang="zh-CN" altLang="en-US" b="1">
                <a:solidFill>
                  <a:srgbClr val="C00000"/>
                </a:solidFill>
              </a:rPr>
              <a:t>从</a:t>
            </a:r>
            <a:r>
              <a:rPr lang="en-US" altLang="zh-CN" b="1">
                <a:solidFill>
                  <a:srgbClr val="C00000"/>
                </a:solidFill>
              </a:rPr>
              <a:t> O(n</a:t>
            </a:r>
            <a:r>
              <a:rPr lang="en-US" altLang="en-US" b="1">
                <a:solidFill>
                  <a:srgbClr val="C00000"/>
                </a:solidFill>
              </a:rPr>
              <a:t>²</a:t>
            </a:r>
            <a:r>
              <a:rPr lang="en-US" altLang="zh-CN" b="1">
                <a:solidFill>
                  <a:srgbClr val="C00000"/>
                </a:solidFill>
              </a:rPr>
              <a:t>) </a:t>
            </a:r>
            <a:r>
              <a:rPr lang="zh-CN" altLang="en-US" b="1">
                <a:solidFill>
                  <a:srgbClr val="C00000"/>
                </a:solidFill>
              </a:rPr>
              <a:t>降低到</a:t>
            </a:r>
            <a:r>
              <a:rPr lang="en-US" altLang="zh-CN" b="1">
                <a:solidFill>
                  <a:srgbClr val="C00000"/>
                </a:solidFill>
              </a:rPr>
              <a:t> O(n)</a:t>
            </a:r>
            <a:endParaRPr lang="en-US" altLang="zh-CN" b="1">
              <a:solidFill>
                <a:schemeClr val="tx1"/>
              </a:solidFill>
            </a:endParaRPr>
          </a:p>
          <a:p>
            <a:endParaRPr lang="zh-CN" altLang="en-US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 descr="image-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300" y="2860040"/>
            <a:ext cx="5738495" cy="304927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9"/>
          <a:stretch>
            <a:fillRect/>
          </a:stretch>
        </p:blipFill>
        <p:spPr>
          <a:xfrm>
            <a:off x="6111875" y="2860040"/>
            <a:ext cx="5937885" cy="304863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Inference Acceleration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pic>
        <p:nvPicPr>
          <p:cNvPr id="8" name="图片 7" descr="image-4"/>
          <p:cNvPicPr>
            <a:picLocks noChangeAspect="1"/>
          </p:cNvPicPr>
          <p:nvPr/>
        </p:nvPicPr>
        <p:blipFill>
          <a:blip r:embed="rId7"/>
          <a:srcRect l="6689" t="15648" b="14907"/>
          <a:stretch>
            <a:fillRect/>
          </a:stretch>
        </p:blipFill>
        <p:spPr>
          <a:xfrm>
            <a:off x="5207000" y="2746375"/>
            <a:ext cx="6919595" cy="3227070"/>
          </a:xfrm>
          <a:prstGeom prst="rect">
            <a:avLst/>
          </a:prstGeom>
        </p:spPr>
      </p:pic>
      <p:pic>
        <p:nvPicPr>
          <p:cNvPr id="10" name="图片 9" descr="image-5"/>
          <p:cNvPicPr>
            <a:picLocks noChangeAspect="1"/>
          </p:cNvPicPr>
          <p:nvPr/>
        </p:nvPicPr>
        <p:blipFill>
          <a:blip r:embed="rId8"/>
          <a:srcRect l="3143" t="8278" r="7732" b="26056"/>
          <a:stretch>
            <a:fillRect/>
          </a:stretch>
        </p:blipFill>
        <p:spPr>
          <a:xfrm>
            <a:off x="5081905" y="2746375"/>
            <a:ext cx="7109460" cy="3227070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00" y="1214120"/>
            <a:ext cx="10968990" cy="51015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chemeClr val="tx1"/>
                </a:solidFill>
              </a:rPr>
              <a:t>Decode </a:t>
            </a:r>
            <a:r>
              <a:rPr lang="zh-CN" altLang="en-US" b="1">
                <a:solidFill>
                  <a:schemeClr val="tx1"/>
                </a:solidFill>
              </a:rPr>
              <a:t>阶段核心调度架构</a:t>
            </a:r>
            <a:r>
              <a:rPr lang="en-US" altLang="zh-CN" b="1">
                <a:solidFill>
                  <a:schemeClr val="tx1"/>
                </a:solidFill>
              </a:rPr>
              <a:t> - PagedAttention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传统静态</a:t>
            </a:r>
            <a:r>
              <a:rPr lang="en-US" altLang="zh-CN" b="1">
                <a:solidFill>
                  <a:schemeClr val="tx1"/>
                </a:solidFill>
              </a:rPr>
              <a:t> KV Cache </a:t>
            </a:r>
            <a:r>
              <a:rPr lang="zh-CN" altLang="en-US" b="1">
                <a:solidFill>
                  <a:schemeClr val="tx1"/>
                </a:solidFill>
              </a:rPr>
              <a:t>显存分配产生进程内部、外部碎片，导致显存、</a:t>
            </a:r>
            <a:r>
              <a:rPr lang="en-US" altLang="zh-CN" b="1">
                <a:solidFill>
                  <a:schemeClr val="tx1"/>
                </a:solidFill>
              </a:rPr>
              <a:t>GPU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利用率低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核心思想：借鉴</a:t>
            </a:r>
            <a:r>
              <a:rPr lang="en-US" altLang="zh-CN" b="1">
                <a:solidFill>
                  <a:schemeClr val="tx1"/>
                </a:solidFill>
              </a:rPr>
              <a:t>OS</a:t>
            </a:r>
            <a:r>
              <a:rPr lang="zh-CN" altLang="en-US" b="1">
                <a:solidFill>
                  <a:schemeClr val="tx1"/>
                </a:solidFill>
              </a:rPr>
              <a:t>虚拟内存分页，将</a:t>
            </a:r>
            <a:r>
              <a:rPr lang="en-US" altLang="zh-CN" b="1">
                <a:solidFill>
                  <a:schemeClr val="tx1"/>
                </a:solidFill>
              </a:rPr>
              <a:t> KV Cache </a:t>
            </a:r>
            <a:r>
              <a:rPr lang="zh-CN" altLang="en-US" b="1">
                <a:solidFill>
                  <a:schemeClr val="tx1"/>
                </a:solidFill>
              </a:rPr>
              <a:t>划分为固定大小的</a:t>
            </a:r>
            <a:r>
              <a:rPr lang="en-US" altLang="zh-CN" b="1">
                <a:solidFill>
                  <a:schemeClr val="tx1"/>
                </a:solidFill>
              </a:rPr>
              <a:t> Block</a:t>
            </a:r>
            <a:r>
              <a:rPr lang="zh-CN" altLang="en-US" b="1">
                <a:solidFill>
                  <a:schemeClr val="tx1"/>
                </a:solidFill>
              </a:rPr>
              <a:t>，建立逻辑块到物理块映射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 b="1">
                <a:solidFill>
                  <a:schemeClr val="tx1"/>
                </a:solidFill>
              </a:rPr>
              <a:t>(i) Prefill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分配逻辑块、物理块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建立映射关系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 b="1">
                <a:solidFill>
                  <a:schemeClr val="tx1"/>
                </a:solidFill>
              </a:rPr>
              <a:t>(ii) Decode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基于新</a:t>
            </a:r>
            <a:r>
              <a:rPr lang="en-US" altLang="zh-CN" b="1">
                <a:solidFill>
                  <a:schemeClr val="tx1"/>
                </a:solidFill>
              </a:rPr>
              <a:t>token</a:t>
            </a:r>
            <a:r>
              <a:rPr lang="zh-CN" altLang="en-US" b="1">
                <a:solidFill>
                  <a:schemeClr val="tx1"/>
                </a:solidFill>
              </a:rPr>
              <a:t>填充</a:t>
            </a:r>
            <a:r>
              <a:rPr lang="en-US" altLang="zh-CN" b="1">
                <a:solidFill>
                  <a:schemeClr val="tx1"/>
                </a:solidFill>
              </a:rPr>
              <a:t> KV blocks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更新逻辑块、物理块和</a:t>
            </a:r>
            <a:r>
              <a:rPr lang="en-US" altLang="zh-CN" b="1">
                <a:solidFill>
                  <a:schemeClr val="tx1"/>
                </a:solidFill>
              </a:rPr>
              <a:t> block table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解码策略不同、填充策略对应改变；调度和抢占</a:t>
            </a:r>
            <a:endParaRPr lang="zh-CN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Inference Acceleration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968375"/>
            <a:ext cx="10968990" cy="63004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chemeClr val="tx1"/>
                </a:solidFill>
              </a:rPr>
              <a:t>Decode </a:t>
            </a:r>
            <a:r>
              <a:rPr lang="zh-CN" altLang="en-US" b="1">
                <a:solidFill>
                  <a:schemeClr val="tx1"/>
                </a:solidFill>
              </a:rPr>
              <a:t>阶段核心调度架构</a:t>
            </a:r>
            <a:r>
              <a:rPr lang="en-US" altLang="zh-CN" b="1">
                <a:solidFill>
                  <a:schemeClr val="tx1"/>
                </a:solidFill>
              </a:rPr>
              <a:t> - Continuous Batching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Static Batching</a:t>
            </a:r>
            <a:r>
              <a:rPr lang="zh-CN" altLang="en-US" b="1">
                <a:solidFill>
                  <a:schemeClr val="tx1"/>
                </a:solidFill>
              </a:rPr>
              <a:t>：请求被分批存放，仅当批次填满时才执行处理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Dynamic Batching</a:t>
            </a:r>
            <a:r>
              <a:rPr lang="zh-CN" altLang="en-US" b="1">
                <a:solidFill>
                  <a:schemeClr val="tx1"/>
                </a:solidFill>
              </a:rPr>
              <a:t>：处理该时间段内到达的所有请求。批次提前达到数量上限，则立即处理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Padding Waste</a:t>
            </a:r>
            <a:r>
              <a:rPr lang="zh-CN" altLang="en-US" b="1">
                <a:solidFill>
                  <a:schemeClr val="tx1"/>
                </a:solidFill>
              </a:rPr>
              <a:t>：批次结束时间由最长请求决定，早结束的请求只能空转，</a:t>
            </a:r>
            <a:r>
              <a:rPr lang="en-US" altLang="zh-CN" b="1">
                <a:solidFill>
                  <a:schemeClr val="tx1"/>
                </a:solidFill>
              </a:rPr>
              <a:t>GPU </a:t>
            </a:r>
            <a:r>
              <a:rPr lang="zh-CN" altLang="en-US" b="1">
                <a:solidFill>
                  <a:schemeClr val="tx1"/>
                </a:solidFill>
              </a:rPr>
              <a:t>计算槽位大量闲置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  <a:sym typeface="+mn-ea"/>
              </a:rPr>
              <a:t>VRAM Locked</a:t>
            </a:r>
            <a:r>
              <a:rPr lang="zh-CN" altLang="en-US" b="1">
                <a:solidFill>
                  <a:schemeClr val="tx1"/>
                </a:solidFill>
              </a:rPr>
              <a:t>：短请求的</a:t>
            </a:r>
            <a:r>
              <a:rPr lang="en-US" altLang="zh-CN" b="1">
                <a:solidFill>
                  <a:schemeClr val="tx1"/>
                </a:solidFill>
              </a:rPr>
              <a:t> KV Cache </a:t>
            </a:r>
            <a:r>
              <a:rPr lang="zh-CN" altLang="en-US" b="1">
                <a:solidFill>
                  <a:schemeClr val="tx1"/>
                </a:solidFill>
              </a:rPr>
              <a:t>必须等</a:t>
            </a:r>
            <a:r>
              <a:rPr lang="en-US" altLang="zh-CN" b="1">
                <a:solidFill>
                  <a:schemeClr val="tx1"/>
                </a:solidFill>
              </a:rPr>
              <a:t> Batch </a:t>
            </a:r>
            <a:r>
              <a:rPr lang="zh-CN" altLang="en-US" b="1">
                <a:solidFill>
                  <a:schemeClr val="tx1"/>
                </a:solidFill>
              </a:rPr>
              <a:t>结束释放，新请求因显存不足被阻挡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  <a:sym typeface="+mn-ea"/>
              </a:rPr>
              <a:t>High Latency</a:t>
            </a:r>
            <a:r>
              <a:rPr lang="zh-CN" altLang="en-US" b="1">
                <a:solidFill>
                  <a:schemeClr val="tx1"/>
                </a:solidFill>
              </a:rPr>
              <a:t>：强行凑齐批次导致首字响应</a:t>
            </a:r>
            <a:r>
              <a:rPr lang="en-US" altLang="zh-CN" b="1">
                <a:solidFill>
                  <a:schemeClr val="tx1"/>
                </a:solidFill>
              </a:rPr>
              <a:t>(TTFT)</a:t>
            </a:r>
            <a:r>
              <a:rPr lang="zh-CN" altLang="en-US" b="1">
                <a:solidFill>
                  <a:schemeClr val="tx1"/>
                </a:solidFill>
              </a:rPr>
              <a:t>慢</a:t>
            </a:r>
            <a:endParaRPr lang="en-US" altLang="zh-CN"/>
          </a:p>
        </p:txBody>
      </p:sp>
      <p:pic>
        <p:nvPicPr>
          <p:cNvPr id="8" name="图片 7" descr="image-6"/>
          <p:cNvPicPr>
            <a:picLocks noChangeAspect="1"/>
          </p:cNvPicPr>
          <p:nvPr/>
        </p:nvPicPr>
        <p:blipFill>
          <a:blip r:embed="rId8"/>
          <a:srcRect t="11901" b="7061"/>
          <a:stretch>
            <a:fillRect/>
          </a:stretch>
        </p:blipFill>
        <p:spPr>
          <a:xfrm>
            <a:off x="2369185" y="2303780"/>
            <a:ext cx="7455535" cy="265049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Inference Acceleration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1214120"/>
            <a:ext cx="11260455" cy="51015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chemeClr val="tx1"/>
                </a:solidFill>
                <a:sym typeface="+mn-ea"/>
              </a:rPr>
              <a:t>Decode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阶段核心调度架构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 - Continuous Batching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核心思想：针对推理中每个</a:t>
            </a:r>
            <a:r>
              <a:rPr lang="en-US" altLang="zh-CN" b="1">
                <a:solidFill>
                  <a:schemeClr val="tx1"/>
                </a:solidFill>
              </a:rPr>
              <a:t> Request </a:t>
            </a:r>
            <a:r>
              <a:rPr lang="zh-CN" altLang="en-US" b="1">
                <a:solidFill>
                  <a:schemeClr val="tx1"/>
                </a:solidFill>
              </a:rPr>
              <a:t>的</a:t>
            </a:r>
            <a:r>
              <a:rPr lang="en-US" altLang="zh-CN" b="1">
                <a:solidFill>
                  <a:schemeClr val="tx1"/>
                </a:solidFill>
              </a:rPr>
              <a:t> Decode </a:t>
            </a:r>
            <a:r>
              <a:rPr lang="zh-CN" altLang="en-US" b="1">
                <a:solidFill>
                  <a:schemeClr val="tx1"/>
                </a:solidFill>
              </a:rPr>
              <a:t>长度不同的特性，当</a:t>
            </a:r>
            <a:r>
              <a:rPr lang="en-US" altLang="zh-CN" b="1">
                <a:solidFill>
                  <a:schemeClr val="tx1"/>
                </a:solidFill>
              </a:rPr>
              <a:t> batch </a:t>
            </a:r>
            <a:r>
              <a:rPr lang="zh-CN" altLang="en-US" b="1">
                <a:solidFill>
                  <a:schemeClr val="tx1"/>
                </a:solidFill>
              </a:rPr>
              <a:t>中的某个序列一旦完成生成，立即被替换为新的请求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Prefill </a:t>
            </a:r>
            <a:r>
              <a:rPr lang="zh-CN" altLang="en-US" b="1">
                <a:solidFill>
                  <a:schemeClr val="tx1"/>
                </a:solidFill>
              </a:rPr>
              <a:t>阶段可以搭载在</a:t>
            </a:r>
            <a:r>
              <a:rPr lang="en-US" altLang="zh-CN" b="1">
                <a:solidFill>
                  <a:schemeClr val="tx1"/>
                </a:solidFill>
              </a:rPr>
              <a:t> Decode </a:t>
            </a:r>
            <a:r>
              <a:rPr lang="zh-CN" altLang="en-US" b="1">
                <a:solidFill>
                  <a:schemeClr val="tx1"/>
                </a:solidFill>
              </a:rPr>
              <a:t>阶段未被充分利用的算力上，提升整体算力利用率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Decode </a:t>
            </a:r>
            <a:r>
              <a:rPr lang="zh-CN" altLang="en-US" b="1">
                <a:solidFill>
                  <a:schemeClr val="tx1"/>
                </a:solidFill>
              </a:rPr>
              <a:t>阶段可以和</a:t>
            </a:r>
            <a:r>
              <a:rPr lang="en-US" altLang="zh-CN" b="1">
                <a:solidFill>
                  <a:schemeClr val="tx1"/>
                </a:solidFill>
              </a:rPr>
              <a:t> Prefill </a:t>
            </a:r>
            <a:r>
              <a:rPr lang="zh-CN" altLang="en-US" b="1">
                <a:solidFill>
                  <a:schemeClr val="tx1"/>
                </a:solidFill>
              </a:rPr>
              <a:t>阶段共享一次权重读取，减少内存带宽压力，提高带宽利用率</a:t>
            </a:r>
            <a:endParaRPr lang="zh-CN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8" name="图片 7" descr="image-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305" y="3473450"/>
            <a:ext cx="10106660" cy="22987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Inference Acceleration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1214120"/>
            <a:ext cx="11260455" cy="51015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chemeClr val="tx1"/>
                </a:solidFill>
              </a:rPr>
              <a:t>算法级优化</a:t>
            </a:r>
            <a:r>
              <a:rPr lang="en-US" altLang="zh-CN" b="1">
                <a:solidFill>
                  <a:schemeClr val="tx1"/>
                </a:solidFill>
              </a:rPr>
              <a:t> - </a:t>
            </a:r>
            <a:r>
              <a:rPr lang="zh-CN" altLang="en-US" b="1">
                <a:solidFill>
                  <a:schemeClr val="tx1"/>
                </a:solidFill>
              </a:rPr>
              <a:t>量化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核心思想：减小模型参数的体积，直接减少显存搬运的时间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W8A8 (Weight &amp; Activation 8-bit)</a:t>
            </a:r>
            <a:r>
              <a:rPr lang="zh-CN" altLang="en-US" b="1">
                <a:solidFill>
                  <a:schemeClr val="tx1"/>
                </a:solidFill>
              </a:rPr>
              <a:t>：从</a:t>
            </a:r>
            <a:r>
              <a:rPr lang="en-US" altLang="zh-CN" b="1">
                <a:solidFill>
                  <a:schemeClr val="tx1"/>
                </a:solidFill>
              </a:rPr>
              <a:t>16-bit</a:t>
            </a:r>
            <a:r>
              <a:rPr lang="zh-CN" altLang="en-US" b="1">
                <a:solidFill>
                  <a:schemeClr val="tx1"/>
                </a:solidFill>
              </a:rPr>
              <a:t>压缩至</a:t>
            </a:r>
            <a:r>
              <a:rPr lang="en-US" altLang="zh-CN" b="1">
                <a:solidFill>
                  <a:schemeClr val="tx1"/>
                </a:solidFill>
              </a:rPr>
              <a:t>8-bit</a:t>
            </a:r>
            <a:r>
              <a:rPr lang="zh-CN" altLang="en-US" b="1">
                <a:solidFill>
                  <a:schemeClr val="tx1"/>
                </a:solidFill>
              </a:rPr>
              <a:t>，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利用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GPU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专用的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 INT8 Tensor Core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  <a:sym typeface="+mn-ea"/>
              </a:rPr>
              <a:t>原始线性映射</a:t>
            </a:r>
            <a:r>
              <a:rPr lang="zh-CN" b="1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当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 LLMs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的模型参数量超过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 6.7B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时，激活中会成片出现大幅的离群点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  <a:sym typeface="+mn-ea"/>
              </a:rPr>
              <a:t>SmoothQuant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技术：</a:t>
            </a:r>
            <a:r>
              <a:rPr lang="zh-CN" altLang="en-US" b="1">
                <a:solidFill>
                  <a:schemeClr val="tx1"/>
                </a:solidFill>
              </a:rPr>
              <a:t>引入对角缩放矩阵，</a:t>
            </a:r>
            <a:r>
              <a:rPr lang="zh-CN" altLang="en-US" b="1">
                <a:solidFill>
                  <a:srgbClr val="C00000"/>
                </a:solidFill>
              </a:rPr>
              <a:t>把</a:t>
            </a:r>
            <a:r>
              <a:rPr lang="en-US" altLang="zh-CN" b="1">
                <a:solidFill>
                  <a:srgbClr val="C00000"/>
                </a:solidFill>
              </a:rPr>
              <a:t> X </a:t>
            </a:r>
            <a:r>
              <a:rPr lang="zh-CN" altLang="en-US" b="1">
                <a:solidFill>
                  <a:srgbClr val="C00000"/>
                </a:solidFill>
              </a:rPr>
              <a:t>量化的难度转移一部分给</a:t>
            </a:r>
            <a:r>
              <a:rPr lang="en-US" altLang="zh-CN" b="1">
                <a:solidFill>
                  <a:srgbClr val="C00000"/>
                </a:solidFill>
              </a:rPr>
              <a:t> W</a:t>
            </a:r>
            <a:endParaRPr lang="en-US" altLang="zh-CN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 descr="image-8"/>
          <p:cNvPicPr>
            <a:picLocks noChangeAspect="1"/>
          </p:cNvPicPr>
          <p:nvPr/>
        </p:nvPicPr>
        <p:blipFill>
          <a:blip r:embed="rId8"/>
          <a:srcRect b="69004"/>
          <a:stretch>
            <a:fillRect/>
          </a:stretch>
        </p:blipFill>
        <p:spPr>
          <a:xfrm>
            <a:off x="181610" y="4109085"/>
            <a:ext cx="5953125" cy="1946910"/>
          </a:xfrm>
          <a:prstGeom prst="rect">
            <a:avLst/>
          </a:prstGeom>
        </p:spPr>
      </p:pic>
      <p:pic>
        <p:nvPicPr>
          <p:cNvPr id="11" name="图片 10" descr="image-8"/>
          <p:cNvPicPr>
            <a:picLocks noChangeAspect="1"/>
          </p:cNvPicPr>
          <p:nvPr/>
        </p:nvPicPr>
        <p:blipFill>
          <a:blip r:embed="rId8"/>
          <a:srcRect t="32060" b="36528"/>
          <a:stretch>
            <a:fillRect/>
          </a:stretch>
        </p:blipFill>
        <p:spPr>
          <a:xfrm>
            <a:off x="6134735" y="4083050"/>
            <a:ext cx="5953125" cy="19729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2200" y="3380105"/>
            <a:ext cx="4124325" cy="37147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Inference Acceleration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pic>
        <p:nvPicPr>
          <p:cNvPr id="8" name="图片 7" descr="image-9"/>
          <p:cNvPicPr>
            <a:picLocks noChangeAspect="1"/>
          </p:cNvPicPr>
          <p:nvPr/>
        </p:nvPicPr>
        <p:blipFill>
          <a:blip r:embed="rId7"/>
          <a:srcRect l="2194" t="4353" r="2875" b="4161"/>
          <a:stretch>
            <a:fillRect/>
          </a:stretch>
        </p:blipFill>
        <p:spPr>
          <a:xfrm>
            <a:off x="6216015" y="3197860"/>
            <a:ext cx="5975985" cy="3370580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16865" y="1214120"/>
            <a:ext cx="11260455" cy="51015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chemeClr val="tx1"/>
                </a:solidFill>
              </a:rPr>
              <a:t>算法级优化</a:t>
            </a:r>
            <a:r>
              <a:rPr lang="en-US" altLang="zh-CN" b="1">
                <a:solidFill>
                  <a:schemeClr val="tx1"/>
                </a:solidFill>
              </a:rPr>
              <a:t> - </a:t>
            </a:r>
            <a:r>
              <a:rPr lang="zh-CN" altLang="en-US" b="1">
                <a:solidFill>
                  <a:schemeClr val="tx1"/>
                </a:solidFill>
              </a:rPr>
              <a:t>量化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  <a:sym typeface="+mn-ea"/>
              </a:rPr>
              <a:t>SmoothQuant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技术：</a:t>
            </a:r>
            <a:r>
              <a:rPr lang="zh-CN" altLang="en-US" b="1">
                <a:solidFill>
                  <a:schemeClr val="tx1"/>
                </a:solidFill>
              </a:rPr>
              <a:t>引入对角缩放矩阵，把</a:t>
            </a:r>
            <a:r>
              <a:rPr lang="en-US" altLang="zh-CN" b="1">
                <a:solidFill>
                  <a:schemeClr val="tx1"/>
                </a:solidFill>
              </a:rPr>
              <a:t> X </a:t>
            </a:r>
            <a:r>
              <a:rPr lang="zh-CN" altLang="en-US" b="1">
                <a:solidFill>
                  <a:schemeClr val="tx1"/>
                </a:solidFill>
              </a:rPr>
              <a:t>量化的难度转移一部分给</a:t>
            </a:r>
            <a:r>
              <a:rPr lang="en-US" altLang="zh-CN" b="1">
                <a:solidFill>
                  <a:schemeClr val="tx1"/>
                </a:solidFill>
              </a:rPr>
              <a:t> W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需要在</a:t>
            </a:r>
            <a:r>
              <a:rPr lang="en-US" altLang="zh-CN" b="1">
                <a:solidFill>
                  <a:schemeClr val="tx1"/>
                </a:solidFill>
              </a:rPr>
              <a:t> weight </a:t>
            </a:r>
            <a:r>
              <a:rPr lang="zh-CN" altLang="en-US" b="1">
                <a:solidFill>
                  <a:schemeClr val="tx1"/>
                </a:solidFill>
              </a:rPr>
              <a:t>和</a:t>
            </a:r>
            <a:r>
              <a:rPr lang="en-US" altLang="zh-CN" b="1">
                <a:solidFill>
                  <a:schemeClr val="tx1"/>
                </a:solidFill>
              </a:rPr>
              <a:t> activation </a:t>
            </a:r>
            <a:r>
              <a:rPr lang="zh-CN" altLang="en-US" b="1">
                <a:solidFill>
                  <a:schemeClr val="tx1"/>
                </a:solidFill>
              </a:rPr>
              <a:t>中</a:t>
            </a:r>
            <a:r>
              <a:rPr lang="zh-CN" altLang="en-US" b="1">
                <a:solidFill>
                  <a:srgbClr val="C00000"/>
                </a:solidFill>
              </a:rPr>
              <a:t>平衡量化难度</a:t>
            </a:r>
            <a:r>
              <a:rPr lang="zh-CN" altLang="en-US" b="1">
                <a:solidFill>
                  <a:schemeClr val="tx1"/>
                </a:solidFill>
              </a:rPr>
              <a:t>，让二者均容易被量化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加入超参</a:t>
            </a:r>
            <a:r>
              <a:rPr lang="en-US" altLang="zh-CN" b="1">
                <a:solidFill>
                  <a:schemeClr val="tx1"/>
                </a:solidFill>
              </a:rPr>
              <a:t>α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  <a:sym typeface="+mn-ea"/>
              </a:rPr>
              <a:t>α=1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b="1">
                <a:solidFill>
                  <a:schemeClr val="tx1"/>
                </a:solidFill>
              </a:rPr>
              <a:t>把离群点全部抹平，但所有波动都转移给权重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  <a:sym typeface="+mn-ea"/>
              </a:rPr>
              <a:t>α=0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：未对激活值缩放，退化为</a:t>
            </a:r>
            <a:r>
              <a:rPr lang="zh-CN" altLang="en-US" b="1">
                <a:solidFill>
                  <a:schemeClr val="tx1"/>
                </a:solidFill>
              </a:rPr>
              <a:t>传统的</a:t>
            </a:r>
            <a:r>
              <a:rPr lang="en-US" altLang="zh-CN" b="1">
                <a:solidFill>
                  <a:schemeClr val="tx1"/>
                </a:solidFill>
              </a:rPr>
              <a:t> W8A8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通常选择</a:t>
            </a:r>
            <a:r>
              <a:rPr lang="en-US" altLang="zh-CN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α=0.5</a:t>
            </a:r>
            <a:endParaRPr lang="en-US" altLang="zh-CN" b="1">
              <a:solidFill>
                <a:schemeClr val="tx1"/>
              </a:solidFill>
              <a:sym typeface="+mn-ea"/>
            </a:endParaRPr>
          </a:p>
          <a:p>
            <a:pPr lvl="1"/>
            <a:endParaRPr lang="en-US" altLang="zh-CN" b="1">
              <a:solidFill>
                <a:schemeClr val="tx1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Weight-Only </a:t>
            </a:r>
            <a:r>
              <a:rPr lang="zh-CN" altLang="en-US" b="1">
                <a:solidFill>
                  <a:schemeClr val="tx1"/>
                </a:solidFill>
              </a:rPr>
              <a:t>量化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；</a:t>
            </a:r>
            <a:r>
              <a:rPr lang="en-US" altLang="zh-CN" b="1">
                <a:solidFill>
                  <a:schemeClr val="tx1"/>
                </a:solidFill>
              </a:rPr>
              <a:t>KV Cache </a:t>
            </a:r>
            <a:r>
              <a:rPr lang="zh-CN" altLang="en-US" b="1">
                <a:solidFill>
                  <a:schemeClr val="tx1"/>
                </a:solidFill>
              </a:rPr>
              <a:t>量化</a:t>
            </a:r>
            <a:endParaRPr lang="zh-CN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4325" y="3197860"/>
            <a:ext cx="2152650" cy="5918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3895" y="2197735"/>
            <a:ext cx="4124325" cy="37147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Inference Acceleration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1214120"/>
            <a:ext cx="11260455" cy="51015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chemeClr val="tx1"/>
                </a:solidFill>
              </a:rPr>
              <a:t>算法级优化</a:t>
            </a:r>
            <a:r>
              <a:rPr lang="en-US" altLang="zh-CN" b="1">
                <a:solidFill>
                  <a:schemeClr val="tx1"/>
                </a:solidFill>
              </a:rPr>
              <a:t> - </a:t>
            </a:r>
            <a:r>
              <a:rPr lang="zh-CN" altLang="en-US" b="1">
                <a:solidFill>
                  <a:schemeClr val="tx1"/>
                </a:solidFill>
              </a:rPr>
              <a:t>推测解码（</a:t>
            </a:r>
            <a:r>
              <a:rPr lang="en-US" altLang="zh-CN" b="1">
                <a:solidFill>
                  <a:schemeClr val="tx1"/>
                </a:solidFill>
              </a:rPr>
              <a:t>Speculative Decoding</a:t>
            </a:r>
            <a:r>
              <a:rPr lang="zh-CN" altLang="en-US" b="1">
                <a:solidFill>
                  <a:schemeClr val="tx1"/>
                </a:solidFill>
              </a:rPr>
              <a:t>）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b="1">
                <a:solidFill>
                  <a:schemeClr val="tx1"/>
                </a:solidFill>
                <a:sym typeface="+mn-ea"/>
              </a:rPr>
              <a:t>核心思想：</a:t>
            </a:r>
            <a:r>
              <a:rPr lang="zh-CN" altLang="en-US" b="1">
                <a:solidFill>
                  <a:schemeClr val="tx1"/>
                </a:solidFill>
              </a:rPr>
              <a:t>小模型草稿</a:t>
            </a:r>
            <a:r>
              <a:rPr lang="en-US" altLang="zh-CN" b="1">
                <a:solidFill>
                  <a:schemeClr val="tx1"/>
                </a:solidFill>
              </a:rPr>
              <a:t> + </a:t>
            </a:r>
            <a:r>
              <a:rPr lang="zh-CN" altLang="en-US" b="1">
                <a:solidFill>
                  <a:schemeClr val="tx1"/>
                </a:solidFill>
              </a:rPr>
              <a:t>大模型验证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en-US" altLang="zh-CN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通过</a:t>
            </a:r>
            <a:r>
              <a:rPr lang="en-US" altLang="zh-CN" b="1">
                <a:solidFill>
                  <a:schemeClr val="tx1"/>
                </a:solidFill>
              </a:rPr>
              <a:t>Causal Mask</a:t>
            </a:r>
            <a:r>
              <a:rPr lang="zh-CN" altLang="en-US" b="1">
                <a:solidFill>
                  <a:schemeClr val="tx1"/>
                </a:solidFill>
              </a:rPr>
              <a:t>，对于长度为</a:t>
            </a:r>
            <a:r>
              <a:rPr lang="en-US" altLang="zh-CN" b="1">
                <a:solidFill>
                  <a:schemeClr val="tx1"/>
                </a:solidFill>
              </a:rPr>
              <a:t>K</a:t>
            </a:r>
            <a:r>
              <a:rPr lang="zh-CN" altLang="en-US" b="1">
                <a:solidFill>
                  <a:schemeClr val="tx1"/>
                </a:solidFill>
              </a:rPr>
              <a:t>的候选序列，一次前向传播，得到每个位置的下一个</a:t>
            </a:r>
            <a:r>
              <a:rPr lang="en-US" altLang="zh-CN" b="1">
                <a:solidFill>
                  <a:schemeClr val="tx1"/>
                </a:solidFill>
              </a:rPr>
              <a:t>token</a:t>
            </a:r>
            <a:r>
              <a:rPr lang="zh-CN" altLang="en-US" b="1">
                <a:solidFill>
                  <a:schemeClr val="tx1"/>
                </a:solidFill>
              </a:rPr>
              <a:t>的概率分布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与草稿模型生成的候选</a:t>
            </a:r>
            <a:r>
              <a:rPr lang="en-US" altLang="zh-CN" b="1">
                <a:solidFill>
                  <a:schemeClr val="tx1"/>
                </a:solidFill>
              </a:rPr>
              <a:t>token</a:t>
            </a:r>
            <a:r>
              <a:rPr lang="zh-CN" altLang="en-US" b="1">
                <a:solidFill>
                  <a:schemeClr val="tx1"/>
                </a:solidFill>
              </a:rPr>
              <a:t>逐一对比。若拒绝则从该位置开始重新采样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在验证阶段，整个候选序列已经是已知的，可以</a:t>
            </a:r>
            <a:r>
              <a:rPr lang="zh-CN" altLang="en-US" b="1">
                <a:solidFill>
                  <a:srgbClr val="C00000"/>
                </a:solidFill>
              </a:rPr>
              <a:t>并行处理</a:t>
            </a:r>
            <a:r>
              <a:rPr lang="zh-CN" altLang="en-US" b="1">
                <a:solidFill>
                  <a:schemeClr val="tx1"/>
                </a:solidFill>
              </a:rPr>
              <a:t>，打破自回归串行瓶颈</a:t>
            </a:r>
            <a:endParaRPr lang="zh-CN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rcRect b="18728"/>
          <a:stretch>
            <a:fillRect/>
          </a:stretch>
        </p:blipFill>
        <p:spPr>
          <a:xfrm>
            <a:off x="5082540" y="1795145"/>
            <a:ext cx="6171565" cy="281432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92810" y="1654175"/>
            <a:ext cx="10399395" cy="144843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sz="3600" b="1">
                <a:solidFill>
                  <a:srgbClr val="2E3C63"/>
                </a:solidFill>
                <a:sym typeface="+mn-ea"/>
              </a:rPr>
              <a:t>Training &amp; Distributed Computing</a:t>
            </a:r>
            <a:endParaRPr lang="en-US" altLang="zh-CN" sz="3600" b="1">
              <a:solidFill>
                <a:srgbClr val="2E3C63"/>
              </a:solidFill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542415" y="2734945"/>
            <a:ext cx="7473950" cy="236156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</a:t>
            </a:r>
            <a:r>
              <a:rPr lang="zh-CN" altLang="en-US" sz="2400" b="1" dirty="0">
                <a:solidFill>
                  <a:srgbClr val="2E3C63"/>
                </a:solidFill>
                <a:sym typeface="+mn-ea"/>
              </a:rPr>
              <a:t>原理</a:t>
            </a:r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&amp; </a:t>
            </a:r>
            <a:r>
              <a:rPr lang="zh-CN" altLang="en-US" sz="2400" b="1" dirty="0">
                <a:solidFill>
                  <a:srgbClr val="2E3C63"/>
                </a:solidFill>
                <a:sym typeface="+mn-ea"/>
              </a:rPr>
              <a:t>性能分析</a:t>
            </a:r>
            <a:endParaRPr lang="zh-CN" altLang="en-US" sz="2400" b="1" dirty="0">
              <a:solidFill>
                <a:srgbClr val="2E3C63"/>
              </a:solidFill>
              <a:sym typeface="+mn-ea"/>
            </a:endParaRPr>
          </a:p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</a:t>
            </a:r>
            <a:r>
              <a:rPr lang="zh-CN" altLang="en-US" sz="2400" b="1" dirty="0">
                <a:solidFill>
                  <a:srgbClr val="2E3C63"/>
                </a:solidFill>
                <a:sym typeface="+mn-ea"/>
              </a:rPr>
              <a:t>显存优化</a:t>
            </a:r>
            <a:endParaRPr lang="zh-CN" altLang="en-US" sz="2400" b="1" dirty="0">
              <a:solidFill>
                <a:srgbClr val="2E3C63"/>
              </a:solidFill>
              <a:sym typeface="+mn-ea"/>
            </a:endParaRPr>
          </a:p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</a:t>
            </a:r>
            <a:r>
              <a:rPr lang="zh-CN" altLang="en-US" sz="2400" b="1" dirty="0">
                <a:solidFill>
                  <a:srgbClr val="2E3C63"/>
                </a:solidFill>
                <a:sym typeface="+mn-ea"/>
              </a:rPr>
              <a:t>3D 分布式并行架构</a:t>
            </a:r>
            <a:endParaRPr lang="zh-CN" altLang="en-US" sz="2400" b="1" dirty="0">
              <a:solidFill>
                <a:srgbClr val="2E3C63"/>
              </a:solidFill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Training &amp; Distributed Computing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训练原理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</a:rPr>
              <a:t>Forward Propagation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chemeClr val="tx1"/>
                </a:solidFill>
                <a:sym typeface="+mn-ea"/>
              </a:rPr>
              <a:t>Backward </a:t>
            </a:r>
            <a:r>
              <a:rPr lang="en-US" altLang="zh-CN" b="1">
                <a:solidFill>
                  <a:schemeClr val="tx1"/>
                </a:solidFill>
              </a:rPr>
              <a:t>Propagation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  <a:sym typeface="+mn-ea"/>
              </a:rPr>
              <a:t>优化器更新</a:t>
            </a:r>
            <a:endParaRPr lang="en-US" altLang="zh-CN" b="1">
              <a:solidFill>
                <a:schemeClr val="tx1"/>
              </a:solidFill>
            </a:endParaRPr>
          </a:p>
          <a:p>
            <a:pPr lvl="0"/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2155" y="1295400"/>
            <a:ext cx="7287895" cy="43700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Training &amp; Distributed Computing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chemeClr val="tx1"/>
                </a:solidFill>
              </a:rPr>
              <a:t>显存占用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优化器状态</a:t>
            </a:r>
            <a:r>
              <a:rPr lang="en-US" altLang="zh-CN" b="1">
                <a:solidFill>
                  <a:schemeClr val="tx1"/>
                </a:solidFill>
              </a:rPr>
              <a:t> (Optimizer States)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以</a:t>
            </a:r>
            <a:r>
              <a:rPr lang="en-US" altLang="zh-CN" b="1">
                <a:solidFill>
                  <a:schemeClr val="tx1"/>
                </a:solidFill>
              </a:rPr>
              <a:t> Adam </a:t>
            </a:r>
            <a:r>
              <a:rPr lang="zh-CN" altLang="en-US" b="1">
                <a:solidFill>
                  <a:schemeClr val="tx1"/>
                </a:solidFill>
              </a:rPr>
              <a:t>为例，需额外维护</a:t>
            </a:r>
            <a:r>
              <a:rPr lang="en-US" altLang="zh-CN" b="1">
                <a:solidFill>
                  <a:schemeClr val="tx1"/>
                </a:solidFill>
              </a:rPr>
              <a:t> 32-bit </a:t>
            </a:r>
            <a:r>
              <a:rPr lang="zh-CN" altLang="en-US" b="1">
                <a:solidFill>
                  <a:schemeClr val="tx1"/>
                </a:solidFill>
              </a:rPr>
              <a:t>模型权重副本、</a:t>
            </a:r>
            <a:r>
              <a:rPr lang="en-US" altLang="zh-CN" b="1">
                <a:solidFill>
                  <a:schemeClr val="tx1"/>
                </a:solidFill>
              </a:rPr>
              <a:t>32-bit </a:t>
            </a:r>
            <a:r>
              <a:rPr lang="zh-CN" altLang="en-US" b="1">
                <a:solidFill>
                  <a:schemeClr val="tx1"/>
                </a:solidFill>
              </a:rPr>
              <a:t>一阶动量、</a:t>
            </a:r>
            <a:r>
              <a:rPr lang="en-US" altLang="zh-CN" b="1">
                <a:solidFill>
                  <a:schemeClr val="tx1"/>
                </a:solidFill>
              </a:rPr>
              <a:t>32-bit </a:t>
            </a:r>
            <a:r>
              <a:rPr lang="zh-CN" altLang="en-US" b="1">
                <a:solidFill>
                  <a:schemeClr val="tx1"/>
                </a:solidFill>
              </a:rPr>
              <a:t>二阶动量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梯度与权重</a:t>
            </a:r>
            <a:r>
              <a:rPr lang="en-US" altLang="zh-CN" b="1">
                <a:solidFill>
                  <a:schemeClr val="tx1"/>
                </a:solidFill>
              </a:rPr>
              <a:t> (Gradients &amp; Weights)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梯度与原始模型参数通常保存为</a:t>
            </a:r>
            <a:r>
              <a:rPr lang="en-US" altLang="zh-CN" b="1">
                <a:solidFill>
                  <a:schemeClr val="tx1"/>
                </a:solidFill>
              </a:rPr>
              <a:t> 16-bit </a:t>
            </a:r>
            <a:r>
              <a:rPr lang="zh-CN" altLang="en-US" b="1">
                <a:solidFill>
                  <a:schemeClr val="tx1"/>
                </a:solidFill>
              </a:rPr>
              <a:t>格式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前向激活值</a:t>
            </a:r>
            <a:r>
              <a:rPr lang="en-US" altLang="zh-CN" b="1">
                <a:solidFill>
                  <a:schemeClr val="tx1"/>
                </a:solidFill>
              </a:rPr>
              <a:t> (Activations)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动态显存开销，随</a:t>
            </a:r>
            <a:r>
              <a:rPr lang="en-US" altLang="zh-CN" b="1">
                <a:solidFill>
                  <a:schemeClr val="tx1"/>
                </a:solidFill>
              </a:rPr>
              <a:t> Batch Size </a:t>
            </a:r>
            <a:r>
              <a:rPr lang="zh-CN" altLang="en-US" b="1">
                <a:solidFill>
                  <a:schemeClr val="tx1"/>
                </a:solidFill>
              </a:rPr>
              <a:t>和序列长度而波动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必须持续驻留在显存中，直到反向传播完成调用</a:t>
            </a:r>
            <a:endParaRPr lang="zh-CN" altLang="en-US" b="1">
              <a:solidFill>
                <a:srgbClr val="C00000"/>
              </a:solidFill>
            </a:endParaRPr>
          </a:p>
          <a:p>
            <a:pPr lvl="1"/>
            <a:endParaRPr lang="zh-CN" altLang="en-US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Training &amp; Distributed Computing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chemeClr val="tx1"/>
                </a:solidFill>
              </a:rPr>
              <a:t>显存优化</a:t>
            </a:r>
            <a:r>
              <a:rPr lang="en-US" altLang="zh-CN" b="1">
                <a:solidFill>
                  <a:schemeClr val="tx1"/>
                </a:solidFill>
              </a:rPr>
              <a:t> - ZeRO</a:t>
            </a:r>
            <a:r>
              <a:rPr lang="zh-CN" altLang="en-US" b="1">
                <a:solidFill>
                  <a:schemeClr val="tx1"/>
                </a:solidFill>
              </a:rPr>
              <a:t>（零冗余优化器）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核心思想：消除数据并行中的内存冗余，将参数在各个</a:t>
            </a:r>
            <a:r>
              <a:rPr lang="en-US" altLang="zh-CN" b="1">
                <a:solidFill>
                  <a:schemeClr val="tx1"/>
                </a:solidFill>
              </a:rPr>
              <a:t> GPU </a:t>
            </a:r>
            <a:r>
              <a:rPr lang="zh-CN" altLang="en-US" b="1">
                <a:solidFill>
                  <a:schemeClr val="tx1"/>
                </a:solidFill>
              </a:rPr>
              <a:t>之间进行切分，做到</a:t>
            </a:r>
            <a:r>
              <a:rPr lang="en-US" altLang="zh-CN" b="1">
                <a:solidFill>
                  <a:schemeClr val="tx1"/>
                </a:solidFill>
              </a:rPr>
              <a:t>“</a:t>
            </a:r>
            <a:r>
              <a:rPr lang="zh-CN" altLang="en-US" b="1">
                <a:solidFill>
                  <a:schemeClr val="tx1"/>
                </a:solidFill>
              </a:rPr>
              <a:t>按需获取</a:t>
            </a:r>
            <a:r>
              <a:rPr lang="en-US" altLang="zh-CN" b="1">
                <a:solidFill>
                  <a:schemeClr val="tx1"/>
                </a:solidFill>
              </a:rPr>
              <a:t>”</a:t>
            </a:r>
            <a:endParaRPr lang="en-US" altLang="zh-CN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ZeRO-1：切分优化器状态，每张</a:t>
            </a:r>
            <a:r>
              <a:rPr lang="en-US" altLang="zh-CN" b="1">
                <a:solidFill>
                  <a:schemeClr val="tx1"/>
                </a:solidFill>
              </a:rPr>
              <a:t> GPU </a:t>
            </a:r>
            <a:r>
              <a:rPr lang="zh-CN" altLang="en-US" b="1">
                <a:solidFill>
                  <a:schemeClr val="tx1"/>
                </a:solidFill>
              </a:rPr>
              <a:t>只负责更新属于自己的那一块参数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ZeRO-2：切分优化器状态 + 梯度，反向传播时，只保留自己负责的那部分梯度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ZeRO-3：全量切分，单卡仅保留极少权重，计算时通过 All-Gather 临时通信补齐</a:t>
            </a:r>
            <a:endParaRPr lang="zh-CN" altLang="en-US" b="1">
              <a:solidFill>
                <a:srgbClr val="C00000"/>
              </a:solidFill>
            </a:endParaRPr>
          </a:p>
          <a:p>
            <a:pPr lvl="1"/>
            <a:endParaRPr lang="zh-CN" altLang="en-US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grpSp>
        <p:nvGrpSpPr>
          <p:cNvPr id="10" name="组合 9"/>
          <p:cNvGrpSpPr/>
          <p:nvPr/>
        </p:nvGrpSpPr>
        <p:grpSpPr>
          <a:xfrm>
            <a:off x="2507615" y="3295650"/>
            <a:ext cx="7113905" cy="3020060"/>
            <a:chOff x="1279" y="2429"/>
            <a:chExt cx="15154" cy="6462"/>
          </a:xfrm>
        </p:grpSpPr>
        <p:pic>
          <p:nvPicPr>
            <p:cNvPr id="5" name="图片 4" descr="image-11"/>
            <p:cNvPicPr>
              <a:picLocks noChangeAspect="1"/>
            </p:cNvPicPr>
            <p:nvPr/>
          </p:nvPicPr>
          <p:blipFill>
            <a:blip r:embed="rId8"/>
            <a:srcRect t="2896" b="4998"/>
            <a:stretch>
              <a:fillRect/>
            </a:stretch>
          </p:blipFill>
          <p:spPr>
            <a:xfrm>
              <a:off x="1279" y="2429"/>
              <a:ext cx="15154" cy="6462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11359" y="8271"/>
              <a:ext cx="4745" cy="5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Training &amp; Distributed Computing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内容占位符 2"/>
              <p:cNvSpPr>
                <a:spLocks noGrp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609670" y="1214175"/>
                <a:ext cx="10969200" cy="4759200"/>
              </a:xfrm>
              <a:prstGeom prst="rect">
                <a:avLst/>
              </a:prstGeom>
            </p:spPr>
            <p:txBody>
              <a:bodyPr vert="horz" lIns="90000" tIns="46800" rIns="90000" bIns="46800" rtlCol="0">
                <a:normAutofit/>
              </a:bodyPr>
              <a:lstStyle>
                <a:lvl1pPr marL="228600" indent="-22860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sz="18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  <a:tab pos="1609725" algn="l"/>
                    <a:tab pos="1609725" algn="l"/>
                    <a:tab pos="1609725" algn="l"/>
                  </a:tabLst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>
                    <a:solidFill>
                      <a:schemeClr val="tx1"/>
                    </a:solidFill>
                  </a:rPr>
                  <a:t>显存优化</a:t>
                </a:r>
                <a:r>
                  <a:rPr lang="en-US" altLang="zh-CN" b="1">
                    <a:solidFill>
                      <a:schemeClr val="tx1"/>
                    </a:solidFill>
                  </a:rPr>
                  <a:t> - </a:t>
                </a:r>
                <a:r>
                  <a:rPr lang="zh-CN" altLang="en-US" b="1">
                    <a:solidFill>
                      <a:schemeClr val="tx1"/>
                    </a:solidFill>
                  </a:rPr>
                  <a:t>激活重算（</a:t>
                </a:r>
                <a:r>
                  <a:rPr lang="en-US" altLang="zh-CN" b="1">
                    <a:solidFill>
                      <a:schemeClr val="tx1"/>
                    </a:solidFill>
                  </a:rPr>
                  <a:t>Gradient Checkpointing</a:t>
                </a:r>
                <a:r>
                  <a:rPr lang="zh-CN" altLang="en-US" b="1">
                    <a:solidFill>
                      <a:schemeClr val="tx1"/>
                    </a:solidFill>
                  </a:rPr>
                  <a:t>）</a:t>
                </a:r>
                <a:endParaRPr lang="zh-CN" altLang="en-US" b="1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b="1">
                    <a:solidFill>
                      <a:schemeClr val="tx1"/>
                    </a:solidFill>
                  </a:rPr>
                  <a:t>核心思想：激活值通常会占据极大的显存，以时间换空间</a:t>
                </a:r>
                <a:endParaRPr lang="zh-CN" altLang="en-US" b="1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b="1">
                    <a:solidFill>
                      <a:schemeClr val="tx1"/>
                    </a:solidFill>
                  </a:rPr>
                  <a:t>前向传播时，不保存所有的中间激活值，而是只保存少量的“检查点”</a:t>
                </a:r>
                <a:r>
                  <a:rPr lang="zh-CN" altLang="en-US" b="1">
                    <a:solidFill>
                      <a:schemeClr val="tx1"/>
                    </a:solidFill>
                    <a:sym typeface="+mn-ea"/>
                  </a:rPr>
                  <a:t>（checkpoints）</a:t>
                </a:r>
                <a:endParaRPr lang="zh-CN" altLang="en-US" b="1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b="1">
                    <a:solidFill>
                      <a:schemeClr val="tx1"/>
                    </a:solidFill>
                  </a:rPr>
                  <a:t>在反向传播需要用到未保存的激活值时，临时从最近的检查点重新计算来恢复</a:t>
                </a:r>
                <a:endParaRPr lang="zh-CN" altLang="en-US" b="1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b="1">
                    <a:solidFill>
                      <a:schemeClr val="tx1"/>
                    </a:solidFill>
                  </a:rPr>
                  <a:t>将显存占用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从 O(N) 降至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b="1">
                            <a:solidFill>
                              <a:srgbClr val="C00000"/>
                            </a:solidFill>
                          </a:rPr>
                        </m:ctrlPr>
                      </m:radPr>
                      <m:deg/>
                      <m:e>
                        <m:r>
                          <a:rPr lang="zh-CN" altLang="en-US" b="1">
                            <a:solidFill>
                              <a:srgbClr val="C00000"/>
                            </a:solidFill>
                            <a:latin typeface="Cambria Math" panose="02040503050406030204" charset="0"/>
                          </a:rPr>
                          <m:t>𝑵</m:t>
                        </m:r>
                      </m:e>
                    </m:rad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)</a:t>
                </a:r>
                <a:r>
                  <a:rPr lang="zh-CN" altLang="en-US" b="1">
                    <a:solidFill>
                      <a:schemeClr val="tx1"/>
                    </a:solidFill>
                  </a:rPr>
                  <a:t> ，代价为增加约 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30%</a:t>
                </a:r>
                <a:r>
                  <a:rPr lang="zh-CN" altLang="en-US" b="1">
                    <a:solidFill>
                      <a:schemeClr val="tx1"/>
                    </a:solidFill>
                  </a:rPr>
                  <a:t> 的计算时间</a:t>
                </a:r>
                <a:endParaRPr lang="zh-CN" altLang="en-US" b="1">
                  <a:solidFill>
                    <a:schemeClr val="tx1"/>
                  </a:solidFill>
                </a:endParaRPr>
              </a:p>
              <a:p>
                <a:pPr lvl="0"/>
                <a:endParaRPr lang="zh-CN" altLang="en-US" sz="1800" b="1">
                  <a:solidFill>
                    <a:schemeClr val="tx1"/>
                  </a:solidFill>
                </a:endParaRPr>
              </a:p>
              <a:p>
                <a:pPr lvl="0"/>
                <a:r>
                  <a:rPr lang="zh-CN" altLang="en-US" b="1">
                    <a:solidFill>
                      <a:schemeClr val="tx1"/>
                    </a:solidFill>
                    <a:sym typeface="+mn-ea"/>
                  </a:rPr>
                  <a:t>显存优化</a:t>
                </a:r>
                <a:r>
                  <a:rPr lang="en-US" altLang="zh-CN" b="1">
                    <a:solidFill>
                      <a:schemeClr val="tx1"/>
                    </a:solidFill>
                    <a:sym typeface="+mn-ea"/>
                  </a:rPr>
                  <a:t> - CPU </a:t>
                </a:r>
                <a:r>
                  <a:rPr lang="en-US" altLang="zh-CN" b="1">
                    <a:solidFill>
                      <a:schemeClr val="tx1"/>
                    </a:solidFill>
                    <a:sym typeface="+mn-ea"/>
                  </a:rPr>
                  <a:t>Offloading</a:t>
                </a:r>
                <a:endParaRPr lang="en-US" altLang="zh-CN" b="1">
                  <a:solidFill>
                    <a:schemeClr val="tx1"/>
                  </a:solidFill>
                  <a:sym typeface="+mn-ea"/>
                </a:endParaRPr>
              </a:p>
              <a:p>
                <a:pPr lvl="1"/>
                <a:r>
                  <a:rPr lang="zh-CN" altLang="en-US" b="1">
                    <a:solidFill>
                      <a:schemeClr val="tx1"/>
                    </a:solidFill>
                  </a:rPr>
                  <a:t>Weights CPU Offloading：在模型初始化时将部分模型参数从 GPU 显存转移到 CPU 内存</a:t>
                </a:r>
                <a:endParaRPr lang="zh-CN" altLang="en-US" b="1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b="1">
                    <a:solidFill>
                      <a:schemeClr val="tx1"/>
                    </a:solidFill>
                  </a:rPr>
                  <a:t>KV Cache CPU Offloading：当 GPU 显存不足以容纳所有请求的 KV Cache 时，将暂时不活跃的 KV Cache </a:t>
                </a:r>
                <a:r>
                  <a:rPr lang="zh-CN" altLang="en-US" b="1">
                    <a:solidFill>
                      <a:schemeClr val="tx1"/>
                    </a:solidFill>
                    <a:sym typeface="+mn-ea"/>
                  </a:rPr>
                  <a:t>blocks</a:t>
                </a:r>
                <a:r>
                  <a:rPr lang="en-US" altLang="zh-CN" b="1">
                    <a:solidFill>
                      <a:schemeClr val="tx1"/>
                    </a:solidFill>
                    <a:sym typeface="+mn-ea"/>
                  </a:rPr>
                  <a:t> </a:t>
                </a:r>
                <a:r>
                  <a:rPr lang="zh-CN" altLang="en-US" b="1">
                    <a:solidFill>
                      <a:schemeClr val="tx1"/>
                    </a:solidFill>
                  </a:rPr>
                  <a:t>从 GPU HBM 卸载到</a:t>
                </a:r>
                <a:r>
                  <a:rPr lang="en-US" altLang="zh-CN" b="1">
                    <a:solidFill>
                      <a:schemeClr val="tx1"/>
                    </a:solidFill>
                  </a:rPr>
                  <a:t> </a:t>
                </a:r>
                <a:r>
                  <a:rPr lang="zh-CN" altLang="en-US" b="1">
                    <a:solidFill>
                      <a:schemeClr val="tx1"/>
                    </a:solidFill>
                    <a:sym typeface="+mn-ea"/>
                  </a:rPr>
                  <a:t>CPU</a:t>
                </a:r>
                <a:r>
                  <a:rPr lang="en-US" altLang="zh-CN" b="1">
                    <a:solidFill>
                      <a:schemeClr val="tx1"/>
                    </a:solidFill>
                    <a:sym typeface="+mn-ea"/>
                  </a:rPr>
                  <a:t> </a:t>
                </a:r>
                <a:r>
                  <a:rPr lang="zh-CN" altLang="en-US" b="1">
                    <a:solidFill>
                      <a:schemeClr val="tx1"/>
                    </a:solidFill>
                  </a:rPr>
                  <a:t>内存，在需要时再通过 PCIe 带宽换入</a:t>
                </a:r>
                <a:endParaRPr lang="zh-CN" altLang="en-US" b="1">
                  <a:solidFill>
                    <a:schemeClr val="tx1"/>
                  </a:solidFill>
                </a:endParaRPr>
              </a:p>
              <a:p>
                <a:endParaRPr lang="en-US" altLang="zh-CN"/>
              </a:p>
              <a:p>
                <a:pPr marL="0" indent="0">
                  <a:buNone/>
                </a:pPr>
                <a:endParaRPr lang="en-US" altLang="zh-CN"/>
              </a:p>
            </p:txBody>
          </p:sp>
        </mc:Choice>
        <mc:Fallback>
          <p:sp>
            <p:nvSpPr>
              <p:cNvPr id="9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609670" y="1214175"/>
                <a:ext cx="10969200" cy="4759200"/>
              </a:xfrm>
              <a:prstGeom prst="rect">
                <a:avLst/>
              </a:prstGeom>
              <a:blipFill rotWithShape="1">
                <a:blip r:embed="rId9"/>
                <a:stretch>
                  <a:fillRect l="-1" t="-1" r="3" b="-2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Training &amp; Distributed Computing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chemeClr val="tx1"/>
                </a:solidFill>
              </a:rPr>
              <a:t>分布式并行（</a:t>
            </a:r>
            <a:r>
              <a:rPr lang="en-US" altLang="zh-CN" b="1">
                <a:solidFill>
                  <a:schemeClr val="tx1"/>
                </a:solidFill>
              </a:rPr>
              <a:t>3D Parallelism</a:t>
            </a:r>
            <a:r>
              <a:rPr lang="zh-CN" altLang="en-US" b="1">
                <a:solidFill>
                  <a:schemeClr val="tx1"/>
                </a:solidFill>
              </a:rPr>
              <a:t>）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当模型规模达到千亿规模及之上时，仅靠</a:t>
            </a:r>
            <a:r>
              <a:rPr lang="en-US" altLang="zh-CN" b="1">
                <a:solidFill>
                  <a:schemeClr val="tx1"/>
                </a:solidFill>
              </a:rPr>
              <a:t> ZeRO </a:t>
            </a:r>
            <a:r>
              <a:rPr lang="zh-CN" altLang="en-US" b="1">
                <a:solidFill>
                  <a:schemeClr val="tx1"/>
                </a:solidFill>
              </a:rPr>
              <a:t>已无法提供最佳的计算与通信效率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微软</a:t>
            </a:r>
            <a:r>
              <a:rPr lang="en-US" altLang="zh-CN" b="1">
                <a:solidFill>
                  <a:schemeClr val="tx1"/>
                </a:solidFill>
              </a:rPr>
              <a:t>-DeepSpeed </a:t>
            </a:r>
            <a:r>
              <a:rPr lang="zh-CN" altLang="en-US" b="1">
                <a:solidFill>
                  <a:schemeClr val="tx1"/>
                </a:solidFill>
              </a:rPr>
              <a:t>提出</a:t>
            </a:r>
            <a:r>
              <a:rPr lang="en-US" altLang="zh-CN" b="1">
                <a:solidFill>
                  <a:schemeClr val="tx1"/>
                </a:solidFill>
              </a:rPr>
              <a:t> 3D </a:t>
            </a:r>
            <a:r>
              <a:rPr lang="zh-CN" altLang="en-US" b="1">
                <a:solidFill>
                  <a:schemeClr val="tx1"/>
                </a:solidFill>
              </a:rPr>
              <a:t>并行（</a:t>
            </a:r>
            <a:r>
              <a:rPr lang="zh-CN" altLang="en-US" b="1">
                <a:solidFill>
                  <a:srgbClr val="C00000"/>
                </a:solidFill>
              </a:rPr>
              <a:t>数据并行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流水线并行</a:t>
            </a:r>
            <a:r>
              <a:rPr lang="en-US" altLang="zh-CN" b="1">
                <a:solidFill>
                  <a:srgbClr val="C00000"/>
                </a:solidFill>
              </a:rPr>
              <a:t>+</a:t>
            </a:r>
            <a:r>
              <a:rPr lang="zh-CN" altLang="en-US" b="1">
                <a:solidFill>
                  <a:srgbClr val="C00000"/>
                </a:solidFill>
              </a:rPr>
              <a:t>张量并行</a:t>
            </a:r>
            <a:r>
              <a:rPr lang="zh-CN" altLang="en-US" b="1">
                <a:solidFill>
                  <a:schemeClr val="tx1"/>
                </a:solidFill>
              </a:rPr>
              <a:t>），实现千亿级别模型参数的训练</a:t>
            </a:r>
            <a:endParaRPr lang="zh-CN" altLang="en-US" b="1">
              <a:solidFill>
                <a:schemeClr val="tx1"/>
              </a:solidFill>
            </a:endParaRPr>
          </a:p>
          <a:p>
            <a:pPr lvl="0"/>
            <a:endParaRPr lang="zh-CN" altLang="en-US" sz="1800" b="1">
              <a:solidFill>
                <a:schemeClr val="tx1"/>
              </a:solidFill>
            </a:endParaRPr>
          </a:p>
          <a:p>
            <a:pPr lvl="0"/>
            <a:r>
              <a:rPr lang="en-US" altLang="zh-CN" b="1">
                <a:solidFill>
                  <a:schemeClr val="tx1"/>
                </a:solidFill>
                <a:sym typeface="+mn-ea"/>
              </a:rPr>
              <a:t>3D Parallelism</a:t>
            </a:r>
            <a:r>
              <a:rPr lang="zh-CN" altLang="en-US" sz="1800" b="1">
                <a:solidFill>
                  <a:schemeClr val="tx1"/>
                </a:solidFill>
              </a:rPr>
              <a:t> </a:t>
            </a:r>
            <a:r>
              <a:rPr lang="en-US" altLang="zh-CN" sz="1800" b="1">
                <a:solidFill>
                  <a:schemeClr val="tx1"/>
                </a:solidFill>
              </a:rPr>
              <a:t>- Data 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Parallelism</a:t>
            </a:r>
            <a:endParaRPr lang="en-US" altLang="zh-CN" b="1">
              <a:solidFill>
                <a:schemeClr val="tx1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核心思想：将数据分片到多个 GPU，处理不同的数据子集，最后通过通信同步梯度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传统方法：每个 GPU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持有完整的模型副本，</a:t>
            </a:r>
            <a:r>
              <a:rPr lang="zh-CN" altLang="en-US" b="1">
                <a:solidFill>
                  <a:schemeClr val="tx1"/>
                </a:solidFill>
              </a:rPr>
              <a:t>独立计算梯度，通过</a:t>
            </a:r>
            <a:r>
              <a:rPr lang="en-US" altLang="zh-CN" b="1">
                <a:solidFill>
                  <a:schemeClr val="tx1"/>
                </a:solidFill>
              </a:rPr>
              <a:t> </a:t>
            </a:r>
            <a:r>
              <a:rPr lang="zh-CN" altLang="en-US" b="1">
                <a:solidFill>
                  <a:schemeClr val="tx1"/>
                </a:solidFill>
              </a:rPr>
              <a:t>All-Reduce</a:t>
            </a:r>
            <a:r>
              <a:rPr lang="en-US" altLang="zh-CN" b="1">
                <a:solidFill>
                  <a:schemeClr val="tx1"/>
                </a:solidFill>
              </a:rPr>
              <a:t> </a:t>
            </a:r>
            <a:r>
              <a:rPr lang="zh-CN" altLang="en-US" b="1">
                <a:solidFill>
                  <a:schemeClr val="tx1"/>
                </a:solidFill>
              </a:rPr>
              <a:t>对所有梯度求和/平均后更新参数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更新：将优化器状态、梯度和模型参数分区存储到不同 GPU。结合 Reduce-Scatter（每个 GPU 只负责聚合自己分区的梯度）和 All-Gather（最后收集更新后的参数），通信量与标准 DP 相同（都是 O(模型参数量)），但显存占用更低</a:t>
            </a:r>
            <a:endParaRPr lang="zh-CN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8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Training &amp; Distributed Computing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949325"/>
            <a:ext cx="10968990" cy="60083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>
                <a:solidFill>
                  <a:schemeClr val="tx1"/>
                </a:solidFill>
                <a:sym typeface="+mn-ea"/>
              </a:rPr>
              <a:t>3D Parallelism</a:t>
            </a:r>
            <a:r>
              <a:rPr lang="zh-CN" altLang="en-US" sz="1800" b="1">
                <a:solidFill>
                  <a:schemeClr val="tx1"/>
                </a:solidFill>
              </a:rPr>
              <a:t> </a:t>
            </a:r>
            <a:r>
              <a:rPr lang="en-US" altLang="zh-CN" sz="1800" b="1">
                <a:solidFill>
                  <a:schemeClr val="tx1"/>
                </a:solidFill>
              </a:rPr>
              <a:t>- Pipeline 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Parallelism</a:t>
            </a:r>
            <a:endParaRPr lang="en-US" altLang="zh-CN" b="1">
              <a:solidFill>
                <a:schemeClr val="tx1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核心思想：层间并行。如</a:t>
            </a:r>
            <a:r>
              <a:rPr lang="en-US" altLang="zh-CN" b="1">
                <a:solidFill>
                  <a:schemeClr val="tx1"/>
                </a:solidFill>
              </a:rPr>
              <a:t> GPU0 </a:t>
            </a:r>
            <a:r>
              <a:rPr lang="zh-CN" altLang="en-US" b="1">
                <a:solidFill>
                  <a:schemeClr val="tx1"/>
                </a:solidFill>
              </a:rPr>
              <a:t>负责</a:t>
            </a:r>
            <a:r>
              <a:rPr lang="en-US" altLang="zh-CN" b="1">
                <a:solidFill>
                  <a:schemeClr val="tx1"/>
                </a:solidFill>
              </a:rPr>
              <a:t> 1-5 Transformer </a:t>
            </a:r>
            <a:r>
              <a:rPr lang="zh-CN" altLang="en-US" b="1">
                <a:solidFill>
                  <a:schemeClr val="tx1"/>
                </a:solidFill>
              </a:rPr>
              <a:t>层，以此类推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r>
              <a:rPr lang="zh-CN" altLang="en-US" b="1">
                <a:solidFill>
                  <a:schemeClr val="tx1"/>
                </a:solidFill>
              </a:rPr>
              <a:t>相关问题：在某一时刻只有一张</a:t>
            </a:r>
            <a:r>
              <a:rPr lang="en-US" altLang="zh-CN" b="1">
                <a:solidFill>
                  <a:schemeClr val="tx1"/>
                </a:solidFill>
              </a:rPr>
              <a:t> GPU </a:t>
            </a:r>
            <a:r>
              <a:rPr lang="zh-CN" altLang="en-US" b="1">
                <a:solidFill>
                  <a:schemeClr val="tx1"/>
                </a:solidFill>
              </a:rPr>
              <a:t>在工作，其他</a:t>
            </a:r>
            <a:r>
              <a:rPr lang="en-US" altLang="zh-CN" b="1">
                <a:solidFill>
                  <a:schemeClr val="tx1"/>
                </a:solidFill>
              </a:rPr>
              <a:t> GPU </a:t>
            </a:r>
            <a:r>
              <a:rPr lang="zh-CN" altLang="en-US" b="1">
                <a:solidFill>
                  <a:schemeClr val="tx1"/>
                </a:solidFill>
              </a:rPr>
              <a:t>处于等待上一层输入或下一层梯度的闲置状态，这种闲置时间被称为</a:t>
            </a:r>
            <a:r>
              <a:rPr lang="en-US" altLang="zh-CN" b="1">
                <a:solidFill>
                  <a:schemeClr val="tx1"/>
                </a:solidFill>
              </a:rPr>
              <a:t>“</a:t>
            </a:r>
            <a:r>
              <a:rPr lang="zh-CN" altLang="en-US" b="1">
                <a:solidFill>
                  <a:schemeClr val="tx1"/>
                </a:solidFill>
              </a:rPr>
              <a:t>气泡</a:t>
            </a:r>
            <a:r>
              <a:rPr lang="en-US" altLang="zh-CN" b="1">
                <a:solidFill>
                  <a:schemeClr val="tx1"/>
                </a:solidFill>
              </a:rPr>
              <a:t>”</a:t>
            </a:r>
            <a:r>
              <a:rPr lang="zh-CN" altLang="en-US" b="1">
                <a:solidFill>
                  <a:schemeClr val="tx1"/>
                </a:solidFill>
              </a:rPr>
              <a:t>（</a:t>
            </a:r>
            <a:r>
              <a:rPr lang="en-US" altLang="zh-CN" b="1">
                <a:solidFill>
                  <a:schemeClr val="tx1"/>
                </a:solidFill>
              </a:rPr>
              <a:t>Bubble</a:t>
            </a:r>
            <a:r>
              <a:rPr lang="zh-CN" altLang="en-US" b="1">
                <a:solidFill>
                  <a:schemeClr val="tx1"/>
                </a:solidFill>
              </a:rPr>
              <a:t>）</a:t>
            </a:r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lvl="1"/>
            <a:endParaRPr lang="zh-CN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/>
          </a:p>
        </p:txBody>
      </p:sp>
      <p:grpSp>
        <p:nvGrpSpPr>
          <p:cNvPr id="10" name="组合 9"/>
          <p:cNvGrpSpPr/>
          <p:nvPr/>
        </p:nvGrpSpPr>
        <p:grpSpPr>
          <a:xfrm>
            <a:off x="1924685" y="1901825"/>
            <a:ext cx="8336915" cy="3353435"/>
            <a:chOff x="3183" y="3341"/>
            <a:chExt cx="12824" cy="5211"/>
          </a:xfrm>
        </p:grpSpPr>
        <p:pic>
          <p:nvPicPr>
            <p:cNvPr id="5" name="图片 4" descr="image-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83" y="3341"/>
              <a:ext cx="12824" cy="5211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13043" y="7751"/>
              <a:ext cx="2857" cy="6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9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Training &amp; Distributed Computing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800" b="1">
                <a:solidFill>
                  <a:schemeClr val="tx1"/>
                </a:solidFill>
                <a:sym typeface="+mn-ea"/>
              </a:rPr>
              <a:t>3D Parallelism</a:t>
            </a:r>
            <a:r>
              <a:rPr lang="zh-CN" altLang="en-US" sz="18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1800" b="1">
                <a:solidFill>
                  <a:schemeClr val="tx1"/>
                </a:solidFill>
                <a:sym typeface="+mn-ea"/>
              </a:rPr>
              <a:t>- Pipeline </a:t>
            </a:r>
            <a:r>
              <a:rPr lang="en-US" altLang="zh-CN" sz="1800" b="1">
                <a:solidFill>
                  <a:schemeClr val="tx1"/>
                </a:solidFill>
                <a:sym typeface="+mn-ea"/>
              </a:rPr>
              <a:t>Parallelism</a:t>
            </a:r>
            <a:endParaRPr lang="en-US" altLang="zh-CN" sz="1800" b="1">
              <a:solidFill>
                <a:schemeClr val="tx1"/>
              </a:solidFill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 sz="1600" b="1">
                <a:solidFill>
                  <a:schemeClr val="tx1"/>
                </a:solidFill>
                <a:sym typeface="+mn-ea"/>
              </a:rPr>
              <a:t>对应改进：</a:t>
            </a:r>
            <a:endParaRPr lang="zh-CN" altLang="en-US" sz="1600" b="1">
              <a:solidFill>
                <a:schemeClr val="tx1"/>
              </a:solidFill>
            </a:endParaRPr>
          </a:p>
          <a:p>
            <a:pPr lvl="1" algn="l">
              <a:buClrTx/>
              <a:buSzTx/>
            </a:pPr>
            <a:r>
              <a:rPr lang="zh-CN" altLang="en-US" sz="1600" b="1">
                <a:solidFill>
                  <a:schemeClr val="tx1"/>
                </a:solidFill>
                <a:sym typeface="+mn-ea"/>
              </a:rPr>
              <a:t>GPipe：将一个 Batch 切分为多个微小批次（Micro-batches），有效填满流水线，减小气泡比例。但 GPipe 需要等所有微批次做完前向，再统一做反向，显存峰值较高</a:t>
            </a:r>
            <a:endParaRPr lang="zh-CN" altLang="en-US" sz="1600" b="1">
              <a:solidFill>
                <a:schemeClr val="tx1"/>
              </a:solidFill>
            </a:endParaRPr>
          </a:p>
          <a:p>
            <a:pPr lvl="1" algn="l">
              <a:buClrTx/>
              <a:buSzTx/>
            </a:pPr>
            <a:r>
              <a:rPr lang="zh-CN" altLang="en-US" sz="1600" b="1">
                <a:solidFill>
                  <a:schemeClr val="tx1"/>
                </a:solidFill>
                <a:sym typeface="+mn-ea"/>
              </a:rPr>
              <a:t>Re-materialization (active checkpoint)：为避免中间结果占用大量显存，只保存来自上一块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GPU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的最后一层输入z，其余中间结果删去</a:t>
            </a:r>
            <a:endParaRPr lang="zh-CN" altLang="en-US" b="1">
              <a:solidFill>
                <a:schemeClr val="tx1"/>
              </a:solidFill>
            </a:endParaRPr>
          </a:p>
          <a:p>
            <a:pPr lvl="1" algn="l">
              <a:buClrTx/>
              <a:buSzTx/>
            </a:pPr>
            <a:endParaRPr lang="zh-CN" altLang="en-US" b="1">
              <a:solidFill>
                <a:schemeClr val="tx1"/>
              </a:solidFill>
            </a:endParaRPr>
          </a:p>
        </p:txBody>
      </p:sp>
      <p:pic>
        <p:nvPicPr>
          <p:cNvPr id="11" name="图片 10" descr="image-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940" y="3517265"/>
            <a:ext cx="10385425" cy="279844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Training &amp; Distributed Computing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929005"/>
            <a:ext cx="10968990" cy="5044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800" b="1">
                <a:solidFill>
                  <a:schemeClr val="tx1"/>
                </a:solidFill>
                <a:sym typeface="+mn-ea"/>
              </a:rPr>
              <a:t>3D Parallelism</a:t>
            </a:r>
            <a:r>
              <a:rPr lang="zh-CN" altLang="en-US" sz="18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1800" b="1">
                <a:solidFill>
                  <a:schemeClr val="tx1"/>
                </a:solidFill>
                <a:sym typeface="+mn-ea"/>
              </a:rPr>
              <a:t>- Tensor Parallelism</a:t>
            </a:r>
            <a:endParaRPr lang="en-US" altLang="zh-CN" sz="1800" b="1">
              <a:solidFill>
                <a:schemeClr val="tx1"/>
              </a:solidFill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 sz="1600" b="1">
                <a:solidFill>
                  <a:schemeClr val="tx1"/>
                </a:solidFill>
                <a:sym typeface="+mn-ea"/>
              </a:rPr>
              <a:t>核心思想：</a:t>
            </a:r>
            <a:r>
              <a:rPr lang="zh-CN" altLang="en-US" b="1">
                <a:solidFill>
                  <a:schemeClr val="tx1"/>
                </a:solidFill>
              </a:rPr>
              <a:t>层内并行，把模型的参数切开，将单个矩阵乘法操作放到不同的</a:t>
            </a:r>
            <a:r>
              <a:rPr lang="en-US" altLang="zh-CN" b="1">
                <a:solidFill>
                  <a:schemeClr val="tx1"/>
                </a:solidFill>
              </a:rPr>
              <a:t>GPU</a:t>
            </a:r>
            <a:r>
              <a:rPr lang="zh-CN" altLang="en-US" b="1">
                <a:solidFill>
                  <a:schemeClr val="tx1"/>
                </a:solidFill>
              </a:rPr>
              <a:t>上独立计算，然后聚合</a:t>
            </a:r>
            <a:endParaRPr lang="zh-CN" altLang="en-US" b="1">
              <a:solidFill>
                <a:schemeClr val="tx1"/>
              </a:solidFill>
            </a:endParaRPr>
          </a:p>
          <a:p>
            <a:pPr lvl="1" algn="l">
              <a:buClrTx/>
              <a:buSzTx/>
            </a:pPr>
            <a:r>
              <a:rPr lang="zh-CN" altLang="en-US" b="1">
                <a:solidFill>
                  <a:schemeClr val="tx1"/>
                </a:solidFill>
              </a:rPr>
              <a:t>列切分：将权重矩阵按列切分；行切分：将权重矩阵按行切分，输入也需要按列切分</a:t>
            </a:r>
            <a:endParaRPr lang="zh-CN" altLang="en-US" b="1">
              <a:solidFill>
                <a:schemeClr val="tx1"/>
              </a:solidFill>
            </a:endParaRPr>
          </a:p>
          <a:p>
            <a:pPr lvl="1" algn="l">
              <a:buClrTx/>
              <a:buSzTx/>
            </a:pPr>
            <a:r>
              <a:rPr lang="en-US" altLang="zh-CN" b="1">
                <a:solidFill>
                  <a:srgbClr val="C00000"/>
                </a:solidFill>
              </a:rPr>
              <a:t>Trick</a:t>
            </a:r>
            <a:r>
              <a:rPr lang="zh-CN" altLang="en-US" b="1">
                <a:solidFill>
                  <a:srgbClr val="C00000"/>
                </a:solidFill>
              </a:rPr>
              <a:t>：</a:t>
            </a:r>
            <a:r>
              <a:rPr lang="zh-CN" altLang="en-US" b="1">
                <a:solidFill>
                  <a:schemeClr val="tx1"/>
                </a:solidFill>
              </a:rPr>
              <a:t>将第一层做列切分，第二层做行切分。使得前向传播在两层之间不需要进行任何跨卡通信，仅在模块末尾进行一次</a:t>
            </a:r>
            <a:r>
              <a:rPr lang="en-US" altLang="zh-CN" b="1">
                <a:solidFill>
                  <a:schemeClr val="tx1"/>
                </a:solidFill>
              </a:rPr>
              <a:t> All-Reduce</a:t>
            </a:r>
            <a:endParaRPr lang="en-US" altLang="zh-CN" b="1">
              <a:solidFill>
                <a:schemeClr val="tx1"/>
              </a:solidFill>
            </a:endParaRPr>
          </a:p>
        </p:txBody>
      </p:sp>
      <p:pic>
        <p:nvPicPr>
          <p:cNvPr id="5" name="图片 4" descr="image-14"/>
          <p:cNvPicPr>
            <a:picLocks noChangeAspect="1"/>
          </p:cNvPicPr>
          <p:nvPr/>
        </p:nvPicPr>
        <p:blipFill>
          <a:blip r:embed="rId8"/>
          <a:srcRect b="1730"/>
          <a:stretch>
            <a:fillRect/>
          </a:stretch>
        </p:blipFill>
        <p:spPr>
          <a:xfrm>
            <a:off x="2334895" y="2846070"/>
            <a:ext cx="7524115" cy="401193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COMMONDATA" val="eyJoZGlkIjoiMDI3MjYyZDJmMWViZTNlM2MyYWM2NDVjMTMxYjI5ZWQifQ=="/>
</p:tagLst>
</file>

<file path=ppt/theme/theme1.xml><?xml version="1.0" encoding="utf-8"?>
<a:theme xmlns:a="http://schemas.openxmlformats.org/drawingml/2006/main" name="1_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4300</Words>
  <Application>WPS 演示</Application>
  <PresentationFormat>宽屏</PresentationFormat>
  <Paragraphs>344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Wingdings</vt:lpstr>
      <vt:lpstr>Times New Roman</vt:lpstr>
      <vt:lpstr>Bauhaus 93</vt:lpstr>
      <vt:lpstr>造字工房朗倩（非商用）常规体</vt:lpstr>
      <vt:lpstr>Arial Unicode MS</vt:lpstr>
      <vt:lpstr>Calibri</vt:lpstr>
      <vt:lpstr>Cambria Math</vt:lpstr>
      <vt:lpstr>造字工房朗倩（非商用）常规体</vt:lpstr>
      <vt:lpstr>Segoe Print</vt:lpstr>
      <vt:lpstr>造字工房朗倩体 常规体</vt:lpstr>
      <vt:lpstr>1_2023国科大融媒体编辑部出品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极简风蓝色学术模板 Minimalism Blue Academic Template</dc:title>
  <dc:creator/>
  <cp:lastModifiedBy>夏梓轩</cp:lastModifiedBy>
  <cp:revision>262</cp:revision>
  <dcterms:created xsi:type="dcterms:W3CDTF">2024-08-08T00:41:00Z</dcterms:created>
  <dcterms:modified xsi:type="dcterms:W3CDTF">2026-04-09T07:36:12Z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5D20D06DD8084BF68BDD22D0B051A992_13</vt:lpwstr>
  </property>
</Properties>
</file>