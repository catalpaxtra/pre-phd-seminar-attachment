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notesSlides/notesSlide1.xml" ContentType="application/vnd.openxmlformats-officedocument.presentationml.notesSlide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notesSlides/notesSlide2.xml" ContentType="application/vnd.openxmlformats-officedocument.presentationml.notesSlide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notesSlides/notesSlide3.xml" ContentType="application/vnd.openxmlformats-officedocument.presentationml.notesSlide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notesSlides/notesSlide4.xml" ContentType="application/vnd.openxmlformats-officedocument.presentationml.notesSlide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notesSlides/notesSlide5.xml" ContentType="application/vnd.openxmlformats-officedocument.presentationml.notesSlide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notesSlides/notesSlide6.xml" ContentType="application/vnd.openxmlformats-officedocument.presentationml.notesSlide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notesSlides/notesSlide7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notesSlides/notesSlide8.xml" ContentType="application/vnd.openxmlformats-officedocument.presentationml.notesSlide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notesSlides/notesSlide9.xml" ContentType="application/vnd.openxmlformats-officedocument.presentationml.notesSlide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notesSlides/notesSlide10.xml" ContentType="application/vnd.openxmlformats-officedocument.presentationml.notesSlide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notesSlides/notesSlide11.xml" ContentType="application/vnd.openxmlformats-officedocument.presentationml.notesSlide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notesSlides/notesSlide12.xml" ContentType="application/vnd.openxmlformats-officedocument.presentationml.notesSlide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notesSlides/notesSlide13.xml" ContentType="application/vnd.openxmlformats-officedocument.presentationml.notesSlide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notesSlides/notesSlide14.xml" ContentType="application/vnd.openxmlformats-officedocument.presentationml.notesSlide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notesSlides/notesSlide15.xml" ContentType="application/vnd.openxmlformats-officedocument.presentationml.notesSlide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notesSlides/notesSlide16.xml" ContentType="application/vnd.openxmlformats-officedocument.presentationml.notesSlide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notesSlides/notesSlide17.xml" ContentType="application/vnd.openxmlformats-officedocument.presentationml.notesSlide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notesSlides/notesSlide18.xml" ContentType="application/vnd.openxmlformats-officedocument.presentationml.notesSlide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>
  <p:sldMasterIdLst>
    <p:sldMasterId id="2147483648" r:id="rId1"/>
  </p:sldMasterIdLst>
  <p:notesMasterIdLst>
    <p:notesMasterId r:id="rId22"/>
  </p:notesMasterIdLst>
  <p:handoutMasterIdLst>
    <p:handoutMasterId r:id="rId23"/>
  </p:handoutMasterIdLst>
  <p:sldIdLst>
    <p:sldId id="301" r:id="rId2"/>
    <p:sldId id="291" r:id="rId3"/>
    <p:sldId id="272" r:id="rId4"/>
    <p:sldId id="303" r:id="rId5"/>
    <p:sldId id="305" r:id="rId6"/>
    <p:sldId id="306" r:id="rId7"/>
    <p:sldId id="307" r:id="rId8"/>
    <p:sldId id="309" r:id="rId9"/>
    <p:sldId id="324" r:id="rId10"/>
    <p:sldId id="310" r:id="rId11"/>
    <p:sldId id="311" r:id="rId12"/>
    <p:sldId id="312" r:id="rId13"/>
    <p:sldId id="314" r:id="rId14"/>
    <p:sldId id="302" r:id="rId15"/>
    <p:sldId id="315" r:id="rId16"/>
    <p:sldId id="316" r:id="rId17"/>
    <p:sldId id="317" r:id="rId18"/>
    <p:sldId id="318" r:id="rId19"/>
    <p:sldId id="319" r:id="rId20"/>
    <p:sldId id="321" r:id="rId21"/>
  </p:sldIdLst>
  <p:sldSz cx="12192000" cy="6858000"/>
  <p:notesSz cx="6858000" cy="9144000"/>
  <p:custDataLst>
    <p:tags r:id="rId24"/>
  </p:custDataLst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20204" pitchFamily="34" charset="0"/>
        <a:ea typeface="微软雅黑" panose="020B0503020204020204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20204" pitchFamily="34" charset="0"/>
        <a:ea typeface="微软雅黑" panose="020B0503020204020204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20204" pitchFamily="34" charset="0"/>
        <a:ea typeface="微软雅黑" panose="020B0503020204020204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20204" pitchFamily="34" charset="0"/>
        <a:ea typeface="微软雅黑" panose="020B0503020204020204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20204" pitchFamily="34" charset="0"/>
        <a:ea typeface="微软雅黑" panose="020B0503020204020204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20204" pitchFamily="34" charset="0"/>
        <a:ea typeface="微软雅黑" panose="020B0503020204020204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20204" pitchFamily="34" charset="0"/>
        <a:ea typeface="微软雅黑" panose="020B0503020204020204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20204" pitchFamily="34" charset="0"/>
        <a:ea typeface="微软雅黑" panose="020B0503020204020204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20204" pitchFamily="34" charset="0"/>
        <a:ea typeface="微软雅黑" panose="020B0503020204020204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63" userDrawn="1">
          <p15:clr>
            <a:srgbClr val="A4A3A4"/>
          </p15:clr>
        </p15:guide>
        <p15:guide id="2" pos="369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74995"/>
    <a:srgbClr val="F2F2F2"/>
    <a:srgbClr val="FFFFFF"/>
    <a:srgbClr val="2E3C63"/>
    <a:srgbClr val="4874CB"/>
    <a:srgbClr val="174994"/>
    <a:srgbClr val="DCEAF6"/>
    <a:srgbClr val="FCF7F0"/>
    <a:srgbClr val="4B72AD"/>
    <a:srgbClr val="F7E8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78"/>
    <p:restoredTop sz="65546" autoAdjust="0"/>
  </p:normalViewPr>
  <p:slideViewPr>
    <p:cSldViewPr snapToGrid="0" showGuides="1">
      <p:cViewPr>
        <p:scale>
          <a:sx n="75" d="100"/>
          <a:sy n="75" d="100"/>
        </p:scale>
        <p:origin x="906" y="642"/>
      </p:cViewPr>
      <p:guideLst>
        <p:guide orient="horz" pos="2263"/>
        <p:guide pos="3690"/>
      </p:guideLst>
    </p:cSldViewPr>
  </p:slideViewPr>
  <p:notesTextViewPr>
    <p:cViewPr>
      <p:scale>
        <a:sx n="75" d="100"/>
        <a:sy n="75" d="100"/>
      </p:scale>
      <p:origin x="0" y="0"/>
    </p:cViewPr>
  </p:notesTextViewPr>
  <p:gridSpacing cx="72005" cy="7200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A6BB393-B8F2-44C6-B500-EE0159A04FFF}" type="doc">
      <dgm:prSet loTypeId="urn:microsoft.com/office/officeart/2005/8/layout/cycle8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48602AEC-7AA4-4ED1-8670-8AD8232716B1}">
      <dgm:prSet phldrT="[文本]"/>
      <dgm:spPr/>
      <dgm:t>
        <a:bodyPr/>
        <a:lstStyle/>
        <a:p>
          <a:r>
            <a:rPr lang="en-US" altLang="zh-CN" dirty="0"/>
            <a:t>Memory</a:t>
          </a:r>
        </a:p>
        <a:p>
          <a:r>
            <a:rPr lang="zh-CN" altLang="en-US" dirty="0"/>
            <a:t>内存</a:t>
          </a:r>
        </a:p>
      </dgm:t>
    </dgm:pt>
    <dgm:pt modelId="{9C14889C-77DC-4752-86C6-2138E32A3F61}" type="parTrans" cxnId="{5ACF40E2-7426-4CA3-A18E-586BB7E2380F}">
      <dgm:prSet/>
      <dgm:spPr/>
      <dgm:t>
        <a:bodyPr/>
        <a:lstStyle/>
        <a:p>
          <a:endParaRPr lang="zh-CN" altLang="en-US"/>
        </a:p>
      </dgm:t>
    </dgm:pt>
    <dgm:pt modelId="{8F9E6BAE-3ACE-4B6D-BED3-09F2D910FC93}" type="sibTrans" cxnId="{5ACF40E2-7426-4CA3-A18E-586BB7E2380F}">
      <dgm:prSet/>
      <dgm:spPr/>
      <dgm:t>
        <a:bodyPr/>
        <a:lstStyle/>
        <a:p>
          <a:endParaRPr lang="zh-CN" altLang="en-US"/>
        </a:p>
      </dgm:t>
    </dgm:pt>
    <dgm:pt modelId="{5A8588D0-C85A-49A3-BAB2-D50508BA0F87}">
      <dgm:prSet phldrT="[文本]"/>
      <dgm:spPr/>
      <dgm:t>
        <a:bodyPr/>
        <a:lstStyle/>
        <a:p>
          <a:r>
            <a:rPr lang="en-US" altLang="zh-CN" dirty="0"/>
            <a:t>Communication</a:t>
          </a:r>
        </a:p>
        <a:p>
          <a:r>
            <a:rPr lang="zh-CN" altLang="en-US" dirty="0"/>
            <a:t>通信</a:t>
          </a:r>
        </a:p>
      </dgm:t>
    </dgm:pt>
    <dgm:pt modelId="{DD5D2521-517E-446F-825B-E11E4DBD3A3C}" type="parTrans" cxnId="{92F16502-40CB-4644-AEAE-D3A539B5CC60}">
      <dgm:prSet/>
      <dgm:spPr/>
      <dgm:t>
        <a:bodyPr/>
        <a:lstStyle/>
        <a:p>
          <a:endParaRPr lang="zh-CN" altLang="en-US"/>
        </a:p>
      </dgm:t>
    </dgm:pt>
    <dgm:pt modelId="{957A5BD2-E17D-4D8F-89E5-04BB3546F649}" type="sibTrans" cxnId="{92F16502-40CB-4644-AEAE-D3A539B5CC60}">
      <dgm:prSet/>
      <dgm:spPr/>
      <dgm:t>
        <a:bodyPr/>
        <a:lstStyle/>
        <a:p>
          <a:endParaRPr lang="zh-CN" altLang="en-US"/>
        </a:p>
      </dgm:t>
    </dgm:pt>
    <dgm:pt modelId="{CFB30491-1F2A-41E9-BF61-1EE487A2838D}">
      <dgm:prSet phldrT="[文本]"/>
      <dgm:spPr/>
      <dgm:t>
        <a:bodyPr/>
        <a:lstStyle/>
        <a:p>
          <a:r>
            <a:rPr lang="en-US" altLang="zh-CN" dirty="0"/>
            <a:t>Compute</a:t>
          </a:r>
        </a:p>
        <a:p>
          <a:r>
            <a:rPr lang="zh-CN" altLang="en-US" dirty="0"/>
            <a:t>计算</a:t>
          </a:r>
          <a:endParaRPr lang="en-US" altLang="zh-CN" dirty="0"/>
        </a:p>
      </dgm:t>
    </dgm:pt>
    <dgm:pt modelId="{CD95641B-3E86-48C1-82B3-4F1B74A0C401}" type="parTrans" cxnId="{806E2253-F6EC-4D79-B4FB-D0449BBBAFBC}">
      <dgm:prSet/>
      <dgm:spPr/>
      <dgm:t>
        <a:bodyPr/>
        <a:lstStyle/>
        <a:p>
          <a:endParaRPr lang="zh-CN" altLang="en-US"/>
        </a:p>
      </dgm:t>
    </dgm:pt>
    <dgm:pt modelId="{3677E667-7260-42B6-BE25-6CB1CFC15DA1}" type="sibTrans" cxnId="{806E2253-F6EC-4D79-B4FB-D0449BBBAFBC}">
      <dgm:prSet/>
      <dgm:spPr/>
      <dgm:t>
        <a:bodyPr/>
        <a:lstStyle/>
        <a:p>
          <a:endParaRPr lang="zh-CN" altLang="en-US"/>
        </a:p>
      </dgm:t>
    </dgm:pt>
    <dgm:pt modelId="{09A98788-E2D7-4718-B55C-EC15E2C87197}" type="pres">
      <dgm:prSet presAssocID="{4A6BB393-B8F2-44C6-B500-EE0159A04FFF}" presName="compositeShape" presStyleCnt="0">
        <dgm:presLayoutVars>
          <dgm:chMax val="7"/>
          <dgm:dir/>
          <dgm:resizeHandles val="exact"/>
        </dgm:presLayoutVars>
      </dgm:prSet>
      <dgm:spPr/>
    </dgm:pt>
    <dgm:pt modelId="{4A6DE1FF-0226-4B55-8B96-C0A93D4C82BB}" type="pres">
      <dgm:prSet presAssocID="{4A6BB393-B8F2-44C6-B500-EE0159A04FFF}" presName="wedge1" presStyleLbl="node1" presStyleIdx="0" presStyleCnt="3"/>
      <dgm:spPr/>
    </dgm:pt>
    <dgm:pt modelId="{F7D197C9-3872-42F6-B89C-ECD122134822}" type="pres">
      <dgm:prSet presAssocID="{4A6BB393-B8F2-44C6-B500-EE0159A04FFF}" presName="dummy1a" presStyleCnt="0"/>
      <dgm:spPr/>
    </dgm:pt>
    <dgm:pt modelId="{A33AB7AD-9A2D-41FD-9088-0A3EB092DD93}" type="pres">
      <dgm:prSet presAssocID="{4A6BB393-B8F2-44C6-B500-EE0159A04FFF}" presName="dummy1b" presStyleCnt="0"/>
      <dgm:spPr/>
    </dgm:pt>
    <dgm:pt modelId="{A1E57E4D-C8BC-4787-853A-1DBE5967B507}" type="pres">
      <dgm:prSet presAssocID="{4A6BB393-B8F2-44C6-B500-EE0159A04FFF}" presName="wedge1Tx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555D10F4-A621-470A-998D-6CB73950C953}" type="pres">
      <dgm:prSet presAssocID="{4A6BB393-B8F2-44C6-B500-EE0159A04FFF}" presName="wedge2" presStyleLbl="node1" presStyleIdx="1" presStyleCnt="3"/>
      <dgm:spPr/>
    </dgm:pt>
    <dgm:pt modelId="{F815CC42-B6DE-464E-8189-B4A3D976941D}" type="pres">
      <dgm:prSet presAssocID="{4A6BB393-B8F2-44C6-B500-EE0159A04FFF}" presName="dummy2a" presStyleCnt="0"/>
      <dgm:spPr/>
    </dgm:pt>
    <dgm:pt modelId="{1B4D6491-F799-41DB-9F2B-15282DF376FD}" type="pres">
      <dgm:prSet presAssocID="{4A6BB393-B8F2-44C6-B500-EE0159A04FFF}" presName="dummy2b" presStyleCnt="0"/>
      <dgm:spPr/>
    </dgm:pt>
    <dgm:pt modelId="{1A348B57-F55B-4C3D-A778-CCA75C1F38E5}" type="pres">
      <dgm:prSet presAssocID="{4A6BB393-B8F2-44C6-B500-EE0159A04FFF}" presName="wedge2Tx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21C2242E-5DCB-4CCA-BD92-B8D5F512B412}" type="pres">
      <dgm:prSet presAssocID="{4A6BB393-B8F2-44C6-B500-EE0159A04FFF}" presName="wedge3" presStyleLbl="node1" presStyleIdx="2" presStyleCnt="3"/>
      <dgm:spPr/>
    </dgm:pt>
    <dgm:pt modelId="{2281E324-D7C4-4A0F-AD03-2FF2E8254602}" type="pres">
      <dgm:prSet presAssocID="{4A6BB393-B8F2-44C6-B500-EE0159A04FFF}" presName="dummy3a" presStyleCnt="0"/>
      <dgm:spPr/>
    </dgm:pt>
    <dgm:pt modelId="{56FB935F-3EE3-493D-940C-D62549FEEF72}" type="pres">
      <dgm:prSet presAssocID="{4A6BB393-B8F2-44C6-B500-EE0159A04FFF}" presName="dummy3b" presStyleCnt="0"/>
      <dgm:spPr/>
    </dgm:pt>
    <dgm:pt modelId="{644A1BDE-4D23-4128-A8CA-AFAB0C2576A6}" type="pres">
      <dgm:prSet presAssocID="{4A6BB393-B8F2-44C6-B500-EE0159A04FFF}" presName="wedge3Tx" presStyleLbl="node1" presStyleIdx="2" presStyleCnt="3">
        <dgm:presLayoutVars>
          <dgm:chMax val="0"/>
          <dgm:chPref val="0"/>
          <dgm:bulletEnabled val="1"/>
        </dgm:presLayoutVars>
      </dgm:prSet>
      <dgm:spPr/>
    </dgm:pt>
    <dgm:pt modelId="{CC23E034-21D9-442A-BD43-8A2CB7A860CB}" type="pres">
      <dgm:prSet presAssocID="{8F9E6BAE-3ACE-4B6D-BED3-09F2D910FC93}" presName="arrowWedge1" presStyleLbl="fgSibTrans2D1" presStyleIdx="0" presStyleCnt="3"/>
      <dgm:spPr/>
    </dgm:pt>
    <dgm:pt modelId="{CDA26E7E-1123-4EB9-BD55-CA65598D53AF}" type="pres">
      <dgm:prSet presAssocID="{957A5BD2-E17D-4D8F-89E5-04BB3546F649}" presName="arrowWedge2" presStyleLbl="fgSibTrans2D1" presStyleIdx="1" presStyleCnt="3"/>
      <dgm:spPr/>
    </dgm:pt>
    <dgm:pt modelId="{99C0F72F-1155-4DFC-8BCA-7E5782BF7DC8}" type="pres">
      <dgm:prSet presAssocID="{3677E667-7260-42B6-BE25-6CB1CFC15DA1}" presName="arrowWedge3" presStyleLbl="fgSibTrans2D1" presStyleIdx="2" presStyleCnt="3"/>
      <dgm:spPr/>
    </dgm:pt>
  </dgm:ptLst>
  <dgm:cxnLst>
    <dgm:cxn modelId="{92F16502-40CB-4644-AEAE-D3A539B5CC60}" srcId="{4A6BB393-B8F2-44C6-B500-EE0159A04FFF}" destId="{5A8588D0-C85A-49A3-BAB2-D50508BA0F87}" srcOrd="1" destOrd="0" parTransId="{DD5D2521-517E-446F-825B-E11E4DBD3A3C}" sibTransId="{957A5BD2-E17D-4D8F-89E5-04BB3546F649}"/>
    <dgm:cxn modelId="{6B452C1B-479D-4DCA-8788-9527A31F6A62}" type="presOf" srcId="{CFB30491-1F2A-41E9-BF61-1EE487A2838D}" destId="{21C2242E-5DCB-4CCA-BD92-B8D5F512B412}" srcOrd="0" destOrd="0" presId="urn:microsoft.com/office/officeart/2005/8/layout/cycle8"/>
    <dgm:cxn modelId="{7A84A721-2E40-4DEC-BAD2-610246CD544C}" type="presOf" srcId="{5A8588D0-C85A-49A3-BAB2-D50508BA0F87}" destId="{555D10F4-A621-470A-998D-6CB73950C953}" srcOrd="0" destOrd="0" presId="urn:microsoft.com/office/officeart/2005/8/layout/cycle8"/>
    <dgm:cxn modelId="{B86CA822-4BF4-460E-ADB8-EB3115208A0E}" type="presOf" srcId="{48602AEC-7AA4-4ED1-8670-8AD8232716B1}" destId="{A1E57E4D-C8BC-4787-853A-1DBE5967B507}" srcOrd="1" destOrd="0" presId="urn:microsoft.com/office/officeart/2005/8/layout/cycle8"/>
    <dgm:cxn modelId="{806E2253-F6EC-4D79-B4FB-D0449BBBAFBC}" srcId="{4A6BB393-B8F2-44C6-B500-EE0159A04FFF}" destId="{CFB30491-1F2A-41E9-BF61-1EE487A2838D}" srcOrd="2" destOrd="0" parTransId="{CD95641B-3E86-48C1-82B3-4F1B74A0C401}" sibTransId="{3677E667-7260-42B6-BE25-6CB1CFC15DA1}"/>
    <dgm:cxn modelId="{4D8C1454-EE0B-4FC5-AFF7-B1D49E6D9138}" type="presOf" srcId="{CFB30491-1F2A-41E9-BF61-1EE487A2838D}" destId="{644A1BDE-4D23-4128-A8CA-AFAB0C2576A6}" srcOrd="1" destOrd="0" presId="urn:microsoft.com/office/officeart/2005/8/layout/cycle8"/>
    <dgm:cxn modelId="{B1FE2257-37D8-4D58-961F-FCD63D29640D}" type="presOf" srcId="{48602AEC-7AA4-4ED1-8670-8AD8232716B1}" destId="{4A6DE1FF-0226-4B55-8B96-C0A93D4C82BB}" srcOrd="0" destOrd="0" presId="urn:microsoft.com/office/officeart/2005/8/layout/cycle8"/>
    <dgm:cxn modelId="{76A4DF94-8615-40DF-B702-3CA3CF935132}" type="presOf" srcId="{4A6BB393-B8F2-44C6-B500-EE0159A04FFF}" destId="{09A98788-E2D7-4718-B55C-EC15E2C87197}" srcOrd="0" destOrd="0" presId="urn:microsoft.com/office/officeart/2005/8/layout/cycle8"/>
    <dgm:cxn modelId="{5ACF40E2-7426-4CA3-A18E-586BB7E2380F}" srcId="{4A6BB393-B8F2-44C6-B500-EE0159A04FFF}" destId="{48602AEC-7AA4-4ED1-8670-8AD8232716B1}" srcOrd="0" destOrd="0" parTransId="{9C14889C-77DC-4752-86C6-2138E32A3F61}" sibTransId="{8F9E6BAE-3ACE-4B6D-BED3-09F2D910FC93}"/>
    <dgm:cxn modelId="{764F49FB-5D5A-4A22-A468-D0FF13614C83}" type="presOf" srcId="{5A8588D0-C85A-49A3-BAB2-D50508BA0F87}" destId="{1A348B57-F55B-4C3D-A778-CCA75C1F38E5}" srcOrd="1" destOrd="0" presId="urn:microsoft.com/office/officeart/2005/8/layout/cycle8"/>
    <dgm:cxn modelId="{BABC6D9A-6DB1-4ED9-91A9-B26F6DE926AF}" type="presParOf" srcId="{09A98788-E2D7-4718-B55C-EC15E2C87197}" destId="{4A6DE1FF-0226-4B55-8B96-C0A93D4C82BB}" srcOrd="0" destOrd="0" presId="urn:microsoft.com/office/officeart/2005/8/layout/cycle8"/>
    <dgm:cxn modelId="{C3B9D367-D497-4822-8875-6E10F77101D9}" type="presParOf" srcId="{09A98788-E2D7-4718-B55C-EC15E2C87197}" destId="{F7D197C9-3872-42F6-B89C-ECD122134822}" srcOrd="1" destOrd="0" presId="urn:microsoft.com/office/officeart/2005/8/layout/cycle8"/>
    <dgm:cxn modelId="{E358B056-63BC-498D-8211-EE19E49896B9}" type="presParOf" srcId="{09A98788-E2D7-4718-B55C-EC15E2C87197}" destId="{A33AB7AD-9A2D-41FD-9088-0A3EB092DD93}" srcOrd="2" destOrd="0" presId="urn:microsoft.com/office/officeart/2005/8/layout/cycle8"/>
    <dgm:cxn modelId="{EB5E7A10-3DCE-4677-8834-50EF2ADCBCCF}" type="presParOf" srcId="{09A98788-E2D7-4718-B55C-EC15E2C87197}" destId="{A1E57E4D-C8BC-4787-853A-1DBE5967B507}" srcOrd="3" destOrd="0" presId="urn:microsoft.com/office/officeart/2005/8/layout/cycle8"/>
    <dgm:cxn modelId="{007EF72E-70F1-4D4C-BC6B-14B6CAF78EFD}" type="presParOf" srcId="{09A98788-E2D7-4718-B55C-EC15E2C87197}" destId="{555D10F4-A621-470A-998D-6CB73950C953}" srcOrd="4" destOrd="0" presId="urn:microsoft.com/office/officeart/2005/8/layout/cycle8"/>
    <dgm:cxn modelId="{3F9BA8F0-B128-49C2-B437-20C292ADDED1}" type="presParOf" srcId="{09A98788-E2D7-4718-B55C-EC15E2C87197}" destId="{F815CC42-B6DE-464E-8189-B4A3D976941D}" srcOrd="5" destOrd="0" presId="urn:microsoft.com/office/officeart/2005/8/layout/cycle8"/>
    <dgm:cxn modelId="{03E5CA16-2388-4E2F-9747-B2511C813D65}" type="presParOf" srcId="{09A98788-E2D7-4718-B55C-EC15E2C87197}" destId="{1B4D6491-F799-41DB-9F2B-15282DF376FD}" srcOrd="6" destOrd="0" presId="urn:microsoft.com/office/officeart/2005/8/layout/cycle8"/>
    <dgm:cxn modelId="{90DEB3EB-1141-49A1-AFD7-658230DA8EFE}" type="presParOf" srcId="{09A98788-E2D7-4718-B55C-EC15E2C87197}" destId="{1A348B57-F55B-4C3D-A778-CCA75C1F38E5}" srcOrd="7" destOrd="0" presId="urn:microsoft.com/office/officeart/2005/8/layout/cycle8"/>
    <dgm:cxn modelId="{365DF86D-209E-4CA2-A9BA-C94FE6CD7253}" type="presParOf" srcId="{09A98788-E2D7-4718-B55C-EC15E2C87197}" destId="{21C2242E-5DCB-4CCA-BD92-B8D5F512B412}" srcOrd="8" destOrd="0" presId="urn:microsoft.com/office/officeart/2005/8/layout/cycle8"/>
    <dgm:cxn modelId="{5A7C1F3B-0C15-4FFD-B087-0C7468137493}" type="presParOf" srcId="{09A98788-E2D7-4718-B55C-EC15E2C87197}" destId="{2281E324-D7C4-4A0F-AD03-2FF2E8254602}" srcOrd="9" destOrd="0" presId="urn:microsoft.com/office/officeart/2005/8/layout/cycle8"/>
    <dgm:cxn modelId="{03E397E0-B16A-4730-8F45-F5FB5DE2FD7B}" type="presParOf" srcId="{09A98788-E2D7-4718-B55C-EC15E2C87197}" destId="{56FB935F-3EE3-493D-940C-D62549FEEF72}" srcOrd="10" destOrd="0" presId="urn:microsoft.com/office/officeart/2005/8/layout/cycle8"/>
    <dgm:cxn modelId="{6EB08117-19DE-4950-8F8C-86EA734DFDA8}" type="presParOf" srcId="{09A98788-E2D7-4718-B55C-EC15E2C87197}" destId="{644A1BDE-4D23-4128-A8CA-AFAB0C2576A6}" srcOrd="11" destOrd="0" presId="urn:microsoft.com/office/officeart/2005/8/layout/cycle8"/>
    <dgm:cxn modelId="{BF47D50A-1DAC-4D7C-9459-7D5538E82BDA}" type="presParOf" srcId="{09A98788-E2D7-4718-B55C-EC15E2C87197}" destId="{CC23E034-21D9-442A-BD43-8A2CB7A860CB}" srcOrd="12" destOrd="0" presId="urn:microsoft.com/office/officeart/2005/8/layout/cycle8"/>
    <dgm:cxn modelId="{E00530C4-3073-4778-9F37-F5DE25D25CA3}" type="presParOf" srcId="{09A98788-E2D7-4718-B55C-EC15E2C87197}" destId="{CDA26E7E-1123-4EB9-BD55-CA65598D53AF}" srcOrd="13" destOrd="0" presId="urn:microsoft.com/office/officeart/2005/8/layout/cycle8"/>
    <dgm:cxn modelId="{7F07EF16-A015-469B-8096-89B3080BE850}" type="presParOf" srcId="{09A98788-E2D7-4718-B55C-EC15E2C87197}" destId="{99C0F72F-1155-4DFC-8BCA-7E5782BF7DC8}" srcOrd="14" destOrd="0" presId="urn:microsoft.com/office/officeart/2005/8/layout/cycle8"/>
  </dgm:cxnLst>
  <dgm:bg/>
  <dgm:whole/>
  <dgm:extLst>
    <a:ext uri="http://schemas.microsoft.com/office/drawing/2008/diagram">
      <dsp:dataModelExt xmlns:dsp="http://schemas.microsoft.com/office/drawing/2008/diagram" relId="rId15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A6DE1FF-0226-4B55-8B96-C0A93D4C82BB}">
      <dsp:nvSpPr>
        <dsp:cNvPr id="0" name=""/>
        <dsp:cNvSpPr/>
      </dsp:nvSpPr>
      <dsp:spPr>
        <a:xfrm>
          <a:off x="1624662" y="293481"/>
          <a:ext cx="3792684" cy="3792684"/>
        </a:xfrm>
        <a:prstGeom prst="pie">
          <a:avLst>
            <a:gd name="adj1" fmla="val 16200000"/>
            <a:gd name="adj2" fmla="val 18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200" kern="1200" dirty="0"/>
            <a:t>Memory</a:t>
          </a:r>
        </a:p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200" kern="1200" dirty="0"/>
            <a:t>内存</a:t>
          </a:r>
        </a:p>
      </dsp:txBody>
      <dsp:txXfrm>
        <a:off x="3623498" y="1097169"/>
        <a:ext cx="1354530" cy="1128775"/>
      </dsp:txXfrm>
    </dsp:sp>
    <dsp:sp modelId="{555D10F4-A621-470A-998D-6CB73950C953}">
      <dsp:nvSpPr>
        <dsp:cNvPr id="0" name=""/>
        <dsp:cNvSpPr/>
      </dsp:nvSpPr>
      <dsp:spPr>
        <a:xfrm>
          <a:off x="1546551" y="428934"/>
          <a:ext cx="3792684" cy="3792684"/>
        </a:xfrm>
        <a:prstGeom prst="pie">
          <a:avLst>
            <a:gd name="adj1" fmla="val 1800000"/>
            <a:gd name="adj2" fmla="val 90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200" kern="1200" dirty="0"/>
            <a:t>Communication</a:t>
          </a:r>
        </a:p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200" kern="1200" dirty="0"/>
            <a:t>通信</a:t>
          </a:r>
        </a:p>
      </dsp:txBody>
      <dsp:txXfrm>
        <a:off x="2449571" y="2889664"/>
        <a:ext cx="2031795" cy="993322"/>
      </dsp:txXfrm>
    </dsp:sp>
    <dsp:sp modelId="{21C2242E-5DCB-4CCA-BD92-B8D5F512B412}">
      <dsp:nvSpPr>
        <dsp:cNvPr id="0" name=""/>
        <dsp:cNvSpPr/>
      </dsp:nvSpPr>
      <dsp:spPr>
        <a:xfrm>
          <a:off x="1468440" y="293481"/>
          <a:ext cx="3792684" cy="3792684"/>
        </a:xfrm>
        <a:prstGeom prst="pie">
          <a:avLst>
            <a:gd name="adj1" fmla="val 90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200" kern="1200" dirty="0"/>
            <a:t>Compute</a:t>
          </a:r>
        </a:p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200" kern="1200" dirty="0"/>
            <a:t>计算</a:t>
          </a:r>
          <a:endParaRPr lang="en-US" altLang="zh-CN" sz="2200" kern="1200" dirty="0"/>
        </a:p>
      </dsp:txBody>
      <dsp:txXfrm>
        <a:off x="1907759" y="1097169"/>
        <a:ext cx="1354530" cy="1128775"/>
      </dsp:txXfrm>
    </dsp:sp>
    <dsp:sp modelId="{CC23E034-21D9-442A-BD43-8A2CB7A860CB}">
      <dsp:nvSpPr>
        <dsp:cNvPr id="0" name=""/>
        <dsp:cNvSpPr/>
      </dsp:nvSpPr>
      <dsp:spPr>
        <a:xfrm>
          <a:off x="1390190" y="58696"/>
          <a:ext cx="4262255" cy="4262255"/>
        </a:xfrm>
        <a:prstGeom prst="circularArrow">
          <a:avLst>
            <a:gd name="adj1" fmla="val 5085"/>
            <a:gd name="adj2" fmla="val 327528"/>
            <a:gd name="adj3" fmla="val 1472472"/>
            <a:gd name="adj4" fmla="val 16199432"/>
            <a:gd name="adj5" fmla="val 5932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A26E7E-1123-4EB9-BD55-CA65598D53AF}">
      <dsp:nvSpPr>
        <dsp:cNvPr id="0" name=""/>
        <dsp:cNvSpPr/>
      </dsp:nvSpPr>
      <dsp:spPr>
        <a:xfrm>
          <a:off x="1311766" y="193909"/>
          <a:ext cx="4262255" cy="4262255"/>
        </a:xfrm>
        <a:prstGeom prst="circularArrow">
          <a:avLst>
            <a:gd name="adj1" fmla="val 5085"/>
            <a:gd name="adj2" fmla="val 327528"/>
            <a:gd name="adj3" fmla="val 8671970"/>
            <a:gd name="adj4" fmla="val 1800502"/>
            <a:gd name="adj5" fmla="val 5932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C0F72F-1155-4DFC-8BCA-7E5782BF7DC8}">
      <dsp:nvSpPr>
        <dsp:cNvPr id="0" name=""/>
        <dsp:cNvSpPr/>
      </dsp:nvSpPr>
      <dsp:spPr>
        <a:xfrm>
          <a:off x="1233342" y="58696"/>
          <a:ext cx="4262255" cy="4262255"/>
        </a:xfrm>
        <a:prstGeom prst="circularArrow">
          <a:avLst>
            <a:gd name="adj1" fmla="val 5085"/>
            <a:gd name="adj2" fmla="val 327528"/>
            <a:gd name="adj3" fmla="val 15873039"/>
            <a:gd name="adj4" fmla="val 9000000"/>
            <a:gd name="adj5" fmla="val 5932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8">
  <dgm:title val=""/>
  <dgm:desc val=""/>
  <dgm:catLst>
    <dgm:cat type="cycle" pri="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horzAlign" val="ctr"/>
      <dgm:param type="vertAlign" val="mid"/>
      <dgm:param type="ar" val="1"/>
    </dgm:alg>
    <dgm:shape xmlns:r="http://schemas.openxmlformats.org/officeDocument/2006/relationships" r:blip="">
      <dgm:adjLst/>
    </dgm:shape>
    <dgm:presOf/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dummy1a" refType="w" fact="0.5"/>
          <dgm:constr type="t" for="ch" forName="dummy1a" refType="h" fact="0.08"/>
          <dgm:constr type="l" for="ch" forName="dummy1b" refType="w" fact="0.5"/>
          <dgm:constr type="t" for="ch" forName="dummy1b" refType="h" fact="0.08"/>
          <dgm:constr type="l" for="ch" forName="wedge1Tx" refType="w" fact="0.22"/>
          <dgm:constr type="t" for="ch" forName="wedge1Tx" refType="h" fact="0.22"/>
          <dgm:constr type="w" for="ch" forName="wedge1Tx" refType="w" fact="0.56"/>
          <dgm:constr type="h" for="ch" forName="wedge1Tx" refType="h" fact="0.56"/>
          <dgm:constr type="h" for="ch" forName="arrowWedge1single" refType="w" fact="0.08"/>
          <dgm:constr type="diam" for="ch" forName="arrowWedge1single" refType="w" fact="0.84"/>
          <dgm:constr type="l" for="ch" forName="arrowWedge1single" refType="w" fact="0.5"/>
          <dgm:constr type="t" for="ch" forName="arrowWedge1single" refType="w" fact="0.5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dummy1a" refType="w" fact="0.52"/>
          <dgm:constr type="t" for="ch" forName="dummy1a" refType="h" fact="0.08"/>
          <dgm:constr type="l" for="ch" forName="dummy1b" refType="w" fact="0.52"/>
          <dgm:constr type="t" for="ch" forName="dummy1b" refType="h" fact="0.92"/>
          <dgm:constr type="l" for="ch" forName="wedge1Tx" refType="w" fact="0.559"/>
          <dgm:constr type="t" for="ch" forName="wedge1Tx" refType="h" fact="0.3"/>
          <dgm:constr type="w" for="ch" forName="wedge1Tx" refType="w" fact="0.3"/>
          <dgm:constr type="h" for="ch" forName="wedge1Tx" refType="h" fact="0.4"/>
          <dgm:constr type="l" for="ch" forName="wedge2" refType="w" fact="0.06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dummy2a" refType="w" fact="0.48"/>
          <dgm:constr type="t" for="ch" forName="dummy2a" refType="h" fact="0.92"/>
          <dgm:constr type="l" for="ch" forName="dummy2b" refType="w" fact="0.48"/>
          <dgm:constr type="t" for="ch" forName="dummy2b" refType="h" fact="0.08"/>
          <dgm:constr type="r" for="ch" forName="wedge2Tx" refType="w" fact="0.441"/>
          <dgm:constr type="t" for="ch" forName="wedge2Tx" refType="h" fact="0.3"/>
          <dgm:constr type="w" for="ch" forName="wedge2Tx" refType="w" fact="0.3"/>
          <dgm:constr type="h" for="ch" forName="wedge2Tx" refType="h" fact="0.4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primFontSz" for="ch" ptType="node" op="equ"/>
        </dgm:constrLst>
      </dgm:if>
      <dgm:if name="Name3" axis="ch" ptType="node" func="cnt" op="equ" val="3">
        <dgm:constrLst>
          <dgm:constr type="l" for="ch" forName="wedge1" refType="w" fact="0.0973"/>
          <dgm:constr type="t" for="ch" forName="wedge1" refType="w" fact="0.07"/>
          <dgm:constr type="w" for="ch" forName="wedge1" refType="w" fact="0.84"/>
          <dgm:constr type="h" for="ch" forName="wedge1" refType="h" fact="0.84"/>
          <dgm:constr type="l" for="ch" forName="dummy1a" refType="w" fact="0.5173"/>
          <dgm:constr type="t" for="ch" forName="dummy1a" refType="h" fact="0.07"/>
          <dgm:constr type="l" for="ch" forName="dummy1b" refType="w" fact="0.8811"/>
          <dgm:constr type="t" for="ch" forName="dummy1b" refType="h" fact="0.7"/>
          <dgm:constr type="l" for="ch" forName="wedge1Tx" refType="w" fact="0.54"/>
          <dgm:constr type="t" for="ch" forName="wedge1Tx" refType="h" fact="0.248"/>
          <dgm:constr type="w" for="ch" forName="wedge1Tx" refType="w" fact="0.3"/>
          <dgm:constr type="h" for="ch" forName="wedge1Tx" refType="h" fact="0.25"/>
          <dgm:constr type="l" for="ch" forName="wedge2" refType="w" fact="0.08"/>
          <dgm:constr type="t" for="ch" forName="wedge2" refType="w" fact="0.1"/>
          <dgm:constr type="w" for="ch" forName="wedge2" refType="w" fact="0.84"/>
          <dgm:constr type="h" for="ch" forName="wedge2" refType="h" fact="0.84"/>
          <dgm:constr type="l" for="ch" forName="dummy2a" refType="w" fact="0.8637"/>
          <dgm:constr type="t" for="ch" forName="dummy2a" refType="h" fact="0.73"/>
          <dgm:constr type="l" for="ch" forName="dummy2b" refType="w" fact="0.1363"/>
          <dgm:constr type="t" for="ch" forName="dummy2b" refType="h" fact="0.73"/>
          <dgm:constr type="l" for="ch" forName="wedge2Tx" refType="w" fact="0.28"/>
          <dgm:constr type="t" for="ch" forName="wedge2Tx" refType="h" fact="0.645"/>
          <dgm:constr type="w" for="ch" forName="wedge2Tx" refType="w" fact="0.45"/>
          <dgm:constr type="h" for="ch" forName="wedge2Tx" refType="h" fact="0.22"/>
          <dgm:constr type="l" for="ch" forName="wedge3" refType="w" fact="0.0627"/>
          <dgm:constr type="t" for="ch" forName="wedge3" refType="w" fact="0.07"/>
          <dgm:constr type="w" for="ch" forName="wedge3" refType="w" fact="0.84"/>
          <dgm:constr type="h" for="ch" forName="wedge3" refType="h" fact="0.84"/>
          <dgm:constr type="l" for="ch" forName="dummy3a" refType="w" fact="0.1189"/>
          <dgm:constr type="t" for="ch" forName="dummy3a" refType="h" fact="0.7"/>
          <dgm:constr type="l" for="ch" forName="dummy3b" refType="w" fact="0.4827"/>
          <dgm:constr type="t" for="ch" forName="dummy3b" refType="h" fact="0.07"/>
          <dgm:constr type="r" for="ch" forName="wedge3Tx" refType="w" fact="0.46"/>
          <dgm:constr type="t" for="ch" forName="wedge3Tx" refType="h" fact="0.248"/>
          <dgm:constr type="w" for="ch" forName="wedge3Tx" refType="w" fact="0.3"/>
          <dgm:constr type="h" for="ch" forName="wedge3Tx" refType="h" fact="0.25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primFontSz" for="ch" ptType="node" op="equ"/>
        </dgm:constrLst>
      </dgm:if>
      <dgm:if name="Name4" axis="ch" ptType="node" func="cnt" op="equ" val="4">
        <dgm:constrLst>
          <dgm:constr type="l" for="ch" forName="wedge1" refType="w" fact="0.0941"/>
          <dgm:constr type="t" for="ch" forName="wedge1" refType="w" fact="0.0659"/>
          <dgm:constr type="w" for="ch" forName="wedge1" refType="w" fact="0.84"/>
          <dgm:constr type="h" for="ch" forName="wedge1" refType="h" fact="0.84"/>
          <dgm:constr type="l" for="ch" forName="dummy1a" refType="w" fact="0.5141"/>
          <dgm:constr type="t" for="ch" forName="dummy1a" refType="h" fact="0.0659"/>
          <dgm:constr type="l" for="ch" forName="dummy1b" refType="w" fact="0.9341"/>
          <dgm:constr type="t" for="ch" forName="dummy1b" refType="h" fact="0.4859"/>
          <dgm:constr type="l" for="ch" forName="wedge1Tx" refType="w" fact="0.54"/>
          <dgm:constr type="t" for="ch" forName="wedge1Tx" refType="h" fact="0.24"/>
          <dgm:constr type="w" for="ch" forName="wedge1Tx" refType="w" fact="0.31"/>
          <dgm:constr type="h" for="ch" forName="wedge1Tx" refType="h" fact="0.23"/>
          <dgm:constr type="l" for="ch" forName="wedge2" refType="w" fact="0.0941"/>
          <dgm:constr type="t" for="ch" forName="wedge2" refType="w" fact="0.0941"/>
          <dgm:constr type="w" for="ch" forName="wedge2" refType="w" fact="0.84"/>
          <dgm:constr type="h" for="ch" forName="wedge2" refType="h" fact="0.84"/>
          <dgm:constr type="l" for="ch" forName="dummy2a" refType="w" fact="0.9341"/>
          <dgm:constr type="t" for="ch" forName="dummy2a" refType="h" fact="0.5141"/>
          <dgm:constr type="l" for="ch" forName="dummy2b" refType="w" fact="0.5141"/>
          <dgm:constr type="t" for="ch" forName="dummy2b" refType="h" fact="0.9341"/>
          <dgm:constr type="l" for="ch" forName="wedge2Tx" refType="w" fact="0.54"/>
          <dgm:constr type="t" for="ch" forName="wedge2Tx" refType="h" fact="0.53"/>
          <dgm:constr type="w" for="ch" forName="wedge2Tx" refType="w" fact="0.31"/>
          <dgm:constr type="h" for="ch" forName="wedge2Tx" refType="h" fact="0.23"/>
          <dgm:constr type="l" for="ch" forName="wedge3" refType="w" fact="0.0659"/>
          <dgm:constr type="t" for="ch" forName="wedge3" refType="w" fact="0.0941"/>
          <dgm:constr type="w" for="ch" forName="wedge3" refType="w" fact="0.84"/>
          <dgm:constr type="h" for="ch" forName="wedge3" refType="h" fact="0.84"/>
          <dgm:constr type="l" for="ch" forName="dummy3a" refType="w" fact="0.4859"/>
          <dgm:constr type="t" for="ch" forName="dummy3a" refType="h" fact="0.9341"/>
          <dgm:constr type="l" for="ch" forName="dummy3b" refType="w" fact="0.0659"/>
          <dgm:constr type="t" for="ch" forName="dummy3b" refType="h" fact="0.5141"/>
          <dgm:constr type="r" for="ch" forName="wedge3Tx" refType="w" fact="0.46"/>
          <dgm:constr type="t" for="ch" forName="wedge3Tx" refType="h" fact="0.53"/>
          <dgm:constr type="w" for="ch" forName="wedge3Tx" refType="w" fact="0.31"/>
          <dgm:constr type="h" for="ch" forName="wedge3Tx" refType="h" fact="0.23"/>
          <dgm:constr type="l" for="ch" forName="wedge4" refType="w" fact="0.0659"/>
          <dgm:constr type="t" for="ch" forName="wedge4" refType="h" fact="0.0659"/>
          <dgm:constr type="w" for="ch" forName="wedge4" refType="w" fact="0.84"/>
          <dgm:constr type="h" for="ch" forName="wedge4" refType="h" fact="0.84"/>
          <dgm:constr type="l" for="ch" forName="dummy4a" refType="w" fact="0.0659"/>
          <dgm:constr type="t" for="ch" forName="dummy4a" refType="h" fact="0.4859"/>
          <dgm:constr type="l" for="ch" forName="dummy4b" refType="w" fact="0.4859"/>
          <dgm:constr type="t" for="ch" forName="dummy4b" refType="h" fact="0.0659"/>
          <dgm:constr type="r" for="ch" forName="wedge4Tx" refType="w" fact="0.46"/>
          <dgm:constr type="t" for="ch" forName="wedge4Tx" refType="h" fact="0.24"/>
          <dgm:constr type="w" for="ch" forName="wedge4Tx" refType="w" fact="0.31"/>
          <dgm:constr type="h" for="ch" forName="wedge4Tx" refType="h" fact="0.23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primFontSz" for="ch" ptType="node" op="equ"/>
        </dgm:constrLst>
      </dgm:if>
      <dgm:if name="Name5" axis="ch" ptType="node" func="cnt" op="equ" val="5">
        <dgm:constrLst>
          <dgm:constr type="l" for="ch" forName="wedge1" refType="w" fact="0.0918"/>
          <dgm:constr type="t" for="ch" forName="wedge1" refType="w" fact="0.0638"/>
          <dgm:constr type="w" for="ch" forName="wedge1" refType="w" fact="0.84"/>
          <dgm:constr type="h" for="ch" forName="wedge1" refType="h" fact="0.84"/>
          <dgm:constr type="l" for="ch" forName="dummy1a" refType="w" fact="0.5118"/>
          <dgm:constr type="t" for="ch" forName="dummy1a" refType="h" fact="0.0638"/>
          <dgm:constr type="l" for="ch" forName="dummy1b" refType="w" fact="0.9112"/>
          <dgm:constr type="t" for="ch" forName="dummy1b" refType="h" fact="0.354"/>
          <dgm:constr type="l" for="ch" forName="wedge1Tx" refType="w" fact="0.53"/>
          <dgm:constr type="t" for="ch" forName="wedge1Tx" refType="h" fact="0.205"/>
          <dgm:constr type="w" for="ch" forName="wedge1Tx" refType="w" fact="0.27"/>
          <dgm:constr type="h" for="ch" forName="wedge1Tx" refType="h" fact="0.18"/>
          <dgm:constr type="l" for="ch" forName="wedge2" refType="w" fact="0.099"/>
          <dgm:constr type="t" for="ch" forName="wedge2" refType="w" fact="0.0862"/>
          <dgm:constr type="w" for="ch" forName="wedge2" refType="w" fact="0.84"/>
          <dgm:constr type="h" for="ch" forName="wedge2" refType="h" fact="0.84"/>
          <dgm:constr type="l" for="ch" forName="dummy2a" refType="w" fact="0.9185"/>
          <dgm:constr type="t" for="ch" forName="dummy2a" refType="h" fact="0.3764"/>
          <dgm:constr type="l" for="ch" forName="dummy2b" refType="w" fact="0.7659"/>
          <dgm:constr type="t" for="ch" forName="dummy2b" refType="h" fact="0.846"/>
          <dgm:constr type="l" for="ch" forName="wedge2Tx" refType="w" fact="0.64"/>
          <dgm:constr type="t" for="ch" forName="wedge2Tx" refType="h" fact="0.47"/>
          <dgm:constr type="w" for="ch" forName="wedge2Tx" refType="w" fact="0.25"/>
          <dgm:constr type="h" for="ch" forName="wedge2Tx" refType="h" fact="0.2"/>
          <dgm:constr type="l" for="ch" forName="wedge3" refType="w" fact="0.08"/>
          <dgm:constr type="t" for="ch" forName="wedge3" refType="w" fact="0.1"/>
          <dgm:constr type="w" for="ch" forName="wedge3" refType="w" fact="0.84"/>
          <dgm:constr type="h" for="ch" forName="wedge3" refType="h" fact="0.84"/>
          <dgm:constr type="l" for="ch" forName="dummy3a" refType="w" fact="0.7469"/>
          <dgm:constr type="t" for="ch" forName="dummy3a" refType="h" fact="0.8598"/>
          <dgm:constr type="l" for="ch" forName="dummy3b" refType="w" fact="0.2531"/>
          <dgm:constr type="t" for="ch" forName="dummy3b" refType="h" fact="0.8598"/>
          <dgm:constr type="l" for="ch" forName="wedge3Tx" refType="w" fact="0.38"/>
          <dgm:constr type="t" for="ch" forName="wedge3Tx" refType="h" fact="0.69"/>
          <dgm:constr type="w" for="ch" forName="wedge3Tx" refType="w" fact="0.24"/>
          <dgm:constr type="h" for="ch" forName="wedge3Tx" refType="h" fact="0.22"/>
          <dgm:constr type="l" for="ch" forName="wedge4" refType="w" fact="0.061"/>
          <dgm:constr type="t" for="ch" forName="wedge4" refType="h" fact="0.0862"/>
          <dgm:constr type="w" for="ch" forName="wedge4" refType="w" fact="0.84"/>
          <dgm:constr type="h" for="ch" forName="wedge4" refType="h" fact="0.84"/>
          <dgm:constr type="l" for="ch" forName="dummy4a" refType="w" fact="0.2341"/>
          <dgm:constr type="t" for="ch" forName="dummy4a" refType="h" fact="0.846"/>
          <dgm:constr type="l" for="ch" forName="dummy4b" refType="w" fact="0.0815"/>
          <dgm:constr type="t" for="ch" forName="dummy4b" refType="h" fact="0.3764"/>
          <dgm:constr type="r" for="ch" forName="wedge4Tx" refType="w" fact="0.36"/>
          <dgm:constr type="t" for="ch" forName="wedge4Tx" refType="h" fact="0.47"/>
          <dgm:constr type="w" for="ch" forName="wedge4Tx" refType="w" fact="0.25"/>
          <dgm:constr type="h" for="ch" forName="wedge4Tx" refType="h" fact="0.2"/>
          <dgm:constr type="l" for="ch" forName="wedge5" refType="w" fact="0.0682"/>
          <dgm:constr type="t" for="ch" forName="wedge5" refType="h" fact="0.0638"/>
          <dgm:constr type="w" for="ch" forName="wedge5" refType="w" fact="0.84"/>
          <dgm:constr type="h" for="ch" forName="wedge5" refType="h" fact="0.84"/>
          <dgm:constr type="l" for="ch" forName="dummy5a" refType="w" fact="0.0888"/>
          <dgm:constr type="t" for="ch" forName="dummy5a" refType="h" fact="0.354"/>
          <dgm:constr type="l" for="ch" forName="dummy5b" refType="w" fact="0.4882"/>
          <dgm:constr type="t" for="ch" forName="dummy5b" refType="h" fact="0.0638"/>
          <dgm:constr type="r" for="ch" forName="wedge5Tx" refType="w" fact="0.47"/>
          <dgm:constr type="t" for="ch" forName="wedge5Tx" refType="h" fact="0.205"/>
          <dgm:constr type="w" for="ch" forName="wedge5Tx" refType="w" fact="0.27"/>
          <dgm:constr type="h" for="ch" forName="wedge5Tx" refType="h" fact="0.18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primFontSz" for="ch" ptType="node" op="equ"/>
        </dgm:constrLst>
      </dgm:if>
      <dgm:if name="Name6" axis="ch" ptType="node" func="cnt" op="equ" val="6">
        <dgm:constrLst>
          <dgm:constr type="l" for="ch" forName="wedge1" refType="w" fact="0.09"/>
          <dgm:constr type="t" for="ch" forName="wedge1" refType="w" fact="0.0627"/>
          <dgm:constr type="w" for="ch" forName="wedge1" refType="w" fact="0.84"/>
          <dgm:constr type="h" for="ch" forName="wedge1" refType="h" fact="0.84"/>
          <dgm:constr type="l" for="ch" forName="dummy1a" refType="w" fact="0.51"/>
          <dgm:constr type="t" for="ch" forName="dummy1a" refType="h" fact="0.0627"/>
          <dgm:constr type="l" for="ch" forName="dummy1b" refType="w" fact="0.8737"/>
          <dgm:constr type="t" for="ch" forName="dummy1b" refType="h" fact="0.2727"/>
          <dgm:constr type="l" for="ch" forName="wedge1Tx" refType="w" fact="0.53"/>
          <dgm:constr type="t" for="ch" forName="wedge1Tx" refType="h" fact="0.17"/>
          <dgm:constr type="w" for="ch" forName="wedge1Tx" refType="w" fact="0.22"/>
          <dgm:constr type="h" for="ch" forName="wedge1Tx" refType="h" fact="0.17"/>
          <dgm:constr type="l" for="ch" forName="wedge2" refType="w" fact="0.1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dummy2a" refType="w" fact="0.8837"/>
          <dgm:constr type="t" for="ch" forName="dummy2a" refType="h" fact="0.29"/>
          <dgm:constr type="l" for="ch" forName="dummy2b" refType="w" fact="0.8837"/>
          <dgm:constr type="t" for="ch" forName="dummy2b" refType="h" fact="0.71"/>
          <dgm:constr type="l" for="ch" forName="wedge2Tx" refType="w" fact="0.67"/>
          <dgm:constr type="t" for="ch" forName="wedge2Tx" refType="h" fact="0.42"/>
          <dgm:constr type="w" for="ch" forName="wedge2Tx" refType="w" fact="0.23"/>
          <dgm:constr type="h" for="ch" forName="wedge2Tx" refType="h" fact="0.165"/>
          <dgm:constr type="l" for="ch" forName="wedge3" refType="w" fact="0.09"/>
          <dgm:constr type="t" for="ch" forName="wedge3" refType="w" fact="0.0973"/>
          <dgm:constr type="w" for="ch" forName="wedge3" refType="w" fact="0.84"/>
          <dgm:constr type="h" for="ch" forName="wedge3" refType="h" fact="0.84"/>
          <dgm:constr type="l" for="ch" forName="dummy3a" refType="w" fact="0.8737"/>
          <dgm:constr type="t" for="ch" forName="dummy3a" refType="h" fact="0.7273"/>
          <dgm:constr type="l" for="ch" forName="dummy3b" refType="w" fact="0.51"/>
          <dgm:constr type="t" for="ch" forName="dummy3b" refType="h" fact="0.9373"/>
          <dgm:constr type="l" for="ch" forName="wedge3Tx" refType="w" fact="0.53"/>
          <dgm:constr type="t" for="ch" forName="wedge3Tx" refType="h" fact="0.665"/>
          <dgm:constr type="w" for="ch" forName="wedge3Tx" refType="w" fact="0.22"/>
          <dgm:constr type="h" for="ch" forName="wedge3Tx" refType="h" fact="0.17"/>
          <dgm:constr type="l" for="ch" forName="wedge4" refType="w" fact="0.07"/>
          <dgm:constr type="t" for="ch" forName="wedge4" refType="h" fact="0.0973"/>
          <dgm:constr type="w" for="ch" forName="wedge4" refType="w" fact="0.84"/>
          <dgm:constr type="h" for="ch" forName="wedge4" refType="h" fact="0.84"/>
          <dgm:constr type="l" for="ch" forName="dummy4a" refType="w" fact="0.49"/>
          <dgm:constr type="t" for="ch" forName="dummy4a" refType="h" fact="0.9373"/>
          <dgm:constr type="l" for="ch" forName="dummy4b" refType="w" fact="0.1263"/>
          <dgm:constr type="t" for="ch" forName="dummy4b" refType="h" fact="0.7273"/>
          <dgm:constr type="r" for="ch" forName="wedge4Tx" refType="w" fact="0.47"/>
          <dgm:constr type="t" for="ch" forName="wedge4Tx" refType="h" fact="0.665"/>
          <dgm:constr type="w" for="ch" forName="wedge4Tx" refType="w" fact="0.22"/>
          <dgm:constr type="h" for="ch" forName="wedge4Tx" refType="h" fact="0.17"/>
          <dgm:constr type="l" for="ch" forName="wedge5" refType="w" fact="0.06"/>
          <dgm:constr type="t" for="ch" forName="wedge5" refType="h" fact="0.08"/>
          <dgm:constr type="w" for="ch" forName="wedge5" refType="w" fact="0.84"/>
          <dgm:constr type="h" for="ch" forName="wedge5" refType="h" fact="0.84"/>
          <dgm:constr type="l" for="ch" forName="dummy5a" refType="w" fact="0.1163"/>
          <dgm:constr type="t" for="ch" forName="dummy5a" refType="h" fact="0.71"/>
          <dgm:constr type="l" for="ch" forName="dummy5b" refType="w" fact="0.1163"/>
          <dgm:constr type="t" for="ch" forName="dummy5b" refType="h" fact="0.29"/>
          <dgm:constr type="r" for="ch" forName="wedge5Tx" refType="w" fact="0.33"/>
          <dgm:constr type="t" for="ch" forName="wedge5Tx" refType="h" fact="0.42"/>
          <dgm:constr type="w" for="ch" forName="wedge5Tx" refType="w" fact="0.23"/>
          <dgm:constr type="h" for="ch" forName="wedge5Tx" refType="h" fact="0.165"/>
          <dgm:constr type="l" for="ch" forName="wedge6" refType="w" fact="0.07"/>
          <dgm:constr type="t" for="ch" forName="wedge6" refType="h" fact="0.0627"/>
          <dgm:constr type="w" for="ch" forName="wedge6" refType="w" fact="0.84"/>
          <dgm:constr type="h" for="ch" forName="wedge6" refType="h" fact="0.84"/>
          <dgm:constr type="l" for="ch" forName="dummy6a" refType="w" fact="0.1263"/>
          <dgm:constr type="t" for="ch" forName="dummy6a" refType="h" fact="0.2727"/>
          <dgm:constr type="l" for="ch" forName="dummy6b" refType="w" fact="0.49"/>
          <dgm:constr type="t" for="ch" forName="dummy6b" refType="h" fact="0.0627"/>
          <dgm:constr type="r" for="ch" forName="wedge6Tx" refType="w" fact="0.47"/>
          <dgm:constr type="t" for="ch" forName="wedge6Tx" refType="h" fact="0.17"/>
          <dgm:constr type="w" for="ch" forName="wedge6Tx" refType="w" fact="0.22"/>
          <dgm:constr type="h" for="ch" forName="wedge6Tx" refType="h" fact="0.17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h" for="ch" forName="arrowWedge6" refType="w" fact="0.08"/>
          <dgm:constr type="diam" for="ch" forName="arrowWedge6" refType="w" fact="0.84"/>
          <dgm:constr type="l" for="ch" forName="arrowWedge6" refType="w" fact="0.5"/>
          <dgm:constr type="t" for="ch" forName="arrowWedge6" refType="w" fact="0.5"/>
          <dgm:constr type="primFontSz" for="ch" ptType="node" op="equ"/>
        </dgm:constrLst>
      </dgm:if>
      <dgm:else name="Name7">
        <dgm:constrLst>
          <dgm:constr type="l" for="ch" forName="wedge1" refType="w" fact="0.0887"/>
          <dgm:constr type="t" for="ch" forName="wedge1" refType="w" fact="0.062"/>
          <dgm:constr type="w" for="ch" forName="wedge1" refType="w" fact="0.84"/>
          <dgm:constr type="h" for="ch" forName="wedge1" refType="h" fact="0.84"/>
          <dgm:constr type="l" for="ch" forName="dummy1a" refType="w" fact="0.5087"/>
          <dgm:constr type="t" for="ch" forName="dummy1a" refType="h" fact="0.062"/>
          <dgm:constr type="l" for="ch" forName="dummy1b" refType="w" fact="0.837"/>
          <dgm:constr type="t" for="ch" forName="dummy1b" refType="h" fact="0.2201"/>
          <dgm:constr type="l" for="ch" forName="wedge1Tx" refType="w" fact="0.53"/>
          <dgm:constr type="t" for="ch" forName="wedge1Tx" refType="h" fact="0.14"/>
          <dgm:constr type="w" for="ch" forName="wedge1Tx" refType="w" fact="0.2"/>
          <dgm:constr type="h" for="ch" forName="wedge1Tx" refType="h" fact="0.16"/>
          <dgm:constr type="l" for="ch" forName="wedge2" refType="w" fact="0.0995"/>
          <dgm:constr type="t" for="ch" forName="wedge2" refType="w" fact="0.0755"/>
          <dgm:constr type="w" for="ch" forName="wedge2" refType="w" fact="0.84"/>
          <dgm:constr type="h" for="ch" forName="wedge2" refType="h" fact="0.84"/>
          <dgm:constr type="l" for="ch" forName="dummy2a" refType="w" fact="0.8479"/>
          <dgm:constr type="t" for="ch" forName="dummy2a" refType="h" fact="0.2337"/>
          <dgm:constr type="l" for="ch" forName="dummy2b" refType="w" fact="0.929"/>
          <dgm:constr type="t" for="ch" forName="dummy2b" refType="h" fact="0.589"/>
          <dgm:constr type="l" for="ch" forName="wedge2Tx" refType="w" fact="0.67"/>
          <dgm:constr type="t" for="ch" forName="wedge2Tx" refType="h" fact="0.38"/>
          <dgm:constr type="w" for="ch" forName="wedge2Tx" refType="w" fact="0.23"/>
          <dgm:constr type="h" for="ch" forName="wedge2Tx" refType="h" fact="0.14"/>
          <dgm:constr type="l" for="ch" forName="wedge3" refType="w" fact="0.0956"/>
          <dgm:constr type="t" for="ch" forName="wedge3" refType="w" fact="0.0925"/>
          <dgm:constr type="w" for="ch" forName="wedge3" refType="w" fact="0.84"/>
          <dgm:constr type="h" for="ch" forName="wedge3" refType="h" fact="0.84"/>
          <dgm:constr type="l" for="ch" forName="dummy3a" refType="w" fact="0.9251"/>
          <dgm:constr type="t" for="ch" forName="dummy3a" refType="h" fact="0.6059"/>
          <dgm:constr type="l" for="ch" forName="dummy3b" refType="w" fact="0.6979"/>
          <dgm:constr type="t" for="ch" forName="dummy3b" refType="h" fact="0.8909"/>
          <dgm:constr type="l" for="ch" forName="wedge3Tx" refType="w" fact="0.635"/>
          <dgm:constr type="t" for="ch" forName="wedge3Tx" refType="h" fact="0.59"/>
          <dgm:constr type="w" for="ch" forName="wedge3Tx" refType="w" fact="0.2"/>
          <dgm:constr type="h" for="ch" forName="wedge3Tx" refType="h" fact="0.155"/>
          <dgm:constr type="l" for="ch" forName="wedge4" refType="w" fact="0.08"/>
          <dgm:constr type="t" for="ch" forName="wedge4" refType="h" fact="0.1"/>
          <dgm:constr type="w" for="ch" forName="wedge4" refType="w" fact="0.84"/>
          <dgm:constr type="h" for="ch" forName="wedge4" refType="h" fact="0.84"/>
          <dgm:constr type="l" for="ch" forName="dummy4a" refType="w" fact="0.6822"/>
          <dgm:constr type="t" for="ch" forName="dummy4a" refType="h" fact="0.8984"/>
          <dgm:constr type="l" for="ch" forName="dummy4b" refType="w" fact="0.3178"/>
          <dgm:constr type="t" for="ch" forName="dummy4b" refType="h" fact="0.8984"/>
          <dgm:constr type="l" for="ch" forName="wedge4Tx" refType="w" fact="0.4025"/>
          <dgm:constr type="t" for="ch" forName="wedge4Tx" refType="h" fact="0.76"/>
          <dgm:constr type="w" for="ch" forName="wedge4Tx" refType="w" fact="0.195"/>
          <dgm:constr type="h" for="ch" forName="wedge4Tx" refType="h" fact="0.14"/>
          <dgm:constr type="l" for="ch" forName="wedge5" refType="w" fact="0.0644"/>
          <dgm:constr type="t" for="ch" forName="wedge5" refType="h" fact="0.0925"/>
          <dgm:constr type="w" for="ch" forName="wedge5" refType="w" fact="0.84"/>
          <dgm:constr type="h" for="ch" forName="wedge5" refType="h" fact="0.84"/>
          <dgm:constr type="l" for="ch" forName="dummy5a" refType="w" fact="0.3021"/>
          <dgm:constr type="t" for="ch" forName="dummy5a" refType="h" fact="0.8909"/>
          <dgm:constr type="l" for="ch" forName="dummy5b" refType="w" fact="0.0749"/>
          <dgm:constr type="t" for="ch" forName="dummy5b" refType="h" fact="0.6059"/>
          <dgm:constr type="r" for="ch" forName="wedge5Tx" refType="w" fact="0.365"/>
          <dgm:constr type="t" for="ch" forName="wedge5Tx" refType="h" fact="0.59"/>
          <dgm:constr type="w" for="ch" forName="wedge5Tx" refType="w" fact="0.2"/>
          <dgm:constr type="h" for="ch" forName="wedge5Tx" refType="h" fact="0.155"/>
          <dgm:constr type="l" for="ch" forName="wedge6" refType="w" fact="0.0605"/>
          <dgm:constr type="t" for="ch" forName="wedge6" refType="h" fact="0.0755"/>
          <dgm:constr type="w" for="ch" forName="wedge6" refType="w" fact="0.84"/>
          <dgm:constr type="h" for="ch" forName="wedge6" refType="h" fact="0.84"/>
          <dgm:constr type="l" for="ch" forName="dummy6a" refType="w" fact="0.071"/>
          <dgm:constr type="t" for="ch" forName="dummy6a" refType="h" fact="0.589"/>
          <dgm:constr type="l" for="ch" forName="dummy6b" refType="w" fact="0.1521"/>
          <dgm:constr type="t" for="ch" forName="dummy6b" refType="h" fact="0.2337"/>
          <dgm:constr type="r" for="ch" forName="wedge6Tx" refType="w" fact="0.33"/>
          <dgm:constr type="t" for="ch" forName="wedge6Tx" refType="h" fact="0.38"/>
          <dgm:constr type="w" for="ch" forName="wedge6Tx" refType="w" fact="0.23"/>
          <dgm:constr type="h" for="ch" forName="wedge6Tx" refType="h" fact="0.14"/>
          <dgm:constr type="l" for="ch" forName="wedge7" refType="w" fact="0.0713"/>
          <dgm:constr type="t" for="ch" forName="wedge7" refType="h" fact="0.062"/>
          <dgm:constr type="w" for="ch" forName="wedge7" refType="w" fact="0.84"/>
          <dgm:constr type="h" for="ch" forName="wedge7" refType="h" fact="0.84"/>
          <dgm:constr type="l" for="ch" forName="dummy7a" refType="w" fact="0.163"/>
          <dgm:constr type="t" for="ch" forName="dummy7a" refType="h" fact="0.2201"/>
          <dgm:constr type="l" for="ch" forName="dummy7b" refType="w" fact="0.4913"/>
          <dgm:constr type="t" for="ch" forName="dummy7b" refType="h" fact="0.062"/>
          <dgm:constr type="r" for="ch" forName="wedge7Tx" refType="w" fact="0.47"/>
          <dgm:constr type="t" for="ch" forName="wedge7Tx" refType="h" fact="0.14"/>
          <dgm:constr type="w" for="ch" forName="wedge7Tx" refType="w" fact="0.2"/>
          <dgm:constr type="h" for="ch" forName="wedge7Tx" refType="h" fact="0.16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h" for="ch" forName="arrowWedge6" refType="w" fact="0.08"/>
          <dgm:constr type="diam" for="ch" forName="arrowWedge6" refType="w" fact="0.84"/>
          <dgm:constr type="l" for="ch" forName="arrowWedge6" refType="w" fact="0.5"/>
          <dgm:constr type="t" for="ch" forName="arrowWedge6" refType="w" fact="0.5"/>
          <dgm:constr type="h" for="ch" forName="arrowWedge7" refType="w" fact="0.08"/>
          <dgm:constr type="diam" for="ch" forName="arrowWedge7" refType="w" fact="0.84"/>
          <dgm:constr type="l" for="ch" forName="arrowWedge7" refType="w" fact="0.5"/>
          <dgm:constr type="t" for="ch" forName="arrowWedge7" refType="w" fact="0.5"/>
          <dgm:constr type="primFontSz" for="ch" ptType="node" op="equ"/>
        </dgm:constrLst>
      </dgm:else>
    </dgm:choose>
    <dgm:ruleLst/>
    <dgm:choose name="Name8">
      <dgm:if name="Name9" axis="ch" ptType="node" func="cnt" op="gte" val="1">
        <dgm:layoutNode name="wedge1">
          <dgm:alg type="sp"/>
          <dgm:choose name="Name10">
            <dgm:if name="Name11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12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13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14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15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16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17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18">
            <dgm:if name="Name19" func="var" arg="dir" op="equ" val="norm">
              <dgm:presOf axis="ch desOrSelf" ptType="node node" st="1 1" cnt="1 0"/>
            </dgm:if>
            <dgm:else name="Name20">
              <dgm:choose name="Name21">
                <dgm:if name="Name22" axis="ch" ptType="node" func="cnt" op="equ" val="1">
                  <dgm:presOf axis="ch desOrSelf" ptType="node node" st="1 1" cnt="1 0"/>
                </dgm:if>
                <dgm:if name="Name23" axis="ch" ptType="node" func="cnt" op="equ" val="2">
                  <dgm:presOf axis="ch desOrSelf" ptType="node node" st="2 1" cnt="1 0"/>
                </dgm:if>
                <dgm:if name="Name24" axis="ch" ptType="node" func="cnt" op="equ" val="3">
                  <dgm:presOf axis="ch desOrSelf" ptType="node node" st="3 1" cnt="1 0"/>
                </dgm:if>
                <dgm:if name="Name25" axis="ch" ptType="node" func="cnt" op="equ" val="4">
                  <dgm:presOf axis="ch desOrSelf" ptType="node node" st="4 1" cnt="1 0"/>
                </dgm:if>
                <dgm:if name="Name26" axis="ch" ptType="node" func="cnt" op="equ" val="5">
                  <dgm:presOf axis="ch desOrSelf" ptType="node node" st="5 1" cnt="1 0"/>
                </dgm:if>
                <dgm:if name="Name27" axis="ch" ptType="node" func="cnt" op="equ" val="6">
                  <dgm:presOf axis="ch desOrSelf" ptType="node node" st="6 1" cnt="1 0"/>
                </dgm:if>
                <dgm:else name="Name28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dummy1a" moveWith="wedge1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1b" moveWith="wedge1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29">
            <dgm:if name="Name30" func="var" arg="dir" op="equ" val="norm">
              <dgm:presOf axis="ch desOrSelf" ptType="node node" st="1 1" cnt="1 0"/>
            </dgm:if>
            <dgm:else name="Name31">
              <dgm:choose name="Name32">
                <dgm:if name="Name33" axis="ch" ptType="node" func="cnt" op="equ" val="1">
                  <dgm:presOf axis="ch desOrSelf" ptType="node node" st="1 1" cnt="1 0"/>
                </dgm:if>
                <dgm:if name="Name34" axis="ch" ptType="node" func="cnt" op="equ" val="2">
                  <dgm:presOf axis="ch desOrSelf" ptType="node node" st="2 1" cnt="1 0"/>
                </dgm:if>
                <dgm:if name="Name35" axis="ch" ptType="node" func="cnt" op="equ" val="3">
                  <dgm:presOf axis="ch desOrSelf" ptType="node node" st="3 1" cnt="1 0"/>
                </dgm:if>
                <dgm:if name="Name36" axis="ch" ptType="node" func="cnt" op="equ" val="4">
                  <dgm:presOf axis="ch desOrSelf" ptType="node node" st="4 1" cnt="1 0"/>
                </dgm:if>
                <dgm:if name="Name37" axis="ch" ptType="node" func="cnt" op="equ" val="5">
                  <dgm:presOf axis="ch desOrSelf" ptType="node node" st="5 1" cnt="1 0"/>
                </dgm:if>
                <dgm:if name="Name38" axis="ch" ptType="node" func="cnt" op="equ" val="6">
                  <dgm:presOf axis="ch desOrSelf" ptType="node node" st="6 1" cnt="1 0"/>
                </dgm:if>
                <dgm:else name="Name39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40"/>
    </dgm:choose>
    <dgm:choose name="Name41">
      <dgm:if name="Name42" axis="ch" ptType="node" func="cnt" op="gte" val="2">
        <dgm:layoutNode name="wedge2">
          <dgm:alg type="sp"/>
          <dgm:choose name="Name43">
            <dgm:if name="Name44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45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46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47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48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49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50">
            <dgm:if name="Name51" func="var" arg="dir" op="equ" val="norm">
              <dgm:presOf axis="ch desOrSelf" ptType="node node" st="2 1" cnt="1 0"/>
            </dgm:if>
            <dgm:else name="Name52">
              <dgm:choose name="Name53">
                <dgm:if name="Name54" axis="ch" ptType="node" func="cnt" op="equ" val="2">
                  <dgm:presOf axis="ch desOrSelf" ptType="node node" st="1 1" cnt="1 0"/>
                </dgm:if>
                <dgm:if name="Name55" axis="ch" ptType="node" func="cnt" op="equ" val="3">
                  <dgm:presOf axis="ch desOrSelf" ptType="node node" st="2 1" cnt="1 0"/>
                </dgm:if>
                <dgm:if name="Name56" axis="ch" ptType="node" func="cnt" op="equ" val="4">
                  <dgm:presOf axis="ch desOrSelf" ptType="node node" st="3 1" cnt="1 0"/>
                </dgm:if>
                <dgm:if name="Name57" axis="ch" ptType="node" func="cnt" op="equ" val="5">
                  <dgm:presOf axis="ch desOrSelf" ptType="node node" st="4 1" cnt="1 0"/>
                </dgm:if>
                <dgm:if name="Name58" axis="ch" ptType="node" func="cnt" op="equ" val="6">
                  <dgm:presOf axis="ch desOrSelf" ptType="node node" st="5 1" cnt="1 0"/>
                </dgm:if>
                <dgm:else name="Name59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dummy2a" moveWith="wedge2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2b" moveWith="wedge2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60">
            <dgm:if name="Name61" func="var" arg="dir" op="equ" val="norm">
              <dgm:presOf axis="ch desOrSelf" ptType="node node" st="2 1" cnt="1 0"/>
            </dgm:if>
            <dgm:else name="Name62">
              <dgm:choose name="Name63">
                <dgm:if name="Name64" axis="ch" ptType="node" func="cnt" op="equ" val="2">
                  <dgm:presOf axis="ch desOrSelf" ptType="node node" st="1 1" cnt="1 0"/>
                </dgm:if>
                <dgm:if name="Name65" axis="ch" ptType="node" func="cnt" op="equ" val="3">
                  <dgm:presOf axis="ch desOrSelf" ptType="node node" st="2 1" cnt="1 0"/>
                </dgm:if>
                <dgm:if name="Name66" axis="ch" ptType="node" func="cnt" op="equ" val="4">
                  <dgm:presOf axis="ch desOrSelf" ptType="node node" st="3 1" cnt="1 0"/>
                </dgm:if>
                <dgm:if name="Name67" axis="ch" ptType="node" func="cnt" op="equ" val="5">
                  <dgm:presOf axis="ch desOrSelf" ptType="node node" st="4 1" cnt="1 0"/>
                </dgm:if>
                <dgm:if name="Name68" axis="ch" ptType="node" func="cnt" op="equ" val="6">
                  <dgm:presOf axis="ch desOrSelf" ptType="node node" st="5 1" cnt="1 0"/>
                </dgm:if>
                <dgm:else name="Name69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70"/>
    </dgm:choose>
    <dgm:choose name="Name71">
      <dgm:if name="Name72" axis="ch" ptType="node" func="cnt" op="gte" val="3">
        <dgm:layoutNode name="wedge3">
          <dgm:alg type="sp"/>
          <dgm:choose name="Name73">
            <dgm:if name="Name74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75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76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77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78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79">
            <dgm:if name="Name80" func="var" arg="dir" op="equ" val="norm">
              <dgm:presOf axis="ch desOrSelf" ptType="node node" st="3 1" cnt="1 0"/>
            </dgm:if>
            <dgm:else name="Name81">
              <dgm:choose name="Name82">
                <dgm:if name="Name83" axis="ch" ptType="node" func="cnt" op="equ" val="3">
                  <dgm:presOf axis="ch desOrSelf" ptType="node node" st="1 1" cnt="1 0"/>
                </dgm:if>
                <dgm:if name="Name84" axis="ch" ptType="node" func="cnt" op="equ" val="4">
                  <dgm:presOf axis="ch desOrSelf" ptType="node node" st="2 1" cnt="1 0"/>
                </dgm:if>
                <dgm:if name="Name85" axis="ch" ptType="node" func="cnt" op="equ" val="5">
                  <dgm:presOf axis="ch desOrSelf" ptType="node node" st="3 1" cnt="1 0"/>
                </dgm:if>
                <dgm:if name="Name86" axis="ch" ptType="node" func="cnt" op="equ" val="6">
                  <dgm:presOf axis="ch desOrSelf" ptType="node node" st="4 1" cnt="1 0"/>
                </dgm:if>
                <dgm:else name="Name87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dummy3a" moveWith="wedge3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3b" moveWith="wedge3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88">
            <dgm:if name="Name89" func="var" arg="dir" op="equ" val="norm">
              <dgm:presOf axis="ch desOrSelf" ptType="node node" st="3 1" cnt="1 0"/>
            </dgm:if>
            <dgm:else name="Name90">
              <dgm:choose name="Name91">
                <dgm:if name="Name92" axis="ch" ptType="node" func="cnt" op="equ" val="3">
                  <dgm:presOf axis="ch desOrSelf" ptType="node node" st="1 1" cnt="1 0"/>
                </dgm:if>
                <dgm:if name="Name93" axis="ch" ptType="node" func="cnt" op="equ" val="4">
                  <dgm:presOf axis="ch desOrSelf" ptType="node node" st="2 1" cnt="1 0"/>
                </dgm:if>
                <dgm:if name="Name94" axis="ch" ptType="node" func="cnt" op="equ" val="5">
                  <dgm:presOf axis="ch desOrSelf" ptType="node node" st="3 1" cnt="1 0"/>
                </dgm:if>
                <dgm:if name="Name95" axis="ch" ptType="node" func="cnt" op="equ" val="6">
                  <dgm:presOf axis="ch desOrSelf" ptType="node node" st="4 1" cnt="1 0"/>
                </dgm:if>
                <dgm:else name="Name96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97"/>
    </dgm:choose>
    <dgm:choose name="Name98">
      <dgm:if name="Name99" axis="ch" ptType="node" func="cnt" op="gte" val="4">
        <dgm:layoutNode name="wedge4">
          <dgm:alg type="sp"/>
          <dgm:choose name="Name100">
            <dgm:if name="Name101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02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03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04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05">
            <dgm:if name="Name106" func="var" arg="dir" op="equ" val="norm">
              <dgm:presOf axis="ch desOrSelf" ptType="node node" st="4 1" cnt="1 0"/>
            </dgm:if>
            <dgm:else name="Name107">
              <dgm:choose name="Name108">
                <dgm:if name="Name109" axis="ch" ptType="node" func="cnt" op="equ" val="4">
                  <dgm:presOf axis="ch desOrSelf" ptType="node node" st="1 1" cnt="1 0"/>
                </dgm:if>
                <dgm:if name="Name110" axis="ch" ptType="node" func="cnt" op="equ" val="5">
                  <dgm:presOf axis="ch desOrSelf" ptType="node node" st="2 1" cnt="1 0"/>
                </dgm:if>
                <dgm:if name="Name111" axis="ch" ptType="node" func="cnt" op="equ" val="6">
                  <dgm:presOf axis="ch desOrSelf" ptType="node node" st="3 1" cnt="1 0"/>
                </dgm:if>
                <dgm:else name="Name112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dummy4a" moveWith="wedge4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4b" moveWith="wedge4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13">
            <dgm:if name="Name114" func="var" arg="dir" op="equ" val="norm">
              <dgm:presOf axis="ch desOrSelf" ptType="node node" st="4 1" cnt="1 0"/>
            </dgm:if>
            <dgm:else name="Name115">
              <dgm:choose name="Name116">
                <dgm:if name="Name117" axis="ch" ptType="node" func="cnt" op="equ" val="4">
                  <dgm:presOf axis="ch desOrSelf" ptType="node node" st="1 1" cnt="1 0"/>
                </dgm:if>
                <dgm:if name="Name118" axis="ch" ptType="node" func="cnt" op="equ" val="5">
                  <dgm:presOf axis="ch desOrSelf" ptType="node node" st="2 1" cnt="1 0"/>
                </dgm:if>
                <dgm:if name="Name119" axis="ch" ptType="node" func="cnt" op="equ" val="6">
                  <dgm:presOf axis="ch desOrSelf" ptType="node node" st="3 1" cnt="1 0"/>
                </dgm:if>
                <dgm:else name="Name120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21"/>
    </dgm:choose>
    <dgm:choose name="Name122">
      <dgm:if name="Name123" axis="ch" ptType="node" func="cnt" op="gte" val="5">
        <dgm:layoutNode name="wedge5">
          <dgm:alg type="sp"/>
          <dgm:choose name="Name124">
            <dgm:if name="Name125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26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27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28">
            <dgm:if name="Name129" func="var" arg="dir" op="equ" val="norm">
              <dgm:presOf axis="ch desOrSelf" ptType="node node" st="5 1" cnt="1 0"/>
            </dgm:if>
            <dgm:else name="Name130">
              <dgm:choose name="Name131">
                <dgm:if name="Name132" axis="ch" ptType="node" func="cnt" op="equ" val="5">
                  <dgm:presOf axis="ch desOrSelf" ptType="node node" st="1 1" cnt="1 0"/>
                </dgm:if>
                <dgm:if name="Name133" axis="ch" ptType="node" func="cnt" op="equ" val="6">
                  <dgm:presOf axis="ch desOrSelf" ptType="node node" st="2 1" cnt="1 0"/>
                </dgm:if>
                <dgm:else name="Name134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dummy5a" moveWith="wedge5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5b" moveWith="wedge5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35">
            <dgm:if name="Name136" func="var" arg="dir" op="equ" val="norm">
              <dgm:presOf axis="ch desOrSelf" ptType="node node" st="5 1" cnt="1 0"/>
            </dgm:if>
            <dgm:else name="Name137">
              <dgm:choose name="Name138">
                <dgm:if name="Name139" axis="ch" ptType="node" func="cnt" op="equ" val="5">
                  <dgm:presOf axis="ch desOrSelf" ptType="node node" st="1 1" cnt="1 0"/>
                </dgm:if>
                <dgm:if name="Name140" axis="ch" ptType="node" func="cnt" op="equ" val="6">
                  <dgm:presOf axis="ch desOrSelf" ptType="node node" st="2 1" cnt="1 0"/>
                </dgm:if>
                <dgm:else name="Name141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42"/>
    </dgm:choose>
    <dgm:choose name="Name143">
      <dgm:if name="Name144" axis="ch" ptType="node" func="cnt" op="gte" val="6">
        <dgm:layoutNode name="wedge6">
          <dgm:alg type="sp"/>
          <dgm:choose name="Name145">
            <dgm:if name="Name146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47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48">
            <dgm:if name="Name149" func="var" arg="dir" op="equ" val="norm">
              <dgm:presOf axis="ch desOrSelf" ptType="node node" st="6 1" cnt="1 0"/>
            </dgm:if>
            <dgm:else name="Name150">
              <dgm:choose name="Name151">
                <dgm:if name="Name152" axis="ch" ptType="node" func="cnt" op="equ" val="6">
                  <dgm:presOf axis="ch desOrSelf" ptType="node node" st="1 1" cnt="1 0"/>
                </dgm:if>
                <dgm:else name="Name153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dummy6a" moveWith="wedge6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6b" moveWith="wedge6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4">
            <dgm:if name="Name155" func="var" arg="dir" op="equ" val="norm">
              <dgm:presOf axis="ch desOrSelf" ptType="node node" st="6 1" cnt="1 0"/>
            </dgm:if>
            <dgm:else name="Name156">
              <dgm:choose name="Name157">
                <dgm:if name="Name158" axis="ch" ptType="node" func="cnt" op="equ" val="6">
                  <dgm:presOf axis="ch desOrSelf" ptType="node node" st="1 1" cnt="1 0"/>
                </dgm:if>
                <dgm:else name="Name159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60"/>
    </dgm:choose>
    <dgm:choose name="Name161">
      <dgm:if name="Name162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63">
            <dgm:if name="Name164" func="var" arg="dir" op="equ" val="norm">
              <dgm:presOf axis="ch desOrSelf" ptType="node node" st="7 1" cnt="1 0"/>
            </dgm:if>
            <dgm:else name="Name165">
              <dgm:presOf axis="ch desOrSelf" ptType="node node" st="1 1" cnt="1 0"/>
            </dgm:else>
          </dgm:choose>
          <dgm:constrLst/>
          <dgm:ruleLst/>
        </dgm:layoutNode>
        <dgm:layoutNode name="dummy7a" moveWith="wedge7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7b" moveWith="wedge7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6">
            <dgm:if name="Name167" func="var" arg="dir" op="equ" val="norm">
              <dgm:presOf axis="ch desOrSelf" ptType="node node" st="7 1" cnt="1 0"/>
            </dgm:if>
            <dgm:else name="Name168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69"/>
    </dgm:choose>
    <dgm:choose name="Name170">
      <dgm:if name="Name171" axis="ch" ptType="node" func="cnt" op="equ" val="1">
        <dgm:forEach name="Name172" axis="ch" ptType="sibTrans" hideLastTrans="0" cnt="1">
          <dgm:layoutNode name="arrowWedge1single" styleLbl="fgSibTrans2D1">
            <dgm:choose name="Name173">
              <dgm:if name="Name174" func="var" arg="dir" op="equ" val="norm">
                <dgm:alg type="conn">
                  <dgm:param type="connRout" val="longCurve"/>
                  <dgm:param type="srcNode" val="dummy1a"/>
                  <dgm:param type="dstNode" val="dummy1b"/>
                  <dgm:param type="begPts" val="tL"/>
                  <dgm:param type="endPts" val="tR"/>
                  <dgm:param type="begSty" val="arr"/>
                  <dgm:param type="endSty" val="noArr"/>
                </dgm:alg>
              </dgm:if>
              <dgm:else name="Name175">
                <dgm:alg type="conn">
                  <dgm:param type="connRout" val="longCurve"/>
                  <dgm:param type="srcNode" val="dummy1a"/>
                  <dgm:param type="dstNode" val="dummy1b"/>
                  <dgm:param type="begPts" val="tL"/>
                  <dgm:param type="endPts" val="tR"/>
                  <dgm:param type="begSty" val="noArr"/>
                  <dgm:param type="endSty" val="arr"/>
                </dgm:alg>
              </dgm:else>
            </dgm:choose>
            <dgm:shape xmlns:r="http://schemas.openxmlformats.org/officeDocument/2006/relationships" type="conn" r:blip="">
              <dgm:adjLst/>
            </dgm:shape>
            <dgm:presOf/>
            <dgm:constrLst>
              <dgm:constr type="w" val="1"/>
              <dgm:constr type="begPad"/>
              <dgm:constr type="endPad"/>
            </dgm:constrLst>
            <dgm:ruleLst/>
          </dgm:layoutNode>
        </dgm:forEach>
      </dgm:if>
      <dgm:if name="Name176" axis="ch" ptType="node" func="cnt" op="gte" val="2">
        <dgm:forEach name="Name177" axis="ch" ptType="sibTrans" hideLastTrans="0" cnt="1">
          <dgm:layoutNode name="arrowWedge1" styleLbl="fgSibTrans2D1">
            <dgm:choose name="Name178">
              <dgm:if name="Name179" func="var" arg="dir" op="equ" val="norm">
                <dgm:alg type="conn">
                  <dgm:param type="connRout" val="curve"/>
                  <dgm:param type="srcNode" val="dummy1a"/>
                  <dgm:param type="dstNode" val="dummy1b"/>
                  <dgm:param type="begPts" val="tL"/>
                  <dgm:param type="endPts" val="tL"/>
                  <dgm:param type="begSty" val="noArr"/>
                  <dgm:param type="endSty" val="arr"/>
                </dgm:alg>
              </dgm:if>
              <dgm:else name="Name180">
                <dgm:alg type="conn">
                  <dgm:param type="connRout" val="curve"/>
                  <dgm:param type="srcNode" val="dummy1a"/>
                  <dgm:param type="dstNode" val="dummy1b"/>
                  <dgm:param type="begPts" val="tL"/>
                  <dgm:param type="endPts" val="tL"/>
                  <dgm:param type="begSty" val="arr"/>
                  <dgm:param type="endSty" val="noArr"/>
                </dgm:alg>
              </dgm:else>
            </dgm:choose>
            <dgm:shape xmlns:r="http://schemas.openxmlformats.org/officeDocument/2006/relationships" type="conn" r:blip="">
              <dgm:adjLst/>
            </dgm:shape>
            <dgm:presOf/>
            <dgm:constrLst>
              <dgm:constr type="w" val="1"/>
              <dgm:constr type="begPad"/>
              <dgm:constr type="endPad"/>
            </dgm:constrLst>
            <dgm:ruleLst/>
          </dgm:layoutNode>
        </dgm:forEach>
      </dgm:if>
      <dgm:else name="Name181"/>
    </dgm:choose>
    <dgm:forEach name="Name182" axis="ch" ptType="sibTrans" hideLastTrans="0" st="2" cnt="1">
      <dgm:layoutNode name="arrowWedge2" styleLbl="fgSibTrans2D1">
        <dgm:choose name="Name183">
          <dgm:if name="Name184" func="var" arg="dir" op="equ" val="norm">
            <dgm:alg type="conn">
              <dgm:param type="connRout" val="curve"/>
              <dgm:param type="srcNode" val="dummy2a"/>
              <dgm:param type="dstNode" val="dummy2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85">
            <dgm:alg type="conn">
              <dgm:param type="connRout" val="curve"/>
              <dgm:param type="srcNode" val="dummy2a"/>
              <dgm:param type="dstNode" val="dummy2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86" axis="ch" ptType="sibTrans" hideLastTrans="0" st="3" cnt="1">
      <dgm:layoutNode name="arrowWedge3" styleLbl="fgSibTrans2D1">
        <dgm:choose name="Name187">
          <dgm:if name="Name188" func="var" arg="dir" op="equ" val="norm">
            <dgm:alg type="conn">
              <dgm:param type="connRout" val="curve"/>
              <dgm:param type="srcNode" val="dummy3a"/>
              <dgm:param type="dstNode" val="dummy3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89">
            <dgm:alg type="conn">
              <dgm:param type="connRout" val="curve"/>
              <dgm:param type="srcNode" val="dummy3a"/>
              <dgm:param type="dstNode" val="dummy3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0" axis="ch" ptType="sibTrans" hideLastTrans="0" st="4" cnt="1">
      <dgm:layoutNode name="arrowWedge4" styleLbl="fgSibTrans2D1">
        <dgm:choose name="Name191">
          <dgm:if name="Name192" func="var" arg="dir" op="equ" val="norm">
            <dgm:alg type="conn">
              <dgm:param type="connRout" val="curve"/>
              <dgm:param type="srcNode" val="dummy4a"/>
              <dgm:param type="dstNode" val="dummy4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93">
            <dgm:alg type="conn">
              <dgm:param type="connRout" val="curve"/>
              <dgm:param type="srcNode" val="dummy4a"/>
              <dgm:param type="dstNode" val="dummy4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4" axis="ch" ptType="sibTrans" hideLastTrans="0" st="5" cnt="1">
      <dgm:layoutNode name="arrowWedge5" styleLbl="fgSibTrans2D1">
        <dgm:choose name="Name195">
          <dgm:if name="Name196" func="var" arg="dir" op="equ" val="norm">
            <dgm:alg type="conn">
              <dgm:param type="connRout" val="curve"/>
              <dgm:param type="srcNode" val="dummy5a"/>
              <dgm:param type="dstNode" val="dummy5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97">
            <dgm:alg type="conn">
              <dgm:param type="connRout" val="curve"/>
              <dgm:param type="srcNode" val="dummy5a"/>
              <dgm:param type="dstNode" val="dummy5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8" axis="ch" ptType="sibTrans" hideLastTrans="0" st="6" cnt="1">
      <dgm:layoutNode name="arrowWedge6" styleLbl="fgSibTrans2D1">
        <dgm:choose name="Name199">
          <dgm:if name="Name200" func="var" arg="dir" op="equ" val="norm">
            <dgm:alg type="conn">
              <dgm:param type="connRout" val="curve"/>
              <dgm:param type="srcNode" val="dummy6a"/>
              <dgm:param type="dstNode" val="dummy6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201">
            <dgm:alg type="conn">
              <dgm:param type="connRout" val="curve"/>
              <dgm:param type="srcNode" val="dummy6a"/>
              <dgm:param type="dstNode" val="dummy6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202" axis="ch" ptType="sibTrans" hideLastTrans="0" st="7" cnt="1">
      <dgm:layoutNode name="arrowWedge7" styleLbl="fgSibTrans2D1">
        <dgm:choose name="Name203">
          <dgm:if name="Name204" func="var" arg="dir" op="equ" val="norm">
            <dgm:alg type="conn">
              <dgm:param type="connRout" val="curve"/>
              <dgm:param type="srcNode" val="dummy7a"/>
              <dgm:param type="dstNode" val="dummy7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205">
            <dgm:alg type="conn">
              <dgm:param type="connRout" val="curve"/>
              <dgm:param type="srcNode" val="dummy7a"/>
              <dgm:param type="dstNode" val="dummy7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2026/4/9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2026/4/9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530" y="1143000"/>
            <a:ext cx="548694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 dirty="0"/>
              <a:t>00-06</a:t>
            </a:r>
          </a:p>
          <a:p>
            <a:r>
              <a:rPr lang="en-US" altLang="zh-CN" dirty="0" err="1"/>
              <a:t>MaaS</a:t>
            </a:r>
            <a:r>
              <a:rPr lang="zh-CN" altLang="en-US" dirty="0"/>
              <a:t>：模型服务（</a:t>
            </a:r>
            <a:r>
              <a:rPr lang="en-US" altLang="zh-CN" dirty="0"/>
              <a:t>API / </a:t>
            </a:r>
            <a:r>
              <a:rPr lang="zh-CN" altLang="en-US" dirty="0"/>
              <a:t>调用）</a:t>
            </a:r>
          </a:p>
          <a:p>
            <a:r>
              <a:rPr lang="en-US" altLang="zh-CN" dirty="0"/>
              <a:t>SaaS</a:t>
            </a:r>
            <a:r>
              <a:rPr lang="zh-CN" altLang="en-US" dirty="0"/>
              <a:t>：推理服务 </a:t>
            </a:r>
            <a:r>
              <a:rPr lang="en-US" altLang="zh-CN" dirty="0"/>
              <a:t>/ </a:t>
            </a:r>
            <a:r>
              <a:rPr lang="zh-CN" altLang="en-US" dirty="0"/>
              <a:t>分布式训练（</a:t>
            </a:r>
            <a:r>
              <a:rPr lang="en-US" altLang="zh-CN" dirty="0" err="1"/>
              <a:t>DeepSpeed</a:t>
            </a:r>
            <a:r>
              <a:rPr lang="en-US" altLang="zh-CN" dirty="0"/>
              <a:t> / Triton</a:t>
            </a:r>
            <a:r>
              <a:rPr lang="zh-CN" altLang="en-US" dirty="0"/>
              <a:t>）</a:t>
            </a:r>
          </a:p>
          <a:p>
            <a:r>
              <a:rPr lang="en-US" altLang="zh-CN" dirty="0"/>
              <a:t>PaaS</a:t>
            </a:r>
            <a:r>
              <a:rPr lang="zh-CN" altLang="en-US" dirty="0"/>
              <a:t>：框架 </a:t>
            </a:r>
            <a:r>
              <a:rPr lang="en-US" altLang="zh-CN" dirty="0"/>
              <a:t>&amp; </a:t>
            </a:r>
            <a:r>
              <a:rPr lang="zh-CN" altLang="en-US" dirty="0"/>
              <a:t>编译器（</a:t>
            </a:r>
            <a:r>
              <a:rPr lang="en-US" altLang="zh-CN" dirty="0" err="1"/>
              <a:t>PyTorch</a:t>
            </a:r>
            <a:r>
              <a:rPr lang="en-US" altLang="zh-CN" dirty="0"/>
              <a:t> / CUDA / </a:t>
            </a:r>
            <a:r>
              <a:rPr lang="zh-CN" altLang="en-US" dirty="0"/>
              <a:t>算子库）</a:t>
            </a:r>
          </a:p>
          <a:p>
            <a:r>
              <a:rPr lang="en-US" altLang="zh-CN" dirty="0"/>
              <a:t>IaaS</a:t>
            </a:r>
            <a:r>
              <a:rPr lang="zh-CN" altLang="en-US" dirty="0"/>
              <a:t>：计算 </a:t>
            </a:r>
            <a:r>
              <a:rPr lang="en-US" altLang="zh-CN" dirty="0"/>
              <a:t>+ </a:t>
            </a:r>
            <a:r>
              <a:rPr lang="zh-CN" altLang="en-US" dirty="0"/>
              <a:t>存储 </a:t>
            </a:r>
            <a:r>
              <a:rPr lang="en-US" altLang="zh-CN" dirty="0"/>
              <a:t>+ </a:t>
            </a:r>
            <a:r>
              <a:rPr lang="zh-CN" altLang="en-US" dirty="0"/>
              <a:t>网络（</a:t>
            </a:r>
            <a:r>
              <a:rPr lang="en-US" altLang="zh-CN" dirty="0"/>
              <a:t>GPU / </a:t>
            </a:r>
            <a:r>
              <a:rPr lang="en-US" altLang="zh-CN" dirty="0" err="1"/>
              <a:t>NVMe</a:t>
            </a:r>
            <a:r>
              <a:rPr lang="en-US" altLang="zh-CN" dirty="0"/>
              <a:t> / RDMA</a:t>
            </a:r>
            <a:r>
              <a:rPr lang="zh-CN" altLang="en-US" dirty="0"/>
              <a:t>）</a:t>
            </a:r>
          </a:p>
          <a:p>
            <a:r>
              <a:rPr lang="zh-CN" altLang="en-US" dirty="0"/>
              <a:t>硬件：芯片 </a:t>
            </a:r>
            <a:r>
              <a:rPr lang="en-US" altLang="zh-CN" dirty="0"/>
              <a:t>/ </a:t>
            </a:r>
            <a:r>
              <a:rPr lang="zh-CN" altLang="en-US" dirty="0"/>
              <a:t>集群 </a:t>
            </a:r>
            <a:r>
              <a:rPr lang="en-US" altLang="zh-CN" dirty="0"/>
              <a:t>/ </a:t>
            </a:r>
            <a:r>
              <a:rPr lang="zh-CN" altLang="en-US" dirty="0"/>
              <a:t>机房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核心一句话：</a:t>
            </a:r>
          </a:p>
          <a:p>
            <a:r>
              <a:rPr lang="zh-CN" altLang="en-US" b="1" dirty="0"/>
              <a:t>越往下越偏硬件，越往上越偏应用</a:t>
            </a:r>
            <a:r>
              <a:rPr lang="zh-CN" altLang="en-US" dirty="0"/>
              <a:t> </a:t>
            </a:r>
          </a:p>
          <a:p>
            <a:r>
              <a:rPr lang="zh-CN" altLang="en-US" dirty="0"/>
              <a:t>👉 讲解重点：</a:t>
            </a:r>
          </a:p>
          <a:p>
            <a:r>
              <a:rPr lang="en-US" altLang="zh-CN" dirty="0"/>
              <a:t>GPU</a:t>
            </a:r>
            <a:r>
              <a:rPr lang="zh-CN" altLang="en-US" dirty="0"/>
              <a:t>决定上限 </a:t>
            </a:r>
          </a:p>
          <a:p>
            <a:r>
              <a:rPr lang="zh-CN" altLang="en-US" dirty="0"/>
              <a:t>通信决定扩展 </a:t>
            </a:r>
          </a:p>
          <a:p>
            <a:r>
              <a:rPr lang="zh-CN" altLang="en-US" dirty="0"/>
              <a:t>存储决定数据吞吐</a:t>
            </a:r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b="1" dirty="0"/>
              <a:t>核心价值（最重要结论）👉 对应 </a:t>
            </a:r>
            <a:r>
              <a:rPr lang="en-US" altLang="zh-CN" b="1" dirty="0"/>
              <a:t>3.1</a:t>
            </a:r>
          </a:p>
          <a:p>
            <a:r>
              <a:rPr lang="zh-CN" altLang="en-US" dirty="0"/>
              <a:t>👉 </a:t>
            </a:r>
            <a:r>
              <a:rPr lang="en-US" altLang="zh-CN" dirty="0"/>
              <a:t>PPT</a:t>
            </a:r>
            <a:r>
              <a:rPr lang="zh-CN" altLang="en-US" dirty="0"/>
              <a:t>写三点：</a:t>
            </a:r>
          </a:p>
          <a:p>
            <a:r>
              <a:rPr lang="zh-CN" altLang="en-US" b="1" dirty="0"/>
              <a:t>🔹 决定模型上限</a:t>
            </a:r>
          </a:p>
          <a:p>
            <a:r>
              <a:rPr lang="zh-CN" altLang="en-US" dirty="0"/>
              <a:t>更高利用率 </a:t>
            </a:r>
            <a:r>
              <a:rPr lang="en-US" altLang="zh-CN" dirty="0"/>
              <a:t>= </a:t>
            </a:r>
            <a:r>
              <a:rPr lang="zh-CN" altLang="en-US" dirty="0"/>
              <a:t>更多训练数据 </a:t>
            </a:r>
            <a:r>
              <a:rPr lang="en-US" altLang="zh-CN" dirty="0"/>
              <a:t>= </a:t>
            </a:r>
            <a:r>
              <a:rPr lang="zh-CN" altLang="en-US" dirty="0"/>
              <a:t>更好效果 </a:t>
            </a:r>
          </a:p>
          <a:p>
            <a:r>
              <a:rPr lang="zh-CN" altLang="en-US" b="1" dirty="0"/>
              <a:t>🔹 决定成本</a:t>
            </a:r>
          </a:p>
          <a:p>
            <a:r>
              <a:rPr lang="en-US" altLang="zh-CN" dirty="0"/>
              <a:t>GPU</a:t>
            </a:r>
            <a:r>
              <a:rPr lang="zh-CN" altLang="en-US" dirty="0"/>
              <a:t>利用率 ↑</a:t>
            </a:r>
            <a:r>
              <a:rPr lang="en-US" altLang="zh-CN" dirty="0"/>
              <a:t>10% = </a:t>
            </a:r>
            <a:r>
              <a:rPr lang="zh-CN" altLang="en-US" dirty="0"/>
              <a:t>成本 ↓千万级</a:t>
            </a:r>
            <a:r>
              <a:rPr lang="en-US" altLang="zh-CN" dirty="0"/>
              <a:t>/</a:t>
            </a:r>
            <a:r>
              <a:rPr lang="zh-CN" altLang="en-US" dirty="0"/>
              <a:t>月 </a:t>
            </a:r>
          </a:p>
          <a:p>
            <a:r>
              <a:rPr lang="zh-CN" altLang="en-US" b="1" dirty="0"/>
              <a:t>🔹 核心指标</a:t>
            </a:r>
          </a:p>
          <a:p>
            <a:r>
              <a:rPr lang="en-US" altLang="zh-CN" dirty="0"/>
              <a:t>MFU</a:t>
            </a:r>
            <a:r>
              <a:rPr lang="zh-CN" altLang="en-US" dirty="0"/>
              <a:t>（算力利用率） </a:t>
            </a:r>
          </a:p>
          <a:p>
            <a:r>
              <a:rPr lang="zh-CN" altLang="en-US" dirty="0"/>
              <a:t>吞吐（更重要） </a:t>
            </a:r>
          </a:p>
          <a:p>
            <a:r>
              <a:rPr lang="zh-CN" altLang="en-US" dirty="0"/>
              <a:t>👉 你讲一句金句：</a:t>
            </a:r>
          </a:p>
          <a:p>
            <a:r>
              <a:rPr lang="en-US" altLang="zh-CN" dirty="0"/>
              <a:t>AI Infra </a:t>
            </a:r>
            <a:r>
              <a:rPr lang="zh-CN" altLang="en-US" dirty="0"/>
              <a:t>本质是在“买时间”和“省钱”</a:t>
            </a:r>
          </a:p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占位符 2"/>
              <p:cNvSpPr>
                <a:spLocks noGrp="1"/>
              </p:cNvSpPr>
              <p:nvPr>
                <p:ph type="body" idx="3"/>
              </p:nvPr>
            </p:nvSpPr>
            <p:spPr/>
            <p:txBody>
              <a:bodyPr/>
              <a:lstStyle/>
              <a:p>
                <a:r>
                  <a:rPr lang="en-US" altLang="zh-CN" dirty="0"/>
                  <a:t>00-02</a:t>
                </a:r>
              </a:p>
              <a:p>
                <a:r>
                  <a:rPr lang="zh-CN" altLang="en-US" b="1" dirty="0"/>
                  <a:t>三大核心因素（中间重点）</a:t>
                </a:r>
              </a:p>
              <a:p>
                <a:r>
                  <a:rPr lang="zh-CN" altLang="en-US" dirty="0"/>
                  <a:t>👉 做成“三列结构”或“三个框”</a:t>
                </a:r>
              </a:p>
              <a:p>
                <a:r>
                  <a:rPr lang="zh-CN" altLang="en-US" b="1" dirty="0"/>
                  <a:t>① 数据量（</a:t>
                </a:r>
                <a:r>
                  <a:rPr lang="en-US" altLang="zh-CN" b="1" dirty="0"/>
                  <a:t>Data</a:t>
                </a:r>
                <a:r>
                  <a:rPr lang="zh-CN" altLang="en-US" b="1" dirty="0"/>
                  <a:t>）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200" i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𝐿</m:t>
                      </m:r>
                      <m:d>
                        <m:dPr>
                          <m:ctrlPr>
                            <a:rPr lang="ar-AE" altLang="zh-CN" sz="1200" i="1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lang="zh-CN" altLang="ar-AE" sz="1200" i="1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m:t>𝐷</m:t>
                          </m:r>
                        </m:e>
                      </m:d>
                      <m:r>
                        <a:rPr lang="ar-AE" altLang="zh-CN" sz="1200" 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≈</m:t>
                      </m:r>
                      <m:sSup>
                        <m:sSupPr>
                          <m:ctrlPr>
                            <a:rPr lang="ar-AE" altLang="zh-CN" sz="1200" i="1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ar-AE" altLang="zh-CN" sz="1200" i="1" kern="1200">
                                  <a:solidFill>
                                    <a:schemeClr val="tx1"/>
                                  </a:solidFill>
                                  <a:latin typeface="+mn-lt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ar-AE" altLang="zh-CN" sz="1200" i="1" kern="1200">
                                      <a:solidFill>
                                        <a:schemeClr val="tx1"/>
                                      </a:solidFill>
                                      <a:latin typeface="+mn-lt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ar-AE" altLang="zh-CN" sz="1200" i="1" kern="1200">
                                          <a:solidFill>
                                            <a:schemeClr val="tx1"/>
                                          </a:solidFill>
                                          <a:latin typeface="+mn-lt"/>
                                          <a:ea typeface="+mn-ea"/>
                                          <a:cs typeface="+mn-cs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ar-AE" sz="1200" i="1" kern="1200">
                                          <a:solidFill>
                                            <a:schemeClr val="tx1"/>
                                          </a:solidFill>
                                          <a:latin typeface="+mn-lt"/>
                                          <a:ea typeface="+mn-ea"/>
                                          <a:cs typeface="+mn-cs"/>
                                        </a:rPr>
                                        <m:t>𝐷</m:t>
                                      </m:r>
                                    </m:e>
                                    <m:sub>
                                      <m:r>
                                        <a:rPr lang="zh-CN" altLang="ar-AE" sz="1200" i="1" kern="1200">
                                          <a:solidFill>
                                            <a:schemeClr val="tx1"/>
                                          </a:solidFill>
                                          <a:latin typeface="+mn-lt"/>
                                          <a:ea typeface="+mn-ea"/>
                                          <a:cs typeface="+mn-cs"/>
                                        </a:rPr>
                                        <m:t>𝑐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zh-CN" altLang="ar-AE" sz="1200" i="1" kern="1200">
                                      <a:solidFill>
                                        <a:schemeClr val="tx1"/>
                                      </a:solidFill>
                                      <a:latin typeface="+mn-lt"/>
                                      <a:ea typeface="+mn-ea"/>
                                      <a:cs typeface="+mn-cs"/>
                                    </a:rPr>
                                    <m:t>𝐷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sSub>
                            <m:sSubPr>
                              <m:ctrlPr>
                                <a:rPr lang="ar-AE" altLang="zh-CN" sz="1200" i="1" kern="1200">
                                  <a:solidFill>
                                    <a:schemeClr val="tx1"/>
                                  </a:solidFill>
                                  <a:latin typeface="+mn-lt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lang="zh-CN" altLang="ar-AE" sz="1200" i="1" kern="1200">
                                  <a:solidFill>
                                    <a:schemeClr val="tx1"/>
                                  </a:solidFill>
                                  <a:latin typeface="+mn-lt"/>
                                  <a:ea typeface="+mn-ea"/>
                                  <a:cs typeface="+mn-cs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zh-CN" altLang="ar-AE" sz="1200" i="1" kern="1200">
                                  <a:solidFill>
                                    <a:schemeClr val="tx1"/>
                                  </a:solidFill>
                                  <a:latin typeface="+mn-lt"/>
                                  <a:ea typeface="+mn-ea"/>
                                  <a:cs typeface="+mn-cs"/>
                                </a:rPr>
                                <m:t>𝐷</m:t>
                              </m:r>
                            </m:sub>
                          </m:sSub>
                        </m:sup>
                      </m:sSup>
                    </m:oMath>
                  </m:oMathPara>
                </a14:m>
                <a:endParaRPr lang="ar-AE" altLang="zh-CN" dirty="0"/>
              </a:p>
              <a:p>
                <a:r>
                  <a:rPr lang="zh-CN" altLang="en-US" dirty="0"/>
                  <a:t>👉 旁边写一句话：</a:t>
                </a:r>
              </a:p>
              <a:p>
                <a:r>
                  <a:rPr lang="zh-CN" altLang="en-US" dirty="0"/>
                  <a:t>数据越多 → </a:t>
                </a:r>
                <a:r>
                  <a:rPr lang="en-US" altLang="zh-CN" dirty="0"/>
                  <a:t>Loss </a:t>
                </a:r>
                <a:r>
                  <a:rPr lang="zh-CN" altLang="en-US" dirty="0"/>
                  <a:t>越低（但收益递减） </a:t>
                </a:r>
              </a:p>
              <a:p>
                <a:br>
                  <a:rPr lang="zh-CN" altLang="en-US" dirty="0"/>
                </a:br>
                <a:endParaRPr lang="zh-CN" altLang="en-US" dirty="0"/>
              </a:p>
              <a:p>
                <a:r>
                  <a:rPr lang="zh-CN" altLang="en-US" b="1" dirty="0"/>
                  <a:t>② 模型规模（</a:t>
                </a:r>
                <a:r>
                  <a:rPr lang="en-US" altLang="zh-CN" b="1" dirty="0"/>
                  <a:t>Parameters</a:t>
                </a:r>
                <a:r>
                  <a:rPr lang="zh-CN" altLang="en-US" b="1" dirty="0"/>
                  <a:t>）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200" i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𝐿</m:t>
                      </m:r>
                      <m:d>
                        <m:dPr>
                          <m:ctrlPr>
                            <a:rPr lang="ar-AE" altLang="zh-CN" sz="1200" i="1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lang="zh-CN" altLang="ar-AE" sz="1200" i="1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m:t>𝑁</m:t>
                          </m:r>
                        </m:e>
                      </m:d>
                      <m:r>
                        <a:rPr lang="ar-AE" altLang="zh-CN" sz="1200" 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≈</m:t>
                      </m:r>
                      <m:sSup>
                        <m:sSupPr>
                          <m:ctrlPr>
                            <a:rPr lang="ar-AE" altLang="zh-CN" sz="1200" i="1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ar-AE" altLang="zh-CN" sz="1200" i="1" kern="1200">
                                  <a:solidFill>
                                    <a:schemeClr val="tx1"/>
                                  </a:solidFill>
                                  <a:latin typeface="+mn-lt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ar-AE" altLang="zh-CN" sz="1200" i="1" kern="1200">
                                      <a:solidFill>
                                        <a:schemeClr val="tx1"/>
                                      </a:solidFill>
                                      <a:latin typeface="+mn-lt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ar-AE" altLang="zh-CN" sz="1200" i="1" kern="1200">
                                          <a:solidFill>
                                            <a:schemeClr val="tx1"/>
                                          </a:solidFill>
                                          <a:latin typeface="+mn-lt"/>
                                          <a:ea typeface="+mn-ea"/>
                                          <a:cs typeface="+mn-cs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ar-AE" sz="1200" i="1" kern="1200">
                                          <a:solidFill>
                                            <a:schemeClr val="tx1"/>
                                          </a:solidFill>
                                          <a:latin typeface="+mn-lt"/>
                                          <a:ea typeface="+mn-ea"/>
                                          <a:cs typeface="+mn-cs"/>
                                        </a:rPr>
                                        <m:t>𝑁</m:t>
                                      </m:r>
                                    </m:e>
                                    <m:sub>
                                      <m:r>
                                        <a:rPr lang="zh-CN" altLang="ar-AE" sz="1200" i="1" kern="1200">
                                          <a:solidFill>
                                            <a:schemeClr val="tx1"/>
                                          </a:solidFill>
                                          <a:latin typeface="+mn-lt"/>
                                          <a:ea typeface="+mn-ea"/>
                                          <a:cs typeface="+mn-cs"/>
                                        </a:rPr>
                                        <m:t>𝑐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zh-CN" altLang="ar-AE" sz="1200" i="1" kern="1200">
                                      <a:solidFill>
                                        <a:schemeClr val="tx1"/>
                                      </a:solidFill>
                                      <a:latin typeface="+mn-lt"/>
                                      <a:ea typeface="+mn-ea"/>
                                      <a:cs typeface="+mn-cs"/>
                                    </a:rPr>
                                    <m:t>𝑁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sSub>
                            <m:sSubPr>
                              <m:ctrlPr>
                                <a:rPr lang="ar-AE" altLang="zh-CN" sz="1200" i="1" kern="1200">
                                  <a:solidFill>
                                    <a:schemeClr val="tx1"/>
                                  </a:solidFill>
                                  <a:latin typeface="+mn-lt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lang="zh-CN" altLang="ar-AE" sz="1200" i="1" kern="1200">
                                  <a:solidFill>
                                    <a:schemeClr val="tx1"/>
                                  </a:solidFill>
                                  <a:latin typeface="+mn-lt"/>
                                  <a:ea typeface="+mn-ea"/>
                                  <a:cs typeface="+mn-cs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zh-CN" altLang="ar-AE" sz="1200" i="1" kern="1200">
                                  <a:solidFill>
                                    <a:schemeClr val="tx1"/>
                                  </a:solidFill>
                                  <a:latin typeface="+mn-lt"/>
                                  <a:ea typeface="+mn-ea"/>
                                  <a:cs typeface="+mn-cs"/>
                                </a:rPr>
                                <m:t>𝑁</m:t>
                              </m:r>
                            </m:sub>
                          </m:sSub>
                        </m:sup>
                      </m:sSup>
                    </m:oMath>
                  </m:oMathPara>
                </a14:m>
                <a:endParaRPr lang="ar-AE" altLang="zh-CN" dirty="0"/>
              </a:p>
              <a:p>
                <a:r>
                  <a:rPr lang="zh-CN" altLang="en-US" dirty="0"/>
                  <a:t>👉 写：</a:t>
                </a:r>
              </a:p>
              <a:p>
                <a:r>
                  <a:rPr lang="zh-CN" altLang="en-US" dirty="0"/>
                  <a:t>参数越多 → 表达能力更强 → 性能提升 </a:t>
                </a:r>
              </a:p>
              <a:p>
                <a:br>
                  <a:rPr lang="zh-CN" altLang="en-US" dirty="0"/>
                </a:br>
                <a:endParaRPr lang="zh-CN" altLang="en-US" dirty="0"/>
              </a:p>
              <a:p>
                <a:r>
                  <a:rPr lang="zh-CN" altLang="en-US" b="1" dirty="0"/>
                  <a:t>③ 计算量（</a:t>
                </a:r>
                <a:r>
                  <a:rPr lang="en-US" altLang="zh-CN" b="1" dirty="0"/>
                  <a:t>Compute</a:t>
                </a:r>
                <a:r>
                  <a:rPr lang="zh-CN" altLang="en-US" b="1" dirty="0"/>
                  <a:t>）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200" i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𝐿</m:t>
                      </m:r>
                      <m:d>
                        <m:dPr>
                          <m:ctrlPr>
                            <a:rPr lang="ar-AE" altLang="zh-CN" sz="1200" i="1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lang="zh-CN" altLang="ar-AE" sz="1200" i="1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m:t>𝐶</m:t>
                          </m:r>
                        </m:e>
                      </m:d>
                      <m:r>
                        <a:rPr lang="ar-AE" altLang="zh-CN" sz="1200" 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≈</m:t>
                      </m:r>
                      <m:sSup>
                        <m:sSupPr>
                          <m:ctrlPr>
                            <a:rPr lang="ar-AE" altLang="zh-CN" sz="1200" i="1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ar-AE" altLang="zh-CN" sz="1200" i="1" kern="1200">
                                  <a:solidFill>
                                    <a:schemeClr val="tx1"/>
                                  </a:solidFill>
                                  <a:latin typeface="+mn-lt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ar-AE" altLang="zh-CN" sz="1200" i="1" kern="1200">
                                      <a:solidFill>
                                        <a:schemeClr val="tx1"/>
                                      </a:solidFill>
                                      <a:latin typeface="+mn-lt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ar-AE" altLang="zh-CN" sz="1200" i="1" kern="1200">
                                          <a:solidFill>
                                            <a:schemeClr val="tx1"/>
                                          </a:solidFill>
                                          <a:latin typeface="+mn-lt"/>
                                          <a:ea typeface="+mn-ea"/>
                                          <a:cs typeface="+mn-cs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ar-AE" sz="1200" i="1" kern="1200">
                                          <a:solidFill>
                                            <a:schemeClr val="tx1"/>
                                          </a:solidFill>
                                          <a:latin typeface="+mn-lt"/>
                                          <a:ea typeface="+mn-ea"/>
                                          <a:cs typeface="+mn-cs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zh-CN" altLang="ar-AE" sz="1200" i="1" kern="1200">
                                          <a:solidFill>
                                            <a:schemeClr val="tx1"/>
                                          </a:solidFill>
                                          <a:latin typeface="+mn-lt"/>
                                          <a:ea typeface="+mn-ea"/>
                                          <a:cs typeface="+mn-cs"/>
                                        </a:rPr>
                                        <m:t>𝑐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zh-CN" altLang="ar-AE" sz="1200" i="1" kern="1200">
                                      <a:solidFill>
                                        <a:schemeClr val="tx1"/>
                                      </a:solidFill>
                                      <a:latin typeface="+mn-lt"/>
                                      <a:ea typeface="+mn-ea"/>
                                      <a:cs typeface="+mn-cs"/>
                                    </a:rPr>
                                    <m:t>𝐶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sSub>
                            <m:sSubPr>
                              <m:ctrlPr>
                                <a:rPr lang="ar-AE" altLang="zh-CN" sz="1200" i="1" kern="1200">
                                  <a:solidFill>
                                    <a:schemeClr val="tx1"/>
                                  </a:solidFill>
                                  <a:latin typeface="+mn-lt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lang="zh-CN" altLang="ar-AE" sz="1200" i="1" kern="1200">
                                  <a:solidFill>
                                    <a:schemeClr val="tx1"/>
                                  </a:solidFill>
                                  <a:latin typeface="+mn-lt"/>
                                  <a:ea typeface="+mn-ea"/>
                                  <a:cs typeface="+mn-cs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zh-CN" altLang="ar-AE" sz="1200" i="1" kern="1200">
                                  <a:solidFill>
                                    <a:schemeClr val="tx1"/>
                                  </a:solidFill>
                                  <a:latin typeface="+mn-lt"/>
                                  <a:ea typeface="+mn-ea"/>
                                  <a:cs typeface="+mn-cs"/>
                                </a:rPr>
                                <m:t>𝐶</m:t>
                              </m:r>
                            </m:sub>
                          </m:sSub>
                        </m:sup>
                      </m:sSup>
                    </m:oMath>
                  </m:oMathPara>
                </a14:m>
                <a:endParaRPr lang="ar-AE" altLang="zh-CN" dirty="0"/>
              </a:p>
              <a:p>
                <a:r>
                  <a:rPr lang="zh-CN" altLang="en-US" dirty="0"/>
                  <a:t>👉 写：</a:t>
                </a:r>
              </a:p>
              <a:p>
                <a:r>
                  <a:rPr lang="zh-CN" altLang="en-US" dirty="0"/>
                  <a:t>算力越多 → 训练更充分 → 性能更好 </a:t>
                </a:r>
              </a:p>
              <a:p>
                <a:br>
                  <a:rPr lang="zh-CN" altLang="en-US" dirty="0"/>
                </a:br>
                <a:endParaRPr lang="zh-CN" altLang="en-US" dirty="0"/>
              </a:p>
              <a:p>
                <a:r>
                  <a:rPr lang="zh-CN" altLang="en-US" dirty="0"/>
                  <a:t>📌 可以在下面补一句总结（很加分）：</a:t>
                </a:r>
                <a:br>
                  <a:rPr lang="zh-CN" altLang="en-US" dirty="0"/>
                </a:br>
                <a:r>
                  <a:rPr lang="zh-CN" altLang="en-US" dirty="0"/>
                  <a:t>👉 </a:t>
                </a:r>
                <a:r>
                  <a:rPr lang="zh-CN" altLang="en-US" b="1" dirty="0"/>
                  <a:t>本质：模型性能 ∝ 数据 </a:t>
                </a:r>
                <a:r>
                  <a:rPr lang="en-US" altLang="zh-CN" b="1" dirty="0"/>
                  <a:t>× </a:t>
                </a:r>
                <a:r>
                  <a:rPr lang="zh-CN" altLang="en-US" b="1" dirty="0"/>
                  <a:t>参数 </a:t>
                </a:r>
                <a:r>
                  <a:rPr lang="en-US" altLang="zh-CN" b="1" dirty="0"/>
                  <a:t>× </a:t>
                </a:r>
                <a:r>
                  <a:rPr lang="zh-CN" altLang="en-US" b="1" dirty="0"/>
                  <a:t>算力</a:t>
                </a:r>
                <a:endParaRPr lang="zh-CN" altLang="en-US" dirty="0"/>
              </a:p>
              <a:p>
                <a:r>
                  <a:rPr lang="zh-CN" altLang="en-US" dirty="0"/>
                  <a:t>我帮你压缩成答辩话术：</a:t>
                </a:r>
              </a:p>
              <a:p>
                <a:r>
                  <a:rPr lang="en-US" altLang="zh-CN" dirty="0"/>
                  <a:t>Scaling Law </a:t>
                </a:r>
                <a:r>
                  <a:rPr lang="zh-CN" altLang="en-US" dirty="0"/>
                  <a:t>说明，大模型性能和数据、参数、算力之间存在幂律关系。</a:t>
                </a:r>
                <a:br>
                  <a:rPr lang="zh-CN" altLang="en-US" dirty="0"/>
                </a:br>
                <a:r>
                  <a:rPr lang="zh-CN" altLang="en-US" dirty="0"/>
                  <a:t>也就是说，只要持续增加资源，模型性能会稳定提升，而且这种提升是可以预测的。</a:t>
                </a:r>
              </a:p>
              <a:p>
                <a:r>
                  <a:rPr lang="zh-CN" altLang="en-US" dirty="0"/>
                  <a:t>但关键不只是“堆资源”，而是“按比例堆资源”。</a:t>
                </a:r>
                <a:br>
                  <a:rPr lang="zh-CN" altLang="en-US" dirty="0"/>
                </a:br>
                <a:r>
                  <a:rPr lang="zh-CN" altLang="en-US" dirty="0"/>
                  <a:t>如果模型太大但数据不够，就会过拟合；反之数据多但模型小，也学不动。</a:t>
                </a:r>
              </a:p>
              <a:p>
                <a:r>
                  <a:rPr lang="zh-CN" altLang="en-US" dirty="0"/>
                  <a:t>后续 </a:t>
                </a:r>
                <a:r>
                  <a:rPr lang="en-US" altLang="zh-CN" dirty="0"/>
                  <a:t>Chinchilla </a:t>
                </a:r>
                <a:r>
                  <a:rPr lang="zh-CN" altLang="en-US" dirty="0"/>
                  <a:t>进一步指出，最优策略是模型规模和数据规模同步增长。</a:t>
                </a:r>
              </a:p>
              <a:p>
                <a:r>
                  <a:rPr lang="zh-CN" altLang="en-US" dirty="0"/>
                  <a:t>所以，大模型的成功本质上是一个“资源分配问题”。</a:t>
                </a:r>
              </a:p>
              <a:p>
                <a:endParaRPr lang="zh-CN" altLang="en-US" dirty="0"/>
              </a:p>
            </p:txBody>
          </p:sp>
        </mc:Choice>
        <mc:Fallback>
          <p:sp>
            <p:nvSpPr>
              <p:cNvPr id="3" name="文本占位符 2"/>
              <p:cNvSpPr>
                <a:spLocks noGrp="1"/>
              </p:cNvSpPr>
              <p:nvPr>
                <p:ph type="body" idx="3"/>
              </p:nvPr>
            </p:nvSpPr>
            <p:spPr/>
            <p:txBody>
              <a:bodyPr/>
              <a:lstStyle/>
              <a:p>
                <a:r>
                  <a:rPr lang="en-US" altLang="zh-CN" dirty="0"/>
                  <a:t>00-02</a:t>
                </a:r>
              </a:p>
              <a:p>
                <a:r>
                  <a:rPr lang="zh-CN" altLang="en-US" b="1" dirty="0"/>
                  <a:t>三大核心因素（中间重点）</a:t>
                </a:r>
              </a:p>
              <a:p>
                <a:r>
                  <a:rPr lang="zh-CN" altLang="en-US" dirty="0"/>
                  <a:t>👉 做成“三列结构”或“三个框”</a:t>
                </a:r>
              </a:p>
              <a:p>
                <a:r>
                  <a:rPr lang="zh-CN" altLang="en-US" b="1" dirty="0"/>
                  <a:t>① 数据量（</a:t>
                </a:r>
                <a:r>
                  <a:rPr lang="en-US" altLang="zh-CN" b="1" dirty="0"/>
                  <a:t>Data</a:t>
                </a:r>
                <a:r>
                  <a:rPr lang="zh-CN" altLang="en-US" b="1" dirty="0"/>
                  <a:t>）</a:t>
                </a:r>
              </a:p>
              <a:p>
                <a:r>
                  <a:rPr lang="zh-CN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𝐿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(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𝐷)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≈(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𝐷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_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𝑐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/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𝐷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)^(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𝛼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_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𝐷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 )</a:t>
                </a:r>
                <a:endParaRPr lang="ar-AE" altLang="zh-CN" dirty="0"/>
              </a:p>
              <a:p>
                <a:r>
                  <a:rPr lang="zh-CN" altLang="en-US" dirty="0"/>
                  <a:t>👉 旁边写一句话：</a:t>
                </a:r>
              </a:p>
              <a:p>
                <a:r>
                  <a:rPr lang="zh-CN" altLang="en-US" dirty="0"/>
                  <a:t>数据越多 → </a:t>
                </a:r>
                <a:r>
                  <a:rPr lang="en-US" altLang="zh-CN" dirty="0"/>
                  <a:t>Loss </a:t>
                </a:r>
                <a:r>
                  <a:rPr lang="zh-CN" altLang="en-US" dirty="0"/>
                  <a:t>越低（但收益递减） </a:t>
                </a:r>
              </a:p>
              <a:p>
                <a:br>
                  <a:rPr lang="zh-CN" altLang="en-US" dirty="0"/>
                </a:br>
                <a:endParaRPr lang="zh-CN" altLang="en-US" dirty="0"/>
              </a:p>
              <a:p>
                <a:r>
                  <a:rPr lang="zh-CN" altLang="en-US" b="1" dirty="0"/>
                  <a:t>② 模型规模（</a:t>
                </a:r>
                <a:r>
                  <a:rPr lang="en-US" altLang="zh-CN" b="1" dirty="0"/>
                  <a:t>Parameters</a:t>
                </a:r>
                <a:r>
                  <a:rPr lang="zh-CN" altLang="en-US" b="1" dirty="0"/>
                  <a:t>）</a:t>
                </a:r>
              </a:p>
              <a:p>
                <a:r>
                  <a:rPr lang="zh-CN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𝐿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(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𝑁)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≈(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𝑁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_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𝑐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/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𝑁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)^(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𝛼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_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𝑁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 )</a:t>
                </a:r>
                <a:endParaRPr lang="ar-AE" altLang="zh-CN" dirty="0"/>
              </a:p>
              <a:p>
                <a:r>
                  <a:rPr lang="zh-CN" altLang="en-US" dirty="0"/>
                  <a:t>👉 写：</a:t>
                </a:r>
              </a:p>
              <a:p>
                <a:r>
                  <a:rPr lang="zh-CN" altLang="en-US" dirty="0"/>
                  <a:t>参数越多 → 表达能力更强 → 性能提升 </a:t>
                </a:r>
              </a:p>
              <a:p>
                <a:br>
                  <a:rPr lang="zh-CN" altLang="en-US" dirty="0"/>
                </a:br>
                <a:endParaRPr lang="zh-CN" altLang="en-US" dirty="0"/>
              </a:p>
              <a:p>
                <a:r>
                  <a:rPr lang="zh-CN" altLang="en-US" b="1" dirty="0"/>
                  <a:t>③ 计算量（</a:t>
                </a:r>
                <a:r>
                  <a:rPr lang="en-US" altLang="zh-CN" b="1" dirty="0"/>
                  <a:t>Compute</a:t>
                </a:r>
                <a:r>
                  <a:rPr lang="zh-CN" altLang="en-US" b="1" dirty="0"/>
                  <a:t>）</a:t>
                </a:r>
              </a:p>
              <a:p>
                <a:r>
                  <a:rPr lang="zh-CN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𝐿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(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𝐶)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≈(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𝐶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_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𝑐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/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𝐶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)^(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𝛼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_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𝐶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 )</a:t>
                </a:r>
                <a:endParaRPr lang="ar-AE" altLang="zh-CN" dirty="0"/>
              </a:p>
              <a:p>
                <a:r>
                  <a:rPr lang="zh-CN" altLang="en-US" dirty="0"/>
                  <a:t>👉 写：</a:t>
                </a:r>
              </a:p>
              <a:p>
                <a:r>
                  <a:rPr lang="zh-CN" altLang="en-US" dirty="0"/>
                  <a:t>算力越多 → 训练更充分 → 性能更好 </a:t>
                </a:r>
              </a:p>
              <a:p>
                <a:br>
                  <a:rPr lang="zh-CN" altLang="en-US" dirty="0"/>
                </a:br>
                <a:endParaRPr lang="zh-CN" altLang="en-US" dirty="0"/>
              </a:p>
              <a:p>
                <a:r>
                  <a:rPr lang="zh-CN" altLang="en-US" dirty="0"/>
                  <a:t>📌 可以在下面补一句总结（很加分）：</a:t>
                </a:r>
                <a:br>
                  <a:rPr lang="zh-CN" altLang="en-US" dirty="0"/>
                </a:br>
                <a:r>
                  <a:rPr lang="zh-CN" altLang="en-US" dirty="0"/>
                  <a:t>👉 </a:t>
                </a:r>
                <a:r>
                  <a:rPr lang="zh-CN" altLang="en-US" b="1" dirty="0"/>
                  <a:t>本质：模型性能 ∝ 数据 </a:t>
                </a:r>
                <a:r>
                  <a:rPr lang="en-US" altLang="zh-CN" b="1" dirty="0"/>
                  <a:t>× </a:t>
                </a:r>
                <a:r>
                  <a:rPr lang="zh-CN" altLang="en-US" b="1" dirty="0"/>
                  <a:t>参数 </a:t>
                </a:r>
                <a:r>
                  <a:rPr lang="en-US" altLang="zh-CN" b="1" dirty="0"/>
                  <a:t>× </a:t>
                </a:r>
                <a:r>
                  <a:rPr lang="zh-CN" altLang="en-US" b="1" dirty="0"/>
                  <a:t>算力</a:t>
                </a:r>
                <a:endParaRPr lang="zh-CN" altLang="en-US" dirty="0"/>
              </a:p>
              <a:p>
                <a:r>
                  <a:rPr lang="zh-CN" altLang="en-US" dirty="0"/>
                  <a:t>我帮你压缩成答辩话术：</a:t>
                </a:r>
              </a:p>
              <a:p>
                <a:r>
                  <a:rPr lang="en-US" altLang="zh-CN" dirty="0"/>
                  <a:t>Scaling Law </a:t>
                </a:r>
                <a:r>
                  <a:rPr lang="zh-CN" altLang="en-US" dirty="0"/>
                  <a:t>说明，大模型性能和数据、参数、算力之间存在幂律关系。</a:t>
                </a:r>
                <a:br>
                  <a:rPr lang="zh-CN" altLang="en-US" dirty="0"/>
                </a:br>
                <a:r>
                  <a:rPr lang="zh-CN" altLang="en-US" dirty="0"/>
                  <a:t>也就是说，只要持续增加资源，模型性能会稳定提升，而且这种提升是可以预测的。</a:t>
                </a:r>
              </a:p>
              <a:p>
                <a:r>
                  <a:rPr lang="zh-CN" altLang="en-US" dirty="0"/>
                  <a:t>但关键不只是“堆资源”，而是“按比例堆资源”。</a:t>
                </a:r>
                <a:br>
                  <a:rPr lang="zh-CN" altLang="en-US" dirty="0"/>
                </a:br>
                <a:r>
                  <a:rPr lang="zh-CN" altLang="en-US" dirty="0"/>
                  <a:t>如果模型太大但数据不够，就会过拟合；反之数据多但模型小，也学不动。</a:t>
                </a:r>
              </a:p>
              <a:p>
                <a:r>
                  <a:rPr lang="zh-CN" altLang="en-US" dirty="0"/>
                  <a:t>后续 </a:t>
                </a:r>
                <a:r>
                  <a:rPr lang="en-US" altLang="zh-CN" dirty="0"/>
                  <a:t>Chinchilla </a:t>
                </a:r>
                <a:r>
                  <a:rPr lang="zh-CN" altLang="en-US" dirty="0"/>
                  <a:t>进一步指出，最优策略是模型规模和数据规模同步增长。</a:t>
                </a:r>
              </a:p>
              <a:p>
                <a:r>
                  <a:rPr lang="zh-CN" altLang="en-US" dirty="0"/>
                  <a:t>所以，大模型的成功本质上是一个“资源分配问题”。</a:t>
                </a:r>
              </a:p>
              <a:p>
                <a:endParaRPr lang="zh-CN" altLang="en-US" dirty="0"/>
              </a:p>
            </p:txBody>
          </p:sp>
        </mc:Fallback>
      </mc:AlternateContent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 dirty="0"/>
              <a:t>00-04   00-05</a:t>
            </a:r>
          </a:p>
          <a:p>
            <a:r>
              <a:rPr lang="zh-CN" altLang="en-US" b="1" dirty="0"/>
              <a:t>一、五个阶段（中间主图）</a:t>
            </a:r>
          </a:p>
          <a:p>
            <a:r>
              <a:rPr lang="en-US" altLang="zh-CN" b="1" dirty="0"/>
              <a:t>1️⃣ Data</a:t>
            </a:r>
          </a:p>
          <a:p>
            <a:r>
              <a:rPr lang="zh-CN" altLang="en-US" dirty="0"/>
              <a:t>数据收集 </a:t>
            </a:r>
            <a:r>
              <a:rPr lang="en-US" altLang="zh-CN" dirty="0"/>
              <a:t>/ </a:t>
            </a:r>
            <a:r>
              <a:rPr lang="zh-CN" altLang="en-US" dirty="0"/>
              <a:t>清洗 </a:t>
            </a:r>
            <a:r>
              <a:rPr lang="en-US" altLang="zh-CN" dirty="0"/>
              <a:t>/ </a:t>
            </a:r>
            <a:r>
              <a:rPr lang="zh-CN" altLang="en-US" dirty="0"/>
              <a:t>构建训练集</a:t>
            </a:r>
            <a:br>
              <a:rPr lang="zh-CN" altLang="en-US" dirty="0"/>
            </a:br>
            <a:r>
              <a:rPr lang="zh-CN" altLang="en-US" dirty="0"/>
              <a:t>👉（关键词：规模 </a:t>
            </a:r>
            <a:r>
              <a:rPr lang="en-US" altLang="zh-CN" dirty="0"/>
              <a:t>+ </a:t>
            </a:r>
            <a:r>
              <a:rPr lang="zh-CN" altLang="en-US" dirty="0"/>
              <a:t>质量） </a:t>
            </a:r>
          </a:p>
          <a:p>
            <a:br>
              <a:rPr lang="zh-CN" altLang="en-US" dirty="0"/>
            </a:br>
            <a:endParaRPr lang="zh-CN" altLang="en-US" dirty="0"/>
          </a:p>
          <a:p>
            <a:r>
              <a:rPr lang="en-US" altLang="zh-CN" b="1" dirty="0"/>
              <a:t>2️⃣ Training</a:t>
            </a:r>
          </a:p>
          <a:p>
            <a:r>
              <a:rPr lang="zh-CN" altLang="en-US" dirty="0"/>
              <a:t>使用算力训练模型（最耗资源）</a:t>
            </a:r>
            <a:br>
              <a:rPr lang="zh-CN" altLang="en-US" dirty="0"/>
            </a:br>
            <a:r>
              <a:rPr lang="zh-CN" altLang="en-US" dirty="0"/>
              <a:t>👉（关键词：</a:t>
            </a:r>
            <a:r>
              <a:rPr lang="en-US" altLang="zh-CN" dirty="0"/>
              <a:t>GPU / </a:t>
            </a:r>
            <a:r>
              <a:rPr lang="zh-CN" altLang="en-US" dirty="0"/>
              <a:t>分布式训练） </a:t>
            </a:r>
          </a:p>
          <a:p>
            <a:br>
              <a:rPr lang="zh-CN" altLang="en-US" dirty="0"/>
            </a:br>
            <a:endParaRPr lang="zh-CN" altLang="en-US" dirty="0"/>
          </a:p>
          <a:p>
            <a:r>
              <a:rPr lang="en-US" altLang="zh-CN" b="1" dirty="0"/>
              <a:t>3️⃣ Model</a:t>
            </a:r>
          </a:p>
          <a:p>
            <a:r>
              <a:rPr lang="zh-CN" altLang="en-US" dirty="0"/>
              <a:t>得到预训练或微调模型</a:t>
            </a:r>
            <a:br>
              <a:rPr lang="zh-CN" altLang="en-US" dirty="0"/>
            </a:br>
            <a:r>
              <a:rPr lang="zh-CN" altLang="en-US" dirty="0"/>
              <a:t>👉（关键词：参数规模 </a:t>
            </a:r>
            <a:r>
              <a:rPr lang="en-US" altLang="zh-CN" dirty="0"/>
              <a:t>/ </a:t>
            </a:r>
            <a:r>
              <a:rPr lang="zh-CN" altLang="en-US" dirty="0"/>
              <a:t>能力） </a:t>
            </a:r>
          </a:p>
          <a:p>
            <a:br>
              <a:rPr lang="zh-CN" altLang="en-US" dirty="0"/>
            </a:br>
            <a:endParaRPr lang="zh-CN" altLang="en-US" dirty="0"/>
          </a:p>
          <a:p>
            <a:r>
              <a:rPr lang="en-US" altLang="zh-CN" b="1" dirty="0"/>
              <a:t>4️⃣ Inference</a:t>
            </a:r>
          </a:p>
          <a:p>
            <a:r>
              <a:rPr lang="zh-CN" altLang="en-US" dirty="0"/>
              <a:t>模型上线，进行推理服务</a:t>
            </a:r>
            <a:br>
              <a:rPr lang="zh-CN" altLang="en-US" dirty="0"/>
            </a:br>
            <a:r>
              <a:rPr lang="zh-CN" altLang="en-US" dirty="0"/>
              <a:t>👉（关键词：延迟 </a:t>
            </a:r>
            <a:r>
              <a:rPr lang="en-US" altLang="zh-CN" dirty="0"/>
              <a:t>/ </a:t>
            </a:r>
            <a:r>
              <a:rPr lang="zh-CN" altLang="en-US" dirty="0"/>
              <a:t>吞吐） </a:t>
            </a:r>
          </a:p>
          <a:p>
            <a:br>
              <a:rPr lang="zh-CN" altLang="en-US" dirty="0"/>
            </a:br>
            <a:endParaRPr lang="zh-CN" altLang="en-US" dirty="0"/>
          </a:p>
          <a:p>
            <a:r>
              <a:rPr lang="en-US" altLang="zh-CN" b="1" dirty="0"/>
              <a:t>5️⃣ Application</a:t>
            </a:r>
          </a:p>
          <a:p>
            <a:r>
              <a:rPr lang="zh-CN" altLang="en-US" dirty="0"/>
              <a:t>实际业务应用（</a:t>
            </a:r>
            <a:r>
              <a:rPr lang="en-US" altLang="zh-CN" dirty="0"/>
              <a:t>Chatbot / Agent</a:t>
            </a:r>
            <a:r>
              <a:rPr lang="zh-CN" altLang="en-US" dirty="0"/>
              <a:t>等）</a:t>
            </a:r>
            <a:br>
              <a:rPr lang="zh-CN" altLang="en-US" dirty="0"/>
            </a:br>
            <a:r>
              <a:rPr lang="zh-CN" altLang="en-US" dirty="0"/>
              <a:t>👉（关键词：用户体验）</a:t>
            </a:r>
          </a:p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 dirty="0"/>
              <a:t>00-04 + 00-05</a:t>
            </a:r>
          </a:p>
          <a:p>
            <a:r>
              <a:rPr lang="zh-CN" altLang="en-US" dirty="0"/>
              <a:t>在 </a:t>
            </a:r>
            <a:r>
              <a:rPr lang="en-US" altLang="zh-CN" dirty="0"/>
              <a:t>AI </a:t>
            </a:r>
            <a:r>
              <a:rPr lang="zh-CN" altLang="en-US" dirty="0"/>
              <a:t>系统中，训练和推理是两种完全不同的计算范式。</a:t>
            </a:r>
          </a:p>
          <a:p>
            <a:r>
              <a:rPr lang="zh-CN" altLang="en-US" dirty="0"/>
              <a:t>训练阶段主要目标是提升模型能力，需要大规模算力和分布式训练，关注的是吞吐和算力利用率。</a:t>
            </a:r>
          </a:p>
          <a:p>
            <a:r>
              <a:rPr lang="zh-CN" altLang="en-US" dirty="0"/>
              <a:t>而推理阶段面向用户请求，更关注延迟、并发和成本。</a:t>
            </a:r>
          </a:p>
          <a:p>
            <a:r>
              <a:rPr lang="zh-CN" altLang="en-US" dirty="0"/>
              <a:t>两者的优化目标是相反的，因此需要不同的基础设施来支持。</a:t>
            </a:r>
          </a:p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 dirty="0"/>
              <a:t>00-06</a:t>
            </a:r>
          </a:p>
          <a:p>
            <a:r>
              <a:rPr lang="en-US" altLang="zh-CN" dirty="0"/>
              <a:t>AI Infra </a:t>
            </a:r>
            <a:r>
              <a:rPr lang="zh-CN" altLang="en-US" dirty="0"/>
              <a:t>可以理解为一个分层架构。最底层是硬件，提供计算、通信和存储能力；中间层是系统软件，负责调度资源、实现分布式训练，把硬件转化为可用算力；上层是框架和服务，让开发者可以方便地训练和部署模型。整个架构的核心目标，其实是最大化算力利用率，实现软硬件协同优化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 dirty="0"/>
              <a:t>00-06</a:t>
            </a:r>
          </a:p>
          <a:p>
            <a:r>
              <a:rPr lang="zh-CN" altLang="en-US" dirty="0"/>
              <a:t>在 </a:t>
            </a:r>
            <a:r>
              <a:rPr lang="en-US" altLang="zh-CN" dirty="0"/>
              <a:t>AI Infra </a:t>
            </a:r>
            <a:r>
              <a:rPr lang="zh-CN" altLang="en-US" dirty="0"/>
              <a:t>中，核心挑战可以归结为三个方面：计算、内存和通信。</a:t>
            </a:r>
          </a:p>
          <a:p>
            <a:r>
              <a:rPr lang="zh-CN" altLang="en-US" dirty="0"/>
              <a:t>计算决定了模型训练的速度，但往往受到内存和通信的限制；</a:t>
            </a:r>
            <a:br>
              <a:rPr lang="zh-CN" altLang="en-US" dirty="0"/>
            </a:br>
            <a:r>
              <a:rPr lang="zh-CN" altLang="en-US" dirty="0"/>
              <a:t>内存决定了模型能不能训练以及训练规模；</a:t>
            </a:r>
            <a:br>
              <a:rPr lang="zh-CN" altLang="en-US" dirty="0"/>
            </a:br>
            <a:r>
              <a:rPr lang="zh-CN" altLang="en-US" dirty="0"/>
              <a:t>通信则决定了多卡训练是否高效。</a:t>
            </a:r>
          </a:p>
          <a:p>
            <a:r>
              <a:rPr lang="zh-CN" altLang="en-US" dirty="0"/>
              <a:t>实际系统中，这三者是强耦合的，</a:t>
            </a:r>
            <a:r>
              <a:rPr lang="en-US" altLang="zh-CN" dirty="0"/>
              <a:t>AI Infra </a:t>
            </a:r>
            <a:r>
              <a:rPr lang="zh-CN" altLang="en-US" dirty="0"/>
              <a:t>的核心就是在三者之间做权衡，最大化整体效率。</a:t>
            </a:r>
          </a:p>
          <a:p>
            <a:r>
              <a:rPr lang="en-US" altLang="zh-CN" dirty="0"/>
              <a:t>Compute </a:t>
            </a:r>
            <a:r>
              <a:rPr lang="zh-CN" altLang="en-US" dirty="0"/>
              <a:t>依赖 </a:t>
            </a:r>
            <a:r>
              <a:rPr lang="en-US" altLang="zh-CN" dirty="0"/>
              <a:t>Memory</a:t>
            </a:r>
            <a:r>
              <a:rPr lang="zh-CN" altLang="en-US" dirty="0"/>
              <a:t>（数据要喂给计算） </a:t>
            </a:r>
          </a:p>
          <a:p>
            <a:r>
              <a:rPr lang="en-US" altLang="zh-CN" dirty="0"/>
              <a:t>Communication </a:t>
            </a:r>
            <a:r>
              <a:rPr lang="zh-CN" altLang="en-US" dirty="0"/>
              <a:t>影响 </a:t>
            </a:r>
            <a:r>
              <a:rPr lang="en-US" altLang="zh-CN" dirty="0"/>
              <a:t>Compute</a:t>
            </a:r>
            <a:r>
              <a:rPr lang="zh-CN" altLang="en-US" dirty="0"/>
              <a:t>（同步拖慢计算） </a:t>
            </a:r>
          </a:p>
          <a:p>
            <a:r>
              <a:rPr lang="en-US" altLang="zh-CN" dirty="0"/>
              <a:t>Memory </a:t>
            </a:r>
            <a:r>
              <a:rPr lang="zh-CN" altLang="en-US" dirty="0"/>
              <a:t>限制 </a:t>
            </a:r>
            <a:r>
              <a:rPr lang="en-US" altLang="zh-CN" dirty="0"/>
              <a:t>Communication</a:t>
            </a:r>
            <a:r>
              <a:rPr lang="zh-CN" altLang="en-US" dirty="0"/>
              <a:t>（数据搬运成本高） </a:t>
            </a:r>
          </a:p>
          <a:p>
            <a:r>
              <a:rPr lang="zh-CN" altLang="en-US" dirty="0"/>
              <a:t>👉 总结一句：</a:t>
            </a:r>
          </a:p>
          <a:p>
            <a:r>
              <a:rPr lang="zh-CN" altLang="en-US" b="1" dirty="0"/>
              <a:t>三者是强耦合关系，而不是独立问题</a:t>
            </a:r>
            <a:endParaRPr lang="zh-CN" altLang="en-US" dirty="0"/>
          </a:p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 dirty="0"/>
              <a:t>01-01</a:t>
            </a:r>
          </a:p>
          <a:p>
            <a:r>
              <a:rPr lang="en-US" altLang="zh-CN" dirty="0"/>
              <a:t>GPU </a:t>
            </a:r>
            <a:r>
              <a:rPr lang="zh-CN" altLang="en-US" dirty="0"/>
              <a:t>是专门为大规模并行计算设计的硬件。</a:t>
            </a:r>
          </a:p>
          <a:p>
            <a:r>
              <a:rPr lang="zh-CN" altLang="en-US" dirty="0"/>
              <a:t>它的核心由两部分组成：</a:t>
            </a:r>
            <a:r>
              <a:rPr lang="en-US" altLang="zh-CN" dirty="0"/>
              <a:t>SM </a:t>
            </a:r>
            <a:r>
              <a:rPr lang="zh-CN" altLang="en-US" dirty="0"/>
              <a:t>负责计算，</a:t>
            </a:r>
            <a:r>
              <a:rPr lang="en-US" altLang="zh-CN" dirty="0"/>
              <a:t>HBM </a:t>
            </a:r>
            <a:r>
              <a:rPr lang="zh-CN" altLang="en-US" dirty="0"/>
              <a:t>提供高带宽数据支持。</a:t>
            </a:r>
          </a:p>
          <a:p>
            <a:r>
              <a:rPr lang="zh-CN" altLang="en-US" dirty="0"/>
              <a:t>由于 </a:t>
            </a:r>
            <a:r>
              <a:rPr lang="en-US" altLang="zh-CN" dirty="0"/>
              <a:t>AI </a:t>
            </a:r>
            <a:r>
              <a:rPr lang="zh-CN" altLang="en-US" dirty="0"/>
              <a:t>训练本质是大规模矩阵运算，非常适合在 </a:t>
            </a:r>
            <a:r>
              <a:rPr lang="en-US" altLang="zh-CN" dirty="0"/>
              <a:t>GPU </a:t>
            </a:r>
            <a:r>
              <a:rPr lang="zh-CN" altLang="en-US" dirty="0"/>
              <a:t>上并行执行。</a:t>
            </a:r>
          </a:p>
          <a:p>
            <a:r>
              <a:rPr lang="zh-CN" altLang="en-US" dirty="0"/>
              <a:t>但在实际系统中，</a:t>
            </a:r>
            <a:r>
              <a:rPr lang="en-US" altLang="zh-CN" dirty="0"/>
              <a:t>GPU </a:t>
            </a:r>
            <a:r>
              <a:rPr lang="zh-CN" altLang="en-US" dirty="0"/>
              <a:t>的效率往往受到内存和通信的限制，因此需要 </a:t>
            </a:r>
            <a:r>
              <a:rPr lang="en-US" altLang="zh-CN" dirty="0"/>
              <a:t>AI Infra </a:t>
            </a:r>
            <a:r>
              <a:rPr lang="zh-CN" altLang="en-US" dirty="0"/>
              <a:t>进一步优化。</a:t>
            </a:r>
          </a:p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 dirty="0"/>
              <a:t>01-01 + 01-03</a:t>
            </a:r>
          </a:p>
          <a:p>
            <a:r>
              <a:rPr lang="zh-CN" altLang="en-US" dirty="0"/>
              <a:t>随着模型规模不断增长，单个 </a:t>
            </a:r>
            <a:r>
              <a:rPr lang="en-US" altLang="zh-CN" dirty="0"/>
              <a:t>GPU </a:t>
            </a:r>
            <a:r>
              <a:rPr lang="zh-CN" altLang="en-US" dirty="0"/>
              <a:t>已无法满足训练需求，因此系统从单卡逐步演进到多卡、再到大规模集群。</a:t>
            </a:r>
          </a:p>
          <a:p>
            <a:r>
              <a:rPr lang="zh-CN" altLang="en-US" dirty="0"/>
              <a:t>在这个过程中，问题的核心也在不断变化：</a:t>
            </a:r>
            <a:br>
              <a:rPr lang="zh-CN" altLang="en-US" dirty="0"/>
            </a:br>
            <a:r>
              <a:rPr lang="zh-CN" altLang="en-US" dirty="0"/>
              <a:t>从最初的算力不足，转向通信瓶颈，再到大规模系统的调度和稳定性问题。</a:t>
            </a:r>
          </a:p>
          <a:p>
            <a:r>
              <a:rPr lang="zh-CN" altLang="en-US" dirty="0"/>
              <a:t>当前的大模型训练，通常依赖上千甚至上万 </a:t>
            </a:r>
            <a:r>
              <a:rPr lang="en-US" altLang="zh-CN" dirty="0"/>
              <a:t>GPU </a:t>
            </a:r>
            <a:r>
              <a:rPr lang="zh-CN" altLang="en-US" dirty="0"/>
              <a:t>的集群来完成。</a:t>
            </a:r>
          </a:p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 dirty="0"/>
              <a:t>02-03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 dirty="0"/>
              <a:t>02-04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02-05</a:t>
            </a:r>
            <a:endParaRPr lang="zh-CN" altLang="en-US" dirty="0"/>
          </a:p>
          <a:p>
            <a:endParaRPr lang="en-US" altLang="zh-CN" dirty="0"/>
          </a:p>
          <a:p>
            <a:r>
              <a:rPr lang="zh-CN" altLang="en-US" b="1" dirty="0"/>
              <a:t>存储的重要性</a:t>
            </a:r>
          </a:p>
          <a:p>
            <a:r>
              <a:rPr lang="zh-CN" altLang="en-US" dirty="0"/>
              <a:t>大模型训练依赖海量数据（</a:t>
            </a:r>
            <a:r>
              <a:rPr lang="en-US" altLang="zh-CN" dirty="0"/>
              <a:t>TB / PB </a:t>
            </a:r>
            <a:r>
              <a:rPr lang="zh-CN" altLang="en-US" dirty="0"/>
              <a:t>级） </a:t>
            </a:r>
          </a:p>
          <a:p>
            <a:r>
              <a:rPr lang="zh-CN" altLang="en-US" dirty="0"/>
              <a:t>需要高效的数据读取与写入能力 </a:t>
            </a:r>
          </a:p>
          <a:p>
            <a:r>
              <a:rPr lang="zh-CN" altLang="en-US" dirty="0"/>
              <a:t>👉 本质：</a:t>
            </a:r>
            <a:r>
              <a:rPr lang="zh-CN" altLang="en-US" b="1" dirty="0"/>
              <a:t>存储 </a:t>
            </a:r>
            <a:r>
              <a:rPr lang="en-US" altLang="zh-CN" b="1" dirty="0"/>
              <a:t>= </a:t>
            </a:r>
            <a:r>
              <a:rPr lang="zh-CN" altLang="en-US" b="1" dirty="0"/>
              <a:t>数据供给能力</a:t>
            </a:r>
            <a:endParaRPr lang="en-US" altLang="zh-CN" b="1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👉 存储性能直接影响训练效率</a:t>
            </a:r>
            <a:br>
              <a:rPr lang="zh-CN" altLang="en-US" dirty="0"/>
            </a:br>
            <a:r>
              <a:rPr lang="zh-CN" altLang="en-US" dirty="0"/>
              <a:t>👉 核心目标：</a:t>
            </a:r>
            <a:r>
              <a:rPr lang="zh-CN" altLang="en-US" b="1" dirty="0"/>
              <a:t>让 </a:t>
            </a:r>
            <a:r>
              <a:rPr lang="en-US" altLang="zh-CN" b="1" dirty="0"/>
              <a:t>GPU </a:t>
            </a:r>
            <a:r>
              <a:rPr lang="zh-CN" altLang="en-US" b="1" dirty="0"/>
              <a:t>不等待数据</a:t>
            </a:r>
            <a:endParaRPr lang="zh-CN" altLang="en-US" dirty="0"/>
          </a:p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 dirty="0"/>
              <a:t>06 </a:t>
            </a:r>
            <a:r>
              <a:rPr lang="en-US" altLang="zh-CN" dirty="0" err="1"/>
              <a:t>Transforme</a:t>
            </a:r>
            <a:endParaRPr lang="en-US" altLang="zh-CN" dirty="0"/>
          </a:p>
          <a:p>
            <a:r>
              <a:rPr lang="en-US" altLang="zh-CN" dirty="0"/>
              <a:t>AI Infra </a:t>
            </a:r>
            <a:r>
              <a:rPr lang="zh-CN" altLang="en-US" dirty="0"/>
              <a:t>的所有优化，本质上都是在优化 </a:t>
            </a:r>
            <a:r>
              <a:rPr lang="en-US" altLang="zh-CN" dirty="0"/>
              <a:t>Transformer</a:t>
            </a:r>
            <a:r>
              <a:rPr lang="zh-CN" altLang="en-US" dirty="0"/>
              <a:t>，因为它的计算几乎完全由矩阵乘法和 </a:t>
            </a:r>
            <a:r>
              <a:rPr lang="en-US" altLang="zh-CN" dirty="0"/>
              <a:t>Attention </a:t>
            </a:r>
            <a:r>
              <a:rPr lang="zh-CN" altLang="en-US" dirty="0"/>
              <a:t>构成。”</a:t>
            </a:r>
            <a:r>
              <a:rPr lang="en-US" altLang="zh-CN" dirty="0"/>
              <a:t>r</a:t>
            </a:r>
            <a:r>
              <a:rPr lang="zh-CN" altLang="en-US" dirty="0"/>
              <a:t>（只扫）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 dirty="0"/>
              <a:t>06 </a:t>
            </a:r>
            <a:r>
              <a:rPr lang="en-US" altLang="zh-CN" dirty="0" err="1"/>
              <a:t>TransformerAttention</a:t>
            </a:r>
            <a:r>
              <a:rPr lang="en-US" altLang="zh-CN" dirty="0"/>
              <a:t> </a:t>
            </a:r>
            <a:r>
              <a:rPr lang="zh-CN" altLang="en-US" dirty="0"/>
              <a:t>需要计算所有 </a:t>
            </a:r>
            <a:r>
              <a:rPr lang="en-US" altLang="zh-CN" dirty="0"/>
              <a:t>token </a:t>
            </a:r>
            <a:r>
              <a:rPr lang="zh-CN" altLang="en-US" dirty="0"/>
              <a:t>两两之间的关系，所以时间和空间复杂度都是 </a:t>
            </a:r>
            <a:r>
              <a:rPr lang="en-US" altLang="zh-CN" dirty="0"/>
              <a:t>O(n²)</a:t>
            </a:r>
            <a:r>
              <a:rPr lang="zh-CN" altLang="en-US" dirty="0"/>
              <a:t>。这直接导致序列一长，计算和显存都会爆炸，是限制大模型处理长文本的核心瓶颈。”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 dirty="0"/>
              <a:t>00-05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 dirty="0"/>
              <a:t>02</a:t>
            </a:r>
            <a:r>
              <a:rPr lang="zh-CN" altLang="en-US" dirty="0"/>
              <a:t>（重点理解带宽）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 dirty="0"/>
              <a:t>04</a:t>
            </a:r>
            <a:r>
              <a:rPr lang="zh-CN" altLang="en-US" dirty="0"/>
              <a:t>（只看标题）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98918" y="914447"/>
            <a:ext cx="9800165" cy="2570532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pPr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98918" y="3560583"/>
            <a:ext cx="9800165" cy="1472476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8235" indent="0" algn="ctr">
              <a:buNone/>
              <a:defRPr sz="1600"/>
            </a:lvl9pPr>
          </a:lstStyle>
          <a:p>
            <a:pPr fontAlgn="auto"/>
            <a:r>
              <a:rPr lang="zh-CN" altLang="en-US" strike="noStrike" noProof="1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  <a:t>2026/4/9</a:t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60" y="608432"/>
            <a:ext cx="10970280" cy="705636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8460" y="1490477"/>
            <a:ext cx="10970280" cy="4759445"/>
          </a:xfrm>
        </p:spPr>
        <p:txBody>
          <a:bodyPr vert="horz" lIns="90000" tIns="46800" rIns="90000" bIns="46800" rtlCol="0">
            <a:normAutofit/>
          </a:bodyPr>
          <a:lstStyle/>
          <a:p>
            <a:pPr lvl="0" fontAlgn="auto"/>
            <a:r>
              <a:rPr lang="zh-CN" altLang="en-US" strike="noStrike" noProof="1"/>
              <a:t>单击此处编辑母版文本样式</a:t>
            </a:r>
          </a:p>
          <a:p>
            <a:pPr lvl="1" fontAlgn="auto"/>
            <a:r>
              <a:rPr lang="zh-CN" altLang="en-US" strike="noStrike" noProof="1"/>
              <a:t>第二级</a:t>
            </a:r>
          </a:p>
          <a:p>
            <a:pPr lvl="2" fontAlgn="auto"/>
            <a:r>
              <a:rPr lang="zh-CN" altLang="en-US" strike="noStrike" noProof="1"/>
              <a:t>第三级</a:t>
            </a:r>
          </a:p>
          <a:p>
            <a:pPr lvl="3" fontAlgn="auto"/>
            <a:r>
              <a:rPr lang="zh-CN" altLang="en-US" strike="noStrike" noProof="1"/>
              <a:t>第四级</a:t>
            </a:r>
          </a:p>
          <a:p>
            <a:pPr lvl="4" fontAlgn="auto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  <a:t>2026/4/9</a:t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990996" y="3848598"/>
            <a:ext cx="7769565" cy="766839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pPr fontAlgn="auto"/>
            <a:r>
              <a:rPr lang="zh-CN" altLang="en-US" strike="noStrike" noProof="1"/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1990996" y="4615438"/>
            <a:ext cx="7769565" cy="867645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823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auto"/>
            <a:r>
              <a:rPr lang="zh-CN" altLang="en-US" strike="noStrike" noProof="1"/>
              <a:t>单击此处编辑文本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  <a:t>2026/4/9</a:t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60" y="608432"/>
            <a:ext cx="10970280" cy="705636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8460" y="1501277"/>
            <a:ext cx="5177310" cy="4748644"/>
          </a:xfrm>
        </p:spPr>
        <p:txBody>
          <a:bodyPr vert="horz" lIns="90000" tIns="46800" rIns="90000" bIns="46800" rtlCol="0">
            <a:normAutofit/>
          </a:bodyPr>
          <a:lstStyle/>
          <a:p>
            <a:pPr lvl="0" fontAlgn="auto"/>
            <a:r>
              <a:rPr lang="zh-CN" altLang="en-US" strike="noStrike" noProof="1"/>
              <a:t>单击此处编辑母版文本样式</a:t>
            </a:r>
          </a:p>
          <a:p>
            <a:pPr lvl="1" fontAlgn="auto"/>
            <a:r>
              <a:rPr lang="zh-CN" altLang="en-US" strike="noStrike" noProof="1"/>
              <a:t>第二级</a:t>
            </a:r>
          </a:p>
          <a:p>
            <a:pPr lvl="2" fontAlgn="auto"/>
            <a:r>
              <a:rPr lang="zh-CN" altLang="en-US" strike="noStrike" noProof="1"/>
              <a:t>第三级</a:t>
            </a:r>
          </a:p>
          <a:p>
            <a:pPr lvl="3" fontAlgn="auto"/>
            <a:r>
              <a:rPr lang="zh-CN" altLang="en-US" strike="noStrike" noProof="1"/>
              <a:t>第四级</a:t>
            </a:r>
          </a:p>
          <a:p>
            <a:pPr lvl="4" fontAlgn="auto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412231" y="1501277"/>
            <a:ext cx="5177310" cy="4748644"/>
          </a:xfrm>
        </p:spPr>
        <p:txBody>
          <a:bodyPr lIns="90000" tIns="46800" rIns="90000" bIns="46800">
            <a:normAutofit/>
          </a:bodyPr>
          <a:lstStyle/>
          <a:p>
            <a:pPr lvl="0" fontAlgn="auto"/>
            <a:r>
              <a:rPr lang="zh-CN" altLang="en-US" strike="noStrike" noProof="1"/>
              <a:t>单击此处编辑母版文本样式</a:t>
            </a:r>
          </a:p>
          <a:p>
            <a:pPr lvl="1" fontAlgn="auto"/>
            <a:r>
              <a:rPr lang="zh-CN" altLang="en-US" strike="noStrike" noProof="1"/>
              <a:t>第二级</a:t>
            </a:r>
          </a:p>
          <a:p>
            <a:pPr lvl="2" fontAlgn="auto"/>
            <a:r>
              <a:rPr lang="zh-CN" altLang="en-US" strike="noStrike" noProof="1"/>
              <a:t>第三级</a:t>
            </a:r>
          </a:p>
          <a:p>
            <a:pPr lvl="3" fontAlgn="auto"/>
            <a:r>
              <a:rPr lang="zh-CN" altLang="en-US" strike="noStrike" noProof="1"/>
              <a:t>第四级</a:t>
            </a:r>
          </a:p>
          <a:p>
            <a:pPr lvl="4" fontAlgn="auto"/>
            <a:r>
              <a:rPr lang="zh-CN" altLang="en-US" strike="noStrike" noProof="1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  <a:t>2026/4/9</a:t>
            </a:fld>
            <a:endParaRPr lang="zh-CN" altLang="en-US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60" y="608432"/>
            <a:ext cx="10970280" cy="705636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08460" y="1429274"/>
            <a:ext cx="5342926" cy="38162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8235" indent="0">
              <a:buNone/>
              <a:defRPr sz="1600" b="1"/>
            </a:lvl9pPr>
          </a:lstStyle>
          <a:p>
            <a:pPr lvl="0" fontAlgn="auto"/>
            <a:r>
              <a:rPr lang="zh-CN" altLang="en-US" strike="noStrike" noProof="1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8460" y="1854096"/>
            <a:ext cx="5342926" cy="4395826"/>
          </a:xfrm>
        </p:spPr>
        <p:txBody>
          <a:bodyPr vert="horz" lIns="101600" tIns="0" rIns="82550" bIns="0" rtlCol="0">
            <a:normAutofit/>
          </a:bodyPr>
          <a:lstStyle/>
          <a:p>
            <a:pPr lvl="0" fontAlgn="auto"/>
            <a:r>
              <a:rPr lang="zh-CN" altLang="en-US" strike="noStrike" noProof="1"/>
              <a:t>单击此处编辑母版文本样式</a:t>
            </a:r>
          </a:p>
          <a:p>
            <a:pPr lvl="1" fontAlgn="auto"/>
            <a:r>
              <a:rPr lang="zh-CN" altLang="en-US" strike="noStrike" noProof="1"/>
              <a:t>第二级</a:t>
            </a:r>
          </a:p>
          <a:p>
            <a:pPr lvl="2" fontAlgn="auto"/>
            <a:r>
              <a:rPr lang="zh-CN" altLang="en-US" strike="noStrike" noProof="1"/>
              <a:t>第三级</a:t>
            </a:r>
          </a:p>
          <a:p>
            <a:pPr lvl="3" fontAlgn="auto"/>
            <a:r>
              <a:rPr lang="zh-CN" altLang="en-US" strike="noStrike" noProof="1"/>
              <a:t>第四级</a:t>
            </a:r>
          </a:p>
          <a:p>
            <a:pPr lvl="4" fontAlgn="auto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236364" y="1421802"/>
            <a:ext cx="5342926" cy="38162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8235" indent="0">
              <a:buNone/>
              <a:defRPr sz="1600" b="1"/>
            </a:lvl9pPr>
          </a:lstStyle>
          <a:p>
            <a:pPr lvl="0" fontAlgn="auto"/>
            <a:r>
              <a:rPr lang="zh-CN" altLang="en-US" strike="noStrike" noProof="1"/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36364" y="1854096"/>
            <a:ext cx="5342926" cy="4395826"/>
          </a:xfrm>
        </p:spPr>
        <p:txBody>
          <a:bodyPr vert="horz" lIns="101600" tIns="0" rIns="82550" bIns="0" rtlCol="0">
            <a:normAutofit/>
          </a:bodyPr>
          <a:lstStyle/>
          <a:p>
            <a:pPr lvl="0" fontAlgn="auto"/>
            <a:r>
              <a:rPr lang="zh-CN" altLang="en-US" strike="noStrike" noProof="1"/>
              <a:t>单击此处编辑母版文本样式</a:t>
            </a:r>
          </a:p>
          <a:p>
            <a:pPr lvl="1" fontAlgn="auto"/>
            <a:r>
              <a:rPr lang="zh-CN" altLang="en-US" strike="noStrike" noProof="1"/>
              <a:t>第二级</a:t>
            </a:r>
          </a:p>
          <a:p>
            <a:pPr lvl="2" fontAlgn="auto"/>
            <a:r>
              <a:rPr lang="zh-CN" altLang="en-US" strike="noStrike" noProof="1"/>
              <a:t>第三级</a:t>
            </a:r>
          </a:p>
          <a:p>
            <a:pPr lvl="3" fontAlgn="auto"/>
            <a:r>
              <a:rPr lang="zh-CN" altLang="en-US" strike="noStrike" noProof="1"/>
              <a:t>第四级</a:t>
            </a:r>
          </a:p>
          <a:p>
            <a:pPr lvl="4" fontAlgn="auto"/>
            <a:r>
              <a:rPr lang="zh-CN" altLang="en-US" strike="noStrike" noProof="1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  <a:t>2026/4/9</a:t>
            </a:fld>
            <a:endParaRPr lang="zh-CN" altLang="en-US" strike="noStrike" noProof="1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60" y="608432"/>
            <a:ext cx="10970280" cy="705636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  <a:t>2026/4/9</a:t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  <a:t>2026/4/9</a:t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608460" y="1555280"/>
            <a:ext cx="5233593" cy="4608237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 fontAlgn="auto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51025" y="1555280"/>
            <a:ext cx="5227715" cy="4608237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9" name="标题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  <a:t>2026/4/9</a:t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</p:nvPr>
        </p:nvSpPr>
        <p:spPr>
          <a:xfrm>
            <a:off x="10235808" y="914447"/>
            <a:ext cx="1044103" cy="5029459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 fontAlgn="auto"/>
            <a:r>
              <a:rPr lang="zh-CN" altLang="en-US" strike="noStrike" noProof="1"/>
              <a:t>单击此处编辑标题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90" y="914447"/>
            <a:ext cx="9170103" cy="5029459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</a:p>
          <a:p>
            <a:pPr lvl="1" fontAlgn="auto"/>
            <a:r>
              <a:rPr lang="zh-CN" altLang="en-US" strike="noStrike" noProof="1"/>
              <a:t>第二级</a:t>
            </a:r>
          </a:p>
          <a:p>
            <a:pPr lvl="2" fontAlgn="auto"/>
            <a:r>
              <a:rPr lang="zh-CN" altLang="en-US" strike="noStrike" noProof="1"/>
              <a:t>第三级</a:t>
            </a:r>
          </a:p>
          <a:p>
            <a:pPr lvl="3" fontAlgn="auto"/>
            <a:r>
              <a:rPr lang="zh-CN" altLang="en-US" strike="noStrike" noProof="1"/>
              <a:t>第四级</a:t>
            </a:r>
          </a:p>
          <a:p>
            <a:pPr lvl="4" fontAlgn="auto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  <a:t>2026/4/9</a:t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608460" y="774040"/>
            <a:ext cx="10973880" cy="5483082"/>
          </a:xfr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</a:p>
          <a:p>
            <a:pPr lvl="1" fontAlgn="auto"/>
            <a:r>
              <a:rPr lang="zh-CN" altLang="en-US" strike="noStrike" noProof="1"/>
              <a:t>第二级</a:t>
            </a:r>
          </a:p>
          <a:p>
            <a:pPr lvl="2" fontAlgn="auto"/>
            <a:r>
              <a:rPr lang="zh-CN" altLang="en-US" strike="noStrike" noProof="1"/>
              <a:t>第三级</a:t>
            </a:r>
          </a:p>
          <a:p>
            <a:pPr lvl="3" fontAlgn="auto"/>
            <a:r>
              <a:rPr lang="zh-CN" altLang="en-US" strike="noStrike" noProof="1"/>
              <a:t>第四级</a:t>
            </a:r>
          </a:p>
          <a:p>
            <a:pPr lvl="4" fontAlgn="auto"/>
            <a:r>
              <a:rPr lang="zh-CN" altLang="en-US" strike="noStrike" noProof="1"/>
              <a:t>第五级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  <a:t>2026/4/9</a:t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198918" y="2484128"/>
            <a:ext cx="9800165" cy="1018852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 fontAlgn="auto"/>
            <a:r>
              <a:rPr lang="zh-CN" altLang="en-US" strike="noStrike" noProof="1"/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>
          <a:xfrm>
            <a:off x="1198918" y="3560583"/>
            <a:ext cx="9800165" cy="471624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  <a:t>2026/4/9</a:t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tags" Target="../tags/tag6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5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4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073" y="608044"/>
            <a:ext cx="10970706" cy="706473"/>
          </a:xfrm>
          <a:prstGeom prst="rect">
            <a:avLst/>
          </a:prstGeom>
          <a:noFill/>
          <a:ln w="9525">
            <a:noFill/>
          </a:ln>
        </p:spPr>
        <p:txBody>
          <a:bodyPr vert="horz" lIns="90170" tIns="46990" rIns="90170" bIns="46990" anchor="ctr" anchorCtr="0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/>
            <p:custDataLst>
              <p:tags r:id="rId14"/>
            </p:custDataLst>
          </p:nvPr>
        </p:nvSpPr>
        <p:spPr>
          <a:xfrm>
            <a:off x="608073" y="1490740"/>
            <a:ext cx="10970706" cy="4759570"/>
          </a:xfrm>
          <a:prstGeom prst="rect">
            <a:avLst/>
          </a:prstGeom>
          <a:noFill/>
          <a:ln w="9525">
            <a:noFill/>
          </a:ln>
        </p:spPr>
        <p:txBody>
          <a:bodyPr vert="horz" lIns="90000" tIns="46800" rIns="90000" bIns="46800" anchor="t" anchorCtr="0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836" y="6315400"/>
            <a:ext cx="2699016" cy="3159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  <a:t>2026/4/9</a:t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793" y="6315400"/>
            <a:ext cx="3959615" cy="3159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8174" y="6315400"/>
            <a:ext cx="2700604" cy="31592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800" baseline="0">
                <a:solidFill>
                  <a:schemeClr val="tx1"/>
                </a:solidFill>
              </a:defRPr>
            </a:lvl1pPr>
          </a:lstStyle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>
              <a:latin typeface="+mn-lt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ct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ct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ct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ct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ct val="10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ct val="10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ct val="10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835" indent="-228600" algn="l" defTabSz="914400" rtl="0" eaLnBrk="1" latinLnBrk="0" hangingPunct="1">
        <a:lnSpc>
          <a:spcPct val="90000"/>
        </a:lnSpc>
        <a:spcBef>
          <a:spcPct val="10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823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tags" Target="../tags/tag9.xml"/><Relationship Id="rId7" Type="http://schemas.openxmlformats.org/officeDocument/2006/relationships/notesSlide" Target="../notesSlides/notesSlide1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slideLayout" Target="../slideLayouts/slideLayout7.xml"/><Relationship Id="rId5" Type="http://schemas.openxmlformats.org/officeDocument/2006/relationships/tags" Target="../tags/tag11.xml"/><Relationship Id="rId4" Type="http://schemas.openxmlformats.org/officeDocument/2006/relationships/tags" Target="../tags/tag10.xml"/><Relationship Id="rId9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.xml"/><Relationship Id="rId3" Type="http://schemas.openxmlformats.org/officeDocument/2006/relationships/tags" Target="../tags/tag14.xml"/><Relationship Id="rId7" Type="http://schemas.openxmlformats.org/officeDocument/2006/relationships/slideLayout" Target="../slideLayouts/slideLayout7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tags" Target="../tags/tag17.xml"/><Relationship Id="rId11" Type="http://schemas.openxmlformats.org/officeDocument/2006/relationships/image" Target="../media/image5.png"/><Relationship Id="rId5" Type="http://schemas.openxmlformats.org/officeDocument/2006/relationships/tags" Target="../tags/tag16.xml"/><Relationship Id="rId10" Type="http://schemas.openxmlformats.org/officeDocument/2006/relationships/image" Target="../media/image4.png"/><Relationship Id="rId4" Type="http://schemas.openxmlformats.org/officeDocument/2006/relationships/tags" Target="../tags/tag15.xml"/><Relationship Id="rId9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3" Type="http://schemas.openxmlformats.org/officeDocument/2006/relationships/tags" Target="../tags/tag20.xml"/><Relationship Id="rId7" Type="http://schemas.openxmlformats.org/officeDocument/2006/relationships/tags" Target="../tags/tag24.xml"/><Relationship Id="rId12" Type="http://schemas.openxmlformats.org/officeDocument/2006/relationships/image" Target="../media/image6.png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6" Type="http://schemas.openxmlformats.org/officeDocument/2006/relationships/tags" Target="../tags/tag23.xml"/><Relationship Id="rId11" Type="http://schemas.openxmlformats.org/officeDocument/2006/relationships/image" Target="../media/image4.png"/><Relationship Id="rId5" Type="http://schemas.openxmlformats.org/officeDocument/2006/relationships/tags" Target="../tags/tag22.xml"/><Relationship Id="rId10" Type="http://schemas.openxmlformats.org/officeDocument/2006/relationships/image" Target="../media/image3.png"/><Relationship Id="rId4" Type="http://schemas.openxmlformats.org/officeDocument/2006/relationships/tags" Target="../tags/tag21.xml"/><Relationship Id="rId9" Type="http://schemas.openxmlformats.org/officeDocument/2006/relationships/notesSlide" Target="../notesSlides/notesSlide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.xml"/><Relationship Id="rId3" Type="http://schemas.openxmlformats.org/officeDocument/2006/relationships/tags" Target="../tags/tag27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8.png"/><Relationship Id="rId2" Type="http://schemas.openxmlformats.org/officeDocument/2006/relationships/tags" Target="../tags/tag26.xml"/><Relationship Id="rId1" Type="http://schemas.openxmlformats.org/officeDocument/2006/relationships/tags" Target="../tags/tag25.xml"/><Relationship Id="rId6" Type="http://schemas.openxmlformats.org/officeDocument/2006/relationships/tags" Target="../tags/tag30.xml"/><Relationship Id="rId11" Type="http://schemas.openxmlformats.org/officeDocument/2006/relationships/image" Target="../media/image7.png"/><Relationship Id="rId5" Type="http://schemas.openxmlformats.org/officeDocument/2006/relationships/tags" Target="../tags/tag29.xml"/><Relationship Id="rId10" Type="http://schemas.openxmlformats.org/officeDocument/2006/relationships/image" Target="../media/image4.png"/><Relationship Id="rId4" Type="http://schemas.openxmlformats.org/officeDocument/2006/relationships/tags" Target="../tags/tag28.xml"/><Relationship Id="rId9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3" Type="http://schemas.openxmlformats.org/officeDocument/2006/relationships/tags" Target="../tags/tag33.xml"/><Relationship Id="rId7" Type="http://schemas.openxmlformats.org/officeDocument/2006/relationships/tags" Target="../tags/tag37.xml"/><Relationship Id="rId12" Type="http://schemas.openxmlformats.org/officeDocument/2006/relationships/image" Target="../media/image9.png"/><Relationship Id="rId2" Type="http://schemas.openxmlformats.org/officeDocument/2006/relationships/tags" Target="../tags/tag32.xml"/><Relationship Id="rId1" Type="http://schemas.openxmlformats.org/officeDocument/2006/relationships/tags" Target="../tags/tag31.xml"/><Relationship Id="rId6" Type="http://schemas.openxmlformats.org/officeDocument/2006/relationships/tags" Target="../tags/tag36.xml"/><Relationship Id="rId11" Type="http://schemas.openxmlformats.org/officeDocument/2006/relationships/image" Target="../media/image4.png"/><Relationship Id="rId5" Type="http://schemas.openxmlformats.org/officeDocument/2006/relationships/tags" Target="../tags/tag35.xml"/><Relationship Id="rId10" Type="http://schemas.openxmlformats.org/officeDocument/2006/relationships/image" Target="../media/image3.png"/><Relationship Id="rId4" Type="http://schemas.openxmlformats.org/officeDocument/2006/relationships/tags" Target="../tags/tag34.xml"/><Relationship Id="rId9" Type="http://schemas.openxmlformats.org/officeDocument/2006/relationships/notesSlide" Target="../notesSlides/notesSlide5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6.xml"/><Relationship Id="rId13" Type="http://schemas.openxmlformats.org/officeDocument/2006/relationships/image" Target="../media/image12.png"/><Relationship Id="rId3" Type="http://schemas.openxmlformats.org/officeDocument/2006/relationships/tags" Target="../tags/tag40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1.png"/><Relationship Id="rId2" Type="http://schemas.openxmlformats.org/officeDocument/2006/relationships/tags" Target="../tags/tag39.xml"/><Relationship Id="rId1" Type="http://schemas.openxmlformats.org/officeDocument/2006/relationships/tags" Target="../tags/tag38.xml"/><Relationship Id="rId6" Type="http://schemas.openxmlformats.org/officeDocument/2006/relationships/tags" Target="../tags/tag43.xml"/><Relationship Id="rId11" Type="http://schemas.openxmlformats.org/officeDocument/2006/relationships/image" Target="../media/image10.png"/><Relationship Id="rId5" Type="http://schemas.openxmlformats.org/officeDocument/2006/relationships/tags" Target="../tags/tag42.xml"/><Relationship Id="rId10" Type="http://schemas.openxmlformats.org/officeDocument/2006/relationships/image" Target="../media/image4.png"/><Relationship Id="rId4" Type="http://schemas.openxmlformats.org/officeDocument/2006/relationships/tags" Target="../tags/tag41.xml"/><Relationship Id="rId9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7.xml"/><Relationship Id="rId13" Type="http://schemas.openxmlformats.org/officeDocument/2006/relationships/diagramQuickStyle" Target="../diagrams/quickStyle1.xml"/><Relationship Id="rId3" Type="http://schemas.openxmlformats.org/officeDocument/2006/relationships/tags" Target="../tags/tag46.xml"/><Relationship Id="rId7" Type="http://schemas.openxmlformats.org/officeDocument/2006/relationships/slideLayout" Target="../slideLayouts/slideLayout7.xml"/><Relationship Id="rId12" Type="http://schemas.openxmlformats.org/officeDocument/2006/relationships/diagramLayout" Target="../diagrams/layout1.xml"/><Relationship Id="rId2" Type="http://schemas.openxmlformats.org/officeDocument/2006/relationships/tags" Target="../tags/tag45.xml"/><Relationship Id="rId1" Type="http://schemas.openxmlformats.org/officeDocument/2006/relationships/tags" Target="../tags/tag44.xml"/><Relationship Id="rId6" Type="http://schemas.openxmlformats.org/officeDocument/2006/relationships/tags" Target="../tags/tag49.xml"/><Relationship Id="rId11" Type="http://schemas.openxmlformats.org/officeDocument/2006/relationships/diagramData" Target="../diagrams/data1.xml"/><Relationship Id="rId5" Type="http://schemas.openxmlformats.org/officeDocument/2006/relationships/tags" Target="../tags/tag48.xml"/><Relationship Id="rId15" Type="http://schemas.microsoft.com/office/2007/relationships/diagramDrawing" Target="../diagrams/drawing1.xml"/><Relationship Id="rId10" Type="http://schemas.openxmlformats.org/officeDocument/2006/relationships/image" Target="../media/image4.png"/><Relationship Id="rId4" Type="http://schemas.openxmlformats.org/officeDocument/2006/relationships/tags" Target="../tags/tag47.xml"/><Relationship Id="rId9" Type="http://schemas.openxmlformats.org/officeDocument/2006/relationships/image" Target="../media/image3.png"/><Relationship Id="rId14" Type="http://schemas.openxmlformats.org/officeDocument/2006/relationships/diagramColors" Target="../diagrams/colors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8.xml"/><Relationship Id="rId3" Type="http://schemas.openxmlformats.org/officeDocument/2006/relationships/tags" Target="../tags/tag52.xml"/><Relationship Id="rId7" Type="http://schemas.openxmlformats.org/officeDocument/2006/relationships/slideLayout" Target="../slideLayouts/slideLayout7.xml"/><Relationship Id="rId2" Type="http://schemas.openxmlformats.org/officeDocument/2006/relationships/tags" Target="../tags/tag51.xml"/><Relationship Id="rId1" Type="http://schemas.openxmlformats.org/officeDocument/2006/relationships/tags" Target="../tags/tag50.xml"/><Relationship Id="rId6" Type="http://schemas.openxmlformats.org/officeDocument/2006/relationships/tags" Target="../tags/tag55.xml"/><Relationship Id="rId11" Type="http://schemas.openxmlformats.org/officeDocument/2006/relationships/image" Target="../media/image13.png"/><Relationship Id="rId5" Type="http://schemas.openxmlformats.org/officeDocument/2006/relationships/tags" Target="../tags/tag54.xml"/><Relationship Id="rId10" Type="http://schemas.openxmlformats.org/officeDocument/2006/relationships/image" Target="../media/image4.png"/><Relationship Id="rId4" Type="http://schemas.openxmlformats.org/officeDocument/2006/relationships/tags" Target="../tags/tag53.xml"/><Relationship Id="rId9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9.xml"/><Relationship Id="rId3" Type="http://schemas.openxmlformats.org/officeDocument/2006/relationships/tags" Target="../tags/tag58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5.png"/><Relationship Id="rId2" Type="http://schemas.openxmlformats.org/officeDocument/2006/relationships/tags" Target="../tags/tag57.xml"/><Relationship Id="rId1" Type="http://schemas.openxmlformats.org/officeDocument/2006/relationships/tags" Target="../tags/tag56.xml"/><Relationship Id="rId6" Type="http://schemas.openxmlformats.org/officeDocument/2006/relationships/tags" Target="../tags/tag61.xml"/><Relationship Id="rId11" Type="http://schemas.openxmlformats.org/officeDocument/2006/relationships/image" Target="../media/image14.png"/><Relationship Id="rId5" Type="http://schemas.openxmlformats.org/officeDocument/2006/relationships/tags" Target="../tags/tag60.xml"/><Relationship Id="rId10" Type="http://schemas.openxmlformats.org/officeDocument/2006/relationships/image" Target="../media/image4.png"/><Relationship Id="rId4" Type="http://schemas.openxmlformats.org/officeDocument/2006/relationships/tags" Target="../tags/tag59.xml"/><Relationship Id="rId9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0.xml"/><Relationship Id="rId3" Type="http://schemas.openxmlformats.org/officeDocument/2006/relationships/tags" Target="../tags/tag64.xml"/><Relationship Id="rId7" Type="http://schemas.openxmlformats.org/officeDocument/2006/relationships/slideLayout" Target="../slideLayouts/slideLayout7.xml"/><Relationship Id="rId2" Type="http://schemas.openxmlformats.org/officeDocument/2006/relationships/tags" Target="../tags/tag63.xml"/><Relationship Id="rId1" Type="http://schemas.openxmlformats.org/officeDocument/2006/relationships/tags" Target="../tags/tag62.xml"/><Relationship Id="rId6" Type="http://schemas.openxmlformats.org/officeDocument/2006/relationships/tags" Target="../tags/tag67.xml"/><Relationship Id="rId11" Type="http://schemas.openxmlformats.org/officeDocument/2006/relationships/image" Target="../media/image16.png"/><Relationship Id="rId5" Type="http://schemas.openxmlformats.org/officeDocument/2006/relationships/tags" Target="../tags/tag66.xml"/><Relationship Id="rId10" Type="http://schemas.openxmlformats.org/officeDocument/2006/relationships/image" Target="../media/image4.png"/><Relationship Id="rId4" Type="http://schemas.openxmlformats.org/officeDocument/2006/relationships/tags" Target="../tags/tag65.xml"/><Relationship Id="rId9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1.xml"/><Relationship Id="rId3" Type="http://schemas.openxmlformats.org/officeDocument/2006/relationships/tags" Target="../tags/tag70.xml"/><Relationship Id="rId7" Type="http://schemas.openxmlformats.org/officeDocument/2006/relationships/slideLayout" Target="../slideLayouts/slideLayout7.xml"/><Relationship Id="rId2" Type="http://schemas.openxmlformats.org/officeDocument/2006/relationships/tags" Target="../tags/tag69.xml"/><Relationship Id="rId1" Type="http://schemas.openxmlformats.org/officeDocument/2006/relationships/tags" Target="../tags/tag68.xml"/><Relationship Id="rId6" Type="http://schemas.openxmlformats.org/officeDocument/2006/relationships/tags" Target="../tags/tag73.xml"/><Relationship Id="rId11" Type="http://schemas.openxmlformats.org/officeDocument/2006/relationships/image" Target="../media/image17.png"/><Relationship Id="rId5" Type="http://schemas.openxmlformats.org/officeDocument/2006/relationships/tags" Target="../tags/tag72.xml"/><Relationship Id="rId10" Type="http://schemas.openxmlformats.org/officeDocument/2006/relationships/image" Target="../media/image4.png"/><Relationship Id="rId4" Type="http://schemas.openxmlformats.org/officeDocument/2006/relationships/tags" Target="../tags/tag71.xml"/><Relationship Id="rId9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2.xml"/><Relationship Id="rId3" Type="http://schemas.openxmlformats.org/officeDocument/2006/relationships/tags" Target="../tags/tag76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9.png"/><Relationship Id="rId2" Type="http://schemas.openxmlformats.org/officeDocument/2006/relationships/tags" Target="../tags/tag75.xml"/><Relationship Id="rId1" Type="http://schemas.openxmlformats.org/officeDocument/2006/relationships/tags" Target="../tags/tag74.xml"/><Relationship Id="rId6" Type="http://schemas.openxmlformats.org/officeDocument/2006/relationships/tags" Target="../tags/tag79.xml"/><Relationship Id="rId11" Type="http://schemas.openxmlformats.org/officeDocument/2006/relationships/image" Target="../media/image18.png"/><Relationship Id="rId5" Type="http://schemas.openxmlformats.org/officeDocument/2006/relationships/tags" Target="../tags/tag78.xml"/><Relationship Id="rId10" Type="http://schemas.openxmlformats.org/officeDocument/2006/relationships/image" Target="../media/image4.png"/><Relationship Id="rId4" Type="http://schemas.openxmlformats.org/officeDocument/2006/relationships/tags" Target="../tags/tag77.xml"/><Relationship Id="rId9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3.xml"/><Relationship Id="rId3" Type="http://schemas.openxmlformats.org/officeDocument/2006/relationships/tags" Target="../tags/tag82.xml"/><Relationship Id="rId7" Type="http://schemas.openxmlformats.org/officeDocument/2006/relationships/slideLayout" Target="../slideLayouts/slideLayout7.xml"/><Relationship Id="rId2" Type="http://schemas.openxmlformats.org/officeDocument/2006/relationships/tags" Target="../tags/tag81.xml"/><Relationship Id="rId1" Type="http://schemas.openxmlformats.org/officeDocument/2006/relationships/tags" Target="../tags/tag80.xml"/><Relationship Id="rId6" Type="http://schemas.openxmlformats.org/officeDocument/2006/relationships/tags" Target="../tags/tag85.xml"/><Relationship Id="rId5" Type="http://schemas.openxmlformats.org/officeDocument/2006/relationships/tags" Target="../tags/tag84.xml"/><Relationship Id="rId10" Type="http://schemas.openxmlformats.org/officeDocument/2006/relationships/image" Target="../media/image4.png"/><Relationship Id="rId4" Type="http://schemas.openxmlformats.org/officeDocument/2006/relationships/tags" Target="../tags/tag83.xml"/><Relationship Id="rId9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4.xml"/><Relationship Id="rId3" Type="http://schemas.openxmlformats.org/officeDocument/2006/relationships/tags" Target="../tags/tag88.xml"/><Relationship Id="rId7" Type="http://schemas.openxmlformats.org/officeDocument/2006/relationships/slideLayout" Target="../slideLayouts/slideLayout7.xml"/><Relationship Id="rId2" Type="http://schemas.openxmlformats.org/officeDocument/2006/relationships/tags" Target="../tags/tag87.xml"/><Relationship Id="rId1" Type="http://schemas.openxmlformats.org/officeDocument/2006/relationships/tags" Target="../tags/tag86.xml"/><Relationship Id="rId6" Type="http://schemas.openxmlformats.org/officeDocument/2006/relationships/tags" Target="../tags/tag91.xml"/><Relationship Id="rId11" Type="http://schemas.openxmlformats.org/officeDocument/2006/relationships/image" Target="../media/image20.png"/><Relationship Id="rId5" Type="http://schemas.openxmlformats.org/officeDocument/2006/relationships/tags" Target="../tags/tag90.xml"/><Relationship Id="rId10" Type="http://schemas.openxmlformats.org/officeDocument/2006/relationships/image" Target="../media/image4.png"/><Relationship Id="rId4" Type="http://schemas.openxmlformats.org/officeDocument/2006/relationships/tags" Target="../tags/tag89.xml"/><Relationship Id="rId9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5.xml"/><Relationship Id="rId3" Type="http://schemas.openxmlformats.org/officeDocument/2006/relationships/tags" Target="../tags/tag94.xml"/><Relationship Id="rId7" Type="http://schemas.openxmlformats.org/officeDocument/2006/relationships/slideLayout" Target="../slideLayouts/slideLayout7.xml"/><Relationship Id="rId2" Type="http://schemas.openxmlformats.org/officeDocument/2006/relationships/tags" Target="../tags/tag93.xml"/><Relationship Id="rId1" Type="http://schemas.openxmlformats.org/officeDocument/2006/relationships/tags" Target="../tags/tag92.xml"/><Relationship Id="rId6" Type="http://schemas.openxmlformats.org/officeDocument/2006/relationships/tags" Target="../tags/tag97.xml"/><Relationship Id="rId11" Type="http://schemas.openxmlformats.org/officeDocument/2006/relationships/image" Target="../media/image21.png"/><Relationship Id="rId5" Type="http://schemas.openxmlformats.org/officeDocument/2006/relationships/tags" Target="../tags/tag96.xml"/><Relationship Id="rId10" Type="http://schemas.openxmlformats.org/officeDocument/2006/relationships/image" Target="../media/image4.png"/><Relationship Id="rId4" Type="http://schemas.openxmlformats.org/officeDocument/2006/relationships/tags" Target="../tags/tag95.xml"/><Relationship Id="rId9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6.xml"/><Relationship Id="rId3" Type="http://schemas.openxmlformats.org/officeDocument/2006/relationships/tags" Target="../tags/tag100.xml"/><Relationship Id="rId7" Type="http://schemas.openxmlformats.org/officeDocument/2006/relationships/slideLayout" Target="../slideLayouts/slideLayout7.xml"/><Relationship Id="rId2" Type="http://schemas.openxmlformats.org/officeDocument/2006/relationships/tags" Target="../tags/tag99.xml"/><Relationship Id="rId1" Type="http://schemas.openxmlformats.org/officeDocument/2006/relationships/tags" Target="../tags/tag98.xml"/><Relationship Id="rId6" Type="http://schemas.openxmlformats.org/officeDocument/2006/relationships/tags" Target="../tags/tag103.xml"/><Relationship Id="rId11" Type="http://schemas.openxmlformats.org/officeDocument/2006/relationships/image" Target="../media/image22.png"/><Relationship Id="rId5" Type="http://schemas.openxmlformats.org/officeDocument/2006/relationships/tags" Target="../tags/tag102.xml"/><Relationship Id="rId10" Type="http://schemas.openxmlformats.org/officeDocument/2006/relationships/image" Target="../media/image4.png"/><Relationship Id="rId4" Type="http://schemas.openxmlformats.org/officeDocument/2006/relationships/tags" Target="../tags/tag101.xml"/><Relationship Id="rId9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7.xml"/><Relationship Id="rId3" Type="http://schemas.openxmlformats.org/officeDocument/2006/relationships/tags" Target="../tags/tag106.xml"/><Relationship Id="rId7" Type="http://schemas.openxmlformats.org/officeDocument/2006/relationships/slideLayout" Target="../slideLayouts/slideLayout7.xml"/><Relationship Id="rId2" Type="http://schemas.openxmlformats.org/officeDocument/2006/relationships/tags" Target="../tags/tag105.xml"/><Relationship Id="rId1" Type="http://schemas.openxmlformats.org/officeDocument/2006/relationships/tags" Target="../tags/tag104.xml"/><Relationship Id="rId6" Type="http://schemas.openxmlformats.org/officeDocument/2006/relationships/tags" Target="../tags/tag109.xml"/><Relationship Id="rId11" Type="http://schemas.openxmlformats.org/officeDocument/2006/relationships/image" Target="../media/image23.png"/><Relationship Id="rId5" Type="http://schemas.openxmlformats.org/officeDocument/2006/relationships/tags" Target="../tags/tag108.xml"/><Relationship Id="rId10" Type="http://schemas.openxmlformats.org/officeDocument/2006/relationships/image" Target="../media/image4.png"/><Relationship Id="rId4" Type="http://schemas.openxmlformats.org/officeDocument/2006/relationships/tags" Target="../tags/tag107.xml"/><Relationship Id="rId9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8.xml"/><Relationship Id="rId3" Type="http://schemas.openxmlformats.org/officeDocument/2006/relationships/tags" Target="../tags/tag112.xml"/><Relationship Id="rId7" Type="http://schemas.openxmlformats.org/officeDocument/2006/relationships/slideLayout" Target="../slideLayouts/slideLayout7.xml"/><Relationship Id="rId2" Type="http://schemas.openxmlformats.org/officeDocument/2006/relationships/tags" Target="../tags/tag111.xml"/><Relationship Id="rId1" Type="http://schemas.openxmlformats.org/officeDocument/2006/relationships/tags" Target="../tags/tag110.xml"/><Relationship Id="rId6" Type="http://schemas.openxmlformats.org/officeDocument/2006/relationships/tags" Target="../tags/tag115.xml"/><Relationship Id="rId11" Type="http://schemas.openxmlformats.org/officeDocument/2006/relationships/image" Target="../media/image24.png"/><Relationship Id="rId5" Type="http://schemas.openxmlformats.org/officeDocument/2006/relationships/tags" Target="../tags/tag114.xml"/><Relationship Id="rId10" Type="http://schemas.openxmlformats.org/officeDocument/2006/relationships/image" Target="../media/image4.png"/><Relationship Id="rId4" Type="http://schemas.openxmlformats.org/officeDocument/2006/relationships/tags" Target="../tags/tag113.xml"/><Relationship Id="rId9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9.xml"/><Relationship Id="rId3" Type="http://schemas.openxmlformats.org/officeDocument/2006/relationships/tags" Target="../tags/tag118.xml"/><Relationship Id="rId7" Type="http://schemas.openxmlformats.org/officeDocument/2006/relationships/slideLayout" Target="../slideLayouts/slideLayout7.xml"/><Relationship Id="rId2" Type="http://schemas.openxmlformats.org/officeDocument/2006/relationships/tags" Target="../tags/tag117.xml"/><Relationship Id="rId1" Type="http://schemas.openxmlformats.org/officeDocument/2006/relationships/tags" Target="../tags/tag116.xml"/><Relationship Id="rId6" Type="http://schemas.openxmlformats.org/officeDocument/2006/relationships/tags" Target="../tags/tag121.xml"/><Relationship Id="rId11" Type="http://schemas.openxmlformats.org/officeDocument/2006/relationships/image" Target="../media/image25.png"/><Relationship Id="rId5" Type="http://schemas.openxmlformats.org/officeDocument/2006/relationships/tags" Target="../tags/tag120.xml"/><Relationship Id="rId10" Type="http://schemas.openxmlformats.org/officeDocument/2006/relationships/image" Target="../media/image4.png"/><Relationship Id="rId4" Type="http://schemas.openxmlformats.org/officeDocument/2006/relationships/tags" Target="../tags/tag119.xml"/><Relationship Id="rId9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4347845" y="2352675"/>
            <a:ext cx="8117840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2E3C63"/>
                </a:solidFill>
                <a:latin typeface="微软雅黑" panose="020B0503020204020204" charset="-122"/>
                <a:cs typeface="微软雅黑" panose="020B0503020204020204" charset="-122"/>
              </a:rPr>
              <a:t>1. </a:t>
            </a:r>
            <a:r>
              <a:rPr lang="en-US" sz="3200" b="1" dirty="0">
                <a:solidFill>
                  <a:srgbClr val="2E3C63"/>
                </a:solidFill>
                <a:sym typeface="+mn-ea"/>
              </a:rPr>
              <a:t>AI Infrastructure Overview</a:t>
            </a:r>
            <a:endParaRPr lang="zh-CN" altLang="en-US" sz="3200" b="1" dirty="0">
              <a:solidFill>
                <a:srgbClr val="2E3C63"/>
              </a:solidFill>
              <a:latin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 sz="3200" b="1" dirty="0">
                <a:solidFill>
                  <a:srgbClr val="2E3C63"/>
                </a:solidFill>
                <a:latin typeface="微软雅黑" panose="020B0503020204020204" charset="-122"/>
                <a:cs typeface="微软雅黑" panose="020B0503020204020204" charset="-122"/>
              </a:rPr>
              <a:t>2. Foundations of AI Systems</a:t>
            </a:r>
          </a:p>
        </p:txBody>
      </p:sp>
      <p:sp>
        <p:nvSpPr>
          <p:cNvPr id="9" name="矩形 8"/>
          <p:cNvSpPr/>
          <p:nvPr/>
        </p:nvSpPr>
        <p:spPr>
          <a:xfrm>
            <a:off x="1721553" y="2352821"/>
            <a:ext cx="2413000" cy="70675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4000" b="1" cap="none" spc="0" dirty="0">
                <a:ln w="0"/>
                <a:solidFill>
                  <a:srgbClr val="2E3C63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OUTLINE</a:t>
            </a:r>
          </a:p>
        </p:txBody>
      </p:sp>
      <p:pic>
        <p:nvPicPr>
          <p:cNvPr id="6" name="图片 5" descr="剪影居中蓝 低版本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3" y="4564099"/>
            <a:ext cx="12190495" cy="3776196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8" name="图片 1" descr="国科大标准Logo横式一（蓝色）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354" y="272029"/>
            <a:ext cx="2992068" cy="62698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文本框 3"/>
          <p:cNvSpPr txBox="1"/>
          <p:nvPr/>
        </p:nvSpPr>
        <p:spPr>
          <a:xfrm>
            <a:off x="301625" y="1356360"/>
            <a:ext cx="11657330" cy="7023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CN" sz="4400" b="1" spc="200" dirty="0">
                <a:latin typeface="Times New Roman" panose="02020603050405020304" charset="0"/>
                <a:ea typeface="+mn-ea"/>
                <a:cs typeface="Times New Roman" panose="02020603050405020304" charset="0"/>
                <a:sym typeface="+mn-ea"/>
              </a:rPr>
              <a:t>AI Infrasturcture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3952840" y="4027805"/>
            <a:ext cx="41592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latin typeface="微软雅黑" panose="020B0503020204020204" charset="-122"/>
                <a:cs typeface="微软雅黑" panose="020B0503020204020204" charset="-122"/>
              </a:rPr>
              <a:t>马丽娅</a:t>
            </a:r>
            <a:r>
              <a:rPr lang="en-US" altLang="zh-CN" sz="1800" b="1" dirty="0">
                <a:latin typeface="微软雅黑" panose="020B0503020204020204" charset="-122"/>
                <a:cs typeface="微软雅黑" panose="020B0503020204020204" charset="-122"/>
              </a:rPr>
              <a:t>       2026.04.09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图片 2" descr="剪影蓝 低版本"/>
          <p:cNvPicPr>
            <a:picLocks noChangeAspect="1"/>
          </p:cNvPicPr>
          <p:nvPr/>
        </p:nvPicPr>
        <p:blipFill>
          <a:blip r:embed="rId8"/>
          <a:srcRect l="-8"/>
          <a:stretch>
            <a:fillRect/>
          </a:stretch>
        </p:blipFill>
        <p:spPr>
          <a:xfrm>
            <a:off x="1353" y="5378386"/>
            <a:ext cx="12190495" cy="2438099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1353" y="600"/>
            <a:ext cx="12190495" cy="840002"/>
          </a:xfrm>
          <a:prstGeom prst="rect">
            <a:avLst/>
          </a:prstGeom>
          <a:gradFill>
            <a:gsLst>
              <a:gs pos="0">
                <a:schemeClr val="bg1"/>
              </a:gs>
              <a:gs pos="50000">
                <a:srgbClr val="5399D4"/>
              </a:gs>
              <a:gs pos="100000">
                <a:srgbClr val="2E3C63"/>
              </a:gs>
            </a:gsLst>
          </a:gradFill>
          <a:effectLst/>
        </p:spPr>
        <p:style>
          <a:lnRef idx="0">
            <a:srgbClr val="FFFFFF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z="100" strike="noStrike" noProof="1"/>
          </a:p>
        </p:txBody>
      </p:sp>
      <p:pic>
        <p:nvPicPr>
          <p:cNvPr id="2" name="图片 1" descr="国科大标准Logo横式一（白色）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15971" y="187901"/>
            <a:ext cx="2167622" cy="457144"/>
          </a:xfrm>
          <a:prstGeom prst="rect">
            <a:avLst/>
          </a:prstGeom>
        </p:spPr>
      </p:pic>
      <p:sp>
        <p:nvSpPr>
          <p:cNvPr id="3078" name="文本框 3"/>
          <p:cNvSpPr txBox="1"/>
          <p:nvPr>
            <p:custDataLst>
              <p:tags r:id="rId3"/>
            </p:custDataLst>
          </p:nvPr>
        </p:nvSpPr>
        <p:spPr>
          <a:xfrm>
            <a:off x="46355" y="-46990"/>
            <a:ext cx="6935470" cy="919480"/>
          </a:xfrm>
          <a:prstGeom prst="rect">
            <a:avLst/>
          </a:prstGeom>
          <a:noFill/>
          <a:ln w="12700" cmpd="sng">
            <a:noFill/>
            <a:prstDash val="solid"/>
          </a:ln>
          <a:effectLst>
            <a:outerShdw dist="63500" dir="2700000" algn="tl" rotWithShape="0">
              <a:schemeClr val="bg1">
                <a:alpha val="100000"/>
              </a:schemeClr>
            </a:outerShdw>
          </a:effectLst>
        </p:spPr>
        <p:txBody>
          <a:bodyPr wrap="square" anchor="t" anchorCtr="0"/>
          <a:lstStyle/>
          <a:p>
            <a:pPr>
              <a:lnSpc>
                <a:spcPct val="130000"/>
              </a:lnSpc>
            </a:pPr>
            <a:r>
              <a:rPr lang="en-US" altLang="zh-CN" sz="4000" i="1" dirty="0">
                <a:ln w="19050">
                  <a:noFill/>
                </a:ln>
                <a:gradFill>
                  <a:gsLst>
                    <a:gs pos="39000">
                      <a:srgbClr val="5399D4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Bauhaus 93" panose="04030905020B02020C02" charset="0"/>
                <a:ea typeface="造字工房朗倩（非商用）常规体" charset="-122"/>
                <a:cs typeface="Bauhaus 93" panose="04030905020B02020C02" charset="0"/>
              </a:rPr>
              <a:t>Chapter1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1</a:t>
            </a:fld>
            <a:endParaRPr lang="zh-CN" altLang="en-US" strike="noStrike" noProof="1"/>
          </a:p>
        </p:txBody>
      </p:sp>
      <p:sp>
        <p:nvSpPr>
          <p:cNvPr id="7" name="标题 1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rm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endParaRPr lang="en-US" altLang="zh-CN"/>
          </a:p>
        </p:txBody>
      </p:sp>
      <p:sp>
        <p:nvSpPr>
          <p:cNvPr id="9" name="内容占位符 2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893302" y="2704782"/>
            <a:ext cx="10399395" cy="1448435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3600" b="1" dirty="0">
                <a:solidFill>
                  <a:srgbClr val="2E3C63"/>
                </a:solidFill>
                <a:sym typeface="+mn-ea"/>
              </a:rPr>
              <a:t>1.AI Infrastructure Overview</a:t>
            </a:r>
            <a:endParaRPr lang="en-US" altLang="zh-CN" sz="3600" b="1" dirty="0">
              <a:solidFill>
                <a:srgbClr val="2E3C63"/>
              </a:solidFill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图片 2" descr="剪影蓝 低版本"/>
          <p:cNvPicPr>
            <a:picLocks noChangeAspect="1"/>
          </p:cNvPicPr>
          <p:nvPr/>
        </p:nvPicPr>
        <p:blipFill>
          <a:blip r:embed="rId9"/>
          <a:srcRect l="-8"/>
          <a:stretch>
            <a:fillRect/>
          </a:stretch>
        </p:blipFill>
        <p:spPr>
          <a:xfrm>
            <a:off x="1353" y="5378386"/>
            <a:ext cx="12190495" cy="2438099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1353" y="600"/>
            <a:ext cx="12190495" cy="840002"/>
          </a:xfrm>
          <a:prstGeom prst="rect">
            <a:avLst/>
          </a:prstGeom>
          <a:gradFill>
            <a:gsLst>
              <a:gs pos="0">
                <a:schemeClr val="bg1"/>
              </a:gs>
              <a:gs pos="50000">
                <a:srgbClr val="5399D4"/>
              </a:gs>
              <a:gs pos="100000">
                <a:srgbClr val="2E3C63"/>
              </a:gs>
            </a:gsLst>
          </a:gradFill>
          <a:effectLst/>
        </p:spPr>
        <p:style>
          <a:lnRef idx="0">
            <a:srgbClr val="FFFFFF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z="100" strike="noStrike" noProof="1"/>
          </a:p>
        </p:txBody>
      </p:sp>
      <p:pic>
        <p:nvPicPr>
          <p:cNvPr id="2" name="图片 1" descr="国科大标准Logo横式一（白色）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815971" y="187901"/>
            <a:ext cx="2167622" cy="457144"/>
          </a:xfrm>
          <a:prstGeom prst="rect">
            <a:avLst/>
          </a:prstGeom>
        </p:spPr>
      </p:pic>
      <p:sp>
        <p:nvSpPr>
          <p:cNvPr id="3078" name="文本框 3"/>
          <p:cNvSpPr txBox="1"/>
          <p:nvPr>
            <p:custDataLst>
              <p:tags r:id="rId3"/>
            </p:custDataLst>
          </p:nvPr>
        </p:nvSpPr>
        <p:spPr>
          <a:xfrm>
            <a:off x="46644" y="-47231"/>
            <a:ext cx="850795" cy="919366"/>
          </a:xfrm>
          <a:prstGeom prst="rect">
            <a:avLst/>
          </a:prstGeom>
          <a:noFill/>
          <a:ln w="12700" cmpd="sng">
            <a:noFill/>
            <a:prstDash val="solid"/>
          </a:ln>
          <a:effectLst>
            <a:outerShdw dist="63500" dir="2700000" algn="tl" rotWithShape="0">
              <a:schemeClr val="bg1">
                <a:alpha val="100000"/>
              </a:schemeClr>
            </a:outerShdw>
          </a:effectLst>
        </p:spPr>
        <p:txBody>
          <a:bodyPr wrap="square" anchor="t" anchorCtr="0"/>
          <a:lstStyle/>
          <a:p>
            <a:pPr>
              <a:lnSpc>
                <a:spcPct val="130000"/>
              </a:lnSpc>
            </a:pPr>
            <a:r>
              <a:rPr lang="en-US" altLang="zh-CN" sz="4000" i="1">
                <a:ln w="19050">
                  <a:noFill/>
                </a:ln>
                <a:gradFill>
                  <a:gsLst>
                    <a:gs pos="39000">
                      <a:srgbClr val="5399D4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Bauhaus 93" panose="04030905020B02020C02" charset="0"/>
                <a:ea typeface="造字工房朗倩（非商用）常规体" charset="-122"/>
                <a:cs typeface="Bauhaus 93" panose="04030905020B02020C02" charset="0"/>
              </a:rPr>
              <a:t>03</a:t>
            </a:r>
          </a:p>
        </p:txBody>
      </p:sp>
      <p:sp>
        <p:nvSpPr>
          <p:cNvPr id="4" name="文本框 3"/>
          <p:cNvSpPr txBox="1"/>
          <p:nvPr>
            <p:custDataLst>
              <p:tags r:id="rId4"/>
            </p:custDataLst>
          </p:nvPr>
        </p:nvSpPr>
        <p:spPr>
          <a:xfrm>
            <a:off x="838236" y="-82168"/>
            <a:ext cx="8441283" cy="53777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800" dirty="0">
                <a:solidFill>
                  <a:srgbClr val="2E3C63"/>
                </a:solidFill>
              </a:rPr>
              <a:t>What is AI Infrastructure?</a:t>
            </a:r>
          </a:p>
          <a:p>
            <a:r>
              <a:rPr lang="zh-CN" altLang="en-US" sz="2800" dirty="0">
                <a:solidFill>
                  <a:srgbClr val="2E3C63"/>
                </a:solidFill>
              </a:rPr>
              <a:t>从算力底座到大模型核心竞争力</a:t>
            </a:r>
            <a:endParaRPr lang="en-US" altLang="zh-CN" sz="2800" dirty="0">
              <a:solidFill>
                <a:srgbClr val="2E3C63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2</a:t>
            </a:fld>
            <a:endParaRPr lang="zh-CN" altLang="en-US" strike="noStrike" noProof="1"/>
          </a:p>
        </p:txBody>
      </p:sp>
      <p:sp>
        <p:nvSpPr>
          <p:cNvPr id="7" name="标题 1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rm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endParaRPr lang="en-US" altLang="zh-CN"/>
          </a:p>
        </p:txBody>
      </p:sp>
      <p:sp>
        <p:nvSpPr>
          <p:cNvPr id="9" name="内容占位符 2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95155" y="1120763"/>
            <a:ext cx="4852093" cy="4425444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b="1" dirty="0">
              <a:solidFill>
                <a:schemeClr val="tx1"/>
              </a:solidFill>
            </a:endParaRPr>
          </a:p>
          <a:p>
            <a:r>
              <a:rPr lang="en-US" altLang="zh-CN" b="1" dirty="0">
                <a:solidFill>
                  <a:schemeClr val="tx1"/>
                </a:solidFill>
              </a:rPr>
              <a:t>AI Infra =</a:t>
            </a:r>
            <a:r>
              <a:rPr lang="zh-CN" altLang="en-US" b="1" dirty="0">
                <a:solidFill>
                  <a:schemeClr val="tx1"/>
                </a:solidFill>
              </a:rPr>
              <a:t>算力</a:t>
            </a:r>
            <a:r>
              <a:rPr lang="en-US" altLang="zh-CN" b="1" dirty="0">
                <a:solidFill>
                  <a:schemeClr val="tx1"/>
                </a:solidFill>
              </a:rPr>
              <a:t>+</a:t>
            </a:r>
            <a:r>
              <a:rPr lang="zh-CN" altLang="en-US" b="1" dirty="0">
                <a:solidFill>
                  <a:schemeClr val="tx1"/>
                </a:solidFill>
              </a:rPr>
              <a:t>存储</a:t>
            </a:r>
            <a:r>
              <a:rPr lang="en-US" altLang="zh-CN" b="1" dirty="0">
                <a:solidFill>
                  <a:schemeClr val="tx1"/>
                </a:solidFill>
              </a:rPr>
              <a:t>+</a:t>
            </a:r>
            <a:r>
              <a:rPr lang="zh-CN" altLang="en-US" b="1" dirty="0">
                <a:solidFill>
                  <a:schemeClr val="tx1"/>
                </a:solidFill>
              </a:rPr>
              <a:t>网络</a:t>
            </a:r>
            <a:r>
              <a:rPr lang="en-US" altLang="zh-CN" b="1" dirty="0">
                <a:solidFill>
                  <a:schemeClr val="tx1"/>
                </a:solidFill>
              </a:rPr>
              <a:t>+</a:t>
            </a:r>
            <a:r>
              <a:rPr lang="zh-CN" altLang="en-US" b="1" dirty="0">
                <a:solidFill>
                  <a:schemeClr val="tx1"/>
                </a:solidFill>
              </a:rPr>
              <a:t>软件系统</a:t>
            </a:r>
            <a:endParaRPr lang="en-US" altLang="zh-CN" b="1" dirty="0">
              <a:solidFill>
                <a:schemeClr val="tx1"/>
              </a:solidFill>
            </a:endParaRPr>
          </a:p>
          <a:p>
            <a:r>
              <a:rPr lang="zh-CN" altLang="en-US" b="1" dirty="0">
                <a:solidFill>
                  <a:schemeClr val="tx1"/>
                </a:solidFill>
              </a:rPr>
              <a:t>演进：</a:t>
            </a:r>
            <a:r>
              <a:rPr lang="en-US" altLang="zh-CN" b="1" dirty="0">
                <a:solidFill>
                  <a:schemeClr val="tx1"/>
                </a:solidFill>
              </a:rPr>
              <a:t>A full-stack system rather than a single component</a:t>
            </a:r>
          </a:p>
          <a:p>
            <a:pPr lvl="1"/>
            <a:r>
              <a:rPr lang="zh-CN" altLang="en-US" b="1" dirty="0">
                <a:solidFill>
                  <a:schemeClr val="tx1"/>
                </a:solidFill>
              </a:rPr>
              <a:t>工具 → 集群 → 万卡 → </a:t>
            </a:r>
            <a:r>
              <a:rPr lang="en-US" altLang="zh-CN" b="1" dirty="0">
                <a:solidFill>
                  <a:schemeClr val="tx1"/>
                </a:solidFill>
              </a:rPr>
              <a:t>AI</a:t>
            </a:r>
            <a:r>
              <a:rPr lang="zh-CN" altLang="en-US" b="1" dirty="0">
                <a:solidFill>
                  <a:schemeClr val="tx1"/>
                </a:solidFill>
              </a:rPr>
              <a:t>超算</a:t>
            </a:r>
            <a:endParaRPr lang="en-US" altLang="zh-CN" b="1" dirty="0">
              <a:solidFill>
                <a:schemeClr val="tx1"/>
              </a:solidFill>
            </a:endParaRPr>
          </a:p>
          <a:p>
            <a:r>
              <a:rPr lang="zh-CN" altLang="en-US" b="1" dirty="0">
                <a:solidFill>
                  <a:schemeClr val="tx1"/>
                </a:solidFill>
              </a:rPr>
              <a:t>行业趋势</a:t>
            </a:r>
            <a:endParaRPr lang="en-US" altLang="zh-CN" b="1" dirty="0">
              <a:solidFill>
                <a:schemeClr val="tx1"/>
              </a:solidFill>
            </a:endParaRPr>
          </a:p>
          <a:p>
            <a:pPr lvl="1"/>
            <a:r>
              <a:rPr lang="en-US" altLang="zh-CN" dirty="0">
                <a:solidFill>
                  <a:schemeClr val="tx1"/>
                </a:solidFill>
              </a:rPr>
              <a:t>Agent</a:t>
            </a:r>
            <a:r>
              <a:rPr lang="zh-CN" altLang="en-US" dirty="0">
                <a:solidFill>
                  <a:schemeClr val="tx1"/>
                </a:solidFill>
              </a:rPr>
              <a:t>（多任务调度）</a:t>
            </a:r>
            <a:endParaRPr lang="en-US" altLang="zh-CN" dirty="0">
              <a:solidFill>
                <a:schemeClr val="tx1"/>
              </a:solidFill>
            </a:endParaRPr>
          </a:p>
          <a:p>
            <a:pPr lvl="1"/>
            <a:r>
              <a:rPr lang="zh-CN" altLang="en-US" dirty="0">
                <a:solidFill>
                  <a:schemeClr val="tx1"/>
                </a:solidFill>
              </a:rPr>
              <a:t>多模态（统一模型）</a:t>
            </a:r>
            <a:endParaRPr lang="en-US" altLang="zh-CN" dirty="0">
              <a:solidFill>
                <a:schemeClr val="tx1"/>
              </a:solidFill>
            </a:endParaRPr>
          </a:p>
          <a:p>
            <a:pPr lvl="1"/>
            <a:r>
              <a:rPr lang="zh-CN" altLang="en-US" dirty="0">
                <a:solidFill>
                  <a:schemeClr val="tx1"/>
                </a:solidFill>
              </a:rPr>
              <a:t>轻量化（边缘部署）</a:t>
            </a:r>
            <a:endParaRPr lang="en-US" altLang="zh-CN" dirty="0">
              <a:solidFill>
                <a:schemeClr val="tx1"/>
              </a:solidFill>
            </a:endParaRPr>
          </a:p>
          <a:p>
            <a:pPr lvl="1"/>
            <a:r>
              <a:rPr lang="en-US" altLang="zh-CN" dirty="0">
                <a:solidFill>
                  <a:schemeClr val="tx1"/>
                </a:solidFill>
              </a:rPr>
              <a:t>HPC</a:t>
            </a:r>
            <a:r>
              <a:rPr lang="zh-CN" altLang="en-US" dirty="0">
                <a:solidFill>
                  <a:schemeClr val="tx1"/>
                </a:solidFill>
              </a:rPr>
              <a:t>融合（</a:t>
            </a:r>
            <a:r>
              <a:rPr lang="en-US" altLang="zh-CN" dirty="0">
                <a:solidFill>
                  <a:schemeClr val="tx1"/>
                </a:solidFill>
              </a:rPr>
              <a:t>AI</a:t>
            </a:r>
            <a:r>
              <a:rPr lang="zh-CN" altLang="en-US" dirty="0">
                <a:solidFill>
                  <a:schemeClr val="tx1"/>
                </a:solidFill>
              </a:rPr>
              <a:t>超算）</a:t>
            </a:r>
            <a:endParaRPr lang="en-US" altLang="zh-CN" dirty="0">
              <a:solidFill>
                <a:schemeClr val="tx1"/>
              </a:solidFill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88FF9F44-45A2-38E9-8C4B-1BB20AE03D6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03115" y="923370"/>
            <a:ext cx="7080478" cy="5210741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图片 2" descr="剪影蓝 低版本"/>
          <p:cNvPicPr>
            <a:picLocks noChangeAspect="1"/>
          </p:cNvPicPr>
          <p:nvPr/>
        </p:nvPicPr>
        <p:blipFill>
          <a:blip r:embed="rId10"/>
          <a:srcRect l="-8"/>
          <a:stretch>
            <a:fillRect/>
          </a:stretch>
        </p:blipFill>
        <p:spPr>
          <a:xfrm>
            <a:off x="1353" y="5378386"/>
            <a:ext cx="12190495" cy="2438099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1353" y="600"/>
            <a:ext cx="12190495" cy="840002"/>
          </a:xfrm>
          <a:prstGeom prst="rect">
            <a:avLst/>
          </a:prstGeom>
          <a:gradFill>
            <a:gsLst>
              <a:gs pos="0">
                <a:schemeClr val="bg1"/>
              </a:gs>
              <a:gs pos="50000">
                <a:srgbClr val="5399D4"/>
              </a:gs>
              <a:gs pos="100000">
                <a:srgbClr val="2E3C63"/>
              </a:gs>
            </a:gsLst>
          </a:gradFill>
          <a:effectLst/>
        </p:spPr>
        <p:style>
          <a:lnRef idx="0">
            <a:srgbClr val="FFFFFF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z="100" strike="noStrike" noProof="1"/>
          </a:p>
        </p:txBody>
      </p:sp>
      <p:pic>
        <p:nvPicPr>
          <p:cNvPr id="2" name="图片 1" descr="国科大标准Logo横式一（白色）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815971" y="187901"/>
            <a:ext cx="2167622" cy="457144"/>
          </a:xfrm>
          <a:prstGeom prst="rect">
            <a:avLst/>
          </a:prstGeom>
        </p:spPr>
      </p:pic>
      <p:sp>
        <p:nvSpPr>
          <p:cNvPr id="3078" name="文本框 3"/>
          <p:cNvSpPr txBox="1"/>
          <p:nvPr>
            <p:custDataLst>
              <p:tags r:id="rId3"/>
            </p:custDataLst>
          </p:nvPr>
        </p:nvSpPr>
        <p:spPr>
          <a:xfrm>
            <a:off x="46644" y="-47231"/>
            <a:ext cx="850795" cy="919366"/>
          </a:xfrm>
          <a:prstGeom prst="rect">
            <a:avLst/>
          </a:prstGeom>
          <a:noFill/>
          <a:ln w="12700" cmpd="sng">
            <a:noFill/>
            <a:prstDash val="solid"/>
          </a:ln>
          <a:effectLst>
            <a:outerShdw dist="63500" dir="2700000" algn="tl" rotWithShape="0">
              <a:schemeClr val="bg1">
                <a:alpha val="100000"/>
              </a:schemeClr>
            </a:outerShdw>
          </a:effectLst>
        </p:spPr>
        <p:txBody>
          <a:bodyPr wrap="square" anchor="t" anchorCtr="0"/>
          <a:lstStyle/>
          <a:p>
            <a:pPr>
              <a:lnSpc>
                <a:spcPct val="130000"/>
              </a:lnSpc>
            </a:pPr>
            <a:r>
              <a:rPr lang="en-US" altLang="zh-CN" sz="4000" i="1">
                <a:ln w="19050">
                  <a:noFill/>
                </a:ln>
                <a:gradFill>
                  <a:gsLst>
                    <a:gs pos="39000">
                      <a:srgbClr val="5399D4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Bauhaus 93" panose="04030905020B02020C02" charset="0"/>
                <a:ea typeface="造字工房朗倩（非商用）常规体" charset="-122"/>
                <a:cs typeface="Bauhaus 93" panose="04030905020B02020C02" charset="0"/>
              </a:rPr>
              <a:t>03</a:t>
            </a:r>
          </a:p>
        </p:txBody>
      </p:sp>
      <p:sp>
        <p:nvSpPr>
          <p:cNvPr id="4" name="文本框 3"/>
          <p:cNvSpPr txBox="1"/>
          <p:nvPr>
            <p:custDataLst>
              <p:tags r:id="rId4"/>
            </p:custDataLst>
          </p:nvPr>
        </p:nvSpPr>
        <p:spPr>
          <a:xfrm>
            <a:off x="812148" y="172029"/>
            <a:ext cx="8441283" cy="53777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800" dirty="0">
                <a:solidFill>
                  <a:srgbClr val="2E3C63"/>
                </a:solidFill>
              </a:rPr>
              <a:t>Why AI Infrastructure?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3</a:t>
            </a:fld>
            <a:endParaRPr lang="zh-CN" altLang="en-US" strike="noStrike" noProof="1"/>
          </a:p>
        </p:txBody>
      </p:sp>
      <p:sp>
        <p:nvSpPr>
          <p:cNvPr id="7" name="标题 1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rm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endParaRPr lang="en-US" altLang="zh-CN"/>
          </a:p>
        </p:txBody>
      </p:sp>
      <p:sp>
        <p:nvSpPr>
          <p:cNvPr id="9" name="内容占位符 2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472041" y="872135"/>
            <a:ext cx="10969200" cy="1753312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solidFill>
                  <a:schemeClr val="tx1"/>
                </a:solidFill>
              </a:rPr>
              <a:t>Scaling Law:</a:t>
            </a:r>
          </a:p>
          <a:p>
            <a:pPr lvl="1"/>
            <a:r>
              <a:rPr lang="zh-CN" altLang="en-US" dirty="0">
                <a:solidFill>
                  <a:schemeClr val="tx1"/>
                </a:solidFill>
              </a:rPr>
              <a:t>大模型通过预测下一个 </a:t>
            </a:r>
            <a:r>
              <a:rPr lang="en-US" altLang="zh-CN" dirty="0">
                <a:solidFill>
                  <a:schemeClr val="tx1"/>
                </a:solidFill>
              </a:rPr>
              <a:t>token</a:t>
            </a:r>
            <a:r>
              <a:rPr lang="zh-CN" altLang="en-US" dirty="0">
                <a:solidFill>
                  <a:schemeClr val="tx1"/>
                </a:solidFill>
              </a:rPr>
              <a:t>进行训练</a:t>
            </a:r>
            <a:endParaRPr lang="en-US" altLang="zh-CN" dirty="0">
              <a:solidFill>
                <a:schemeClr val="tx1"/>
              </a:solidFill>
            </a:endParaRPr>
          </a:p>
          <a:p>
            <a:pPr lvl="1"/>
            <a:r>
              <a:rPr lang="zh-CN" altLang="en-US" dirty="0">
                <a:solidFill>
                  <a:schemeClr val="tx1"/>
                </a:solidFill>
              </a:rPr>
              <a:t>用交叉熵 </a:t>
            </a:r>
            <a:r>
              <a:rPr lang="en-US" altLang="zh-CN" dirty="0">
                <a:solidFill>
                  <a:schemeClr val="tx1"/>
                </a:solidFill>
              </a:rPr>
              <a:t>Loss </a:t>
            </a:r>
            <a:r>
              <a:rPr lang="zh-CN" altLang="en-US" dirty="0">
                <a:solidFill>
                  <a:schemeClr val="tx1"/>
                </a:solidFill>
              </a:rPr>
              <a:t>衡量性能（越低越好）</a:t>
            </a:r>
            <a:endParaRPr lang="en-US" altLang="zh-CN" dirty="0">
              <a:solidFill>
                <a:schemeClr val="tx1"/>
              </a:solidFill>
            </a:endParaRPr>
          </a:p>
          <a:p>
            <a:pPr lvl="1"/>
            <a:r>
              <a:rPr lang="en-US" altLang="zh-CN" dirty="0">
                <a:solidFill>
                  <a:schemeClr val="tx1"/>
                </a:solidFill>
              </a:rPr>
              <a:t>Scaling Law</a:t>
            </a:r>
            <a:r>
              <a:rPr lang="zh-CN" altLang="en-US" dirty="0">
                <a:solidFill>
                  <a:schemeClr val="tx1"/>
                </a:solidFill>
              </a:rPr>
              <a:t>：性能随资源呈幂律提升</a:t>
            </a:r>
            <a:r>
              <a:rPr lang="en-US" altLang="zh-CN" dirty="0">
                <a:solidFill>
                  <a:schemeClr val="tx1"/>
                </a:solidFill>
              </a:rPr>
              <a:t>Large models require massive computation resources</a:t>
            </a:r>
            <a:endParaRPr lang="zh-CN" altLang="en-US" dirty="0"/>
          </a:p>
          <a:p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697CDA48-3C5D-04A5-7C2D-523160C017A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950835" y="2586070"/>
            <a:ext cx="7485714" cy="2323809"/>
          </a:xfrm>
          <a:prstGeom prst="rect">
            <a:avLst/>
          </a:prstGeom>
        </p:spPr>
      </p:pic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66E5D719-0E23-97E6-8BAB-5C5B7B13EC22}"/>
              </a:ext>
            </a:extLst>
          </p:cNvPr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410652" y="4975128"/>
            <a:ext cx="10969200" cy="1753312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solidFill>
                  <a:schemeClr val="tx1"/>
                </a:solidFill>
              </a:rPr>
              <a:t>幂律关系（核心）性能提升是可预测的→ 可以提前估算资源需求 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不平衡会浪费资源只加模型，不加数据 → 过拟合只加数据，不加模型 → 学不动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图片 2" descr="剪影蓝 低版本"/>
          <p:cNvPicPr>
            <a:picLocks noChangeAspect="1"/>
          </p:cNvPicPr>
          <p:nvPr/>
        </p:nvPicPr>
        <p:blipFill>
          <a:blip r:embed="rId9"/>
          <a:srcRect l="-8"/>
          <a:stretch>
            <a:fillRect/>
          </a:stretch>
        </p:blipFill>
        <p:spPr>
          <a:xfrm>
            <a:off x="1353" y="5378386"/>
            <a:ext cx="12190495" cy="2438099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1353" y="600"/>
            <a:ext cx="12190495" cy="840002"/>
          </a:xfrm>
          <a:prstGeom prst="rect">
            <a:avLst/>
          </a:prstGeom>
          <a:gradFill>
            <a:gsLst>
              <a:gs pos="0">
                <a:schemeClr val="bg1"/>
              </a:gs>
              <a:gs pos="50000">
                <a:srgbClr val="5399D4"/>
              </a:gs>
              <a:gs pos="100000">
                <a:srgbClr val="2E3C63"/>
              </a:gs>
            </a:gsLst>
          </a:gradFill>
          <a:effectLst/>
        </p:spPr>
        <p:style>
          <a:lnRef idx="0">
            <a:srgbClr val="FFFFFF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z="100" strike="noStrike" noProof="1"/>
          </a:p>
        </p:txBody>
      </p:sp>
      <p:pic>
        <p:nvPicPr>
          <p:cNvPr id="2" name="图片 1" descr="国科大标准Logo横式一（白色）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815971" y="187901"/>
            <a:ext cx="2167622" cy="457144"/>
          </a:xfrm>
          <a:prstGeom prst="rect">
            <a:avLst/>
          </a:prstGeom>
        </p:spPr>
      </p:pic>
      <p:sp>
        <p:nvSpPr>
          <p:cNvPr id="3078" name="文本框 3"/>
          <p:cNvSpPr txBox="1"/>
          <p:nvPr>
            <p:custDataLst>
              <p:tags r:id="rId3"/>
            </p:custDataLst>
          </p:nvPr>
        </p:nvSpPr>
        <p:spPr>
          <a:xfrm>
            <a:off x="46644" y="-47231"/>
            <a:ext cx="850795" cy="919366"/>
          </a:xfrm>
          <a:prstGeom prst="rect">
            <a:avLst/>
          </a:prstGeom>
          <a:noFill/>
          <a:ln w="12700" cmpd="sng">
            <a:noFill/>
            <a:prstDash val="solid"/>
          </a:ln>
          <a:effectLst>
            <a:outerShdw dist="63500" dir="2700000" algn="tl" rotWithShape="0">
              <a:schemeClr val="bg1">
                <a:alpha val="100000"/>
              </a:schemeClr>
            </a:outerShdw>
          </a:effectLst>
        </p:spPr>
        <p:txBody>
          <a:bodyPr wrap="square" anchor="t" anchorCtr="0"/>
          <a:lstStyle/>
          <a:p>
            <a:pPr>
              <a:lnSpc>
                <a:spcPct val="130000"/>
              </a:lnSpc>
            </a:pPr>
            <a:r>
              <a:rPr lang="en-US" altLang="zh-CN" sz="4000" i="1">
                <a:ln w="19050">
                  <a:noFill/>
                </a:ln>
                <a:gradFill>
                  <a:gsLst>
                    <a:gs pos="39000">
                      <a:srgbClr val="5399D4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Bauhaus 93" panose="04030905020B02020C02" charset="0"/>
                <a:ea typeface="造字工房朗倩（非商用）常规体" charset="-122"/>
                <a:cs typeface="Bauhaus 93" panose="04030905020B02020C02" charset="0"/>
              </a:rPr>
              <a:t>03</a:t>
            </a:r>
          </a:p>
        </p:txBody>
      </p:sp>
      <p:sp>
        <p:nvSpPr>
          <p:cNvPr id="4" name="文本框 3"/>
          <p:cNvSpPr txBox="1"/>
          <p:nvPr>
            <p:custDataLst>
              <p:tags r:id="rId4"/>
            </p:custDataLst>
          </p:nvPr>
        </p:nvSpPr>
        <p:spPr>
          <a:xfrm>
            <a:off x="812148" y="172029"/>
            <a:ext cx="8441283" cy="53777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800" dirty="0">
                <a:solidFill>
                  <a:srgbClr val="2E3C63"/>
                </a:solidFill>
              </a:rPr>
              <a:t>AI System Lifecycle</a:t>
            </a:r>
            <a:r>
              <a:rPr lang="zh-CN" altLang="en-US" sz="2800" dirty="0">
                <a:solidFill>
                  <a:srgbClr val="2E3C63"/>
                </a:solidFill>
              </a:rPr>
              <a:t>：</a:t>
            </a:r>
            <a:r>
              <a:rPr lang="zh-CN" altLang="en-US" sz="2800" dirty="0"/>
              <a:t>从数据到应用的完整链路</a:t>
            </a:r>
            <a:endParaRPr lang="en-US" altLang="zh-CN" sz="2800" dirty="0">
              <a:solidFill>
                <a:srgbClr val="2E3C63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4</a:t>
            </a:fld>
            <a:endParaRPr lang="zh-CN" altLang="en-US" strike="noStrike" noProof="1"/>
          </a:p>
        </p:txBody>
      </p:sp>
      <p:sp>
        <p:nvSpPr>
          <p:cNvPr id="7" name="标题 1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rm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endParaRPr lang="en-US" altLang="zh-CN"/>
          </a:p>
        </p:txBody>
      </p:sp>
      <p:sp>
        <p:nvSpPr>
          <p:cNvPr id="9" name="内容占位符 2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46644" y="1634057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dirty="0">
                <a:solidFill>
                  <a:schemeClr val="tx1"/>
                </a:solidFill>
              </a:rPr>
              <a:t>Data → Training → Model → Inference → Application</a:t>
            </a:r>
          </a:p>
          <a:p>
            <a:pPr lvl="1"/>
            <a:r>
              <a:rPr lang="en-US" altLang="zh-CN" sz="1800" dirty="0">
                <a:solidFill>
                  <a:schemeClr val="tx1"/>
                </a:solidFill>
              </a:rPr>
              <a:t>Data</a:t>
            </a:r>
            <a:r>
              <a:rPr lang="zh-CN" altLang="en-US" sz="1800" dirty="0">
                <a:solidFill>
                  <a:schemeClr val="tx1"/>
                </a:solidFill>
              </a:rPr>
              <a:t>：数据质量 </a:t>
            </a:r>
            <a:r>
              <a:rPr lang="en-US" altLang="zh-CN" sz="1800" dirty="0">
                <a:solidFill>
                  <a:schemeClr val="tx1"/>
                </a:solidFill>
              </a:rPr>
              <a:t>&amp; </a:t>
            </a:r>
            <a:r>
              <a:rPr lang="zh-CN" altLang="en-US" sz="1800" dirty="0">
                <a:solidFill>
                  <a:schemeClr val="tx1"/>
                </a:solidFill>
              </a:rPr>
              <a:t>规模</a:t>
            </a:r>
            <a:endParaRPr lang="en-US" altLang="zh-CN" sz="1800" dirty="0">
              <a:solidFill>
                <a:schemeClr val="tx1"/>
              </a:solidFill>
            </a:endParaRPr>
          </a:p>
          <a:p>
            <a:pPr lvl="1"/>
            <a:r>
              <a:rPr lang="en-US" altLang="zh-CN" sz="1800" dirty="0">
                <a:solidFill>
                  <a:schemeClr val="tx1"/>
                </a:solidFill>
              </a:rPr>
              <a:t>Training</a:t>
            </a:r>
            <a:r>
              <a:rPr lang="zh-CN" altLang="en-US" sz="1800" dirty="0">
                <a:solidFill>
                  <a:schemeClr val="tx1"/>
                </a:solidFill>
              </a:rPr>
              <a:t>：算力 </a:t>
            </a:r>
            <a:r>
              <a:rPr lang="en-US" altLang="zh-CN" sz="1800" dirty="0">
                <a:solidFill>
                  <a:schemeClr val="tx1"/>
                </a:solidFill>
              </a:rPr>
              <a:t>&amp; </a:t>
            </a:r>
            <a:r>
              <a:rPr lang="zh-CN" altLang="en-US" sz="1800" dirty="0">
                <a:solidFill>
                  <a:schemeClr val="tx1"/>
                </a:solidFill>
              </a:rPr>
              <a:t>通信</a:t>
            </a:r>
            <a:endParaRPr lang="en-US" altLang="zh-CN" sz="1800" dirty="0">
              <a:solidFill>
                <a:schemeClr val="tx1"/>
              </a:solidFill>
            </a:endParaRPr>
          </a:p>
          <a:p>
            <a:pPr lvl="1"/>
            <a:r>
              <a:rPr lang="en-US" altLang="zh-CN" sz="1800" dirty="0">
                <a:solidFill>
                  <a:schemeClr val="tx1"/>
                </a:solidFill>
              </a:rPr>
              <a:t>Inference</a:t>
            </a:r>
            <a:r>
              <a:rPr lang="zh-CN" altLang="en-US" sz="1800" dirty="0">
                <a:solidFill>
                  <a:schemeClr val="tx1"/>
                </a:solidFill>
              </a:rPr>
              <a:t>：延迟 </a:t>
            </a:r>
            <a:r>
              <a:rPr lang="en-US" altLang="zh-CN" sz="1800" dirty="0">
                <a:solidFill>
                  <a:schemeClr val="tx1"/>
                </a:solidFill>
              </a:rPr>
              <a:t>&amp; </a:t>
            </a:r>
            <a:r>
              <a:rPr lang="zh-CN" altLang="en-US" sz="1800" dirty="0">
                <a:solidFill>
                  <a:schemeClr val="tx1"/>
                </a:solidFill>
              </a:rPr>
              <a:t>成本</a:t>
            </a:r>
            <a:endParaRPr lang="en-US" altLang="zh-CN" sz="1800" dirty="0">
              <a:solidFill>
                <a:schemeClr val="tx1"/>
              </a:solidFill>
            </a:endParaRPr>
          </a:p>
          <a:p>
            <a:pPr lvl="1"/>
            <a:r>
              <a:rPr lang="en-US" altLang="zh-CN" sz="1800" dirty="0">
                <a:solidFill>
                  <a:schemeClr val="tx1"/>
                </a:solidFill>
              </a:rPr>
              <a:t>Application</a:t>
            </a:r>
            <a:r>
              <a:rPr lang="zh-CN" altLang="en-US" sz="1800" dirty="0">
                <a:solidFill>
                  <a:schemeClr val="tx1"/>
                </a:solidFill>
              </a:rPr>
              <a:t>：稳定性 </a:t>
            </a:r>
            <a:r>
              <a:rPr lang="en-US" altLang="zh-CN" sz="1800" dirty="0">
                <a:solidFill>
                  <a:schemeClr val="tx1"/>
                </a:solidFill>
              </a:rPr>
              <a:t>&amp; </a:t>
            </a:r>
            <a:r>
              <a:rPr lang="zh-CN" altLang="en-US" sz="1800" dirty="0">
                <a:solidFill>
                  <a:schemeClr val="tx1"/>
                </a:solidFill>
              </a:rPr>
              <a:t>体验</a:t>
            </a:r>
            <a:endParaRPr lang="en-US" altLang="zh-CN" sz="1800" dirty="0">
              <a:solidFill>
                <a:schemeClr val="tx1"/>
              </a:solidFill>
            </a:endParaRPr>
          </a:p>
          <a:p>
            <a:pPr marL="457200" lvl="1" indent="0">
              <a:buNone/>
            </a:pPr>
            <a:r>
              <a:rPr lang="zh-CN" altLang="en-US" sz="1800" dirty="0">
                <a:solidFill>
                  <a:schemeClr val="tx1"/>
                </a:solidFill>
              </a:rPr>
              <a:t>不同阶段的问题，本质都依赖 </a:t>
            </a:r>
            <a:r>
              <a:rPr lang="en-US" altLang="zh-CN" sz="1800" dirty="0">
                <a:solidFill>
                  <a:schemeClr val="tx1"/>
                </a:solidFill>
              </a:rPr>
              <a:t>Infra </a:t>
            </a:r>
            <a:r>
              <a:rPr lang="zh-CN" altLang="en-US" sz="1800" dirty="0">
                <a:solidFill>
                  <a:schemeClr val="tx1"/>
                </a:solidFill>
              </a:rPr>
              <a:t>解决</a:t>
            </a:r>
            <a:endParaRPr lang="en-US" altLang="zh-CN" sz="1800" dirty="0">
              <a:solidFill>
                <a:schemeClr val="tx1"/>
              </a:solidFill>
            </a:endParaRPr>
          </a:p>
          <a:p>
            <a:pPr marL="457200" lvl="1" indent="0">
              <a:buNone/>
            </a:pPr>
            <a:endParaRPr lang="en-US" altLang="zh-CN" sz="1800" dirty="0">
              <a:solidFill>
                <a:schemeClr val="tx1"/>
              </a:solidFill>
            </a:endParaRPr>
          </a:p>
          <a:p>
            <a:r>
              <a:rPr lang="en-US" altLang="zh-CN" sz="2000" dirty="0">
                <a:solidFill>
                  <a:schemeClr val="tx1"/>
                </a:solidFill>
              </a:rPr>
              <a:t>AI Infra </a:t>
            </a:r>
            <a:r>
              <a:rPr lang="zh-CN" altLang="en-US" sz="2000" dirty="0">
                <a:solidFill>
                  <a:schemeClr val="tx1"/>
                </a:solidFill>
              </a:rPr>
              <a:t>贯穿 数据 → 训练 → 推理 → 应用 全流程</a:t>
            </a: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D547BF6B-33A9-B3E6-F61D-CAC490E234BF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3402"/>
          <a:stretch>
            <a:fillRect/>
          </a:stretch>
        </p:blipFill>
        <p:spPr>
          <a:xfrm>
            <a:off x="7266349" y="1406967"/>
            <a:ext cx="4717244" cy="2637533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F3070909-EE4F-64B1-B3CD-72A43865B58A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394"/>
          <a:stretch>
            <a:fillRect/>
          </a:stretch>
        </p:blipFill>
        <p:spPr>
          <a:xfrm>
            <a:off x="7266349" y="4000424"/>
            <a:ext cx="4735742" cy="2301743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图片 2" descr="剪影蓝 低版本"/>
          <p:cNvPicPr>
            <a:picLocks noChangeAspect="1"/>
          </p:cNvPicPr>
          <p:nvPr/>
        </p:nvPicPr>
        <p:blipFill>
          <a:blip r:embed="rId10"/>
          <a:srcRect l="-8"/>
          <a:stretch>
            <a:fillRect/>
          </a:stretch>
        </p:blipFill>
        <p:spPr>
          <a:xfrm>
            <a:off x="1353" y="5378386"/>
            <a:ext cx="12190495" cy="2438099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1353" y="600"/>
            <a:ext cx="12190495" cy="840002"/>
          </a:xfrm>
          <a:prstGeom prst="rect">
            <a:avLst/>
          </a:prstGeom>
          <a:gradFill>
            <a:gsLst>
              <a:gs pos="0">
                <a:schemeClr val="bg1"/>
              </a:gs>
              <a:gs pos="50000">
                <a:srgbClr val="5399D4"/>
              </a:gs>
              <a:gs pos="100000">
                <a:srgbClr val="2E3C63"/>
              </a:gs>
            </a:gsLst>
          </a:gradFill>
          <a:effectLst/>
        </p:spPr>
        <p:style>
          <a:lnRef idx="0">
            <a:srgbClr val="FFFFFF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z="100" strike="noStrike" noProof="1"/>
          </a:p>
        </p:txBody>
      </p:sp>
      <p:pic>
        <p:nvPicPr>
          <p:cNvPr id="2" name="图片 1" descr="国科大标准Logo横式一（白色）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815971" y="187901"/>
            <a:ext cx="2167622" cy="457144"/>
          </a:xfrm>
          <a:prstGeom prst="rect">
            <a:avLst/>
          </a:prstGeom>
        </p:spPr>
      </p:pic>
      <p:sp>
        <p:nvSpPr>
          <p:cNvPr id="3078" name="文本框 3"/>
          <p:cNvSpPr txBox="1"/>
          <p:nvPr>
            <p:custDataLst>
              <p:tags r:id="rId3"/>
            </p:custDataLst>
          </p:nvPr>
        </p:nvSpPr>
        <p:spPr>
          <a:xfrm>
            <a:off x="46644" y="-47231"/>
            <a:ext cx="850795" cy="919366"/>
          </a:xfrm>
          <a:prstGeom prst="rect">
            <a:avLst/>
          </a:prstGeom>
          <a:noFill/>
          <a:ln w="12700" cmpd="sng">
            <a:noFill/>
            <a:prstDash val="solid"/>
          </a:ln>
          <a:effectLst>
            <a:outerShdw dist="63500" dir="2700000" algn="tl" rotWithShape="0">
              <a:schemeClr val="bg1">
                <a:alpha val="100000"/>
              </a:schemeClr>
            </a:outerShdw>
          </a:effectLst>
        </p:spPr>
        <p:txBody>
          <a:bodyPr wrap="square" anchor="t" anchorCtr="0"/>
          <a:lstStyle/>
          <a:p>
            <a:pPr>
              <a:lnSpc>
                <a:spcPct val="130000"/>
              </a:lnSpc>
            </a:pPr>
            <a:r>
              <a:rPr lang="en-US" altLang="zh-CN" sz="4000" i="1">
                <a:ln w="19050">
                  <a:noFill/>
                </a:ln>
                <a:gradFill>
                  <a:gsLst>
                    <a:gs pos="39000">
                      <a:srgbClr val="5399D4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Bauhaus 93" panose="04030905020B02020C02" charset="0"/>
                <a:ea typeface="造字工房朗倩（非商用）常规体" charset="-122"/>
                <a:cs typeface="Bauhaus 93" panose="04030905020B02020C02" charset="0"/>
              </a:rPr>
              <a:t>03</a:t>
            </a:r>
          </a:p>
        </p:txBody>
      </p:sp>
      <p:sp>
        <p:nvSpPr>
          <p:cNvPr id="4" name="文本框 3"/>
          <p:cNvSpPr txBox="1"/>
          <p:nvPr>
            <p:custDataLst>
              <p:tags r:id="rId4"/>
            </p:custDataLst>
          </p:nvPr>
        </p:nvSpPr>
        <p:spPr>
          <a:xfrm>
            <a:off x="812148" y="172029"/>
            <a:ext cx="8441283" cy="53777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800" dirty="0">
                <a:solidFill>
                  <a:srgbClr val="2E3C63"/>
                </a:solidFill>
              </a:rPr>
              <a:t>Training vs Inference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5</a:t>
            </a:fld>
            <a:endParaRPr lang="zh-CN" altLang="en-US" strike="noStrike" noProof="1"/>
          </a:p>
        </p:txBody>
      </p:sp>
      <p:sp>
        <p:nvSpPr>
          <p:cNvPr id="7" name="标题 1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rm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endParaRPr lang="en-US" altLang="zh-CN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4ABCB480-FA38-74FA-3BD7-468C29C1D534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854"/>
          <a:stretch>
            <a:fillRect/>
          </a:stretch>
        </p:blipFill>
        <p:spPr>
          <a:xfrm>
            <a:off x="2963079" y="1560479"/>
            <a:ext cx="5790965" cy="3268441"/>
          </a:xfrm>
          <a:prstGeom prst="rect">
            <a:avLst/>
          </a:prstGeom>
        </p:spPr>
      </p:pic>
      <p:sp>
        <p:nvSpPr>
          <p:cNvPr id="14" name="内容占位符 2">
            <a:extLst>
              <a:ext uri="{FF2B5EF4-FFF2-40B4-BE49-F238E27FC236}">
                <a16:creationId xmlns:a16="http://schemas.microsoft.com/office/drawing/2014/main" id="{C97108B8-4762-45E6-BF7E-F02C874C1271}"/>
              </a:ext>
            </a:extLst>
          </p:cNvPr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472041" y="1486656"/>
            <a:ext cx="2925156" cy="4333595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dirty="0">
                <a:solidFill>
                  <a:schemeClr val="tx1"/>
                </a:solidFill>
              </a:rPr>
              <a:t>Training</a:t>
            </a:r>
            <a:r>
              <a:rPr lang="zh-CN" altLang="en-US" dirty="0">
                <a:solidFill>
                  <a:schemeClr val="tx1"/>
                </a:solidFill>
              </a:rPr>
              <a:t>（训练）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特点：</a:t>
            </a:r>
            <a:endParaRPr lang="en-US" altLang="zh-CN" dirty="0">
              <a:solidFill>
                <a:schemeClr val="tx1"/>
              </a:solidFill>
            </a:endParaRPr>
          </a:p>
          <a:p>
            <a:pPr lvl="1"/>
            <a:r>
              <a:rPr lang="zh-CN" altLang="en-US" sz="1400" dirty="0">
                <a:solidFill>
                  <a:schemeClr val="tx1"/>
                </a:solidFill>
              </a:rPr>
              <a:t>超大规模计算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lvl="1"/>
            <a:r>
              <a:rPr lang="zh-CN" altLang="en-US" sz="1400" dirty="0">
                <a:solidFill>
                  <a:schemeClr val="tx1"/>
                </a:solidFill>
              </a:rPr>
              <a:t>分布式并行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lvl="1"/>
            <a:r>
              <a:rPr lang="zh-CN" altLang="en-US" sz="1400" dirty="0">
                <a:solidFill>
                  <a:schemeClr val="tx1"/>
                </a:solidFill>
              </a:rPr>
              <a:t>训练周期</a:t>
            </a:r>
            <a:endParaRPr lang="en-US" altLang="zh-CN" sz="1800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核心问题</a:t>
            </a:r>
            <a:endParaRPr lang="en-US" altLang="zh-CN" dirty="0">
              <a:solidFill>
                <a:schemeClr val="tx1"/>
              </a:solidFill>
            </a:endParaRPr>
          </a:p>
          <a:p>
            <a:pPr lvl="1"/>
            <a:r>
              <a:rPr lang="zh-CN" altLang="en-US" dirty="0">
                <a:solidFill>
                  <a:schemeClr val="tx1"/>
                </a:solidFill>
              </a:rPr>
              <a:t>算力利用率</a:t>
            </a:r>
            <a:endParaRPr lang="en-US" altLang="zh-CN" dirty="0">
              <a:solidFill>
                <a:schemeClr val="tx1"/>
              </a:solidFill>
            </a:endParaRPr>
          </a:p>
          <a:p>
            <a:pPr lvl="1"/>
            <a:r>
              <a:rPr lang="zh-CN" altLang="en-US" dirty="0">
                <a:solidFill>
                  <a:schemeClr val="tx1"/>
                </a:solidFill>
              </a:rPr>
              <a:t>通信瓶颈</a:t>
            </a:r>
            <a:endParaRPr lang="en-US" altLang="zh-CN" dirty="0">
              <a:solidFill>
                <a:schemeClr val="tx1"/>
              </a:solidFill>
            </a:endParaRPr>
          </a:p>
          <a:p>
            <a:pPr lvl="1"/>
            <a:r>
              <a:rPr lang="zh-CN" altLang="en-US" dirty="0">
                <a:solidFill>
                  <a:schemeClr val="tx1"/>
                </a:solidFill>
              </a:rPr>
              <a:t>显存限制</a:t>
            </a:r>
            <a:endParaRPr lang="en-US" altLang="zh-CN" dirty="0">
              <a:solidFill>
                <a:schemeClr val="tx1"/>
              </a:solidFill>
            </a:endParaRPr>
          </a:p>
          <a:p>
            <a:pPr lvl="1"/>
            <a:endParaRPr lang="en-US" altLang="zh-CN" sz="1400" dirty="0"/>
          </a:p>
        </p:txBody>
      </p:sp>
      <p:sp>
        <p:nvSpPr>
          <p:cNvPr id="15" name="内容占位符 2">
            <a:extLst>
              <a:ext uri="{FF2B5EF4-FFF2-40B4-BE49-F238E27FC236}">
                <a16:creationId xmlns:a16="http://schemas.microsoft.com/office/drawing/2014/main" id="{B0E5CCF9-D124-3846-0931-6C012867A9D2}"/>
              </a:ext>
            </a:extLst>
          </p:cNvPr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9058437" y="1513298"/>
            <a:ext cx="2925156" cy="4333595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dirty="0">
                <a:solidFill>
                  <a:schemeClr val="tx1"/>
                </a:solidFill>
              </a:rPr>
              <a:t>Inference</a:t>
            </a:r>
            <a:r>
              <a:rPr lang="zh-CN" altLang="en-US" dirty="0">
                <a:solidFill>
                  <a:schemeClr val="tx1"/>
                </a:solidFill>
              </a:rPr>
              <a:t>（推理）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特点：</a:t>
            </a:r>
            <a:endParaRPr lang="en-US" altLang="zh-CN" dirty="0">
              <a:solidFill>
                <a:schemeClr val="tx1"/>
              </a:solidFill>
            </a:endParaRPr>
          </a:p>
          <a:p>
            <a:pPr lvl="1"/>
            <a:r>
              <a:rPr lang="zh-CN" altLang="en-US" sz="1400" dirty="0">
                <a:solidFill>
                  <a:schemeClr val="tx1"/>
                </a:solidFill>
              </a:rPr>
              <a:t>面向用户请求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lvl="1"/>
            <a:r>
              <a:rPr lang="zh-CN" altLang="en-US" sz="1400" dirty="0">
                <a:solidFill>
                  <a:schemeClr val="tx1"/>
                </a:solidFill>
              </a:rPr>
              <a:t>请求不稳定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lvl="1"/>
            <a:r>
              <a:rPr lang="zh-CN" altLang="en-US" sz="1800" dirty="0">
                <a:solidFill>
                  <a:schemeClr val="tx1"/>
                </a:solidFill>
              </a:rPr>
              <a:t>实时响应要求高</a:t>
            </a:r>
            <a:endParaRPr lang="en-US" altLang="zh-CN" sz="1800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核心问题</a:t>
            </a:r>
            <a:endParaRPr lang="en-US" altLang="zh-CN" dirty="0">
              <a:solidFill>
                <a:schemeClr val="tx1"/>
              </a:solidFill>
            </a:endParaRPr>
          </a:p>
          <a:p>
            <a:pPr lvl="1"/>
            <a:r>
              <a:rPr lang="zh-CN" altLang="en-US" dirty="0">
                <a:solidFill>
                  <a:schemeClr val="tx1"/>
                </a:solidFill>
              </a:rPr>
              <a:t>延迟</a:t>
            </a:r>
            <a:endParaRPr lang="en-US" altLang="zh-CN" dirty="0">
              <a:solidFill>
                <a:schemeClr val="tx1"/>
              </a:solidFill>
            </a:endParaRPr>
          </a:p>
          <a:p>
            <a:pPr lvl="1"/>
            <a:r>
              <a:rPr lang="zh-CN" altLang="en-US" dirty="0">
                <a:solidFill>
                  <a:schemeClr val="tx1"/>
                </a:solidFill>
              </a:rPr>
              <a:t>吞吐</a:t>
            </a:r>
            <a:endParaRPr lang="en-US" altLang="zh-CN" dirty="0">
              <a:solidFill>
                <a:schemeClr val="tx1"/>
              </a:solidFill>
            </a:endParaRPr>
          </a:p>
          <a:p>
            <a:pPr lvl="1"/>
            <a:r>
              <a:rPr lang="zh-CN" altLang="en-US" dirty="0">
                <a:solidFill>
                  <a:schemeClr val="tx1"/>
                </a:solidFill>
              </a:rPr>
              <a:t>成本控制</a:t>
            </a:r>
            <a:endParaRPr lang="en-US" altLang="zh-CN" dirty="0">
              <a:solidFill>
                <a:schemeClr val="tx1"/>
              </a:solidFill>
            </a:endParaRPr>
          </a:p>
          <a:p>
            <a:pPr lvl="1"/>
            <a:endParaRPr lang="en-US" altLang="zh-CN" sz="1400" dirty="0"/>
          </a:p>
        </p:txBody>
      </p: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图片 2" descr="剪影蓝 低版本"/>
          <p:cNvPicPr>
            <a:picLocks noChangeAspect="1"/>
          </p:cNvPicPr>
          <p:nvPr/>
        </p:nvPicPr>
        <p:blipFill>
          <a:blip r:embed="rId9"/>
          <a:srcRect l="-8"/>
          <a:stretch>
            <a:fillRect/>
          </a:stretch>
        </p:blipFill>
        <p:spPr>
          <a:xfrm>
            <a:off x="1353" y="5378386"/>
            <a:ext cx="12190495" cy="2438099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1353" y="600"/>
            <a:ext cx="12190495" cy="840002"/>
          </a:xfrm>
          <a:prstGeom prst="rect">
            <a:avLst/>
          </a:prstGeom>
          <a:gradFill>
            <a:gsLst>
              <a:gs pos="0">
                <a:schemeClr val="bg1"/>
              </a:gs>
              <a:gs pos="50000">
                <a:srgbClr val="5399D4"/>
              </a:gs>
              <a:gs pos="100000">
                <a:srgbClr val="2E3C63"/>
              </a:gs>
            </a:gsLst>
          </a:gradFill>
          <a:effectLst/>
        </p:spPr>
        <p:style>
          <a:lnRef idx="0">
            <a:srgbClr val="FFFFFF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z="100" strike="noStrike" noProof="1"/>
          </a:p>
        </p:txBody>
      </p:sp>
      <p:pic>
        <p:nvPicPr>
          <p:cNvPr id="2" name="图片 1" descr="国科大标准Logo横式一（白色）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815971" y="187901"/>
            <a:ext cx="2167622" cy="457144"/>
          </a:xfrm>
          <a:prstGeom prst="rect">
            <a:avLst/>
          </a:prstGeom>
        </p:spPr>
      </p:pic>
      <p:sp>
        <p:nvSpPr>
          <p:cNvPr id="3078" name="文本框 3"/>
          <p:cNvSpPr txBox="1"/>
          <p:nvPr>
            <p:custDataLst>
              <p:tags r:id="rId3"/>
            </p:custDataLst>
          </p:nvPr>
        </p:nvSpPr>
        <p:spPr>
          <a:xfrm>
            <a:off x="46644" y="-47231"/>
            <a:ext cx="850795" cy="919366"/>
          </a:xfrm>
          <a:prstGeom prst="rect">
            <a:avLst/>
          </a:prstGeom>
          <a:noFill/>
          <a:ln w="12700" cmpd="sng">
            <a:noFill/>
            <a:prstDash val="solid"/>
          </a:ln>
          <a:effectLst>
            <a:outerShdw dist="63500" dir="2700000" algn="tl" rotWithShape="0">
              <a:schemeClr val="bg1">
                <a:alpha val="100000"/>
              </a:schemeClr>
            </a:outerShdw>
          </a:effectLst>
        </p:spPr>
        <p:txBody>
          <a:bodyPr wrap="square" anchor="t" anchorCtr="0"/>
          <a:lstStyle/>
          <a:p>
            <a:pPr>
              <a:lnSpc>
                <a:spcPct val="130000"/>
              </a:lnSpc>
            </a:pPr>
            <a:r>
              <a:rPr lang="en-US" altLang="zh-CN" sz="4000" i="1">
                <a:ln w="19050">
                  <a:noFill/>
                </a:ln>
                <a:gradFill>
                  <a:gsLst>
                    <a:gs pos="39000">
                      <a:srgbClr val="5399D4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Bauhaus 93" panose="04030905020B02020C02" charset="0"/>
                <a:ea typeface="造字工房朗倩（非商用）常规体" charset="-122"/>
                <a:cs typeface="Bauhaus 93" panose="04030905020B02020C02" charset="0"/>
              </a:rPr>
              <a:t>03</a:t>
            </a:r>
          </a:p>
        </p:txBody>
      </p:sp>
      <p:sp>
        <p:nvSpPr>
          <p:cNvPr id="4" name="文本框 3"/>
          <p:cNvSpPr txBox="1"/>
          <p:nvPr>
            <p:custDataLst>
              <p:tags r:id="rId4"/>
            </p:custDataLst>
          </p:nvPr>
        </p:nvSpPr>
        <p:spPr>
          <a:xfrm>
            <a:off x="812148" y="172029"/>
            <a:ext cx="8441283" cy="53777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800" dirty="0">
                <a:solidFill>
                  <a:srgbClr val="2E3C63"/>
                </a:solidFill>
              </a:rPr>
              <a:t>AI Infrastructure Stack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6</a:t>
            </a:fld>
            <a:endParaRPr lang="zh-CN" altLang="en-US" strike="noStrike" noProof="1"/>
          </a:p>
        </p:txBody>
      </p:sp>
      <p:sp>
        <p:nvSpPr>
          <p:cNvPr id="7" name="标题 1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rm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endParaRPr lang="en-US" altLang="zh-CN"/>
          </a:p>
        </p:txBody>
      </p:sp>
      <p:sp>
        <p:nvSpPr>
          <p:cNvPr id="9" name="内容占位符 2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635944" y="987418"/>
            <a:ext cx="4852796" cy="5426967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dirty="0">
                <a:solidFill>
                  <a:schemeClr val="tx1"/>
                </a:solidFill>
              </a:rPr>
              <a:t>Hardware Layer</a:t>
            </a:r>
          </a:p>
          <a:p>
            <a:pPr lvl="1"/>
            <a:r>
              <a:rPr lang="en-US" altLang="zh-CN" dirty="0">
                <a:solidFill>
                  <a:schemeClr val="tx1"/>
                </a:solidFill>
              </a:rPr>
              <a:t>GPU/TPU/NPU</a:t>
            </a:r>
          </a:p>
          <a:p>
            <a:pPr lvl="1"/>
            <a:r>
              <a:rPr lang="zh-CN" altLang="en-US" sz="1800" dirty="0">
                <a:solidFill>
                  <a:schemeClr val="tx1"/>
                </a:solidFill>
              </a:rPr>
              <a:t>高速网络</a:t>
            </a:r>
            <a:endParaRPr lang="en-US" altLang="zh-CN" sz="1800" dirty="0">
              <a:solidFill>
                <a:schemeClr val="tx1"/>
              </a:solidFill>
            </a:endParaRPr>
          </a:p>
          <a:p>
            <a:pPr lvl="1"/>
            <a:r>
              <a:rPr lang="zh-CN" altLang="en-US" sz="1800" dirty="0">
                <a:solidFill>
                  <a:schemeClr val="tx1"/>
                </a:solidFill>
              </a:rPr>
              <a:t>分布式存储</a:t>
            </a:r>
            <a:endParaRPr lang="en-US" altLang="zh-CN" sz="1800" dirty="0">
              <a:solidFill>
                <a:schemeClr val="tx1"/>
              </a:solidFill>
            </a:endParaRPr>
          </a:p>
          <a:p>
            <a:r>
              <a:rPr lang="en-US" altLang="zh-CN" sz="2000" dirty="0">
                <a:solidFill>
                  <a:schemeClr val="tx1"/>
                </a:solidFill>
              </a:rPr>
              <a:t>System Layer </a:t>
            </a:r>
          </a:p>
          <a:p>
            <a:pPr lvl="1"/>
            <a:r>
              <a:rPr lang="zh-CN" altLang="en-US" dirty="0">
                <a:solidFill>
                  <a:schemeClr val="tx1"/>
                </a:solidFill>
              </a:rPr>
              <a:t>资源调度</a:t>
            </a:r>
            <a:endParaRPr lang="en-US" altLang="zh-CN" dirty="0">
              <a:solidFill>
                <a:schemeClr val="tx1"/>
              </a:solidFill>
            </a:endParaRPr>
          </a:p>
          <a:p>
            <a:pPr lvl="1"/>
            <a:r>
              <a:rPr lang="zh-CN" altLang="en-US" sz="1800" dirty="0">
                <a:solidFill>
                  <a:schemeClr val="tx1"/>
                </a:solidFill>
              </a:rPr>
              <a:t>分布式训练</a:t>
            </a:r>
            <a:endParaRPr lang="en-US" altLang="zh-CN" sz="1800" dirty="0">
              <a:solidFill>
                <a:schemeClr val="tx1"/>
              </a:solidFill>
            </a:endParaRPr>
          </a:p>
          <a:p>
            <a:pPr lvl="1"/>
            <a:r>
              <a:rPr lang="zh-CN" altLang="en-US" sz="1800" dirty="0">
                <a:solidFill>
                  <a:schemeClr val="tx1"/>
                </a:solidFill>
              </a:rPr>
              <a:t>编译优化</a:t>
            </a:r>
            <a:endParaRPr lang="en-US" altLang="zh-CN" sz="1800" dirty="0">
              <a:solidFill>
                <a:schemeClr val="tx1"/>
              </a:solidFill>
            </a:endParaRPr>
          </a:p>
          <a:p>
            <a:r>
              <a:rPr lang="en-US" altLang="zh-CN" sz="2000" dirty="0">
                <a:solidFill>
                  <a:schemeClr val="tx1"/>
                </a:solidFill>
              </a:rPr>
              <a:t>AI </a:t>
            </a:r>
            <a:r>
              <a:rPr lang="en-US" altLang="zh-CN" sz="2000" dirty="0" err="1">
                <a:solidFill>
                  <a:schemeClr val="tx1"/>
                </a:solidFill>
              </a:rPr>
              <a:t>Framwork</a:t>
            </a:r>
            <a:r>
              <a:rPr lang="en-US" altLang="zh-CN" sz="2000" dirty="0">
                <a:solidFill>
                  <a:schemeClr val="tx1"/>
                </a:solidFill>
              </a:rPr>
              <a:t> &amp; Service Layer</a:t>
            </a:r>
          </a:p>
          <a:p>
            <a:pPr lvl="1"/>
            <a:r>
              <a:rPr lang="zh-CN" altLang="en-US" sz="1800" dirty="0">
                <a:solidFill>
                  <a:schemeClr val="tx1"/>
                </a:solidFill>
              </a:rPr>
              <a:t>训练框架（</a:t>
            </a:r>
            <a:r>
              <a:rPr lang="en-US" altLang="zh-CN" sz="1800" dirty="0" err="1">
                <a:solidFill>
                  <a:schemeClr val="tx1"/>
                </a:solidFill>
              </a:rPr>
              <a:t>PyTorch</a:t>
            </a:r>
            <a:r>
              <a:rPr lang="en-US" altLang="zh-CN" sz="1800" dirty="0">
                <a:solidFill>
                  <a:schemeClr val="tx1"/>
                </a:solidFill>
              </a:rPr>
              <a:t>/TensorFlow</a:t>
            </a:r>
            <a:r>
              <a:rPr lang="zh-CN" altLang="en-US" sz="1800" dirty="0">
                <a:solidFill>
                  <a:schemeClr val="tx1"/>
                </a:solidFill>
              </a:rPr>
              <a:t>）</a:t>
            </a:r>
            <a:endParaRPr lang="en-US" altLang="zh-CN" sz="1800" dirty="0">
              <a:solidFill>
                <a:schemeClr val="tx1"/>
              </a:solidFill>
            </a:endParaRPr>
          </a:p>
          <a:p>
            <a:pPr lvl="1"/>
            <a:r>
              <a:rPr lang="zh-CN" altLang="en-US" sz="1800" dirty="0">
                <a:solidFill>
                  <a:schemeClr val="tx1"/>
                </a:solidFill>
              </a:rPr>
              <a:t>推理引擎</a:t>
            </a:r>
            <a:endParaRPr lang="en-US" altLang="zh-CN" sz="1800" dirty="0">
              <a:solidFill>
                <a:schemeClr val="tx1"/>
              </a:solidFill>
            </a:endParaRPr>
          </a:p>
          <a:p>
            <a:pPr lvl="1"/>
            <a:r>
              <a:rPr lang="en-US" altLang="zh-CN" sz="1800" dirty="0">
                <a:solidFill>
                  <a:schemeClr val="tx1"/>
                </a:solidFill>
              </a:rPr>
              <a:t>API/</a:t>
            </a:r>
            <a:r>
              <a:rPr lang="en-US" altLang="zh-CN" sz="1800" dirty="0" err="1">
                <a:solidFill>
                  <a:schemeClr val="tx1"/>
                </a:solidFill>
              </a:rPr>
              <a:t>MaaS</a:t>
            </a:r>
            <a:endParaRPr lang="en-US" altLang="zh-CN" sz="1800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2FBEF12B-0518-827A-F8A2-DAD1E3A80121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8740" y="897109"/>
            <a:ext cx="3580271" cy="1503060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906CC608-C389-381B-7707-DE6F22D2E9C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8740" y="2480580"/>
            <a:ext cx="6494853" cy="1865543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FAC9F7B5-6413-0772-DFB8-90A77964B68D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8740" y="4260063"/>
            <a:ext cx="6335059" cy="2271998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图片 2" descr="剪影蓝 低版本"/>
          <p:cNvPicPr>
            <a:picLocks noChangeAspect="1"/>
          </p:cNvPicPr>
          <p:nvPr/>
        </p:nvPicPr>
        <p:blipFill>
          <a:blip r:embed="rId9"/>
          <a:srcRect l="-8"/>
          <a:stretch>
            <a:fillRect/>
          </a:stretch>
        </p:blipFill>
        <p:spPr>
          <a:xfrm>
            <a:off x="1353" y="5378386"/>
            <a:ext cx="12190495" cy="2438099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1353" y="600"/>
            <a:ext cx="12190495" cy="840002"/>
          </a:xfrm>
          <a:prstGeom prst="rect">
            <a:avLst/>
          </a:prstGeom>
          <a:gradFill>
            <a:gsLst>
              <a:gs pos="0">
                <a:schemeClr val="bg1"/>
              </a:gs>
              <a:gs pos="50000">
                <a:srgbClr val="5399D4"/>
              </a:gs>
              <a:gs pos="100000">
                <a:srgbClr val="2E3C63"/>
              </a:gs>
            </a:gsLst>
          </a:gradFill>
          <a:effectLst/>
        </p:spPr>
        <p:style>
          <a:lnRef idx="0">
            <a:srgbClr val="FFFFFF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z="100" strike="noStrike" noProof="1"/>
          </a:p>
        </p:txBody>
      </p:sp>
      <p:pic>
        <p:nvPicPr>
          <p:cNvPr id="2" name="图片 1" descr="国科大标准Logo横式一（白色）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815971" y="187901"/>
            <a:ext cx="2167622" cy="457144"/>
          </a:xfrm>
          <a:prstGeom prst="rect">
            <a:avLst/>
          </a:prstGeom>
        </p:spPr>
      </p:pic>
      <p:sp>
        <p:nvSpPr>
          <p:cNvPr id="3078" name="文本框 3"/>
          <p:cNvSpPr txBox="1"/>
          <p:nvPr>
            <p:custDataLst>
              <p:tags r:id="rId3"/>
            </p:custDataLst>
          </p:nvPr>
        </p:nvSpPr>
        <p:spPr>
          <a:xfrm>
            <a:off x="46644" y="-47231"/>
            <a:ext cx="850795" cy="919366"/>
          </a:xfrm>
          <a:prstGeom prst="rect">
            <a:avLst/>
          </a:prstGeom>
          <a:noFill/>
          <a:ln w="12700" cmpd="sng">
            <a:noFill/>
            <a:prstDash val="solid"/>
          </a:ln>
          <a:effectLst>
            <a:outerShdw dist="63500" dir="2700000" algn="tl" rotWithShape="0">
              <a:schemeClr val="bg1">
                <a:alpha val="100000"/>
              </a:schemeClr>
            </a:outerShdw>
          </a:effectLst>
        </p:spPr>
        <p:txBody>
          <a:bodyPr wrap="square" anchor="t" anchorCtr="0"/>
          <a:lstStyle/>
          <a:p>
            <a:pPr>
              <a:lnSpc>
                <a:spcPct val="130000"/>
              </a:lnSpc>
            </a:pPr>
            <a:r>
              <a:rPr lang="en-US" altLang="zh-CN" sz="4000" i="1">
                <a:ln w="19050">
                  <a:noFill/>
                </a:ln>
                <a:gradFill>
                  <a:gsLst>
                    <a:gs pos="39000">
                      <a:srgbClr val="5399D4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Bauhaus 93" panose="04030905020B02020C02" charset="0"/>
                <a:ea typeface="造字工房朗倩（非商用）常规体" charset="-122"/>
                <a:cs typeface="Bauhaus 93" panose="04030905020B02020C02" charset="0"/>
              </a:rPr>
              <a:t>03</a:t>
            </a:r>
          </a:p>
        </p:txBody>
      </p:sp>
      <p:sp>
        <p:nvSpPr>
          <p:cNvPr id="4" name="文本框 3"/>
          <p:cNvSpPr txBox="1"/>
          <p:nvPr>
            <p:custDataLst>
              <p:tags r:id="rId4"/>
            </p:custDataLst>
          </p:nvPr>
        </p:nvSpPr>
        <p:spPr>
          <a:xfrm>
            <a:off x="812148" y="172029"/>
            <a:ext cx="8441283" cy="53777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800" dirty="0">
                <a:solidFill>
                  <a:srgbClr val="2E3C63"/>
                </a:solidFill>
              </a:rPr>
              <a:t>Compute vs Memory vs Communication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7</a:t>
            </a:fld>
            <a:endParaRPr lang="zh-CN" altLang="en-US" strike="noStrike" noProof="1"/>
          </a:p>
        </p:txBody>
      </p:sp>
      <p:sp>
        <p:nvSpPr>
          <p:cNvPr id="7" name="标题 1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rm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endParaRPr lang="en-US" altLang="zh-CN"/>
          </a:p>
        </p:txBody>
      </p:sp>
      <p:sp>
        <p:nvSpPr>
          <p:cNvPr id="9" name="内容占位符 2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472041" y="1734499"/>
            <a:ext cx="2072856" cy="2260928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2" indent="0">
              <a:buNone/>
            </a:pPr>
            <a:endParaRPr lang="en-US" altLang="zh-CN" dirty="0">
              <a:solidFill>
                <a:schemeClr val="tx1"/>
              </a:solidFill>
            </a:endParaRPr>
          </a:p>
        </p:txBody>
      </p:sp>
      <p:graphicFrame>
        <p:nvGraphicFramePr>
          <p:cNvPr id="5" name="图示 4">
            <a:extLst>
              <a:ext uri="{FF2B5EF4-FFF2-40B4-BE49-F238E27FC236}">
                <a16:creationId xmlns:a16="http://schemas.microsoft.com/office/drawing/2014/main" id="{1C1E21EC-2100-5328-3807-35060C95704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03573285"/>
              </p:ext>
            </p:extLst>
          </p:nvPr>
        </p:nvGraphicFramePr>
        <p:xfrm>
          <a:off x="2484832" y="710711"/>
          <a:ext cx="6885788" cy="45151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1" r:lo="rId12" r:qs="rId13" r:cs="rId14"/>
          </a:graphicData>
        </a:graphic>
      </p:graphicFrame>
      <p:sp>
        <p:nvSpPr>
          <p:cNvPr id="10" name="文本框 9">
            <a:extLst>
              <a:ext uri="{FF2B5EF4-FFF2-40B4-BE49-F238E27FC236}">
                <a16:creationId xmlns:a16="http://schemas.microsoft.com/office/drawing/2014/main" id="{11EAFE23-7C3D-98F1-5184-E503DCBF2872}"/>
              </a:ext>
            </a:extLst>
          </p:cNvPr>
          <p:cNvSpPr txBox="1"/>
          <p:nvPr/>
        </p:nvSpPr>
        <p:spPr>
          <a:xfrm>
            <a:off x="277852" y="1507768"/>
            <a:ext cx="3603373" cy="1884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/>
              <a:t>FLOPs</a:t>
            </a:r>
            <a:r>
              <a:rPr lang="zh-CN" altLang="en-US" sz="2000" dirty="0"/>
              <a:t>浮点计算能力</a:t>
            </a:r>
            <a:endParaRPr lang="en-US" altLang="zh-CN" sz="2000" dirty="0"/>
          </a:p>
          <a:p>
            <a:pPr>
              <a:lnSpc>
                <a:spcPct val="150000"/>
              </a:lnSpc>
            </a:pPr>
            <a:r>
              <a:rPr lang="zh-CN" altLang="en-US" sz="2000" dirty="0"/>
              <a:t>问题：算力需求爆炸、</a:t>
            </a:r>
            <a:r>
              <a:rPr lang="en-US" altLang="zh-CN" sz="2000" dirty="0"/>
              <a:t>GPU</a:t>
            </a:r>
            <a:r>
              <a:rPr lang="zh-CN" altLang="en-US" sz="2000" dirty="0"/>
              <a:t>利用率不高</a:t>
            </a:r>
            <a:endParaRPr lang="en-US" altLang="zh-CN" sz="2000" dirty="0"/>
          </a:p>
          <a:p>
            <a:pPr>
              <a:lnSpc>
                <a:spcPct val="150000"/>
              </a:lnSpc>
            </a:pPr>
            <a:r>
              <a:rPr lang="zh-CN" altLang="en-US" sz="2000" dirty="0"/>
              <a:t>影响：决定训练速度和成本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D1C4D9F-B647-4ECF-FE9F-B651040F248F}"/>
              </a:ext>
            </a:extLst>
          </p:cNvPr>
          <p:cNvSpPr txBox="1"/>
          <p:nvPr/>
        </p:nvSpPr>
        <p:spPr>
          <a:xfrm>
            <a:off x="8066314" y="1912847"/>
            <a:ext cx="3917279" cy="1422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/>
              <a:t>显存容量</a:t>
            </a:r>
            <a:r>
              <a:rPr lang="en-US" altLang="zh-CN" sz="2000" dirty="0"/>
              <a:t>+</a:t>
            </a:r>
            <a:r>
              <a:rPr lang="zh-CN" altLang="en-US" sz="2000" dirty="0"/>
              <a:t>带宽</a:t>
            </a:r>
            <a:endParaRPr lang="en-US" altLang="zh-CN" sz="2000" dirty="0"/>
          </a:p>
          <a:p>
            <a:pPr>
              <a:lnSpc>
                <a:spcPct val="150000"/>
              </a:lnSpc>
            </a:pPr>
            <a:r>
              <a:rPr lang="zh-CN" altLang="en-US" sz="2000" dirty="0"/>
              <a:t>问题：模型大小、访问速度</a:t>
            </a:r>
            <a:endParaRPr lang="en-US" altLang="zh-CN" sz="2000" dirty="0"/>
          </a:p>
          <a:p>
            <a:pPr>
              <a:lnSpc>
                <a:spcPct val="150000"/>
              </a:lnSpc>
            </a:pPr>
            <a:r>
              <a:rPr lang="zh-CN" altLang="en-US" sz="2000" dirty="0"/>
              <a:t>影响：限制模型规模和</a:t>
            </a:r>
            <a:r>
              <a:rPr lang="en-US" altLang="zh-CN" sz="2000" dirty="0"/>
              <a:t>batch size</a:t>
            </a:r>
            <a:endParaRPr lang="zh-CN" altLang="en-US" sz="2000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CD0A831-B363-3448-AB5A-1F86D97EB6EF}"/>
              </a:ext>
            </a:extLst>
          </p:cNvPr>
          <p:cNvSpPr txBox="1"/>
          <p:nvPr/>
        </p:nvSpPr>
        <p:spPr>
          <a:xfrm>
            <a:off x="3425070" y="4892959"/>
            <a:ext cx="5945550" cy="1422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/>
              <a:t>GPU</a:t>
            </a:r>
            <a:r>
              <a:rPr lang="zh-CN" altLang="en-US" sz="2000" dirty="0"/>
              <a:t>之间的数据传输</a:t>
            </a:r>
            <a:endParaRPr lang="en-US" altLang="zh-CN" sz="2000" dirty="0"/>
          </a:p>
          <a:p>
            <a:pPr>
              <a:lnSpc>
                <a:spcPct val="150000"/>
              </a:lnSpc>
            </a:pPr>
            <a:r>
              <a:rPr lang="zh-CN" altLang="en-US" sz="2000" dirty="0"/>
              <a:t>问题：多卡同步开销大、网络带宽</a:t>
            </a:r>
            <a:r>
              <a:rPr lang="en-US" altLang="zh-CN" sz="2000" dirty="0"/>
              <a:t>/</a:t>
            </a:r>
            <a:r>
              <a:rPr lang="zh-CN" altLang="en-US" sz="2000" dirty="0"/>
              <a:t>延迟限制</a:t>
            </a:r>
            <a:endParaRPr lang="en-US" altLang="zh-CN" sz="2000" dirty="0"/>
          </a:p>
          <a:p>
            <a:pPr>
              <a:lnSpc>
                <a:spcPct val="150000"/>
              </a:lnSpc>
            </a:pPr>
            <a:r>
              <a:rPr lang="zh-CN" altLang="en-US" sz="2000" dirty="0"/>
              <a:t>影响：扩展性、多卡效率下降</a:t>
            </a:r>
          </a:p>
        </p:txBody>
      </p:sp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图片 2" descr="剪影蓝 低版本"/>
          <p:cNvPicPr>
            <a:picLocks noChangeAspect="1"/>
          </p:cNvPicPr>
          <p:nvPr/>
        </p:nvPicPr>
        <p:blipFill>
          <a:blip r:embed="rId9"/>
          <a:srcRect l="-8"/>
          <a:stretch>
            <a:fillRect/>
          </a:stretch>
        </p:blipFill>
        <p:spPr>
          <a:xfrm>
            <a:off x="1353" y="5378386"/>
            <a:ext cx="12190495" cy="2438099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1353" y="600"/>
            <a:ext cx="12190495" cy="840002"/>
          </a:xfrm>
          <a:prstGeom prst="rect">
            <a:avLst/>
          </a:prstGeom>
          <a:gradFill>
            <a:gsLst>
              <a:gs pos="0">
                <a:schemeClr val="bg1"/>
              </a:gs>
              <a:gs pos="50000">
                <a:srgbClr val="5399D4"/>
              </a:gs>
              <a:gs pos="100000">
                <a:srgbClr val="2E3C63"/>
              </a:gs>
            </a:gsLst>
          </a:gradFill>
          <a:effectLst/>
        </p:spPr>
        <p:style>
          <a:lnRef idx="0">
            <a:srgbClr val="FFFFFF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z="100" strike="noStrike" noProof="1"/>
          </a:p>
        </p:txBody>
      </p:sp>
      <p:pic>
        <p:nvPicPr>
          <p:cNvPr id="2" name="图片 1" descr="国科大标准Logo横式一（白色）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815971" y="187901"/>
            <a:ext cx="2167622" cy="457144"/>
          </a:xfrm>
          <a:prstGeom prst="rect">
            <a:avLst/>
          </a:prstGeom>
        </p:spPr>
      </p:pic>
      <p:sp>
        <p:nvSpPr>
          <p:cNvPr id="3078" name="文本框 3"/>
          <p:cNvSpPr txBox="1"/>
          <p:nvPr>
            <p:custDataLst>
              <p:tags r:id="rId3"/>
            </p:custDataLst>
          </p:nvPr>
        </p:nvSpPr>
        <p:spPr>
          <a:xfrm>
            <a:off x="46644" y="-47231"/>
            <a:ext cx="850795" cy="919366"/>
          </a:xfrm>
          <a:prstGeom prst="rect">
            <a:avLst/>
          </a:prstGeom>
          <a:noFill/>
          <a:ln w="12700" cmpd="sng">
            <a:noFill/>
            <a:prstDash val="solid"/>
          </a:ln>
          <a:effectLst>
            <a:outerShdw dist="63500" dir="2700000" algn="tl" rotWithShape="0">
              <a:schemeClr val="bg1">
                <a:alpha val="100000"/>
              </a:schemeClr>
            </a:outerShdw>
          </a:effectLst>
        </p:spPr>
        <p:txBody>
          <a:bodyPr wrap="square" anchor="t" anchorCtr="0"/>
          <a:lstStyle/>
          <a:p>
            <a:pPr>
              <a:lnSpc>
                <a:spcPct val="130000"/>
              </a:lnSpc>
            </a:pPr>
            <a:r>
              <a:rPr lang="en-US" altLang="zh-CN" sz="4000" i="1">
                <a:ln w="19050">
                  <a:noFill/>
                </a:ln>
                <a:gradFill>
                  <a:gsLst>
                    <a:gs pos="39000">
                      <a:srgbClr val="5399D4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Bauhaus 93" panose="04030905020B02020C02" charset="0"/>
                <a:ea typeface="造字工房朗倩（非商用）常规体" charset="-122"/>
                <a:cs typeface="Bauhaus 93" panose="04030905020B02020C02" charset="0"/>
              </a:rPr>
              <a:t>03</a:t>
            </a:r>
          </a:p>
        </p:txBody>
      </p:sp>
      <p:sp>
        <p:nvSpPr>
          <p:cNvPr id="4" name="文本框 3"/>
          <p:cNvSpPr txBox="1"/>
          <p:nvPr>
            <p:custDataLst>
              <p:tags r:id="rId4"/>
            </p:custDataLst>
          </p:nvPr>
        </p:nvSpPr>
        <p:spPr>
          <a:xfrm>
            <a:off x="812148" y="172029"/>
            <a:ext cx="8441283" cy="53777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800" dirty="0">
                <a:solidFill>
                  <a:srgbClr val="2E3C63"/>
                </a:solidFill>
              </a:rPr>
              <a:t>Hardware Basics</a:t>
            </a:r>
            <a:r>
              <a:rPr lang="zh-CN" altLang="en-US" sz="2800" dirty="0">
                <a:solidFill>
                  <a:srgbClr val="2E3C63"/>
                </a:solidFill>
              </a:rPr>
              <a:t>（</a:t>
            </a:r>
            <a:r>
              <a:rPr lang="en-US" altLang="zh-CN" sz="2800" dirty="0">
                <a:solidFill>
                  <a:srgbClr val="2E3C63"/>
                </a:solidFill>
              </a:rPr>
              <a:t>GPU</a:t>
            </a:r>
            <a:r>
              <a:rPr lang="zh-CN" altLang="en-US" sz="2800" dirty="0">
                <a:solidFill>
                  <a:srgbClr val="2E3C63"/>
                </a:solidFill>
              </a:rPr>
              <a:t>）</a:t>
            </a:r>
            <a:endParaRPr lang="en-US" altLang="zh-CN" sz="2800" dirty="0">
              <a:solidFill>
                <a:srgbClr val="2E3C63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8</a:t>
            </a:fld>
            <a:endParaRPr lang="zh-CN" altLang="en-US" strike="noStrike" noProof="1"/>
          </a:p>
        </p:txBody>
      </p:sp>
      <p:sp>
        <p:nvSpPr>
          <p:cNvPr id="7" name="标题 1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rm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endParaRPr lang="en-US" altLang="zh-CN"/>
          </a:p>
        </p:txBody>
      </p:sp>
      <p:sp>
        <p:nvSpPr>
          <p:cNvPr id="9" name="内容占位符 2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317146" y="1184245"/>
            <a:ext cx="6859440" cy="510159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600" dirty="0">
                <a:solidFill>
                  <a:schemeClr val="tx1"/>
                </a:solidFill>
                <a:sym typeface="+mn-ea"/>
              </a:rPr>
              <a:t>GPU </a:t>
            </a:r>
            <a:r>
              <a:rPr lang="zh-CN" altLang="en-US" sz="1600" dirty="0">
                <a:solidFill>
                  <a:schemeClr val="tx1"/>
                </a:solidFill>
                <a:sym typeface="+mn-ea"/>
              </a:rPr>
              <a:t>的本质 </a:t>
            </a:r>
            <a:r>
              <a:rPr lang="en-US" altLang="zh-CN" sz="1600" dirty="0">
                <a:solidFill>
                  <a:schemeClr val="tx1"/>
                </a:solidFill>
                <a:sym typeface="+mn-ea"/>
              </a:rPr>
              <a:t>= </a:t>
            </a:r>
            <a:r>
              <a:rPr lang="zh-CN" altLang="en-US" sz="1600" dirty="0">
                <a:solidFill>
                  <a:schemeClr val="tx1"/>
                </a:solidFill>
                <a:sym typeface="+mn-ea"/>
              </a:rPr>
              <a:t>并行计算机器</a:t>
            </a:r>
            <a:endParaRPr lang="en-US" altLang="zh-CN" sz="1600" dirty="0">
              <a:solidFill>
                <a:schemeClr val="tx1"/>
              </a:solidFill>
              <a:sym typeface="+mn-ea"/>
            </a:endParaRPr>
          </a:p>
          <a:p>
            <a:pPr marL="0" indent="0">
              <a:buNone/>
            </a:pPr>
            <a:r>
              <a:rPr lang="en-US" altLang="zh-CN" sz="1600" dirty="0">
                <a:solidFill>
                  <a:schemeClr val="tx1"/>
                </a:solidFill>
                <a:sym typeface="+mn-ea"/>
              </a:rPr>
              <a:t>  =SM</a:t>
            </a:r>
            <a:r>
              <a:rPr lang="zh-CN" altLang="en-US" sz="1600" dirty="0">
                <a:solidFill>
                  <a:schemeClr val="tx1"/>
                </a:solidFill>
                <a:sym typeface="+mn-ea"/>
              </a:rPr>
              <a:t>（计算大脑）</a:t>
            </a:r>
            <a:r>
              <a:rPr lang="en-US" altLang="zh-CN" sz="1600" dirty="0">
                <a:solidFill>
                  <a:schemeClr val="tx1"/>
                </a:solidFill>
                <a:sym typeface="+mn-ea"/>
              </a:rPr>
              <a:t>+HBM</a:t>
            </a:r>
            <a:r>
              <a:rPr lang="zh-CN" altLang="en-US" sz="1600" dirty="0">
                <a:solidFill>
                  <a:schemeClr val="tx1"/>
                </a:solidFill>
                <a:sym typeface="+mn-ea"/>
              </a:rPr>
              <a:t>（高速数据通道）</a:t>
            </a:r>
            <a:endParaRPr lang="en-US" altLang="zh-CN" sz="1400" dirty="0">
              <a:solidFill>
                <a:schemeClr val="tx1"/>
              </a:solidFill>
              <a:sym typeface="+mn-ea"/>
            </a:endParaRPr>
          </a:p>
          <a:p>
            <a:r>
              <a:rPr lang="zh-CN" altLang="en-US" sz="1600" dirty="0">
                <a:solidFill>
                  <a:schemeClr val="tx1"/>
                </a:solidFill>
                <a:sym typeface="+mn-ea"/>
              </a:rPr>
              <a:t>关键组件</a:t>
            </a:r>
            <a:r>
              <a:rPr lang="en-US" altLang="zh-CN" sz="1600" dirty="0">
                <a:solidFill>
                  <a:schemeClr val="tx1"/>
                </a:solidFill>
                <a:sym typeface="+mn-ea"/>
              </a:rPr>
              <a:t>:</a:t>
            </a:r>
          </a:p>
          <a:p>
            <a:pPr lvl="1"/>
            <a:r>
              <a:rPr lang="en-US" altLang="zh-CN" sz="1400" dirty="0">
                <a:solidFill>
                  <a:schemeClr val="tx1"/>
                </a:solidFill>
                <a:sym typeface="+mn-ea"/>
              </a:rPr>
              <a:t>SM (Streaming Multiprocessor)</a:t>
            </a:r>
          </a:p>
          <a:p>
            <a:pPr lvl="2"/>
            <a:r>
              <a:rPr lang="zh-CN" altLang="en-US" sz="1400" dirty="0">
                <a:solidFill>
                  <a:schemeClr val="tx1"/>
                </a:solidFill>
                <a:sym typeface="+mn-ea"/>
              </a:rPr>
              <a:t>计算单元（</a:t>
            </a:r>
            <a:r>
              <a:rPr lang="en-US" altLang="zh-CN" sz="1400" dirty="0">
                <a:solidFill>
                  <a:schemeClr val="tx1"/>
                </a:solidFill>
                <a:sym typeface="+mn-ea"/>
              </a:rPr>
              <a:t>Compute Units</a:t>
            </a:r>
            <a:r>
              <a:rPr lang="zh-CN" altLang="en-US" sz="1400" dirty="0">
                <a:solidFill>
                  <a:schemeClr val="tx1"/>
                </a:solidFill>
                <a:sym typeface="+mn-ea"/>
              </a:rPr>
              <a:t>）</a:t>
            </a:r>
            <a:endParaRPr lang="en-US" altLang="zh-CN" sz="1400" dirty="0">
              <a:solidFill>
                <a:schemeClr val="tx1"/>
              </a:solidFill>
              <a:sym typeface="+mn-ea"/>
            </a:endParaRPr>
          </a:p>
          <a:p>
            <a:pPr lvl="2"/>
            <a:r>
              <a:rPr lang="zh-CN" altLang="en-US" sz="1400" dirty="0">
                <a:solidFill>
                  <a:schemeClr val="tx1"/>
                </a:solidFill>
                <a:sym typeface="+mn-ea"/>
              </a:rPr>
              <a:t>每个</a:t>
            </a:r>
            <a:r>
              <a:rPr lang="en-US" altLang="zh-CN" sz="1400" dirty="0">
                <a:solidFill>
                  <a:schemeClr val="tx1"/>
                </a:solidFill>
                <a:sym typeface="+mn-ea"/>
              </a:rPr>
              <a:t>SM</a:t>
            </a:r>
            <a:r>
              <a:rPr lang="zh-CN" altLang="en-US" sz="1400" dirty="0">
                <a:solidFill>
                  <a:schemeClr val="tx1"/>
                </a:solidFill>
                <a:sym typeface="+mn-ea"/>
              </a:rPr>
              <a:t>包含大量</a:t>
            </a:r>
            <a:r>
              <a:rPr lang="en-US" altLang="zh-CN" sz="1400" dirty="0">
                <a:solidFill>
                  <a:schemeClr val="tx1"/>
                </a:solidFill>
                <a:sym typeface="+mn-ea"/>
              </a:rPr>
              <a:t>CUDA cores</a:t>
            </a:r>
          </a:p>
          <a:p>
            <a:pPr lvl="2"/>
            <a:r>
              <a:rPr lang="zh-CN" altLang="en-US" sz="1400" dirty="0">
                <a:solidFill>
                  <a:schemeClr val="tx1"/>
                </a:solidFill>
                <a:sym typeface="+mn-ea"/>
              </a:rPr>
              <a:t>执行并行计算任务</a:t>
            </a:r>
            <a:endParaRPr lang="en-US" altLang="zh-CN" sz="1400" dirty="0">
              <a:solidFill>
                <a:schemeClr val="tx1"/>
              </a:solidFill>
              <a:sym typeface="+mn-ea"/>
            </a:endParaRPr>
          </a:p>
          <a:p>
            <a:pPr lvl="1"/>
            <a:r>
              <a:rPr lang="en-US" altLang="zh-CN" sz="1400" dirty="0">
                <a:solidFill>
                  <a:schemeClr val="tx1"/>
                </a:solidFill>
                <a:sym typeface="+mn-ea"/>
              </a:rPr>
              <a:t>HBM(High Bandwidth Memory)</a:t>
            </a:r>
          </a:p>
          <a:p>
            <a:pPr lvl="2"/>
            <a:r>
              <a:rPr lang="zh-CN" altLang="en-US" sz="1400" dirty="0">
                <a:solidFill>
                  <a:schemeClr val="tx1"/>
                </a:solidFill>
                <a:sym typeface="+mn-ea"/>
              </a:rPr>
              <a:t>高带宽显存</a:t>
            </a:r>
            <a:endParaRPr lang="en-US" altLang="zh-CN" sz="1400" dirty="0">
              <a:solidFill>
                <a:schemeClr val="tx1"/>
              </a:solidFill>
              <a:sym typeface="+mn-ea"/>
            </a:endParaRPr>
          </a:p>
          <a:p>
            <a:pPr lvl="2"/>
            <a:r>
              <a:rPr lang="zh-CN" altLang="en-US" sz="1400" dirty="0">
                <a:solidFill>
                  <a:schemeClr val="tx1"/>
                </a:solidFill>
                <a:sym typeface="+mn-ea"/>
              </a:rPr>
              <a:t>支撑大规模数据吞吐</a:t>
            </a:r>
            <a:endParaRPr lang="en-US" altLang="zh-CN" sz="1400" dirty="0">
              <a:solidFill>
                <a:schemeClr val="tx1"/>
              </a:solidFill>
              <a:sym typeface="+mn-ea"/>
            </a:endParaRPr>
          </a:p>
          <a:p>
            <a:pPr lvl="2"/>
            <a:r>
              <a:rPr lang="zh-CN" altLang="en-US" sz="1400" dirty="0">
                <a:solidFill>
                  <a:schemeClr val="tx1"/>
                </a:solidFill>
                <a:sym typeface="+mn-ea"/>
              </a:rPr>
              <a:t>减少数据读取瓶颈</a:t>
            </a:r>
            <a:endParaRPr lang="en-US" altLang="zh-CN" sz="1400" dirty="0">
              <a:solidFill>
                <a:schemeClr val="tx1"/>
              </a:solidFill>
              <a:sym typeface="+mn-ea"/>
            </a:endParaRPr>
          </a:p>
          <a:p>
            <a:pPr marL="914400" lvl="2" indent="0">
              <a:buNone/>
            </a:pPr>
            <a:r>
              <a:rPr lang="en-US" altLang="zh-CN" sz="1800" b="1" dirty="0">
                <a:solidFill>
                  <a:srgbClr val="174995"/>
                </a:solidFill>
                <a:sym typeface="+mn-ea"/>
              </a:rPr>
              <a:t>AI </a:t>
            </a:r>
            <a:r>
              <a:rPr lang="zh-CN" altLang="en-US" sz="1800" b="1" dirty="0">
                <a:solidFill>
                  <a:srgbClr val="174995"/>
                </a:solidFill>
                <a:sym typeface="+mn-ea"/>
              </a:rPr>
              <a:t>计算 </a:t>
            </a:r>
            <a:r>
              <a:rPr lang="en-US" altLang="zh-CN" sz="1800" b="1" dirty="0">
                <a:solidFill>
                  <a:srgbClr val="174995"/>
                </a:solidFill>
                <a:sym typeface="+mn-ea"/>
              </a:rPr>
              <a:t>= </a:t>
            </a:r>
            <a:r>
              <a:rPr lang="zh-CN" altLang="en-US" sz="1800" b="1" dirty="0">
                <a:solidFill>
                  <a:srgbClr val="174995"/>
                </a:solidFill>
                <a:sym typeface="+mn-ea"/>
              </a:rPr>
              <a:t>大规模矩阵运算 → 适合 </a:t>
            </a:r>
            <a:r>
              <a:rPr lang="en-US" altLang="zh-CN" sz="1800" b="1" dirty="0">
                <a:solidFill>
                  <a:srgbClr val="174995"/>
                </a:solidFill>
                <a:sym typeface="+mn-ea"/>
              </a:rPr>
              <a:t>GPU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4CCF7FD1-C44B-963D-33FE-4DAC3A9B956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95562" y="1771509"/>
            <a:ext cx="6979292" cy="3379787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图片 2" descr="剪影蓝 低版本"/>
          <p:cNvPicPr>
            <a:picLocks noChangeAspect="1"/>
          </p:cNvPicPr>
          <p:nvPr/>
        </p:nvPicPr>
        <p:blipFill>
          <a:blip r:embed="rId9"/>
          <a:srcRect l="-8"/>
          <a:stretch>
            <a:fillRect/>
          </a:stretch>
        </p:blipFill>
        <p:spPr>
          <a:xfrm>
            <a:off x="1353" y="5378386"/>
            <a:ext cx="12190495" cy="2438099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1353" y="600"/>
            <a:ext cx="12190495" cy="840002"/>
          </a:xfrm>
          <a:prstGeom prst="rect">
            <a:avLst/>
          </a:prstGeom>
          <a:gradFill>
            <a:gsLst>
              <a:gs pos="0">
                <a:schemeClr val="bg1"/>
              </a:gs>
              <a:gs pos="50000">
                <a:srgbClr val="5399D4"/>
              </a:gs>
              <a:gs pos="100000">
                <a:srgbClr val="2E3C63"/>
              </a:gs>
            </a:gsLst>
          </a:gradFill>
          <a:effectLst/>
        </p:spPr>
        <p:style>
          <a:lnRef idx="0">
            <a:srgbClr val="FFFFFF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z="100" strike="noStrike" noProof="1"/>
          </a:p>
        </p:txBody>
      </p:sp>
      <p:pic>
        <p:nvPicPr>
          <p:cNvPr id="2" name="图片 1" descr="国科大标准Logo横式一（白色）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815971" y="187901"/>
            <a:ext cx="2167622" cy="457144"/>
          </a:xfrm>
          <a:prstGeom prst="rect">
            <a:avLst/>
          </a:prstGeom>
        </p:spPr>
      </p:pic>
      <p:sp>
        <p:nvSpPr>
          <p:cNvPr id="3078" name="文本框 3"/>
          <p:cNvSpPr txBox="1"/>
          <p:nvPr>
            <p:custDataLst>
              <p:tags r:id="rId3"/>
            </p:custDataLst>
          </p:nvPr>
        </p:nvSpPr>
        <p:spPr>
          <a:xfrm>
            <a:off x="46644" y="-47231"/>
            <a:ext cx="850795" cy="919366"/>
          </a:xfrm>
          <a:prstGeom prst="rect">
            <a:avLst/>
          </a:prstGeom>
          <a:noFill/>
          <a:ln w="12700" cmpd="sng">
            <a:noFill/>
            <a:prstDash val="solid"/>
          </a:ln>
          <a:effectLst>
            <a:outerShdw dist="63500" dir="2700000" algn="tl" rotWithShape="0">
              <a:schemeClr val="bg1">
                <a:alpha val="100000"/>
              </a:schemeClr>
            </a:outerShdw>
          </a:effectLst>
        </p:spPr>
        <p:txBody>
          <a:bodyPr wrap="square" anchor="t" anchorCtr="0"/>
          <a:lstStyle/>
          <a:p>
            <a:pPr>
              <a:lnSpc>
                <a:spcPct val="130000"/>
              </a:lnSpc>
            </a:pPr>
            <a:r>
              <a:rPr lang="en-US" altLang="zh-CN" sz="4000" i="1">
                <a:ln w="19050">
                  <a:noFill/>
                </a:ln>
                <a:gradFill>
                  <a:gsLst>
                    <a:gs pos="39000">
                      <a:srgbClr val="5399D4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Bauhaus 93" panose="04030905020B02020C02" charset="0"/>
                <a:ea typeface="造字工房朗倩（非商用）常规体" charset="-122"/>
                <a:cs typeface="Bauhaus 93" panose="04030905020B02020C02" charset="0"/>
              </a:rPr>
              <a:t>03</a:t>
            </a:r>
          </a:p>
        </p:txBody>
      </p:sp>
      <p:sp>
        <p:nvSpPr>
          <p:cNvPr id="4" name="文本框 3"/>
          <p:cNvSpPr txBox="1"/>
          <p:nvPr>
            <p:custDataLst>
              <p:tags r:id="rId4"/>
            </p:custDataLst>
          </p:nvPr>
        </p:nvSpPr>
        <p:spPr>
          <a:xfrm>
            <a:off x="812148" y="172029"/>
            <a:ext cx="8441283" cy="53777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800" dirty="0">
                <a:solidFill>
                  <a:srgbClr val="2E3C63"/>
                </a:solidFill>
              </a:rPr>
              <a:t>Cluster Evolution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9</a:t>
            </a:fld>
            <a:endParaRPr lang="zh-CN" altLang="en-US" strike="noStrike" noProof="1"/>
          </a:p>
        </p:txBody>
      </p:sp>
      <p:sp>
        <p:nvSpPr>
          <p:cNvPr id="7" name="标题 1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rm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endParaRPr lang="en-US" altLang="zh-CN"/>
          </a:p>
        </p:txBody>
      </p:sp>
      <p:sp>
        <p:nvSpPr>
          <p:cNvPr id="9" name="内容占位符 2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202407" y="1012031"/>
            <a:ext cx="5020771" cy="4715669"/>
          </a:xfrm>
          <a:prstGeom prst="rect">
            <a:avLst/>
          </a:prstGeom>
        </p:spPr>
        <p:txBody>
          <a:bodyPr vert="horz" lIns="90000" tIns="46800" rIns="90000" bIns="46800" rtlCol="0">
            <a:normAutofit fontScale="92500"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dirty="0">
                <a:solidFill>
                  <a:schemeClr val="tx1"/>
                </a:solidFill>
              </a:rPr>
              <a:t>From single GPU → multi-GPU →GPU Cluster →  large-scale clusters</a:t>
            </a:r>
          </a:p>
          <a:p>
            <a:pPr lvl="1"/>
            <a:r>
              <a:rPr lang="en-US" altLang="zh-CN" sz="1800" dirty="0">
                <a:solidFill>
                  <a:schemeClr val="tx1"/>
                </a:solidFill>
              </a:rPr>
              <a:t>Single GPU</a:t>
            </a:r>
            <a:r>
              <a:rPr lang="zh-CN" altLang="en-US" sz="1800" dirty="0">
                <a:solidFill>
                  <a:schemeClr val="tx1"/>
                </a:solidFill>
              </a:rPr>
              <a:t>（单卡）：小模型</a:t>
            </a:r>
            <a:r>
              <a:rPr lang="en-US" altLang="zh-CN" sz="1800" dirty="0">
                <a:solidFill>
                  <a:schemeClr val="tx1"/>
                </a:solidFill>
              </a:rPr>
              <a:t>/</a:t>
            </a:r>
            <a:r>
              <a:rPr lang="zh-CN" altLang="en-US" sz="1800" dirty="0">
                <a:solidFill>
                  <a:schemeClr val="tx1"/>
                </a:solidFill>
              </a:rPr>
              <a:t>实验验证，无通信开销，算力有限，无法训练大模型</a:t>
            </a:r>
            <a:endParaRPr lang="en-US" altLang="zh-CN" sz="1800" dirty="0">
              <a:solidFill>
                <a:schemeClr val="tx1"/>
              </a:solidFill>
            </a:endParaRPr>
          </a:p>
          <a:p>
            <a:pPr lvl="1"/>
            <a:r>
              <a:rPr lang="en-US" altLang="zh-CN" sz="1800" dirty="0">
                <a:solidFill>
                  <a:schemeClr val="tx1"/>
                </a:solidFill>
              </a:rPr>
              <a:t>Multi-GPU</a:t>
            </a:r>
            <a:r>
              <a:rPr lang="zh-CN" altLang="en-US" sz="1800" dirty="0">
                <a:solidFill>
                  <a:schemeClr val="tx1"/>
                </a:solidFill>
              </a:rPr>
              <a:t>（单机多卡）：多张</a:t>
            </a:r>
            <a:r>
              <a:rPr lang="en-US" altLang="zh-CN" sz="1800" dirty="0" err="1">
                <a:solidFill>
                  <a:schemeClr val="tx1"/>
                </a:solidFill>
              </a:rPr>
              <a:t>GPU,NVLink</a:t>
            </a:r>
            <a:r>
              <a:rPr lang="en-US" altLang="zh-CN" sz="1800" dirty="0">
                <a:solidFill>
                  <a:schemeClr val="tx1"/>
                </a:solidFill>
              </a:rPr>
              <a:t>,</a:t>
            </a:r>
            <a:r>
              <a:rPr lang="zh-CN" altLang="en-US" sz="1800" dirty="0">
                <a:solidFill>
                  <a:schemeClr val="tx1"/>
                </a:solidFill>
              </a:rPr>
              <a:t>需要</a:t>
            </a:r>
            <a:r>
              <a:rPr lang="en-US" altLang="zh-CN" sz="1800" dirty="0">
                <a:solidFill>
                  <a:schemeClr val="tx1"/>
                </a:solidFill>
              </a:rPr>
              <a:t>GPU</a:t>
            </a:r>
            <a:r>
              <a:rPr lang="zh-CN" altLang="en-US" sz="1800" dirty="0">
                <a:solidFill>
                  <a:schemeClr val="tx1"/>
                </a:solidFill>
              </a:rPr>
              <a:t>间通信</a:t>
            </a:r>
            <a:endParaRPr lang="en-US" altLang="zh-CN" sz="1800" dirty="0">
              <a:solidFill>
                <a:schemeClr val="tx1"/>
              </a:solidFill>
            </a:endParaRPr>
          </a:p>
          <a:p>
            <a:pPr lvl="1"/>
            <a:r>
              <a:rPr lang="en-US" altLang="zh-CN" sz="1800" dirty="0">
                <a:solidFill>
                  <a:schemeClr val="tx1"/>
                </a:solidFill>
              </a:rPr>
              <a:t>GPU Cluster</a:t>
            </a:r>
            <a:r>
              <a:rPr lang="zh-CN" altLang="en-US" sz="1800" dirty="0">
                <a:solidFill>
                  <a:schemeClr val="tx1"/>
                </a:solidFill>
              </a:rPr>
              <a:t>（多机集群）：多台服务器，通过高速网络连接，通信成为瓶颈</a:t>
            </a:r>
            <a:endParaRPr lang="en-US" altLang="zh-CN" sz="1800" dirty="0">
              <a:solidFill>
                <a:schemeClr val="tx1"/>
              </a:solidFill>
            </a:endParaRPr>
          </a:p>
          <a:p>
            <a:pPr lvl="1"/>
            <a:r>
              <a:rPr lang="en-US" altLang="zh-CN" sz="1800" dirty="0">
                <a:solidFill>
                  <a:schemeClr val="tx1"/>
                </a:solidFill>
              </a:rPr>
              <a:t>Large-scale Cluster</a:t>
            </a:r>
            <a:r>
              <a:rPr lang="zh-CN" altLang="en-US" sz="1800" dirty="0">
                <a:solidFill>
                  <a:schemeClr val="tx1"/>
                </a:solidFill>
              </a:rPr>
              <a:t>（万卡级）：上千上万</a:t>
            </a:r>
            <a:r>
              <a:rPr lang="en-US" altLang="zh-CN" sz="1800" dirty="0">
                <a:solidFill>
                  <a:schemeClr val="tx1"/>
                </a:solidFill>
              </a:rPr>
              <a:t>GPU</a:t>
            </a:r>
            <a:r>
              <a:rPr lang="zh-CN" altLang="en-US" sz="1800" dirty="0">
                <a:solidFill>
                  <a:schemeClr val="tx1"/>
                </a:solidFill>
              </a:rPr>
              <a:t>，数据中心级别，超大模型训练。</a:t>
            </a:r>
            <a:endParaRPr lang="en-US" altLang="zh-CN" sz="1800" dirty="0">
              <a:solidFill>
                <a:schemeClr val="tx1"/>
              </a:solidFill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36D08728-6F43-AF72-9B6D-5924A2FBF286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9415" y="3696911"/>
            <a:ext cx="6367106" cy="2053905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1C434F4F-EE49-2DE5-A051-CAB3A8AFF51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629171" y="1455484"/>
            <a:ext cx="5887593" cy="2133186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图片 2" descr="剪影蓝 低版本"/>
          <p:cNvPicPr>
            <a:picLocks noChangeAspect="1"/>
          </p:cNvPicPr>
          <p:nvPr/>
        </p:nvPicPr>
        <p:blipFill>
          <a:blip r:embed="rId9"/>
          <a:srcRect l="-8"/>
          <a:stretch>
            <a:fillRect/>
          </a:stretch>
        </p:blipFill>
        <p:spPr>
          <a:xfrm>
            <a:off x="1353" y="5378386"/>
            <a:ext cx="12190495" cy="2438099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1353" y="600"/>
            <a:ext cx="12190495" cy="840002"/>
          </a:xfrm>
          <a:prstGeom prst="rect">
            <a:avLst/>
          </a:prstGeom>
          <a:gradFill>
            <a:gsLst>
              <a:gs pos="0">
                <a:schemeClr val="bg1"/>
              </a:gs>
              <a:gs pos="50000">
                <a:srgbClr val="5399D4"/>
              </a:gs>
              <a:gs pos="100000">
                <a:srgbClr val="2E3C63"/>
              </a:gs>
            </a:gsLst>
          </a:gradFill>
          <a:effectLst/>
        </p:spPr>
        <p:style>
          <a:lnRef idx="0">
            <a:srgbClr val="FFFFFF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z="100" strike="noStrike" noProof="1"/>
          </a:p>
        </p:txBody>
      </p:sp>
      <p:pic>
        <p:nvPicPr>
          <p:cNvPr id="2" name="图片 1" descr="国科大标准Logo横式一（白色）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815971" y="187901"/>
            <a:ext cx="2167622" cy="457144"/>
          </a:xfrm>
          <a:prstGeom prst="rect">
            <a:avLst/>
          </a:prstGeom>
        </p:spPr>
      </p:pic>
      <p:sp>
        <p:nvSpPr>
          <p:cNvPr id="3078" name="文本框 3"/>
          <p:cNvSpPr txBox="1"/>
          <p:nvPr>
            <p:custDataLst>
              <p:tags r:id="rId3"/>
            </p:custDataLst>
          </p:nvPr>
        </p:nvSpPr>
        <p:spPr>
          <a:xfrm>
            <a:off x="46644" y="-47231"/>
            <a:ext cx="850795" cy="919366"/>
          </a:xfrm>
          <a:prstGeom prst="rect">
            <a:avLst/>
          </a:prstGeom>
          <a:noFill/>
          <a:ln w="12700" cmpd="sng">
            <a:noFill/>
            <a:prstDash val="solid"/>
          </a:ln>
          <a:effectLst>
            <a:outerShdw dist="63500" dir="2700000" algn="tl" rotWithShape="0">
              <a:schemeClr val="bg1">
                <a:alpha val="100000"/>
              </a:schemeClr>
            </a:outerShdw>
          </a:effectLst>
        </p:spPr>
        <p:txBody>
          <a:bodyPr wrap="square" anchor="t" anchorCtr="0"/>
          <a:lstStyle/>
          <a:p>
            <a:pPr>
              <a:lnSpc>
                <a:spcPct val="130000"/>
              </a:lnSpc>
            </a:pPr>
            <a:r>
              <a:rPr lang="en-US" altLang="zh-CN" sz="4000" i="1">
                <a:ln w="19050">
                  <a:noFill/>
                </a:ln>
                <a:gradFill>
                  <a:gsLst>
                    <a:gs pos="39000">
                      <a:srgbClr val="5399D4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Bauhaus 93" panose="04030905020B02020C02" charset="0"/>
                <a:ea typeface="造字工房朗倩（非商用）常规体" charset="-122"/>
                <a:cs typeface="Bauhaus 93" panose="04030905020B02020C02" charset="0"/>
              </a:rPr>
              <a:t>03</a:t>
            </a:r>
          </a:p>
        </p:txBody>
      </p:sp>
      <p:sp>
        <p:nvSpPr>
          <p:cNvPr id="4" name="文本框 3"/>
          <p:cNvSpPr txBox="1"/>
          <p:nvPr>
            <p:custDataLst>
              <p:tags r:id="rId4"/>
            </p:custDataLst>
          </p:nvPr>
        </p:nvSpPr>
        <p:spPr>
          <a:xfrm>
            <a:off x="812148" y="172029"/>
            <a:ext cx="8441283" cy="53777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800" dirty="0">
                <a:solidFill>
                  <a:srgbClr val="2E3C63"/>
                </a:solidFill>
              </a:rPr>
              <a:t>Communication Ops </a:t>
            </a:r>
            <a:r>
              <a:rPr lang="zh-CN" altLang="en-US" sz="2800" dirty="0"/>
              <a:t>通信操作</a:t>
            </a:r>
            <a:endParaRPr lang="en-US" altLang="zh-CN" sz="2800" dirty="0">
              <a:solidFill>
                <a:srgbClr val="2E3C63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10</a:t>
            </a:fld>
            <a:endParaRPr lang="zh-CN" altLang="en-US" strike="noStrike" noProof="1"/>
          </a:p>
        </p:txBody>
      </p:sp>
      <p:sp>
        <p:nvSpPr>
          <p:cNvPr id="7" name="标题 1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rm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endParaRPr lang="en-US" altLang="zh-CN"/>
          </a:p>
        </p:txBody>
      </p:sp>
      <p:sp>
        <p:nvSpPr>
          <p:cNvPr id="9" name="内容占位符 2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313865" y="1176770"/>
            <a:ext cx="5779135" cy="5434473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000" dirty="0">
                <a:solidFill>
                  <a:schemeClr val="tx1"/>
                </a:solidFill>
              </a:rPr>
              <a:t>为什么需要通信？</a:t>
            </a:r>
            <a:endParaRPr lang="en-US" altLang="zh-CN" sz="2000" dirty="0">
              <a:solidFill>
                <a:schemeClr val="tx1"/>
              </a:solidFill>
            </a:endParaRPr>
          </a:p>
          <a:p>
            <a:pPr lvl="1"/>
            <a:r>
              <a:rPr lang="zh-CN" altLang="en-US" sz="1800" dirty="0">
                <a:solidFill>
                  <a:schemeClr val="tx1"/>
                </a:solidFill>
              </a:rPr>
              <a:t>大模型训练采用多 </a:t>
            </a:r>
            <a:r>
              <a:rPr lang="en-US" altLang="zh-CN" sz="1800" dirty="0">
                <a:solidFill>
                  <a:schemeClr val="tx1"/>
                </a:solidFill>
              </a:rPr>
              <a:t>GPU / </a:t>
            </a:r>
            <a:r>
              <a:rPr lang="zh-CN" altLang="en-US" sz="1800" dirty="0">
                <a:solidFill>
                  <a:schemeClr val="tx1"/>
                </a:solidFill>
              </a:rPr>
              <a:t>多节点分布式计算</a:t>
            </a:r>
            <a:endParaRPr lang="en-US" altLang="zh-CN" sz="1800" dirty="0">
              <a:solidFill>
                <a:schemeClr val="tx1"/>
              </a:solidFill>
            </a:endParaRPr>
          </a:p>
          <a:p>
            <a:pPr lvl="1"/>
            <a:r>
              <a:rPr lang="zh-CN" altLang="en-US" sz="1800" dirty="0">
                <a:solidFill>
                  <a:schemeClr val="tx1"/>
                </a:solidFill>
              </a:rPr>
              <a:t>每个 </a:t>
            </a:r>
            <a:r>
              <a:rPr lang="en-US" altLang="zh-CN" sz="1800" dirty="0">
                <a:solidFill>
                  <a:schemeClr val="tx1"/>
                </a:solidFill>
              </a:rPr>
              <a:t>GPU </a:t>
            </a:r>
            <a:r>
              <a:rPr lang="zh-CN" altLang="en-US" sz="1800" dirty="0">
                <a:solidFill>
                  <a:schemeClr val="tx1"/>
                </a:solidFill>
              </a:rPr>
              <a:t>仅计算部分数据</a:t>
            </a:r>
            <a:endParaRPr lang="en-US" altLang="zh-CN" sz="1800" dirty="0">
              <a:solidFill>
                <a:schemeClr val="tx1"/>
              </a:solidFill>
            </a:endParaRPr>
          </a:p>
          <a:p>
            <a:pPr lvl="1"/>
            <a:r>
              <a:rPr lang="zh-CN" altLang="en-US" sz="1800" dirty="0">
                <a:solidFill>
                  <a:schemeClr val="tx1"/>
                </a:solidFill>
              </a:rPr>
              <a:t>需要同步参数与中间结果</a:t>
            </a:r>
            <a:endParaRPr lang="en-US" altLang="zh-CN" sz="1800" dirty="0">
              <a:solidFill>
                <a:schemeClr val="tx1"/>
              </a:solidFill>
            </a:endParaRPr>
          </a:p>
          <a:p>
            <a:r>
              <a:rPr lang="zh-CN" altLang="en-US" sz="2000" dirty="0">
                <a:solidFill>
                  <a:schemeClr val="tx1"/>
                </a:solidFill>
              </a:rPr>
              <a:t>核心通信操作</a:t>
            </a:r>
            <a:endParaRPr lang="en-US" altLang="zh-CN" sz="2000" dirty="0">
              <a:solidFill>
                <a:schemeClr val="tx1"/>
              </a:solidFill>
            </a:endParaRPr>
          </a:p>
          <a:p>
            <a:pPr lvl="1"/>
            <a:r>
              <a:rPr lang="en-US" altLang="zh-CN" dirty="0" err="1">
                <a:solidFill>
                  <a:schemeClr val="tx1"/>
                </a:solidFill>
              </a:rPr>
              <a:t>AllReduce</a:t>
            </a:r>
            <a:r>
              <a:rPr lang="zh-CN" altLang="en-US" dirty="0">
                <a:solidFill>
                  <a:schemeClr val="tx1"/>
                </a:solidFill>
              </a:rPr>
              <a:t>（梯度同步）</a:t>
            </a:r>
            <a:endParaRPr lang="en-US" altLang="zh-CN" dirty="0">
              <a:solidFill>
                <a:schemeClr val="tx1"/>
              </a:solidFill>
            </a:endParaRPr>
          </a:p>
          <a:p>
            <a:pPr lvl="2"/>
            <a:r>
              <a:rPr lang="zh-CN" altLang="en-US" dirty="0">
                <a:solidFill>
                  <a:schemeClr val="tx1"/>
                </a:solidFill>
              </a:rPr>
              <a:t>各 </a:t>
            </a:r>
            <a:r>
              <a:rPr lang="en-US" altLang="zh-CN" dirty="0">
                <a:solidFill>
                  <a:schemeClr val="tx1"/>
                </a:solidFill>
              </a:rPr>
              <a:t>GPU </a:t>
            </a:r>
            <a:r>
              <a:rPr lang="zh-CN" altLang="en-US" dirty="0">
                <a:solidFill>
                  <a:schemeClr val="tx1"/>
                </a:solidFill>
              </a:rPr>
              <a:t>计算本地梯度 </a:t>
            </a:r>
          </a:p>
          <a:p>
            <a:pPr lvl="2"/>
            <a:r>
              <a:rPr lang="zh-CN" altLang="en-US" dirty="0">
                <a:solidFill>
                  <a:schemeClr val="tx1"/>
                </a:solidFill>
              </a:rPr>
              <a:t>对梯度进行求和</a:t>
            </a:r>
            <a:r>
              <a:rPr lang="en-US" altLang="zh-CN" dirty="0">
                <a:solidFill>
                  <a:schemeClr val="tx1"/>
                </a:solidFill>
              </a:rPr>
              <a:t>/</a:t>
            </a:r>
            <a:r>
              <a:rPr lang="zh-CN" altLang="en-US" dirty="0">
                <a:solidFill>
                  <a:schemeClr val="tx1"/>
                </a:solidFill>
              </a:rPr>
              <a:t>平均 </a:t>
            </a:r>
          </a:p>
          <a:p>
            <a:pPr lvl="2"/>
            <a:r>
              <a:rPr lang="zh-CN" altLang="en-US" dirty="0">
                <a:solidFill>
                  <a:schemeClr val="tx1"/>
                </a:solidFill>
              </a:rPr>
              <a:t>同步到所有 </a:t>
            </a:r>
            <a:r>
              <a:rPr lang="en-US" altLang="zh-CN" dirty="0">
                <a:solidFill>
                  <a:schemeClr val="tx1"/>
                </a:solidFill>
              </a:rPr>
              <a:t>GPU</a:t>
            </a:r>
          </a:p>
          <a:p>
            <a:pPr lvl="1"/>
            <a:r>
              <a:rPr lang="en-US" altLang="zh-CN" dirty="0" err="1">
                <a:solidFill>
                  <a:schemeClr val="tx1"/>
                </a:solidFill>
              </a:rPr>
              <a:t>AllGather</a:t>
            </a:r>
            <a:r>
              <a:rPr lang="zh-CN" altLang="en-US" dirty="0">
                <a:solidFill>
                  <a:schemeClr val="tx1"/>
                </a:solidFill>
              </a:rPr>
              <a:t>（数据收集）</a:t>
            </a:r>
          </a:p>
          <a:p>
            <a:pPr lvl="2"/>
            <a:r>
              <a:rPr lang="zh-CN" altLang="en-US" dirty="0">
                <a:solidFill>
                  <a:schemeClr val="tx1"/>
                </a:solidFill>
              </a:rPr>
              <a:t>各 </a:t>
            </a:r>
            <a:r>
              <a:rPr lang="en-US" altLang="zh-CN" dirty="0">
                <a:solidFill>
                  <a:schemeClr val="tx1"/>
                </a:solidFill>
              </a:rPr>
              <a:t>GPU </a:t>
            </a:r>
            <a:r>
              <a:rPr lang="zh-CN" altLang="en-US" dirty="0">
                <a:solidFill>
                  <a:schemeClr val="tx1"/>
                </a:solidFill>
              </a:rPr>
              <a:t>持有部分数据 </a:t>
            </a:r>
          </a:p>
          <a:p>
            <a:pPr lvl="2"/>
            <a:r>
              <a:rPr lang="zh-CN" altLang="en-US" dirty="0">
                <a:solidFill>
                  <a:schemeClr val="tx1"/>
                </a:solidFill>
              </a:rPr>
              <a:t>汇总得到完整数据 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1F481DB1-7D25-5852-DB71-4F7C8273225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47371" y="2616200"/>
            <a:ext cx="5936221" cy="2900377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图片 2" descr="剪影蓝 低版本"/>
          <p:cNvPicPr>
            <a:picLocks noChangeAspect="1"/>
          </p:cNvPicPr>
          <p:nvPr/>
        </p:nvPicPr>
        <p:blipFill>
          <a:blip r:embed="rId9"/>
          <a:srcRect l="-8"/>
          <a:stretch>
            <a:fillRect/>
          </a:stretch>
        </p:blipFill>
        <p:spPr>
          <a:xfrm>
            <a:off x="1353" y="5378386"/>
            <a:ext cx="12190495" cy="2438099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1353" y="600"/>
            <a:ext cx="12190495" cy="840002"/>
          </a:xfrm>
          <a:prstGeom prst="rect">
            <a:avLst/>
          </a:prstGeom>
          <a:gradFill>
            <a:gsLst>
              <a:gs pos="0">
                <a:schemeClr val="bg1"/>
              </a:gs>
              <a:gs pos="50000">
                <a:srgbClr val="5399D4"/>
              </a:gs>
              <a:gs pos="100000">
                <a:srgbClr val="2E3C63"/>
              </a:gs>
            </a:gsLst>
          </a:gradFill>
          <a:effectLst/>
        </p:spPr>
        <p:style>
          <a:lnRef idx="0">
            <a:srgbClr val="FFFFFF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z="100" strike="noStrike" noProof="1"/>
          </a:p>
        </p:txBody>
      </p:sp>
      <p:pic>
        <p:nvPicPr>
          <p:cNvPr id="2" name="图片 1" descr="国科大标准Logo横式一（白色）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815971" y="187901"/>
            <a:ext cx="2167622" cy="457144"/>
          </a:xfrm>
          <a:prstGeom prst="rect">
            <a:avLst/>
          </a:prstGeom>
        </p:spPr>
      </p:pic>
      <p:sp>
        <p:nvSpPr>
          <p:cNvPr id="3078" name="文本框 3"/>
          <p:cNvSpPr txBox="1"/>
          <p:nvPr>
            <p:custDataLst>
              <p:tags r:id="rId3"/>
            </p:custDataLst>
          </p:nvPr>
        </p:nvSpPr>
        <p:spPr>
          <a:xfrm>
            <a:off x="46644" y="-47231"/>
            <a:ext cx="850795" cy="919366"/>
          </a:xfrm>
          <a:prstGeom prst="rect">
            <a:avLst/>
          </a:prstGeom>
          <a:noFill/>
          <a:ln w="12700" cmpd="sng">
            <a:noFill/>
            <a:prstDash val="solid"/>
          </a:ln>
          <a:effectLst>
            <a:outerShdw dist="63500" dir="2700000" algn="tl" rotWithShape="0">
              <a:schemeClr val="bg1">
                <a:alpha val="100000"/>
              </a:schemeClr>
            </a:outerShdw>
          </a:effectLst>
        </p:spPr>
        <p:txBody>
          <a:bodyPr wrap="square" anchor="t" anchorCtr="0"/>
          <a:lstStyle/>
          <a:p>
            <a:pPr>
              <a:lnSpc>
                <a:spcPct val="130000"/>
              </a:lnSpc>
            </a:pPr>
            <a:r>
              <a:rPr lang="en-US" altLang="zh-CN" sz="4000" i="1" dirty="0">
                <a:ln w="19050">
                  <a:noFill/>
                </a:ln>
                <a:gradFill>
                  <a:gsLst>
                    <a:gs pos="39000">
                      <a:srgbClr val="5399D4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Bauhaus 93" panose="04030905020B02020C02" charset="0"/>
                <a:ea typeface="造字工房朗倩（非商用）常规体" charset="-122"/>
                <a:cs typeface="Bauhaus 93" panose="04030905020B02020C02" charset="0"/>
              </a:rPr>
              <a:t>03</a:t>
            </a:r>
          </a:p>
        </p:txBody>
      </p:sp>
      <p:sp>
        <p:nvSpPr>
          <p:cNvPr id="4" name="文本框 3"/>
          <p:cNvSpPr txBox="1"/>
          <p:nvPr>
            <p:custDataLst>
              <p:tags r:id="rId4"/>
            </p:custDataLst>
          </p:nvPr>
        </p:nvSpPr>
        <p:spPr>
          <a:xfrm>
            <a:off x="812148" y="172029"/>
            <a:ext cx="8441283" cy="53777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800" dirty="0">
                <a:solidFill>
                  <a:srgbClr val="2E3C63"/>
                </a:solidFill>
              </a:rPr>
              <a:t>Communication Libraries</a:t>
            </a:r>
            <a:r>
              <a:rPr lang="zh-CN" altLang="en-US" sz="2800" dirty="0">
                <a:solidFill>
                  <a:srgbClr val="2E3C63"/>
                </a:solidFill>
              </a:rPr>
              <a:t>  通信库</a:t>
            </a:r>
            <a:endParaRPr lang="en-US" altLang="zh-CN" sz="2800" dirty="0">
              <a:solidFill>
                <a:srgbClr val="2E3C63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11</a:t>
            </a:fld>
            <a:endParaRPr lang="zh-CN" altLang="en-US" strike="noStrike" noProof="1"/>
          </a:p>
        </p:txBody>
      </p:sp>
      <p:sp>
        <p:nvSpPr>
          <p:cNvPr id="7" name="标题 1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rm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endParaRPr lang="en-US" altLang="zh-CN"/>
          </a:p>
        </p:txBody>
      </p:sp>
      <p:sp>
        <p:nvSpPr>
          <p:cNvPr id="9" name="内容占位符 2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202407" y="1075507"/>
            <a:ext cx="7313847" cy="510159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solidFill>
                  <a:schemeClr val="tx1"/>
                </a:solidFill>
              </a:rPr>
              <a:t>MPI (Message Passing Interface)</a:t>
            </a:r>
          </a:p>
          <a:p>
            <a:pPr lvl="1"/>
            <a:r>
              <a:rPr lang="zh-CN" altLang="en-US" dirty="0">
                <a:solidFill>
                  <a:schemeClr val="tx1"/>
                </a:solidFill>
              </a:rPr>
              <a:t>通用分布式通信标准 </a:t>
            </a:r>
          </a:p>
          <a:p>
            <a:pPr lvl="1"/>
            <a:r>
              <a:rPr lang="zh-CN" altLang="en-US" dirty="0">
                <a:solidFill>
                  <a:schemeClr val="tx1"/>
                </a:solidFill>
              </a:rPr>
              <a:t>支持多种硬件（</a:t>
            </a:r>
            <a:r>
              <a:rPr lang="en-US" altLang="zh-CN" dirty="0">
                <a:solidFill>
                  <a:schemeClr val="tx1"/>
                </a:solidFill>
              </a:rPr>
              <a:t>CPU / GPU</a:t>
            </a:r>
            <a:r>
              <a:rPr lang="zh-CN" altLang="en-US" dirty="0">
                <a:solidFill>
                  <a:schemeClr val="tx1"/>
                </a:solidFill>
              </a:rPr>
              <a:t>） </a:t>
            </a:r>
          </a:p>
          <a:p>
            <a:pPr lvl="1"/>
            <a:r>
              <a:rPr lang="zh-CN" altLang="en-US" dirty="0">
                <a:solidFill>
                  <a:schemeClr val="tx1"/>
                </a:solidFill>
              </a:rPr>
              <a:t>应用于 </a:t>
            </a:r>
            <a:r>
              <a:rPr lang="en-US" altLang="zh-CN" dirty="0">
                <a:solidFill>
                  <a:schemeClr val="tx1"/>
                </a:solidFill>
              </a:rPr>
              <a:t>HPC</a:t>
            </a:r>
            <a:r>
              <a:rPr lang="zh-CN" altLang="en-US" dirty="0">
                <a:solidFill>
                  <a:schemeClr val="tx1"/>
                </a:solidFill>
              </a:rPr>
              <a:t>（高性能计算）领域 </a:t>
            </a:r>
          </a:p>
          <a:p>
            <a:pPr marL="0" indent="0">
              <a:buNone/>
            </a:pPr>
            <a:r>
              <a:rPr lang="zh-CN" altLang="en-US" dirty="0">
                <a:solidFill>
                  <a:schemeClr val="tx1"/>
                </a:solidFill>
              </a:rPr>
              <a:t>通用性强，但对 </a:t>
            </a:r>
            <a:r>
              <a:rPr lang="en-US" altLang="zh-CN" dirty="0">
                <a:solidFill>
                  <a:schemeClr val="tx1"/>
                </a:solidFill>
              </a:rPr>
              <a:t>GPU </a:t>
            </a:r>
            <a:r>
              <a:rPr lang="zh-CN" altLang="en-US" dirty="0">
                <a:solidFill>
                  <a:schemeClr val="tx1"/>
                </a:solidFill>
              </a:rPr>
              <a:t>优化有限</a:t>
            </a:r>
            <a:endParaRPr lang="en-US" altLang="zh-CN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chemeClr val="tx1"/>
              </a:solidFill>
            </a:endParaRPr>
          </a:p>
          <a:p>
            <a:r>
              <a:rPr lang="en-US" altLang="zh-CN" dirty="0">
                <a:solidFill>
                  <a:schemeClr val="tx1"/>
                </a:solidFill>
              </a:rPr>
              <a:t>NCCL (NVIDIA Collective Communication Library)</a:t>
            </a:r>
          </a:p>
          <a:p>
            <a:pPr lvl="1"/>
            <a:r>
              <a:rPr lang="zh-CN" altLang="en-US" dirty="0">
                <a:solidFill>
                  <a:schemeClr val="tx1"/>
                </a:solidFill>
              </a:rPr>
              <a:t>专为 </a:t>
            </a:r>
            <a:r>
              <a:rPr lang="en-US" altLang="zh-CN" dirty="0">
                <a:solidFill>
                  <a:schemeClr val="tx1"/>
                </a:solidFill>
              </a:rPr>
              <a:t>GPU </a:t>
            </a:r>
            <a:r>
              <a:rPr lang="zh-CN" altLang="en-US" dirty="0">
                <a:solidFill>
                  <a:schemeClr val="tx1"/>
                </a:solidFill>
              </a:rPr>
              <a:t>集群设计 </a:t>
            </a:r>
          </a:p>
          <a:p>
            <a:pPr lvl="1"/>
            <a:r>
              <a:rPr lang="zh-CN" altLang="en-US" dirty="0">
                <a:solidFill>
                  <a:schemeClr val="tx1"/>
                </a:solidFill>
              </a:rPr>
              <a:t>针对 </a:t>
            </a:r>
            <a:r>
              <a:rPr lang="en-US" altLang="zh-CN" dirty="0" err="1">
                <a:solidFill>
                  <a:schemeClr val="tx1"/>
                </a:solidFill>
              </a:rPr>
              <a:t>AllReduce</a:t>
            </a:r>
            <a:r>
              <a:rPr lang="en-US" altLang="zh-CN" dirty="0">
                <a:solidFill>
                  <a:schemeClr val="tx1"/>
                </a:solidFill>
              </a:rPr>
              <a:t> / </a:t>
            </a:r>
            <a:r>
              <a:rPr lang="en-US" altLang="zh-CN" dirty="0" err="1">
                <a:solidFill>
                  <a:schemeClr val="tx1"/>
                </a:solidFill>
              </a:rPr>
              <a:t>AllGather</a:t>
            </a:r>
            <a:r>
              <a:rPr lang="en-US" altLang="zh-CN" dirty="0">
                <a:solidFill>
                  <a:schemeClr val="tx1"/>
                </a:solidFill>
              </a:rPr>
              <a:t> </a:t>
            </a:r>
            <a:r>
              <a:rPr lang="zh-CN" altLang="en-US" dirty="0">
                <a:solidFill>
                  <a:schemeClr val="tx1"/>
                </a:solidFill>
              </a:rPr>
              <a:t>等操作优化 </a:t>
            </a:r>
          </a:p>
          <a:p>
            <a:pPr lvl="1"/>
            <a:r>
              <a:rPr lang="zh-CN" altLang="en-US" dirty="0">
                <a:solidFill>
                  <a:schemeClr val="tx1"/>
                </a:solidFill>
              </a:rPr>
              <a:t>支持 </a:t>
            </a:r>
            <a:r>
              <a:rPr lang="en-US" altLang="zh-CN" dirty="0" err="1">
                <a:solidFill>
                  <a:schemeClr val="tx1"/>
                </a:solidFill>
              </a:rPr>
              <a:t>NVLink</a:t>
            </a:r>
            <a:r>
              <a:rPr lang="zh-CN" altLang="en-US" dirty="0">
                <a:solidFill>
                  <a:schemeClr val="tx1"/>
                </a:solidFill>
              </a:rPr>
              <a:t>、</a:t>
            </a:r>
            <a:r>
              <a:rPr lang="en-US" altLang="zh-CN" dirty="0">
                <a:solidFill>
                  <a:schemeClr val="tx1"/>
                </a:solidFill>
              </a:rPr>
              <a:t>PCIe</a:t>
            </a:r>
            <a:r>
              <a:rPr lang="zh-CN" altLang="en-US" dirty="0">
                <a:solidFill>
                  <a:schemeClr val="tx1"/>
                </a:solidFill>
              </a:rPr>
              <a:t>、</a:t>
            </a:r>
            <a:r>
              <a:rPr lang="en-US" altLang="zh-CN" dirty="0">
                <a:solidFill>
                  <a:schemeClr val="tx1"/>
                </a:solidFill>
              </a:rPr>
              <a:t>InfiniBand </a:t>
            </a:r>
          </a:p>
          <a:p>
            <a:pPr marL="0" indent="0">
              <a:buNone/>
            </a:pPr>
            <a:r>
              <a:rPr lang="zh-CN" altLang="en-US" dirty="0">
                <a:solidFill>
                  <a:schemeClr val="tx1"/>
                </a:solidFill>
              </a:rPr>
              <a:t>高性能、低延迟，</a:t>
            </a:r>
            <a:r>
              <a:rPr lang="en-US" altLang="zh-CN" dirty="0">
                <a:solidFill>
                  <a:schemeClr val="tx1"/>
                </a:solidFill>
              </a:rPr>
              <a:t>GPU </a:t>
            </a:r>
            <a:r>
              <a:rPr lang="zh-CN" altLang="en-US" dirty="0">
                <a:solidFill>
                  <a:schemeClr val="tx1"/>
                </a:solidFill>
              </a:rPr>
              <a:t>训练首选</a:t>
            </a:r>
          </a:p>
          <a:p>
            <a:endParaRPr lang="en-US" altLang="zh-CN" sz="1600" dirty="0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D4695342-397E-8FE4-17E3-0AFA4546EE9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74810" y="2441901"/>
            <a:ext cx="5520757" cy="2885183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图片 2" descr="剪影蓝 低版本"/>
          <p:cNvPicPr>
            <a:picLocks noChangeAspect="1"/>
          </p:cNvPicPr>
          <p:nvPr/>
        </p:nvPicPr>
        <p:blipFill>
          <a:blip r:embed="rId9"/>
          <a:srcRect l="-8"/>
          <a:stretch>
            <a:fillRect/>
          </a:stretch>
        </p:blipFill>
        <p:spPr>
          <a:xfrm>
            <a:off x="46644" y="5412279"/>
            <a:ext cx="12190495" cy="2438099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1353" y="600"/>
            <a:ext cx="12190495" cy="840002"/>
          </a:xfrm>
          <a:prstGeom prst="rect">
            <a:avLst/>
          </a:prstGeom>
          <a:gradFill>
            <a:gsLst>
              <a:gs pos="0">
                <a:schemeClr val="bg1"/>
              </a:gs>
              <a:gs pos="50000">
                <a:srgbClr val="5399D4"/>
              </a:gs>
              <a:gs pos="100000">
                <a:srgbClr val="2E3C63"/>
              </a:gs>
            </a:gsLst>
          </a:gradFill>
          <a:effectLst/>
        </p:spPr>
        <p:style>
          <a:lnRef idx="0">
            <a:srgbClr val="FFFFFF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z="100" strike="noStrike" noProof="1"/>
          </a:p>
        </p:txBody>
      </p:sp>
      <p:pic>
        <p:nvPicPr>
          <p:cNvPr id="2" name="图片 1" descr="国科大标准Logo横式一（白色）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815971" y="187901"/>
            <a:ext cx="2167622" cy="457144"/>
          </a:xfrm>
          <a:prstGeom prst="rect">
            <a:avLst/>
          </a:prstGeom>
        </p:spPr>
      </p:pic>
      <p:sp>
        <p:nvSpPr>
          <p:cNvPr id="3078" name="文本框 3"/>
          <p:cNvSpPr txBox="1"/>
          <p:nvPr>
            <p:custDataLst>
              <p:tags r:id="rId3"/>
            </p:custDataLst>
          </p:nvPr>
        </p:nvSpPr>
        <p:spPr>
          <a:xfrm>
            <a:off x="46644" y="-47231"/>
            <a:ext cx="850795" cy="919366"/>
          </a:xfrm>
          <a:prstGeom prst="rect">
            <a:avLst/>
          </a:prstGeom>
          <a:noFill/>
          <a:ln w="12700" cmpd="sng">
            <a:noFill/>
            <a:prstDash val="solid"/>
          </a:ln>
          <a:effectLst>
            <a:outerShdw dist="63500" dir="2700000" algn="tl" rotWithShape="0">
              <a:schemeClr val="bg1">
                <a:alpha val="100000"/>
              </a:schemeClr>
            </a:outerShdw>
          </a:effectLst>
        </p:spPr>
        <p:txBody>
          <a:bodyPr wrap="square" anchor="t" anchorCtr="0"/>
          <a:lstStyle/>
          <a:p>
            <a:pPr>
              <a:lnSpc>
                <a:spcPct val="130000"/>
              </a:lnSpc>
            </a:pPr>
            <a:r>
              <a:rPr lang="en-US" altLang="zh-CN" sz="4000" i="1">
                <a:ln w="19050">
                  <a:noFill/>
                </a:ln>
                <a:gradFill>
                  <a:gsLst>
                    <a:gs pos="39000">
                      <a:srgbClr val="5399D4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Bauhaus 93" panose="04030905020B02020C02" charset="0"/>
                <a:ea typeface="造字工房朗倩（非商用）常规体" charset="-122"/>
                <a:cs typeface="Bauhaus 93" panose="04030905020B02020C02" charset="0"/>
              </a:rPr>
              <a:t>03</a:t>
            </a:r>
          </a:p>
        </p:txBody>
      </p:sp>
      <p:sp>
        <p:nvSpPr>
          <p:cNvPr id="4" name="文本框 3"/>
          <p:cNvSpPr txBox="1"/>
          <p:nvPr>
            <p:custDataLst>
              <p:tags r:id="rId4"/>
            </p:custDataLst>
          </p:nvPr>
        </p:nvSpPr>
        <p:spPr>
          <a:xfrm>
            <a:off x="812148" y="172029"/>
            <a:ext cx="8441283" cy="53777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800" dirty="0">
                <a:solidFill>
                  <a:srgbClr val="2E3C63"/>
                </a:solidFill>
                <a:sym typeface="+mn-ea"/>
              </a:rPr>
              <a:t>Storage in AI Systems</a:t>
            </a:r>
            <a:endParaRPr lang="en-US" altLang="zh-CN" sz="2800" dirty="0">
              <a:solidFill>
                <a:srgbClr val="2E3C63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12</a:t>
            </a:fld>
            <a:endParaRPr lang="zh-CN" altLang="en-US" strike="noStrike" noProof="1"/>
          </a:p>
        </p:txBody>
      </p:sp>
      <p:sp>
        <p:nvSpPr>
          <p:cNvPr id="7" name="标题 1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rm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endParaRPr lang="en-US" altLang="zh-CN"/>
          </a:p>
        </p:txBody>
      </p:sp>
      <p:sp>
        <p:nvSpPr>
          <p:cNvPr id="9" name="内容占位符 2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1060245" y="1012031"/>
            <a:ext cx="5851232" cy="5426967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600" dirty="0">
                <a:solidFill>
                  <a:schemeClr val="tx1"/>
                </a:solidFill>
              </a:rPr>
              <a:t>大规模数据存储</a:t>
            </a:r>
          </a:p>
          <a:p>
            <a:pPr lvl="1"/>
            <a:r>
              <a:rPr lang="zh-CN" altLang="en-US" sz="1400" dirty="0">
                <a:solidFill>
                  <a:schemeClr val="tx1"/>
                </a:solidFill>
              </a:rPr>
              <a:t>训练数据规模巨大（文本 </a:t>
            </a:r>
            <a:r>
              <a:rPr lang="en-US" altLang="zh-CN" sz="1400" dirty="0">
                <a:solidFill>
                  <a:schemeClr val="tx1"/>
                </a:solidFill>
              </a:rPr>
              <a:t>/ </a:t>
            </a:r>
            <a:r>
              <a:rPr lang="zh-CN" altLang="en-US" sz="1400" dirty="0">
                <a:solidFill>
                  <a:schemeClr val="tx1"/>
                </a:solidFill>
              </a:rPr>
              <a:t>图像 </a:t>
            </a:r>
            <a:r>
              <a:rPr lang="en-US" altLang="zh-CN" sz="1400" dirty="0">
                <a:solidFill>
                  <a:schemeClr val="tx1"/>
                </a:solidFill>
              </a:rPr>
              <a:t>/ </a:t>
            </a:r>
            <a:r>
              <a:rPr lang="zh-CN" altLang="en-US" sz="1400" dirty="0">
                <a:solidFill>
                  <a:schemeClr val="tx1"/>
                </a:solidFill>
              </a:rPr>
              <a:t>视频） </a:t>
            </a:r>
          </a:p>
          <a:p>
            <a:pPr lvl="1"/>
            <a:r>
              <a:rPr lang="zh-CN" altLang="en-US" sz="1400" dirty="0">
                <a:solidFill>
                  <a:schemeClr val="tx1"/>
                </a:solidFill>
              </a:rPr>
              <a:t>常采用分布式存储系统 </a:t>
            </a:r>
          </a:p>
          <a:p>
            <a:r>
              <a:rPr lang="en-US" altLang="zh-CN" sz="1600" dirty="0">
                <a:solidFill>
                  <a:schemeClr val="tx1"/>
                </a:solidFill>
              </a:rPr>
              <a:t>Checkpoint</a:t>
            </a:r>
            <a:r>
              <a:rPr lang="zh-CN" altLang="en-US" sz="1600" dirty="0">
                <a:solidFill>
                  <a:schemeClr val="tx1"/>
                </a:solidFill>
              </a:rPr>
              <a:t>（模型存档）</a:t>
            </a:r>
          </a:p>
          <a:p>
            <a:pPr lvl="1"/>
            <a:r>
              <a:rPr lang="zh-CN" altLang="en-US" sz="1400" dirty="0">
                <a:solidFill>
                  <a:schemeClr val="tx1"/>
                </a:solidFill>
              </a:rPr>
              <a:t>定期保存模型参数 </a:t>
            </a:r>
          </a:p>
          <a:p>
            <a:pPr lvl="1"/>
            <a:r>
              <a:rPr lang="zh-CN" altLang="en-US" sz="1400" dirty="0">
                <a:solidFill>
                  <a:schemeClr val="tx1"/>
                </a:solidFill>
              </a:rPr>
              <a:t>防止训练中断导致数据丢失 </a:t>
            </a:r>
          </a:p>
          <a:p>
            <a:pPr lvl="1"/>
            <a:r>
              <a:rPr lang="zh-CN" altLang="en-US" sz="1400" dirty="0">
                <a:solidFill>
                  <a:schemeClr val="tx1"/>
                </a:solidFill>
              </a:rPr>
              <a:t>支持训练恢复与模型回溯 </a:t>
            </a:r>
          </a:p>
          <a:p>
            <a:r>
              <a:rPr lang="zh-CN" altLang="en-US" sz="1600" dirty="0">
                <a:solidFill>
                  <a:schemeClr val="tx1"/>
                </a:solidFill>
              </a:rPr>
              <a:t>存储瓶颈</a:t>
            </a:r>
          </a:p>
          <a:p>
            <a:pPr lvl="1"/>
            <a:r>
              <a:rPr lang="zh-CN" altLang="en-US" sz="1400" dirty="0">
                <a:solidFill>
                  <a:schemeClr val="tx1"/>
                </a:solidFill>
              </a:rPr>
              <a:t>数据读取速度跟不上 </a:t>
            </a:r>
            <a:r>
              <a:rPr lang="en-US" altLang="zh-CN" sz="1400" dirty="0">
                <a:solidFill>
                  <a:schemeClr val="tx1"/>
                </a:solidFill>
              </a:rPr>
              <a:t>GPU </a:t>
            </a:r>
            <a:r>
              <a:rPr lang="zh-CN" altLang="en-US" sz="1400" dirty="0">
                <a:solidFill>
                  <a:schemeClr val="tx1"/>
                </a:solidFill>
              </a:rPr>
              <a:t>计算速度 </a:t>
            </a:r>
            <a:r>
              <a:rPr lang="en-US" altLang="zh-CN" sz="1400" dirty="0">
                <a:solidFill>
                  <a:schemeClr val="tx1"/>
                </a:solidFill>
              </a:rPr>
              <a:t>GPU </a:t>
            </a:r>
            <a:r>
              <a:rPr lang="zh-CN" altLang="en-US" sz="1400" dirty="0">
                <a:solidFill>
                  <a:schemeClr val="tx1"/>
                </a:solidFill>
              </a:rPr>
              <a:t>空转 </a:t>
            </a:r>
          </a:p>
          <a:p>
            <a:pPr lvl="1"/>
            <a:r>
              <a:rPr lang="en-US" altLang="zh-CN" sz="1400" dirty="0">
                <a:solidFill>
                  <a:schemeClr val="tx1"/>
                </a:solidFill>
              </a:rPr>
              <a:t>IO </a:t>
            </a:r>
            <a:r>
              <a:rPr lang="zh-CN" altLang="en-US" sz="1400" dirty="0">
                <a:solidFill>
                  <a:schemeClr val="tx1"/>
                </a:solidFill>
              </a:rPr>
              <a:t>延迟影响训练吞吐训练效率下降 </a:t>
            </a:r>
          </a:p>
          <a:p>
            <a:r>
              <a:rPr lang="zh-CN" altLang="en-US" sz="1600" dirty="0">
                <a:solidFill>
                  <a:schemeClr val="tx1"/>
                </a:solidFill>
              </a:rPr>
              <a:t>优化方向</a:t>
            </a:r>
          </a:p>
          <a:p>
            <a:pPr lvl="1"/>
            <a:r>
              <a:rPr lang="zh-CN" altLang="en-US" sz="1400" dirty="0">
                <a:solidFill>
                  <a:schemeClr val="tx1"/>
                </a:solidFill>
              </a:rPr>
              <a:t>高速存储介质（</a:t>
            </a:r>
            <a:r>
              <a:rPr lang="en-US" altLang="zh-CN" sz="1400" dirty="0" err="1">
                <a:solidFill>
                  <a:schemeClr val="tx1"/>
                </a:solidFill>
              </a:rPr>
              <a:t>NVMe</a:t>
            </a:r>
            <a:r>
              <a:rPr lang="en-US" altLang="zh-CN" sz="1400" dirty="0">
                <a:solidFill>
                  <a:schemeClr val="tx1"/>
                </a:solidFill>
              </a:rPr>
              <a:t> SSD</a:t>
            </a:r>
            <a:r>
              <a:rPr lang="zh-CN" altLang="en-US" sz="1400" dirty="0">
                <a:solidFill>
                  <a:schemeClr val="tx1"/>
                </a:solidFill>
              </a:rPr>
              <a:t>） 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lvl="1"/>
            <a:r>
              <a:rPr lang="zh-CN" altLang="en-US" sz="1400" dirty="0">
                <a:solidFill>
                  <a:schemeClr val="tx1"/>
                </a:solidFill>
              </a:rPr>
              <a:t>分布式存储（提升吞吐） </a:t>
            </a:r>
          </a:p>
          <a:p>
            <a:pPr lvl="1"/>
            <a:r>
              <a:rPr lang="zh-CN" altLang="en-US" sz="1400" dirty="0">
                <a:solidFill>
                  <a:schemeClr val="tx1"/>
                </a:solidFill>
              </a:rPr>
              <a:t>数据预取（</a:t>
            </a:r>
            <a:r>
              <a:rPr lang="en-US" altLang="zh-CN" sz="1400" dirty="0">
                <a:solidFill>
                  <a:schemeClr val="tx1"/>
                </a:solidFill>
              </a:rPr>
              <a:t>Prefetch</a:t>
            </a:r>
            <a:r>
              <a:rPr lang="zh-CN" altLang="en-US" sz="1400" dirty="0">
                <a:solidFill>
                  <a:schemeClr val="tx1"/>
                </a:solidFill>
              </a:rPr>
              <a:t>） </a:t>
            </a:r>
          </a:p>
          <a:p>
            <a:pPr lvl="1"/>
            <a:r>
              <a:rPr lang="en-US" altLang="zh-CN" sz="1400" dirty="0">
                <a:solidFill>
                  <a:schemeClr val="tx1"/>
                </a:solidFill>
              </a:rPr>
              <a:t>IO </a:t>
            </a:r>
            <a:r>
              <a:rPr lang="zh-CN" altLang="en-US" sz="1400" dirty="0">
                <a:solidFill>
                  <a:schemeClr val="tx1"/>
                </a:solidFill>
              </a:rPr>
              <a:t>与计算并行 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048C605C-60BA-69E4-AA5B-A85158C9421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903891" y="1081416"/>
            <a:ext cx="4348895" cy="2438099"/>
          </a:xfrm>
          <a:prstGeom prst="rect">
            <a:avLst/>
          </a:prstGeom>
        </p:spPr>
      </p:pic>
      <p:pic>
        <p:nvPicPr>
          <p:cNvPr id="4098" name="Picture 2" descr="Deep Learning and the Information Bottleneck Principle 深度学习与信息瓶颈原理-CSDN博客">
            <a:extLst>
              <a:ext uri="{FF2B5EF4-FFF2-40B4-BE49-F238E27FC236}">
                <a16:creationId xmlns:a16="http://schemas.microsoft.com/office/drawing/2014/main" id="{0EEBB061-FF72-DEBE-5994-94B88977AA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6291" y="3868070"/>
            <a:ext cx="3283766" cy="21280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图片 2" descr="剪影蓝 低版本"/>
          <p:cNvPicPr>
            <a:picLocks noChangeAspect="1"/>
          </p:cNvPicPr>
          <p:nvPr/>
        </p:nvPicPr>
        <p:blipFill>
          <a:blip r:embed="rId9"/>
          <a:srcRect l="-8"/>
          <a:stretch>
            <a:fillRect/>
          </a:stretch>
        </p:blipFill>
        <p:spPr>
          <a:xfrm>
            <a:off x="1353" y="5378386"/>
            <a:ext cx="12190495" cy="2438099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1353" y="600"/>
            <a:ext cx="12190495" cy="840002"/>
          </a:xfrm>
          <a:prstGeom prst="rect">
            <a:avLst/>
          </a:prstGeom>
          <a:gradFill>
            <a:gsLst>
              <a:gs pos="0">
                <a:schemeClr val="bg1"/>
              </a:gs>
              <a:gs pos="50000">
                <a:srgbClr val="5399D4"/>
              </a:gs>
              <a:gs pos="100000">
                <a:srgbClr val="2E3C63"/>
              </a:gs>
            </a:gsLst>
          </a:gradFill>
          <a:effectLst/>
        </p:spPr>
        <p:style>
          <a:lnRef idx="0">
            <a:srgbClr val="FFFFFF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z="100" strike="noStrike" noProof="1"/>
          </a:p>
        </p:txBody>
      </p:sp>
      <p:pic>
        <p:nvPicPr>
          <p:cNvPr id="2" name="图片 1" descr="国科大标准Logo横式一（白色）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815971" y="187901"/>
            <a:ext cx="2167622" cy="457144"/>
          </a:xfrm>
          <a:prstGeom prst="rect">
            <a:avLst/>
          </a:prstGeom>
        </p:spPr>
      </p:pic>
      <p:sp>
        <p:nvSpPr>
          <p:cNvPr id="3078" name="文本框 3"/>
          <p:cNvSpPr txBox="1"/>
          <p:nvPr>
            <p:custDataLst>
              <p:tags r:id="rId3"/>
            </p:custDataLst>
          </p:nvPr>
        </p:nvSpPr>
        <p:spPr>
          <a:xfrm>
            <a:off x="46355" y="-46990"/>
            <a:ext cx="6935470" cy="919480"/>
          </a:xfrm>
          <a:prstGeom prst="rect">
            <a:avLst/>
          </a:prstGeom>
          <a:noFill/>
          <a:ln w="12700" cmpd="sng">
            <a:noFill/>
            <a:prstDash val="solid"/>
          </a:ln>
          <a:effectLst>
            <a:outerShdw dist="63500" dir="2700000" algn="tl" rotWithShape="0">
              <a:schemeClr val="bg1">
                <a:alpha val="100000"/>
              </a:schemeClr>
            </a:outerShdw>
          </a:effectLst>
        </p:spPr>
        <p:txBody>
          <a:bodyPr wrap="square" anchor="t" anchorCtr="0"/>
          <a:lstStyle/>
          <a:p>
            <a:pPr>
              <a:lnSpc>
                <a:spcPct val="130000"/>
              </a:lnSpc>
            </a:pPr>
            <a:r>
              <a:rPr lang="en-US" altLang="zh-CN" sz="4000" i="1">
                <a:ln w="19050">
                  <a:noFill/>
                </a:ln>
                <a:gradFill>
                  <a:gsLst>
                    <a:gs pos="39000">
                      <a:srgbClr val="5399D4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Bauhaus 93" panose="04030905020B02020C02" charset="0"/>
                <a:ea typeface="造字工房朗倩（非商用）常规体" charset="-122"/>
                <a:cs typeface="Bauhaus 93" panose="04030905020B02020C02" charset="0"/>
              </a:rPr>
              <a:t>Chapter3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13</a:t>
            </a:fld>
            <a:endParaRPr lang="zh-CN" altLang="en-US" strike="noStrike" noProof="1"/>
          </a:p>
        </p:txBody>
      </p:sp>
      <p:sp>
        <p:nvSpPr>
          <p:cNvPr id="7" name="标题 1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rm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endParaRPr lang="en-US" altLang="zh-CN"/>
          </a:p>
        </p:txBody>
      </p:sp>
      <p:sp>
        <p:nvSpPr>
          <p:cNvPr id="9" name="内容占位符 2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893302" y="2467292"/>
            <a:ext cx="10399395" cy="1448435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altLang="zh-CN" sz="3600" b="1" dirty="0">
                <a:solidFill>
                  <a:srgbClr val="2E3C63"/>
                </a:solidFill>
                <a:sym typeface="+mn-ea"/>
              </a:rPr>
              <a:t>2.Foundations of AI Systems</a:t>
            </a:r>
          </a:p>
        </p:txBody>
      </p:sp>
      <p:sp>
        <p:nvSpPr>
          <p:cNvPr id="8" name="内容占位符 2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1542415" y="2734945"/>
            <a:ext cx="7473950" cy="2361565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endParaRPr lang="zh-CN" altLang="en-US" sz="2400" b="1" dirty="0">
              <a:solidFill>
                <a:srgbClr val="2E3C63"/>
              </a:solidFill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图片 2" descr="剪影蓝 低版本"/>
          <p:cNvPicPr>
            <a:picLocks noChangeAspect="1"/>
          </p:cNvPicPr>
          <p:nvPr/>
        </p:nvPicPr>
        <p:blipFill>
          <a:blip r:embed="rId9"/>
          <a:srcRect l="-8"/>
          <a:stretch>
            <a:fillRect/>
          </a:stretch>
        </p:blipFill>
        <p:spPr>
          <a:xfrm>
            <a:off x="1353" y="5378386"/>
            <a:ext cx="12190495" cy="2438099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1353" y="600"/>
            <a:ext cx="12190495" cy="840002"/>
          </a:xfrm>
          <a:prstGeom prst="rect">
            <a:avLst/>
          </a:prstGeom>
          <a:gradFill>
            <a:gsLst>
              <a:gs pos="0">
                <a:schemeClr val="bg1"/>
              </a:gs>
              <a:gs pos="50000">
                <a:srgbClr val="5399D4"/>
              </a:gs>
              <a:gs pos="100000">
                <a:srgbClr val="2E3C63"/>
              </a:gs>
            </a:gsLst>
          </a:gradFill>
          <a:effectLst/>
        </p:spPr>
        <p:style>
          <a:lnRef idx="0">
            <a:srgbClr val="FFFFFF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z="100" strike="noStrike" noProof="1"/>
          </a:p>
        </p:txBody>
      </p:sp>
      <p:pic>
        <p:nvPicPr>
          <p:cNvPr id="2" name="图片 1" descr="国科大标准Logo横式一（白色）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815971" y="187901"/>
            <a:ext cx="2167622" cy="457144"/>
          </a:xfrm>
          <a:prstGeom prst="rect">
            <a:avLst/>
          </a:prstGeom>
        </p:spPr>
      </p:pic>
      <p:sp>
        <p:nvSpPr>
          <p:cNvPr id="3078" name="文本框 3"/>
          <p:cNvSpPr txBox="1"/>
          <p:nvPr>
            <p:custDataLst>
              <p:tags r:id="rId3"/>
            </p:custDataLst>
          </p:nvPr>
        </p:nvSpPr>
        <p:spPr>
          <a:xfrm>
            <a:off x="46644" y="-47231"/>
            <a:ext cx="850795" cy="919366"/>
          </a:xfrm>
          <a:prstGeom prst="rect">
            <a:avLst/>
          </a:prstGeom>
          <a:noFill/>
          <a:ln w="12700" cmpd="sng">
            <a:noFill/>
            <a:prstDash val="solid"/>
          </a:ln>
          <a:effectLst>
            <a:outerShdw dist="63500" dir="2700000" algn="tl" rotWithShape="0">
              <a:schemeClr val="bg1">
                <a:alpha val="100000"/>
              </a:schemeClr>
            </a:outerShdw>
          </a:effectLst>
        </p:spPr>
        <p:txBody>
          <a:bodyPr wrap="square" anchor="t" anchorCtr="0"/>
          <a:lstStyle/>
          <a:p>
            <a:pPr>
              <a:lnSpc>
                <a:spcPct val="130000"/>
              </a:lnSpc>
            </a:pPr>
            <a:r>
              <a:rPr lang="en-US" altLang="zh-CN" sz="4000" i="1">
                <a:ln w="19050">
                  <a:noFill/>
                </a:ln>
                <a:gradFill>
                  <a:gsLst>
                    <a:gs pos="39000">
                      <a:srgbClr val="5399D4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Bauhaus 93" panose="04030905020B02020C02" charset="0"/>
                <a:ea typeface="造字工房朗倩（非商用）常规体" charset="-122"/>
                <a:cs typeface="Bauhaus 93" panose="04030905020B02020C02" charset="0"/>
              </a:rPr>
              <a:t>03</a:t>
            </a:r>
          </a:p>
        </p:txBody>
      </p:sp>
      <p:sp>
        <p:nvSpPr>
          <p:cNvPr id="4" name="文本框 3"/>
          <p:cNvSpPr txBox="1"/>
          <p:nvPr>
            <p:custDataLst>
              <p:tags r:id="rId4"/>
            </p:custDataLst>
          </p:nvPr>
        </p:nvSpPr>
        <p:spPr>
          <a:xfrm>
            <a:off x="812148" y="172029"/>
            <a:ext cx="8441283" cy="53777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800" dirty="0">
                <a:solidFill>
                  <a:srgbClr val="2E3C63"/>
                </a:solidFill>
                <a:sym typeface="+mn-ea"/>
              </a:rPr>
              <a:t>Transformer as Workload</a:t>
            </a:r>
            <a:endParaRPr lang="en-US" altLang="zh-CN" sz="2800" dirty="0">
              <a:solidFill>
                <a:srgbClr val="2E3C63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14</a:t>
            </a:fld>
            <a:endParaRPr lang="zh-CN" altLang="en-US" strike="noStrike" noProof="1"/>
          </a:p>
        </p:txBody>
      </p:sp>
      <p:sp>
        <p:nvSpPr>
          <p:cNvPr id="7" name="标题 1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rm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endParaRPr lang="en-US" altLang="zh-CN"/>
          </a:p>
        </p:txBody>
      </p:sp>
      <p:sp>
        <p:nvSpPr>
          <p:cNvPr id="9" name="内容占位符 2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202407" y="1239134"/>
            <a:ext cx="10969200" cy="5076266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solidFill>
                  <a:schemeClr val="tx1"/>
                </a:solidFill>
              </a:rPr>
              <a:t>Transformer </a:t>
            </a:r>
          </a:p>
          <a:p>
            <a:pPr lvl="1"/>
            <a:r>
              <a:rPr lang="zh-CN" altLang="en-US" dirty="0">
                <a:solidFill>
                  <a:schemeClr val="tx1"/>
                </a:solidFill>
              </a:rPr>
              <a:t>从</a:t>
            </a:r>
            <a:r>
              <a:rPr lang="en-US" altLang="zh-CN" dirty="0">
                <a:solidFill>
                  <a:schemeClr val="tx1"/>
                </a:solidFill>
              </a:rPr>
              <a:t>AI Infrastructure</a:t>
            </a:r>
            <a:r>
              <a:rPr lang="zh-CN" altLang="en-US" dirty="0">
                <a:solidFill>
                  <a:schemeClr val="tx1"/>
                </a:solidFill>
              </a:rPr>
              <a:t>角度看，</a:t>
            </a:r>
            <a:r>
              <a:rPr lang="en-US" altLang="zh-CN" dirty="0">
                <a:solidFill>
                  <a:schemeClr val="tx1"/>
                </a:solidFill>
              </a:rPr>
              <a:t>Transformer</a:t>
            </a:r>
            <a:r>
              <a:rPr lang="zh-CN" altLang="en-US" dirty="0">
                <a:solidFill>
                  <a:schemeClr val="tx1"/>
                </a:solidFill>
              </a:rPr>
              <a:t>是主要的计算负载，它的结构直接决定了系统的性能瓶颈</a:t>
            </a:r>
            <a:endParaRPr lang="en-US" altLang="zh-CN" dirty="0">
              <a:solidFill>
                <a:schemeClr val="tx1"/>
              </a:solidFill>
            </a:endParaRPr>
          </a:p>
          <a:p>
            <a:pPr lvl="1"/>
            <a:r>
              <a:rPr lang="zh-CN" altLang="en-US" dirty="0">
                <a:solidFill>
                  <a:schemeClr val="tx1"/>
                </a:solidFill>
              </a:rPr>
              <a:t>本质上，</a:t>
            </a:r>
            <a:r>
              <a:rPr lang="en-US" altLang="zh-CN" dirty="0">
                <a:solidFill>
                  <a:schemeClr val="tx1"/>
                </a:solidFill>
              </a:rPr>
              <a:t>AI Infra </a:t>
            </a:r>
            <a:r>
              <a:rPr lang="zh-CN" altLang="en-US" dirty="0">
                <a:solidFill>
                  <a:schemeClr val="tx1"/>
                </a:solidFill>
              </a:rPr>
              <a:t>的优化对象就是 </a:t>
            </a:r>
            <a:r>
              <a:rPr lang="en-US" altLang="zh-CN" dirty="0">
                <a:solidFill>
                  <a:schemeClr val="tx1"/>
                </a:solidFill>
              </a:rPr>
              <a:t>Transformer</a:t>
            </a:r>
          </a:p>
          <a:p>
            <a:pPr marL="0" indent="0">
              <a:buNone/>
            </a:pP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核心计算操作</a:t>
            </a:r>
            <a:endParaRPr lang="en-US" altLang="zh-CN" dirty="0">
              <a:solidFill>
                <a:schemeClr val="tx1"/>
              </a:solidFill>
            </a:endParaRPr>
          </a:p>
          <a:p>
            <a:pPr lvl="1"/>
            <a:r>
              <a:rPr lang="zh-CN" altLang="en-US" dirty="0">
                <a:solidFill>
                  <a:schemeClr val="tx1"/>
                </a:solidFill>
              </a:rPr>
              <a:t>矩阵乘法</a:t>
            </a:r>
            <a:r>
              <a:rPr lang="en-US" altLang="zh-CN" dirty="0">
                <a:solidFill>
                  <a:schemeClr val="tx1"/>
                </a:solidFill>
              </a:rPr>
              <a:t>:</a:t>
            </a:r>
            <a:r>
              <a:rPr lang="zh-CN" altLang="en-US" dirty="0">
                <a:solidFill>
                  <a:schemeClr val="tx1"/>
                </a:solidFill>
              </a:rPr>
              <a:t>高并行性，适合</a:t>
            </a:r>
            <a:r>
              <a:rPr lang="en-US" altLang="zh-CN" dirty="0">
                <a:solidFill>
                  <a:schemeClr val="tx1"/>
                </a:solidFill>
              </a:rPr>
              <a:t>GPU</a:t>
            </a:r>
            <a:r>
              <a:rPr lang="zh-CN" altLang="en-US" dirty="0">
                <a:solidFill>
                  <a:schemeClr val="tx1"/>
                </a:solidFill>
              </a:rPr>
              <a:t>加速</a:t>
            </a:r>
            <a:endParaRPr lang="en-US" altLang="zh-CN" dirty="0">
              <a:solidFill>
                <a:schemeClr val="tx1"/>
              </a:solidFill>
            </a:endParaRPr>
          </a:p>
          <a:p>
            <a:pPr lvl="2"/>
            <a:r>
              <a:rPr lang="zh-CN" altLang="en-US" dirty="0">
                <a:solidFill>
                  <a:schemeClr val="tx1"/>
                </a:solidFill>
              </a:rPr>
              <a:t>主要来自全连接层（</a:t>
            </a:r>
            <a:r>
              <a:rPr lang="en-US" altLang="zh-CN" dirty="0">
                <a:solidFill>
                  <a:schemeClr val="tx1"/>
                </a:solidFill>
              </a:rPr>
              <a:t>Linear</a:t>
            </a:r>
            <a:r>
              <a:rPr lang="zh-CN" altLang="en-US" dirty="0">
                <a:solidFill>
                  <a:schemeClr val="tx1"/>
                </a:solidFill>
              </a:rPr>
              <a:t>）</a:t>
            </a:r>
            <a:endParaRPr lang="en-US" altLang="zh-CN" dirty="0">
              <a:solidFill>
                <a:schemeClr val="tx1"/>
              </a:solidFill>
            </a:endParaRPr>
          </a:p>
          <a:p>
            <a:pPr lvl="2"/>
            <a:r>
              <a:rPr lang="zh-CN" altLang="en-US" dirty="0">
                <a:solidFill>
                  <a:schemeClr val="tx1"/>
                </a:solidFill>
              </a:rPr>
              <a:t>占据大部分计算量（</a:t>
            </a:r>
            <a:r>
              <a:rPr lang="en-US" altLang="zh-CN" dirty="0">
                <a:solidFill>
                  <a:schemeClr val="tx1"/>
                </a:solidFill>
              </a:rPr>
              <a:t>FLOPs</a:t>
            </a:r>
            <a:r>
              <a:rPr lang="zh-CN" altLang="en-US" dirty="0">
                <a:solidFill>
                  <a:schemeClr val="tx1"/>
                </a:solidFill>
              </a:rPr>
              <a:t>）</a:t>
            </a:r>
            <a:endParaRPr lang="en-US" altLang="zh-CN" dirty="0">
              <a:solidFill>
                <a:schemeClr val="tx1"/>
              </a:solidFill>
            </a:endParaRPr>
          </a:p>
          <a:p>
            <a:pPr lvl="1"/>
            <a:r>
              <a:rPr lang="zh-CN" altLang="en-US" dirty="0">
                <a:solidFill>
                  <a:schemeClr val="tx1"/>
                </a:solidFill>
              </a:rPr>
              <a:t>注意力机制：计算复杂度高（</a:t>
            </a:r>
            <a:r>
              <a:rPr lang="en-US" altLang="zh-CN" dirty="0">
                <a:solidFill>
                  <a:schemeClr val="tx1"/>
                </a:solidFill>
              </a:rPr>
              <a:t>O(n²)</a:t>
            </a:r>
            <a:r>
              <a:rPr lang="zh-CN" altLang="en-US" dirty="0">
                <a:solidFill>
                  <a:schemeClr val="tx1"/>
                </a:solidFill>
              </a:rPr>
              <a:t>）对显存和带宽要求高</a:t>
            </a:r>
            <a:endParaRPr lang="en-US" altLang="zh-CN" dirty="0">
              <a:solidFill>
                <a:schemeClr val="tx1"/>
              </a:solidFill>
            </a:endParaRPr>
          </a:p>
          <a:p>
            <a:pPr lvl="2"/>
            <a:r>
              <a:rPr lang="zh-CN" altLang="en-US" dirty="0">
                <a:solidFill>
                  <a:schemeClr val="tx1"/>
                </a:solidFill>
              </a:rPr>
              <a:t>计算 </a:t>
            </a:r>
            <a:r>
              <a:rPr lang="en-US" altLang="zh-CN" dirty="0">
                <a:solidFill>
                  <a:schemeClr val="tx1"/>
                </a:solidFill>
              </a:rPr>
              <a:t>token </a:t>
            </a:r>
            <a:r>
              <a:rPr lang="zh-CN" altLang="en-US" dirty="0">
                <a:solidFill>
                  <a:schemeClr val="tx1"/>
                </a:solidFill>
              </a:rPr>
              <a:t>之间的关系</a:t>
            </a:r>
            <a:endParaRPr lang="en-US" altLang="zh-CN" dirty="0">
              <a:solidFill>
                <a:schemeClr val="tx1"/>
              </a:solidFill>
            </a:endParaRPr>
          </a:p>
          <a:p>
            <a:pPr lvl="2"/>
            <a:r>
              <a:rPr lang="zh-CN" altLang="en-US" dirty="0">
                <a:solidFill>
                  <a:schemeClr val="tx1"/>
                </a:solidFill>
              </a:rPr>
              <a:t>核心操作：</a:t>
            </a:r>
            <a:r>
              <a:rPr lang="en-US" altLang="zh-CN" dirty="0">
                <a:solidFill>
                  <a:schemeClr val="tx1"/>
                </a:solidFill>
              </a:rPr>
              <a:t>Q × Kᵀ → </a:t>
            </a:r>
            <a:r>
              <a:rPr lang="en-US" altLang="zh-CN" dirty="0" err="1">
                <a:solidFill>
                  <a:schemeClr val="tx1"/>
                </a:solidFill>
              </a:rPr>
              <a:t>Softmax</a:t>
            </a:r>
            <a:r>
              <a:rPr lang="en-US" altLang="zh-CN" dirty="0">
                <a:solidFill>
                  <a:schemeClr val="tx1"/>
                </a:solidFill>
              </a:rPr>
              <a:t> → × V</a:t>
            </a:r>
          </a:p>
          <a:p>
            <a:endParaRPr lang="en-US" altLang="zh-CN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chemeClr val="tx1"/>
              </a:solidFill>
            </a:endParaRPr>
          </a:p>
        </p:txBody>
      </p:sp>
      <p:pic>
        <p:nvPicPr>
          <p:cNvPr id="2053" name="Picture 5" descr="关于attention structure 的总结_attention architecture-CSDN博客">
            <a:extLst>
              <a:ext uri="{FF2B5EF4-FFF2-40B4-BE49-F238E27FC236}">
                <a16:creationId xmlns:a16="http://schemas.microsoft.com/office/drawing/2014/main" id="{1007DA72-6DF2-6409-9785-212D40A7A1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9345" y="2519450"/>
            <a:ext cx="5264248" cy="3030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图片 2" descr="剪影蓝 低版本"/>
          <p:cNvPicPr>
            <a:picLocks noChangeAspect="1"/>
          </p:cNvPicPr>
          <p:nvPr/>
        </p:nvPicPr>
        <p:blipFill>
          <a:blip r:embed="rId9"/>
          <a:srcRect l="-8"/>
          <a:stretch>
            <a:fillRect/>
          </a:stretch>
        </p:blipFill>
        <p:spPr>
          <a:xfrm>
            <a:off x="1353" y="5378386"/>
            <a:ext cx="12190495" cy="2438099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1353" y="600"/>
            <a:ext cx="12190495" cy="840002"/>
          </a:xfrm>
          <a:prstGeom prst="rect">
            <a:avLst/>
          </a:prstGeom>
          <a:gradFill>
            <a:gsLst>
              <a:gs pos="0">
                <a:schemeClr val="bg1"/>
              </a:gs>
              <a:gs pos="50000">
                <a:srgbClr val="5399D4"/>
              </a:gs>
              <a:gs pos="100000">
                <a:srgbClr val="2E3C63"/>
              </a:gs>
            </a:gsLst>
          </a:gradFill>
          <a:effectLst/>
        </p:spPr>
        <p:style>
          <a:lnRef idx="0">
            <a:srgbClr val="FFFFFF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z="100" strike="noStrike" noProof="1"/>
          </a:p>
        </p:txBody>
      </p:sp>
      <p:pic>
        <p:nvPicPr>
          <p:cNvPr id="2" name="图片 1" descr="国科大标准Logo横式一（白色）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815971" y="187901"/>
            <a:ext cx="2167622" cy="457144"/>
          </a:xfrm>
          <a:prstGeom prst="rect">
            <a:avLst/>
          </a:prstGeom>
        </p:spPr>
      </p:pic>
      <p:sp>
        <p:nvSpPr>
          <p:cNvPr id="3078" name="文本框 3"/>
          <p:cNvSpPr txBox="1"/>
          <p:nvPr>
            <p:custDataLst>
              <p:tags r:id="rId3"/>
            </p:custDataLst>
          </p:nvPr>
        </p:nvSpPr>
        <p:spPr>
          <a:xfrm>
            <a:off x="46644" y="-47231"/>
            <a:ext cx="850795" cy="919366"/>
          </a:xfrm>
          <a:prstGeom prst="rect">
            <a:avLst/>
          </a:prstGeom>
          <a:noFill/>
          <a:ln w="12700" cmpd="sng">
            <a:noFill/>
            <a:prstDash val="solid"/>
          </a:ln>
          <a:effectLst>
            <a:outerShdw dist="63500" dir="2700000" algn="tl" rotWithShape="0">
              <a:schemeClr val="bg1">
                <a:alpha val="100000"/>
              </a:schemeClr>
            </a:outerShdw>
          </a:effectLst>
        </p:spPr>
        <p:txBody>
          <a:bodyPr wrap="square" anchor="t" anchorCtr="0"/>
          <a:lstStyle/>
          <a:p>
            <a:pPr>
              <a:lnSpc>
                <a:spcPct val="130000"/>
              </a:lnSpc>
            </a:pPr>
            <a:r>
              <a:rPr lang="en-US" altLang="zh-CN" sz="4000" i="1">
                <a:ln w="19050">
                  <a:noFill/>
                </a:ln>
                <a:gradFill>
                  <a:gsLst>
                    <a:gs pos="39000">
                      <a:srgbClr val="5399D4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Bauhaus 93" panose="04030905020B02020C02" charset="0"/>
                <a:ea typeface="造字工房朗倩（非商用）常规体" charset="-122"/>
                <a:cs typeface="Bauhaus 93" panose="04030905020B02020C02" charset="0"/>
              </a:rPr>
              <a:t>03</a:t>
            </a:r>
          </a:p>
        </p:txBody>
      </p:sp>
      <p:sp>
        <p:nvSpPr>
          <p:cNvPr id="4" name="文本框 3"/>
          <p:cNvSpPr txBox="1"/>
          <p:nvPr>
            <p:custDataLst>
              <p:tags r:id="rId4"/>
            </p:custDataLst>
          </p:nvPr>
        </p:nvSpPr>
        <p:spPr>
          <a:xfrm>
            <a:off x="812148" y="172029"/>
            <a:ext cx="8441283" cy="53777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800" dirty="0">
                <a:solidFill>
                  <a:srgbClr val="2E3C63"/>
                </a:solidFill>
                <a:sym typeface="+mn-ea"/>
              </a:rPr>
              <a:t>Attention Complexity</a:t>
            </a:r>
            <a:endParaRPr lang="en-US" altLang="zh-CN" sz="2800" dirty="0">
              <a:solidFill>
                <a:srgbClr val="2E3C63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15</a:t>
            </a:fld>
            <a:endParaRPr lang="zh-CN" altLang="en-US" strike="noStrike" noProof="1"/>
          </a:p>
        </p:txBody>
      </p:sp>
      <p:sp>
        <p:nvSpPr>
          <p:cNvPr id="7" name="标题 1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rm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endParaRPr lang="en-US" altLang="zh-CN"/>
          </a:p>
        </p:txBody>
      </p:sp>
      <p:sp>
        <p:nvSpPr>
          <p:cNvPr id="9" name="内容占位符 2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285736" y="14963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solidFill>
                  <a:schemeClr val="tx1"/>
                </a:solidFill>
              </a:rPr>
              <a:t>Time complexity:</a:t>
            </a:r>
            <a:r>
              <a:rPr lang="zh-CN" altLang="en-US" dirty="0">
                <a:solidFill>
                  <a:schemeClr val="tx1"/>
                </a:solidFill>
              </a:rPr>
              <a:t>时间复杂度</a:t>
            </a:r>
            <a:r>
              <a:rPr lang="en-US" altLang="zh-CN" dirty="0">
                <a:solidFill>
                  <a:schemeClr val="tx1"/>
                </a:solidFill>
              </a:rPr>
              <a:t> O(n²)</a:t>
            </a:r>
          </a:p>
          <a:p>
            <a:pPr lvl="1"/>
            <a:r>
              <a:rPr lang="zh-CN" altLang="en-US" dirty="0">
                <a:solidFill>
                  <a:schemeClr val="tx1"/>
                </a:solidFill>
              </a:rPr>
              <a:t>计算 </a:t>
            </a:r>
            <a:r>
              <a:rPr lang="en-US" altLang="zh-CN" dirty="0">
                <a:solidFill>
                  <a:schemeClr val="tx1"/>
                </a:solidFill>
              </a:rPr>
              <a:t>Q × Kᵀ</a:t>
            </a:r>
          </a:p>
          <a:p>
            <a:pPr lvl="1"/>
            <a:r>
              <a:rPr lang="zh-CN" altLang="en-US" dirty="0">
                <a:solidFill>
                  <a:schemeClr val="tx1"/>
                </a:solidFill>
              </a:rPr>
              <a:t>序列长度为 </a:t>
            </a:r>
            <a:r>
              <a:rPr lang="en-US" altLang="zh-CN" dirty="0">
                <a:solidFill>
                  <a:schemeClr val="tx1"/>
                </a:solidFill>
              </a:rPr>
              <a:t>n</a:t>
            </a:r>
          </a:p>
          <a:p>
            <a:r>
              <a:rPr lang="en-US" altLang="zh-CN" dirty="0">
                <a:solidFill>
                  <a:schemeClr val="tx1"/>
                </a:solidFill>
              </a:rPr>
              <a:t>Memory complexity:</a:t>
            </a:r>
            <a:r>
              <a:rPr lang="zh-CN" altLang="en-US" dirty="0">
                <a:solidFill>
                  <a:schemeClr val="tx1"/>
                </a:solidFill>
              </a:rPr>
              <a:t>空间复杂度</a:t>
            </a:r>
            <a:r>
              <a:rPr lang="en-US" altLang="zh-CN" dirty="0">
                <a:solidFill>
                  <a:schemeClr val="tx1"/>
                </a:solidFill>
              </a:rPr>
              <a:t> O(n²)</a:t>
            </a:r>
          </a:p>
          <a:p>
            <a:pPr lvl="1"/>
            <a:r>
              <a:rPr lang="zh-CN" altLang="en-US" dirty="0">
                <a:solidFill>
                  <a:schemeClr val="tx1"/>
                </a:solidFill>
              </a:rPr>
              <a:t>需要存储 </a:t>
            </a:r>
            <a:r>
              <a:rPr lang="en-US" altLang="zh-CN" dirty="0">
                <a:solidFill>
                  <a:schemeClr val="tx1"/>
                </a:solidFill>
              </a:rPr>
              <a:t>Attention </a:t>
            </a:r>
            <a:r>
              <a:rPr lang="zh-CN" altLang="en-US" dirty="0">
                <a:solidFill>
                  <a:schemeClr val="tx1"/>
                </a:solidFill>
              </a:rPr>
              <a:t>矩阵（</a:t>
            </a:r>
            <a:r>
              <a:rPr lang="en-US" altLang="zh-CN" dirty="0">
                <a:solidFill>
                  <a:schemeClr val="tx1"/>
                </a:solidFill>
              </a:rPr>
              <a:t>n × n</a:t>
            </a:r>
            <a:r>
              <a:rPr lang="zh-CN" altLang="en-US" dirty="0">
                <a:solidFill>
                  <a:schemeClr val="tx1"/>
                </a:solidFill>
              </a:rPr>
              <a:t>）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带来的问题：限制了长文本处理能力</a:t>
            </a:r>
            <a:endParaRPr lang="en-US" altLang="zh-CN" dirty="0">
              <a:solidFill>
                <a:schemeClr val="tx1"/>
              </a:solidFill>
            </a:endParaRPr>
          </a:p>
          <a:p>
            <a:pPr lvl="1"/>
            <a:r>
              <a:rPr lang="zh-CN" altLang="en-US" dirty="0">
                <a:solidFill>
                  <a:schemeClr val="tx1"/>
                </a:solidFill>
              </a:rPr>
              <a:t>序列越长，计算量急剧增长</a:t>
            </a:r>
            <a:endParaRPr lang="en-US" altLang="zh-CN" dirty="0">
              <a:solidFill>
                <a:schemeClr val="tx1"/>
              </a:solidFill>
            </a:endParaRPr>
          </a:p>
          <a:p>
            <a:pPr lvl="1"/>
            <a:r>
              <a:rPr lang="zh-CN" altLang="en-US" dirty="0">
                <a:solidFill>
                  <a:schemeClr val="tx1"/>
                </a:solidFill>
              </a:rPr>
              <a:t>显存占用随 </a:t>
            </a:r>
            <a:r>
              <a:rPr lang="en-US" altLang="zh-CN" dirty="0">
                <a:solidFill>
                  <a:schemeClr val="tx1"/>
                </a:solidFill>
              </a:rPr>
              <a:t>n² </a:t>
            </a:r>
            <a:r>
              <a:rPr lang="zh-CN" altLang="en-US" dirty="0">
                <a:solidFill>
                  <a:schemeClr val="tx1"/>
                </a:solidFill>
              </a:rPr>
              <a:t>增长</a:t>
            </a:r>
            <a:endParaRPr lang="en-US" altLang="zh-CN" dirty="0">
              <a:solidFill>
                <a:schemeClr val="tx1"/>
              </a:solidFill>
            </a:endParaRPr>
          </a:p>
          <a:p>
            <a:pPr lvl="1"/>
            <a:r>
              <a:rPr lang="en-US" altLang="zh-CN" dirty="0">
                <a:solidFill>
                  <a:schemeClr val="tx1"/>
                </a:solidFill>
              </a:rPr>
              <a:t>GPU </a:t>
            </a:r>
            <a:r>
              <a:rPr lang="zh-CN" altLang="en-US" dirty="0">
                <a:solidFill>
                  <a:schemeClr val="tx1"/>
                </a:solidFill>
              </a:rPr>
              <a:t>内存容易成为瓶颈</a:t>
            </a:r>
            <a:endParaRPr lang="en-US" altLang="zh-CN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altLang="zh-CN" sz="1600" dirty="0"/>
          </a:p>
        </p:txBody>
      </p:sp>
      <p:pic>
        <p:nvPicPr>
          <p:cNvPr id="3075" name="Picture 3" descr="self-attention">
            <a:extLst>
              <a:ext uri="{FF2B5EF4-FFF2-40B4-BE49-F238E27FC236}">
                <a16:creationId xmlns:a16="http://schemas.microsoft.com/office/drawing/2014/main" id="{CF99C7F1-E424-CC82-8877-4293731C91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0851" y="1684340"/>
            <a:ext cx="6565413" cy="36930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图片 2" descr="剪影蓝 低版本"/>
          <p:cNvPicPr>
            <a:picLocks noChangeAspect="1"/>
          </p:cNvPicPr>
          <p:nvPr/>
        </p:nvPicPr>
        <p:blipFill>
          <a:blip r:embed="rId9"/>
          <a:srcRect l="-8"/>
          <a:stretch>
            <a:fillRect/>
          </a:stretch>
        </p:blipFill>
        <p:spPr>
          <a:xfrm>
            <a:off x="1353" y="5378386"/>
            <a:ext cx="12190495" cy="2438099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1353" y="600"/>
            <a:ext cx="12190495" cy="840002"/>
          </a:xfrm>
          <a:prstGeom prst="rect">
            <a:avLst/>
          </a:prstGeom>
          <a:gradFill>
            <a:gsLst>
              <a:gs pos="0">
                <a:schemeClr val="bg1"/>
              </a:gs>
              <a:gs pos="50000">
                <a:srgbClr val="5399D4"/>
              </a:gs>
              <a:gs pos="100000">
                <a:srgbClr val="2E3C63"/>
              </a:gs>
            </a:gsLst>
          </a:gradFill>
          <a:effectLst/>
        </p:spPr>
        <p:style>
          <a:lnRef idx="0">
            <a:srgbClr val="FFFFFF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z="100" strike="noStrike" noProof="1"/>
          </a:p>
        </p:txBody>
      </p:sp>
      <p:pic>
        <p:nvPicPr>
          <p:cNvPr id="2" name="图片 1" descr="国科大标准Logo横式一（白色）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815971" y="187901"/>
            <a:ext cx="2167622" cy="457144"/>
          </a:xfrm>
          <a:prstGeom prst="rect">
            <a:avLst/>
          </a:prstGeom>
        </p:spPr>
      </p:pic>
      <p:sp>
        <p:nvSpPr>
          <p:cNvPr id="3078" name="文本框 3"/>
          <p:cNvSpPr txBox="1"/>
          <p:nvPr>
            <p:custDataLst>
              <p:tags r:id="rId3"/>
            </p:custDataLst>
          </p:nvPr>
        </p:nvSpPr>
        <p:spPr>
          <a:xfrm>
            <a:off x="46644" y="-47231"/>
            <a:ext cx="850795" cy="919366"/>
          </a:xfrm>
          <a:prstGeom prst="rect">
            <a:avLst/>
          </a:prstGeom>
          <a:noFill/>
          <a:ln w="12700" cmpd="sng">
            <a:noFill/>
            <a:prstDash val="solid"/>
          </a:ln>
          <a:effectLst>
            <a:outerShdw dist="63500" dir="2700000" algn="tl" rotWithShape="0">
              <a:schemeClr val="bg1">
                <a:alpha val="100000"/>
              </a:schemeClr>
            </a:outerShdw>
          </a:effectLst>
        </p:spPr>
        <p:txBody>
          <a:bodyPr wrap="square" anchor="t" anchorCtr="0"/>
          <a:lstStyle/>
          <a:p>
            <a:pPr>
              <a:lnSpc>
                <a:spcPct val="130000"/>
              </a:lnSpc>
            </a:pPr>
            <a:r>
              <a:rPr lang="en-US" altLang="zh-CN" sz="4000" i="1">
                <a:ln w="19050">
                  <a:noFill/>
                </a:ln>
                <a:gradFill>
                  <a:gsLst>
                    <a:gs pos="39000">
                      <a:srgbClr val="5399D4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Bauhaus 93" panose="04030905020B02020C02" charset="0"/>
                <a:ea typeface="造字工房朗倩（非商用）常规体" charset="-122"/>
                <a:cs typeface="Bauhaus 93" panose="04030905020B02020C02" charset="0"/>
              </a:rPr>
              <a:t>03</a:t>
            </a:r>
          </a:p>
        </p:txBody>
      </p:sp>
      <p:sp>
        <p:nvSpPr>
          <p:cNvPr id="4" name="文本框 3"/>
          <p:cNvSpPr txBox="1"/>
          <p:nvPr>
            <p:custDataLst>
              <p:tags r:id="rId4"/>
            </p:custDataLst>
          </p:nvPr>
        </p:nvSpPr>
        <p:spPr>
          <a:xfrm>
            <a:off x="812148" y="172029"/>
            <a:ext cx="8441283" cy="53777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800" dirty="0">
                <a:solidFill>
                  <a:srgbClr val="2E3C63"/>
                </a:solidFill>
                <a:sym typeface="+mn-ea"/>
              </a:rPr>
              <a:t>Autoregressive Nature</a:t>
            </a:r>
            <a:r>
              <a:rPr lang="zh-CN" altLang="en-US" sz="2800" dirty="0">
                <a:solidFill>
                  <a:srgbClr val="2E3C63"/>
                </a:solidFill>
                <a:sym typeface="+mn-ea"/>
              </a:rPr>
              <a:t>自回归特性</a:t>
            </a:r>
            <a:endParaRPr lang="en-US" altLang="zh-CN" sz="2800" dirty="0">
              <a:solidFill>
                <a:srgbClr val="2E3C63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16</a:t>
            </a:fld>
            <a:endParaRPr lang="zh-CN" altLang="en-US" strike="noStrike" noProof="1"/>
          </a:p>
        </p:txBody>
      </p:sp>
      <p:sp>
        <p:nvSpPr>
          <p:cNvPr id="7" name="标题 1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rm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endParaRPr lang="en-US" altLang="zh-CN"/>
          </a:p>
        </p:txBody>
      </p:sp>
      <p:sp>
        <p:nvSpPr>
          <p:cNvPr id="9" name="内容占位符 2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1425645" y="1146179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solidFill>
                  <a:schemeClr val="tx1"/>
                </a:solidFill>
              </a:rPr>
              <a:t>逐 </a:t>
            </a:r>
            <a:r>
              <a:rPr lang="en-US" altLang="zh-CN" dirty="0">
                <a:solidFill>
                  <a:schemeClr val="tx1"/>
                </a:solidFill>
              </a:rPr>
              <a:t>token </a:t>
            </a:r>
            <a:r>
              <a:rPr lang="zh-CN" altLang="en-US" dirty="0">
                <a:solidFill>
                  <a:schemeClr val="tx1"/>
                </a:solidFill>
              </a:rPr>
              <a:t>生成</a:t>
            </a:r>
          </a:p>
          <a:p>
            <a:pPr lvl="1"/>
            <a:r>
              <a:rPr lang="zh-CN" altLang="en-US" dirty="0">
                <a:solidFill>
                  <a:schemeClr val="tx1"/>
                </a:solidFill>
              </a:rPr>
              <a:t>每次只生成一个 </a:t>
            </a:r>
            <a:r>
              <a:rPr lang="en-US" altLang="zh-CN" dirty="0">
                <a:solidFill>
                  <a:schemeClr val="tx1"/>
                </a:solidFill>
              </a:rPr>
              <a:t>token </a:t>
            </a:r>
          </a:p>
          <a:p>
            <a:pPr lvl="1"/>
            <a:r>
              <a:rPr lang="zh-CN" altLang="en-US" dirty="0">
                <a:solidFill>
                  <a:schemeClr val="tx1"/>
                </a:solidFill>
              </a:rPr>
              <a:t>生成完整句子需要多步迭代 </a:t>
            </a:r>
          </a:p>
          <a:p>
            <a:r>
              <a:rPr lang="en-US" altLang="zh-CN" dirty="0">
                <a:solidFill>
                  <a:schemeClr val="tx1"/>
                </a:solidFill>
              </a:rPr>
              <a:t> </a:t>
            </a:r>
            <a:r>
              <a:rPr lang="zh-CN" altLang="en-US" dirty="0">
                <a:solidFill>
                  <a:schemeClr val="tx1"/>
                </a:solidFill>
              </a:rPr>
              <a:t>强依赖前序结果</a:t>
            </a:r>
          </a:p>
          <a:p>
            <a:pPr lvl="1"/>
            <a:r>
              <a:rPr lang="zh-CN" altLang="en-US" dirty="0">
                <a:solidFill>
                  <a:schemeClr val="tx1"/>
                </a:solidFill>
              </a:rPr>
              <a:t>当前 </a:t>
            </a:r>
            <a:r>
              <a:rPr lang="en-US" altLang="zh-CN" dirty="0">
                <a:solidFill>
                  <a:schemeClr val="tx1"/>
                </a:solidFill>
              </a:rPr>
              <a:t>token </a:t>
            </a:r>
            <a:r>
              <a:rPr lang="zh-CN" altLang="en-US" dirty="0">
                <a:solidFill>
                  <a:schemeClr val="tx1"/>
                </a:solidFill>
              </a:rPr>
              <a:t>依赖之前所有 </a:t>
            </a:r>
            <a:r>
              <a:rPr lang="en-US" altLang="zh-CN" dirty="0">
                <a:solidFill>
                  <a:schemeClr val="tx1"/>
                </a:solidFill>
              </a:rPr>
              <a:t>token </a:t>
            </a:r>
          </a:p>
          <a:p>
            <a:pPr lvl="1"/>
            <a:r>
              <a:rPr lang="zh-CN" altLang="en-US" dirty="0">
                <a:solidFill>
                  <a:schemeClr val="tx1"/>
                </a:solidFill>
              </a:rPr>
              <a:t>无法跳过中间步骤 </a:t>
            </a:r>
          </a:p>
          <a:p>
            <a:pPr lvl="1"/>
            <a:r>
              <a:rPr lang="en-US" altLang="zh-CN" dirty="0">
                <a:solidFill>
                  <a:schemeClr val="tx1"/>
                </a:solidFill>
              </a:rPr>
              <a:t>P(xₜ | x₁, x₂, ..., xₜ₋₁)</a:t>
            </a:r>
          </a:p>
          <a:p>
            <a:r>
              <a:rPr lang="zh-CN" altLang="en-US" dirty="0">
                <a:solidFill>
                  <a:schemeClr val="tx1"/>
                </a:solidFill>
              </a:rPr>
              <a:t>带来的问题：难以并行化</a:t>
            </a:r>
          </a:p>
          <a:p>
            <a:pPr lvl="1"/>
            <a:r>
              <a:rPr lang="zh-CN" altLang="en-US" dirty="0">
                <a:solidFill>
                  <a:schemeClr val="tx1"/>
                </a:solidFill>
              </a:rPr>
              <a:t>无法像训练那样并行计算 </a:t>
            </a:r>
          </a:p>
          <a:p>
            <a:pPr lvl="1"/>
            <a:r>
              <a:rPr lang="zh-CN" altLang="en-US" dirty="0">
                <a:solidFill>
                  <a:schemeClr val="tx1"/>
                </a:solidFill>
              </a:rPr>
              <a:t>推理过程高度串行 </a:t>
            </a:r>
          </a:p>
          <a:p>
            <a:pPr lvl="1"/>
            <a:r>
              <a:rPr lang="en-US" altLang="zh-CN" dirty="0">
                <a:solidFill>
                  <a:schemeClr val="tx1"/>
                </a:solidFill>
              </a:rPr>
              <a:t>GPU </a:t>
            </a:r>
            <a:r>
              <a:rPr lang="zh-CN" altLang="en-US" dirty="0">
                <a:solidFill>
                  <a:schemeClr val="tx1"/>
                </a:solidFill>
              </a:rPr>
              <a:t>利用率较低 </a:t>
            </a:r>
          </a:p>
          <a:p>
            <a:pPr marL="0" indent="0">
              <a:buNone/>
            </a:pPr>
            <a:endParaRPr lang="en-US" altLang="zh-CN" dirty="0">
              <a:solidFill>
                <a:schemeClr val="tx1"/>
              </a:solidFill>
            </a:endParaRPr>
          </a:p>
        </p:txBody>
      </p:sp>
      <p:pic>
        <p:nvPicPr>
          <p:cNvPr id="5122" name="Picture 2" descr="GPT/GPT-2/GPT-3(判别式模型&amp;自回归模型AutoRegressive)_gpt自回归-CSDN博客">
            <a:extLst>
              <a:ext uri="{FF2B5EF4-FFF2-40B4-BE49-F238E27FC236}">
                <a16:creationId xmlns:a16="http://schemas.microsoft.com/office/drawing/2014/main" id="{19B5AC7D-23F6-D577-D036-EF64B976BF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7777" y="1606584"/>
            <a:ext cx="4820793" cy="37448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图片 2" descr="剪影蓝 低版本"/>
          <p:cNvPicPr>
            <a:picLocks noChangeAspect="1"/>
          </p:cNvPicPr>
          <p:nvPr/>
        </p:nvPicPr>
        <p:blipFill>
          <a:blip r:embed="rId9"/>
          <a:srcRect l="-8"/>
          <a:stretch>
            <a:fillRect/>
          </a:stretch>
        </p:blipFill>
        <p:spPr>
          <a:xfrm>
            <a:off x="1353" y="5378386"/>
            <a:ext cx="12190495" cy="2438099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1353" y="600"/>
            <a:ext cx="12190495" cy="840002"/>
          </a:xfrm>
          <a:prstGeom prst="rect">
            <a:avLst/>
          </a:prstGeom>
          <a:gradFill>
            <a:gsLst>
              <a:gs pos="0">
                <a:schemeClr val="bg1"/>
              </a:gs>
              <a:gs pos="50000">
                <a:srgbClr val="5399D4"/>
              </a:gs>
              <a:gs pos="100000">
                <a:srgbClr val="2E3C63"/>
              </a:gs>
            </a:gsLst>
          </a:gradFill>
          <a:effectLst/>
        </p:spPr>
        <p:style>
          <a:lnRef idx="0">
            <a:srgbClr val="FFFFFF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z="100" strike="noStrike" noProof="1"/>
          </a:p>
        </p:txBody>
      </p:sp>
      <p:pic>
        <p:nvPicPr>
          <p:cNvPr id="2" name="图片 1" descr="国科大标准Logo横式一（白色）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815971" y="187901"/>
            <a:ext cx="2167622" cy="457144"/>
          </a:xfrm>
          <a:prstGeom prst="rect">
            <a:avLst/>
          </a:prstGeom>
        </p:spPr>
      </p:pic>
      <p:sp>
        <p:nvSpPr>
          <p:cNvPr id="3078" name="文本框 3"/>
          <p:cNvSpPr txBox="1"/>
          <p:nvPr>
            <p:custDataLst>
              <p:tags r:id="rId3"/>
            </p:custDataLst>
          </p:nvPr>
        </p:nvSpPr>
        <p:spPr>
          <a:xfrm>
            <a:off x="46644" y="-47231"/>
            <a:ext cx="850795" cy="919366"/>
          </a:xfrm>
          <a:prstGeom prst="rect">
            <a:avLst/>
          </a:prstGeom>
          <a:noFill/>
          <a:ln w="12700" cmpd="sng">
            <a:noFill/>
            <a:prstDash val="solid"/>
          </a:ln>
          <a:effectLst>
            <a:outerShdw dist="63500" dir="2700000" algn="tl" rotWithShape="0">
              <a:schemeClr val="bg1">
                <a:alpha val="100000"/>
              </a:schemeClr>
            </a:outerShdw>
          </a:effectLst>
        </p:spPr>
        <p:txBody>
          <a:bodyPr wrap="square" anchor="t" anchorCtr="0"/>
          <a:lstStyle/>
          <a:p>
            <a:pPr>
              <a:lnSpc>
                <a:spcPct val="130000"/>
              </a:lnSpc>
            </a:pPr>
            <a:r>
              <a:rPr lang="en-US" altLang="zh-CN" sz="4000" i="1">
                <a:ln w="19050">
                  <a:noFill/>
                </a:ln>
                <a:gradFill>
                  <a:gsLst>
                    <a:gs pos="39000">
                      <a:srgbClr val="5399D4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Bauhaus 93" panose="04030905020B02020C02" charset="0"/>
                <a:ea typeface="造字工房朗倩（非商用）常规体" charset="-122"/>
                <a:cs typeface="Bauhaus 93" panose="04030905020B02020C02" charset="0"/>
              </a:rPr>
              <a:t>03</a:t>
            </a:r>
          </a:p>
        </p:txBody>
      </p:sp>
      <p:sp>
        <p:nvSpPr>
          <p:cNvPr id="4" name="文本框 3"/>
          <p:cNvSpPr txBox="1"/>
          <p:nvPr>
            <p:custDataLst>
              <p:tags r:id="rId4"/>
            </p:custDataLst>
          </p:nvPr>
        </p:nvSpPr>
        <p:spPr>
          <a:xfrm>
            <a:off x="812148" y="172029"/>
            <a:ext cx="8441283" cy="53777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800" dirty="0">
                <a:solidFill>
                  <a:srgbClr val="2E3C63"/>
                </a:solidFill>
                <a:sym typeface="+mn-ea"/>
              </a:rPr>
              <a:t>Memory Hierarchy</a:t>
            </a:r>
            <a:r>
              <a:rPr lang="zh-CN" altLang="en-US" sz="2800" dirty="0">
                <a:solidFill>
                  <a:srgbClr val="2E3C63"/>
                </a:solidFill>
                <a:sym typeface="+mn-ea"/>
              </a:rPr>
              <a:t>存储层级</a:t>
            </a:r>
            <a:endParaRPr lang="en-US" altLang="zh-CN" sz="2800" dirty="0">
              <a:solidFill>
                <a:srgbClr val="2E3C63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17</a:t>
            </a:fld>
            <a:endParaRPr lang="zh-CN" altLang="en-US" strike="noStrike" noProof="1"/>
          </a:p>
        </p:txBody>
      </p:sp>
      <p:sp>
        <p:nvSpPr>
          <p:cNvPr id="7" name="标题 1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rm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endParaRPr lang="en-US" altLang="zh-CN"/>
          </a:p>
        </p:txBody>
      </p:sp>
      <p:sp>
        <p:nvSpPr>
          <p:cNvPr id="9" name="内容占位符 2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354807" y="1479935"/>
            <a:ext cx="6122193" cy="4818325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600" dirty="0">
                <a:solidFill>
                  <a:schemeClr val="tx1"/>
                </a:solidFill>
              </a:rPr>
              <a:t>存储层级结构（从快到慢）</a:t>
            </a:r>
          </a:p>
          <a:p>
            <a:pPr lvl="1"/>
            <a:r>
              <a:rPr lang="en-US" altLang="zh-CN" sz="1400" dirty="0">
                <a:solidFill>
                  <a:schemeClr val="tx1"/>
                </a:solidFill>
              </a:rPr>
              <a:t>Register</a:t>
            </a:r>
            <a:r>
              <a:rPr lang="zh-CN" altLang="en-US" sz="1400" dirty="0">
                <a:solidFill>
                  <a:schemeClr val="tx1"/>
                </a:solidFill>
              </a:rPr>
              <a:t>（寄存器）：速度最快，容量极小 </a:t>
            </a:r>
          </a:p>
          <a:p>
            <a:pPr lvl="1"/>
            <a:r>
              <a:rPr lang="en-US" altLang="zh-CN" sz="1400" dirty="0">
                <a:solidFill>
                  <a:schemeClr val="tx1"/>
                </a:solidFill>
              </a:rPr>
              <a:t>Cache</a:t>
            </a:r>
            <a:r>
              <a:rPr lang="zh-CN" altLang="en-US" sz="1400" dirty="0">
                <a:solidFill>
                  <a:schemeClr val="tx1"/>
                </a:solidFill>
              </a:rPr>
              <a:t>（缓存） ：高速访问、容量较小 </a:t>
            </a:r>
          </a:p>
          <a:p>
            <a:pPr lvl="1"/>
            <a:r>
              <a:rPr lang="en-US" altLang="zh-CN" sz="1400" dirty="0">
                <a:solidFill>
                  <a:schemeClr val="tx1"/>
                </a:solidFill>
              </a:rPr>
              <a:t>HBM</a:t>
            </a:r>
            <a:r>
              <a:rPr lang="zh-CN" altLang="en-US" sz="1400" dirty="0">
                <a:solidFill>
                  <a:schemeClr val="tx1"/>
                </a:solidFill>
              </a:rPr>
              <a:t>（高带宽显存）：</a:t>
            </a:r>
            <a:r>
              <a:rPr lang="en-US" altLang="zh-CN" sz="1400" dirty="0">
                <a:solidFill>
                  <a:schemeClr val="tx1"/>
                </a:solidFill>
              </a:rPr>
              <a:t>GPU </a:t>
            </a:r>
            <a:r>
              <a:rPr lang="zh-CN" altLang="en-US" sz="1400" dirty="0">
                <a:solidFill>
                  <a:schemeClr val="tx1"/>
                </a:solidFill>
              </a:rPr>
              <a:t>主存储 、容量较大（</a:t>
            </a:r>
            <a:r>
              <a:rPr lang="en-US" altLang="zh-CN" sz="1400" dirty="0">
                <a:solidFill>
                  <a:schemeClr val="tx1"/>
                </a:solidFill>
              </a:rPr>
              <a:t>GB</a:t>
            </a:r>
            <a:r>
              <a:rPr lang="zh-CN" altLang="en-US" sz="1400" dirty="0">
                <a:solidFill>
                  <a:schemeClr val="tx1"/>
                </a:solidFill>
              </a:rPr>
              <a:t>级） </a:t>
            </a:r>
          </a:p>
          <a:p>
            <a:pPr lvl="1"/>
            <a:r>
              <a:rPr lang="en-US" altLang="zh-CN" sz="1400" dirty="0">
                <a:solidFill>
                  <a:schemeClr val="tx1"/>
                </a:solidFill>
              </a:rPr>
              <a:t>CPU Memory</a:t>
            </a:r>
            <a:r>
              <a:rPr lang="zh-CN" altLang="en-US" sz="1400" dirty="0">
                <a:solidFill>
                  <a:schemeClr val="tx1"/>
                </a:solidFill>
              </a:rPr>
              <a:t>（主存） ：容量更大、访问延迟高</a:t>
            </a:r>
          </a:p>
          <a:p>
            <a:r>
              <a:rPr lang="zh-CN" altLang="en-US" sz="1600" dirty="0">
                <a:solidFill>
                  <a:schemeClr val="tx1"/>
                </a:solidFill>
              </a:rPr>
              <a:t>核心权衡：</a:t>
            </a:r>
            <a:r>
              <a:rPr lang="en-US" altLang="zh-CN" sz="1600" dirty="0">
                <a:solidFill>
                  <a:schemeClr val="tx1"/>
                </a:solidFill>
              </a:rPr>
              <a:t> </a:t>
            </a:r>
            <a:r>
              <a:rPr lang="zh-CN" altLang="en-US" sz="1600" dirty="0">
                <a:solidFill>
                  <a:schemeClr val="tx1"/>
                </a:solidFill>
              </a:rPr>
              <a:t>速度</a:t>
            </a:r>
            <a:r>
              <a:rPr lang="en-US" altLang="zh-CN" sz="1600" dirty="0">
                <a:solidFill>
                  <a:schemeClr val="tx1"/>
                </a:solidFill>
              </a:rPr>
              <a:t>vs</a:t>
            </a:r>
            <a:r>
              <a:rPr lang="zh-CN" altLang="en-US" sz="1600" dirty="0">
                <a:solidFill>
                  <a:schemeClr val="tx1"/>
                </a:solidFill>
              </a:rPr>
              <a:t>容量</a:t>
            </a:r>
            <a:endParaRPr lang="en-US" altLang="zh-CN" sz="1600" dirty="0">
              <a:solidFill>
                <a:schemeClr val="tx1"/>
              </a:solidFill>
            </a:endParaRPr>
          </a:p>
          <a:p>
            <a:pPr lvl="1"/>
            <a:r>
              <a:rPr lang="zh-CN" altLang="en-US" sz="1400" dirty="0">
                <a:solidFill>
                  <a:schemeClr val="tx1"/>
                </a:solidFill>
              </a:rPr>
              <a:t>越靠近计算单元 → 速度越快，容量越小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lvl="1"/>
            <a:r>
              <a:rPr lang="zh-CN" altLang="en-US" sz="1400" dirty="0">
                <a:solidFill>
                  <a:schemeClr val="tx1"/>
                </a:solidFill>
              </a:rPr>
              <a:t>越远离 </a:t>
            </a:r>
            <a:r>
              <a:rPr lang="en-US" altLang="zh-CN" sz="1400" dirty="0">
                <a:solidFill>
                  <a:schemeClr val="tx1"/>
                </a:solidFill>
              </a:rPr>
              <a:t>GPU → </a:t>
            </a:r>
            <a:r>
              <a:rPr lang="zh-CN" altLang="en-US" sz="1400" dirty="0">
                <a:solidFill>
                  <a:schemeClr val="tx1"/>
                </a:solidFill>
              </a:rPr>
              <a:t>容量越大，速度越慢</a:t>
            </a:r>
            <a:endParaRPr lang="en-US" altLang="zh-CN" sz="1400" dirty="0">
              <a:solidFill>
                <a:schemeClr val="tx1"/>
              </a:solidFill>
            </a:endParaRPr>
          </a:p>
          <a:p>
            <a:r>
              <a:rPr lang="zh-CN" altLang="en-US" sz="1600" dirty="0">
                <a:solidFill>
                  <a:schemeClr val="tx1"/>
                </a:solidFill>
              </a:rPr>
              <a:t>对 </a:t>
            </a:r>
            <a:r>
              <a:rPr lang="en-US" altLang="zh-CN" sz="1600" dirty="0">
                <a:solidFill>
                  <a:schemeClr val="tx1"/>
                </a:solidFill>
              </a:rPr>
              <a:t>AI </a:t>
            </a:r>
            <a:r>
              <a:rPr lang="zh-CN" altLang="en-US" sz="1600" dirty="0">
                <a:solidFill>
                  <a:schemeClr val="tx1"/>
                </a:solidFill>
              </a:rPr>
              <a:t>系统的影响：训练速度、推理延迟 </a:t>
            </a:r>
          </a:p>
          <a:p>
            <a:pPr lvl="1"/>
            <a:r>
              <a:rPr lang="zh-CN" altLang="en-US" sz="1400" dirty="0">
                <a:solidFill>
                  <a:schemeClr val="tx1"/>
                </a:solidFill>
              </a:rPr>
              <a:t>数据若不在高速存储中 → 访问延迟大 </a:t>
            </a:r>
          </a:p>
          <a:p>
            <a:pPr lvl="1"/>
            <a:r>
              <a:rPr lang="zh-CN" altLang="en-US" sz="1400" dirty="0">
                <a:solidFill>
                  <a:schemeClr val="tx1"/>
                </a:solidFill>
              </a:rPr>
              <a:t>频繁跨层访问（如 </a:t>
            </a:r>
            <a:r>
              <a:rPr lang="en-US" altLang="zh-CN" sz="1400" dirty="0">
                <a:solidFill>
                  <a:schemeClr val="tx1"/>
                </a:solidFill>
              </a:rPr>
              <a:t>CPU ↔ GPU</a:t>
            </a:r>
            <a:r>
              <a:rPr lang="zh-CN" altLang="en-US" sz="1400" dirty="0">
                <a:solidFill>
                  <a:schemeClr val="tx1"/>
                </a:solidFill>
              </a:rPr>
              <a:t>）成本高 </a:t>
            </a:r>
          </a:p>
          <a:p>
            <a:pPr marL="457200" lvl="1" indent="0">
              <a:buNone/>
            </a:pPr>
            <a:endParaRPr lang="en-US" altLang="zh-CN" sz="1400" dirty="0">
              <a:solidFill>
                <a:schemeClr val="tx1"/>
              </a:solidFill>
            </a:endParaRPr>
          </a:p>
        </p:txBody>
      </p:sp>
      <p:pic>
        <p:nvPicPr>
          <p:cNvPr id="6146" name="Picture 2" descr="Memory Hierarchy Design and its Characteristics - Coding Ninjas CodeStudio">
            <a:extLst>
              <a:ext uri="{FF2B5EF4-FFF2-40B4-BE49-F238E27FC236}">
                <a16:creationId xmlns:a16="http://schemas.microsoft.com/office/drawing/2014/main" id="{E6D5DDAA-4A4A-65E6-4A61-297C0DF6C8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6600" y="1734499"/>
            <a:ext cx="5890593" cy="38904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图片 2" descr="剪影蓝 低版本"/>
          <p:cNvPicPr>
            <a:picLocks noChangeAspect="1"/>
          </p:cNvPicPr>
          <p:nvPr/>
        </p:nvPicPr>
        <p:blipFill>
          <a:blip r:embed="rId9"/>
          <a:srcRect l="-8"/>
          <a:stretch>
            <a:fillRect/>
          </a:stretch>
        </p:blipFill>
        <p:spPr>
          <a:xfrm>
            <a:off x="1353" y="5378386"/>
            <a:ext cx="12190495" cy="2438099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1353" y="600"/>
            <a:ext cx="12190495" cy="840002"/>
          </a:xfrm>
          <a:prstGeom prst="rect">
            <a:avLst/>
          </a:prstGeom>
          <a:gradFill>
            <a:gsLst>
              <a:gs pos="0">
                <a:schemeClr val="bg1"/>
              </a:gs>
              <a:gs pos="50000">
                <a:srgbClr val="5399D4"/>
              </a:gs>
              <a:gs pos="100000">
                <a:srgbClr val="2E3C63"/>
              </a:gs>
            </a:gsLst>
          </a:gradFill>
          <a:effectLst/>
        </p:spPr>
        <p:style>
          <a:lnRef idx="0">
            <a:srgbClr val="FFFFFF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z="100" strike="noStrike" noProof="1"/>
          </a:p>
        </p:txBody>
      </p:sp>
      <p:pic>
        <p:nvPicPr>
          <p:cNvPr id="2" name="图片 1" descr="国科大标准Logo横式一（白色）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815971" y="187901"/>
            <a:ext cx="2167622" cy="457144"/>
          </a:xfrm>
          <a:prstGeom prst="rect">
            <a:avLst/>
          </a:prstGeom>
        </p:spPr>
      </p:pic>
      <p:sp>
        <p:nvSpPr>
          <p:cNvPr id="3078" name="文本框 3"/>
          <p:cNvSpPr txBox="1"/>
          <p:nvPr>
            <p:custDataLst>
              <p:tags r:id="rId3"/>
            </p:custDataLst>
          </p:nvPr>
        </p:nvSpPr>
        <p:spPr>
          <a:xfrm>
            <a:off x="46644" y="-47231"/>
            <a:ext cx="850795" cy="919366"/>
          </a:xfrm>
          <a:prstGeom prst="rect">
            <a:avLst/>
          </a:prstGeom>
          <a:noFill/>
          <a:ln w="12700" cmpd="sng">
            <a:noFill/>
            <a:prstDash val="solid"/>
          </a:ln>
          <a:effectLst>
            <a:outerShdw dist="63500" dir="2700000" algn="tl" rotWithShape="0">
              <a:schemeClr val="bg1">
                <a:alpha val="100000"/>
              </a:schemeClr>
            </a:outerShdw>
          </a:effectLst>
        </p:spPr>
        <p:txBody>
          <a:bodyPr wrap="square" anchor="t" anchorCtr="0"/>
          <a:lstStyle/>
          <a:p>
            <a:pPr>
              <a:lnSpc>
                <a:spcPct val="130000"/>
              </a:lnSpc>
            </a:pPr>
            <a:r>
              <a:rPr lang="en-US" altLang="zh-CN" sz="4000" i="1">
                <a:ln w="19050">
                  <a:noFill/>
                </a:ln>
                <a:gradFill>
                  <a:gsLst>
                    <a:gs pos="39000">
                      <a:srgbClr val="5399D4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Bauhaus 93" panose="04030905020B02020C02" charset="0"/>
                <a:ea typeface="造字工房朗倩（非商用）常规体" charset="-122"/>
                <a:cs typeface="Bauhaus 93" panose="04030905020B02020C02" charset="0"/>
              </a:rPr>
              <a:t>03</a:t>
            </a:r>
          </a:p>
        </p:txBody>
      </p:sp>
      <p:sp>
        <p:nvSpPr>
          <p:cNvPr id="4" name="文本框 3"/>
          <p:cNvSpPr txBox="1"/>
          <p:nvPr>
            <p:custDataLst>
              <p:tags r:id="rId4"/>
            </p:custDataLst>
          </p:nvPr>
        </p:nvSpPr>
        <p:spPr>
          <a:xfrm>
            <a:off x="812148" y="172029"/>
            <a:ext cx="8441283" cy="53777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800" dirty="0">
                <a:solidFill>
                  <a:srgbClr val="2E3C63"/>
                </a:solidFill>
                <a:sym typeface="+mn-ea"/>
              </a:rPr>
              <a:t>Data Movement Cost</a:t>
            </a:r>
            <a:r>
              <a:rPr lang="zh-CN" altLang="en-US" sz="2800" dirty="0">
                <a:solidFill>
                  <a:srgbClr val="2E3C63"/>
                </a:solidFill>
                <a:sym typeface="+mn-ea"/>
              </a:rPr>
              <a:t>数据搬运成本</a:t>
            </a:r>
            <a:endParaRPr lang="en-US" altLang="zh-CN" sz="2800" dirty="0">
              <a:solidFill>
                <a:srgbClr val="2E3C63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18</a:t>
            </a:fld>
            <a:endParaRPr lang="zh-CN" altLang="en-US" strike="noStrike" noProof="1"/>
          </a:p>
        </p:txBody>
      </p:sp>
      <p:sp>
        <p:nvSpPr>
          <p:cNvPr id="7" name="标题 1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rm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endParaRPr lang="en-US" altLang="zh-CN"/>
          </a:p>
        </p:txBody>
      </p:sp>
      <p:sp>
        <p:nvSpPr>
          <p:cNvPr id="9" name="内容占位符 2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472041" y="1292634"/>
            <a:ext cx="6896100" cy="467547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solidFill>
                  <a:schemeClr val="tx1"/>
                </a:solidFill>
              </a:rPr>
              <a:t>数据搬运主导运行时间：</a:t>
            </a:r>
            <a:r>
              <a:rPr lang="en-US" altLang="zh-CN" dirty="0">
                <a:solidFill>
                  <a:schemeClr val="tx1"/>
                </a:solidFill>
              </a:rPr>
              <a:t>Data Movement &gt; Computation</a:t>
            </a:r>
            <a:endParaRPr lang="zh-CN" altLang="en-US" dirty="0">
              <a:solidFill>
                <a:schemeClr val="tx1"/>
              </a:solidFill>
            </a:endParaRPr>
          </a:p>
          <a:p>
            <a:pPr lvl="1"/>
            <a:r>
              <a:rPr lang="en-US" altLang="zh-CN" dirty="0">
                <a:solidFill>
                  <a:schemeClr val="tx1"/>
                </a:solidFill>
              </a:rPr>
              <a:t>GPU </a:t>
            </a:r>
            <a:r>
              <a:rPr lang="zh-CN" altLang="en-US" dirty="0">
                <a:solidFill>
                  <a:schemeClr val="tx1"/>
                </a:solidFill>
              </a:rPr>
              <a:t>计算速度极快 </a:t>
            </a:r>
          </a:p>
          <a:p>
            <a:pPr lvl="1"/>
            <a:r>
              <a:rPr lang="zh-CN" altLang="en-US" dirty="0">
                <a:solidFill>
                  <a:schemeClr val="tx1"/>
                </a:solidFill>
              </a:rPr>
              <a:t>数据在不同存储层级之间频繁移动 </a:t>
            </a:r>
          </a:p>
          <a:p>
            <a:r>
              <a:rPr lang="zh-CN" altLang="en-US" dirty="0">
                <a:solidFill>
                  <a:schemeClr val="tx1"/>
                </a:solidFill>
              </a:rPr>
              <a:t>内存带宽成为瓶颈：</a:t>
            </a:r>
            <a:r>
              <a:rPr lang="en-US" altLang="zh-CN" dirty="0">
                <a:solidFill>
                  <a:schemeClr val="tx1"/>
                </a:solidFill>
              </a:rPr>
              <a:t> GPU </a:t>
            </a:r>
            <a:r>
              <a:rPr lang="zh-CN" altLang="en-US" dirty="0">
                <a:solidFill>
                  <a:schemeClr val="tx1"/>
                </a:solidFill>
              </a:rPr>
              <a:t>等待数据、算力无法充分利用</a:t>
            </a:r>
          </a:p>
          <a:p>
            <a:pPr lvl="1"/>
            <a:r>
              <a:rPr lang="zh-CN" altLang="en-US" dirty="0">
                <a:solidFill>
                  <a:schemeClr val="tx1"/>
                </a:solidFill>
              </a:rPr>
              <a:t>数据读取速度受限于带宽 </a:t>
            </a:r>
          </a:p>
          <a:p>
            <a:pPr lvl="1"/>
            <a:r>
              <a:rPr lang="en-US" altLang="zh-CN" dirty="0">
                <a:solidFill>
                  <a:schemeClr val="tx1"/>
                </a:solidFill>
              </a:rPr>
              <a:t>HBM / Cache / PCIe </a:t>
            </a:r>
            <a:r>
              <a:rPr lang="zh-CN" altLang="en-US" dirty="0">
                <a:solidFill>
                  <a:schemeClr val="tx1"/>
                </a:solidFill>
              </a:rPr>
              <a:t>传输能力有限 </a:t>
            </a:r>
          </a:p>
          <a:p>
            <a:r>
              <a:rPr lang="zh-CN" altLang="en-US" dirty="0">
                <a:solidFill>
                  <a:schemeClr val="tx1"/>
                </a:solidFill>
              </a:rPr>
              <a:t> 对系统的影响</a:t>
            </a:r>
          </a:p>
          <a:p>
            <a:pPr lvl="1"/>
            <a:r>
              <a:rPr lang="zh-CN" altLang="en-US" dirty="0">
                <a:solidFill>
                  <a:schemeClr val="tx1"/>
                </a:solidFill>
              </a:rPr>
              <a:t>训练吞吐下降 </a:t>
            </a:r>
          </a:p>
          <a:p>
            <a:pPr lvl="1"/>
            <a:r>
              <a:rPr lang="zh-CN" altLang="en-US" dirty="0">
                <a:solidFill>
                  <a:schemeClr val="tx1"/>
                </a:solidFill>
              </a:rPr>
              <a:t>推理延迟增加 </a:t>
            </a:r>
          </a:p>
          <a:p>
            <a:pPr lvl="1"/>
            <a:r>
              <a:rPr lang="zh-CN" altLang="en-US" dirty="0">
                <a:solidFill>
                  <a:schemeClr val="tx1"/>
                </a:solidFill>
              </a:rPr>
              <a:t>能耗提升 </a:t>
            </a:r>
          </a:p>
          <a:p>
            <a:pPr marL="0" indent="0">
              <a:buNone/>
            </a:pPr>
            <a:r>
              <a:rPr lang="zh-CN" altLang="en-US" dirty="0">
                <a:solidFill>
                  <a:schemeClr val="tx1"/>
                </a:solidFill>
              </a:rPr>
              <a:t>核心问题：带宽不够，而不是算力不够</a:t>
            </a:r>
          </a:p>
          <a:p>
            <a:pPr lvl="1"/>
            <a:endParaRPr lang="zh-CN" alt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chemeClr val="tx1"/>
              </a:solidFill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DAEBB0DE-A580-6329-A6CF-8EA1ABD1BF0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87774" y="2209044"/>
            <a:ext cx="4132185" cy="3137809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图片 2" descr="剪影蓝 低版本"/>
          <p:cNvPicPr>
            <a:picLocks noChangeAspect="1"/>
          </p:cNvPicPr>
          <p:nvPr/>
        </p:nvPicPr>
        <p:blipFill>
          <a:blip r:embed="rId9"/>
          <a:srcRect l="-8"/>
          <a:stretch>
            <a:fillRect/>
          </a:stretch>
        </p:blipFill>
        <p:spPr>
          <a:xfrm>
            <a:off x="1353" y="5378386"/>
            <a:ext cx="12190495" cy="2438099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1353" y="600"/>
            <a:ext cx="12190495" cy="840002"/>
          </a:xfrm>
          <a:prstGeom prst="rect">
            <a:avLst/>
          </a:prstGeom>
          <a:gradFill>
            <a:gsLst>
              <a:gs pos="0">
                <a:schemeClr val="bg1"/>
              </a:gs>
              <a:gs pos="50000">
                <a:srgbClr val="5399D4"/>
              </a:gs>
              <a:gs pos="100000">
                <a:srgbClr val="2E3C63"/>
              </a:gs>
            </a:gsLst>
          </a:gradFill>
          <a:effectLst/>
        </p:spPr>
        <p:style>
          <a:lnRef idx="0">
            <a:srgbClr val="FFFFFF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z="100" strike="noStrike" noProof="1"/>
          </a:p>
        </p:txBody>
      </p:sp>
      <p:pic>
        <p:nvPicPr>
          <p:cNvPr id="2" name="图片 1" descr="国科大标准Logo横式一（白色）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815971" y="187901"/>
            <a:ext cx="2167622" cy="457144"/>
          </a:xfrm>
          <a:prstGeom prst="rect">
            <a:avLst/>
          </a:prstGeom>
        </p:spPr>
      </p:pic>
      <p:sp>
        <p:nvSpPr>
          <p:cNvPr id="3078" name="文本框 3"/>
          <p:cNvSpPr txBox="1"/>
          <p:nvPr>
            <p:custDataLst>
              <p:tags r:id="rId3"/>
            </p:custDataLst>
          </p:nvPr>
        </p:nvSpPr>
        <p:spPr>
          <a:xfrm>
            <a:off x="46644" y="-47231"/>
            <a:ext cx="850795" cy="919366"/>
          </a:xfrm>
          <a:prstGeom prst="rect">
            <a:avLst/>
          </a:prstGeom>
          <a:noFill/>
          <a:ln w="12700" cmpd="sng">
            <a:noFill/>
            <a:prstDash val="solid"/>
          </a:ln>
          <a:effectLst>
            <a:outerShdw dist="63500" dir="2700000" algn="tl" rotWithShape="0">
              <a:schemeClr val="bg1">
                <a:alpha val="100000"/>
              </a:schemeClr>
            </a:outerShdw>
          </a:effectLst>
        </p:spPr>
        <p:txBody>
          <a:bodyPr wrap="square" anchor="t" anchorCtr="0"/>
          <a:lstStyle/>
          <a:p>
            <a:pPr>
              <a:lnSpc>
                <a:spcPct val="130000"/>
              </a:lnSpc>
            </a:pPr>
            <a:r>
              <a:rPr lang="en-US" altLang="zh-CN" sz="4000" i="1">
                <a:ln w="19050">
                  <a:noFill/>
                </a:ln>
                <a:gradFill>
                  <a:gsLst>
                    <a:gs pos="39000">
                      <a:srgbClr val="5399D4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Bauhaus 93" panose="04030905020B02020C02" charset="0"/>
                <a:ea typeface="造字工房朗倩（非商用）常规体" charset="-122"/>
                <a:cs typeface="Bauhaus 93" panose="04030905020B02020C02" charset="0"/>
              </a:rPr>
              <a:t>03</a:t>
            </a:r>
          </a:p>
        </p:txBody>
      </p:sp>
      <p:sp>
        <p:nvSpPr>
          <p:cNvPr id="4" name="文本框 3"/>
          <p:cNvSpPr txBox="1"/>
          <p:nvPr>
            <p:custDataLst>
              <p:tags r:id="rId4"/>
            </p:custDataLst>
          </p:nvPr>
        </p:nvSpPr>
        <p:spPr>
          <a:xfrm>
            <a:off x="812148" y="172029"/>
            <a:ext cx="8441283" cy="53777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800" dirty="0">
                <a:solidFill>
                  <a:srgbClr val="2E3C63"/>
                </a:solidFill>
                <a:sym typeface="+mn-ea"/>
              </a:rPr>
              <a:t>Parallelism Overview </a:t>
            </a:r>
            <a:r>
              <a:rPr lang="zh-CN" altLang="en-US" sz="2800" dirty="0">
                <a:solidFill>
                  <a:srgbClr val="2E3C63"/>
                </a:solidFill>
                <a:sym typeface="+mn-ea"/>
              </a:rPr>
              <a:t>三大并行策略</a:t>
            </a:r>
            <a:endParaRPr lang="en-US" altLang="zh-CN" sz="2800" dirty="0">
              <a:solidFill>
                <a:srgbClr val="2E3C63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19</a:t>
            </a:fld>
            <a:endParaRPr lang="zh-CN" altLang="en-US" strike="noStrike" noProof="1"/>
          </a:p>
        </p:txBody>
      </p:sp>
      <p:sp>
        <p:nvSpPr>
          <p:cNvPr id="7" name="标题 1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rm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endParaRPr lang="en-US" altLang="zh-CN"/>
          </a:p>
        </p:txBody>
      </p:sp>
      <p:sp>
        <p:nvSpPr>
          <p:cNvPr id="9" name="内容占位符 2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569100" y="1108571"/>
            <a:ext cx="10969200" cy="5141029"/>
          </a:xfrm>
          <a:prstGeom prst="rect">
            <a:avLst/>
          </a:prstGeom>
        </p:spPr>
        <p:txBody>
          <a:bodyPr vert="horz" lIns="90000" tIns="46800" rIns="90000" bIns="46800" rtlCol="0">
            <a:normAutofit fontScale="92500" lnSpcReduction="20000"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700" dirty="0">
                <a:solidFill>
                  <a:schemeClr val="tx1"/>
                </a:solidFill>
              </a:rPr>
              <a:t>数据并行（</a:t>
            </a:r>
            <a:r>
              <a:rPr lang="en-US" altLang="zh-CN" sz="1700" dirty="0">
                <a:solidFill>
                  <a:schemeClr val="tx1"/>
                </a:solidFill>
              </a:rPr>
              <a:t>Data Parallelism</a:t>
            </a:r>
            <a:r>
              <a:rPr lang="zh-CN" altLang="en-US" sz="1700" dirty="0">
                <a:solidFill>
                  <a:schemeClr val="tx1"/>
                </a:solidFill>
              </a:rPr>
              <a:t>）</a:t>
            </a:r>
          </a:p>
          <a:p>
            <a:pPr lvl="1"/>
            <a:r>
              <a:rPr lang="zh-CN" altLang="en-US" sz="1500" dirty="0">
                <a:solidFill>
                  <a:schemeClr val="tx1"/>
                </a:solidFill>
              </a:rPr>
              <a:t>每个 </a:t>
            </a:r>
            <a:r>
              <a:rPr lang="en-US" altLang="zh-CN" sz="1500" dirty="0">
                <a:solidFill>
                  <a:schemeClr val="tx1"/>
                </a:solidFill>
              </a:rPr>
              <a:t>GPU </a:t>
            </a:r>
            <a:r>
              <a:rPr lang="zh-CN" altLang="en-US" sz="1500" dirty="0">
                <a:solidFill>
                  <a:schemeClr val="tx1"/>
                </a:solidFill>
              </a:rPr>
              <a:t>拥有完整模型 </a:t>
            </a:r>
          </a:p>
          <a:p>
            <a:pPr lvl="1"/>
            <a:r>
              <a:rPr lang="zh-CN" altLang="en-US" sz="1500" dirty="0">
                <a:solidFill>
                  <a:schemeClr val="tx1"/>
                </a:solidFill>
              </a:rPr>
              <a:t>处理不同数据 </a:t>
            </a:r>
            <a:r>
              <a:rPr lang="en-US" altLang="zh-CN" sz="1500" dirty="0">
                <a:solidFill>
                  <a:schemeClr val="tx1"/>
                </a:solidFill>
              </a:rPr>
              <a:t>batch </a:t>
            </a:r>
          </a:p>
          <a:p>
            <a:pPr lvl="1"/>
            <a:r>
              <a:rPr lang="zh-CN" altLang="en-US" sz="1500" dirty="0">
                <a:solidFill>
                  <a:schemeClr val="tx1"/>
                </a:solidFill>
              </a:rPr>
              <a:t>特点：实现简单、需要梯度同步（</a:t>
            </a:r>
            <a:r>
              <a:rPr lang="en-US" altLang="zh-CN" sz="1500" dirty="0" err="1">
                <a:solidFill>
                  <a:schemeClr val="tx1"/>
                </a:solidFill>
              </a:rPr>
              <a:t>AllReduce</a:t>
            </a:r>
            <a:r>
              <a:rPr lang="zh-CN" altLang="en-US" sz="1500" dirty="0">
                <a:solidFill>
                  <a:schemeClr val="tx1"/>
                </a:solidFill>
              </a:rPr>
              <a:t>） </a:t>
            </a:r>
            <a:br>
              <a:rPr lang="zh-CN" altLang="en-US" sz="1500" dirty="0">
                <a:solidFill>
                  <a:schemeClr val="tx1"/>
                </a:solidFill>
              </a:rPr>
            </a:br>
            <a:endParaRPr lang="zh-CN" altLang="en-US" sz="1500" dirty="0">
              <a:solidFill>
                <a:schemeClr val="tx1"/>
              </a:solidFill>
            </a:endParaRPr>
          </a:p>
          <a:p>
            <a:r>
              <a:rPr lang="zh-CN" altLang="en-US" sz="1700" dirty="0">
                <a:solidFill>
                  <a:schemeClr val="tx1"/>
                </a:solidFill>
              </a:rPr>
              <a:t>模型并行（</a:t>
            </a:r>
            <a:r>
              <a:rPr lang="en-US" altLang="zh-CN" sz="1700" dirty="0">
                <a:solidFill>
                  <a:schemeClr val="tx1"/>
                </a:solidFill>
              </a:rPr>
              <a:t>Model Parallelism</a:t>
            </a:r>
            <a:r>
              <a:rPr lang="zh-CN" altLang="en-US" sz="1700" dirty="0">
                <a:solidFill>
                  <a:schemeClr val="tx1"/>
                </a:solidFill>
              </a:rPr>
              <a:t>）</a:t>
            </a:r>
          </a:p>
          <a:p>
            <a:pPr lvl="1"/>
            <a:r>
              <a:rPr lang="zh-CN" altLang="en-US" sz="1500" dirty="0">
                <a:solidFill>
                  <a:schemeClr val="tx1"/>
                </a:solidFill>
              </a:rPr>
              <a:t>模型被拆分到多个 </a:t>
            </a:r>
            <a:r>
              <a:rPr lang="en-US" altLang="zh-CN" sz="1500" dirty="0">
                <a:solidFill>
                  <a:schemeClr val="tx1"/>
                </a:solidFill>
              </a:rPr>
              <a:t>GPU </a:t>
            </a:r>
          </a:p>
          <a:p>
            <a:pPr lvl="1"/>
            <a:r>
              <a:rPr lang="zh-CN" altLang="en-US" sz="1500" dirty="0">
                <a:solidFill>
                  <a:schemeClr val="tx1"/>
                </a:solidFill>
              </a:rPr>
              <a:t>每个 </a:t>
            </a:r>
            <a:r>
              <a:rPr lang="en-US" altLang="zh-CN" sz="1500" dirty="0">
                <a:solidFill>
                  <a:schemeClr val="tx1"/>
                </a:solidFill>
              </a:rPr>
              <a:t>GPU </a:t>
            </a:r>
            <a:r>
              <a:rPr lang="zh-CN" altLang="en-US" sz="1500" dirty="0">
                <a:solidFill>
                  <a:schemeClr val="tx1"/>
                </a:solidFill>
              </a:rPr>
              <a:t>负责一部分计算 </a:t>
            </a:r>
          </a:p>
          <a:p>
            <a:pPr lvl="1"/>
            <a:r>
              <a:rPr lang="zh-CN" altLang="en-US" sz="1500" dirty="0">
                <a:solidFill>
                  <a:schemeClr val="tx1"/>
                </a:solidFill>
              </a:rPr>
              <a:t>特点：解决模型过大问题、通信开销较大 </a:t>
            </a:r>
          </a:p>
          <a:p>
            <a:r>
              <a:rPr lang="zh-CN" altLang="en-US" sz="1700" dirty="0">
                <a:solidFill>
                  <a:schemeClr val="tx1"/>
                </a:solidFill>
              </a:rPr>
              <a:t>流水线并行（</a:t>
            </a:r>
            <a:r>
              <a:rPr lang="en-US" altLang="zh-CN" sz="1700" dirty="0">
                <a:solidFill>
                  <a:schemeClr val="tx1"/>
                </a:solidFill>
              </a:rPr>
              <a:t>Pipeline Parallelism</a:t>
            </a:r>
            <a:r>
              <a:rPr lang="zh-CN" altLang="en-US" sz="1700" dirty="0">
                <a:solidFill>
                  <a:schemeClr val="tx1"/>
                </a:solidFill>
              </a:rPr>
              <a:t>）</a:t>
            </a:r>
          </a:p>
          <a:p>
            <a:pPr lvl="1"/>
            <a:r>
              <a:rPr lang="zh-CN" altLang="en-US" sz="1500" dirty="0">
                <a:solidFill>
                  <a:schemeClr val="tx1"/>
                </a:solidFill>
              </a:rPr>
              <a:t>按层划分模型 </a:t>
            </a:r>
          </a:p>
          <a:p>
            <a:pPr lvl="1"/>
            <a:r>
              <a:rPr lang="zh-CN" altLang="en-US" sz="1500" dirty="0">
                <a:solidFill>
                  <a:schemeClr val="tx1"/>
                </a:solidFill>
              </a:rPr>
              <a:t>不同 </a:t>
            </a:r>
            <a:r>
              <a:rPr lang="en-US" altLang="zh-CN" sz="1500" dirty="0">
                <a:solidFill>
                  <a:schemeClr val="tx1"/>
                </a:solidFill>
              </a:rPr>
              <a:t>GPU </a:t>
            </a:r>
            <a:r>
              <a:rPr lang="zh-CN" altLang="en-US" sz="1500" dirty="0">
                <a:solidFill>
                  <a:schemeClr val="tx1"/>
                </a:solidFill>
              </a:rPr>
              <a:t>负责不同阶段 </a:t>
            </a:r>
          </a:p>
          <a:p>
            <a:pPr lvl="1"/>
            <a:r>
              <a:rPr lang="zh-CN" altLang="en-US" sz="1500" dirty="0">
                <a:solidFill>
                  <a:schemeClr val="tx1"/>
                </a:solidFill>
              </a:rPr>
              <a:t>特点：提高设备利用率、需要调度（</a:t>
            </a:r>
            <a:r>
              <a:rPr lang="en-US" altLang="zh-CN" sz="1500" dirty="0">
                <a:solidFill>
                  <a:schemeClr val="tx1"/>
                </a:solidFill>
              </a:rPr>
              <a:t>pipeline scheduling</a:t>
            </a:r>
            <a:r>
              <a:rPr lang="zh-CN" altLang="en-US" sz="1500" dirty="0">
                <a:solidFill>
                  <a:schemeClr val="tx1"/>
                </a:solidFill>
              </a:rPr>
              <a:t>）</a:t>
            </a:r>
            <a:endParaRPr lang="en-US" altLang="zh-CN" sz="15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zh-CN" altLang="en-US" b="1" dirty="0">
                <a:solidFill>
                  <a:srgbClr val="174995"/>
                </a:solidFill>
              </a:rPr>
              <a:t>核心挑战：通信开销大、负载不均衡、调度复杂</a:t>
            </a:r>
            <a:endParaRPr lang="en-US" altLang="zh-CN" b="1" dirty="0">
              <a:solidFill>
                <a:srgbClr val="174995"/>
              </a:solidFill>
            </a:endParaRPr>
          </a:p>
          <a:p>
            <a:pPr marL="0" indent="0">
              <a:buNone/>
            </a:pPr>
            <a:r>
              <a:rPr lang="zh-CN" altLang="en-US" b="1" dirty="0">
                <a:solidFill>
                  <a:srgbClr val="C00000"/>
                </a:solidFill>
              </a:rPr>
              <a:t>模型训练通常采用：混合并行（</a:t>
            </a:r>
            <a:r>
              <a:rPr lang="en-US" altLang="zh-CN" b="1" dirty="0">
                <a:solidFill>
                  <a:srgbClr val="C00000"/>
                </a:solidFill>
              </a:rPr>
              <a:t>Hybrid Parallelism</a:t>
            </a:r>
            <a:r>
              <a:rPr lang="zh-CN" altLang="en-US" b="1" dirty="0">
                <a:solidFill>
                  <a:srgbClr val="C00000"/>
                </a:solidFill>
              </a:rPr>
              <a:t>）</a:t>
            </a:r>
            <a:r>
              <a:rPr lang="en-US" altLang="zh-CN" b="1" dirty="0">
                <a:solidFill>
                  <a:srgbClr val="C00000"/>
                </a:solidFill>
              </a:rPr>
              <a:t>= </a:t>
            </a:r>
            <a:r>
              <a:rPr lang="zh-CN" altLang="en-US" b="1" dirty="0">
                <a:solidFill>
                  <a:srgbClr val="C00000"/>
                </a:solidFill>
              </a:rPr>
              <a:t>数据并行 </a:t>
            </a:r>
            <a:r>
              <a:rPr lang="en-US" altLang="zh-CN" b="1" dirty="0">
                <a:solidFill>
                  <a:srgbClr val="C00000"/>
                </a:solidFill>
              </a:rPr>
              <a:t>+ </a:t>
            </a:r>
            <a:r>
              <a:rPr lang="zh-CN" altLang="en-US" b="1" dirty="0">
                <a:solidFill>
                  <a:srgbClr val="C00000"/>
                </a:solidFill>
              </a:rPr>
              <a:t>模型并行 </a:t>
            </a:r>
            <a:r>
              <a:rPr lang="en-US" altLang="zh-CN" b="1" dirty="0">
                <a:solidFill>
                  <a:srgbClr val="C00000"/>
                </a:solidFill>
              </a:rPr>
              <a:t>+ </a:t>
            </a:r>
            <a:r>
              <a:rPr lang="zh-CN" altLang="en-US" b="1" dirty="0">
                <a:solidFill>
                  <a:srgbClr val="C00000"/>
                </a:solidFill>
              </a:rPr>
              <a:t>流水线并行</a:t>
            </a:r>
          </a:p>
          <a:p>
            <a:pPr lvl="1"/>
            <a:endParaRPr lang="zh-CN" altLang="en-US" b="1" dirty="0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23744702-646C-FA52-48B5-4EAB798BDF7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639077" y="1581969"/>
            <a:ext cx="5899223" cy="3397654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MDI3MjYyZDJmMWViZTNlM2MyYWM2NDVjMTMxYjI5ZWQ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heme/theme1.xml><?xml version="1.0" encoding="utf-8"?>
<a:theme xmlns:a="http://schemas.openxmlformats.org/drawingml/2006/main" name="1_2023国科大融媒体编辑部出品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866</TotalTime>
  <Words>2499</Words>
  <Application>Microsoft Office PowerPoint</Application>
  <PresentationFormat>宽屏</PresentationFormat>
  <Paragraphs>360</Paragraphs>
  <Slides>20</Slides>
  <Notes>19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7" baseType="lpstr">
      <vt:lpstr>微软雅黑</vt:lpstr>
      <vt:lpstr>Arial</vt:lpstr>
      <vt:lpstr>Bauhaus 93</vt:lpstr>
      <vt:lpstr>Calibri</vt:lpstr>
      <vt:lpstr>Times New Roman</vt:lpstr>
      <vt:lpstr>Wingdings</vt:lpstr>
      <vt:lpstr>1_2023国科大融媒体编辑部出品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极简风蓝色学术模板 Minimalism Blue Academic Template</dc:title>
  <dc:creator/>
  <cp:lastModifiedBy>LIYA MA</cp:lastModifiedBy>
  <cp:revision>265</cp:revision>
  <dcterms:created xsi:type="dcterms:W3CDTF">2024-08-08T00:41:00Z</dcterms:created>
  <dcterms:modified xsi:type="dcterms:W3CDTF">2026-04-09T06:31:33Z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5D20D06DD8084BF68BDD22D0B051A992_13</vt:lpwstr>
  </property>
</Properties>
</file>