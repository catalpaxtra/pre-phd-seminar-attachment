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</p:sldMasterIdLst>
  <p:notesMasterIdLst>
    <p:notesMasterId r:id="rId5"/>
  </p:notesMasterIdLst>
  <p:handoutMasterIdLst>
    <p:handoutMasterId r:id="rId20"/>
  </p:handoutMasterIdLst>
  <p:sldIdLst>
    <p:sldId id="342" r:id="rId3"/>
    <p:sldId id="326" r:id="rId4"/>
    <p:sldId id="327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345" r:id="rId14"/>
    <p:sldId id="335" r:id="rId15"/>
    <p:sldId id="336" r:id="rId16"/>
    <p:sldId id="337" r:id="rId17"/>
    <p:sldId id="339" r:id="rId18"/>
    <p:sldId id="340" r:id="rId19"/>
  </p:sldIdLst>
  <p:sldSz cx="12192000" cy="6858000"/>
  <p:notesSz cx="6858000" cy="9144000"/>
  <p:custDataLst>
    <p:tags r:id="rId2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3" userDrawn="1">
          <p15:clr>
            <a:srgbClr val="A4A3A4"/>
          </p15:clr>
        </p15:guide>
        <p15:guide id="2" pos="36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4995"/>
    <a:srgbClr val="F2F2F2"/>
    <a:srgbClr val="FFFFFF"/>
    <a:srgbClr val="2E3C63"/>
    <a:srgbClr val="4874CB"/>
    <a:srgbClr val="174994"/>
    <a:srgbClr val="DCEAF6"/>
    <a:srgbClr val="FCF7F0"/>
    <a:srgbClr val="4B72AD"/>
    <a:srgbClr val="F7E8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/>
    <p:restoredTop sz="65546" autoAdjust="0"/>
  </p:normalViewPr>
  <p:slideViewPr>
    <p:cSldViewPr snapToGrid="0" showGuides="1">
      <p:cViewPr>
        <p:scale>
          <a:sx n="75" d="100"/>
          <a:sy n="75" d="100"/>
        </p:scale>
        <p:origin x="906" y="642"/>
      </p:cViewPr>
      <p:guideLst>
        <p:guide orient="horz" pos="2263"/>
        <p:guide pos="369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6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00-06</a:t>
            </a:r>
          </a:p>
          <a:p>
            <a:r>
              <a:t>MaaS：模型服务（API / 调用）</a:t>
            </a:r>
          </a:p>
          <a:p>
            <a:r>
              <a:t>SaaS：推理服务 / 分布式训练（DeepSpeed / Triton）</a:t>
            </a:r>
          </a:p>
          <a:p>
            <a:r>
              <a:t>PaaS：框架 &amp; 编译器（PyTorch / CUDA / 算子库）</a:t>
            </a:r>
          </a:p>
          <a:p>
            <a:r>
              <a:t>IaaS：计算 + 存储 + 网络（GPU / NVMe / RDMA）</a:t>
            </a:r>
          </a:p>
          <a:p>
            <a:r>
              <a:t>硬件：芯片 / 集群 / 机房</a:t>
            </a:r>
          </a:p>
          <a:p/>
          <a:p/>
          <a:p>
            <a:r>
              <a:t>核心一句话：</a:t>
            </a:r>
          </a:p>
          <a:p>
            <a:r>
              <a:t>越往下越偏硬件，越往上越偏应用 </a:t>
            </a:r>
          </a:p>
          <a:p>
            <a:r>
              <a:t>👉 讲解重点：</a:t>
            </a:r>
          </a:p>
          <a:p>
            <a:r>
              <a:t>GPU决定上限 </a:t>
            </a:r>
          </a:p>
          <a:p>
            <a:r>
              <a:t>通信决定扩展 </a:t>
            </a:r>
          </a:p>
          <a:p>
            <a:r>
              <a:t>存储决定数据吞吐</a:t>
            </a:r>
          </a:p>
          <a:p/>
          <a:p/>
          <a:p>
            <a:r>
              <a:t>核心价值（最重要结论）👉 对应 3.1</a:t>
            </a:r>
          </a:p>
          <a:p>
            <a:r>
              <a:t>👉 PPT写三点：</a:t>
            </a:r>
          </a:p>
          <a:p>
            <a:r>
              <a:t>🔹 决定模型上限</a:t>
            </a:r>
          </a:p>
          <a:p>
            <a:r>
              <a:t>更高利用率 = 更多训练数据 = 更好效果 </a:t>
            </a:r>
          </a:p>
          <a:p>
            <a:r>
              <a:t>🔹 决定成本</a:t>
            </a:r>
          </a:p>
          <a:p>
            <a:r>
              <a:t>GPU利用率 ↑10% = 成本 ↓千万级/月 </a:t>
            </a:r>
          </a:p>
          <a:p>
            <a:r>
              <a:t>🔹 核心指标</a:t>
            </a:r>
          </a:p>
          <a:p>
            <a:r>
              <a:t>MFU（算力利用率） </a:t>
            </a:r>
          </a:p>
          <a:p>
            <a:r>
              <a:t>吞吐（更重要） </a:t>
            </a:r>
          </a:p>
          <a:p>
            <a:r>
              <a:t>👉 你讲一句金句：</a:t>
            </a:r>
          </a:p>
          <a:p>
            <a:r>
              <a:t>AI Infra 本质是在“买时间”和“省钱”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00-06</a:t>
            </a:r>
          </a:p>
          <a:p>
            <a:r>
              <a:t>MaaS：模型服务（API / 调用）</a:t>
            </a:r>
          </a:p>
          <a:p>
            <a:r>
              <a:t>SaaS：推理服务 / 分布式训练（DeepSpeed / Triton）</a:t>
            </a:r>
          </a:p>
          <a:p>
            <a:r>
              <a:t>PaaS：框架 &amp; 编译器（PyTorch / CUDA / 算子库）</a:t>
            </a:r>
          </a:p>
          <a:p>
            <a:r>
              <a:t>IaaS：计算 + 存储 + 网络（GPU / NVMe / RDMA）</a:t>
            </a:r>
          </a:p>
          <a:p>
            <a:r>
              <a:t>硬件：芯片 / 集群 / 机房</a:t>
            </a:r>
          </a:p>
          <a:p/>
          <a:p/>
          <a:p>
            <a:r>
              <a:t>核心一句话：</a:t>
            </a:r>
          </a:p>
          <a:p>
            <a:r>
              <a:t>越往下越偏硬件，越往上越偏应用 </a:t>
            </a:r>
          </a:p>
          <a:p>
            <a:r>
              <a:t>👉 讲解重点：</a:t>
            </a:r>
          </a:p>
          <a:p>
            <a:r>
              <a:t>GPU决定上限 </a:t>
            </a:r>
          </a:p>
          <a:p>
            <a:r>
              <a:t>通信决定扩展 </a:t>
            </a:r>
          </a:p>
          <a:p>
            <a:r>
              <a:t>存储决定数据吞吐</a:t>
            </a:r>
          </a:p>
          <a:p/>
          <a:p/>
          <a:p>
            <a:r>
              <a:t>核心价值（最重要结论）👉 对应 3.1</a:t>
            </a:r>
          </a:p>
          <a:p>
            <a:r>
              <a:t>👉 PPT写三点：</a:t>
            </a:r>
          </a:p>
          <a:p>
            <a:r>
              <a:t>🔹 决定模型上限</a:t>
            </a:r>
          </a:p>
          <a:p>
            <a:r>
              <a:t>更高利用率 = 更多训练数据 = 更好效果 </a:t>
            </a:r>
          </a:p>
          <a:p>
            <a:r>
              <a:t>🔹 决定成本</a:t>
            </a:r>
          </a:p>
          <a:p>
            <a:r>
              <a:t>GPU利用率 ↑10% = 成本 ↓千万级/月 </a:t>
            </a:r>
          </a:p>
          <a:p>
            <a:r>
              <a:t>🔹 核心指标</a:t>
            </a:r>
          </a:p>
          <a:p>
            <a:r>
              <a:t>MFU（算力利用率） </a:t>
            </a:r>
          </a:p>
          <a:p>
            <a:r>
              <a:t>吞吐（更重要） </a:t>
            </a:r>
          </a:p>
          <a:p>
            <a:r>
              <a:t>👉 你讲一句金句：</a:t>
            </a:r>
          </a:p>
          <a:p>
            <a:r>
              <a:t>AI Infra 本质是在“买时间”和“省钱”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00-06</a:t>
            </a:r>
          </a:p>
          <a:p>
            <a:r>
              <a:t>MaaS：模型服务（API / 调用）</a:t>
            </a:r>
          </a:p>
          <a:p>
            <a:r>
              <a:t>SaaS：推理服务 / 分布式训练（DeepSpeed / Triton）</a:t>
            </a:r>
          </a:p>
          <a:p>
            <a:r>
              <a:t>PaaS：框架 &amp; 编译器（PyTorch / CUDA / 算子库）</a:t>
            </a:r>
          </a:p>
          <a:p>
            <a:r>
              <a:t>IaaS：计算 + 存储 + 网络（GPU / NVMe / RDMA）</a:t>
            </a:r>
          </a:p>
          <a:p>
            <a:r>
              <a:t>硬件：芯片 / 集群 / 机房</a:t>
            </a:r>
          </a:p>
          <a:p/>
          <a:p/>
          <a:p>
            <a:r>
              <a:t>核心一句话：</a:t>
            </a:r>
          </a:p>
          <a:p>
            <a:r>
              <a:t>越往下越偏硬件，越往上越偏应用 </a:t>
            </a:r>
          </a:p>
          <a:p>
            <a:r>
              <a:t>👉 讲解重点：</a:t>
            </a:r>
          </a:p>
          <a:p>
            <a:r>
              <a:t>GPU决定上限 </a:t>
            </a:r>
          </a:p>
          <a:p>
            <a:r>
              <a:t>通信决定扩展 </a:t>
            </a:r>
          </a:p>
          <a:p>
            <a:r>
              <a:t>存储决定数据吞吐</a:t>
            </a:r>
          </a:p>
          <a:p/>
          <a:p/>
          <a:p>
            <a:r>
              <a:t>核心价值（最重要结论）👉 对应 3.1</a:t>
            </a:r>
          </a:p>
          <a:p>
            <a:r>
              <a:t>👉 PPT写三点：</a:t>
            </a:r>
          </a:p>
          <a:p>
            <a:r>
              <a:t>🔹 决定模型上限</a:t>
            </a:r>
          </a:p>
          <a:p>
            <a:r>
              <a:t>更高利用率 = 更多训练数据 = 更好效果 </a:t>
            </a:r>
          </a:p>
          <a:p>
            <a:r>
              <a:t>🔹 决定成本</a:t>
            </a:r>
          </a:p>
          <a:p>
            <a:r>
              <a:t>GPU利用率 ↑10% = 成本 ↓千万级/月 </a:t>
            </a:r>
          </a:p>
          <a:p>
            <a:r>
              <a:t>🔹 核心指标</a:t>
            </a:r>
          </a:p>
          <a:p>
            <a:r>
              <a:t>MFU（算力利用率） </a:t>
            </a:r>
          </a:p>
          <a:p>
            <a:r>
              <a:t>吞吐（更重要） </a:t>
            </a:r>
          </a:p>
          <a:p>
            <a:r>
              <a:t>👉 你讲一句金句：</a:t>
            </a:r>
          </a:p>
          <a:p>
            <a:r>
              <a:t>AI Infra 本质是在“买时间”和“省钱”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00-06</a:t>
            </a:r>
          </a:p>
          <a:p>
            <a:r>
              <a:t>MaaS：模型服务（API / 调用）</a:t>
            </a:r>
          </a:p>
          <a:p>
            <a:r>
              <a:t>SaaS：推理服务 / 分布式训练（DeepSpeed / Triton）</a:t>
            </a:r>
          </a:p>
          <a:p>
            <a:r>
              <a:t>PaaS：框架 &amp; 编译器（PyTorch / CUDA / 算子库）</a:t>
            </a:r>
          </a:p>
          <a:p>
            <a:r>
              <a:t>IaaS：计算 + 存储 + 网络（GPU / NVMe / RDMA）</a:t>
            </a:r>
          </a:p>
          <a:p>
            <a:r>
              <a:t>硬件：芯片 / 集群 / 机房</a:t>
            </a:r>
          </a:p>
          <a:p/>
          <a:p/>
          <a:p>
            <a:r>
              <a:t>核心一句话：</a:t>
            </a:r>
          </a:p>
          <a:p>
            <a:r>
              <a:t>越往下越偏硬件，越往上越偏应用 </a:t>
            </a:r>
          </a:p>
          <a:p>
            <a:r>
              <a:t>👉 讲解重点：</a:t>
            </a:r>
          </a:p>
          <a:p>
            <a:r>
              <a:t>GPU决定上限 </a:t>
            </a:r>
          </a:p>
          <a:p>
            <a:r>
              <a:t>通信决定扩展 </a:t>
            </a:r>
          </a:p>
          <a:p>
            <a:r>
              <a:t>存储决定数据吞吐</a:t>
            </a:r>
          </a:p>
          <a:p/>
          <a:p/>
          <a:p>
            <a:r>
              <a:t>核心价值（最重要结论）👉 对应 3.1</a:t>
            </a:r>
          </a:p>
          <a:p>
            <a:r>
              <a:t>👉 PPT写三点：</a:t>
            </a:r>
          </a:p>
          <a:p>
            <a:r>
              <a:t>🔹 决定模型上限</a:t>
            </a:r>
          </a:p>
          <a:p>
            <a:r>
              <a:t>更高利用率 = 更多训练数据 = 更好效果 </a:t>
            </a:r>
          </a:p>
          <a:p>
            <a:r>
              <a:t>🔹 决定成本</a:t>
            </a:r>
          </a:p>
          <a:p>
            <a:r>
              <a:t>GPU利用率 ↑10% = 成本 ↓千万级/月 </a:t>
            </a:r>
          </a:p>
          <a:p>
            <a:r>
              <a:t>🔹 核心指标</a:t>
            </a:r>
          </a:p>
          <a:p>
            <a:r>
              <a:t>MFU（算力利用率） </a:t>
            </a:r>
          </a:p>
          <a:p>
            <a:r>
              <a:t>吞吐（更重要） </a:t>
            </a:r>
          </a:p>
          <a:p>
            <a:r>
              <a:t>👉 你讲一句金句：</a:t>
            </a:r>
          </a:p>
          <a:p>
            <a:r>
              <a:t>AI Infra 本质是在“买时间”和“省钱”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00-06</a:t>
            </a:r>
          </a:p>
          <a:p>
            <a:r>
              <a:t>MaaS：模型服务（API / 调用）</a:t>
            </a:r>
          </a:p>
          <a:p>
            <a:r>
              <a:t>SaaS：推理服务 / 分布式训练（DeepSpeed / Triton）</a:t>
            </a:r>
          </a:p>
          <a:p>
            <a:r>
              <a:t>PaaS：框架 &amp; 编译器（PyTorch / CUDA / 算子库）</a:t>
            </a:r>
          </a:p>
          <a:p>
            <a:r>
              <a:t>IaaS：计算 + 存储 + 网络（GPU / NVMe / RDMA）</a:t>
            </a:r>
          </a:p>
          <a:p>
            <a:r>
              <a:t>硬件：芯片 / 集群 / 机房</a:t>
            </a:r>
          </a:p>
          <a:p/>
          <a:p/>
          <a:p>
            <a:r>
              <a:t>核心一句话：</a:t>
            </a:r>
          </a:p>
          <a:p>
            <a:r>
              <a:t>越往下越偏硬件，越往上越偏应用 </a:t>
            </a:r>
          </a:p>
          <a:p>
            <a:r>
              <a:t>👉 讲解重点：</a:t>
            </a:r>
          </a:p>
          <a:p>
            <a:r>
              <a:t>GPU决定上限 </a:t>
            </a:r>
          </a:p>
          <a:p>
            <a:r>
              <a:t>通信决定扩展 </a:t>
            </a:r>
          </a:p>
          <a:p>
            <a:r>
              <a:t>存储决定数据吞吐</a:t>
            </a:r>
          </a:p>
          <a:p/>
          <a:p/>
          <a:p>
            <a:r>
              <a:t>核心价值（最重要结论）👉 对应 3.1</a:t>
            </a:r>
          </a:p>
          <a:p>
            <a:r>
              <a:t>👉 PPT写三点：</a:t>
            </a:r>
          </a:p>
          <a:p>
            <a:r>
              <a:t>🔹 决定模型上限</a:t>
            </a:r>
          </a:p>
          <a:p>
            <a:r>
              <a:t>更高利用率 = 更多训练数据 = 更好效果 </a:t>
            </a:r>
          </a:p>
          <a:p>
            <a:r>
              <a:t>🔹 决定成本</a:t>
            </a:r>
          </a:p>
          <a:p>
            <a:r>
              <a:t>GPU利用率 ↑10% = 成本 ↓千万级/月 </a:t>
            </a:r>
          </a:p>
          <a:p>
            <a:r>
              <a:t>🔹 核心指标</a:t>
            </a:r>
          </a:p>
          <a:p>
            <a:r>
              <a:t>MFU（算力利用率） </a:t>
            </a:r>
          </a:p>
          <a:p>
            <a:r>
              <a:t>吞吐（更重要） </a:t>
            </a:r>
          </a:p>
          <a:p>
            <a:r>
              <a:t>👉 你讲一句金句：</a:t>
            </a:r>
          </a:p>
          <a:p>
            <a:r>
              <a:t>AI Infra 本质是在“买时间”和“省钱”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00-06</a:t>
            </a:r>
          </a:p>
          <a:p>
            <a:r>
              <a:t>MaaS：模型服务（API / 调用）</a:t>
            </a:r>
          </a:p>
          <a:p>
            <a:r>
              <a:t>SaaS：推理服务 / 分布式训练（DeepSpeed / Triton）</a:t>
            </a:r>
          </a:p>
          <a:p>
            <a:r>
              <a:t>PaaS：框架 &amp; 编译器（PyTorch / CUDA / 算子库）</a:t>
            </a:r>
          </a:p>
          <a:p>
            <a:r>
              <a:t>IaaS：计算 + 存储 + 网络（GPU / NVMe / RDMA）</a:t>
            </a:r>
          </a:p>
          <a:p>
            <a:r>
              <a:t>硬件：芯片 / 集群 / 机房</a:t>
            </a:r>
          </a:p>
          <a:p/>
          <a:p/>
          <a:p>
            <a:r>
              <a:t>核心一句话：</a:t>
            </a:r>
          </a:p>
          <a:p>
            <a:r>
              <a:t>越往下越偏硬件，越往上越偏应用 </a:t>
            </a:r>
          </a:p>
          <a:p>
            <a:r>
              <a:t>👉 讲解重点：</a:t>
            </a:r>
          </a:p>
          <a:p>
            <a:r>
              <a:t>GPU决定上限 </a:t>
            </a:r>
          </a:p>
          <a:p>
            <a:r>
              <a:t>通信决定扩展 </a:t>
            </a:r>
          </a:p>
          <a:p>
            <a:r>
              <a:t>存储决定数据吞吐</a:t>
            </a:r>
          </a:p>
          <a:p/>
          <a:p/>
          <a:p>
            <a:r>
              <a:t>核心价值（最重要结论）👉 对应 3.1</a:t>
            </a:r>
          </a:p>
          <a:p>
            <a:r>
              <a:t>👉 PPT写三点：</a:t>
            </a:r>
          </a:p>
          <a:p>
            <a:r>
              <a:t>🔹 决定模型上限</a:t>
            </a:r>
          </a:p>
          <a:p>
            <a:r>
              <a:t>更高利用率 = 更多训练数据 = 更好效果 </a:t>
            </a:r>
          </a:p>
          <a:p>
            <a:r>
              <a:t>🔹 决定成本</a:t>
            </a:r>
          </a:p>
          <a:p>
            <a:r>
              <a:t>GPU利用率 ↑10% = 成本 ↓千万级/月 </a:t>
            </a:r>
          </a:p>
          <a:p>
            <a:r>
              <a:t>🔹 核心指标</a:t>
            </a:r>
          </a:p>
          <a:p>
            <a:r>
              <a:t>MFU（算力利用率） </a:t>
            </a:r>
          </a:p>
          <a:p>
            <a:r>
              <a:t>吞吐（更重要） </a:t>
            </a:r>
          </a:p>
          <a:p>
            <a:r>
              <a:t>👉 你讲一句金句：</a:t>
            </a:r>
          </a:p>
          <a:p>
            <a:r>
              <a:t>AI Infra 本质是在“买时间”和“省钱”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00-06</a:t>
            </a:r>
          </a:p>
          <a:p>
            <a:r>
              <a:t>MaaS：模型服务（API / 调用）</a:t>
            </a:r>
          </a:p>
          <a:p>
            <a:r>
              <a:t>SaaS：推理服务 / 分布式训练（DeepSpeed / Triton）</a:t>
            </a:r>
          </a:p>
          <a:p>
            <a:r>
              <a:t>PaaS：框架 &amp; 编译器（PyTorch / CUDA / 算子库）</a:t>
            </a:r>
          </a:p>
          <a:p>
            <a:r>
              <a:t>IaaS：计算 + 存储 + 网络（GPU / NVMe / RDMA）</a:t>
            </a:r>
          </a:p>
          <a:p>
            <a:r>
              <a:t>硬件：芯片 / 集群 / 机房</a:t>
            </a:r>
          </a:p>
          <a:p/>
          <a:p/>
          <a:p>
            <a:r>
              <a:t>核心一句话：</a:t>
            </a:r>
          </a:p>
          <a:p>
            <a:r>
              <a:t>越往下越偏硬件，越往上越偏应用 </a:t>
            </a:r>
          </a:p>
          <a:p>
            <a:r>
              <a:t>👉 讲解重点：</a:t>
            </a:r>
          </a:p>
          <a:p>
            <a:r>
              <a:t>GPU决定上限 </a:t>
            </a:r>
          </a:p>
          <a:p>
            <a:r>
              <a:t>通信决定扩展 </a:t>
            </a:r>
          </a:p>
          <a:p>
            <a:r>
              <a:t>存储决定数据吞吐</a:t>
            </a:r>
          </a:p>
          <a:p/>
          <a:p/>
          <a:p>
            <a:r>
              <a:t>核心价值（最重要结论）👉 对应 3.1</a:t>
            </a:r>
          </a:p>
          <a:p>
            <a:r>
              <a:t>👉 PPT写三点：</a:t>
            </a:r>
          </a:p>
          <a:p>
            <a:r>
              <a:t>🔹 决定模型上限</a:t>
            </a:r>
          </a:p>
          <a:p>
            <a:r>
              <a:t>更高利用率 = 更多训练数据 = 更好效果 </a:t>
            </a:r>
          </a:p>
          <a:p>
            <a:r>
              <a:t>🔹 决定成本</a:t>
            </a:r>
          </a:p>
          <a:p>
            <a:r>
              <a:t>GPU利用率 ↑10% = 成本 ↓千万级/月 </a:t>
            </a:r>
          </a:p>
          <a:p>
            <a:r>
              <a:t>🔹 核心指标</a:t>
            </a:r>
          </a:p>
          <a:p>
            <a:r>
              <a:t>MFU（算力利用率） </a:t>
            </a:r>
          </a:p>
          <a:p>
            <a:r>
              <a:t>吞吐（更重要） </a:t>
            </a:r>
          </a:p>
          <a:p>
            <a:r>
              <a:t>👉 你讲一句金句：</a:t>
            </a:r>
          </a:p>
          <a:p>
            <a:r>
              <a:t>AI Infra 本质是在“买时间”和“省钱”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00-06</a:t>
            </a:r>
          </a:p>
          <a:p>
            <a:r>
              <a:t>MaaS：模型服务（API / 调用）</a:t>
            </a:r>
          </a:p>
          <a:p>
            <a:r>
              <a:t>SaaS：推理服务 / 分布式训练（DeepSpeed / Triton）</a:t>
            </a:r>
          </a:p>
          <a:p>
            <a:r>
              <a:t>PaaS：框架 &amp; 编译器（PyTorch / CUDA / 算子库）</a:t>
            </a:r>
          </a:p>
          <a:p>
            <a:r>
              <a:t>IaaS：计算 + 存储 + 网络（GPU / NVMe / RDMA）</a:t>
            </a:r>
          </a:p>
          <a:p>
            <a:r>
              <a:t>硬件：芯片 / 集群 / 机房</a:t>
            </a:r>
          </a:p>
          <a:p/>
          <a:p/>
          <a:p>
            <a:r>
              <a:t>核心一句话：</a:t>
            </a:r>
          </a:p>
          <a:p>
            <a:r>
              <a:t>越往下越偏硬件，越往上越偏应用 </a:t>
            </a:r>
          </a:p>
          <a:p>
            <a:r>
              <a:t>👉 讲解重点：</a:t>
            </a:r>
          </a:p>
          <a:p>
            <a:r>
              <a:t>GPU决定上限 </a:t>
            </a:r>
          </a:p>
          <a:p>
            <a:r>
              <a:t>通信决定扩展 </a:t>
            </a:r>
          </a:p>
          <a:p>
            <a:r>
              <a:t>存储决定数据吞吐</a:t>
            </a:r>
          </a:p>
          <a:p/>
          <a:p/>
          <a:p>
            <a:r>
              <a:t>核心价值（最重要结论）👉 对应 3.1</a:t>
            </a:r>
          </a:p>
          <a:p>
            <a:r>
              <a:t>👉 PPT写三点：</a:t>
            </a:r>
          </a:p>
          <a:p>
            <a:r>
              <a:t>🔹 决定模型上限</a:t>
            </a:r>
          </a:p>
          <a:p>
            <a:r>
              <a:t>更高利用率 = 更多训练数据 = 更好效果 </a:t>
            </a:r>
          </a:p>
          <a:p>
            <a:r>
              <a:t>🔹 决定成本</a:t>
            </a:r>
          </a:p>
          <a:p>
            <a:r>
              <a:t>GPU利用率 ↑10% = 成本 ↓千万级/月 </a:t>
            </a:r>
          </a:p>
          <a:p>
            <a:r>
              <a:t>🔹 核心指标</a:t>
            </a:r>
          </a:p>
          <a:p>
            <a:r>
              <a:t>MFU（算力利用率） </a:t>
            </a:r>
          </a:p>
          <a:p>
            <a:r>
              <a:t>吞吐（更重要） </a:t>
            </a:r>
          </a:p>
          <a:p>
            <a:r>
              <a:t>👉 你讲一句金句：</a:t>
            </a:r>
          </a:p>
          <a:p>
            <a:r>
              <a:t>AI Infra 本质是在“买时间”和“省钱”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00-06</a:t>
            </a:r>
          </a:p>
          <a:p>
            <a:r>
              <a:t>MaaS：模型服务（API / 调用）</a:t>
            </a:r>
          </a:p>
          <a:p>
            <a:r>
              <a:t>SaaS：推理服务 / 分布式训练（DeepSpeed / Triton）</a:t>
            </a:r>
          </a:p>
          <a:p>
            <a:r>
              <a:t>PaaS：框架 &amp; 编译器（PyTorch / CUDA / 算子库）</a:t>
            </a:r>
          </a:p>
          <a:p>
            <a:r>
              <a:t>IaaS：计算 + 存储 + 网络（GPU / NVMe / RDMA）</a:t>
            </a:r>
          </a:p>
          <a:p>
            <a:r>
              <a:t>硬件：芯片 / 集群 / 机房</a:t>
            </a:r>
          </a:p>
          <a:p/>
          <a:p/>
          <a:p>
            <a:r>
              <a:t>核心一句话：</a:t>
            </a:r>
          </a:p>
          <a:p>
            <a:r>
              <a:t>越往下越偏硬件，越往上越偏应用 </a:t>
            </a:r>
          </a:p>
          <a:p>
            <a:r>
              <a:t>👉 讲解重点：</a:t>
            </a:r>
          </a:p>
          <a:p>
            <a:r>
              <a:t>GPU决定上限 </a:t>
            </a:r>
          </a:p>
          <a:p>
            <a:r>
              <a:t>通信决定扩展 </a:t>
            </a:r>
          </a:p>
          <a:p>
            <a:r>
              <a:t>存储决定数据吞吐</a:t>
            </a:r>
          </a:p>
          <a:p/>
          <a:p/>
          <a:p>
            <a:r>
              <a:t>核心价值（最重要结论）👉 对应 3.1</a:t>
            </a:r>
          </a:p>
          <a:p>
            <a:r>
              <a:t>👉 PPT写三点：</a:t>
            </a:r>
          </a:p>
          <a:p>
            <a:r>
              <a:t>🔹 决定模型上限</a:t>
            </a:r>
          </a:p>
          <a:p>
            <a:r>
              <a:t>更高利用率 = 更多训练数据 = 更好效果 </a:t>
            </a:r>
          </a:p>
          <a:p>
            <a:r>
              <a:t>🔹 决定成本</a:t>
            </a:r>
          </a:p>
          <a:p>
            <a:r>
              <a:t>GPU利用率 ↑10% = 成本 ↓千万级/月 </a:t>
            </a:r>
          </a:p>
          <a:p>
            <a:r>
              <a:t>🔹 核心指标</a:t>
            </a:r>
          </a:p>
          <a:p>
            <a:r>
              <a:t>MFU（算力利用率） </a:t>
            </a:r>
          </a:p>
          <a:p>
            <a:r>
              <a:t>吞吐（更重要） </a:t>
            </a:r>
          </a:p>
          <a:p>
            <a:r>
              <a:t>👉 你讲一句金句：</a:t>
            </a:r>
          </a:p>
          <a:p>
            <a:r>
              <a:t>AI Infra 本质是在“买时间”和“省钱”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00-06</a:t>
            </a:r>
          </a:p>
          <a:p>
            <a:r>
              <a:t>MaaS：模型服务（API / 调用）</a:t>
            </a:r>
          </a:p>
          <a:p>
            <a:r>
              <a:t>SaaS：推理服务 / 分布式训练（DeepSpeed / Triton）</a:t>
            </a:r>
          </a:p>
          <a:p>
            <a:r>
              <a:t>PaaS：框架 &amp; 编译器（PyTorch / CUDA / 算子库）</a:t>
            </a:r>
          </a:p>
          <a:p>
            <a:r>
              <a:t>IaaS：计算 + 存储 + 网络（GPU / NVMe / RDMA）</a:t>
            </a:r>
          </a:p>
          <a:p>
            <a:r>
              <a:t>硬件：芯片 / 集群 / 机房</a:t>
            </a:r>
          </a:p>
          <a:p/>
          <a:p/>
          <a:p>
            <a:r>
              <a:t>核心一句话：</a:t>
            </a:r>
          </a:p>
          <a:p>
            <a:r>
              <a:t>越往下越偏硬件，越往上越偏应用 </a:t>
            </a:r>
          </a:p>
          <a:p>
            <a:r>
              <a:t>👉 讲解重点：</a:t>
            </a:r>
          </a:p>
          <a:p>
            <a:r>
              <a:t>GPU决定上限 </a:t>
            </a:r>
          </a:p>
          <a:p>
            <a:r>
              <a:t>通信决定扩展 </a:t>
            </a:r>
          </a:p>
          <a:p>
            <a:r>
              <a:t>存储决定数据吞吐</a:t>
            </a:r>
          </a:p>
          <a:p/>
          <a:p/>
          <a:p>
            <a:r>
              <a:t>核心价值（最重要结论）👉 对应 3.1</a:t>
            </a:r>
          </a:p>
          <a:p>
            <a:r>
              <a:t>👉 PPT写三点：</a:t>
            </a:r>
          </a:p>
          <a:p>
            <a:r>
              <a:t>🔹 决定模型上限</a:t>
            </a:r>
          </a:p>
          <a:p>
            <a:r>
              <a:t>更高利用率 = 更多训练数据 = 更好效果 </a:t>
            </a:r>
          </a:p>
          <a:p>
            <a:r>
              <a:t>🔹 决定成本</a:t>
            </a:r>
          </a:p>
          <a:p>
            <a:r>
              <a:t>GPU利用率 ↑10% = 成本 ↓千万级/月 </a:t>
            </a:r>
          </a:p>
          <a:p>
            <a:r>
              <a:t>🔹 核心指标</a:t>
            </a:r>
          </a:p>
          <a:p>
            <a:r>
              <a:t>MFU（算力利用率） </a:t>
            </a:r>
          </a:p>
          <a:p>
            <a:r>
              <a:t>吞吐（更重要） </a:t>
            </a:r>
          </a:p>
          <a:p>
            <a:r>
              <a:t>👉 你讲一句金句：</a:t>
            </a:r>
          </a:p>
          <a:p>
            <a:r>
              <a:t>AI Infra 本质是在“买时间”和“省钱”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00-06</a:t>
            </a:r>
          </a:p>
          <a:p>
            <a:r>
              <a:t>MaaS：模型服务（API / 调用）</a:t>
            </a:r>
          </a:p>
          <a:p>
            <a:r>
              <a:t>SaaS：推理服务 / 分布式训练（DeepSpeed / Triton）</a:t>
            </a:r>
          </a:p>
          <a:p>
            <a:r>
              <a:t>PaaS：框架 &amp; 编译器（PyTorch / CUDA / 算子库）</a:t>
            </a:r>
          </a:p>
          <a:p>
            <a:r>
              <a:t>IaaS：计算 + 存储 + 网络（GPU / NVMe / RDMA）</a:t>
            </a:r>
          </a:p>
          <a:p>
            <a:r>
              <a:t>硬件：芯片 / 集群 / 机房</a:t>
            </a:r>
          </a:p>
          <a:p/>
          <a:p/>
          <a:p>
            <a:r>
              <a:t>核心一句话：</a:t>
            </a:r>
          </a:p>
          <a:p>
            <a:r>
              <a:t>越往下越偏硬件，越往上越偏应用 </a:t>
            </a:r>
          </a:p>
          <a:p>
            <a:r>
              <a:t>👉 讲解重点：</a:t>
            </a:r>
          </a:p>
          <a:p>
            <a:r>
              <a:t>GPU决定上限 </a:t>
            </a:r>
          </a:p>
          <a:p>
            <a:r>
              <a:t>通信决定扩展 </a:t>
            </a:r>
          </a:p>
          <a:p>
            <a:r>
              <a:t>存储决定数据吞吐</a:t>
            </a:r>
          </a:p>
          <a:p/>
          <a:p/>
          <a:p>
            <a:r>
              <a:t>核心价值（最重要结论）👉 对应 3.1</a:t>
            </a:r>
          </a:p>
          <a:p>
            <a:r>
              <a:t>👉 PPT写三点：</a:t>
            </a:r>
          </a:p>
          <a:p>
            <a:r>
              <a:t>🔹 决定模型上限</a:t>
            </a:r>
          </a:p>
          <a:p>
            <a:r>
              <a:t>更高利用率 = 更多训练数据 = 更好效果 </a:t>
            </a:r>
          </a:p>
          <a:p>
            <a:r>
              <a:t>🔹 决定成本</a:t>
            </a:r>
          </a:p>
          <a:p>
            <a:r>
              <a:t>GPU利用率 ↑10% = 成本 ↓千万级/月 </a:t>
            </a:r>
          </a:p>
          <a:p>
            <a:r>
              <a:t>🔹 核心指标</a:t>
            </a:r>
          </a:p>
          <a:p>
            <a:r>
              <a:t>MFU（算力利用率） </a:t>
            </a:r>
          </a:p>
          <a:p>
            <a:r>
              <a:t>吞吐（更重要） </a:t>
            </a:r>
          </a:p>
          <a:p>
            <a:r>
              <a:t>👉 你讲一句金句：</a:t>
            </a:r>
          </a:p>
          <a:p>
            <a:r>
              <a:t>AI Infra 本质是在“买时间”和“省钱”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00-06</a:t>
            </a:r>
          </a:p>
          <a:p>
            <a:r>
              <a:t>MaaS：模型服务（API / 调用）</a:t>
            </a:r>
          </a:p>
          <a:p>
            <a:r>
              <a:t>SaaS：推理服务 / 分布式训练（DeepSpeed / Triton）</a:t>
            </a:r>
          </a:p>
          <a:p>
            <a:r>
              <a:t>PaaS：框架 &amp; 编译器（PyTorch / CUDA / 算子库）</a:t>
            </a:r>
          </a:p>
          <a:p>
            <a:r>
              <a:t>IaaS：计算 + 存储 + 网络（GPU / NVMe / RDMA）</a:t>
            </a:r>
          </a:p>
          <a:p>
            <a:r>
              <a:t>硬件：芯片 / 集群 / 机房</a:t>
            </a:r>
          </a:p>
          <a:p/>
          <a:p/>
          <a:p>
            <a:r>
              <a:t>核心一句话：</a:t>
            </a:r>
          </a:p>
          <a:p>
            <a:r>
              <a:t>越往下越偏硬件，越往上越偏应用 </a:t>
            </a:r>
          </a:p>
          <a:p>
            <a:r>
              <a:t>👉 讲解重点：</a:t>
            </a:r>
          </a:p>
          <a:p>
            <a:r>
              <a:t>GPU决定上限 </a:t>
            </a:r>
          </a:p>
          <a:p>
            <a:r>
              <a:t>通信决定扩展 </a:t>
            </a:r>
          </a:p>
          <a:p>
            <a:r>
              <a:t>存储决定数据吞吐</a:t>
            </a:r>
          </a:p>
          <a:p/>
          <a:p/>
          <a:p>
            <a:r>
              <a:t>核心价值（最重要结论）👉 对应 3.1</a:t>
            </a:r>
          </a:p>
          <a:p>
            <a:r>
              <a:t>👉 PPT写三点：</a:t>
            </a:r>
          </a:p>
          <a:p>
            <a:r>
              <a:t>🔹 决定模型上限</a:t>
            </a:r>
          </a:p>
          <a:p>
            <a:r>
              <a:t>更高利用率 = 更多训练数据 = 更好效果 </a:t>
            </a:r>
          </a:p>
          <a:p>
            <a:r>
              <a:t>🔹 决定成本</a:t>
            </a:r>
          </a:p>
          <a:p>
            <a:r>
              <a:t>GPU利用率 ↑10% = 成本 ↓千万级/月 </a:t>
            </a:r>
          </a:p>
          <a:p>
            <a:r>
              <a:t>🔹 核心指标</a:t>
            </a:r>
          </a:p>
          <a:p>
            <a:r>
              <a:t>MFU（算力利用率） </a:t>
            </a:r>
          </a:p>
          <a:p>
            <a:r>
              <a:t>吞吐（更重要） </a:t>
            </a:r>
          </a:p>
          <a:p>
            <a:r>
              <a:t>👉 你讲一句金句：</a:t>
            </a:r>
          </a:p>
          <a:p>
            <a:r>
              <a:t>AI Infra 本质是在“买时间”和“省钱”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00-06</a:t>
            </a:r>
          </a:p>
          <a:p>
            <a:r>
              <a:t>MaaS：模型服务（API / 调用）</a:t>
            </a:r>
          </a:p>
          <a:p>
            <a:r>
              <a:t>SaaS：推理服务 / 分布式训练（DeepSpeed / Triton）</a:t>
            </a:r>
          </a:p>
          <a:p>
            <a:r>
              <a:t>PaaS：框架 &amp; 编译器（PyTorch / CUDA / 算子库）</a:t>
            </a:r>
          </a:p>
          <a:p>
            <a:r>
              <a:t>IaaS：计算 + 存储 + 网络（GPU / NVMe / RDMA）</a:t>
            </a:r>
          </a:p>
          <a:p>
            <a:r>
              <a:t>硬件：芯片 / 集群 / 机房</a:t>
            </a:r>
          </a:p>
          <a:p/>
          <a:p/>
          <a:p>
            <a:r>
              <a:t>核心一句话：</a:t>
            </a:r>
          </a:p>
          <a:p>
            <a:r>
              <a:t>越往下越偏硬件，越往上越偏应用 </a:t>
            </a:r>
          </a:p>
          <a:p>
            <a:r>
              <a:t>👉 讲解重点：</a:t>
            </a:r>
          </a:p>
          <a:p>
            <a:r>
              <a:t>GPU决定上限 </a:t>
            </a:r>
          </a:p>
          <a:p>
            <a:r>
              <a:t>通信决定扩展 </a:t>
            </a:r>
          </a:p>
          <a:p>
            <a:r>
              <a:t>存储决定数据吞吐</a:t>
            </a:r>
          </a:p>
          <a:p/>
          <a:p/>
          <a:p>
            <a:r>
              <a:t>核心价值（最重要结论）👉 对应 3.1</a:t>
            </a:r>
          </a:p>
          <a:p>
            <a:r>
              <a:t>👉 PPT写三点：</a:t>
            </a:r>
          </a:p>
          <a:p>
            <a:r>
              <a:t>🔹 决定模型上限</a:t>
            </a:r>
          </a:p>
          <a:p>
            <a:r>
              <a:t>更高利用率 = 更多训练数据 = 更好效果 </a:t>
            </a:r>
          </a:p>
          <a:p>
            <a:r>
              <a:t>🔹 决定成本</a:t>
            </a:r>
          </a:p>
          <a:p>
            <a:r>
              <a:t>GPU利用率 ↑10% = 成本 ↓千万级/月 </a:t>
            </a:r>
          </a:p>
          <a:p>
            <a:r>
              <a:t>🔹 核心指标</a:t>
            </a:r>
          </a:p>
          <a:p>
            <a:r>
              <a:t>MFU（算力利用率） </a:t>
            </a:r>
          </a:p>
          <a:p>
            <a:r>
              <a:t>吞吐（更重要） </a:t>
            </a:r>
          </a:p>
          <a:p>
            <a:r>
              <a:t>👉 你讲一句金句：</a:t>
            </a:r>
          </a:p>
          <a:p>
            <a:r>
              <a:t>AI Infra 本质是在“买时间”和“省钱”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918" y="914447"/>
            <a:ext cx="9800165" cy="2570532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918" y="3560583"/>
            <a:ext cx="9800165" cy="1472476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60" y="1490477"/>
            <a:ext cx="10970280" cy="4759445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996" y="3848598"/>
            <a:ext cx="7769565" cy="766839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996" y="4615438"/>
            <a:ext cx="7769565" cy="867645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60" y="1501277"/>
            <a:ext cx="5177310" cy="4748644"/>
          </a:xfr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2231" y="1501277"/>
            <a:ext cx="5177310" cy="4748644"/>
          </a:xfrm>
        </p:spPr>
        <p:txBody>
          <a:bodyPr lIns="90000" tIns="46800" rIns="90000" bIns="4680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60" y="1429274"/>
            <a:ext cx="5342926" cy="38162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60" y="1854096"/>
            <a:ext cx="5342926" cy="4395826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6364" y="1421802"/>
            <a:ext cx="5342926" cy="38162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6364" y="1854096"/>
            <a:ext cx="5342926" cy="4395826"/>
          </a:xfrm>
        </p:spPr>
        <p:txBody>
          <a:bodyPr vert="horz" lIns="101600" tIns="0" rIns="82550" bIns="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60" y="608432"/>
            <a:ext cx="10970280" cy="705636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60" y="1555280"/>
            <a:ext cx="5233593" cy="460823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1025" y="1555280"/>
            <a:ext cx="5227715" cy="460823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5808" y="914447"/>
            <a:ext cx="1044103" cy="5029459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90" y="914447"/>
            <a:ext cx="9170103" cy="5029459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60" y="774040"/>
            <a:ext cx="10973880" cy="5483082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918" y="2484128"/>
            <a:ext cx="9800165" cy="1018852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918" y="3560583"/>
            <a:ext cx="9800165" cy="47162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tags" Target="../tags/tag5.xml"/><Relationship Id="rId15" Type="http://schemas.openxmlformats.org/officeDocument/2006/relationships/tags" Target="../tags/tag4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073" y="608044"/>
            <a:ext cx="10970706" cy="706473"/>
          </a:xfrm>
          <a:prstGeom prst="rect">
            <a:avLst/>
          </a:prstGeom>
          <a:noFill/>
          <a:ln w="9525">
            <a:noFill/>
          </a:ln>
        </p:spPr>
        <p:txBody>
          <a:bodyPr vert="horz" lIns="90170" tIns="46990" rIns="90170" bIns="46990"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3"/>
            </p:custDataLst>
          </p:nvPr>
        </p:nvSpPr>
        <p:spPr>
          <a:xfrm>
            <a:off x="608073" y="1490740"/>
            <a:ext cx="10970706" cy="4759570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836" y="6315400"/>
            <a:ext cx="2699016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793" y="6315400"/>
            <a:ext cx="3959615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8174" y="6315400"/>
            <a:ext cx="2700604" cy="315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800" baseline="0">
                <a:solidFill>
                  <a:schemeClr val="tx1"/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ct val="10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347845" y="2505075"/>
            <a:ext cx="811784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2E3C63"/>
                </a:solidFill>
                <a:latin typeface="微软雅黑" panose="020B0503020204020204" charset="-122"/>
                <a:cs typeface="微软雅黑" panose="020B0503020204020204" charset="-122"/>
              </a:rPr>
              <a:t>1. RNN(RetNet and RWKV)</a:t>
            </a:r>
            <a:endParaRPr lang="zh-CN" altLang="en-US" sz="3200" b="1" dirty="0">
              <a:solidFill>
                <a:srgbClr val="2E3C63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3200" b="1" dirty="0">
                <a:solidFill>
                  <a:srgbClr val="2E3C63"/>
                </a:solidFill>
                <a:latin typeface="微软雅黑" panose="020B0503020204020204" charset="-122"/>
                <a:cs typeface="微软雅黑" panose="020B0503020204020204" charset="-122"/>
              </a:rPr>
              <a:t>2. Mamba</a:t>
            </a:r>
            <a:endParaRPr lang="en-US" altLang="zh-CN" sz="3200" b="1" dirty="0">
              <a:solidFill>
                <a:srgbClr val="2E3C63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21553" y="2516016"/>
            <a:ext cx="2413000" cy="70675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000" b="1" cap="none" spc="0" dirty="0">
                <a:ln w="0"/>
                <a:solidFill>
                  <a:srgbClr val="2E3C6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OUTLINE</a:t>
            </a:r>
            <a:endParaRPr lang="en-US" altLang="zh-CN" sz="4000" b="1" cap="none" spc="0" dirty="0">
              <a:ln w="0"/>
              <a:solidFill>
                <a:srgbClr val="2E3C63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6" name="图片 5" descr="剪影居中蓝 低版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" y="4564099"/>
            <a:ext cx="12190495" cy="377619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1" descr="国科大标准Logo横式一（蓝色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54" y="272029"/>
            <a:ext cx="2992068" cy="6269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301625" y="1356360"/>
            <a:ext cx="11657330" cy="7023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 b="1" spc="200" dirty="0">
                <a:latin typeface="Times New Roman" panose="02020603050405020304" charset="0"/>
                <a:ea typeface="+mn-ea"/>
                <a:cs typeface="Times New Roman" panose="02020603050405020304" charset="0"/>
                <a:sym typeface="+mn-ea"/>
              </a:rPr>
              <a:t>Emerging AI Architecture</a:t>
            </a:r>
            <a:endParaRPr lang="en-US" altLang="zh-CN" sz="4400" b="1" spc="200" dirty="0">
              <a:latin typeface="Times New Roman" panose="02020603050405020304" charset="0"/>
              <a:ea typeface="+mn-ea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2840" y="4027805"/>
            <a:ext cx="4159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b="1" dirty="0">
                <a:latin typeface="微软雅黑" panose="020B0503020204020204" charset="-122"/>
                <a:cs typeface="微软雅黑" panose="020B0503020204020204" charset="-122"/>
              </a:rPr>
              <a:t>王文杰</a:t>
            </a:r>
            <a:r>
              <a:rPr lang="en-US" altLang="zh-CN" sz="1800" b="1" dirty="0">
                <a:latin typeface="微软雅黑" panose="020B0503020204020204" charset="-122"/>
                <a:cs typeface="微软雅黑" panose="020B0503020204020204" charset="-122"/>
              </a:rPr>
              <a:t>       2026.04.16</a:t>
            </a:r>
            <a:endParaRPr lang="en-US" altLang="zh-CN" sz="1800" b="1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/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/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01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97291" y="70232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>
                <a:solidFill>
                  <a:srgbClr val="2E3C63"/>
                </a:solidFill>
              </a:rPr>
              <a:t>Transformer的"不可能三角"</a:t>
            </a:r>
            <a:endParaRPr lang="en-US" altLang="zh-CN" sz="2400" b="1" dirty="0">
              <a:solidFill>
                <a:srgbClr val="2E3C63"/>
              </a:solidFill>
            </a:endParaRPr>
          </a:p>
          <a:p>
            <a:r>
              <a:rPr lang="en-US" altLang="zh-CN" sz="1600" dirty="0">
                <a:solidFill>
                  <a:srgbClr val="2E3C63"/>
                </a:solidFill>
              </a:rPr>
              <a:t>为什么需要新架构？</a:t>
            </a:r>
            <a:endParaRPr lang="en-US" altLang="zh-CN" sz="16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495840" y="1402068"/>
            <a:ext cx="4852093" cy="4425444"/>
          </a:xfrm>
          <a:prstGeom prst="rect">
            <a:avLst/>
          </a:prstGeom>
        </p:spPr>
        <p:txBody>
          <a:bodyPr vert="horz" lIns="90000" tIns="46800" rIns="90000" bIns="46800" rtlCol="0">
            <a:normAutofit lnSpcReduction="2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b="1">
                <a:solidFill>
                  <a:schemeClr val="tx1"/>
                </a:solidFill>
              </a:rPr>
              <a:t>并行训练</a:t>
            </a:r>
            <a:endParaRPr lang="zh-CN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700">
                <a:solidFill>
                  <a:schemeClr val="tx1"/>
                </a:solidFill>
              </a:rPr>
              <a:t>Transformer: 自注意力支持并行  |  传统RNN: 顺序计算，无法并行</a:t>
            </a:r>
            <a:endParaRPr lang="zh-CN" sz="17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zh-CN" sz="17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b="1">
                <a:solidFill>
                  <a:schemeClr val="tx1"/>
                </a:solidFill>
              </a:rPr>
              <a:t>高效推理 O(1)</a:t>
            </a:r>
            <a:endParaRPr lang="zh-CN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700">
                <a:solidFill>
                  <a:schemeClr val="tx1"/>
                </a:solidFill>
              </a:rPr>
              <a:t>传统RNN: 固定状态，每步O(1)  |  Transformer: KV-cache持续增长</a:t>
            </a:r>
            <a:endParaRPr lang="zh-CN" sz="17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zh-CN" sz="17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b="1">
                <a:solidFill>
                  <a:schemeClr val="tx1"/>
                </a:solidFill>
              </a:rPr>
              <a:t>强性能</a:t>
            </a:r>
            <a:endParaRPr lang="zh-CN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700">
                <a:solidFill>
                  <a:schemeClr val="tx1"/>
                </a:solidFill>
              </a:rPr>
              <a:t>Transformer: 在各基准上表现优异  |  传统RNN: LSTM/GRU性能较弱</a:t>
            </a:r>
            <a:endParaRPr lang="zh-CN" sz="17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zh-CN" sz="17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b="1">
                <a:solidFill>
                  <a:schemeClr val="tx1"/>
                </a:solidFill>
              </a:rPr>
              <a:t>核心问题：能否三者兼得？</a:t>
            </a:r>
            <a:endParaRPr lang="zh-CN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700">
                <a:solidFill>
                  <a:schemeClr val="tx1"/>
                </a:solidFill>
              </a:rPr>
              <a:t>RetNet 和 RWKV 正是试图打破这个三角的两种新架构</a:t>
            </a:r>
            <a:endParaRPr lang="zh-CN" sz="1700">
              <a:solidFill>
                <a:schemeClr val="tx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3115" y="923370"/>
            <a:ext cx="7080478" cy="521074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560" y="1314450"/>
            <a:ext cx="5267325" cy="4371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/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/>
        </p:nvSpPr>
        <p:spPr>
          <a:xfrm>
            <a:off x="46355" y="-46990"/>
            <a:ext cx="6935470" cy="919480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Part 1</a:t>
            </a:r>
            <a:endParaRPr lang="en-US" altLang="zh-CN" sz="4000" i="1" dirty="0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893302" y="2704782"/>
            <a:ext cx="10399395" cy="144843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2E3C63"/>
                </a:solidFill>
                <a:sym typeface="+mn-ea"/>
              </a:rPr>
              <a:t>RetNet: 保留网络</a:t>
            </a:r>
            <a:endParaRPr lang="en-US" altLang="zh-CN" sz="3600" b="1" dirty="0">
              <a:solidFill>
                <a:srgbClr val="2E3C63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/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/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02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8236" y="79757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>
                <a:solidFill>
                  <a:srgbClr val="2E3C63"/>
                </a:solidFill>
              </a:rPr>
              <a:t>RetNet 概览</a:t>
            </a:r>
            <a:endParaRPr lang="en-US" altLang="zh-CN" sz="2400" b="1" dirty="0">
              <a:solidFill>
                <a:srgbClr val="2E3C63"/>
              </a:solidFill>
            </a:endParaRPr>
          </a:p>
          <a:p>
            <a:r>
              <a:rPr lang="en-US" altLang="zh-CN" sz="1600" dirty="0">
                <a:solidFill>
                  <a:srgbClr val="2E3C63"/>
                </a:solidFill>
              </a:rPr>
              <a:t>Retentive Network — Transformer的继任者？</a:t>
            </a:r>
            <a:endParaRPr lang="en-US" altLang="zh-CN" sz="16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440690" y="1185545"/>
            <a:ext cx="8646160" cy="442531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zh-CN" sz="2000" b="1">
                <a:solidFill>
                  <a:schemeClr val="tx1"/>
                </a:solidFill>
                <a:uFillTx/>
              </a:rPr>
              <a:t>论文</a:t>
            </a:r>
            <a:endParaRPr lang="zh-CN" sz="2000" b="1">
              <a:solidFill>
                <a:schemeClr val="tx1"/>
              </a:solidFill>
              <a:uFillTx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zh-CN" sz="1600">
                <a:solidFill>
                  <a:schemeClr val="tx1"/>
                </a:solidFill>
                <a:uFillTx/>
              </a:rPr>
              <a:t>"Retentive Network: A Successor to Transformer for Large Language Models"</a:t>
            </a:r>
            <a:endParaRPr lang="zh-CN" sz="1600">
              <a:solidFill>
                <a:schemeClr val="tx1"/>
              </a:solidFill>
              <a:uFillTx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zh-CN" sz="1600">
                <a:solidFill>
                  <a:schemeClr val="tx1"/>
                </a:solidFill>
                <a:uFillTx/>
              </a:rPr>
              <a:t>Microsoft Research, 2023   (Sun, Dong, Huang, Ma et al.)</a:t>
            </a:r>
            <a:endParaRPr lang="zh-CN" sz="1600">
              <a:solidFill>
                <a:schemeClr val="tx1"/>
              </a:solidFill>
              <a:uFillTx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sz="1700">
              <a:solidFill>
                <a:schemeClr val="tx1"/>
              </a:solidFill>
              <a:uFillTx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zh-CN" b="1">
                <a:solidFill>
                  <a:schemeClr val="tx1"/>
                </a:solidFill>
                <a:uFillTx/>
              </a:rPr>
              <a:t>核心思想</a:t>
            </a:r>
            <a:endParaRPr lang="zh-CN" b="1">
              <a:solidFill>
                <a:schemeClr val="tx1"/>
              </a:solidFill>
              <a:uFillTx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zh-CN" sz="1600">
                <a:solidFill>
                  <a:schemeClr val="tx1"/>
                </a:solidFill>
                <a:uFillTx/>
              </a:rPr>
              <a:t>用指数衰减（exponential decay）替代 Softmax</a:t>
            </a:r>
            <a:endParaRPr lang="zh-CN" sz="1600">
              <a:solidFill>
                <a:schemeClr val="tx1"/>
              </a:solidFill>
              <a:uFillTx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zh-CN" sz="1600">
                <a:solidFill>
                  <a:schemeClr val="tx1"/>
                </a:solidFill>
                <a:uFillTx/>
              </a:rPr>
              <a:t>使同一个模型同时拥有并行和递归两种计算形式</a:t>
            </a:r>
            <a:endParaRPr lang="zh-CN" sz="1600">
              <a:solidFill>
                <a:schemeClr val="tx1"/>
              </a:solidFill>
              <a:uFillTx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sz="1700"/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zh-CN" b="1">
                <a:solidFill>
                  <a:schemeClr val="tx1"/>
                </a:solidFill>
                <a:uFillTx/>
              </a:rPr>
              <a:t>关键创新</a:t>
            </a:r>
            <a:endParaRPr lang="zh-CN" b="1">
              <a:solidFill>
                <a:schemeClr val="tx1"/>
              </a:solidFill>
              <a:uFillTx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zh-CN" sz="1600">
                <a:solidFill>
                  <a:schemeClr val="tx1"/>
                </a:solidFill>
                <a:uFillTx/>
              </a:rPr>
              <a:t>Retention 机制 — 三种等价计算范式：并行 / 递归 / 分块</a:t>
            </a:r>
            <a:endParaRPr lang="zh-CN" sz="1600">
              <a:solidFill>
                <a:schemeClr val="tx1"/>
              </a:solidFill>
              <a:uFillTx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zh-CN" sz="1600">
                <a:solidFill>
                  <a:schemeClr val="tx1"/>
                </a:solidFill>
                <a:uFillTx/>
              </a:rPr>
              <a:t>多尺度衰减 — 不同 head 关注不同时间尺度</a:t>
            </a:r>
            <a:endParaRPr lang="zh-CN" sz="1600">
              <a:solidFill>
                <a:schemeClr val="tx1"/>
              </a:solidFill>
              <a:uFillTx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3115" y="923370"/>
            <a:ext cx="7080478" cy="52107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/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03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8236" y="220092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>
                <a:solidFill>
                  <a:srgbClr val="2E3C63"/>
                </a:solidFill>
              </a:rPr>
              <a:t>Retention 机制 — 并行形式（训练）</a:t>
            </a:r>
            <a:endParaRPr lang="en-US" altLang="zh-CN" sz="2400" b="1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321945" y="1174750"/>
            <a:ext cx="10107295" cy="442531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2000" b="1">
                <a:solidFill>
                  <a:schemeClr val="tx1"/>
                </a:solidFill>
              </a:rPr>
              <a:t>核心公式</a:t>
            </a:r>
            <a:endParaRPr 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2000" b="1">
                <a:solidFill>
                  <a:schemeClr val="tx1"/>
                </a:solidFill>
              </a:rPr>
              <a:t> </a:t>
            </a:r>
            <a:r>
              <a:rPr lang="zh-CN" sz="2000">
                <a:solidFill>
                  <a:schemeClr val="tx1"/>
                </a:solidFill>
              </a:rPr>
              <a:t> </a:t>
            </a:r>
            <a:r>
              <a:rPr lang="zh-CN" sz="1600">
                <a:solidFill>
                  <a:schemeClr val="tx1"/>
                </a:solidFill>
              </a:rPr>
              <a:t>Retention(X) = (Q K^T  ⊙  D) V</a:t>
            </a:r>
            <a:endParaRPr lang="zh-CN" sz="16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600">
                <a:solidFill>
                  <a:schemeClr val="tx1"/>
                </a:solidFill>
              </a:rPr>
              <a:t>  D_nm = γ^(n-m)  (n ≥ m),  γ ∈ (0,1)</a:t>
            </a:r>
            <a:endParaRPr 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2000" b="1">
                <a:solidFill>
                  <a:schemeClr val="tx1"/>
                </a:solidFill>
              </a:rPr>
              <a:t>与标准 Attention 的对比</a:t>
            </a:r>
            <a:endParaRPr 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2000" b="1">
                <a:solidFill>
                  <a:schemeClr val="tx1"/>
                </a:solidFill>
              </a:rPr>
              <a:t>  </a:t>
            </a:r>
            <a:r>
              <a:rPr lang="zh-CN" sz="1600">
                <a:solidFill>
                  <a:schemeClr val="tx1"/>
                </a:solidFill>
              </a:rPr>
              <a:t>Attention:   Softmax(Q K^T / √d) · V</a:t>
            </a:r>
            <a:endParaRPr lang="zh-CN" sz="16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600">
                <a:solidFill>
                  <a:schemeClr val="tx1"/>
                </a:solidFill>
              </a:rPr>
              <a:t>  Retention:   (Q K^T ⊙ D) · V</a:t>
            </a:r>
            <a:endParaRPr lang="zh-CN" sz="16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2000" b="1">
                <a:solidFill>
                  <a:schemeClr val="tx1"/>
                </a:solidFill>
              </a:rPr>
              <a:t>关键差异</a:t>
            </a:r>
            <a:endParaRPr 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2000" b="1">
                <a:solidFill>
                  <a:schemeClr val="tx1"/>
                </a:solidFill>
              </a:rPr>
              <a:t>  </a:t>
            </a:r>
            <a:r>
              <a:rPr lang="zh-CN" sz="1600">
                <a:solidFill>
                  <a:schemeClr val="tx1"/>
                </a:solidFill>
              </a:rPr>
              <a:t>Softmax → 指数衰减掩码 D</a:t>
            </a:r>
            <a:endParaRPr lang="zh-CN" sz="16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600">
                <a:solidFill>
                  <a:schemeClr val="tx1"/>
                </a:solidFill>
              </a:rPr>
              <a:t>  距离越远的 token 贡献按 γ 指数衰减</a:t>
            </a:r>
            <a:endParaRPr lang="zh-CN" sz="16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600">
                <a:solidFill>
                  <a:schemeClr val="tx1"/>
                </a:solidFill>
              </a:rPr>
              <a:t>  这个替换是实现双重计算形式的关键</a:t>
            </a:r>
            <a:endParaRPr lang="zh-CN" sz="16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3115" y="923370"/>
            <a:ext cx="7080478" cy="521074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515" y="1664335"/>
            <a:ext cx="2314575" cy="2628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/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04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8236" y="230887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>
                <a:solidFill>
                  <a:srgbClr val="2E3C63"/>
                </a:solidFill>
              </a:rPr>
              <a:t>Retention 机制 — 递归形式（推理）</a:t>
            </a:r>
            <a:endParaRPr lang="en-US" altLang="zh-CN" sz="2400" b="1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432975" y="1216648"/>
            <a:ext cx="4852093" cy="4425444"/>
          </a:xfrm>
          <a:prstGeom prst="rect">
            <a:avLst/>
          </a:prstGeom>
        </p:spPr>
        <p:txBody>
          <a:bodyPr vert="horz" lIns="90000" tIns="46800" rIns="90000" bIns="46800" rtlCol="0">
            <a:normAutofit fontScale="8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2250" b="1">
                <a:solidFill>
                  <a:schemeClr val="tx1"/>
                </a:solidFill>
              </a:rPr>
              <a:t>递推公式</a:t>
            </a:r>
            <a:endParaRPr lang="zh-CN" sz="225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2000" b="1">
                <a:solidFill>
                  <a:schemeClr val="tx1"/>
                </a:solidFill>
              </a:rPr>
              <a:t>  </a:t>
            </a:r>
            <a:r>
              <a:rPr lang="zh-CN" sz="2000">
                <a:solidFill>
                  <a:schemeClr val="tx1"/>
                </a:solidFill>
              </a:rPr>
              <a:t>S_n = γ · S_{n-1} + K_n^T · V_n</a:t>
            </a:r>
            <a:endParaRPr lang="zh-CN" sz="20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2000">
                <a:solidFill>
                  <a:schemeClr val="tx1"/>
                </a:solidFill>
              </a:rPr>
              <a:t>  o_n = Q_n · S_n</a:t>
            </a:r>
            <a:endParaRPr lang="zh-CN" sz="20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zh-CN" sz="20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2250" b="1">
                <a:solidFill>
                  <a:schemeClr val="tx1"/>
                </a:solidFill>
              </a:rPr>
              <a:t>核心优势</a:t>
            </a:r>
            <a:endParaRPr lang="zh-CN" sz="225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2000" b="1">
                <a:solidFill>
                  <a:schemeClr val="tx1"/>
                </a:solidFill>
              </a:rPr>
              <a:t> </a:t>
            </a:r>
            <a:r>
              <a:rPr lang="zh-CN" sz="2000">
                <a:solidFill>
                  <a:schemeClr val="tx1"/>
                </a:solidFill>
              </a:rPr>
              <a:t> 状态矩阵 S 大小固定，不随序列增长</a:t>
            </a:r>
            <a:endParaRPr lang="zh-CN" sz="20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2000">
                <a:solidFill>
                  <a:schemeClr val="tx1"/>
                </a:solidFill>
              </a:rPr>
              <a:t>  每步推理计算量 O(1)，无需 KV-cache</a:t>
            </a:r>
            <a:endParaRPr lang="zh-CN" sz="20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2000">
                <a:solidFill>
                  <a:schemeClr val="tx1"/>
                </a:solidFill>
              </a:rPr>
              <a:t>  内存恒定 — 完全消除 Transformer 的推理瓶颈</a:t>
            </a:r>
            <a:endParaRPr 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2250" b="1">
                <a:solidFill>
                  <a:schemeClr val="tx1"/>
                </a:solidFill>
              </a:rPr>
              <a:t>数学等价性</a:t>
            </a:r>
            <a:endParaRPr lang="zh-CN" sz="225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2000" b="1">
                <a:solidFill>
                  <a:schemeClr val="tx1"/>
                </a:solidFill>
              </a:rPr>
              <a:t> </a:t>
            </a:r>
            <a:r>
              <a:rPr lang="zh-CN" sz="2000">
                <a:solidFill>
                  <a:schemeClr val="tx1"/>
                </a:solidFill>
              </a:rPr>
              <a:t> 并行形式（训练）与递归形式（推理）</a:t>
            </a:r>
            <a:endParaRPr lang="zh-CN" sz="20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2000">
                <a:solidFill>
                  <a:schemeClr val="tx1"/>
                </a:solidFill>
              </a:rPr>
              <a:t>  输出完全相同，只是计算组织方式不同</a:t>
            </a:r>
            <a:endParaRPr lang="zh-CN" sz="20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zh-CN" sz="2000" b="1">
              <a:solidFill>
                <a:schemeClr val="tx1"/>
              </a:solidFill>
            </a:endParaRPr>
          </a:p>
          <a:p>
            <a:pPr marL="0" indent="0" algn="l">
              <a:lnSpc>
                <a:spcPct val="120000"/>
              </a:lnSpc>
              <a:spcAft>
                <a:spcPts val="0"/>
              </a:spcAft>
              <a:buClrTx/>
              <a:buSzTx/>
              <a:buNone/>
            </a:pPr>
            <a:endParaRPr lang="zh-CN" sz="2000" b="1">
              <a:solidFill>
                <a:schemeClr val="tx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3115" y="923370"/>
            <a:ext cx="7080478" cy="521074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5155" y="1701165"/>
            <a:ext cx="4333875" cy="2533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/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05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8236" y="220092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>
                <a:solidFill>
                  <a:srgbClr val="2E3C63"/>
                </a:solidFill>
              </a:rPr>
              <a:t>多尺度 Retention + Chunkwise 模式</a:t>
            </a:r>
            <a:endParaRPr lang="en-US" altLang="zh-CN" sz="2400" b="1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311055" y="1120763"/>
            <a:ext cx="4852093" cy="4425444"/>
          </a:xfrm>
          <a:prstGeom prst="rect">
            <a:avLst/>
          </a:prstGeom>
        </p:spPr>
        <p:txBody>
          <a:bodyPr vert="horz" lIns="90000" tIns="46800" rIns="90000" bIns="46800" rtlCol="0">
            <a:normAutofit fontScale="90000"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2000" b="1">
                <a:solidFill>
                  <a:schemeClr val="tx1"/>
                </a:solidFill>
              </a:rPr>
              <a:t>多尺度 Retention (Multi-Scale)</a:t>
            </a:r>
            <a:endParaRPr 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2000" b="1">
                <a:solidFill>
                  <a:schemeClr val="tx1"/>
                </a:solidFill>
              </a:rPr>
              <a:t>  </a:t>
            </a:r>
            <a:r>
              <a:rPr lang="zh-CN" sz="1780">
                <a:solidFill>
                  <a:schemeClr val="tx1"/>
                </a:solidFill>
              </a:rPr>
              <a:t>不同 head 使用不同衰减率 γ</a:t>
            </a:r>
            <a:endParaRPr lang="zh-CN" sz="178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780">
                <a:solidFill>
                  <a:schemeClr val="tx1"/>
                </a:solidFill>
              </a:rPr>
              <a:t>  γ_h = 1 - 2^(-5-h)</a:t>
            </a:r>
            <a:endParaRPr lang="zh-CN" sz="178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780">
                <a:solidFill>
                  <a:schemeClr val="tx1"/>
                </a:solidFill>
              </a:rPr>
              <a:t>  有的 head 捕捉局部模式，有的关注远程依赖</a:t>
            </a:r>
            <a:endParaRPr lang="zh-CN" sz="178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2000" b="1">
                <a:solidFill>
                  <a:schemeClr val="tx1"/>
                </a:solidFill>
              </a:rPr>
              <a:t>Chunkwise 模式（长序列优化）</a:t>
            </a:r>
            <a:endParaRPr 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2000" b="1">
                <a:solidFill>
                  <a:schemeClr val="tx1"/>
                </a:solidFill>
              </a:rPr>
              <a:t>  </a:t>
            </a:r>
            <a:r>
              <a:rPr lang="zh-CN" sz="1780">
                <a:solidFill>
                  <a:schemeClr val="tx1"/>
                </a:solidFill>
              </a:rPr>
              <a:t>序列分块处理</a:t>
            </a:r>
            <a:endParaRPr lang="zh-CN" sz="178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780">
                <a:solidFill>
                  <a:schemeClr val="tx1"/>
                </a:solidFill>
              </a:rPr>
              <a:t>  块内：并行计算（利用 GPU）</a:t>
            </a:r>
            <a:endParaRPr lang="zh-CN" sz="178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780">
                <a:solidFill>
                  <a:schemeClr val="tx1"/>
                </a:solidFill>
              </a:rPr>
              <a:t>  块间：递归传递状态</a:t>
            </a:r>
            <a:endParaRPr lang="zh-CN" sz="178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780">
                <a:solidFill>
                  <a:schemeClr val="tx1"/>
                </a:solidFill>
              </a:rPr>
              <a:t>  兼顾效率与长程建模</a:t>
            </a:r>
            <a:endParaRPr lang="zh-CN" sz="178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2000" b="1">
                <a:solidFill>
                  <a:schemeClr val="tx1"/>
                </a:solidFill>
              </a:rPr>
              <a:t>三种模式的适用场景</a:t>
            </a:r>
            <a:endParaRPr 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2000" b="1">
                <a:solidFill>
                  <a:schemeClr val="tx1"/>
                </a:solidFill>
              </a:rPr>
              <a:t>  </a:t>
            </a:r>
            <a:r>
              <a:rPr lang="zh-CN" sz="1780">
                <a:solidFill>
                  <a:schemeClr val="tx1"/>
                </a:solidFill>
              </a:rPr>
              <a:t>训练 → 并行  |  推理 → 递归  |  长序列 → Chunkwise</a:t>
            </a:r>
            <a:endParaRPr lang="zh-CN" sz="1780">
              <a:solidFill>
                <a:schemeClr val="tx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3115" y="923370"/>
            <a:ext cx="7080478" cy="521074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175" y="1120775"/>
            <a:ext cx="5353050" cy="13620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835" y="2816225"/>
            <a:ext cx="6940550" cy="15246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/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/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06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8236" y="198502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>
                <a:solidFill>
                  <a:srgbClr val="2E3C63"/>
                </a:solidFill>
              </a:rPr>
              <a:t>RetNet 关键实验结果</a:t>
            </a:r>
            <a:endParaRPr lang="en-US" altLang="zh-CN" sz="2400" b="1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95155" y="1120763"/>
            <a:ext cx="4852093" cy="4425444"/>
          </a:xfrm>
          <a:prstGeom prst="rect">
            <a:avLst/>
          </a:prstGeom>
        </p:spPr>
        <p:txBody>
          <a:bodyPr vert="horz" lIns="90000" tIns="46800" rIns="90000" bIns="46800" rtlCol="0">
            <a:normAutofit lnSpcReduction="2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b="1">
                <a:solidFill>
                  <a:schemeClr val="tx1"/>
                </a:solidFill>
              </a:rPr>
              <a:t>语言建模性能</a:t>
            </a:r>
            <a:endParaRPr lang="zh-CN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2000" b="1">
                <a:solidFill>
                  <a:schemeClr val="tx1"/>
                </a:solidFill>
              </a:rPr>
              <a:t>  </a:t>
            </a:r>
            <a:r>
              <a:rPr lang="zh-CN" sz="1600">
                <a:solidFill>
                  <a:schemeClr val="tx1"/>
                </a:solidFill>
              </a:rPr>
              <a:t>1.3B - 6.7B 参数规模：匹配甚至超越 Transformer</a:t>
            </a:r>
            <a:endParaRPr lang="zh-CN" sz="16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600">
                <a:solidFill>
                  <a:schemeClr val="tx1"/>
                </a:solidFill>
              </a:rPr>
              <a:t>  性能优势随模型规模增大而更加明显</a:t>
            </a:r>
            <a:endParaRPr lang="zh-CN" sz="16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b="1">
                <a:solidFill>
                  <a:schemeClr val="tx1"/>
                </a:solidFill>
              </a:rPr>
              <a:t>推理效率（7B 模型 @ 8K 序列长度）</a:t>
            </a:r>
            <a:endParaRPr 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2000" b="1">
                <a:solidFill>
                  <a:schemeClr val="tx1"/>
                </a:solidFill>
              </a:rPr>
              <a:t>  </a:t>
            </a:r>
            <a:r>
              <a:rPr lang="zh-CN" sz="1600">
                <a:solidFill>
                  <a:schemeClr val="tx1"/>
                </a:solidFill>
              </a:rPr>
              <a:t>解码速度：提升 8.4 倍</a:t>
            </a:r>
            <a:endParaRPr lang="zh-CN" sz="16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600">
                <a:solidFill>
                  <a:schemeClr val="tx1"/>
                </a:solidFill>
              </a:rPr>
              <a:t>  内存占用：减少 70%</a:t>
            </a:r>
            <a:endParaRPr lang="zh-CN" sz="16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600">
                <a:solidFill>
                  <a:schemeClr val="tx1"/>
                </a:solidFill>
              </a:rPr>
              <a:t>  训练吞吐量：与 Transformer 持平</a:t>
            </a:r>
            <a:endParaRPr lang="zh-CN" sz="16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zh-CN" sz="2000" b="1">
              <a:solidFill>
                <a:schemeClr val="tx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3115" y="923370"/>
            <a:ext cx="7080478" cy="521074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760" y="1313815"/>
            <a:ext cx="4391025" cy="22669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160" y="3856355"/>
            <a:ext cx="5356225" cy="195770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4446905"/>
            <a:ext cx="5306695" cy="120459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67740" y="412623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  <a:uFillTx/>
              </a:rPr>
              <a:t>Train cost</a:t>
            </a:r>
            <a:endParaRPr lang="en-US" altLang="zh-CN" sz="1600">
              <a:solidFill>
                <a:schemeClr val="bg1">
                  <a:lumMod val="50000"/>
                </a:schemeClr>
              </a:solidFill>
              <a:uFillTx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/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/>
        </p:nvSpPr>
        <p:spPr>
          <a:xfrm>
            <a:off x="46355" y="-46990"/>
            <a:ext cx="6935470" cy="919480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 dirty="0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Part 2</a:t>
            </a:r>
            <a:endParaRPr lang="en-US" altLang="zh-CN" sz="4000" i="1" dirty="0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893302" y="2704782"/>
            <a:ext cx="10399395" cy="144843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2E3C63"/>
                </a:solidFill>
                <a:sym typeface="+mn-ea"/>
              </a:rPr>
              <a:t>RWKV: 重新发明 RNN</a:t>
            </a:r>
            <a:endParaRPr lang="en-US" altLang="zh-CN" sz="3600" b="1" dirty="0">
              <a:solidFill>
                <a:srgbClr val="2E3C63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/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07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8236" y="58167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>
                <a:solidFill>
                  <a:srgbClr val="2E3C63"/>
                </a:solidFill>
              </a:rPr>
              <a:t>RWKV 概览</a:t>
            </a:r>
            <a:endParaRPr lang="en-US" altLang="zh-CN" sz="2400" b="1" dirty="0">
              <a:solidFill>
                <a:srgbClr val="2E3C63"/>
              </a:solidFill>
            </a:endParaRPr>
          </a:p>
          <a:p>
            <a:r>
              <a:rPr lang="en-US" altLang="zh-CN" sz="1600" dirty="0">
                <a:solidFill>
                  <a:srgbClr val="2E3C63"/>
                </a:solidFill>
              </a:rPr>
              <a:t>Reinventing RNNs for the Transformer Era</a:t>
            </a:r>
            <a:endParaRPr lang="en-US" altLang="zh-CN" sz="16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466725" y="1381125"/>
            <a:ext cx="10018395" cy="4425315"/>
          </a:xfrm>
          <a:prstGeom prst="rect">
            <a:avLst/>
          </a:prstGeom>
        </p:spPr>
        <p:txBody>
          <a:bodyPr vert="horz" lIns="90000" tIns="46800" rIns="90000" bIns="46800" rtlCol="0">
            <a:normAutofit lnSpcReduction="2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2000" b="1">
                <a:solidFill>
                  <a:schemeClr val="tx1"/>
                </a:solidFill>
              </a:rPr>
              <a:t>论文</a:t>
            </a:r>
            <a:endParaRPr 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800">
                <a:solidFill>
                  <a:schemeClr val="tx1"/>
                </a:solidFill>
              </a:rPr>
              <a:t>"RWKV: Reinventing RNNs for the Transformer Era"</a:t>
            </a:r>
            <a:endParaRPr lang="zh-CN" sz="18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800">
                <a:solidFill>
                  <a:schemeClr val="tx1"/>
                </a:solidFill>
              </a:rPr>
              <a:t>Bo Peng et al., EMNLP 2023</a:t>
            </a:r>
            <a:endParaRPr lang="zh-CN" sz="18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zh-CN" sz="18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2000" b="1">
                <a:solidFill>
                  <a:schemeClr val="tx1"/>
                </a:solidFill>
              </a:rPr>
              <a:t>名称含义</a:t>
            </a:r>
            <a:endParaRPr 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800" b="1">
                <a:solidFill>
                  <a:schemeClr val="tx1"/>
                </a:solidFill>
              </a:rPr>
              <a:t>  </a:t>
            </a:r>
            <a:r>
              <a:rPr lang="zh-CN" sz="1800">
                <a:solidFill>
                  <a:schemeClr val="tx1"/>
                </a:solidFill>
              </a:rPr>
              <a:t>R = Receptance（接受门）  W = Weight（位置衰减）</a:t>
            </a:r>
            <a:endParaRPr lang="zh-CN" sz="18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800">
                <a:solidFill>
                  <a:schemeClr val="tx1"/>
                </a:solidFill>
              </a:rPr>
              <a:t>  K = Key（键）                    V = Value（值）</a:t>
            </a:r>
            <a:endParaRPr lang="zh-CN" sz="18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zh-CN" sz="18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2000" b="1">
                <a:solidFill>
                  <a:schemeClr val="tx1"/>
                </a:solidFill>
              </a:rPr>
              <a:t>核心思想</a:t>
            </a:r>
            <a:endParaRPr 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800" b="1">
                <a:solidFill>
                  <a:schemeClr val="tx1"/>
                </a:solidFill>
              </a:rPr>
              <a:t>  </a:t>
            </a:r>
            <a:r>
              <a:rPr lang="zh-CN" sz="1800">
                <a:solidFill>
                  <a:schemeClr val="tx1"/>
                </a:solidFill>
              </a:rPr>
              <a:t>用线性注意力 + 门控机制</a:t>
            </a:r>
            <a:endParaRPr lang="zh-CN" sz="18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800">
                <a:solidFill>
                  <a:schemeClr val="tx1"/>
                </a:solidFill>
              </a:rPr>
              <a:t>  像 Transformer 一样并行训练</a:t>
            </a:r>
            <a:endParaRPr lang="zh-CN" sz="18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800">
                <a:solidFill>
                  <a:schemeClr val="tx1"/>
                </a:solidFill>
              </a:rPr>
              <a:t>  像 RNN 一样高效推理</a:t>
            </a:r>
            <a:endParaRPr lang="zh-CN" sz="1800">
              <a:solidFill>
                <a:schemeClr val="tx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4760" y="1227535"/>
            <a:ext cx="7080478" cy="52107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/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08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8236" y="230887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>
                <a:solidFill>
                  <a:srgbClr val="2E3C63"/>
                </a:solidFill>
              </a:rPr>
              <a:t>AF</a:t>
            </a:r>
            <a:r>
              <a:rPr lang="en-US" altLang="zh-CN" sz="2400" b="1" dirty="0">
                <a:solidFill>
                  <a:srgbClr val="2E3C63"/>
                </a:solidFill>
              </a:rPr>
              <a:t>T</a:t>
            </a:r>
            <a:endParaRPr lang="en-US" altLang="zh-CN" sz="1600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466725" y="1381125"/>
            <a:ext cx="10018395" cy="4425315"/>
          </a:xfrm>
          <a:prstGeom prst="rect">
            <a:avLst/>
          </a:prstGeom>
        </p:spPr>
        <p:txBody>
          <a:bodyPr vert="horz" lIns="90000" tIns="46800" rIns="90000" bIns="46800" rtlCol="0">
            <a:normAutofit lnSpcReduction="2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2000" b="1">
                <a:solidFill>
                  <a:schemeClr val="tx1"/>
                </a:solidFill>
              </a:rPr>
              <a:t>传统</a:t>
            </a:r>
            <a:r>
              <a:rPr lang="en-US" altLang="zh-CN" sz="2000" b="1">
                <a:solidFill>
                  <a:schemeClr val="tx1"/>
                </a:solidFill>
              </a:rPr>
              <a:t>Attention</a:t>
            </a:r>
            <a:endParaRPr lang="en-US" alt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en-US" alt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en-US" alt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en-US" alt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en-US" alt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en-US" altLang="zh-CN" sz="2000" b="1">
                <a:solidFill>
                  <a:schemeClr val="tx1"/>
                </a:solidFill>
              </a:rPr>
              <a:t>AFT(</a:t>
            </a:r>
            <a:r>
              <a:rPr lang="en-US" altLang="zh-CN" sz="1600" b="1">
                <a:solidFill>
                  <a:schemeClr val="tx1"/>
                </a:solidFill>
              </a:rPr>
              <a:t>attention-free transformer</a:t>
            </a:r>
            <a:r>
              <a:rPr lang="en-US" altLang="zh-CN" sz="2000" b="1">
                <a:solidFill>
                  <a:schemeClr val="tx1"/>
                </a:solidFill>
              </a:rPr>
              <a:t>)</a:t>
            </a:r>
            <a:endParaRPr lang="en-US" alt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en-US" alt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en-US" alt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en-US" alt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altLang="en-US" sz="2000" b="1">
                <a:solidFill>
                  <a:schemeClr val="tx1"/>
                </a:solidFill>
              </a:rPr>
              <a:t>如果</a:t>
            </a:r>
            <a:r>
              <a:rPr lang="en-US" altLang="zh-CN" sz="2000" b="1">
                <a:solidFill>
                  <a:schemeClr val="tx1"/>
                </a:solidFill>
              </a:rPr>
              <a:t>wi,t=-(t-i)w:</a:t>
            </a:r>
            <a:endParaRPr lang="en-US" alt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en-US" alt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en-US" altLang="zh-CN" sz="20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en-US" altLang="zh-CN" sz="2000" b="1">
              <a:solidFill>
                <a:schemeClr val="tx1"/>
              </a:solidFill>
            </a:endParaRPr>
          </a:p>
          <a:p>
            <a:pPr marL="0" indent="0" algn="l">
              <a:lnSpc>
                <a:spcPct val="120000"/>
              </a:lnSpc>
              <a:spcAft>
                <a:spcPts val="0"/>
              </a:spcAft>
              <a:buClrTx/>
              <a:buSzTx/>
              <a:buNone/>
            </a:pPr>
            <a:endParaRPr lang="zh-CN" sz="2000" b="1">
              <a:solidFill>
                <a:schemeClr val="tx1"/>
              </a:solidFill>
            </a:endParaRPr>
          </a:p>
          <a:p>
            <a:pPr marL="0" indent="0" algn="l">
              <a:lnSpc>
                <a:spcPct val="120000"/>
              </a:lnSpc>
              <a:spcAft>
                <a:spcPts val="0"/>
              </a:spcAft>
              <a:buClrTx/>
              <a:buSzTx/>
              <a:buNone/>
            </a:pPr>
            <a:endParaRPr lang="zh-CN" sz="2000" b="1">
              <a:solidFill>
                <a:schemeClr val="tx1"/>
              </a:solidFill>
            </a:endParaRPr>
          </a:p>
          <a:p>
            <a:pPr marL="0" indent="0" algn="l">
              <a:lnSpc>
                <a:spcPct val="120000"/>
              </a:lnSpc>
              <a:spcAft>
                <a:spcPts val="0"/>
              </a:spcAft>
              <a:buClrTx/>
              <a:buSzTx/>
              <a:buNone/>
            </a:pPr>
            <a:endParaRPr lang="zh-CN" sz="18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zh-CN" sz="1800">
              <a:solidFill>
                <a:schemeClr val="tx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4760" y="1227535"/>
            <a:ext cx="7080478" cy="521074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20" y="1908175"/>
            <a:ext cx="3600450" cy="8572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47415"/>
            <a:ext cx="3312160" cy="68389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0360" y="4348480"/>
            <a:ext cx="2466975" cy="17621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/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09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8236" y="220092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200" b="1" dirty="0">
                <a:solidFill>
                  <a:srgbClr val="2E3C63"/>
                </a:solidFill>
              </a:rPr>
              <a:t>核心机制 — 时间混合块 (Time-Mixing)</a:t>
            </a:r>
            <a:endParaRPr lang="en-US" altLang="zh-CN" sz="2200" b="1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95250" y="1120775"/>
            <a:ext cx="4852035" cy="5280025"/>
          </a:xfrm>
          <a:prstGeom prst="rect">
            <a:avLst/>
          </a:prstGeom>
        </p:spPr>
        <p:txBody>
          <a:bodyPr vert="horz" lIns="90000" tIns="46800" rIns="90000" bIns="46800" rtlCol="0">
            <a:normAutofit fontScale="90000"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800" b="1">
                <a:solidFill>
                  <a:schemeClr val="tx1"/>
                </a:solidFill>
              </a:rPr>
              <a:t>数据流</a:t>
            </a:r>
            <a:endParaRPr lang="zh-CN" sz="18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800" b="1">
                <a:solidFill>
                  <a:schemeClr val="tx1"/>
                </a:solidFill>
              </a:rPr>
              <a:t>  </a:t>
            </a:r>
            <a:r>
              <a:rPr lang="zh-CN" sz="1800">
                <a:solidFill>
                  <a:schemeClr val="tx1"/>
                </a:solidFill>
              </a:rPr>
              <a:t>Token Shift → R/K/V 投影 → WKV 运算 → Receptance 门控 → 输出</a:t>
            </a:r>
            <a:endParaRPr lang="zh-CN" sz="18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zh-CN" sz="18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800" b="1">
                <a:solidFill>
                  <a:schemeClr val="tx1"/>
                </a:solidFill>
              </a:rPr>
              <a:t>WKV 运算（核心公式）</a:t>
            </a:r>
            <a:endParaRPr lang="zh-CN" sz="1800" b="1">
              <a:solidFill>
                <a:schemeClr val="tx1"/>
              </a:solidFill>
            </a:endParaRPr>
          </a:p>
          <a:p>
            <a:pPr marL="0" indent="0" algn="l">
              <a:lnSpc>
                <a:spcPct val="120000"/>
              </a:lnSpc>
              <a:spcAft>
                <a:spcPts val="0"/>
              </a:spcAft>
              <a:buClrTx/>
              <a:buSzTx/>
              <a:buNone/>
            </a:pPr>
            <a:endParaRPr lang="zh-CN" sz="1800">
              <a:solidFill>
                <a:schemeClr val="tx1"/>
              </a:solidFill>
            </a:endParaRPr>
          </a:p>
          <a:p>
            <a:pPr marL="0" indent="0" algn="l">
              <a:lnSpc>
                <a:spcPct val="120000"/>
              </a:lnSpc>
              <a:spcAft>
                <a:spcPts val="0"/>
              </a:spcAft>
              <a:buClrTx/>
              <a:buSzTx/>
              <a:buNone/>
            </a:pPr>
            <a:endParaRPr lang="zh-CN" sz="1800">
              <a:solidFill>
                <a:schemeClr val="tx1"/>
              </a:solidFill>
            </a:endParaRPr>
          </a:p>
          <a:p>
            <a:pPr marL="0" indent="0" algn="l">
              <a:lnSpc>
                <a:spcPct val="120000"/>
              </a:lnSpc>
              <a:spcAft>
                <a:spcPts val="0"/>
              </a:spcAft>
              <a:buClrTx/>
              <a:buSzTx/>
              <a:buNone/>
            </a:pPr>
            <a:endParaRPr lang="zh-CN" sz="1800">
              <a:solidFill>
                <a:schemeClr val="tx1"/>
              </a:solidFill>
            </a:endParaRPr>
          </a:p>
          <a:p>
            <a:pPr marL="0" indent="0" algn="l">
              <a:lnSpc>
                <a:spcPct val="120000"/>
              </a:lnSpc>
              <a:spcAft>
                <a:spcPts val="0"/>
              </a:spcAft>
              <a:buClrTx/>
              <a:buSzTx/>
              <a:buNone/>
            </a:pPr>
            <a:r>
              <a:rPr lang="zh-CN" sz="1800">
                <a:solidFill>
                  <a:schemeClr val="tx1"/>
                </a:solidFill>
              </a:rPr>
              <a:t>  </a:t>
            </a:r>
            <a:endParaRPr lang="zh-CN" sz="18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800">
                <a:solidFill>
                  <a:schemeClr val="tx1"/>
                </a:solidFill>
              </a:rPr>
              <a:t>当前 token 额外加可学习 bonus u</a:t>
            </a:r>
            <a:endParaRPr lang="zh-CN" sz="18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zh-CN" sz="18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800" b="1">
                <a:solidFill>
                  <a:schemeClr val="tx1"/>
                </a:solidFill>
              </a:rPr>
              <a:t>关键设计</a:t>
            </a:r>
            <a:endParaRPr lang="zh-CN" sz="18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800" b="1">
                <a:solidFill>
                  <a:schemeClr val="tx1"/>
                </a:solidFill>
              </a:rPr>
              <a:t>  </a:t>
            </a:r>
            <a:r>
              <a:rPr lang="zh-CN" sz="1800">
                <a:solidFill>
                  <a:schemeClr val="tx1"/>
                </a:solidFill>
              </a:rPr>
              <a:t>指数衰减 w → 可折叠为递推状态 (a_t, b_t)</a:t>
            </a:r>
            <a:endParaRPr lang="zh-CN" sz="18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800">
                <a:solidFill>
                  <a:schemeClr val="tx1"/>
                </a:solidFill>
              </a:rPr>
              <a:t>  sigmoid(r_t) 门控 → 控制"接受"多少历史信息</a:t>
            </a:r>
            <a:endParaRPr lang="zh-CN" sz="18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zh-CN" sz="18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800" b="1">
                <a:solidFill>
                  <a:schemeClr val="tx1"/>
                </a:solidFill>
              </a:rPr>
              <a:t>与 RetNet 对比</a:t>
            </a:r>
            <a:endParaRPr lang="zh-CN" sz="18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800" b="1">
                <a:solidFill>
                  <a:schemeClr val="tx1"/>
                </a:solidFill>
              </a:rPr>
              <a:t>  </a:t>
            </a:r>
            <a:r>
              <a:rPr lang="zh-CN" sz="1800">
                <a:solidFill>
                  <a:schemeClr val="tx1"/>
                </a:solidFill>
              </a:rPr>
              <a:t>RetNet: 矩阵衰减掩码 D  |  RWKV: 标量衰减 w 逐步累积</a:t>
            </a:r>
            <a:endParaRPr lang="zh-CN" sz="1800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880" y="1019810"/>
            <a:ext cx="4724400" cy="52959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60" y="2695575"/>
            <a:ext cx="4572000" cy="7429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9010" y="4952365"/>
            <a:ext cx="268605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/>
        </p:nvSpPr>
        <p:spPr>
          <a:xfrm>
            <a:off x="46355" y="-46990"/>
            <a:ext cx="1289050" cy="919480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10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51291" y="176912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>
                <a:solidFill>
                  <a:srgbClr val="2E3C63"/>
                </a:solidFill>
              </a:rPr>
              <a:t>通道混合块 + 整体架构</a:t>
            </a:r>
            <a:endParaRPr lang="en-US" altLang="zh-CN" sz="2400" b="1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95250" y="1120775"/>
            <a:ext cx="5053965" cy="5099685"/>
          </a:xfrm>
          <a:prstGeom prst="rect">
            <a:avLst/>
          </a:prstGeom>
        </p:spPr>
        <p:txBody>
          <a:bodyPr vert="horz" lIns="90000" tIns="46800" rIns="90000" bIns="46800" rtlCol="0">
            <a:normAutofit fontScale="9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800" b="1">
                <a:solidFill>
                  <a:schemeClr val="tx1"/>
                </a:solidFill>
              </a:rPr>
              <a:t>通道混合块 (Channel-Mixing)</a:t>
            </a:r>
            <a:endParaRPr lang="zh-CN" sz="18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800" b="1">
                <a:solidFill>
                  <a:schemeClr val="tx1"/>
                </a:solidFill>
              </a:rPr>
              <a:t>  </a:t>
            </a:r>
            <a:r>
              <a:rPr lang="zh-CN" sz="1800">
                <a:solidFill>
                  <a:schemeClr val="tx1"/>
                </a:solidFill>
              </a:rPr>
              <a:t>替代 Transformer 的 FFN 层</a:t>
            </a:r>
            <a:endParaRPr lang="zh-CN" sz="18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800">
                <a:solidFill>
                  <a:schemeClr val="tx1"/>
                </a:solidFill>
              </a:rPr>
              <a:t>  Token Shift → 投影 → Squared-ReLU → 门控输出</a:t>
            </a:r>
            <a:endParaRPr lang="zh-CN" sz="18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800">
                <a:solidFill>
                  <a:schemeClr val="tx1"/>
                </a:solidFill>
              </a:rPr>
              <a:t>  同样融合相邻时间步信息</a:t>
            </a:r>
            <a:endParaRPr lang="zh-CN" sz="18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zh-CN" sz="18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800" b="1">
                <a:solidFill>
                  <a:schemeClr val="tx1"/>
                </a:solidFill>
              </a:rPr>
              <a:t>整体架构（每层结构）</a:t>
            </a:r>
            <a:endParaRPr lang="zh-CN" sz="18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800" b="1">
                <a:solidFill>
                  <a:schemeClr val="tx1"/>
                </a:solidFill>
              </a:rPr>
              <a:t>  </a:t>
            </a:r>
            <a:r>
              <a:rPr lang="zh-CN" sz="1800">
                <a:solidFill>
                  <a:schemeClr val="tx1"/>
                </a:solidFill>
              </a:rPr>
              <a:t>Transformer:  Self-Attention + FFN</a:t>
            </a:r>
            <a:endParaRPr lang="zh-CN" sz="18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800">
                <a:solidFill>
                  <a:schemeClr val="tx1"/>
                </a:solidFill>
              </a:rPr>
              <a:t>  RWKV:  Time-Mixing + Channel-Mixing</a:t>
            </a:r>
            <a:endParaRPr lang="zh-CN" sz="18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endParaRPr lang="zh-CN" sz="18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800" b="1">
                <a:solidFill>
                  <a:schemeClr val="tx1"/>
                </a:solidFill>
              </a:rPr>
              <a:t>训练与推理的双重性</a:t>
            </a:r>
            <a:endParaRPr lang="zh-CN" sz="1800" b="1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800" b="1">
                <a:solidFill>
                  <a:schemeClr val="tx1"/>
                </a:solidFill>
              </a:rPr>
              <a:t>  </a:t>
            </a:r>
            <a:r>
              <a:rPr lang="zh-CN" sz="1800">
                <a:solidFill>
                  <a:schemeClr val="tx1"/>
                </a:solidFill>
              </a:rPr>
              <a:t>训练：WKV 展开为前缀和扫描（prefix-sum），GPU 并行</a:t>
            </a:r>
            <a:endParaRPr lang="zh-CN" sz="18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800">
                <a:solidFill>
                  <a:schemeClr val="tx1"/>
                </a:solidFill>
              </a:rPr>
              <a:t>  推理：折叠为两个向量的递推更新，O(1) 每步</a:t>
            </a:r>
            <a:endParaRPr lang="zh-CN" sz="180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  <a:buClrTx/>
              <a:buSzTx/>
            </a:pPr>
            <a:r>
              <a:rPr lang="zh-CN" sz="1800">
                <a:solidFill>
                  <a:schemeClr val="tx1"/>
                </a:solidFill>
              </a:rPr>
              <a:t>  数学上完全等价，输出相同</a:t>
            </a:r>
            <a:endParaRPr lang="zh-CN" sz="1800">
              <a:solidFill>
                <a:schemeClr val="tx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3115" y="923370"/>
            <a:ext cx="7080478" cy="521074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080" y="1466850"/>
            <a:ext cx="3171825" cy="5810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900" y="4055745"/>
            <a:ext cx="2466975" cy="17621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/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/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11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8236" y="220092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>
                <a:solidFill>
                  <a:srgbClr val="2E3C63"/>
                </a:solidFill>
              </a:rPr>
              <a:t>RWKV 版本演进  v4 → v7</a:t>
            </a:r>
            <a:endParaRPr lang="en-US" altLang="zh-CN" sz="2400" b="1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95155" y="1120763"/>
            <a:ext cx="4852093" cy="4425444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800" b="1"/>
              <a:t>v4 (2023) — 奠基</a:t>
            </a:r>
            <a:endParaRPr lang="zh-CN" sz="1800" b="1"/>
          </a:p>
          <a:p>
            <a:r>
              <a:rPr lang="zh-CN" sz="1400"/>
              <a:t>  标量状态，固定指数衰减，验证到 14B 参数</a:t>
            </a:r>
            <a:endParaRPr lang="zh-CN" sz="1400"/>
          </a:p>
          <a:p>
            <a:endParaRPr sz="1400"/>
          </a:p>
          <a:p>
            <a:r>
              <a:rPr lang="zh-CN" sz="1800" b="1"/>
              <a:t>v5 "Eagle" (2024) — 扩容</a:t>
            </a:r>
            <a:endParaRPr lang="zh-CN" sz="1800" b="1"/>
          </a:p>
          <a:p>
            <a:r>
              <a:rPr lang="zh-CN" sz="1400"/>
              <a:t>  多头矩阵状态，记忆容量大幅提升</a:t>
            </a:r>
            <a:endParaRPr lang="zh-CN" sz="1400"/>
          </a:p>
          <a:p>
            <a:endParaRPr sz="1400"/>
          </a:p>
          <a:p>
            <a:r>
              <a:rPr lang="zh-CN" sz="1800" b="1"/>
              <a:t>v6 "Finch" (2024) — 自适应</a:t>
            </a:r>
            <a:endParaRPr lang="zh-CN" sz="1800" b="1"/>
          </a:p>
          <a:p>
            <a:r>
              <a:rPr lang="zh-CN" sz="1400"/>
              <a:t>  数据自适应衰减（LoRA 模块动态生成 w）</a:t>
            </a:r>
            <a:endParaRPr lang="zh-CN" sz="1400"/>
          </a:p>
          <a:p>
            <a:r>
              <a:rPr lang="zh-CN" sz="1400"/>
              <a:t>  模型学会"何时遗忘" — 不再固定衰减</a:t>
            </a:r>
            <a:endParaRPr lang="zh-CN" sz="1400"/>
          </a:p>
          <a:p>
            <a:endParaRPr sz="1400"/>
          </a:p>
          <a:p>
            <a:r>
              <a:rPr lang="zh-CN" sz="1800" b="1"/>
              <a:t>v7 "Goose" (2025) — SOTA</a:t>
            </a:r>
            <a:endParaRPr lang="zh-CN" sz="1800" b="1"/>
          </a:p>
          <a:p>
            <a:r>
              <a:rPr lang="zh-CN" sz="1400"/>
              <a:t>  广义 delta 规则，向量门控，解耦键</a:t>
            </a:r>
            <a:endParaRPr lang="zh-CN" sz="1400"/>
          </a:p>
          <a:p>
            <a:r>
              <a:rPr lang="zh-CN" sz="1400"/>
              <a:t>  同规模超越 LLaMA 3.2</a:t>
            </a:r>
            <a:endParaRPr lang="zh-CN" sz="14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3115" y="923370"/>
            <a:ext cx="7080478" cy="521074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/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12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8236" y="241682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>
                <a:solidFill>
                  <a:srgbClr val="2E3C63"/>
                </a:solidFill>
              </a:rPr>
              <a:t>RetNet vs RWKV 对比总结</a:t>
            </a:r>
            <a:endParaRPr lang="en-US" altLang="zh-CN" sz="2400" b="1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95250" y="1120775"/>
            <a:ext cx="7361555" cy="4425315"/>
          </a:xfrm>
          <a:prstGeom prst="rect">
            <a:avLst/>
          </a:prstGeom>
        </p:spPr>
        <p:txBody>
          <a:bodyPr vert="horz" lIns="90000" tIns="46800" rIns="90000" bIns="46800" rtlCol="0">
            <a:normAutofit lnSpcReduction="2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500" b="1"/>
              <a:t>                 RetNet                   RWKV</a:t>
            </a:r>
            <a:endParaRPr lang="zh-CN" sz="1500" b="1"/>
          </a:p>
          <a:p>
            <a:r>
              <a:rPr lang="zh-CN" sz="1300"/>
              <a:t>提出者        Microsoft Research     Bo Peng / RWKV基金会</a:t>
            </a:r>
            <a:endParaRPr lang="zh-CN" sz="1300"/>
          </a:p>
          <a:p>
            <a:r>
              <a:rPr lang="zh-CN" sz="1300"/>
              <a:t>核心思路    衰减掩码替代Softmax    WKV线性注意力+门控</a:t>
            </a:r>
            <a:endParaRPr lang="zh-CN" sz="1300"/>
          </a:p>
          <a:p>
            <a:r>
              <a:rPr lang="zh-CN" sz="1300"/>
              <a:t>训练方式    矩阵并行                      前缀和扫描并行</a:t>
            </a:r>
            <a:endParaRPr lang="zh-CN" sz="1300"/>
          </a:p>
          <a:p>
            <a:r>
              <a:rPr lang="zh-CN" sz="1300"/>
              <a:t>推理方式    固定状态矩阵递推        固定状态向量递推</a:t>
            </a:r>
            <a:endParaRPr lang="zh-CN" sz="1300"/>
          </a:p>
          <a:p>
            <a:r>
              <a:rPr lang="zh-CN" sz="1300"/>
              <a:t>衰减机制    固定多尺度γ                v6起数据自适应</a:t>
            </a:r>
            <a:endParaRPr lang="zh-CN" sz="1300"/>
          </a:p>
          <a:p>
            <a:r>
              <a:rPr lang="zh-CN" sz="1300"/>
              <a:t>迭代速度    单版本                          快速迭代 v4→v7</a:t>
            </a:r>
            <a:endParaRPr lang="zh-CN" sz="1300"/>
          </a:p>
          <a:p>
            <a:r>
              <a:rPr lang="zh-CN" sz="1300"/>
              <a:t>开源程度    代码开源                      完全开源+基金会</a:t>
            </a:r>
            <a:endParaRPr lang="zh-CN" sz="1300"/>
          </a:p>
          <a:p>
            <a:endParaRPr sz="1300"/>
          </a:p>
          <a:p>
            <a:r>
              <a:rPr lang="zh-CN" sz="1800" b="1"/>
              <a:t>共同点</a:t>
            </a:r>
            <a:endParaRPr lang="zh-CN" sz="1800" b="1"/>
          </a:p>
          <a:p>
            <a:r>
              <a:rPr lang="zh-CN" sz="1400"/>
              <a:t>  训练并行 | 推理O(1) | 无KV-cache | 指数衰减实现并行/递归等价</a:t>
            </a:r>
            <a:endParaRPr lang="zh-CN" sz="14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3115" y="923370"/>
            <a:ext cx="7080478" cy="521074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剪影蓝 低版本"/>
          <p:cNvPicPr>
            <a:picLocks noChangeAspect="1"/>
          </p:cNvPicPr>
          <p:nvPr/>
        </p:nvPicPr>
        <p:blipFill>
          <a:blip r:embed="rId1"/>
          <a:srcRect l="-8"/>
          <a:stretch>
            <a:fillRect/>
          </a:stretch>
        </p:blipFill>
        <p:spPr>
          <a:xfrm>
            <a:off x="1353" y="5378386"/>
            <a:ext cx="12190495" cy="243809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/>
        </p:nvSpPr>
        <p:spPr>
          <a:xfrm>
            <a:off x="1353" y="600"/>
            <a:ext cx="12190495" cy="840002"/>
          </a:xfrm>
          <a:prstGeom prst="rect">
            <a:avLst/>
          </a:prstGeom>
          <a:gradFill>
            <a:gsLst>
              <a:gs pos="0">
                <a:schemeClr val="bg1"/>
              </a:gs>
              <a:gs pos="50000">
                <a:srgbClr val="5399D4"/>
              </a:gs>
              <a:gs pos="100000">
                <a:srgbClr val="2E3C63"/>
              </a:gs>
            </a:gsLst>
          </a:gradFill>
          <a:effectLst/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pic>
        <p:nvPicPr>
          <p:cNvPr id="2" name="图片 1" descr="国科大标准Logo横式一（白色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5971" y="187901"/>
            <a:ext cx="2167622" cy="457144"/>
          </a:xfrm>
          <a:prstGeom prst="rect">
            <a:avLst/>
          </a:prstGeom>
        </p:spPr>
      </p:pic>
      <p:sp>
        <p:nvSpPr>
          <p:cNvPr id="3078" name="文本框 3"/>
          <p:cNvSpPr txBox="1"/>
          <p:nvPr/>
        </p:nvSpPr>
        <p:spPr>
          <a:xfrm>
            <a:off x="46644" y="-47231"/>
            <a:ext cx="850795" cy="919366"/>
          </a:xfrm>
          <a:prstGeom prst="rect">
            <a:avLst/>
          </a:prstGeom>
          <a:noFill/>
          <a:ln w="12700" cmpd="sng">
            <a:noFill/>
            <a:prstDash val="solid"/>
          </a:ln>
          <a:effectLst>
            <a:outerShdw dist="63500" dir="2700000" algn="tl" rotWithShape="0">
              <a:schemeClr val="bg1">
                <a:alpha val="100000"/>
              </a:schemeClr>
            </a:outerShdw>
          </a:effectLst>
        </p:spPr>
        <p:txBody>
          <a:bodyPr wrap="square" anchor="t" anchorCtr="0"/>
          <a:lstStyle/>
          <a:p>
            <a:pPr>
              <a:lnSpc>
                <a:spcPct val="130000"/>
              </a:lnSpc>
            </a:pPr>
            <a:r>
              <a:rPr lang="en-US" altLang="zh-CN" sz="4000" i="1">
                <a:ln w="19050">
                  <a:noFill/>
                </a:ln>
                <a:gradFill>
                  <a:gsLst>
                    <a:gs pos="39000">
                      <a:srgbClr val="5399D4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Bauhaus 93" panose="04030905020B02020C02" charset="0"/>
                <a:ea typeface="造字工房朗倩（非商用）常规体" charset="-122"/>
                <a:cs typeface="Bauhaus 93" panose="04030905020B02020C02" charset="0"/>
              </a:rPr>
              <a:t>13</a:t>
            </a:r>
            <a:endParaRPr lang="en-US" altLang="zh-CN" sz="4000" i="1">
              <a:ln w="19050">
                <a:noFill/>
              </a:ln>
              <a:gradFill>
                <a:gsLst>
                  <a:gs pos="39000">
                    <a:srgbClr val="5399D4"/>
                  </a:gs>
                  <a:gs pos="100000">
                    <a:schemeClr val="bg1"/>
                  </a:gs>
                </a:gsLst>
                <a:lin ang="5400000" scaled="0"/>
              </a:gradFill>
              <a:latin typeface="Bauhaus 93" panose="04030905020B02020C02" charset="0"/>
              <a:ea typeface="造字工房朗倩（非商用）常规体" charset="-122"/>
              <a:cs typeface="Bauhaus 93" panose="04030905020B02020C02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8236" y="252477"/>
            <a:ext cx="8441283" cy="5377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>
                <a:solidFill>
                  <a:srgbClr val="2E3C63"/>
                </a:solidFill>
              </a:rPr>
              <a:t>未来展望与结语</a:t>
            </a:r>
            <a:endParaRPr lang="en-US" altLang="zh-CN" sz="2400" b="1" dirty="0">
              <a:solidFill>
                <a:srgbClr val="2E3C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en-US" altLang="zh-CN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264160" y="1313815"/>
            <a:ext cx="7665720" cy="5194935"/>
          </a:xfrm>
          <a:prstGeom prst="rect">
            <a:avLst/>
          </a:prstGeom>
        </p:spPr>
        <p:txBody>
          <a:bodyPr vert="horz" lIns="90000" tIns="46800" rIns="90000" bIns="46800" rtlCol="0">
            <a:normAutofit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"/>
              </a:spcAft>
            </a:pPr>
            <a:r>
              <a:rPr lang="zh-CN" sz="1800" b="1"/>
              <a:t>规模验证</a:t>
            </a:r>
            <a:endParaRPr lang="zh-CN" sz="1800" b="1"/>
          </a:p>
          <a:p>
            <a:pPr>
              <a:spcAft>
                <a:spcPts val="100"/>
              </a:spcAft>
            </a:pPr>
            <a:r>
              <a:rPr lang="zh-CN" sz="1500"/>
              <a:t>  能否在 100B+ 参数规模上持续保持优势？</a:t>
            </a:r>
            <a:endParaRPr sz="1500"/>
          </a:p>
          <a:p>
            <a:pPr>
              <a:spcAft>
                <a:spcPts val="100"/>
              </a:spcAft>
            </a:pPr>
            <a:r>
              <a:rPr lang="zh-CN" sz="1800" b="1"/>
              <a:t>与 Mamba 的竞争</a:t>
            </a:r>
            <a:endParaRPr lang="zh-CN" sz="1800" b="1"/>
          </a:p>
          <a:p>
            <a:pPr>
              <a:spcAft>
                <a:spcPts val="100"/>
              </a:spcAft>
            </a:pPr>
            <a:r>
              <a:rPr lang="zh-CN" sz="1500"/>
              <a:t>  状态空间模型（SSM）是另一条路线</a:t>
            </a:r>
            <a:endParaRPr lang="zh-CN" sz="1500"/>
          </a:p>
          <a:p>
            <a:pPr>
              <a:spcAft>
                <a:spcPts val="100"/>
              </a:spcAft>
            </a:pPr>
            <a:r>
              <a:rPr lang="zh-CN" sz="1500"/>
              <a:t>  思路有相似也有不同 — 接下来同学将详细介绍</a:t>
            </a:r>
            <a:endParaRPr sz="1500"/>
          </a:p>
          <a:p>
            <a:pPr>
              <a:spcAft>
                <a:spcPts val="100"/>
              </a:spcAft>
            </a:pPr>
            <a:r>
              <a:rPr lang="zh-CN" sz="1800" b="1"/>
              <a:t>混合架构趋势</a:t>
            </a:r>
            <a:endParaRPr lang="zh-CN" sz="1800" b="1"/>
          </a:p>
          <a:p>
            <a:pPr>
              <a:spcAft>
                <a:spcPts val="100"/>
              </a:spcAft>
            </a:pPr>
            <a:r>
              <a:rPr lang="zh-CN" sz="1500"/>
              <a:t>  未来可能不是单一架构胜出</a:t>
            </a:r>
            <a:endParaRPr lang="zh-CN" sz="1500"/>
          </a:p>
          <a:p>
            <a:pPr>
              <a:spcAft>
                <a:spcPts val="100"/>
              </a:spcAft>
            </a:pPr>
            <a:r>
              <a:rPr lang="zh-CN" sz="1500"/>
              <a:t>  Attention + 线性递归的混合体（如 Jamba = Mamba + Attention）</a:t>
            </a:r>
            <a:endParaRPr lang="zh-CN" sz="1500"/>
          </a:p>
          <a:p>
            <a:pPr>
              <a:spcAft>
                <a:spcPts val="100"/>
              </a:spcAft>
            </a:pPr>
            <a:endParaRPr sz="1500"/>
          </a:p>
          <a:p>
            <a:pPr>
              <a:spcAft>
                <a:spcPts val="100"/>
              </a:spcAft>
            </a:pPr>
            <a:endParaRPr sz="1500"/>
          </a:p>
          <a:p>
            <a:pPr>
              <a:spcAft>
                <a:spcPts val="100"/>
              </a:spcAft>
            </a:pPr>
            <a:r>
              <a:rPr lang="zh-CN" sz="1800" b="1"/>
              <a:t>Transformer 未必是终局，高效序列建模的竞赛才刚刚开始</a:t>
            </a:r>
            <a:endParaRPr lang="zh-CN" sz="1800" b="1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3115" y="923370"/>
            <a:ext cx="7080478" cy="521074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COMMONDATA" val="eyJoZGlkIjoiMDI3MjYyZDJmMWViZTNlM2MyYWM2NDVjMTMxYjI5ZWQifQ=="/>
</p:tagLst>
</file>

<file path=ppt/theme/theme1.xml><?xml version="1.0" encoding="utf-8"?>
<a:theme xmlns:a="http://schemas.openxmlformats.org/drawingml/2006/main" name="1_2023国科大融媒体编辑部出品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3178</Words>
  <Application>WPS 演示</Application>
  <PresentationFormat>宽屏</PresentationFormat>
  <Paragraphs>281</Paragraphs>
  <Slides>16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Wingdings</vt:lpstr>
      <vt:lpstr>Times New Roman</vt:lpstr>
      <vt:lpstr>Bauhaus 93</vt:lpstr>
      <vt:lpstr>造字工房朗倩（非商用）常规体</vt:lpstr>
      <vt:lpstr>Arial Unicode MS</vt:lpstr>
      <vt:lpstr>Calibri</vt:lpstr>
      <vt:lpstr>1_2023国科大融媒体编辑部出品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极简风蓝色学术模板 Minimalism Blue Academic Template</dc:title>
  <dc:creator/>
  <cp:lastModifiedBy>王文杰(2022010631)</cp:lastModifiedBy>
  <cp:revision>271</cp:revision>
  <dcterms:created xsi:type="dcterms:W3CDTF">2024-08-08T00:41:00Z</dcterms:created>
  <dcterms:modified xsi:type="dcterms:W3CDTF">2026-04-16T04:10:46Z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5D20D06DD8084BF68BDD22D0B051A992_13</vt:lpwstr>
  </property>
</Properties>
</file>