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5" r:id="rId9"/>
    <p:sldId id="263" r:id="rId10"/>
    <p:sldId id="277" r:id="rId11"/>
    <p:sldId id="276" r:id="rId12"/>
    <p:sldId id="27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4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F669-655D-447C-B1EB-C61B18CF7DDF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EFDB2-50B0-449E-951E-50CCA8FCBB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74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EFDB2-50B0-449E-951E-50CCA8FCBB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064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EFDB2-50B0-449E-951E-50CCA8FCBB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74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64D1F-DE9D-26F7-CF29-8D7D9D68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C3EA65-3643-AA25-758C-963323C9D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F65732-AEAA-B670-157B-EE74478B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28CE0-5E60-97A0-9B58-795C7B82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487E8-93C9-3375-9824-11B32683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89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9544B-5764-20F1-6584-454EEE47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244E0-CFFC-7ACE-9D7D-AD6C953D7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AE5C60-A75F-A1A0-4C91-0EB09257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18B0B-37CE-25A9-79B0-12285C90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C3D4F-DFA7-E163-4A96-3283D901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1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DFB37-1E69-6143-3A08-54A6A5B7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BFBD0E-39B2-859B-5147-4EE705DEF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A579CF-E163-D03B-633A-4A572B20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EAD06-BE3D-09E0-D655-3AF9C3D7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9E3EA-A930-5FCB-2975-AFD33291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63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E2EC6-634F-9FA9-E3A8-FD5F53CA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9CCCD-191A-BDB2-5F78-EA7540F46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94507-D261-4BF8-BE08-792A6C4A9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A5A91D-3E27-9834-4D50-AF9DE758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002D6D-75A9-9A29-902C-F4DF7D7A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5740F5-3923-85E7-97B1-13F13222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95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E55516-8680-B374-39E9-268D6CE7F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70DF74-A9F5-C828-0CBD-15B5FFBE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9C2351-F496-EEA7-CE04-443091CB8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96C079-BC6B-6358-9EB2-BBC0E5FC9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06FE79-3B9B-840C-2EBE-BAD9D3C89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CC98B3-C0ED-7014-264C-3F810542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131C63-13CE-2249-CD9A-AE562245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B55A52-BB26-8623-D401-F92ED307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8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9328B-24E2-D83E-5BC2-3A925189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C1467D-890C-A04E-23EA-8D85D58E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C02130-714B-DAB5-46E4-34DCF37B0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389922-2198-C859-C0F6-EDC22EE7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8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EBB2D7-D8BA-B40F-1011-802FE4C5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C6A7EE-FDEC-1F5A-B5FD-74D4867C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269A4-25F8-8415-E289-AF6CE700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940C9-CD40-D591-6977-304A4E29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AEF3AB-366C-C2E1-D1F7-F26BC536F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4A82DB-62D3-454B-EAA0-1CD3CFE92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FE124-0538-96CA-A96A-E5527292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70D0AD-D0EC-1CF6-3EC7-AB44727B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784BF1-F680-AC0A-35DF-057BA03D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3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B294F-521A-94B8-804B-535F8CFA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E3C224-0C99-364E-C74D-88DA2A7EF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829F3B-B9D0-88DC-A302-43C2F1EB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025CC4-6371-DBA9-2645-A83F13B9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D0ED70-A3AC-FD37-F7D3-84197B89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B4F4C1-6B8E-5C33-A07B-F70F38F9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2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3FEF2-97DD-F85E-87E2-302BA73E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FC26F8-F41D-AEAF-6D42-F4CBEDEB9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83E98-9A0F-6CBA-C52B-28471295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9C8AA-262C-91F8-0A5A-44B8592F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3E8B03-1F3A-09E8-B0E3-6D5F2805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11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04C1EB-02D6-5E50-63DF-3FE1FFAA4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8E6CC7-62E5-F2F3-3FF0-20B964BB4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9D434-16C5-9610-F655-8EAE4BD4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4AB65-72DA-E06A-5E02-201599FC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7F38B-79DF-2C3C-6727-A8FED8E0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1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E43809-EABD-5F63-8EDB-1D946A808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96D3F-3D06-1F72-5EEA-C1B391CF4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B18DF8-C51D-52B7-9397-EDF418629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80072-DEF9-45F2-A8A7-6D6D31166E22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D1466-0F02-B313-B437-7C1BEDE47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30E4B-384A-CA2D-E537-013465951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79358-5A3E-42F7-99B8-861DCFF21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46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1CAF2-25C1-D129-8E56-CD3DF7FE7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5291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Deep Neural Networks &amp; Regularization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F8780B-BBA5-3879-A4D5-5AFA99192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zh-CN" altLang="en-US" dirty="0">
                <a:latin typeface="+mn-ea"/>
                <a:cs typeface="+mn-ea"/>
              </a:rPr>
              <a:t>高炳州</a:t>
            </a:r>
            <a:r>
              <a:rPr lang="en-US" altLang="zh-CN" dirty="0">
                <a:latin typeface="+mn-ea"/>
                <a:cs typeface="+mn-ea"/>
              </a:rPr>
              <a:t>&amp;</a:t>
            </a:r>
            <a:r>
              <a:rPr lang="zh-CN" altLang="en-US" dirty="0"/>
              <a:t>李双元</a:t>
            </a:r>
          </a:p>
        </p:txBody>
      </p:sp>
    </p:spTree>
    <p:extLst>
      <p:ext uri="{BB962C8B-B14F-4D97-AF65-F5344CB8AC3E}">
        <p14:creationId xmlns:p14="http://schemas.microsoft.com/office/powerpoint/2010/main" val="128672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03283-9FAF-7A75-2E34-9AB94656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851"/>
            <a:ext cx="10515600" cy="4692111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Batch normalization</a:t>
            </a:r>
            <a:r>
              <a:rPr lang="zh-CN" altLang="en-US" sz="3200" b="1" dirty="0"/>
              <a:t>（批量归一化）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sz="3200" b="1" dirty="0"/>
              <a:t>Early stopping</a:t>
            </a:r>
            <a:r>
              <a:rPr lang="zh-CN" altLang="en-US" sz="3200" b="1" dirty="0"/>
              <a:t>（早停机制）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sz="3200" b="1" dirty="0"/>
              <a:t>Residual Connections</a:t>
            </a:r>
            <a:r>
              <a:rPr lang="zh-CN" altLang="en-US" sz="3200" b="1" dirty="0"/>
              <a:t>（残差链接）</a:t>
            </a:r>
          </a:p>
        </p:txBody>
      </p:sp>
    </p:spTree>
    <p:extLst>
      <p:ext uri="{BB962C8B-B14F-4D97-AF65-F5344CB8AC3E}">
        <p14:creationId xmlns:p14="http://schemas.microsoft.com/office/powerpoint/2010/main" val="238492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A8FE4-A2F2-AC3B-DCB2-0257F37F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79" y="233150"/>
            <a:ext cx="10515600" cy="860360"/>
          </a:xfrm>
        </p:spPr>
        <p:txBody>
          <a:bodyPr/>
          <a:lstStyle/>
          <a:p>
            <a:r>
              <a:rPr lang="en-US" altLang="zh-CN" sz="3600" b="1" dirty="0"/>
              <a:t>Batch normalization</a:t>
            </a:r>
            <a:r>
              <a:rPr lang="zh-CN" altLang="en-US" sz="3600" b="1" dirty="0"/>
              <a:t>（批量归一化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E53227-D030-FD16-63BC-AC905CBB3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14549"/>
            <a:ext cx="5854831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zh-CN" altLang="zh-CN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D61BE3-6C7E-F290-1A76-055B205A1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245" y="67095"/>
            <a:ext cx="3041715" cy="672380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34DC4BF-01B1-E40C-153B-2EEC8374694C}"/>
              </a:ext>
            </a:extLst>
          </p:cNvPr>
          <p:cNvSpPr txBox="1"/>
          <p:nvPr/>
        </p:nvSpPr>
        <p:spPr>
          <a:xfrm>
            <a:off x="338579" y="1495383"/>
            <a:ext cx="803296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u="sng" dirty="0"/>
              <a:t>批量归一化（</a:t>
            </a:r>
            <a:r>
              <a:rPr lang="en-US" altLang="zh-CN" u="sng" dirty="0"/>
              <a:t>Batch Normalization</a:t>
            </a:r>
            <a:r>
              <a:rPr lang="zh-CN" altLang="zh-CN" u="sng" dirty="0"/>
              <a:t>）是一种用于深度学习的技术，旨在提高神</a:t>
            </a:r>
            <a:endParaRPr lang="en-US" altLang="zh-CN" u="sng" dirty="0"/>
          </a:p>
          <a:p>
            <a:r>
              <a:rPr lang="zh-CN" altLang="zh-CN" u="sng" dirty="0"/>
              <a:t>经网络的训练效率和稳定性。它通过规范化每一批数据的均值和方差，来加速</a:t>
            </a:r>
            <a:endParaRPr lang="en-US" altLang="zh-CN" u="sng" dirty="0"/>
          </a:p>
          <a:p>
            <a:r>
              <a:rPr lang="zh-CN" altLang="zh-CN" u="sng" dirty="0"/>
              <a:t>模型的收敛速度，并缓解梯度消失或爆炸的问题</a:t>
            </a:r>
            <a:r>
              <a:rPr lang="zh-CN" altLang="en-US" u="sng" dirty="0"/>
              <a:t>。</a:t>
            </a:r>
            <a:endParaRPr lang="en-US" altLang="zh-CN" sz="2400" u="sng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损失出现在最后，后面的层训练较快。</a:t>
            </a:r>
            <a:endParaRPr lang="en-US" altLang="zh-CN" sz="2400" dirty="0"/>
          </a:p>
          <a:p>
            <a:r>
              <a:rPr lang="zh-CN" altLang="en-US" sz="2400" dirty="0"/>
              <a:t>数据在最底部：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底部的层训练较慢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底部层一变化，所有都要跟着变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后层多次重新学习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收敛变慢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解决方向：能否在学习底部层的时候避免变化顶部层？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9597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18864-D055-1FBD-62BA-5335B2F4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1030"/>
            <a:ext cx="10515600" cy="55359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固定小批量里的均值和方差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再做额外调整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2C92C6-2295-9714-7565-CF2ECBC58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912" y="1219344"/>
            <a:ext cx="7322597" cy="1165637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B7B1D171-9846-0434-B64A-5DC75FC5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390" y="3963966"/>
            <a:ext cx="4802170" cy="176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5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DF7301-6DD1-E420-B475-EA0DD0728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1596"/>
            <a:ext cx="8179965" cy="55453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/>
              <a:t>批量归一化固定小批量中的均值和方差，然后学习出适合的偏移和缩放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可以加速收敛，一般不改变模型精度</a:t>
            </a: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zh-CN" b="1" dirty="0"/>
              <a:t>优势：</a:t>
            </a:r>
            <a:endParaRPr lang="zh-CN" altLang="zh-CN" dirty="0"/>
          </a:p>
          <a:p>
            <a:pPr lvl="0"/>
            <a:r>
              <a:rPr lang="zh-CN" altLang="zh-CN" b="1" dirty="0"/>
              <a:t>更快的训练收敛</a:t>
            </a:r>
            <a:r>
              <a:rPr lang="en-US" altLang="zh-CN" dirty="0"/>
              <a:t> </a:t>
            </a:r>
            <a:endParaRPr lang="zh-CN" altLang="zh-CN" dirty="0"/>
          </a:p>
          <a:p>
            <a:pPr lvl="0"/>
            <a:r>
              <a:rPr lang="zh-CN" altLang="zh-CN" b="1" dirty="0"/>
              <a:t>缓解梯度消失</a:t>
            </a:r>
            <a:r>
              <a:rPr lang="en-US" altLang="zh-CN" b="1" dirty="0"/>
              <a:t>/</a:t>
            </a:r>
            <a:r>
              <a:rPr lang="zh-CN" altLang="zh-CN" b="1" dirty="0"/>
              <a:t>爆炸问题</a:t>
            </a:r>
            <a:endParaRPr lang="en-US" altLang="zh-CN" b="1" dirty="0"/>
          </a:p>
          <a:p>
            <a:pPr marL="0" lvl="0" indent="0">
              <a:buNone/>
            </a:pPr>
            <a:r>
              <a:rPr lang="zh-CN" altLang="zh-CN" b="1" dirty="0"/>
              <a:t>局限性：</a:t>
            </a:r>
            <a:endParaRPr lang="zh-CN" altLang="zh-CN" dirty="0"/>
          </a:p>
          <a:p>
            <a:r>
              <a:rPr lang="zh-CN" altLang="zh-CN" b="1" dirty="0"/>
              <a:t>对小批量大小的依赖</a:t>
            </a:r>
            <a:r>
              <a:rPr lang="en-US" altLang="zh-CN" dirty="0"/>
              <a:t> 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3CE5B91E-5C5E-794B-3172-9A5707AF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367" y="1166070"/>
            <a:ext cx="4017174" cy="194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0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406FC-7656-E57B-DF96-33C15DEB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" y="13862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Early stopping</a:t>
            </a:r>
            <a:r>
              <a:rPr lang="zh-CN" altLang="en-US" sz="3600" b="1" dirty="0"/>
              <a:t>（早停机制）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08EFB-1784-32BB-8EEA-474676AE8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28" y="15403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正则化</a:t>
            </a:r>
            <a:r>
              <a:rPr lang="zh-CN" altLang="en-US" sz="2400" dirty="0"/>
              <a:t>（</a:t>
            </a:r>
            <a:r>
              <a:rPr lang="en-US" altLang="zh-CN" sz="2400" dirty="0"/>
              <a:t>Regularization</a:t>
            </a:r>
            <a:r>
              <a:rPr lang="zh-CN" altLang="en-US" sz="2400" dirty="0"/>
              <a:t>）：</a:t>
            </a:r>
            <a:r>
              <a:rPr lang="zh-CN" altLang="en-US" sz="1800" dirty="0"/>
              <a:t>是一种在机器学习和统计建模中用于控制模型复杂度的技术，旨在防止模型在训练数据上过度拟合。当模型过度拟合时，它会学习到训练数据中的噪声和细微变化，导致在新数据上的性能下降。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3C5D34-7585-AC00-987E-D93BBACAF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188" y="2872574"/>
            <a:ext cx="8548280" cy="252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2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3F6F7-4205-00F4-2330-7940A156C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51" y="22251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Early stopping</a:t>
            </a:r>
            <a:r>
              <a:rPr lang="zh-CN" altLang="en-US" sz="3600" b="1" dirty="0"/>
              <a:t>（早停机制）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ECF402-E687-AE2E-4078-DD174D161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51" y="183401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b="1" dirty="0"/>
              <a:t>提前停止</a:t>
            </a:r>
            <a:r>
              <a:rPr lang="zh-CN" altLang="en-US" sz="1600" dirty="0"/>
              <a:t>是最简单有效的正则化技术之一。其核心思想是监控模型在独立验证集上的性能，并在性能停止改善时终止训练过程。</a:t>
            </a: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endParaRPr lang="en-US" altLang="zh-CN" sz="1600" b="1" dirty="0"/>
          </a:p>
          <a:p>
            <a:pPr marL="0" indent="0">
              <a:buNone/>
            </a:pPr>
            <a:r>
              <a:rPr lang="zh-CN" altLang="en-US" sz="1600" b="1" dirty="0"/>
              <a:t>实现方法：</a:t>
            </a:r>
            <a:endParaRPr lang="zh-CN" altLang="en-US" sz="1600" dirty="0"/>
          </a:p>
          <a:p>
            <a:r>
              <a:rPr lang="zh-CN" altLang="en-US" sz="1600" dirty="0"/>
              <a:t>将数据分为训练集、验证集和测试集。</a:t>
            </a:r>
          </a:p>
          <a:p>
            <a:r>
              <a:rPr lang="zh-CN" altLang="en-US" sz="1600" dirty="0"/>
              <a:t>在训练集上训练模型，定期在验证集上评估性能（例如每过一定周期或批次）。</a:t>
            </a:r>
          </a:p>
          <a:p>
            <a:r>
              <a:rPr lang="zh-CN" altLang="en-US" sz="1600" dirty="0"/>
              <a:t>当验证误差在连续若干次评估中（耐心参数）不再下降甚至开始上升时，停止训练。</a:t>
            </a:r>
          </a:p>
          <a:p>
            <a:r>
              <a:rPr lang="zh-CN" altLang="en-US" sz="1600" dirty="0"/>
              <a:t>将模型参数回滚到验证误差最低时的状态。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内容占位符 3" descr="图示&#10;&#10;AI 生成的内容可能不正确。">
            <a:extLst>
              <a:ext uri="{FF2B5EF4-FFF2-40B4-BE49-F238E27FC236}">
                <a16:creationId xmlns:a16="http://schemas.microsoft.com/office/drawing/2014/main" id="{CD62D0A8-444C-09B1-AE75-55EA73F2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846" y="2194740"/>
            <a:ext cx="4290538" cy="28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9B375-C7B3-7D7E-A4BA-31302323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07" y="25606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Residual Connections</a:t>
            </a:r>
            <a:r>
              <a:rPr lang="zh-CN" altLang="en-US" sz="3600" b="1" dirty="0"/>
              <a:t>（残差链接）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970DE7-7D7E-1BA7-22E0-264FDBD0D8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38" y="1291488"/>
            <a:ext cx="1116684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定义：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残差连接是神经网络中的一种设计，通过在层间添加捷径连接，使网络能够学习输入与理想输出之间的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残差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其主要作用是缓解深层网络中的梯度消失问题，稳定训练并防止网络特征退化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66AFFE4E-390A-A7A3-EAFC-7D148B96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60" y="2617051"/>
            <a:ext cx="5755546" cy="370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7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722A5F-952C-0F8B-88CE-A69225B68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7" y="461394"/>
            <a:ext cx="10515600" cy="5489066"/>
          </a:xfrm>
        </p:spPr>
        <p:txBody>
          <a:bodyPr/>
          <a:lstStyle/>
          <a:p>
            <a:r>
              <a:rPr lang="zh-CN" altLang="en-US" dirty="0"/>
              <a:t>梯度消失：随着网络层数的加深，模型的梯度逐渐减小到</a:t>
            </a:r>
            <a:r>
              <a:rPr lang="en-US" altLang="zh-CN" dirty="0"/>
              <a:t>0</a:t>
            </a:r>
            <a:r>
              <a:rPr lang="zh-CN" altLang="en-US" dirty="0"/>
              <a:t>，导致权重无法更新，模型训练效果较差。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训练时模型通过</a:t>
            </a:r>
            <a:r>
              <a:rPr lang="en-US" altLang="zh-CN" sz="1800" dirty="0"/>
              <a:t>"</a:t>
            </a:r>
            <a:r>
              <a:rPr lang="zh-CN" altLang="en-US" sz="1800" dirty="0"/>
              <a:t>梯度</a:t>
            </a:r>
            <a:r>
              <a:rPr lang="en-US" altLang="zh-CN" sz="1800" dirty="0"/>
              <a:t>"</a:t>
            </a:r>
            <a:r>
              <a:rPr lang="zh-CN" altLang="en-US" sz="1800" dirty="0"/>
              <a:t>调整参数，梯度从深层反向传播到浅层。如果没有残差连接，梯度经过多层后会变得越来越小</a:t>
            </a:r>
            <a:r>
              <a:rPr lang="en-US" altLang="zh-CN" sz="1800" dirty="0"/>
              <a:t>(</a:t>
            </a:r>
            <a:r>
              <a:rPr lang="zh-CN" altLang="en-US" sz="1800" dirty="0"/>
              <a:t>梯度消失</a:t>
            </a:r>
            <a:r>
              <a:rPr lang="en-US" altLang="zh-CN" sz="1800" dirty="0"/>
              <a:t>)</a:t>
            </a:r>
            <a:r>
              <a:rPr lang="zh-CN" altLang="en-US" sz="1800" dirty="0"/>
              <a:t>，导致浅层参数几乎无法更新。</a:t>
            </a:r>
            <a:endParaRPr lang="en-US" altLang="zh-CN" sz="1800" dirty="0"/>
          </a:p>
        </p:txBody>
      </p:sp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789DE647-7C82-546F-8B76-608CDC45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83" y="1560677"/>
            <a:ext cx="9411237" cy="312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8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28B23-CA0F-B8A5-5B8B-4B8924452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839"/>
            <a:ext cx="10515600" cy="57491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为什么能缓解梯度消失</a:t>
            </a:r>
            <a:r>
              <a:rPr lang="en-US" altLang="zh-CN" dirty="0"/>
              <a:t>?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50EB7BD2-CCF1-59A3-95EB-57554AFA0C71}"/>
              </a:ext>
            </a:extLst>
          </p:cNvPr>
          <p:cNvPicPr>
            <a:picLocks/>
          </p:cNvPicPr>
          <p:nvPr/>
        </p:nvPicPr>
        <p:blipFill>
          <a:blip r:embed="rId2"/>
          <a:srcRect l="14346" r="12414"/>
          <a:stretch>
            <a:fillRect/>
          </a:stretch>
        </p:blipFill>
        <p:spPr>
          <a:xfrm>
            <a:off x="696686" y="973235"/>
            <a:ext cx="7602583" cy="3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6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99301-18EA-40CA-6CB8-8CA6500A7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85" y="458219"/>
            <a:ext cx="10515600" cy="6311698"/>
          </a:xfrm>
        </p:spPr>
        <p:txBody>
          <a:bodyPr>
            <a:normAutofit/>
          </a:bodyPr>
          <a:lstStyle/>
          <a:p>
            <a:r>
              <a:rPr lang="zh-CN" altLang="en-US" dirty="0"/>
              <a:t>网络退化：随着层数的加深模型的训练效果没有提升，甚至开始下降。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A35A5C-F557-4D93-D156-280267DC2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85" y="1490438"/>
            <a:ext cx="10970431" cy="466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08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047D19-6940-9035-D559-D807792EE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28" y="777322"/>
            <a:ext cx="11291344" cy="5303355"/>
          </a:xfrm>
        </p:spPr>
      </p:pic>
    </p:spTree>
    <p:extLst>
      <p:ext uri="{BB962C8B-B14F-4D97-AF65-F5344CB8AC3E}">
        <p14:creationId xmlns:p14="http://schemas.microsoft.com/office/powerpoint/2010/main" val="3778685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546</Words>
  <Application>Microsoft Office PowerPoint</Application>
  <PresentationFormat>宽屏</PresentationFormat>
  <Paragraphs>100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Deep Neural Networks &amp; Regularization</vt:lpstr>
      <vt:lpstr>PowerPoint 演示文稿</vt:lpstr>
      <vt:lpstr>Batch normalization（批量归一化）</vt:lpstr>
      <vt:lpstr>PowerPoint 演示文稿</vt:lpstr>
      <vt:lpstr>PowerPoint 演示文稿</vt:lpstr>
      <vt:lpstr>Early stopping（早停机制）</vt:lpstr>
      <vt:lpstr>Early stopping（早停机制）</vt:lpstr>
      <vt:lpstr>Residual Connections（残差链接）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li</dc:creator>
  <cp:lastModifiedBy>sy li</cp:lastModifiedBy>
  <cp:revision>4</cp:revision>
  <dcterms:created xsi:type="dcterms:W3CDTF">2026-01-06T08:11:10Z</dcterms:created>
  <dcterms:modified xsi:type="dcterms:W3CDTF">2026-01-08T08:10:17Z</dcterms:modified>
</cp:coreProperties>
</file>