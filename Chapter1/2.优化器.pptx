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18"/>
  </p:handoutMasterIdLst>
  <p:sldIdLst>
    <p:sldId id="291" r:id="rId5"/>
    <p:sldId id="272" r:id="rId7"/>
    <p:sldId id="281" r:id="rId8"/>
    <p:sldId id="282" r:id="rId9"/>
    <p:sldId id="276" r:id="rId10"/>
    <p:sldId id="277" r:id="rId11"/>
    <p:sldId id="283" r:id="rId12"/>
    <p:sldId id="284" r:id="rId13"/>
    <p:sldId id="292" r:id="rId14"/>
    <p:sldId id="293" r:id="rId15"/>
    <p:sldId id="288" r:id="rId16"/>
    <p:sldId id="289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4994"/>
    <a:srgbClr val="DCEAF6"/>
    <a:srgbClr val="FCF7F0"/>
    <a:srgbClr val="2E3C63"/>
    <a:srgbClr val="4B72AD"/>
    <a:srgbClr val="F7E8D3"/>
    <a:srgbClr val="F2DA3A"/>
    <a:srgbClr val="5399D4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/>
    <p:restoredTop sz="87958" autoAdjust="0"/>
  </p:normalViewPr>
  <p:slideViewPr>
    <p:cSldViewPr snapToGrid="0" showGuides="1">
      <p:cViewPr varScale="1">
        <p:scale>
          <a:sx n="72" d="100"/>
          <a:sy n="72" d="100"/>
        </p:scale>
        <p:origin x="1157" y="43"/>
      </p:cViewPr>
      <p:guideLst>
        <p:guide orient="horz" pos="2192"/>
        <p:guide pos="374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gs" Target="tags/tag8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lvl="1"/>
            <a:r>
              <a:rPr lang="zh-CN" altLang="en-US">
                <a:sym typeface="+mn-ea"/>
              </a:rPr>
              <a:t>对于某个参数，如果其历史梯度很大，那么其对应的缩放因子变小，以减小该参数的实际学习步长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lvl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AdamW</a:t>
            </a:r>
            <a:r>
              <a:rPr lang="zh-CN" altLang="en-US">
                <a:sym typeface="+mn-ea"/>
              </a:rPr>
              <a:t>前三部分与</a:t>
            </a:r>
            <a:r>
              <a:rPr lang="en-US" altLang="zh-CN">
                <a:sym typeface="+mn-ea"/>
              </a:rPr>
              <a:t>Adam</a:t>
            </a:r>
            <a:r>
              <a:rPr lang="zh-CN" altLang="en-US">
                <a:sym typeface="+mn-ea"/>
              </a:rPr>
              <a:t>完全相同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更多</a:t>
            </a:r>
            <a:r>
              <a:rPr lang="en-US" altLang="zh-CN" dirty="0"/>
              <a:t>tricks</a:t>
            </a:r>
            <a:r>
              <a:rPr lang="zh-CN" altLang="en-US" dirty="0"/>
              <a:t>，</a:t>
            </a:r>
            <a:r>
              <a:rPr lang="en-US" altLang="zh-CN" dirty="0"/>
              <a:t>week2</a:t>
            </a:r>
            <a:r>
              <a:rPr lang="zh-CN" altLang="en-US" dirty="0"/>
              <a:t>的代码实现部分会进行详细说明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  <a:prstGeom prst="rect">
            <a:avLst/>
          </a:prstGeo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073" y="608044"/>
            <a:ext cx="10970706" cy="70647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  <a:prstGeom prst="rect">
            <a:avLst/>
          </a:prstGeo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073" y="608044"/>
            <a:ext cx="10970706" cy="70647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9" Type="http://schemas.openxmlformats.org/officeDocument/2006/relationships/theme" Target="../theme/theme3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image" Target="../media/image2.png"/><Relationship Id="rId15" Type="http://schemas.openxmlformats.org/officeDocument/2006/relationships/tags" Target="../tags/tag8.xml"/><Relationship Id="rId14" Type="http://schemas.openxmlformats.org/officeDocument/2006/relationships/image" Target="../media/image1.png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2"/>
            </p:custDataLst>
          </p:nvPr>
        </p:nvSpPr>
        <p:spPr>
          <a:xfrm>
            <a:off x="608330" y="1095375"/>
            <a:ext cx="10970895" cy="515493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pic>
        <p:nvPicPr>
          <p:cNvPr id="11" name="图片 2" descr="剪影蓝 低版本"/>
          <p:cNvPicPr>
            <a:picLocks noChangeAspect="1"/>
          </p:cNvPicPr>
          <p:nvPr userDrawn="1"/>
        </p:nvPicPr>
        <p:blipFill>
          <a:blip r:embed="rId14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 userDrawn="1">
            <p:custDataLst>
              <p:tags r:id="rId15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4" name="图片 13" descr="国科大标准Logo横式一（白色）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15" name="文本框 3"/>
          <p:cNvSpPr txBox="1"/>
          <p:nvPr userDrawn="1">
            <p:custDataLst>
              <p:tags r:id="rId17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16" name="文本框 15"/>
          <p:cNvSpPr txBox="1"/>
          <p:nvPr userDrawn="1">
            <p:custDataLst>
              <p:tags r:id="rId18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单击此处编辑母版标题样式</a:t>
            </a:r>
            <a:endParaRPr lang="zh-CN" altLang="en-US" sz="2800" dirty="0">
              <a:solidFill>
                <a:srgbClr val="2E3C63"/>
              </a:solidFill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image" Target="../media/image3.png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2.png"/><Relationship Id="rId2" Type="http://schemas.openxmlformats.org/officeDocument/2006/relationships/tags" Target="../tags/tag17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image" Target="../media/image4.png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2.png"/><Relationship Id="rId2" Type="http://schemas.openxmlformats.org/officeDocument/2006/relationships/tags" Target="../tags/tag23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image" Target="../media/image5.png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2.png"/><Relationship Id="rId2" Type="http://schemas.openxmlformats.org/officeDocument/2006/relationships/tags" Target="../tags/tag29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6.png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image" Target="../media/image2.png"/><Relationship Id="rId2" Type="http://schemas.openxmlformats.org/officeDocument/2006/relationships/tags" Target="../tags/tag35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image" Target="../media/image2.png"/><Relationship Id="rId4" Type="http://schemas.openxmlformats.org/officeDocument/2006/relationships/tags" Target="../tags/tag41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6.xml"/><Relationship Id="rId10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2.png"/><Relationship Id="rId4" Type="http://schemas.openxmlformats.org/officeDocument/2006/relationships/tags" Target="../tags/tag47.xml"/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52.xml"/><Relationship Id="rId10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image" Target="../media/image2.png"/><Relationship Id="rId3" Type="http://schemas.openxmlformats.org/officeDocument/2006/relationships/tags" Target="../tags/tag53.xml"/><Relationship Id="rId2" Type="http://schemas.openxmlformats.org/officeDocument/2006/relationships/image" Target="../media/image1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2.png"/><Relationship Id="rId2" Type="http://schemas.openxmlformats.org/officeDocument/2006/relationships/tags" Target="../tags/tag59.xml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2.png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29.xml"/><Relationship Id="rId14" Type="http://schemas.openxmlformats.org/officeDocument/2006/relationships/tags" Target="../tags/tag70.xml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image" Target="../media/image2.png"/><Relationship Id="rId3" Type="http://schemas.openxmlformats.org/officeDocument/2006/relationships/tags" Target="../tags/tag71.xml"/><Relationship Id="rId2" Type="http://schemas.openxmlformats.org/officeDocument/2006/relationships/image" Target="../media/image1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29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2.png"/><Relationship Id="rId4" Type="http://schemas.openxmlformats.org/officeDocument/2006/relationships/tags" Target="../tags/tag77.xml"/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29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2810" y="1477645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3600" b="1">
                <a:sym typeface="+mn-ea"/>
              </a:rPr>
              <a:t>Optimizers: Variants of Gradient Descent</a:t>
            </a:r>
            <a:endParaRPr lang="en-US" altLang="zh-CN" sz="3600" b="1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42415" y="2558415"/>
            <a:ext cx="7473950" cy="236156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Basic Optimizer</a:t>
            </a:r>
            <a:endParaRPr lang="en-US" altLang="zh-CN" sz="2400" b="1" dirty="0">
              <a:solidFill>
                <a:srgbClr val="2E3C63"/>
              </a:solidFill>
              <a:sym typeface="+mn-ea"/>
            </a:endParaRPr>
          </a:p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Adaptive Learning Rate Optimizer</a:t>
            </a:r>
            <a:endParaRPr lang="en-US" altLang="zh-CN" sz="2400" b="1" dirty="0">
              <a:solidFill>
                <a:srgbClr val="2E3C63"/>
              </a:solidFill>
              <a:sym typeface="+mn-ea"/>
            </a:endParaRPr>
          </a:p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Optimizer Tricks</a:t>
            </a:r>
            <a:endParaRPr lang="en-US" altLang="zh-CN" sz="2400" b="1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Basic Optimizer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</a:rPr>
              <a:t>SGD (Stochastic Gradient Descent)</a:t>
            </a:r>
            <a:endParaRPr lang="en-US" altLang="zh-CN"/>
          </a:p>
          <a:p>
            <a:pPr lvl="1"/>
            <a:r>
              <a:rPr lang="zh-CN" altLang="en-US"/>
              <a:t>最经典的梯度下降算法</a:t>
            </a:r>
            <a:endParaRPr lang="zh-CN" altLang="en-US"/>
          </a:p>
          <a:p>
            <a:pPr lvl="1"/>
            <a:r>
              <a:rPr lang="en-US" altLang="zh-CN"/>
              <a:t>“</a:t>
            </a:r>
            <a:r>
              <a:rPr lang="zh-CN" altLang="en-US"/>
              <a:t>随机</a:t>
            </a:r>
            <a:r>
              <a:rPr lang="en-US" altLang="zh-CN"/>
              <a:t>”</a:t>
            </a:r>
            <a:r>
              <a:rPr lang="zh-CN" altLang="en-US"/>
              <a:t>指随机抽选一个样本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Batch GD</a:t>
            </a:r>
            <a:r>
              <a:rPr lang="zh-CN" altLang="en-US">
                <a:sym typeface="+mn-ea"/>
              </a:rPr>
              <a:t>、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Mini-batch SGD</a:t>
            </a:r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9685" y="2602230"/>
            <a:ext cx="7049135" cy="195135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Basic Optimizer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70" y="121417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SGD (Stochastic Gradient Descent)</a:t>
            </a:r>
            <a:endParaRPr lang="en-US" altLang="zh-CN"/>
          </a:p>
          <a:p>
            <a:pPr lvl="1"/>
            <a:r>
              <a:rPr lang="zh-CN" altLang="en-US"/>
              <a:t>最经典的梯度下降算法</a:t>
            </a:r>
            <a:endParaRPr lang="zh-CN" altLang="en-US"/>
          </a:p>
          <a:p>
            <a:pPr lvl="1"/>
            <a:r>
              <a:rPr lang="en-US" altLang="zh-CN"/>
              <a:t>“</a:t>
            </a:r>
            <a:r>
              <a:rPr lang="zh-CN" altLang="en-US"/>
              <a:t>随机</a:t>
            </a:r>
            <a:r>
              <a:rPr lang="en-US" altLang="zh-CN"/>
              <a:t>”</a:t>
            </a:r>
            <a:r>
              <a:rPr lang="zh-CN" altLang="en-US"/>
              <a:t>指随机抽选一个样本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Batch GD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Mini-batch SGD</a:t>
            </a:r>
            <a:endParaRPr lang="en-US" altLang="zh-CN"/>
          </a:p>
          <a:p>
            <a:endParaRPr lang="en-US" altLang="zh-CN" sz="1800"/>
          </a:p>
          <a:p>
            <a:r>
              <a:rPr lang="en-US" altLang="zh-CN" sz="1800" b="1">
                <a:solidFill>
                  <a:srgbClr val="C00000"/>
                </a:solidFill>
                <a:sym typeface="+mn-ea"/>
              </a:rPr>
              <a:t>SGD with Momentum</a:t>
            </a:r>
            <a:endParaRPr lang="en-US" altLang="zh-CN" sz="1800" b="1"/>
          </a:p>
          <a:p>
            <a:pPr lvl="1"/>
            <a:r>
              <a:rPr lang="zh-CN" altLang="en-US">
                <a:sym typeface="+mn-ea"/>
              </a:rPr>
              <a:t>引入动量思想，跳出局部最优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积累过往梯度</a:t>
            </a:r>
            <a:endParaRPr lang="en-US" altLang="zh-CN" sz="1800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5749925" y="2816225"/>
            <a:ext cx="6075680" cy="1760220"/>
            <a:chOff x="8109" y="6477"/>
            <a:chExt cx="7514" cy="198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8"/>
            <a:srcRect b="75579"/>
            <a:stretch>
              <a:fillRect/>
            </a:stretch>
          </p:blipFill>
          <p:spPr>
            <a:xfrm>
              <a:off x="8111" y="6477"/>
              <a:ext cx="7513" cy="109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8"/>
            <a:srcRect t="74118" b="2672"/>
            <a:stretch>
              <a:fillRect/>
            </a:stretch>
          </p:blipFill>
          <p:spPr>
            <a:xfrm>
              <a:off x="8109" y="7425"/>
              <a:ext cx="7515" cy="1041"/>
            </a:xfrm>
            <a:prstGeom prst="rect">
              <a:avLst/>
            </a:prstGeom>
          </p:spPr>
        </p:pic>
      </p:grp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Basic Optimizer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1214120"/>
            <a:ext cx="10968990" cy="57245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SGD (Stochastic Gradient Descent)</a:t>
            </a:r>
            <a:endParaRPr lang="en-US" altLang="zh-CN"/>
          </a:p>
          <a:p>
            <a:pPr lvl="1"/>
            <a:r>
              <a:rPr lang="zh-CN" altLang="en-US"/>
              <a:t>最经典的梯度下降算法</a:t>
            </a:r>
            <a:endParaRPr lang="zh-CN" altLang="en-US"/>
          </a:p>
          <a:p>
            <a:pPr lvl="1"/>
            <a:r>
              <a:rPr lang="en-US" altLang="zh-CN"/>
              <a:t>“</a:t>
            </a:r>
            <a:r>
              <a:rPr lang="zh-CN" altLang="en-US"/>
              <a:t>随机</a:t>
            </a:r>
            <a:r>
              <a:rPr lang="en-US" altLang="zh-CN"/>
              <a:t>”</a:t>
            </a:r>
            <a:r>
              <a:rPr lang="zh-CN" altLang="en-US"/>
              <a:t>指随机抽选一个样本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Batch GD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Mini-batch SGD</a:t>
            </a:r>
            <a:endParaRPr lang="en-US" altLang="zh-CN"/>
          </a:p>
          <a:p>
            <a:endParaRPr lang="en-US" altLang="zh-CN" sz="1800"/>
          </a:p>
          <a:p>
            <a:r>
              <a:rPr lang="en-US" altLang="zh-CN" sz="1800">
                <a:sym typeface="+mn-ea"/>
              </a:rPr>
              <a:t>SGD with Momentum</a:t>
            </a:r>
            <a:endParaRPr lang="en-US" altLang="zh-CN" sz="1800"/>
          </a:p>
          <a:p>
            <a:pPr lvl="1"/>
            <a:r>
              <a:rPr lang="zh-CN" altLang="en-US">
                <a:sym typeface="+mn-ea"/>
              </a:rPr>
              <a:t>引入动量思想，跳出局部最优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积累过往梯度</a:t>
            </a:r>
            <a:endParaRPr lang="zh-CN" altLang="en-US">
              <a:sym typeface="+mn-ea"/>
            </a:endParaRPr>
          </a:p>
          <a:p>
            <a:pPr lvl="0"/>
            <a:endParaRPr lang="en-US" altLang="zh-CN" sz="2025" b="1">
              <a:sym typeface="+mn-ea"/>
            </a:endParaRPr>
          </a:p>
          <a:p>
            <a:pPr lvl="0"/>
            <a:r>
              <a:rPr lang="en-US" altLang="zh-CN" sz="1800" b="1">
                <a:solidFill>
                  <a:srgbClr val="C00000"/>
                </a:solidFill>
                <a:sym typeface="+mn-ea"/>
              </a:rPr>
              <a:t>SGD with Nesterov Acceleration</a:t>
            </a:r>
            <a:endParaRPr lang="en-US" altLang="zh-CN" sz="1800" b="1"/>
          </a:p>
          <a:p>
            <a:pPr lvl="1"/>
            <a:r>
              <a:rPr lang="zh-CN" altLang="en-US">
                <a:sym typeface="+mn-ea"/>
              </a:rPr>
              <a:t>利用现有动量，前瞻一步</a:t>
            </a:r>
            <a:endParaRPr lang="zh-CN" altLang="en-US" sz="1800">
              <a:sym typeface="+mn-ea"/>
            </a:endParaRPr>
          </a:p>
          <a:p>
            <a:pPr lvl="0"/>
            <a:endParaRPr lang="en-US" altLang="zh-CN" sz="2025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7860" y="2374900"/>
            <a:ext cx="5420995" cy="293052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Adaptive Learning Rate Optimizer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1207770"/>
            <a:ext cx="10968990" cy="594106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en-US" altLang="zh-CN" sz="1800">
                <a:sym typeface="+mn-ea"/>
              </a:rPr>
              <a:t>Adaptive Learning Rate</a:t>
            </a:r>
            <a:r>
              <a:rPr lang="zh-CN" altLang="en-US" sz="1800">
                <a:sym typeface="+mn-ea"/>
              </a:rPr>
              <a:t>：为网络中每一个参数单独调整学习率。根据该参数的历史梯度信息，自动放大或缩小其更新步长</a:t>
            </a:r>
            <a:endParaRPr lang="zh-CN" altLang="en-US" sz="1800">
              <a:sym typeface="+mn-ea"/>
            </a:endParaRPr>
          </a:p>
          <a:p>
            <a:pPr marL="0" lvl="1"/>
            <a:endParaRPr lang="en-US" altLang="zh-CN" sz="1800"/>
          </a:p>
          <a:p>
            <a:pPr lvl="0"/>
            <a:r>
              <a:rPr lang="en-US" altLang="zh-CN" sz="1800">
                <a:sym typeface="+mn-ea"/>
              </a:rPr>
              <a:t>RMSProp (Root Mean Square Propagation)</a:t>
            </a:r>
            <a:endParaRPr lang="en-US" altLang="zh-CN" sz="1800"/>
          </a:p>
          <a:p>
            <a:pPr lvl="1"/>
            <a:r>
              <a:rPr lang="en-US" altLang="zh-CN">
                <a:sym typeface="+mn-ea"/>
              </a:rPr>
              <a:t>Adagrad</a:t>
            </a:r>
            <a:r>
              <a:rPr lang="zh-CN" altLang="en-US">
                <a:sym typeface="+mn-ea"/>
              </a:rPr>
              <a:t>，训练后期模型完全停止更新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采用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指数移动平均</a:t>
            </a:r>
            <a:r>
              <a:rPr lang="zh-CN" altLang="en-US">
                <a:sym typeface="+mn-ea"/>
              </a:rPr>
              <a:t>计算梯度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解决学习率消失问题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对最近的梯度更敏感</a:t>
            </a:r>
            <a:endParaRPr lang="zh-CN" altLang="en-US"/>
          </a:p>
          <a:p>
            <a:pPr lvl="1"/>
            <a:endParaRPr lang="zh-CN" altLang="en-US" sz="1800"/>
          </a:p>
          <a:p>
            <a:pPr marL="0" lvl="0" indent="0">
              <a:buNone/>
            </a:pPr>
            <a:r>
              <a:rPr lang="zh-CN" altLang="en-US" sz="1800">
                <a:sym typeface="+mn-ea"/>
              </a:rPr>
              <a:t>当前主流</a:t>
            </a:r>
            <a:endParaRPr lang="zh-CN" altLang="en-US" sz="1800"/>
          </a:p>
          <a:p>
            <a:pPr lvl="0"/>
            <a:r>
              <a:rPr lang="en-US" altLang="zh-CN" sz="1800">
                <a:sym typeface="+mn-ea"/>
              </a:rPr>
              <a:t>Adam (Adaptive Moment Estimation)</a:t>
            </a:r>
            <a:endParaRPr lang="en-US" altLang="zh-CN" sz="1800"/>
          </a:p>
          <a:p>
            <a:pPr lvl="0">
              <a:lnSpc>
                <a:spcPct val="100000"/>
              </a:lnSpc>
            </a:pPr>
            <a:r>
              <a:rPr lang="en-US" altLang="zh-CN" sz="1800">
                <a:sym typeface="+mn-ea"/>
              </a:rPr>
              <a:t>AdamW (Adam with Weight Decay)</a:t>
            </a:r>
            <a:endParaRPr lang="en-US" altLang="zh-CN" sz="2025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480" y="2348865"/>
            <a:ext cx="5603240" cy="29311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6121400" y="1606550"/>
            <a:ext cx="6083300" cy="3950335"/>
            <a:chOff x="9453" y="2358"/>
            <a:chExt cx="8326" cy="548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rcRect t="73711"/>
            <a:stretch>
              <a:fillRect/>
            </a:stretch>
          </p:blipFill>
          <p:spPr>
            <a:xfrm>
              <a:off x="9538" y="3562"/>
              <a:ext cx="6397" cy="132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rcRect b="76134"/>
            <a:stretch>
              <a:fillRect/>
            </a:stretch>
          </p:blipFill>
          <p:spPr>
            <a:xfrm>
              <a:off x="9538" y="2358"/>
              <a:ext cx="6397" cy="120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rcRect b="81471"/>
            <a:stretch>
              <a:fillRect/>
            </a:stretch>
          </p:blipFill>
          <p:spPr>
            <a:xfrm>
              <a:off x="9453" y="4887"/>
              <a:ext cx="8327" cy="146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rcRect t="44738" b="36850"/>
            <a:stretch>
              <a:fillRect/>
            </a:stretch>
          </p:blipFill>
          <p:spPr>
            <a:xfrm>
              <a:off x="9453" y="6380"/>
              <a:ext cx="8327" cy="1460"/>
            </a:xfrm>
            <a:prstGeom prst="rect">
              <a:avLst/>
            </a:prstGeom>
          </p:spPr>
        </p:pic>
      </p:grpSp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3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6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Adam (Adaptive Moment Estimation)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1214120"/>
            <a:ext cx="10968990" cy="541718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ym typeface="+mn-ea"/>
              </a:rPr>
              <a:t>结合动量和</a:t>
            </a:r>
            <a:r>
              <a:rPr lang="en-US" altLang="zh-CN">
                <a:sym typeface="+mn-ea"/>
              </a:rPr>
              <a:t> RMSProp </a:t>
            </a:r>
            <a:r>
              <a:rPr lang="zh-CN" altLang="en-US">
                <a:sym typeface="+mn-ea"/>
              </a:rPr>
              <a:t>的思想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偏差修正</a:t>
            </a:r>
            <a:r>
              <a:rPr lang="en-US" altLang="zh-CN">
                <a:sym typeface="+mn-ea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Why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rcRect l="3484"/>
          <a:stretch>
            <a:fillRect/>
          </a:stretch>
        </p:blipFill>
        <p:spPr>
          <a:xfrm>
            <a:off x="841375" y="2547620"/>
            <a:ext cx="4538980" cy="295211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845300" y="1807210"/>
            <a:ext cx="5346700" cy="4069080"/>
            <a:chOff x="11184" y="1973"/>
            <a:chExt cx="7602" cy="5872"/>
          </a:xfrm>
        </p:grpSpPr>
        <p:pic>
          <p:nvPicPr>
            <p:cNvPr id="5" name="图片 4" descr="1"/>
            <p:cNvPicPr>
              <a:picLocks noChangeAspect="1"/>
            </p:cNvPicPr>
            <p:nvPr/>
          </p:nvPicPr>
          <p:blipFill>
            <a:blip r:embed="rId1"/>
            <a:srcRect t="2560" b="11929"/>
            <a:stretch>
              <a:fillRect/>
            </a:stretch>
          </p:blipFill>
          <p:spPr>
            <a:xfrm>
              <a:off x="11184" y="1973"/>
              <a:ext cx="7262" cy="2156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84" y="4397"/>
              <a:ext cx="7602" cy="3449"/>
            </a:xfrm>
            <a:prstGeom prst="rect">
              <a:avLst/>
            </a:prstGeom>
          </p:spPr>
        </p:pic>
      </p:grpSp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3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6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AdamW (Adam with Weight Decay)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1214120"/>
            <a:ext cx="10968990" cy="541718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ym typeface="+mn-ea"/>
              </a:rPr>
              <a:t>L1 / L2</a:t>
            </a:r>
            <a:r>
              <a:rPr lang="zh-CN" altLang="en-US">
                <a:sym typeface="+mn-ea"/>
              </a:rPr>
              <a:t>正则化</a:t>
            </a:r>
            <a:endParaRPr lang="zh-CN">
              <a:sym typeface="+mn-ea"/>
            </a:endParaRPr>
          </a:p>
          <a:p>
            <a:r>
              <a:rPr lang="zh-CN">
                <a:sym typeface="+mn-ea"/>
              </a:rPr>
              <a:t>在</a:t>
            </a:r>
            <a:r>
              <a:rPr lang="en-US" altLang="zh-CN">
                <a:sym typeface="+mn-ea"/>
              </a:rPr>
              <a:t>Adam</a:t>
            </a:r>
            <a:r>
              <a:rPr lang="zh-CN" altLang="en-US">
                <a:sym typeface="+mn-ea"/>
              </a:rPr>
              <a:t>基础上进行</a:t>
            </a:r>
            <a:r>
              <a:rPr lang="en-US" altLang="zh-CN">
                <a:sym typeface="+mn-ea"/>
              </a:rPr>
              <a:t>L2</a:t>
            </a:r>
            <a:r>
              <a:rPr lang="zh-CN" altLang="en-US">
                <a:sym typeface="+mn-ea"/>
              </a:rPr>
              <a:t>正则化</a:t>
            </a:r>
            <a:endParaRPr lang="zh-CN" altLang="en-US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Adam+</a:t>
            </a:r>
            <a:r>
              <a:rPr lang="en-US" altLang="zh-CN">
                <a:sym typeface="+mn-ea"/>
              </a:rPr>
              <a:t>L2</a:t>
            </a:r>
            <a:r>
              <a:rPr lang="zh-CN" altLang="en-US">
                <a:sym typeface="+mn-ea"/>
              </a:rPr>
              <a:t>：</a:t>
            </a:r>
            <a:r>
              <a:rPr lang="zh-CN" altLang="en-US"/>
              <a:t>权重衰减</a:t>
            </a:r>
            <a:r>
              <a:rPr lang="zh-CN"/>
              <a:t>被</a:t>
            </a:r>
            <a:r>
              <a:rPr lang="zh-CN" altLang="en-US"/>
              <a:t>自适应机制扭曲</a:t>
            </a:r>
            <a:endParaRPr lang="zh-CN" altLang="en-US"/>
          </a:p>
          <a:p>
            <a:pPr lvl="0"/>
            <a:r>
              <a:rPr lang="zh-CN" altLang="en-US" b="1">
                <a:solidFill>
                  <a:srgbClr val="C00000"/>
                </a:solidFill>
                <a:sym typeface="+mn-ea"/>
              </a:rPr>
              <a:t>正则化与自适应独立进行，相比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Adam+L2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效果更优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165" y="3301365"/>
            <a:ext cx="5507355" cy="249745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375" y="1078230"/>
            <a:ext cx="3832860" cy="4701540"/>
          </a:xfrm>
          <a:prstGeom prst="rect">
            <a:avLst/>
          </a:prstGeom>
        </p:spPr>
      </p:pic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2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5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Optimizer Tricks</a:t>
            </a:r>
            <a:endParaRPr lang="en-US" altLang="zh-CN" sz="2800" dirty="0">
              <a:solidFill>
                <a:srgbClr val="2E3C63"/>
              </a:solidFill>
            </a:endParaRPr>
          </a:p>
          <a:p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1214120"/>
            <a:ext cx="6361430" cy="541718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1800">
                <a:sym typeface="+mn-ea"/>
              </a:rPr>
              <a:t>选择合适优化器</a:t>
            </a:r>
            <a:endParaRPr lang="zh-CN" altLang="en-US" sz="1800"/>
          </a:p>
          <a:p>
            <a:pPr algn="just"/>
            <a:endParaRPr lang="zh-CN" altLang="en-US" sz="1800"/>
          </a:p>
          <a:p>
            <a:pPr algn="just"/>
            <a:r>
              <a:rPr lang="zh-CN" altLang="en-US" sz="1800">
                <a:sym typeface="+mn-ea"/>
              </a:rPr>
              <a:t>混合策略</a:t>
            </a:r>
            <a:endParaRPr lang="zh-CN" altLang="en-US" sz="1800"/>
          </a:p>
          <a:p>
            <a:pPr lvl="1" algn="just"/>
            <a:r>
              <a:rPr lang="en-US" altLang="zh-CN" sz="1800">
                <a:sym typeface="+mn-ea"/>
              </a:rPr>
              <a:t>Adam</a:t>
            </a:r>
            <a:r>
              <a:rPr lang="zh-CN" altLang="en-US" sz="1800">
                <a:sym typeface="+mn-ea"/>
              </a:rPr>
              <a:t>：快速将</a:t>
            </a:r>
            <a:r>
              <a:rPr lang="en-US" altLang="zh-CN" sz="1800">
                <a:sym typeface="+mn-ea"/>
              </a:rPr>
              <a:t>loss</a:t>
            </a:r>
            <a:r>
              <a:rPr lang="zh-CN" altLang="en-US" sz="1800">
                <a:sym typeface="+mn-ea"/>
              </a:rPr>
              <a:t>降到合理区间</a:t>
            </a:r>
            <a:r>
              <a:rPr lang="en-US" altLang="en-US" sz="1800">
                <a:sym typeface="+mn-ea"/>
              </a:rPr>
              <a:t> </a:t>
            </a:r>
            <a:endParaRPr lang="en-US" altLang="en-US" sz="1800"/>
          </a:p>
          <a:p>
            <a:pPr lvl="1" algn="just"/>
            <a:r>
              <a:rPr lang="en-US" altLang="zh-CN" sz="1800">
                <a:sym typeface="+mn-ea"/>
              </a:rPr>
              <a:t>SGD+Momentum</a:t>
            </a:r>
            <a:r>
              <a:rPr lang="zh-CN" altLang="en-US" sz="1800">
                <a:sym typeface="+mn-ea"/>
              </a:rPr>
              <a:t>：后续微调泛化</a:t>
            </a:r>
            <a:endParaRPr lang="en-US" altLang="en-US" sz="1800"/>
          </a:p>
          <a:p>
            <a:pPr lvl="1" algn="just"/>
            <a:endParaRPr lang="en-US" altLang="zh-CN" sz="1800"/>
          </a:p>
          <a:p>
            <a:pPr algn="just"/>
            <a:r>
              <a:rPr lang="zh-CN" altLang="en-US" sz="1800">
                <a:sym typeface="+mn-ea"/>
              </a:rPr>
              <a:t>参数设置</a:t>
            </a:r>
            <a:endParaRPr lang="zh-CN" altLang="en-US" sz="1800"/>
          </a:p>
          <a:p>
            <a:pPr lvl="1" algn="just"/>
            <a:r>
              <a:rPr lang="en-US" altLang="zh-CN" sz="1800">
                <a:sym typeface="+mn-ea"/>
              </a:rPr>
              <a:t>SGD</a:t>
            </a:r>
            <a:r>
              <a:rPr lang="zh-CN" altLang="en-US" sz="1800">
                <a:sym typeface="+mn-ea"/>
              </a:rPr>
              <a:t>系列：</a:t>
            </a:r>
            <a:r>
              <a:rPr lang="en-US" altLang="zh-CN" sz="1800">
                <a:sym typeface="+mn-ea"/>
              </a:rPr>
              <a:t>β=0.9</a:t>
            </a:r>
            <a:r>
              <a:rPr lang="zh-CN" altLang="en-US" sz="1800">
                <a:sym typeface="+mn-ea"/>
              </a:rPr>
              <a:t>，学习率需动态调整（如初始</a:t>
            </a:r>
            <a:r>
              <a:rPr lang="en-US" altLang="zh-CN" sz="1800">
                <a:sym typeface="+mn-ea"/>
              </a:rPr>
              <a:t>η=0.1</a:t>
            </a:r>
            <a:r>
              <a:rPr lang="zh-CN" altLang="en-US" sz="1800">
                <a:sym typeface="+mn-ea"/>
              </a:rPr>
              <a:t>，每</a:t>
            </a:r>
            <a:r>
              <a:rPr lang="en-US" altLang="zh-CN" sz="1800">
                <a:sym typeface="+mn-ea"/>
              </a:rPr>
              <a:t>30</a:t>
            </a:r>
            <a:r>
              <a:rPr lang="zh-CN" altLang="en-US" sz="1800">
                <a:sym typeface="+mn-ea"/>
              </a:rPr>
              <a:t>轮衰减</a:t>
            </a:r>
            <a:r>
              <a:rPr lang="en-US" altLang="zh-CN" sz="1800">
                <a:sym typeface="+mn-ea"/>
              </a:rPr>
              <a:t>0.1</a:t>
            </a:r>
            <a:r>
              <a:rPr lang="zh-CN" altLang="en-US" sz="1800">
                <a:sym typeface="+mn-ea"/>
              </a:rPr>
              <a:t>）</a:t>
            </a:r>
            <a:endParaRPr lang="zh-CN" altLang="en-US" sz="1800"/>
          </a:p>
          <a:p>
            <a:pPr lvl="1" algn="just"/>
            <a:r>
              <a:rPr lang="en-US" altLang="zh-CN" sz="1800">
                <a:sym typeface="+mn-ea"/>
              </a:rPr>
              <a:t>Adam/AdamW</a:t>
            </a:r>
            <a:r>
              <a:rPr lang="zh-CN" altLang="en-US" sz="1800">
                <a:sym typeface="+mn-ea"/>
              </a:rPr>
              <a:t>：</a:t>
            </a:r>
            <a:r>
              <a:rPr lang="en-US" altLang="zh-CN" sz="1800">
                <a:sym typeface="+mn-ea"/>
              </a:rPr>
              <a:t>β</a:t>
            </a:r>
            <a:r>
              <a:rPr lang="en-US" altLang="en-US" sz="1800">
                <a:sym typeface="+mn-ea"/>
              </a:rPr>
              <a:t>₁</a:t>
            </a:r>
            <a:r>
              <a:rPr lang="en-US" altLang="zh-CN" sz="1800">
                <a:sym typeface="+mn-ea"/>
              </a:rPr>
              <a:t>=0.9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β</a:t>
            </a:r>
            <a:r>
              <a:rPr lang="en-US" altLang="en-US" sz="1800">
                <a:sym typeface="+mn-ea"/>
              </a:rPr>
              <a:t>₂</a:t>
            </a:r>
            <a:r>
              <a:rPr lang="en-US" altLang="zh-CN" sz="1800">
                <a:sym typeface="+mn-ea"/>
              </a:rPr>
              <a:t>=0.999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ε=1e-8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η=1e-3</a:t>
            </a:r>
            <a:r>
              <a:rPr lang="zh-CN" altLang="en-US" sz="1800">
                <a:sym typeface="+mn-ea"/>
              </a:rPr>
              <a:t>，适配多数任务</a:t>
            </a:r>
            <a:endParaRPr lang="zh-CN" altLang="en-US" sz="1800"/>
          </a:p>
          <a:p>
            <a:pPr lvl="1" algn="just"/>
            <a:endParaRPr lang="en-US" altLang="zh-CN"/>
          </a:p>
        </p:txBody>
      </p:sp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4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2810" y="1477645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3600" b="1">
                <a:sym typeface="+mn-ea"/>
              </a:rPr>
              <a:t>Backpropagation</a:t>
            </a:r>
            <a:endParaRPr lang="en-US" altLang="zh-CN" sz="3600" b="1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42415" y="2558415"/>
            <a:ext cx="7473950" cy="236156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Neural Network Intro</a:t>
            </a:r>
            <a:endParaRPr lang="en-US" altLang="zh-CN" sz="2400" b="1" dirty="0">
              <a:solidFill>
                <a:srgbClr val="2E3C63"/>
              </a:solidFill>
              <a:sym typeface="+mn-ea"/>
            </a:endParaRPr>
          </a:p>
          <a:p>
            <a:pPr algn="l"/>
            <a:r>
              <a:rPr lang="en-US" altLang="zh-CN" sz="2400" b="1" dirty="0">
                <a:solidFill>
                  <a:srgbClr val="2E3C63"/>
                </a:solidFill>
                <a:sym typeface="+mn-ea"/>
              </a:rPr>
              <a:t> BP in Neural Network</a:t>
            </a:r>
            <a:endParaRPr lang="en-US" altLang="zh-CN" sz="2400" b="1" dirty="0">
              <a:solidFill>
                <a:srgbClr val="2E3C63"/>
              </a:solidFill>
              <a:sym typeface="+mn-ea"/>
            </a:endParaRPr>
          </a:p>
          <a:p>
            <a:pPr marL="0" indent="0" algn="l">
              <a:buNone/>
            </a:pPr>
            <a:endParaRPr lang="en-US" altLang="zh-CN" sz="2400" b="1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930" y="1313815"/>
            <a:ext cx="3425190" cy="603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2685415"/>
            <a:ext cx="2369820" cy="464820"/>
          </a:xfrm>
          <a:prstGeom prst="rect">
            <a:avLst/>
          </a:prstGeom>
        </p:spPr>
      </p:pic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3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6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Neural Network Intro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8330" y="1013460"/>
            <a:ext cx="10968990" cy="541718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 sz="1800">
                <a:sym typeface="+mn-ea"/>
              </a:rPr>
              <a:t>输入</a:t>
            </a:r>
            <a:endParaRPr lang="en-US" altLang="zh-CN" sz="1800"/>
          </a:p>
          <a:p>
            <a:pPr lvl="0"/>
            <a:endParaRPr lang="en-US" altLang="zh-CN" sz="1800"/>
          </a:p>
          <a:p>
            <a:pPr lvl="0"/>
            <a:r>
              <a:rPr lang="zh-CN" altLang="en-US" sz="1800">
                <a:sym typeface="+mn-ea"/>
              </a:rPr>
              <a:t>前向传播</a:t>
            </a:r>
            <a:endParaRPr lang="en-US" altLang="zh-CN" sz="1800"/>
          </a:p>
          <a:p>
            <a:pPr lvl="1"/>
            <a:r>
              <a:rPr lang="zh-CN" altLang="en-US" sz="1800">
                <a:sym typeface="+mn-ea"/>
              </a:rPr>
              <a:t>线性变换</a:t>
            </a:r>
            <a:endParaRPr lang="zh-CN" altLang="en-US" sz="1800"/>
          </a:p>
          <a:p>
            <a:pPr lvl="1"/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激活函数</a:t>
            </a:r>
            <a:endParaRPr lang="zh-CN" altLang="en-US" sz="1800"/>
          </a:p>
          <a:p>
            <a:pPr lvl="1"/>
            <a:endParaRPr lang="zh-CN" altLang="en-US" sz="1800"/>
          </a:p>
          <a:p>
            <a:pPr lvl="1"/>
            <a:endParaRPr lang="en-US" altLang="zh-CN" sz="1800"/>
          </a:p>
          <a:p>
            <a:pPr lvl="1"/>
            <a:r>
              <a:rPr lang="zh-CN" altLang="en-US" sz="1800">
                <a:sym typeface="+mn-ea"/>
              </a:rPr>
              <a:t>输出</a:t>
            </a:r>
            <a:endParaRPr lang="zh-CN" altLang="en-US" sz="1800"/>
          </a:p>
          <a:p>
            <a:pPr lvl="0"/>
            <a:r>
              <a:rPr lang="zh-CN" altLang="en-US" sz="1800">
                <a:sym typeface="+mn-ea"/>
              </a:rPr>
              <a:t>损失函数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均方误差</a:t>
            </a:r>
            <a:endParaRPr lang="zh-CN" altLang="en-US" sz="1800"/>
          </a:p>
          <a:p>
            <a:pPr lvl="1">
              <a:lnSpc>
                <a:spcPct val="150000"/>
              </a:lnSpc>
            </a:pPr>
            <a:r>
              <a:rPr lang="zh-CN" altLang="en-US" sz="1800">
                <a:sym typeface="+mn-ea"/>
              </a:rPr>
              <a:t>交叉熵</a:t>
            </a:r>
            <a:endParaRPr lang="en-US" altLang="zh-CN" sz="2025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3845" y="3557270"/>
            <a:ext cx="2369820" cy="6108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1"/>
          <a:srcRect l="8176" t="23804" r="5077" b="13071"/>
          <a:stretch>
            <a:fillRect/>
          </a:stretch>
        </p:blipFill>
        <p:spPr>
          <a:xfrm>
            <a:off x="4350385" y="3674110"/>
            <a:ext cx="1280160" cy="37719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2446655" y="4973320"/>
            <a:ext cx="2429510" cy="1179195"/>
            <a:chOff x="4200" y="7796"/>
            <a:chExt cx="3826" cy="185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2"/>
            <a:srcRect l="41584" t="17448" b="51783"/>
            <a:stretch>
              <a:fillRect/>
            </a:stretch>
          </p:blipFill>
          <p:spPr>
            <a:xfrm>
              <a:off x="4200" y="7796"/>
              <a:ext cx="3446" cy="95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2"/>
            <a:srcRect l="38932" t="67972"/>
            <a:stretch>
              <a:fillRect/>
            </a:stretch>
          </p:blipFill>
          <p:spPr>
            <a:xfrm>
              <a:off x="4442" y="8669"/>
              <a:ext cx="3585" cy="984"/>
            </a:xfrm>
            <a:prstGeom prst="rect">
              <a:avLst/>
            </a:prstGeom>
          </p:spPr>
        </p:pic>
      </p:grpSp>
      <p:pic>
        <p:nvPicPr>
          <p:cNvPr id="15" name="图片 14"/>
          <p:cNvPicPr/>
          <p:nvPr/>
        </p:nvPicPr>
        <p:blipFill>
          <a:blip r:embed="rId13"/>
          <a:stretch>
            <a:fillRect/>
          </a:stretch>
        </p:blipFill>
        <p:spPr>
          <a:xfrm>
            <a:off x="6319520" y="1779270"/>
            <a:ext cx="5212715" cy="355219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0" y="2676525"/>
            <a:ext cx="6450330" cy="3821430"/>
          </a:xfrm>
          <a:prstGeom prst="rect">
            <a:avLst/>
          </a:prstGeom>
        </p:spPr>
      </p:pic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2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5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Backpropagation in Neural Network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993775"/>
            <a:ext cx="10968990" cy="541718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1800">
                <a:sym typeface="+mn-ea"/>
              </a:rPr>
              <a:t>前向传播：</a:t>
            </a:r>
            <a:r>
              <a:rPr lang="zh-CN" altLang="en-US" sz="1800">
                <a:sym typeface="+mn-ea"/>
              </a:rPr>
              <a:t>从输入到输出，计算预测结果</a:t>
            </a:r>
            <a:endParaRPr lang="zh-CN" altLang="en-US" sz="1800"/>
          </a:p>
          <a:p>
            <a:pPr marL="0" lvl="1"/>
            <a:r>
              <a:rPr lang="zh-CN" altLang="en-US" sz="1800">
                <a:sym typeface="+mn-ea"/>
              </a:rPr>
              <a:t>反向传播：从输出到输入，计算梯度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核心思想：通过</a:t>
            </a:r>
            <a:r>
              <a:rPr lang="zh-CN" altLang="en-US" sz="1800" b="1">
                <a:solidFill>
                  <a:srgbClr val="C00000"/>
                </a:solidFill>
                <a:sym typeface="+mn-ea"/>
              </a:rPr>
              <a:t>链式法则</a:t>
            </a:r>
            <a:r>
              <a:rPr lang="zh-CN" altLang="en-US" sz="1800">
                <a:sym typeface="+mn-ea"/>
              </a:rPr>
              <a:t>计算复合函数的导数</a:t>
            </a:r>
            <a:endParaRPr lang="zh-CN" altLang="en-US" sz="1800"/>
          </a:p>
          <a:p>
            <a:pPr marL="0" lvl="1"/>
            <a:r>
              <a:rPr lang="zh-CN" altLang="en-US" sz="1800">
                <a:sym typeface="+mn-ea"/>
              </a:rPr>
              <a:t>梯度下降：根据反向传播的梯度，更新参数</a:t>
            </a:r>
            <a:endParaRPr lang="zh-CN" altLang="en-US" sz="1800"/>
          </a:p>
          <a:p>
            <a:pPr lvl="1"/>
            <a:endParaRPr lang="zh-CN" sz="1800"/>
          </a:p>
          <a:p>
            <a:pPr marL="0" lvl="1"/>
            <a:endParaRPr lang="en-US" altLang="zh-CN" sz="2025"/>
          </a:p>
          <a:p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  <p:custDataLst>
      <p:tags r:id="rId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7612380" y="1056640"/>
            <a:ext cx="4108450" cy="4562475"/>
            <a:chOff x="12299" y="1664"/>
            <a:chExt cx="6470" cy="7185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299" y="1664"/>
              <a:ext cx="6263" cy="3821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/>
            <a:srcRect b="33766"/>
            <a:stretch>
              <a:fillRect/>
            </a:stretch>
          </p:blipFill>
          <p:spPr>
            <a:xfrm>
              <a:off x="12299" y="5485"/>
              <a:ext cx="6470" cy="3364"/>
            </a:xfrm>
            <a:prstGeom prst="rect">
              <a:avLst/>
            </a:prstGeom>
          </p:spPr>
        </p:pic>
      </p:grpSp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3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6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Backpropagation Demo in Neural Network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14" name="内容占位符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8330" y="1056640"/>
            <a:ext cx="4575810" cy="300418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前向传播</a:t>
            </a:r>
            <a:endParaRPr 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/>
          </a:p>
        </p:txBody>
      </p:sp>
      <p:grpSp>
        <p:nvGrpSpPr>
          <p:cNvPr id="15" name="组合 14"/>
          <p:cNvGrpSpPr/>
          <p:nvPr/>
        </p:nvGrpSpPr>
        <p:grpSpPr>
          <a:xfrm>
            <a:off x="2097405" y="1078230"/>
            <a:ext cx="4022725" cy="2043430"/>
            <a:chOff x="1397" y="3265"/>
            <a:chExt cx="7200" cy="3646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/>
            <a:srcRect t="59584"/>
            <a:stretch>
              <a:fillRect/>
            </a:stretch>
          </p:blipFill>
          <p:spPr>
            <a:xfrm>
              <a:off x="1397" y="4347"/>
              <a:ext cx="7200" cy="2564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0"/>
            <a:srcRect t="-362" b="83307"/>
            <a:stretch>
              <a:fillRect/>
            </a:stretch>
          </p:blipFill>
          <p:spPr>
            <a:xfrm>
              <a:off x="1397" y="3265"/>
              <a:ext cx="7200" cy="1082"/>
            </a:xfrm>
            <a:prstGeom prst="rect">
              <a:avLst/>
            </a:prstGeom>
          </p:spPr>
        </p:pic>
      </p:grpSp>
      <p:pic>
        <p:nvPicPr>
          <p:cNvPr id="18" name="图片 17" descr="demo"/>
          <p:cNvPicPr>
            <a:picLocks noChangeAspect="1"/>
          </p:cNvPicPr>
          <p:nvPr/>
        </p:nvPicPr>
        <p:blipFill>
          <a:blip r:embed="rId11"/>
          <a:srcRect l="10246" t="17131" r="9658" b="4406"/>
          <a:stretch>
            <a:fillRect/>
          </a:stretch>
        </p:blipFill>
        <p:spPr>
          <a:xfrm>
            <a:off x="716280" y="3248660"/>
            <a:ext cx="5784215" cy="2806065"/>
          </a:xfrm>
          <a:prstGeom prst="rect">
            <a:avLst/>
          </a:prstGeom>
        </p:spPr>
      </p:pic>
      <p:sp>
        <p:nvSpPr>
          <p:cNvPr id="19" name="内容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69330" y="1056640"/>
            <a:ext cx="4575810" cy="300418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/>
              <a:t>反向传播</a:t>
            </a:r>
            <a:endParaRPr 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COMMONDATA" val="eyJoZGlkIjoiMDI3MjYyZDJmMWViZTNlM2MyYWM2NDVjMTMxYjI5ZWQifQ=="/>
</p:tagLst>
</file>

<file path=ppt/theme/theme1.xml><?xml version="1.0" encoding="utf-8"?>
<a:theme xmlns:a="http://schemas.openxmlformats.org/drawingml/2006/main" name="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WPS 演示</Application>
  <PresentationFormat>宽屏</PresentationFormat>
  <Paragraphs>194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Bauhaus 93</vt:lpstr>
      <vt:lpstr>造字工房朗倩（非商用）常规体</vt:lpstr>
      <vt:lpstr>Arial Unicode MS</vt:lpstr>
      <vt:lpstr>Calibri</vt:lpstr>
      <vt:lpstr>2023国科大融媒体编辑部出品</vt:lpstr>
      <vt:lpstr>1_2023国科大融媒体编辑部出品</vt:lpstr>
      <vt:lpstr>2_2023国科大融媒体编辑部出品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极简风蓝色学术模板 Minimalism Blue Academic Template</dc:title>
  <dc:creator/>
  <cp:lastModifiedBy>夏梓轩</cp:lastModifiedBy>
  <cp:revision>237</cp:revision>
  <dcterms:created xsi:type="dcterms:W3CDTF">2024-08-08T00:41:00Z</dcterms:created>
  <dcterms:modified xsi:type="dcterms:W3CDTF">2025-12-24T08:00:06Z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5D20D06DD8084BF68BDD22D0B051A992_13</vt:lpwstr>
  </property>
</Properties>
</file>