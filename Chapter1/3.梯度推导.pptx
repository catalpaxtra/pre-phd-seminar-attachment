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9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0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260" r:id="rId3"/>
    <p:sldId id="263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65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4994"/>
    <a:srgbClr val="DCEAF6"/>
    <a:srgbClr val="FCF7F0"/>
    <a:srgbClr val="2E3C63"/>
    <a:srgbClr val="4B72AD"/>
    <a:srgbClr val="F7E8D3"/>
    <a:srgbClr val="F2DA3A"/>
    <a:srgbClr val="5399D4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/>
    <p:restoredTop sz="87958" autoAdjust="0"/>
  </p:normalViewPr>
  <p:slideViewPr>
    <p:cSldViewPr snapToGrid="0" showGuides="1">
      <p:cViewPr varScale="1">
        <p:scale>
          <a:sx n="72" d="100"/>
          <a:sy n="72" d="100"/>
        </p:scale>
        <p:origin x="1157" y="43"/>
      </p:cViewPr>
      <p:guideLst>
        <p:guide orient="horz" pos="2160"/>
        <p:guide pos="3777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0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3107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7621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6264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662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9972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858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9075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096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7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11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1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9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5.xml"/><Relationship Id="rId7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9.xml"/><Relationship Id="rId7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6.png"/><Relationship Id="rId4" Type="http://schemas.openxmlformats.org/officeDocument/2006/relationships/tags" Target="../tags/tag20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3.xml"/><Relationship Id="rId7" Type="http://schemas.openxmlformats.org/officeDocument/2006/relationships/image" Target="../media/image3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9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8.png"/><Relationship Id="rId4" Type="http://schemas.openxmlformats.org/officeDocument/2006/relationships/tags" Target="../tags/tag24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7.xml"/><Relationship Id="rId7" Type="http://schemas.openxmlformats.org/officeDocument/2006/relationships/image" Target="../media/image3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1.xml"/><Relationship Id="rId7" Type="http://schemas.openxmlformats.org/officeDocument/2006/relationships/image" Target="../media/image3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32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5.xml"/><Relationship Id="rId7" Type="http://schemas.openxmlformats.org/officeDocument/2006/relationships/image" Target="../media/image3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36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9.xml"/><Relationship Id="rId7" Type="http://schemas.openxmlformats.org/officeDocument/2006/relationships/image" Target="../media/image3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0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3.xml"/><Relationship Id="rId7" Type="http://schemas.openxmlformats.org/officeDocument/2006/relationships/image" Target="../media/image3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4.xml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7.xml"/><Relationship Id="rId7" Type="http://schemas.openxmlformats.org/officeDocument/2006/relationships/image" Target="../media/image3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01590" y="1429385"/>
            <a:ext cx="11657330" cy="1500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Topic1 Gradient</a:t>
            </a:r>
          </a:p>
          <a:p>
            <a:pPr algn="ctr"/>
            <a:r>
              <a:rPr lang="zh-CN" altLang="en-US" sz="1800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梯度推导</a:t>
            </a:r>
            <a:endParaRPr lang="en-US" altLang="zh-CN" sz="1800" spc="200" dirty="0"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2840" y="397573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latin typeface="+mn-ea"/>
                <a:ea typeface="+mn-ea"/>
                <a:cs typeface="+mn-ea"/>
              </a:rPr>
              <a:t>成员</a:t>
            </a:r>
            <a:r>
              <a:rPr lang="en-US" altLang="zh-CN" sz="1800" dirty="0">
                <a:latin typeface="+mn-ea"/>
                <a:ea typeface="+mn-ea"/>
                <a:cs typeface="+mn-ea"/>
              </a:rPr>
              <a:t>       2025.12.24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内容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</a:t>
            </a:fld>
            <a:endParaRPr lang="zh-CN" altLang="en-US" strike="noStrike" noProof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9F41F3-CFD2-25AB-38E4-8D62A3F9B4BE}"/>
              </a:ext>
            </a:extLst>
          </p:cNvPr>
          <p:cNvSpPr txBox="1"/>
          <p:nvPr/>
        </p:nvSpPr>
        <p:spPr>
          <a:xfrm>
            <a:off x="595061" y="1139257"/>
            <a:ext cx="5933330" cy="21204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sym typeface="+mn-ea"/>
              </a:rPr>
              <a:t>快速回顾</a:t>
            </a:r>
            <a:endParaRPr lang="en-US" altLang="zh-CN" dirty="0"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sym typeface="+mn-ea"/>
              </a:rPr>
              <a:t>不同形状</a:t>
            </a:r>
            <a:r>
              <a:rPr lang="en-US" altLang="zh-CN" dirty="0">
                <a:sym typeface="+mn-ea"/>
              </a:rPr>
              <a:t>input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output</a:t>
            </a:r>
            <a:r>
              <a:rPr lang="zh-CN" altLang="en-US" dirty="0">
                <a:sym typeface="+mn-ea"/>
              </a:rPr>
              <a:t>对应的函数的导数的形状</a:t>
            </a:r>
            <a:endParaRPr lang="en-US" altLang="zh-CN" dirty="0"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sym typeface="+mn-ea"/>
              </a:rPr>
              <a:t>多元函数求导链式法则</a:t>
            </a:r>
            <a:endParaRPr lang="en-US" altLang="zh-CN" dirty="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sym typeface="+mn-ea"/>
              </a:rPr>
              <a:t>推导思路</a:t>
            </a:r>
            <a:endParaRPr lang="en-US" altLang="zh-CN" dirty="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sym typeface="+mn-ea"/>
              </a:rPr>
              <a:t>推导内容：</a:t>
            </a:r>
            <a:r>
              <a:rPr lang="en-US" altLang="zh-CN" dirty="0">
                <a:sym typeface="+mn-ea"/>
              </a:rPr>
              <a:t>MSE Loss</a:t>
            </a:r>
            <a:r>
              <a:rPr lang="zh-CN" altLang="en-US" dirty="0">
                <a:sym typeface="+mn-ea"/>
              </a:rPr>
              <a:t>与矩阵乘法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快速回顾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</a:t>
            </a:fld>
            <a:endParaRPr lang="zh-CN" altLang="en-US" strike="noStrike" noProof="1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016836-8499-EEC1-BDB4-7FC24E1FF3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210" y="1396613"/>
            <a:ext cx="5712790" cy="42156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DF142B-BCB4-7D39-15F9-C7D9D3C0DF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0803" y="1396613"/>
            <a:ext cx="5712790" cy="26366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449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快速回顾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3</a:t>
            </a:fld>
            <a:endParaRPr lang="zh-CN" altLang="en-US" strike="noStrike" noProof="1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61DFB5-06E9-F00A-E52E-CA365E28EA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151" y="1012031"/>
            <a:ext cx="5906778" cy="23944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46B32D1-081F-32C7-9E2C-02402F7F5E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112" y="3700130"/>
            <a:ext cx="5767888" cy="188083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FB5400-A7E5-2306-8F14-8EBA897A45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0767" y="1133141"/>
            <a:ext cx="5568082" cy="35074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7101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推导思路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4</a:t>
            </a:fld>
            <a:endParaRPr lang="zh-CN" altLang="en-US" strike="noStrike" noProof="1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F5F62B-F8FD-A779-2F7D-DF8646E35C27}"/>
              </a:ext>
            </a:extLst>
          </p:cNvPr>
          <p:cNvSpPr txBox="1"/>
          <p:nvPr/>
        </p:nvSpPr>
        <p:spPr>
          <a:xfrm>
            <a:off x="712381" y="1134480"/>
            <a:ext cx="11271212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目标：推导标量损失</a:t>
            </a:r>
            <a:r>
              <a:rPr lang="en-US" altLang="zh-CN" dirty="0"/>
              <a:t>L</a:t>
            </a:r>
            <a:r>
              <a:rPr lang="zh-CN" altLang="en-US" dirty="0"/>
              <a:t>对各个变量的导数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思路：先明确导数形状，然后用</a:t>
            </a:r>
            <a:r>
              <a:rPr lang="zh-CN" altLang="en-US" b="1" dirty="0"/>
              <a:t>标量函数求导规则</a:t>
            </a:r>
            <a:r>
              <a:rPr lang="zh-CN" altLang="en-US" dirty="0"/>
              <a:t>计算每个位置的导数表达式，最后用链式法则计算导数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内容：先推一个</a:t>
            </a:r>
            <a:r>
              <a:rPr lang="en-US" altLang="zh-CN" dirty="0"/>
              <a:t>Loss Function</a:t>
            </a:r>
            <a:r>
              <a:rPr lang="zh-CN" altLang="en-US" dirty="0"/>
              <a:t>的导数，然后推导矩阵乘法的导数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689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推导内容</a:t>
            </a:r>
            <a:r>
              <a:rPr lang="en-US" altLang="zh-CN" sz="2800" dirty="0">
                <a:solidFill>
                  <a:srgbClr val="2E3C63"/>
                </a:solidFill>
              </a:rPr>
              <a:t>——MSE Loss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5</a:t>
            </a:fld>
            <a:endParaRPr lang="zh-CN" altLang="en-US" strike="noStrike" noProof="1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3A78D8-BA37-B6DD-8A03-0235010EAD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4863" y="897109"/>
            <a:ext cx="8282273" cy="53077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6744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推导内容</a:t>
            </a:r>
            <a:r>
              <a:rPr lang="en-US" altLang="zh-CN" sz="2800" dirty="0">
                <a:solidFill>
                  <a:srgbClr val="2E3C63"/>
                </a:solidFill>
              </a:rPr>
              <a:t>——</a:t>
            </a:r>
            <a:r>
              <a:rPr lang="zh-CN" altLang="en-US" sz="2800" dirty="0">
                <a:solidFill>
                  <a:srgbClr val="2E3C63"/>
                </a:solidFill>
              </a:rPr>
              <a:t>矩阵乘法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6</a:t>
            </a:fld>
            <a:endParaRPr lang="zh-CN" altLang="en-US" strike="noStrike" noProof="1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F874EB-F43A-504E-7B5C-CA8CFC48E7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0904" y="1012031"/>
            <a:ext cx="8570191" cy="50569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424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推导内容</a:t>
            </a:r>
            <a:r>
              <a:rPr lang="en-US" altLang="zh-CN" sz="2800" dirty="0">
                <a:solidFill>
                  <a:srgbClr val="2E3C63"/>
                </a:solidFill>
              </a:rPr>
              <a:t>——</a:t>
            </a:r>
            <a:r>
              <a:rPr lang="zh-CN" altLang="en-US" sz="2800" dirty="0">
                <a:solidFill>
                  <a:srgbClr val="2E3C63"/>
                </a:solidFill>
              </a:rPr>
              <a:t>矩阵乘法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7</a:t>
            </a:fld>
            <a:endParaRPr lang="zh-CN" altLang="en-US" strike="noStrike" noProof="1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8E8324-F8C6-E965-A2A1-1A0CEBD36D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8231" y="897109"/>
            <a:ext cx="8335538" cy="52775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2971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推导内容</a:t>
            </a:r>
            <a:r>
              <a:rPr lang="en-US" altLang="zh-CN" sz="2800" dirty="0">
                <a:solidFill>
                  <a:srgbClr val="2E3C63"/>
                </a:solidFill>
              </a:rPr>
              <a:t>——</a:t>
            </a:r>
            <a:r>
              <a:rPr lang="zh-CN" altLang="en-US" sz="2800" dirty="0">
                <a:solidFill>
                  <a:srgbClr val="2E3C63"/>
                </a:solidFill>
              </a:rPr>
              <a:t>矩阵乘法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8</a:t>
            </a:fld>
            <a:endParaRPr lang="zh-CN" altLang="en-US" strike="noStrike" noProof="1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D33472-085A-77F6-DC69-31DD37CCBF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9055" y="918690"/>
            <a:ext cx="6293889" cy="55546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492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其余的推导内容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9</a:t>
            </a:fld>
            <a:endParaRPr lang="zh-CN" altLang="en-US" strike="noStrike" noProof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00FFF9-7C26-F368-3C63-0D2803627618}"/>
              </a:ext>
            </a:extLst>
          </p:cNvPr>
          <p:cNvSpPr txBox="1"/>
          <p:nvPr/>
        </p:nvSpPr>
        <p:spPr>
          <a:xfrm>
            <a:off x="666384" y="854905"/>
            <a:ext cx="11478971" cy="521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在不考虑效率的情况下，并不需要为每一种新的</a:t>
            </a:r>
            <a:r>
              <a:rPr lang="en-US" altLang="zh-CN" sz="1600" dirty="0"/>
              <a:t>block</a:t>
            </a:r>
            <a:r>
              <a:rPr lang="zh-CN" altLang="en-US" sz="1600" dirty="0"/>
              <a:t>推导导数，只需要推导基本算子的导数：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矩阵加法，加</a:t>
            </a:r>
            <a:r>
              <a:rPr lang="en-US" altLang="zh-CN" sz="1600" dirty="0"/>
              <a:t>bias</a:t>
            </a:r>
            <a:r>
              <a:rPr lang="zh-CN" altLang="en-US" sz="1600" dirty="0"/>
              <a:t>的导数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激活函数，哈达玛积，以及各种</a:t>
            </a:r>
            <a:r>
              <a:rPr lang="en-US" altLang="zh-CN" sz="1600" dirty="0"/>
              <a:t>element-wise</a:t>
            </a:r>
            <a:r>
              <a:rPr lang="zh-CN" altLang="en-US" sz="1600" dirty="0"/>
              <a:t>的计算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降维操作，包含</a:t>
            </a:r>
            <a:r>
              <a:rPr lang="en-US" altLang="zh-CN" sz="1600" dirty="0"/>
              <a:t>sum</a:t>
            </a:r>
            <a:r>
              <a:rPr lang="zh-CN" altLang="en-US" sz="1600" dirty="0"/>
              <a:t>和</a:t>
            </a:r>
            <a:r>
              <a:rPr lang="en-US" altLang="zh-CN" sz="1600" dirty="0" err="1"/>
              <a:t>maxpooling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softmax</a:t>
            </a:r>
            <a:r>
              <a:rPr lang="zh-CN" altLang="en-US" sz="1600" dirty="0"/>
              <a:t>，</a:t>
            </a:r>
            <a:r>
              <a:rPr lang="en-US" altLang="zh-CN" sz="1600" dirty="0"/>
              <a:t>cross-entropy</a:t>
            </a:r>
            <a:r>
              <a:rPr lang="zh-CN" altLang="en-US" sz="1600" dirty="0"/>
              <a:t>以及</a:t>
            </a:r>
            <a:r>
              <a:rPr lang="en-US" altLang="zh-CN" sz="1600" dirty="0" err="1"/>
              <a:t>softmax</a:t>
            </a:r>
            <a:r>
              <a:rPr lang="zh-CN" altLang="en-US" sz="1600" dirty="0"/>
              <a:t>接</a:t>
            </a:r>
            <a:r>
              <a:rPr lang="en-US" altLang="zh-CN" sz="1600" dirty="0"/>
              <a:t>cross-entropy（</a:t>
            </a:r>
            <a:r>
              <a:rPr lang="zh-CN" altLang="en-US" sz="1600" dirty="0"/>
              <a:t>该例可说明推导合并后的导数可能带来速度和存储空间的优势</a:t>
            </a:r>
            <a:r>
              <a:rPr lang="en-US" altLang="zh-CN" sz="1600" dirty="0"/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标准卷积涉及如下算子：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哈达玛积，矩阵加法，</a:t>
            </a:r>
            <a:r>
              <a:rPr lang="en-US" altLang="zh-CN" sz="1600" dirty="0"/>
              <a:t>sum</a:t>
            </a:r>
            <a:r>
              <a:rPr lang="zh-CN" altLang="en-US" sz="1600" dirty="0"/>
              <a:t>降维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实际的卷积会转化成矩阵乘法，此时涉及如下算子：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矩阵乘法，矩阵加法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/>
              <a:t>transformer</a:t>
            </a:r>
            <a:r>
              <a:rPr lang="zh-CN" altLang="en-US" sz="1600" dirty="0"/>
              <a:t>涉及如下算子：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矩阵乘法，矩阵加法，</a:t>
            </a:r>
            <a:r>
              <a:rPr lang="en-US" altLang="zh-CN" sz="1600" dirty="0" err="1"/>
              <a:t>softmax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后续的</a:t>
            </a:r>
            <a:r>
              <a:rPr lang="zh-CN" altLang="en-US" sz="1600" b="1" dirty="0"/>
              <a:t>自动微分</a:t>
            </a:r>
            <a:r>
              <a:rPr lang="zh-CN" altLang="en-US" sz="1600" dirty="0"/>
              <a:t>部分会清楚地展示为何</a:t>
            </a:r>
            <a:r>
              <a:rPr lang="zh-CN" altLang="en-US" sz="1600" b="1" dirty="0"/>
              <a:t>只实现基本算子的导数</a:t>
            </a:r>
            <a:r>
              <a:rPr lang="zh-CN" altLang="en-US" sz="1600" dirty="0"/>
              <a:t>，就可以计算各种</a:t>
            </a:r>
            <a:r>
              <a:rPr lang="en-US" altLang="zh-CN" sz="1600" dirty="0"/>
              <a:t>block</a:t>
            </a:r>
            <a:r>
              <a:rPr lang="zh-CN" altLang="en-US" sz="1600" dirty="0"/>
              <a:t>的中各个变量的导数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实际上就是实现</a:t>
            </a:r>
            <a:r>
              <a:rPr lang="en-US" altLang="zh-CN" sz="1600" dirty="0"/>
              <a:t>forward</a:t>
            </a:r>
            <a:r>
              <a:rPr lang="zh-CN" altLang="en-US" sz="1600" dirty="0"/>
              <a:t>之后，</a:t>
            </a:r>
            <a:r>
              <a:rPr lang="en-US" altLang="zh-CN" sz="1600" dirty="0"/>
              <a:t>backward</a:t>
            </a:r>
            <a:r>
              <a:rPr lang="zh-CN" altLang="en-US" sz="1600" dirty="0"/>
              <a:t>是如何自动实现的</a:t>
            </a:r>
            <a:endParaRPr lang="en-US" altLang="zh-CN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8372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1172030"/>
            <a:ext cx="12190495" cy="190317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sp>
        <p:nvSpPr>
          <p:cNvPr id="2051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9662" y="1356616"/>
            <a:ext cx="9798534" cy="1536087"/>
          </a:xfrm>
        </p:spPr>
        <p:txBody>
          <a:bodyPr vert="horz" lIns="89988" tIns="46794" rIns="89988" bIns="46794" anchor="b" anchorCtr="0"/>
          <a:lstStyle/>
          <a:p>
            <a:pPr defTabSz="914400">
              <a:buClrTx/>
              <a:buSzTx/>
              <a:buFontTx/>
              <a:buNone/>
            </a:pPr>
            <a:r>
              <a:rPr lang="zh-CN" altLang="zh-CN" sz="5400" b="0" kern="1200" normalizeH="0" baseline="0">
                <a:solidFill>
                  <a:schemeClr val="bg1"/>
                </a:solidFill>
                <a:latin typeface="造字工房朗倩（非商用）常规体" charset="-122"/>
                <a:ea typeface="造字工房朗倩（非商用）常规体" charset="-122"/>
                <a:cs typeface="+mj-cs"/>
              </a:rPr>
              <a:t>感谢观看</a:t>
            </a:r>
            <a:br>
              <a:rPr lang="zh-CN" altLang="zh-CN" sz="5400" b="0" kern="1200" normalizeH="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zh-CN" altLang="zh-CN" sz="3200" b="0" kern="1200" normalizeH="0" baseline="0">
                <a:ln>
                  <a:solidFill>
                    <a:schemeClr val="bg1"/>
                  </a:solidFill>
                </a:ln>
                <a:noFill/>
                <a:latin typeface="Bauhaus 93" panose="04030905020B02020C02" charset="0"/>
                <a:ea typeface="+mj-ea"/>
                <a:cs typeface="Bauhaus 93" panose="04030905020B02020C02" charset="0"/>
              </a:rPr>
              <a:t>Thank you for watching</a:t>
            </a:r>
          </a:p>
        </p:txBody>
      </p:sp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I3MjYyZDJmMWViZTNlM2MyYWM2NDVjMTMxYjI5Z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309</Words>
  <Application>Microsoft Office PowerPoint</Application>
  <PresentationFormat>宽屏</PresentationFormat>
  <Paragraphs>54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造字工房朗倩（非商用）常规体</vt:lpstr>
      <vt:lpstr>Arial</vt:lpstr>
      <vt:lpstr>Bauhaus 93</vt:lpstr>
      <vt:lpstr>Calibri</vt:lpstr>
      <vt:lpstr>Times New Roman</vt:lpstr>
      <vt:lpstr>Wingdings</vt:lpstr>
      <vt:lpstr>2023国科大融媒体编辑部出品</vt:lpstr>
      <vt:lpstr>1_2023国科大融媒体编辑部出品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感谢观看 Thank you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极简风蓝色学术模板 Minimalism Blue Academic Template</dc:title>
  <dc:creator/>
  <cp:lastModifiedBy>Ocean Ocean</cp:lastModifiedBy>
  <cp:revision>226</cp:revision>
  <dcterms:created xsi:type="dcterms:W3CDTF">2024-08-08T00:41:00Z</dcterms:created>
  <dcterms:modified xsi:type="dcterms:W3CDTF">2025-12-24T08:35:51Z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0A0D5C00FEC34F0492529B50DACF2A0D_12</vt:lpwstr>
  </property>
</Properties>
</file>