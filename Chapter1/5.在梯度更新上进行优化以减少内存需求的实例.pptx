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12.xml" ContentType="application/vnd.openxmlformats-officedocument.presentationml.tags+xml"/>
  <Override PartName="/ppt/notesSlides/notesSlide1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2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3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4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5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648" r:id="rId1"/>
    <p:sldMasterId id="2147483660" r:id="rId2"/>
  </p:sldMasterIdLst>
  <p:notesMasterIdLst>
    <p:notesMasterId r:id="rId9"/>
  </p:notesMasterIdLst>
  <p:handoutMasterIdLst>
    <p:handoutMasterId r:id="rId10"/>
  </p:handoutMasterIdLst>
  <p:sldIdLst>
    <p:sldId id="260" r:id="rId3"/>
    <p:sldId id="263" r:id="rId4"/>
    <p:sldId id="272" r:id="rId5"/>
    <p:sldId id="273" r:id="rId6"/>
    <p:sldId id="274" r:id="rId7"/>
    <p:sldId id="265" r:id="rId8"/>
  </p:sldIdLst>
  <p:sldSz cx="12192000" cy="6858000"/>
  <p:notesSz cx="6858000" cy="9144000"/>
  <p:custDataLst>
    <p:tags r:id="rId11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7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74994"/>
    <a:srgbClr val="DCEAF6"/>
    <a:srgbClr val="FCF7F0"/>
    <a:srgbClr val="2E3C63"/>
    <a:srgbClr val="4B72AD"/>
    <a:srgbClr val="F7E8D3"/>
    <a:srgbClr val="F2DA3A"/>
    <a:srgbClr val="5399D4"/>
    <a:srgbClr val="DCDC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8"/>
    <p:restoredTop sz="87984" autoAdjust="0"/>
  </p:normalViewPr>
  <p:slideViewPr>
    <p:cSldViewPr snapToGrid="0" showGuides="1">
      <p:cViewPr varScale="1">
        <p:scale>
          <a:sx n="118" d="100"/>
          <a:sy n="118" d="100"/>
        </p:scale>
        <p:origin x="664" y="-440"/>
      </p:cViewPr>
      <p:guideLst>
        <p:guide orient="horz" pos="2160"/>
        <p:guide pos="3777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530" y="1143000"/>
            <a:ext cx="54869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sz="10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57C32-1A85-8E6D-CD79-314F4A28A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15FAB2F-550A-B576-916F-8E0A462CE2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000ABC-F5E1-7364-0C2A-97D6A63C6E77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33442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B42F4-A117-68D7-CFCF-455438A0A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7707A0A-B824-025D-4420-3BA7CCB556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1D6573-B293-3E7A-EB31-2420E06F256E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05320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2974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98918" y="914447"/>
            <a:ext cx="9800165" cy="2570532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98918" y="3560583"/>
            <a:ext cx="9800165" cy="1472476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60" y="608432"/>
            <a:ext cx="10970280" cy="70563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60" y="1490477"/>
            <a:ext cx="10970280" cy="4759445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90996" y="3848598"/>
            <a:ext cx="7769565" cy="766839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996" y="4615438"/>
            <a:ext cx="7769565" cy="867645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60" y="608432"/>
            <a:ext cx="10970280" cy="70563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460" y="1501277"/>
            <a:ext cx="5177310" cy="4748644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2231" y="1501277"/>
            <a:ext cx="5177310" cy="4748644"/>
          </a:xfrm>
        </p:spPr>
        <p:txBody>
          <a:bodyPr lIns="90000" tIns="46800" rIns="90000" bIns="4680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60" y="608432"/>
            <a:ext cx="10970280" cy="70563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60" y="1429274"/>
            <a:ext cx="5342926" cy="38162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460" y="1854096"/>
            <a:ext cx="5342926" cy="4395826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6364" y="1421802"/>
            <a:ext cx="5342926" cy="38162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6364" y="1854096"/>
            <a:ext cx="5342926" cy="4395826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60" y="608432"/>
            <a:ext cx="10970280" cy="70563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60" y="1555280"/>
            <a:ext cx="5233593" cy="460823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1025" y="1555280"/>
            <a:ext cx="5227715" cy="460823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235808" y="914447"/>
            <a:ext cx="1044103" cy="5029459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 fontAlgn="auto"/>
            <a:r>
              <a:rPr lang="zh-CN" altLang="en-US" strike="noStrike" noProof="1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90" y="914447"/>
            <a:ext cx="9170103" cy="5029459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8460" y="774040"/>
            <a:ext cx="10973880" cy="5483082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918" y="2484128"/>
            <a:ext cx="9800165" cy="1018852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 fontAlgn="auto"/>
            <a:r>
              <a:rPr lang="zh-CN" altLang="en-US" strike="noStrike" noProof="1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98918" y="3560583"/>
            <a:ext cx="9800165" cy="471624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98918" y="914447"/>
            <a:ext cx="9800165" cy="2570532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98918" y="3560583"/>
            <a:ext cx="9800165" cy="1472476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60" y="608432"/>
            <a:ext cx="10970280" cy="70563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60" y="1490477"/>
            <a:ext cx="10970280" cy="4759445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90996" y="3848598"/>
            <a:ext cx="7769565" cy="766839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996" y="4615438"/>
            <a:ext cx="7769565" cy="867645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60" y="608432"/>
            <a:ext cx="10970280" cy="70563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460" y="1501277"/>
            <a:ext cx="5177310" cy="4748644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2231" y="1501277"/>
            <a:ext cx="5177310" cy="4748644"/>
          </a:xfrm>
        </p:spPr>
        <p:txBody>
          <a:bodyPr lIns="90000" tIns="46800" rIns="90000" bIns="4680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60" y="608432"/>
            <a:ext cx="10970280" cy="70563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60" y="1429274"/>
            <a:ext cx="5342926" cy="38162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460" y="1854096"/>
            <a:ext cx="5342926" cy="4395826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6364" y="1421802"/>
            <a:ext cx="5342926" cy="38162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6364" y="1854096"/>
            <a:ext cx="5342926" cy="4395826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60" y="608432"/>
            <a:ext cx="10970280" cy="70563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60" y="1555280"/>
            <a:ext cx="5233593" cy="460823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1025" y="1555280"/>
            <a:ext cx="5227715" cy="460823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235808" y="914447"/>
            <a:ext cx="1044103" cy="5029459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 fontAlgn="auto"/>
            <a:r>
              <a:rPr lang="zh-CN" altLang="en-US" strike="noStrike" noProof="1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90" y="914447"/>
            <a:ext cx="9170103" cy="5029459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8460" y="774040"/>
            <a:ext cx="10973880" cy="5483082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918" y="2484128"/>
            <a:ext cx="9800165" cy="1018852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 fontAlgn="auto"/>
            <a:r>
              <a:rPr lang="zh-CN" altLang="en-US" strike="noStrike" noProof="1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98918" y="3560583"/>
            <a:ext cx="9800165" cy="471624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7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tags" Target="../tags/tag11.xml"/><Relationship Id="rId2" Type="http://schemas.openxmlformats.org/officeDocument/2006/relationships/slideLayout" Target="../slideLayouts/slideLayout13.xml"/><Relationship Id="rId16" Type="http://schemas.openxmlformats.org/officeDocument/2006/relationships/tags" Target="../tags/tag1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ags" Target="../tags/tag9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ags" Target="../tags/tag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073" y="608044"/>
            <a:ext cx="10970706" cy="706473"/>
          </a:xfrm>
          <a:prstGeom prst="rect">
            <a:avLst/>
          </a:prstGeom>
          <a:noFill/>
          <a:ln w="9525">
            <a:noFill/>
          </a:ln>
        </p:spPr>
        <p:txBody>
          <a:bodyPr vert="horz" lIns="90170" tIns="46990" rIns="90170" bIns="46990"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  <p:custDataLst>
              <p:tags r:id="rId14"/>
            </p:custDataLst>
          </p:nvPr>
        </p:nvSpPr>
        <p:spPr>
          <a:xfrm>
            <a:off x="608073" y="1490740"/>
            <a:ext cx="10970706" cy="4759570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836" y="6315400"/>
            <a:ext cx="2699016" cy="315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793" y="6315400"/>
            <a:ext cx="3959615" cy="315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8174" y="6315400"/>
            <a:ext cx="2700604" cy="3159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800" baseline="0">
                <a:solidFill>
                  <a:schemeClr val="tx1"/>
                </a:solidFill>
              </a:defRPr>
            </a:lvl1pPr>
          </a:lstStyle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835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2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073" y="608044"/>
            <a:ext cx="10970706" cy="706473"/>
          </a:xfrm>
          <a:prstGeom prst="rect">
            <a:avLst/>
          </a:prstGeom>
          <a:noFill/>
          <a:ln w="9525">
            <a:noFill/>
          </a:ln>
        </p:spPr>
        <p:txBody>
          <a:bodyPr vert="horz" lIns="90170" tIns="46990" rIns="90170" bIns="46990"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  <p:custDataLst>
              <p:tags r:id="rId14"/>
            </p:custDataLst>
          </p:nvPr>
        </p:nvSpPr>
        <p:spPr>
          <a:xfrm>
            <a:off x="608073" y="1490740"/>
            <a:ext cx="10970706" cy="4759570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836" y="6315400"/>
            <a:ext cx="2699016" cy="315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2025/12/24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793" y="6315400"/>
            <a:ext cx="3959615" cy="315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8174" y="6315400"/>
            <a:ext cx="2700604" cy="3159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800" baseline="0">
                <a:solidFill>
                  <a:schemeClr val="tx1"/>
                </a:solidFill>
              </a:defRPr>
            </a:lvl1pPr>
          </a:lstStyle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835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2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15.xml"/><Relationship Id="rId7" Type="http://schemas.openxmlformats.org/officeDocument/2006/relationships/image" Target="../media/image3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16.xml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19.xml"/><Relationship Id="rId7" Type="http://schemas.openxmlformats.org/officeDocument/2006/relationships/image" Target="../media/image3.pn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notesSlide" Target="../notesSlides/notesSlide3.xml"/><Relationship Id="rId11" Type="http://schemas.openxmlformats.org/officeDocument/2006/relationships/image" Target="../media/image8.png"/><Relationship Id="rId5" Type="http://schemas.openxmlformats.org/officeDocument/2006/relationships/slideLayout" Target="../slideLayouts/slideLayout18.xml"/><Relationship Id="rId10" Type="http://schemas.openxmlformats.org/officeDocument/2006/relationships/image" Target="../media/image7.png"/><Relationship Id="rId4" Type="http://schemas.openxmlformats.org/officeDocument/2006/relationships/tags" Target="../tags/tag20.xml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3.png"/><Relationship Id="rId3" Type="http://schemas.openxmlformats.org/officeDocument/2006/relationships/tags" Target="../tags/tag23.xml"/><Relationship Id="rId7" Type="http://schemas.openxmlformats.org/officeDocument/2006/relationships/image" Target="../media/image3.png"/><Relationship Id="rId12" Type="http://schemas.openxmlformats.org/officeDocument/2006/relationships/image" Target="../media/image12.pn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notesSlide" Target="../notesSlides/notesSlide4.xml"/><Relationship Id="rId11" Type="http://schemas.openxmlformats.org/officeDocument/2006/relationships/image" Target="../media/image11.png"/><Relationship Id="rId5" Type="http://schemas.openxmlformats.org/officeDocument/2006/relationships/slideLayout" Target="../slideLayouts/slideLayout18.xml"/><Relationship Id="rId10" Type="http://schemas.openxmlformats.org/officeDocument/2006/relationships/image" Target="../media/image10.png"/><Relationship Id="rId4" Type="http://schemas.openxmlformats.org/officeDocument/2006/relationships/tags" Target="../tags/tag24.xml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27.xml"/><Relationship Id="rId7" Type="http://schemas.openxmlformats.org/officeDocument/2006/relationships/image" Target="../media/image3.png"/><Relationship Id="rId12" Type="http://schemas.openxmlformats.org/officeDocument/2006/relationships/image" Target="../media/image16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notesSlide" Target="../notesSlides/notesSlide5.xml"/><Relationship Id="rId11" Type="http://schemas.openxmlformats.org/officeDocument/2006/relationships/image" Target="../media/image10.png"/><Relationship Id="rId5" Type="http://schemas.openxmlformats.org/officeDocument/2006/relationships/slideLayout" Target="../slideLayouts/slideLayout18.xml"/><Relationship Id="rId10" Type="http://schemas.openxmlformats.org/officeDocument/2006/relationships/image" Target="../media/image15.png"/><Relationship Id="rId4" Type="http://schemas.openxmlformats.org/officeDocument/2006/relationships/tags" Target="../tags/tag28.xml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3" name="图片 5" descr="剪影居中蓝 低版本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3" y="4564099"/>
            <a:ext cx="12190495" cy="3776196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4" name="图片 1" descr="国科大标准Logo横式一（蓝色）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354" y="272029"/>
            <a:ext cx="2992068" cy="6269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301590" y="1429385"/>
            <a:ext cx="11657330" cy="15005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2800" b="1" spc="200" dirty="0">
                <a:latin typeface="Times New Roman" panose="02020603050405020304" charset="0"/>
                <a:ea typeface="+mn-ea"/>
                <a:cs typeface="Times New Roman" panose="02020603050405020304" charset="0"/>
                <a:sym typeface="+mn-ea"/>
              </a:rPr>
              <a:t>Topic1 Gradient</a:t>
            </a:r>
          </a:p>
          <a:p>
            <a:pPr algn="ctr"/>
            <a:r>
              <a:rPr lang="zh-CN" altLang="en-US" sz="2800" b="1" spc="200" dirty="0">
                <a:latin typeface="Times New Roman" panose="02020603050405020304" charset="0"/>
                <a:ea typeface="+mn-ea"/>
                <a:cs typeface="Times New Roman" panose="02020603050405020304" charset="0"/>
                <a:sym typeface="+mn-ea"/>
              </a:rPr>
              <a:t>论文实例：从梯度更新角度缓解内存消耗</a:t>
            </a:r>
            <a:endParaRPr lang="en-US" altLang="zh-CN" sz="2800" b="1" spc="200" dirty="0">
              <a:latin typeface="Times New Roman" panose="02020603050405020304" charset="0"/>
              <a:ea typeface="+mn-ea"/>
              <a:cs typeface="Times New Roman" panose="02020603050405020304" charset="0"/>
              <a:sym typeface="+mn-ea"/>
            </a:endParaRPr>
          </a:p>
          <a:p>
            <a:pPr algn="ctr"/>
            <a:r>
              <a:rPr lang="en" altLang="zh-CN" dirty="0" err="1"/>
              <a:t>GaLore</a:t>
            </a:r>
            <a:r>
              <a:rPr lang="en" altLang="zh-CN" dirty="0"/>
              <a:t>: Memory-Efficient LLM Training by Gradient Low-Rank Projection</a:t>
            </a:r>
            <a:endParaRPr lang="en-US" altLang="zh-CN" sz="1800" spc="200" dirty="0">
              <a:latin typeface="Times New Roman" panose="02020603050405020304" charset="0"/>
              <a:ea typeface="+mn-ea"/>
              <a:cs typeface="Times New Roman" panose="02020603050405020304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952840" y="3975735"/>
            <a:ext cx="4159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>
                <a:latin typeface="+mn-ea"/>
                <a:ea typeface="+mn-ea"/>
                <a:cs typeface="+mn-ea"/>
              </a:rPr>
              <a:t>成员</a:t>
            </a:r>
            <a:r>
              <a:rPr lang="en-US" altLang="zh-CN" sz="1800" dirty="0">
                <a:latin typeface="+mn-ea"/>
                <a:ea typeface="+mn-ea"/>
                <a:cs typeface="+mn-ea"/>
              </a:rPr>
              <a:t>       2025.12.24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7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3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01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2E3C63"/>
                </a:solidFill>
              </a:rPr>
              <a:t>Galore</a:t>
            </a:r>
            <a:r>
              <a:rPr lang="zh-CN" altLang="en-US" sz="2800" dirty="0">
                <a:solidFill>
                  <a:srgbClr val="2E3C63"/>
                </a:solidFill>
              </a:rPr>
              <a:t>背景</a:t>
            </a:r>
          </a:p>
          <a:p>
            <a:endParaRPr lang="zh-CN" altLang="en-US" sz="28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1</a:t>
            </a:fld>
            <a:endParaRPr lang="zh-CN" altLang="en-US" strike="noStrike" noProof="1"/>
          </a:p>
        </p:txBody>
      </p:sp>
      <p:sp>
        <p:nvSpPr>
          <p:cNvPr id="11" name="文本框 10"/>
          <p:cNvSpPr txBox="1"/>
          <p:nvPr/>
        </p:nvSpPr>
        <p:spPr>
          <a:xfrm>
            <a:off x="308055" y="970725"/>
            <a:ext cx="6658802" cy="4724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训练显存主要由三块构成：</a:t>
            </a:r>
            <a:endParaRPr lang="en" altLang="zh-CN" sz="1600" dirty="0"/>
          </a:p>
          <a:p>
            <a:pPr lvl="0">
              <a:lnSpc>
                <a:spcPct val="150000"/>
              </a:lnSpc>
            </a:pPr>
            <a:r>
              <a:rPr lang="zh-CN" altLang="en-US" sz="1600" b="1" dirty="0"/>
              <a:t>参数</a:t>
            </a:r>
            <a:r>
              <a:rPr lang="en-US" altLang="zh-CN" sz="1600" b="1" dirty="0"/>
              <a:t>(</a:t>
            </a:r>
            <a:r>
              <a:rPr lang="en" altLang="zh-CN" sz="1600" b="1" dirty="0"/>
              <a:t>Weights)</a:t>
            </a:r>
            <a:r>
              <a:rPr lang="zh-CN" altLang="en" sz="1600" dirty="0"/>
              <a:t>、</a:t>
            </a:r>
            <a:r>
              <a:rPr lang="zh-CN" altLang="en-US" sz="1600" b="1" dirty="0"/>
              <a:t>梯度</a:t>
            </a:r>
            <a:r>
              <a:rPr lang="en-US" altLang="zh-CN" sz="1600" b="1" dirty="0"/>
              <a:t>(</a:t>
            </a:r>
            <a:r>
              <a:rPr lang="en" altLang="zh-CN" sz="1600" b="1" dirty="0"/>
              <a:t>Gradients)</a:t>
            </a:r>
            <a:r>
              <a:rPr lang="zh-CN" altLang="en" sz="1600" dirty="0"/>
              <a:t>、</a:t>
            </a:r>
            <a:r>
              <a:rPr lang="zh-CN" altLang="en-US" sz="1600" b="1" dirty="0"/>
              <a:t>优化器状态</a:t>
            </a:r>
            <a:r>
              <a:rPr lang="en-US" altLang="zh-CN" sz="1600" b="1" dirty="0"/>
              <a:t>(</a:t>
            </a:r>
            <a:r>
              <a:rPr lang="en" altLang="zh-CN" sz="1600" b="1" dirty="0"/>
              <a:t>Optimizer states)</a:t>
            </a:r>
          </a:p>
          <a:p>
            <a:pPr>
              <a:lnSpc>
                <a:spcPct val="150000"/>
              </a:lnSpc>
            </a:pP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以 </a:t>
            </a:r>
            <a:r>
              <a:rPr lang="en" altLang="zh-CN" sz="1600" dirty="0"/>
              <a:t>Adam/</a:t>
            </a:r>
            <a:r>
              <a:rPr lang="en" altLang="zh-CN" sz="1600" dirty="0" err="1"/>
              <a:t>AdamW</a:t>
            </a:r>
            <a:r>
              <a:rPr lang="en" altLang="zh-CN" sz="1600" dirty="0"/>
              <a:t> </a:t>
            </a:r>
            <a:r>
              <a:rPr lang="zh-CN" altLang="en-US" sz="1600" dirty="0"/>
              <a:t>为例，需要存 </a:t>
            </a:r>
            <a:r>
              <a:rPr lang="zh-CN" altLang="en-US" sz="1600" b="1" dirty="0"/>
              <a:t>一阶动量 </a:t>
            </a:r>
            <a:r>
              <a:rPr lang="en" altLang="zh-CN" sz="1600" b="1" dirty="0"/>
              <a:t>m</a:t>
            </a:r>
            <a:r>
              <a:rPr lang="zh-CN" altLang="en" sz="1600" b="1" dirty="0"/>
              <a:t>、</a:t>
            </a:r>
            <a:r>
              <a:rPr lang="zh-CN" altLang="en-US" sz="1600" b="1" dirty="0"/>
              <a:t>二阶动量 </a:t>
            </a:r>
            <a:r>
              <a:rPr lang="en" altLang="zh-CN" sz="1600" b="1" dirty="0"/>
              <a:t>v</a:t>
            </a:r>
            <a:r>
              <a:rPr lang="zh-CN" altLang="en" sz="1600" dirty="0"/>
              <a:t>，</a:t>
            </a:r>
            <a:r>
              <a:rPr lang="zh-CN" altLang="en-US" sz="1600" dirty="0"/>
              <a:t>它们的尺寸与参数同级，常常 </a:t>
            </a:r>
            <a:r>
              <a:rPr lang="zh-CN" altLang="en-US" sz="1600" b="1" dirty="0"/>
              <a:t>比参数本身更占显存。</a:t>
            </a:r>
            <a:r>
              <a:rPr lang="zh-CN" altLang="en-US" sz="1600" dirty="0"/>
              <a:t> </a:t>
            </a:r>
          </a:p>
          <a:p>
            <a:pPr lvl="0">
              <a:lnSpc>
                <a:spcPct val="150000"/>
              </a:lnSpc>
            </a:pP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从零预训练 </a:t>
            </a:r>
            <a:r>
              <a:rPr lang="en" altLang="zh-CN" sz="1600" b="1" dirty="0" err="1"/>
              <a:t>LLaMA</a:t>
            </a:r>
            <a:r>
              <a:rPr lang="en" altLang="zh-CN" sz="1600" b="1" dirty="0"/>
              <a:t> 7B</a:t>
            </a:r>
            <a:r>
              <a:rPr lang="zh-CN" altLang="en" sz="1600" dirty="0"/>
              <a:t>（</a:t>
            </a:r>
            <a:r>
              <a:rPr lang="en" altLang="zh-CN" sz="1600" dirty="0"/>
              <a:t>BF16</a:t>
            </a:r>
            <a:r>
              <a:rPr lang="zh-CN" altLang="en" sz="1600" dirty="0"/>
              <a:t>、</a:t>
            </a:r>
            <a:r>
              <a:rPr lang="en" altLang="zh-CN" sz="1600" dirty="0"/>
              <a:t>seq=2048 </a:t>
            </a:r>
            <a:r>
              <a:rPr lang="zh-CN" altLang="en-US" sz="1600" dirty="0"/>
              <a:t>等设定），单 </a:t>
            </a:r>
            <a:r>
              <a:rPr lang="en" altLang="zh-CN" sz="1600" dirty="0"/>
              <a:t>batch </a:t>
            </a:r>
            <a:r>
              <a:rPr lang="zh-CN" altLang="en-US" sz="1600" dirty="0"/>
              <a:t>至少约 </a:t>
            </a:r>
            <a:r>
              <a:rPr lang="en-US" altLang="zh-CN" sz="1600" b="1" dirty="0"/>
              <a:t>58</a:t>
            </a:r>
            <a:r>
              <a:rPr lang="en" altLang="zh-CN" sz="1600" b="1" dirty="0"/>
              <a:t>GB</a:t>
            </a:r>
            <a:r>
              <a:rPr lang="zh-CN" altLang="en" sz="1600" dirty="0"/>
              <a:t>：</a:t>
            </a:r>
            <a:r>
              <a:rPr lang="zh-CN" altLang="en-US" sz="1600" dirty="0"/>
              <a:t>约 </a:t>
            </a:r>
            <a:r>
              <a:rPr lang="en-US" altLang="zh-CN" sz="1600" b="1" dirty="0"/>
              <a:t>14</a:t>
            </a:r>
            <a:r>
              <a:rPr lang="en" altLang="zh-CN" sz="1600" b="1" dirty="0"/>
              <a:t>GB </a:t>
            </a:r>
            <a:r>
              <a:rPr lang="zh-CN" altLang="en-US" sz="1600" b="1" dirty="0"/>
              <a:t>参数 </a:t>
            </a:r>
            <a:r>
              <a:rPr lang="en-US" altLang="zh-CN" sz="1600" b="1" dirty="0"/>
              <a:t>+ 42</a:t>
            </a:r>
            <a:r>
              <a:rPr lang="en" altLang="zh-CN" sz="1600" b="1" dirty="0"/>
              <a:t>GB Adam </a:t>
            </a:r>
            <a:r>
              <a:rPr lang="zh-CN" altLang="en-US" sz="1600" b="1" dirty="0"/>
              <a:t>状态与梯度 </a:t>
            </a:r>
            <a:r>
              <a:rPr lang="en-US" altLang="zh-CN" sz="1600" b="1" dirty="0"/>
              <a:t>+ 2</a:t>
            </a:r>
            <a:r>
              <a:rPr lang="en" altLang="zh-CN" sz="1600" b="1" dirty="0"/>
              <a:t>GB </a:t>
            </a:r>
            <a:r>
              <a:rPr lang="zh-CN" altLang="en-US" sz="1600" b="1" dirty="0"/>
              <a:t>激活</a:t>
            </a:r>
            <a:r>
              <a:rPr lang="zh-CN" altLang="en-US" sz="1600" dirty="0"/>
              <a:t>，导致消费级 </a:t>
            </a:r>
            <a:r>
              <a:rPr lang="en-US" altLang="zh-CN" sz="1600" dirty="0"/>
              <a:t>24</a:t>
            </a:r>
            <a:r>
              <a:rPr lang="en" altLang="zh-CN" sz="1600" dirty="0"/>
              <a:t>GB GPU </a:t>
            </a:r>
            <a:r>
              <a:rPr lang="zh-CN" altLang="en-US" sz="1600" dirty="0"/>
              <a:t>很难直接训练。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endParaRPr lang="zh-CN" altLang="en-US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目标：</a:t>
            </a:r>
            <a:r>
              <a:rPr lang="zh-CN" altLang="en-US" sz="1600" b="1" dirty="0"/>
              <a:t>不改模型结构、不做激活重算</a:t>
            </a:r>
            <a:r>
              <a:rPr lang="en-US" altLang="zh-CN" sz="1600" b="1" dirty="0"/>
              <a:t>/</a:t>
            </a:r>
            <a:r>
              <a:rPr lang="en" altLang="zh-CN" sz="1600" b="1" dirty="0"/>
              <a:t>Offload</a:t>
            </a:r>
            <a:r>
              <a:rPr lang="en" altLang="zh-CN" sz="1600" dirty="0"/>
              <a:t> </a:t>
            </a:r>
            <a:r>
              <a:rPr lang="zh-CN" altLang="en-US" sz="1600" dirty="0"/>
              <a:t>的前提下，</a:t>
            </a:r>
            <a:r>
              <a:rPr lang="zh-CN" altLang="en-US" sz="1600" b="1" dirty="0"/>
              <a:t>从“梯度下降</a:t>
            </a:r>
            <a:r>
              <a:rPr lang="en-US" altLang="zh-CN" sz="1600" b="1" dirty="0"/>
              <a:t>/</a:t>
            </a:r>
            <a:r>
              <a:rPr lang="zh-CN" altLang="en-US" sz="1600" b="1" dirty="0"/>
              <a:t>优化器”视角减少显存。</a:t>
            </a:r>
            <a:endParaRPr lang="zh-CN" altLang="en-US" sz="1600" dirty="0"/>
          </a:p>
          <a:p>
            <a:pPr lvl="0">
              <a:lnSpc>
                <a:spcPct val="150000"/>
              </a:lnSpc>
            </a:pPr>
            <a:endParaRPr lang="en-US" altLang="zh-CN" sz="16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0D1D308-CB98-A41C-6732-8E51E471504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73559" y="2312086"/>
            <a:ext cx="4496667" cy="223382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7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>
            <p:custDataLst>
              <p:tags r:id="rId3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01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2E3C63"/>
                </a:solidFill>
              </a:rPr>
              <a:t>Galore</a:t>
            </a:r>
            <a:r>
              <a:rPr lang="zh-CN" altLang="en-US" sz="2800" dirty="0">
                <a:solidFill>
                  <a:srgbClr val="2E3C63"/>
                </a:solidFill>
              </a:rPr>
              <a:t>和梯度的关系</a:t>
            </a:r>
            <a:endParaRPr lang="en-US" altLang="zh-CN" sz="28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2</a:t>
            </a:fld>
            <a:endParaRPr lang="zh-CN" altLang="en-US" strike="noStrike" noProof="1"/>
          </a:p>
        </p:txBody>
      </p:sp>
      <p:sp>
        <p:nvSpPr>
          <p:cNvPr id="8" name="文本框 7"/>
          <p:cNvSpPr txBox="1"/>
          <p:nvPr/>
        </p:nvSpPr>
        <p:spPr>
          <a:xfrm>
            <a:off x="331470" y="976630"/>
            <a:ext cx="10591800" cy="4177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>
                <a:sym typeface="+mn-ea"/>
              </a:rPr>
              <a:t>在</a:t>
            </a:r>
            <a:r>
              <a:rPr lang="en-US" altLang="zh-CN" sz="1600" dirty="0">
                <a:sym typeface="+mn-ea"/>
              </a:rPr>
              <a:t>full</a:t>
            </a:r>
            <a:r>
              <a:rPr lang="zh-CN" altLang="en-US" sz="1600" dirty="0">
                <a:sym typeface="+mn-ea"/>
              </a:rPr>
              <a:t> </a:t>
            </a:r>
            <a:r>
              <a:rPr lang="en-US" altLang="zh-CN" sz="1600" dirty="0">
                <a:sym typeface="+mn-ea"/>
              </a:rPr>
              <a:t>rank</a:t>
            </a:r>
            <a:r>
              <a:rPr lang="zh-CN" altLang="en-US" sz="1600" dirty="0">
                <a:sym typeface="+mn-ea"/>
              </a:rPr>
              <a:t>里面的常规梯度更新：</a:t>
            </a:r>
            <a:endParaRPr lang="en-US" altLang="zh-CN" sz="1600" dirty="0">
              <a:sym typeface="+mn-ea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8E17FEA-D710-F798-1465-B252C4EF5E3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7887" y="1425831"/>
            <a:ext cx="5613400" cy="10795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F42FEADF-167D-2355-E5DB-EB5A11F73E88}"/>
              </a:ext>
            </a:extLst>
          </p:cNvPr>
          <p:cNvSpPr txBox="1"/>
          <p:nvPr/>
        </p:nvSpPr>
        <p:spPr>
          <a:xfrm>
            <a:off x="331470" y="2581229"/>
            <a:ext cx="9535886" cy="417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>
                <a:sym typeface="+mn-ea"/>
              </a:rPr>
              <a:t>以</a:t>
            </a:r>
            <a:r>
              <a:rPr lang="en-US" altLang="zh-CN" sz="1600" dirty="0">
                <a:sym typeface="+mn-ea"/>
              </a:rPr>
              <a:t>Adam</a:t>
            </a:r>
            <a:r>
              <a:rPr lang="zh-CN" altLang="en-US" sz="1600" dirty="0">
                <a:sym typeface="+mn-ea"/>
              </a:rPr>
              <a:t>为例，所需要维护的参数数量很多（</a:t>
            </a:r>
            <a:r>
              <a:rPr lang="en-US" altLang="zh-CN" sz="1600" dirty="0">
                <a:sym typeface="+mn-ea"/>
              </a:rPr>
              <a:t>Mt</a:t>
            </a:r>
            <a:r>
              <a:rPr lang="zh-CN" altLang="en-US" sz="1600" dirty="0">
                <a:sym typeface="+mn-ea"/>
              </a:rPr>
              <a:t>和</a:t>
            </a:r>
            <a:r>
              <a:rPr lang="en-US" altLang="zh-CN" sz="1600" dirty="0">
                <a:sym typeface="+mn-ea"/>
              </a:rPr>
              <a:t>Vt</a:t>
            </a:r>
            <a:r>
              <a:rPr lang="zh-CN" altLang="en-US" sz="1600" dirty="0">
                <a:sym typeface="+mn-ea"/>
              </a:rPr>
              <a:t>）：</a:t>
            </a:r>
            <a:endParaRPr lang="en-US" altLang="zh-CN" sz="1600" dirty="0">
              <a:sym typeface="+mn-ea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8ACF6207-4ADF-B3FD-55BD-A93B0D96D07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33486" y="3194714"/>
            <a:ext cx="4318000" cy="148590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7095110C-FF86-73F9-1B44-571587D9F95F}"/>
              </a:ext>
            </a:extLst>
          </p:cNvPr>
          <p:cNvSpPr txBox="1"/>
          <p:nvPr/>
        </p:nvSpPr>
        <p:spPr>
          <a:xfrm>
            <a:off x="472040" y="5056208"/>
            <a:ext cx="104512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论文观察</a:t>
            </a:r>
            <a:r>
              <a:rPr lang="en-US" altLang="zh-CN" dirty="0"/>
              <a:t>/</a:t>
            </a:r>
            <a:r>
              <a:rPr lang="zh-CN" altLang="en-US" dirty="0"/>
              <a:t>动机：训练过程中 </a:t>
            </a:r>
            <a:r>
              <a:rPr lang="zh-CN" altLang="en-US" b="1" dirty="0"/>
              <a:t>梯度矩阵 </a:t>
            </a:r>
            <a:r>
              <a:rPr lang="en" altLang="zh-CN" dirty="0" err="1"/>
              <a:t>G_t</a:t>
            </a:r>
            <a:r>
              <a:rPr lang="en" altLang="zh-CN" dirty="0"/>
              <a:t> </a:t>
            </a:r>
            <a:r>
              <a:rPr lang="zh-CN" altLang="en-US" dirty="0"/>
              <a:t>往往逐渐呈现 </a:t>
            </a:r>
            <a:r>
              <a:rPr lang="zh-CN" altLang="en-US" b="1" dirty="0"/>
              <a:t>低秩结构</a:t>
            </a:r>
            <a:r>
              <a:rPr lang="zh-CN" altLang="en-US" dirty="0"/>
              <a:t>，而且该低秩子空间 </a:t>
            </a:r>
            <a:r>
              <a:rPr lang="zh-CN" altLang="en-US" b="1" dirty="0"/>
              <a:t>变化较慢</a:t>
            </a:r>
            <a:r>
              <a:rPr lang="zh-CN" altLang="en-US" dirty="0"/>
              <a:t> 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CB071AB1-C662-CB51-D5B5-DE66FBC0351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64200" y="3194050"/>
            <a:ext cx="863600" cy="46990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C147D39B-2D29-4A62-47CD-0FA904C141D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89125" y="1370935"/>
            <a:ext cx="863600" cy="469900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7391F052-8B4B-25AB-6E7A-2B86318B94B7}"/>
              </a:ext>
            </a:extLst>
          </p:cNvPr>
          <p:cNvSpPr txBox="1"/>
          <p:nvPr/>
        </p:nvSpPr>
        <p:spPr>
          <a:xfrm>
            <a:off x="7803874" y="1982852"/>
            <a:ext cx="4024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表示梯度下降的一些方法，例如</a:t>
            </a:r>
            <a:r>
              <a:rPr kumimoji="1" lang="en-US" altLang="zh-CN" dirty="0" err="1"/>
              <a:t>adam</a:t>
            </a:r>
            <a:endParaRPr kumimoji="1"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D8C7D-7C25-7B67-B6A7-65B3602B1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>
            <a:extLst>
              <a:ext uri="{FF2B5EF4-FFF2-40B4-BE49-F238E27FC236}">
                <a16:creationId xmlns:a16="http://schemas.microsoft.com/office/drawing/2014/main" id="{E4B85DEC-E90A-86FD-DB18-3B4046789E3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148482D-9842-D74F-29CE-88FEDCD3261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>
            <a:extLst>
              <a:ext uri="{FF2B5EF4-FFF2-40B4-BE49-F238E27FC236}">
                <a16:creationId xmlns:a16="http://schemas.microsoft.com/office/drawing/2014/main" id="{0AB7D372-BC2E-35CF-EBF2-25521060C9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>
            <a:extLst>
              <a:ext uri="{FF2B5EF4-FFF2-40B4-BE49-F238E27FC236}">
                <a16:creationId xmlns:a16="http://schemas.microsoft.com/office/drawing/2014/main" id="{7B7EDB94-B512-BD79-4CEE-79B084E8501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01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5E1ABE4-6B05-B6B6-4AFB-FF0AFD50E96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>
                <a:solidFill>
                  <a:srgbClr val="2E3C63"/>
                </a:solidFill>
              </a:rPr>
              <a:t>Galore</a:t>
            </a:r>
            <a:r>
              <a:rPr lang="zh-CN" altLang="en-US" sz="2800" dirty="0">
                <a:solidFill>
                  <a:srgbClr val="2E3C63"/>
                </a:solidFill>
              </a:rPr>
              <a:t>本质：梯度低秩投影 </a:t>
            </a:r>
            <a:r>
              <a:rPr lang="en-US" altLang="zh-CN" sz="2800" dirty="0">
                <a:solidFill>
                  <a:srgbClr val="2E3C63"/>
                </a:solidFill>
              </a:rPr>
              <a:t>+ </a:t>
            </a:r>
            <a:r>
              <a:rPr lang="zh-CN" altLang="en-US" sz="2800" dirty="0">
                <a:solidFill>
                  <a:srgbClr val="2E3C63"/>
                </a:solidFill>
              </a:rPr>
              <a:t>在低维空间跑 </a:t>
            </a:r>
            <a:r>
              <a:rPr lang="en-US" altLang="zh-CN" sz="2800" dirty="0">
                <a:solidFill>
                  <a:srgbClr val="2E3C63"/>
                </a:solidFill>
              </a:rPr>
              <a:t>Adam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FA8043-FE3E-AC4A-BFEB-024BBE16E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3</a:t>
            </a:fld>
            <a:endParaRPr lang="zh-CN" altLang="en-US" strike="noStrike" noProof="1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5BEADC1-A0BF-7D71-C03A-AFECF9287744}"/>
              </a:ext>
            </a:extLst>
          </p:cNvPr>
          <p:cNvSpPr txBox="1"/>
          <p:nvPr/>
        </p:nvSpPr>
        <p:spPr>
          <a:xfrm>
            <a:off x="331470" y="976630"/>
            <a:ext cx="10591800" cy="785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>
                <a:sym typeface="+mn-ea"/>
              </a:rPr>
              <a:t>直接想法：</a:t>
            </a:r>
            <a:r>
              <a:rPr lang="zh-CN" altLang="en-US" sz="1600" b="1" dirty="0"/>
              <a:t>让 </a:t>
            </a:r>
            <a:r>
              <a:rPr lang="en" altLang="zh-CN" sz="1600" b="1" dirty="0"/>
              <a:t>Adam </a:t>
            </a:r>
            <a:r>
              <a:rPr lang="zh-CN" altLang="en-US" sz="1600" b="1" dirty="0"/>
              <a:t>只维护“低秩梯度 </a:t>
            </a:r>
            <a:r>
              <a:rPr lang="en" altLang="zh-CN" sz="1600" b="1" dirty="0"/>
              <a:t>core”</a:t>
            </a:r>
            <a:r>
              <a:rPr lang="zh-CN" altLang="en-US" sz="1600" b="1" dirty="0"/>
              <a:t>的动量，而不是全维梯度。</a:t>
            </a:r>
            <a:endParaRPr lang="en-US" altLang="zh-CN" sz="1600" b="1" dirty="0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/>
              <a:t>具体实现：</a:t>
            </a:r>
            <a:r>
              <a:rPr lang="en-US" altLang="zh-CN" sz="1600" dirty="0"/>
              <a:t>SVD</a:t>
            </a:r>
            <a:r>
              <a:rPr lang="zh-CN" altLang="en-US" sz="1600" dirty="0"/>
              <a:t>分解获得</a:t>
            </a:r>
            <a:r>
              <a:rPr lang="en-US" altLang="zh-CN" sz="1600" b="1" dirty="0"/>
              <a:t>top-r</a:t>
            </a:r>
            <a:r>
              <a:rPr lang="zh-CN" altLang="en-US" sz="1600" dirty="0"/>
              <a:t>个最大特征值对应的特征向量，从而实现</a:t>
            </a:r>
            <a:r>
              <a:rPr lang="en-US" altLang="zh-CN" sz="1600" b="1" dirty="0"/>
              <a:t>low-rank</a:t>
            </a:r>
            <a:endParaRPr lang="zh-CN" altLang="en-US" sz="16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A48B007-ACEA-28B2-74A6-3698D5A5F7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37022" y="1875465"/>
            <a:ext cx="4190348" cy="127926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73197B5-8EC1-92AF-312F-115EFB113C6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2424" y="4266533"/>
            <a:ext cx="2374900" cy="6223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E5B5A7F-786B-F0A4-3DBC-6A3B9A18069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76224" y="2010158"/>
            <a:ext cx="5803900" cy="210820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23A58609-F129-9F33-194C-8E6280B71CE6}"/>
              </a:ext>
            </a:extLst>
          </p:cNvPr>
          <p:cNvSpPr txBox="1"/>
          <p:nvPr/>
        </p:nvSpPr>
        <p:spPr>
          <a:xfrm>
            <a:off x="411876" y="3351836"/>
            <a:ext cx="5215494" cy="45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800" dirty="0"/>
              <a:t>和</a:t>
            </a:r>
            <a:r>
              <a:rPr lang="en-US" altLang="zh-CN" sz="1800" dirty="0"/>
              <a:t>LORA</a:t>
            </a:r>
            <a:r>
              <a:rPr lang="zh-CN" altLang="en-US" sz="1800" dirty="0"/>
              <a:t>作对比：显存需求更少</a:t>
            </a:r>
            <a:endParaRPr lang="zh-CN" altLang="en-US" sz="1800" b="1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FAA5068B-2BAF-931A-8609-85364B71DFF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2148" y="3985629"/>
            <a:ext cx="4592646" cy="1896248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2FFD4FE1-4500-4570-9EF3-AA7322FDC1C4}"/>
              </a:ext>
            </a:extLst>
          </p:cNvPr>
          <p:cNvSpPr txBox="1"/>
          <p:nvPr/>
        </p:nvSpPr>
        <p:spPr>
          <a:xfrm>
            <a:off x="6106886" y="436517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Lora</a:t>
            </a:r>
            <a:endParaRPr kumimoji="1"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72AA98A-11DD-EAF8-10BB-EF107CE7930E}"/>
              </a:ext>
            </a:extLst>
          </p:cNvPr>
          <p:cNvSpPr txBox="1"/>
          <p:nvPr/>
        </p:nvSpPr>
        <p:spPr>
          <a:xfrm>
            <a:off x="6054853" y="513564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Galore</a:t>
            </a:r>
            <a:endParaRPr kumimoji="1" lang="zh-CN" altLang="en-US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BA05D1E3-2AEF-67E5-E910-2CC39252D02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32016" y="4980701"/>
            <a:ext cx="4035879" cy="85687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94086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B00E5-D87D-05EC-D60D-4827490BE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>
            <a:extLst>
              <a:ext uri="{FF2B5EF4-FFF2-40B4-BE49-F238E27FC236}">
                <a16:creationId xmlns:a16="http://schemas.microsoft.com/office/drawing/2014/main" id="{2DC8C462-B7EA-D347-4618-8F45DC76B3B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FFBCA25C-FC08-67E3-2872-3AF00834E84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>
            <a:extLst>
              <a:ext uri="{FF2B5EF4-FFF2-40B4-BE49-F238E27FC236}">
                <a16:creationId xmlns:a16="http://schemas.microsoft.com/office/drawing/2014/main" id="{D479EBAD-1777-8A43-514E-0F489319D0B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>
            <a:extLst>
              <a:ext uri="{FF2B5EF4-FFF2-40B4-BE49-F238E27FC236}">
                <a16:creationId xmlns:a16="http://schemas.microsoft.com/office/drawing/2014/main" id="{D2CB38F2-1288-5FD1-D542-3257973F9EB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01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B9D729A-758C-DA22-48D6-321CDB265A3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812148" y="172029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dirty="0">
                <a:solidFill>
                  <a:srgbClr val="2E3C63"/>
                </a:solidFill>
              </a:rPr>
              <a:t>详细计算</a:t>
            </a:r>
            <a:endParaRPr lang="en-US" altLang="zh-CN" sz="28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C4CAE4-F5D7-13C9-E178-8A3AE838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4</a:t>
            </a:fld>
            <a:endParaRPr lang="zh-CN" altLang="en-US" strike="noStrike" noProof="1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4DDD1B8-A264-0033-EC1A-70ABA4EB120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90807" y="1274446"/>
            <a:ext cx="3458714" cy="147638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2A08B38-BC6F-4FD0-F042-0F035F821D0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6785" y="981175"/>
            <a:ext cx="4091646" cy="483325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33C80A8-2580-4030-A9EC-8ACC4CE702B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08275" y="1239833"/>
            <a:ext cx="1983014" cy="519613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75C6B4C-E5C0-466E-224D-D066FA4364EE}"/>
              </a:ext>
            </a:extLst>
          </p:cNvPr>
          <p:cNvSpPr txBox="1"/>
          <p:nvPr/>
        </p:nvSpPr>
        <p:spPr>
          <a:xfrm>
            <a:off x="8930265" y="136279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Lora</a:t>
            </a:r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D83A914-E453-E6DE-00D0-234E853C8E1C}"/>
              </a:ext>
            </a:extLst>
          </p:cNvPr>
          <p:cNvSpPr txBox="1"/>
          <p:nvPr/>
        </p:nvSpPr>
        <p:spPr>
          <a:xfrm>
            <a:off x="8885551" y="1919233"/>
            <a:ext cx="29805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Weight</a:t>
            </a:r>
            <a:r>
              <a:rPr lang="zh-CN" altLang="en-US" sz="1600" dirty="0"/>
              <a:t>：</a:t>
            </a:r>
            <a:r>
              <a:rPr lang="en-US" altLang="zh-CN" sz="1600" dirty="0"/>
              <a:t>BT</a:t>
            </a:r>
            <a:r>
              <a:rPr lang="zh-CN" altLang="en-US" sz="1600" dirty="0"/>
              <a:t>和</a:t>
            </a:r>
            <a:r>
              <a:rPr lang="en-US" altLang="zh-CN" sz="1600" dirty="0"/>
              <a:t>AT</a:t>
            </a:r>
            <a:r>
              <a:rPr lang="zh-CN" altLang="en-US" sz="1600" dirty="0"/>
              <a:t>，需要</a:t>
            </a:r>
            <a:r>
              <a:rPr lang="en-US" altLang="zh-CN" sz="1600" dirty="0" err="1"/>
              <a:t>mr</a:t>
            </a:r>
            <a:r>
              <a:rPr lang="zh-CN" altLang="en-US" sz="1600" dirty="0"/>
              <a:t>和</a:t>
            </a:r>
            <a:r>
              <a:rPr lang="en-US" altLang="zh-CN" sz="1600" dirty="0"/>
              <a:t>nr</a:t>
            </a:r>
            <a:endParaRPr lang="zh-CN" altLang="en-US" sz="16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F32B0B4-EEF1-A725-A409-3FAAEA204B43}"/>
              </a:ext>
            </a:extLst>
          </p:cNvPr>
          <p:cNvSpPr txBox="1"/>
          <p:nvPr/>
        </p:nvSpPr>
        <p:spPr>
          <a:xfrm>
            <a:off x="8922778" y="2441117"/>
            <a:ext cx="30417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 err="1"/>
              <a:t>Optim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States: </a:t>
            </a:r>
            <a:r>
              <a:rPr kumimoji="1" lang="zh-CN" altLang="en-US" sz="1400" dirty="0"/>
              <a:t>需要</a:t>
            </a:r>
            <a:r>
              <a:rPr kumimoji="1" lang="en-US" altLang="zh-CN" sz="1400" dirty="0"/>
              <a:t>BT</a:t>
            </a:r>
            <a:r>
              <a:rPr kumimoji="1" lang="zh-CN" altLang="en-US" sz="1400" dirty="0"/>
              <a:t>和</a:t>
            </a:r>
            <a:r>
              <a:rPr kumimoji="1" lang="en-US" altLang="zh-CN" sz="1400" dirty="0"/>
              <a:t>AT</a:t>
            </a:r>
            <a:r>
              <a:rPr kumimoji="1" lang="zh-CN" altLang="en-US" sz="1400" dirty="0"/>
              <a:t>的</a:t>
            </a:r>
            <a:r>
              <a:rPr kumimoji="1" lang="en-US" altLang="zh-CN" sz="1400" dirty="0" err="1"/>
              <a:t>adam</a:t>
            </a:r>
            <a:r>
              <a:rPr kumimoji="1" lang="zh-CN" altLang="en-US" sz="1400" dirty="0"/>
              <a:t>过程中的</a:t>
            </a:r>
            <a:r>
              <a:rPr kumimoji="1" lang="en-US" altLang="zh-CN" sz="1400" dirty="0"/>
              <a:t>Mt</a:t>
            </a:r>
            <a:r>
              <a:rPr kumimoji="1" lang="zh-CN" altLang="en-US" sz="1400" dirty="0"/>
              <a:t>和</a:t>
            </a:r>
            <a:r>
              <a:rPr kumimoji="1" lang="en-US" altLang="zh-CN" sz="1400" dirty="0"/>
              <a:t>Vt</a:t>
            </a:r>
            <a:r>
              <a:rPr kumimoji="1" lang="zh-CN" altLang="en-US" sz="1400" dirty="0"/>
              <a:t>，因此加起来需要</a:t>
            </a:r>
            <a:r>
              <a:rPr kumimoji="1" lang="en-US" altLang="zh-CN" sz="1400" dirty="0"/>
              <a:t>2mr</a:t>
            </a:r>
            <a:r>
              <a:rPr kumimoji="1" lang="zh-CN" altLang="en-US" sz="1400" dirty="0"/>
              <a:t>和</a:t>
            </a:r>
            <a:r>
              <a:rPr kumimoji="1" lang="en-US" altLang="zh-CN" sz="1400" dirty="0"/>
              <a:t>2nr</a:t>
            </a:r>
            <a:endParaRPr kumimoji="1" lang="zh-CN" altLang="en-US" sz="14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1FC97D7-92C8-2469-6AAB-43A9A023AB0A}"/>
              </a:ext>
            </a:extLst>
          </p:cNvPr>
          <p:cNvSpPr txBox="1"/>
          <p:nvPr/>
        </p:nvSpPr>
        <p:spPr>
          <a:xfrm>
            <a:off x="5390807" y="328349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Galore</a:t>
            </a:r>
            <a:endParaRPr kumimoji="1" lang="zh-CN" altLang="en-US" dirty="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9A76C074-0B96-43E9-CEF8-0A8001FA184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82946" y="3218839"/>
            <a:ext cx="3884386" cy="606386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7F0F4FF5-A5A1-7474-A8D3-AE962DFCD18D}"/>
              </a:ext>
            </a:extLst>
          </p:cNvPr>
          <p:cNvSpPr txBox="1"/>
          <p:nvPr/>
        </p:nvSpPr>
        <p:spPr>
          <a:xfrm>
            <a:off x="5390807" y="3848386"/>
            <a:ext cx="3732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Weight: </a:t>
            </a:r>
            <a:r>
              <a:rPr kumimoji="1" lang="zh-CN" altLang="en-US" dirty="0"/>
              <a:t>需要更新</a:t>
            </a:r>
            <a:r>
              <a:rPr kumimoji="1" lang="en-US" altLang="zh-CN" dirty="0"/>
              <a:t>Gt</a:t>
            </a:r>
            <a:r>
              <a:rPr kumimoji="1" lang="zh-CN" altLang="en-US" dirty="0"/>
              <a:t>，因此需要</a:t>
            </a:r>
            <a:r>
              <a:rPr kumimoji="1" lang="en-US" altLang="zh-CN" dirty="0" err="1"/>
              <a:t>mn</a:t>
            </a:r>
            <a:endParaRPr kumimoji="1"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2C82A1B-0046-27D2-FE5E-D0475BC66D1A}"/>
              </a:ext>
            </a:extLst>
          </p:cNvPr>
          <p:cNvSpPr txBox="1"/>
          <p:nvPr/>
        </p:nvSpPr>
        <p:spPr>
          <a:xfrm>
            <a:off x="5390807" y="4402979"/>
            <a:ext cx="63548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Optim</a:t>
            </a:r>
            <a:r>
              <a:rPr kumimoji="1" lang="zh-CN" altLang="en-US" dirty="0"/>
              <a:t> </a:t>
            </a:r>
            <a:r>
              <a:rPr kumimoji="1" lang="en-US" altLang="zh-CN" dirty="0"/>
              <a:t>States: Gt</a:t>
            </a:r>
            <a:r>
              <a:rPr kumimoji="1" lang="zh-CN" altLang="en-US" dirty="0"/>
              <a:t>经过低秩分解变成了</a:t>
            </a:r>
            <a:r>
              <a:rPr kumimoji="1" lang="en-US" altLang="zh-CN" dirty="0"/>
              <a:t>Rt</a:t>
            </a:r>
            <a:r>
              <a:rPr kumimoji="1" lang="zh-CN" altLang="en-US" dirty="0"/>
              <a:t>，</a:t>
            </a:r>
            <a:r>
              <a:rPr kumimoji="1" lang="en-US" altLang="zh-CN" dirty="0"/>
              <a:t>Rt</a:t>
            </a:r>
            <a:r>
              <a:rPr kumimoji="1" lang="zh-CN" altLang="en-US" dirty="0"/>
              <a:t>是一个</a:t>
            </a:r>
            <a:r>
              <a:rPr kumimoji="1" lang="en-US" altLang="zh-CN" dirty="0" err="1"/>
              <a:t>nxr</a:t>
            </a:r>
            <a:r>
              <a:rPr kumimoji="1" lang="zh-CN" altLang="en-US" dirty="0"/>
              <a:t>的矩阵，因此通过</a:t>
            </a:r>
            <a:r>
              <a:rPr kumimoji="1" lang="en-US" altLang="zh-CN" dirty="0" err="1"/>
              <a:t>adam</a:t>
            </a:r>
            <a:r>
              <a:rPr kumimoji="1" lang="zh-CN" altLang="en-US" dirty="0"/>
              <a:t>优化</a:t>
            </a:r>
            <a:r>
              <a:rPr kumimoji="1" lang="en-US" altLang="zh-CN" dirty="0"/>
              <a:t>Rt</a:t>
            </a:r>
            <a:r>
              <a:rPr kumimoji="1" lang="zh-CN" altLang="en-US" dirty="0"/>
              <a:t>只需要</a:t>
            </a:r>
            <a:r>
              <a:rPr kumimoji="1" lang="en-US" altLang="zh-CN" dirty="0"/>
              <a:t>2nr</a:t>
            </a:r>
            <a:r>
              <a:rPr kumimoji="1" lang="zh-CN" altLang="en-US" dirty="0"/>
              <a:t>的</a:t>
            </a:r>
            <a:r>
              <a:rPr kumimoji="1" lang="en-US" altLang="zh-CN" dirty="0"/>
              <a:t>Mt</a:t>
            </a:r>
            <a:r>
              <a:rPr kumimoji="1" lang="zh-CN" altLang="en-US" dirty="0"/>
              <a:t>和</a:t>
            </a:r>
            <a:r>
              <a:rPr kumimoji="1" lang="en-US" altLang="zh-CN" dirty="0"/>
              <a:t>Vt</a:t>
            </a:r>
            <a:r>
              <a:rPr kumimoji="1" lang="zh-CN" altLang="en-US" dirty="0"/>
              <a:t>。但是需要注意的是，投影矩阵</a:t>
            </a:r>
            <a:r>
              <a:rPr kumimoji="1" lang="en-US" altLang="zh-CN" dirty="0"/>
              <a:t>Pt</a:t>
            </a:r>
            <a:r>
              <a:rPr kumimoji="1" lang="zh-CN" altLang="en-US" dirty="0"/>
              <a:t>需要被保留，因此多出来了</a:t>
            </a:r>
            <a:r>
              <a:rPr kumimoji="1" lang="en-US" altLang="zh-CN" dirty="0" err="1"/>
              <a:t>mr</a:t>
            </a:r>
            <a:r>
              <a:rPr kumimoji="1" lang="zh-CN" altLang="en-US" dirty="0"/>
              <a:t>的显存需求。</a:t>
            </a:r>
            <a:endParaRPr kumimoji="1"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46078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353" y="1172030"/>
            <a:ext cx="12190495" cy="1903178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sp>
        <p:nvSpPr>
          <p:cNvPr id="2051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9662" y="1356616"/>
            <a:ext cx="9798534" cy="1536087"/>
          </a:xfrm>
        </p:spPr>
        <p:txBody>
          <a:bodyPr vert="horz" lIns="89988" tIns="46794" rIns="89988" bIns="46794" anchor="b" anchorCtr="0"/>
          <a:lstStyle/>
          <a:p>
            <a:pPr defTabSz="914400">
              <a:buClrTx/>
              <a:buSzTx/>
              <a:buFontTx/>
              <a:buNone/>
            </a:pPr>
            <a:r>
              <a:rPr lang="zh-CN" altLang="zh-CN" sz="5400" b="0" kern="1200" normalizeH="0" baseline="0">
                <a:solidFill>
                  <a:schemeClr val="bg1"/>
                </a:solidFill>
                <a:latin typeface="造字工房朗倩（非商用）常规体" charset="-122"/>
                <a:ea typeface="造字工房朗倩（非商用）常规体" charset="-122"/>
                <a:cs typeface="+mj-cs"/>
              </a:rPr>
              <a:t>感谢观看</a:t>
            </a:r>
            <a:br>
              <a:rPr lang="zh-CN" altLang="zh-CN" sz="5400" b="0" kern="1200" normalizeH="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zh-CN" altLang="zh-CN" sz="3200" b="0" kern="1200" normalizeH="0" baseline="0">
                <a:ln>
                  <a:solidFill>
                    <a:schemeClr val="bg1"/>
                  </a:solidFill>
                </a:ln>
                <a:noFill/>
                <a:latin typeface="Bauhaus 93" panose="04030905020B02020C02" charset="0"/>
                <a:ea typeface="+mj-ea"/>
                <a:cs typeface="Bauhaus 93" panose="04030905020B02020C02" charset="0"/>
              </a:rPr>
              <a:t>Thank you for watching</a:t>
            </a:r>
          </a:p>
        </p:txBody>
      </p:sp>
      <p:pic>
        <p:nvPicPr>
          <p:cNvPr id="2053" name="图片 5" descr="剪影居中蓝 低版本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3" y="4564099"/>
            <a:ext cx="12190495" cy="3776196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4" name="图片 1" descr="国科大标准Logo横式一（蓝色）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354" y="272029"/>
            <a:ext cx="2992068" cy="62698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DI3MjYyZDJmMWViZTNlM2MyYWM2NDVjMTMxYjI5ZW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2023国科大融媒体编辑部出品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2023国科大融媒体编辑部出品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1237</TotalTime>
  <Words>419</Words>
  <Application>Microsoft Macintosh PowerPoint</Application>
  <PresentationFormat>宽屏</PresentationFormat>
  <Paragraphs>41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造字工房朗倩（非商用）常规体</vt:lpstr>
      <vt:lpstr>Arial</vt:lpstr>
      <vt:lpstr>Bauhaus 93</vt:lpstr>
      <vt:lpstr>Calibri</vt:lpstr>
      <vt:lpstr>Times New Roman</vt:lpstr>
      <vt:lpstr>Wingdings</vt:lpstr>
      <vt:lpstr>2023国科大融媒体编辑部出品</vt:lpstr>
      <vt:lpstr>1_2023国科大融媒体编辑部出品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感谢观看 Thank you for watching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极简风蓝色学术模板 Minimalism Blue Academic Template</dc:title>
  <dc:creator/>
  <cp:lastModifiedBy>添添 党</cp:lastModifiedBy>
  <cp:revision>227</cp:revision>
  <dcterms:created xsi:type="dcterms:W3CDTF">2024-08-08T00:41:00Z</dcterms:created>
  <dcterms:modified xsi:type="dcterms:W3CDTF">2025-12-24T07:18:44Z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0A0D5C00FEC34F0492529B50DACF2A0D_12</vt:lpwstr>
  </property>
</Properties>
</file>