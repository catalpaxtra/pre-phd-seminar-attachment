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3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4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5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6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7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8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9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0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1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12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13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14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15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16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17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18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19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20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21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22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60" r:id="rId2"/>
  </p:sldMasterIdLst>
  <p:notesMasterIdLst>
    <p:notesMasterId r:id="rId30"/>
  </p:notesMasterIdLst>
  <p:handoutMasterIdLst>
    <p:handoutMasterId r:id="rId31"/>
  </p:handoutMasterIdLst>
  <p:sldIdLst>
    <p:sldId id="260" r:id="rId3"/>
    <p:sldId id="307" r:id="rId4"/>
    <p:sldId id="303" r:id="rId5"/>
    <p:sldId id="263" r:id="rId6"/>
    <p:sldId id="273" r:id="rId7"/>
    <p:sldId id="274" r:id="rId8"/>
    <p:sldId id="275" r:id="rId9"/>
    <p:sldId id="305" r:id="rId10"/>
    <p:sldId id="272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4" r:id="rId27"/>
    <p:sldId id="325" r:id="rId28"/>
    <p:sldId id="265" r:id="rId29"/>
  </p:sldIdLst>
  <p:sldSz cx="12192000" cy="6858000"/>
  <p:notesSz cx="6858000" cy="9144000"/>
  <p:custDataLst>
    <p:tags r:id="rId3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4994"/>
    <a:srgbClr val="DCEAF6"/>
    <a:srgbClr val="FCF7F0"/>
    <a:srgbClr val="2E3C63"/>
    <a:srgbClr val="4B72AD"/>
    <a:srgbClr val="F7E8D3"/>
    <a:srgbClr val="F2DA3A"/>
    <a:srgbClr val="5399D4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/>
    <p:restoredTop sz="96187" autoAdjust="0"/>
  </p:normalViewPr>
  <p:slideViewPr>
    <p:cSldViewPr snapToGrid="0" showGuides="1">
      <p:cViewPr varScale="1">
        <p:scale>
          <a:sx n="120" d="100"/>
          <a:sy n="120" d="100"/>
        </p:scale>
        <p:origin x="629" y="19"/>
      </p:cViewPr>
      <p:guideLst>
        <p:guide orient="horz" pos="2160"/>
        <p:guide pos="3777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0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82215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18326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846123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9647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6570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4147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794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1703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4296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805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8273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9846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65280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6823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6854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60268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55363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93690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78816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974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8" y="914447"/>
            <a:ext cx="9800165" cy="257053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918" y="3560583"/>
            <a:ext cx="9800165" cy="147247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0" y="1490477"/>
            <a:ext cx="10970280" cy="4759445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996" y="3848598"/>
            <a:ext cx="7769565" cy="76683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996" y="4615438"/>
            <a:ext cx="7769565" cy="86764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60" y="1501277"/>
            <a:ext cx="5177310" cy="4748644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2231" y="1501277"/>
            <a:ext cx="5177310" cy="4748644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60" y="1429274"/>
            <a:ext cx="5342926" cy="38162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60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6364" y="1421802"/>
            <a:ext cx="5342926" cy="38162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6364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60" y="1555280"/>
            <a:ext cx="5233593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1025" y="1555280"/>
            <a:ext cx="5227715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5808" y="914447"/>
            <a:ext cx="1044103" cy="502945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90" y="914447"/>
            <a:ext cx="9170103" cy="5029459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60" y="774040"/>
            <a:ext cx="10973880" cy="5483082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918" y="2484128"/>
            <a:ext cx="9800165" cy="101885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918" y="3560583"/>
            <a:ext cx="9800165" cy="4716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8" y="914447"/>
            <a:ext cx="9800165" cy="257053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918" y="3560583"/>
            <a:ext cx="9800165" cy="147247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0" y="1490477"/>
            <a:ext cx="10970280" cy="4759445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996" y="3848598"/>
            <a:ext cx="7769565" cy="76683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996" y="4615438"/>
            <a:ext cx="7769565" cy="86764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60" y="1501277"/>
            <a:ext cx="5177310" cy="4748644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2231" y="1501277"/>
            <a:ext cx="5177310" cy="4748644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60" y="1429274"/>
            <a:ext cx="5342926" cy="38162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60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6364" y="1421802"/>
            <a:ext cx="5342926" cy="38162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6364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60" y="1555280"/>
            <a:ext cx="5233593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1025" y="1555280"/>
            <a:ext cx="5227715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5808" y="914447"/>
            <a:ext cx="1044103" cy="502945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90" y="914447"/>
            <a:ext cx="9170103" cy="5029459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60" y="774040"/>
            <a:ext cx="10973880" cy="5483082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918" y="2484128"/>
            <a:ext cx="9800165" cy="101885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918" y="3560583"/>
            <a:ext cx="9800165" cy="4716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7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11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1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9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73" y="608044"/>
            <a:ext cx="10970706" cy="706473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73" y="1490740"/>
            <a:ext cx="10970706" cy="475957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 baseline="0"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73" y="608044"/>
            <a:ext cx="10970706" cy="706473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73" y="1490740"/>
            <a:ext cx="10970706" cy="475957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 baseline="0"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7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9.xml"/><Relationship Id="rId10" Type="http://schemas.openxmlformats.org/officeDocument/2006/relationships/image" Target="../media/image5.png"/><Relationship Id="rId4" Type="http://schemas.openxmlformats.org/officeDocument/2006/relationships/tags" Target="../tags/tag18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2.xml"/><Relationship Id="rId7" Type="http://schemas.openxmlformats.org/officeDocument/2006/relationships/notesSlide" Target="../notesSlides/notesSlide3.xml"/><Relationship Id="rId12" Type="http://schemas.openxmlformats.org/officeDocument/2006/relationships/image" Target="../media/image8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7.png"/><Relationship Id="rId5" Type="http://schemas.openxmlformats.org/officeDocument/2006/relationships/tags" Target="../tags/tag24.xml"/><Relationship Id="rId10" Type="http://schemas.openxmlformats.org/officeDocument/2006/relationships/image" Target="../media/image6.png"/><Relationship Id="rId4" Type="http://schemas.openxmlformats.org/officeDocument/2006/relationships/tags" Target="../tags/tag23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26" Type="http://schemas.openxmlformats.org/officeDocument/2006/relationships/image" Target="../media/image3.png"/><Relationship Id="rId3" Type="http://schemas.openxmlformats.org/officeDocument/2006/relationships/tags" Target="../tags/tag27.xml"/><Relationship Id="rId21" Type="http://schemas.openxmlformats.org/officeDocument/2006/relationships/tags" Target="../tags/tag45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5" Type="http://schemas.openxmlformats.org/officeDocument/2006/relationships/notesSlide" Target="../notesSlides/notesSlide4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29" Type="http://schemas.openxmlformats.org/officeDocument/2006/relationships/image" Target="../media/image10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slideLayout" Target="../slideLayouts/slideLayout7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tags" Target="../tags/tag47.xml"/><Relationship Id="rId28" Type="http://schemas.openxmlformats.org/officeDocument/2006/relationships/image" Target="../media/image9.png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tags" Target="../tags/tag46.xml"/><Relationship Id="rId27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image" Target="../media/image13.png"/><Relationship Id="rId3" Type="http://schemas.openxmlformats.org/officeDocument/2006/relationships/tags" Target="../tags/tag50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2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11.png"/><Relationship Id="rId5" Type="http://schemas.openxmlformats.org/officeDocument/2006/relationships/tags" Target="../tags/tag52.xml"/><Relationship Id="rId15" Type="http://schemas.openxmlformats.org/officeDocument/2006/relationships/image" Target="../media/image15.png"/><Relationship Id="rId10" Type="http://schemas.openxmlformats.org/officeDocument/2006/relationships/image" Target="../media/image4.png"/><Relationship Id="rId4" Type="http://schemas.openxmlformats.org/officeDocument/2006/relationships/tags" Target="../tags/tag51.xml"/><Relationship Id="rId9" Type="http://schemas.openxmlformats.org/officeDocument/2006/relationships/image" Target="../media/image3.pn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8.xml"/><Relationship Id="rId7" Type="http://schemas.openxmlformats.org/officeDocument/2006/relationships/image" Target="../media/image3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17.png"/><Relationship Id="rId4" Type="http://schemas.openxmlformats.org/officeDocument/2006/relationships/tags" Target="../tags/tag59.xml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13" Type="http://schemas.openxmlformats.org/officeDocument/2006/relationships/image" Target="../media/image20.png"/><Relationship Id="rId3" Type="http://schemas.openxmlformats.org/officeDocument/2006/relationships/tags" Target="../tags/tag62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tags" Target="../tags/tag61.xml"/><Relationship Id="rId16" Type="http://schemas.openxmlformats.org/officeDocument/2006/relationships/image" Target="../media/image23.png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image" Target="../media/image18.png"/><Relationship Id="rId5" Type="http://schemas.openxmlformats.org/officeDocument/2006/relationships/tags" Target="../tags/tag64.xml"/><Relationship Id="rId15" Type="http://schemas.openxmlformats.org/officeDocument/2006/relationships/image" Target="../media/image22.png"/><Relationship Id="rId10" Type="http://schemas.openxmlformats.org/officeDocument/2006/relationships/image" Target="../media/image4.png"/><Relationship Id="rId4" Type="http://schemas.openxmlformats.org/officeDocument/2006/relationships/tags" Target="../tags/tag63.xml"/><Relationship Id="rId9" Type="http://schemas.openxmlformats.org/officeDocument/2006/relationships/image" Target="../media/image3.png"/><Relationship Id="rId1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13" Type="http://schemas.openxmlformats.org/officeDocument/2006/relationships/image" Target="../media/image27.png"/><Relationship Id="rId3" Type="http://schemas.openxmlformats.org/officeDocument/2006/relationships/tags" Target="../tags/tag68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26.png"/><Relationship Id="rId17" Type="http://schemas.openxmlformats.org/officeDocument/2006/relationships/image" Target="../media/image22.png"/><Relationship Id="rId2" Type="http://schemas.openxmlformats.org/officeDocument/2006/relationships/tags" Target="../tags/tag67.xml"/><Relationship Id="rId16" Type="http://schemas.openxmlformats.org/officeDocument/2006/relationships/image" Target="../media/image30.png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image" Target="../media/image25.png"/><Relationship Id="rId5" Type="http://schemas.openxmlformats.org/officeDocument/2006/relationships/tags" Target="../tags/tag70.xml"/><Relationship Id="rId15" Type="http://schemas.openxmlformats.org/officeDocument/2006/relationships/image" Target="../media/image29.png"/><Relationship Id="rId10" Type="http://schemas.openxmlformats.org/officeDocument/2006/relationships/image" Target="../media/image4.png"/><Relationship Id="rId4" Type="http://schemas.openxmlformats.org/officeDocument/2006/relationships/tags" Target="../tags/tag69.xml"/><Relationship Id="rId9" Type="http://schemas.openxmlformats.org/officeDocument/2006/relationships/image" Target="../media/image3.png"/><Relationship Id="rId1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4.xml"/><Relationship Id="rId7" Type="http://schemas.openxmlformats.org/officeDocument/2006/relationships/image" Target="../media/image3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32.png"/><Relationship Id="rId4" Type="http://schemas.openxmlformats.org/officeDocument/2006/relationships/tags" Target="../tags/tag75.xml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8.xml"/><Relationship Id="rId7" Type="http://schemas.openxmlformats.org/officeDocument/2006/relationships/notesSlide" Target="../notesSlides/notesSlide10.xml"/><Relationship Id="rId12" Type="http://schemas.openxmlformats.org/officeDocument/2006/relationships/image" Target="../media/image35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34.png"/><Relationship Id="rId5" Type="http://schemas.openxmlformats.org/officeDocument/2006/relationships/tags" Target="../tags/tag80.xml"/><Relationship Id="rId10" Type="http://schemas.openxmlformats.org/officeDocument/2006/relationships/image" Target="../media/image33.png"/><Relationship Id="rId4" Type="http://schemas.openxmlformats.org/officeDocument/2006/relationships/tags" Target="../tags/tag79.xml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83.xml"/><Relationship Id="rId7" Type="http://schemas.openxmlformats.org/officeDocument/2006/relationships/notesSlide" Target="../notesSlides/notesSlide11.xml"/><Relationship Id="rId12" Type="http://schemas.openxmlformats.org/officeDocument/2006/relationships/image" Target="../media/image38.png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37.png"/><Relationship Id="rId5" Type="http://schemas.openxmlformats.org/officeDocument/2006/relationships/tags" Target="../tags/tag85.xml"/><Relationship Id="rId10" Type="http://schemas.openxmlformats.org/officeDocument/2006/relationships/image" Target="../media/image36.png"/><Relationship Id="rId4" Type="http://schemas.openxmlformats.org/officeDocument/2006/relationships/tags" Target="../tags/tag84.xml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88.xml"/><Relationship Id="rId7" Type="http://schemas.openxmlformats.org/officeDocument/2006/relationships/image" Target="../media/image3.pn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89.xml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92.xml"/><Relationship Id="rId7" Type="http://schemas.openxmlformats.org/officeDocument/2006/relationships/image" Target="../media/image3.png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3.xml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96.xml"/><Relationship Id="rId7" Type="http://schemas.openxmlformats.org/officeDocument/2006/relationships/image" Target="../media/image3.png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notesSlide" Target="../notesSlides/notesSlide14.xml"/><Relationship Id="rId11" Type="http://schemas.openxmlformats.org/officeDocument/2006/relationships/image" Target="../media/image42.pn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41.png"/><Relationship Id="rId4" Type="http://schemas.openxmlformats.org/officeDocument/2006/relationships/tags" Target="../tags/tag97.xml"/><Relationship Id="rId9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13" Type="http://schemas.openxmlformats.org/officeDocument/2006/relationships/image" Target="../media/image45.png"/><Relationship Id="rId3" Type="http://schemas.openxmlformats.org/officeDocument/2006/relationships/tags" Target="../tags/tag102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44.png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image" Target="../media/image43.png"/><Relationship Id="rId5" Type="http://schemas.openxmlformats.org/officeDocument/2006/relationships/tags" Target="../tags/tag104.xml"/><Relationship Id="rId15" Type="http://schemas.openxmlformats.org/officeDocument/2006/relationships/image" Target="../media/image47.jpeg"/><Relationship Id="rId10" Type="http://schemas.openxmlformats.org/officeDocument/2006/relationships/image" Target="../media/image4.png"/><Relationship Id="rId4" Type="http://schemas.openxmlformats.org/officeDocument/2006/relationships/tags" Target="../tags/tag103.xml"/><Relationship Id="rId9" Type="http://schemas.openxmlformats.org/officeDocument/2006/relationships/image" Target="../media/image3.png"/><Relationship Id="rId1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image" Target="../media/image48.png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image" Target="../media/image4.png"/><Relationship Id="rId2" Type="http://schemas.openxmlformats.org/officeDocument/2006/relationships/tags" Target="../tags/tag107.xml"/><Relationship Id="rId16" Type="http://schemas.openxmlformats.org/officeDocument/2006/relationships/image" Target="../media/image51.png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image" Target="../media/image3.png"/><Relationship Id="rId5" Type="http://schemas.openxmlformats.org/officeDocument/2006/relationships/tags" Target="../tags/tag110.xml"/><Relationship Id="rId15" Type="http://schemas.openxmlformats.org/officeDocument/2006/relationships/image" Target="../media/image50.png"/><Relationship Id="rId10" Type="http://schemas.openxmlformats.org/officeDocument/2006/relationships/notesSlide" Target="../notesSlides/notesSlide16.xml"/><Relationship Id="rId4" Type="http://schemas.openxmlformats.org/officeDocument/2006/relationships/tags" Target="../tags/tag109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16.xml"/><Relationship Id="rId7" Type="http://schemas.openxmlformats.org/officeDocument/2006/relationships/notesSlide" Target="../notesSlides/notesSlide17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18.xml"/><Relationship Id="rId10" Type="http://schemas.openxmlformats.org/officeDocument/2006/relationships/image" Target="../media/image52.png"/><Relationship Id="rId4" Type="http://schemas.openxmlformats.org/officeDocument/2006/relationships/tags" Target="../tags/tag117.xml"/><Relationship Id="rId9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21.xml"/><Relationship Id="rId7" Type="http://schemas.openxmlformats.org/officeDocument/2006/relationships/image" Target="../media/image3.png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2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25.xml"/><Relationship Id="rId7" Type="http://schemas.openxmlformats.org/officeDocument/2006/relationships/image" Target="../media/image3.pn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26.xml"/><Relationship Id="rId9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13" Type="http://schemas.openxmlformats.org/officeDocument/2006/relationships/image" Target="../media/image4.png"/><Relationship Id="rId18" Type="http://schemas.openxmlformats.org/officeDocument/2006/relationships/image" Target="../media/image58.png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12" Type="http://schemas.openxmlformats.org/officeDocument/2006/relationships/image" Target="../media/image3.png"/><Relationship Id="rId17" Type="http://schemas.openxmlformats.org/officeDocument/2006/relationships/image" Target="../media/image57.png"/><Relationship Id="rId2" Type="http://schemas.openxmlformats.org/officeDocument/2006/relationships/tags" Target="../tags/tag128.xml"/><Relationship Id="rId16" Type="http://schemas.openxmlformats.org/officeDocument/2006/relationships/image" Target="../media/image56.png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1" Type="http://schemas.openxmlformats.org/officeDocument/2006/relationships/notesSlide" Target="../notesSlides/notesSlide20.xml"/><Relationship Id="rId5" Type="http://schemas.openxmlformats.org/officeDocument/2006/relationships/tags" Target="../tags/tag131.xml"/><Relationship Id="rId15" Type="http://schemas.openxmlformats.org/officeDocument/2006/relationships/image" Target="../media/image55.png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59.png"/><Relationship Id="rId4" Type="http://schemas.openxmlformats.org/officeDocument/2006/relationships/tags" Target="../tags/tag130.xml"/><Relationship Id="rId9" Type="http://schemas.openxmlformats.org/officeDocument/2006/relationships/tags" Target="../tags/tag135.xml"/><Relationship Id="rId1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image" Target="../media/image4.png"/><Relationship Id="rId18" Type="http://schemas.openxmlformats.org/officeDocument/2006/relationships/image" Target="../media/image58.png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image" Target="../media/image3.png"/><Relationship Id="rId17" Type="http://schemas.openxmlformats.org/officeDocument/2006/relationships/image" Target="../media/image57.png"/><Relationship Id="rId2" Type="http://schemas.openxmlformats.org/officeDocument/2006/relationships/tags" Target="../tags/tag137.xml"/><Relationship Id="rId16" Type="http://schemas.openxmlformats.org/officeDocument/2006/relationships/image" Target="../media/image56.png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notesSlide" Target="../notesSlides/notesSlide21.xml"/><Relationship Id="rId5" Type="http://schemas.openxmlformats.org/officeDocument/2006/relationships/tags" Target="../tags/tag140.xml"/><Relationship Id="rId15" Type="http://schemas.openxmlformats.org/officeDocument/2006/relationships/image" Target="../media/image55.png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59.png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47.xml"/><Relationship Id="rId7" Type="http://schemas.openxmlformats.org/officeDocument/2006/relationships/image" Target="../media/image3.png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4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图片 5" descr="剪影居中蓝 低版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图片 1" descr="国科大标准Logo横式一（蓝色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01590" y="1429385"/>
            <a:ext cx="11657330" cy="1500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 spc="200" dirty="0"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Topic1 Gradient</a:t>
            </a:r>
            <a:endParaRPr lang="en-US" altLang="zh-CN" sz="1800" spc="200" dirty="0"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  <a:p>
            <a:pPr algn="ctr"/>
            <a:r>
              <a:rPr lang="zh-CN" altLang="en-US" sz="1800" spc="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收敛性推导、梯度消失、优化器</a:t>
            </a:r>
            <a:r>
              <a:rPr lang="en-US" altLang="zh-CN" sz="1800" spc="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…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52840" y="3975735"/>
            <a:ext cx="4159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latin typeface="+mn-ea"/>
                <a:ea typeface="+mn-ea"/>
                <a:cs typeface="+mn-ea"/>
              </a:rPr>
              <a:t>成员</a:t>
            </a:r>
            <a:r>
              <a:rPr lang="en-US" altLang="zh-CN" sz="1800" dirty="0">
                <a:latin typeface="+mn-ea"/>
                <a:ea typeface="+mn-ea"/>
                <a:cs typeface="+mn-ea"/>
              </a:rPr>
              <a:t>       2025.12.24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AF91F88-2205-4104-AEB0-607CC2F45FCC}"/>
              </a:ext>
            </a:extLst>
          </p:cNvPr>
          <p:cNvSpPr txBox="1"/>
          <p:nvPr/>
        </p:nvSpPr>
        <p:spPr>
          <a:xfrm>
            <a:off x="5266042" y="1706124"/>
            <a:ext cx="58495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5. </a:t>
            </a:r>
            <a:r>
              <a:rPr lang="zh-CN" altLang="en-US" sz="3200" dirty="0"/>
              <a:t>梯度问题以及如何缓解</a:t>
            </a:r>
            <a:endParaRPr lang="en-US" altLang="zh-CN" sz="3200" dirty="0"/>
          </a:p>
          <a:p>
            <a:r>
              <a:rPr lang="en-US" altLang="zh-CN" sz="3200" dirty="0"/>
              <a:t>6. </a:t>
            </a:r>
            <a:r>
              <a:rPr lang="zh-CN" altLang="en-US" sz="3200" dirty="0"/>
              <a:t>如何高效实现</a:t>
            </a:r>
            <a:r>
              <a:rPr lang="en-US" altLang="zh-CN" sz="3200" dirty="0"/>
              <a:t>GD &amp; BP</a:t>
            </a:r>
            <a:r>
              <a:rPr lang="zh-CN" altLang="en-US" sz="3200" dirty="0"/>
              <a:t>？</a:t>
            </a:r>
            <a:r>
              <a:rPr lang="en-US" altLang="zh-CN" sz="3200" dirty="0"/>
              <a:t>PyTorch </a:t>
            </a:r>
            <a:r>
              <a:rPr lang="zh-CN" altLang="en-US" sz="3200" dirty="0"/>
              <a:t>实现？</a:t>
            </a:r>
            <a:endParaRPr lang="en-US" altLang="zh-CN" sz="3200" dirty="0"/>
          </a:p>
          <a:p>
            <a:r>
              <a:rPr lang="en-US" altLang="zh-CN" sz="3200" dirty="0"/>
              <a:t>7. </a:t>
            </a:r>
            <a:r>
              <a:rPr lang="zh-CN" altLang="en-US" sz="3200" dirty="0"/>
              <a:t>补充内容（不常用的方法等）</a:t>
            </a:r>
            <a:endParaRPr lang="en-US" altLang="zh-CN" sz="3200" dirty="0"/>
          </a:p>
          <a:p>
            <a:r>
              <a:rPr lang="en-US" altLang="zh-CN" sz="3200" dirty="0"/>
              <a:t>8. </a:t>
            </a:r>
            <a:r>
              <a:rPr lang="zh-CN" altLang="en-US" sz="3200" dirty="0"/>
              <a:t>总结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F61E48-9FE6-44F0-8343-BD5AF604B517}"/>
              </a:ext>
            </a:extLst>
          </p:cNvPr>
          <p:cNvSpPr/>
          <p:nvPr/>
        </p:nvSpPr>
        <p:spPr>
          <a:xfrm>
            <a:off x="1001299" y="2521731"/>
            <a:ext cx="31854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OUTLINE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图片 5" descr="剪影居中蓝 低版本">
            <a:extLst>
              <a:ext uri="{FF2B5EF4-FFF2-40B4-BE49-F238E27FC236}">
                <a16:creationId xmlns:a16="http://schemas.microsoft.com/office/drawing/2014/main" id="{CA59D366-1195-4028-98B3-465AC18FF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1" descr="国科大标准Logo横式一（蓝色）">
            <a:extLst>
              <a:ext uri="{FF2B5EF4-FFF2-40B4-BE49-F238E27FC236}">
                <a16:creationId xmlns:a16="http://schemas.microsoft.com/office/drawing/2014/main" id="{60DABBEF-C6E6-4787-8135-099B5527D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269083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EF137CC-29E7-4EA3-B4A1-411B3FCA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361444" cy="1039947"/>
          </a:xfrm>
        </p:spPr>
        <p:txBody>
          <a:bodyPr anchor="t"/>
          <a:lstStyle/>
          <a:p>
            <a:r>
              <a:rPr lang="en-US" altLang="zh-CN" dirty="0"/>
              <a:t>5. </a:t>
            </a:r>
            <a:r>
              <a:rPr lang="zh-CN" altLang="en-US" dirty="0"/>
              <a:t>梯度消失</a:t>
            </a:r>
            <a:r>
              <a:rPr lang="en-US" altLang="zh-CN" dirty="0"/>
              <a:t>/</a:t>
            </a:r>
            <a:r>
              <a:rPr lang="zh-CN" altLang="en-US" dirty="0"/>
              <a:t>梯度爆炸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12178D-F17D-4FBC-9485-345B2F971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918299"/>
            <a:ext cx="10413324" cy="317135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zh-CN" altLang="en-US" dirty="0"/>
              <a:t>梯度问题原因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梯度问题缓解方法</a:t>
            </a:r>
            <a:endParaRPr lang="en-US" altLang="zh-CN" dirty="0"/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zh-CN" altLang="en-US" dirty="0"/>
              <a:t>更换激活函数</a:t>
            </a:r>
            <a:endParaRPr lang="en-US" altLang="zh-CN" dirty="0"/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zh-CN" altLang="en-US" dirty="0"/>
              <a:t>参数初始化方法</a:t>
            </a:r>
            <a:endParaRPr lang="en-US" altLang="zh-CN" dirty="0"/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zh-CN" altLang="en-US" dirty="0"/>
              <a:t>归一化</a:t>
            </a:r>
          </a:p>
        </p:txBody>
      </p:sp>
      <p:pic>
        <p:nvPicPr>
          <p:cNvPr id="12" name="图片 2" descr="剪影蓝 低版本">
            <a:extLst>
              <a:ext uri="{FF2B5EF4-FFF2-40B4-BE49-F238E27FC236}">
                <a16:creationId xmlns:a16="http://schemas.microsoft.com/office/drawing/2014/main" id="{F7958220-8176-496C-9983-56E9D35754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2605B10-4281-4250-8BC3-A3C2224DB7F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4" name="图片 13" descr="国科大标准Logo横式一（白色）">
            <a:extLst>
              <a:ext uri="{FF2B5EF4-FFF2-40B4-BE49-F238E27FC236}">
                <a16:creationId xmlns:a16="http://schemas.microsoft.com/office/drawing/2014/main" id="{A37AE36D-B481-40BF-9498-2D81A7A84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15" name="文本框 3">
            <a:extLst>
              <a:ext uri="{FF2B5EF4-FFF2-40B4-BE49-F238E27FC236}">
                <a16:creationId xmlns:a16="http://schemas.microsoft.com/office/drawing/2014/main" id="{791839AE-1C0E-45CA-9795-4EB735F462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Chapter 5</a:t>
            </a:r>
          </a:p>
        </p:txBody>
      </p:sp>
    </p:spTree>
    <p:extLst>
      <p:ext uri="{BB962C8B-B14F-4D97-AF65-F5344CB8AC3E}">
        <p14:creationId xmlns:p14="http://schemas.microsoft.com/office/powerpoint/2010/main" val="382170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8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05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梯度消失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梯度爆炸</a:t>
            </a:r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3</a:t>
            </a:fld>
            <a:endParaRPr lang="zh-CN" altLang="en-US" strike="noStrike" noProof="1"/>
          </a:p>
        </p:txBody>
      </p:sp>
      <p:sp>
        <p:nvSpPr>
          <p:cNvPr id="11" name="文本框 10"/>
          <p:cNvSpPr txBox="1"/>
          <p:nvPr/>
        </p:nvSpPr>
        <p:spPr>
          <a:xfrm>
            <a:off x="997372" y="1366172"/>
            <a:ext cx="760902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/>
              <a:t>神经网络层数过深，导致链式求导的连乘效应被放大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/>
              <a:t>如果连乘项大部分元素大于</a:t>
            </a:r>
            <a:r>
              <a:rPr lang="en-US" altLang="zh-CN" sz="2400" dirty="0"/>
              <a:t>1</a:t>
            </a:r>
            <a:r>
              <a:rPr lang="zh-CN" altLang="en-US" sz="2400" dirty="0"/>
              <a:t>或小于</a:t>
            </a:r>
            <a:r>
              <a:rPr lang="en-US" altLang="zh-CN" sz="2400" dirty="0"/>
              <a:t>1</a:t>
            </a:r>
            <a:r>
              <a:rPr lang="zh-CN" altLang="en-US" sz="2400" dirty="0"/>
              <a:t>，会导致结果趋于无穷或</a:t>
            </a:r>
            <a:r>
              <a:rPr lang="en-US" altLang="zh-CN" sz="2400" dirty="0"/>
              <a:t>0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/>
              <a:t>缓解方法：</a:t>
            </a:r>
            <a:endParaRPr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sz="2000" dirty="0">
                <a:solidFill>
                  <a:srgbClr val="FF0000"/>
                </a:solidFill>
              </a:rPr>
              <a:t>ReLU </a:t>
            </a:r>
            <a:r>
              <a:rPr lang="zh-CN" altLang="en-US" sz="2000" dirty="0">
                <a:solidFill>
                  <a:srgbClr val="FF0000"/>
                </a:solidFill>
              </a:rPr>
              <a:t>激活函数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000" dirty="0">
                <a:solidFill>
                  <a:srgbClr val="FF0000"/>
                </a:solidFill>
              </a:rPr>
              <a:t>恰当的参数初始化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000" dirty="0">
                <a:solidFill>
                  <a:srgbClr val="FF0000"/>
                </a:solidFill>
              </a:rPr>
              <a:t>归一化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000" dirty="0"/>
              <a:t>残差连接</a:t>
            </a:r>
            <a:endParaRPr lang="en-US" altLang="zh-CN" sz="2000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000" dirty="0"/>
              <a:t>梯度剪切</a:t>
            </a:r>
            <a:endParaRPr lang="en-US" altLang="zh-CN" sz="2000" dirty="0"/>
          </a:p>
        </p:txBody>
      </p:sp>
      <p:pic>
        <p:nvPicPr>
          <p:cNvPr id="12" name="图片 11" descr="\documentclass{article}&#10;\usepackage{amsmath}&#10;\pagestyle{empty}&#10;\begin{document}&#10;&#10;$$&#10;\frac{\partial J}{\partial w_i}=\sum_m\cdot \cdot\cdot\sum_l\sum_j\frac{\partial z_m^{(1)}}{\partial w_i}\cdot \cdot\cdot \frac{\partial z_j^{(n)}}{\partial z_l^{(n-1)}}\frac{\partial J}{\partial z_j^{(n)}}&#10;$$&#10;&#10;&#10;\end{document}" title="IguanaTex Picture Display">
            <a:extLst>
              <a:ext uri="{FF2B5EF4-FFF2-40B4-BE49-F238E27FC236}">
                <a16:creationId xmlns:a16="http://schemas.microsoft.com/office/drawing/2014/main" id="{C5CEE73A-9852-400A-8C2F-F3A9D7E66DB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305" y="1866063"/>
            <a:ext cx="5397483" cy="89120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8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05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梯度消失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梯度爆炸</a:t>
            </a:r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4</a:t>
            </a:fld>
            <a:endParaRPr lang="zh-CN" altLang="en-US" strike="noStrike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997371" y="1040757"/>
                <a:ext cx="7717563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US" altLang="zh-CN" sz="2800" dirty="0"/>
                  <a:t>5.1 </a:t>
                </a:r>
                <a:r>
                  <a:rPr lang="zh-CN" altLang="en-US" sz="2800" dirty="0"/>
                  <a:t>激活函数</a:t>
                </a:r>
                <a:endParaRPr lang="en-US" altLang="zh-CN" sz="28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zh-CN" sz="2400" dirty="0"/>
                  <a:t>Sigmoid</a:t>
                </a:r>
                <a:r>
                  <a:rPr lang="zh-CN" altLang="en-US" sz="2400" dirty="0"/>
                  <a:t>、</a:t>
                </a:r>
                <a:r>
                  <a:rPr lang="en-US" altLang="zh-CN" sz="2400" dirty="0"/>
                  <a:t>Tanh </a:t>
                </a:r>
                <a:r>
                  <a:rPr lang="zh-CN" altLang="en-US" sz="2400" dirty="0"/>
                  <a:t>激活函数</a:t>
                </a:r>
                <a:endParaRPr lang="en-US" altLang="zh-CN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输入非常大或非常小时，进入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“饱和区”</a:t>
                </a:r>
                <a:r>
                  <a:rPr lang="zh-CN" altLang="en-US" sz="2400" dirty="0"/>
                  <a:t>，导数几乎为 </a:t>
                </a:r>
                <a:r>
                  <a:rPr lang="en-US" altLang="zh-CN" sz="2400" dirty="0"/>
                  <a:t>0</a:t>
                </a:r>
                <a:r>
                  <a:rPr lang="zh-CN" altLang="en-US" sz="2400" dirty="0"/>
                  <a:t>，梯度指数级衰减</a:t>
                </a:r>
                <a:endParaRPr lang="en-US" altLang="zh-CN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en-US" altLang="zh-CN" sz="2400" dirty="0"/>
                  <a:t>ReLU </a:t>
                </a:r>
                <a:r>
                  <a:rPr lang="zh-CN" altLang="en-US" sz="2400" dirty="0"/>
                  <a:t>激活函数：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Google Sans Text"/>
                      </a:rPr>
                      <m:t>𝑥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Google Sans Text"/>
                      </a:rPr>
                      <m:t>) = </m:t>
                    </m:r>
                    <m:r>
                      <m:rPr>
                        <m:sty m:val="p"/>
                      </m:rPr>
                      <a:rPr lang="zh-CN" altLang="zh-CN" sz="2400" i="1" dirty="0" smtClean="0">
                        <a:latin typeface="Cambria Math" panose="02040503050406030204" pitchFamily="18" charset="0"/>
                        <a:ea typeface="Google Sans Text"/>
                      </a:rPr>
                      <m:t>max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Google Sans Text"/>
                      </a:rPr>
                      <m:t>⁡(0, 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Google Sans Text"/>
                      </a:rPr>
                      <m:t>𝑥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Google Sans Text"/>
                      </a:rPr>
                      <m:t>)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Arial" panose="020B0604020202020204" pitchFamily="34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</a:rPr>
                  <a:t>时，导数恒为</a:t>
                </a:r>
                <a:r>
                  <a:rPr lang="en-US" altLang="zh-CN" sz="2400" dirty="0">
                    <a:latin typeface="Arial" panose="020B0604020202020204" pitchFamily="34" charset="0"/>
                  </a:rPr>
                  <a:t>1</a:t>
                </a:r>
                <a:r>
                  <a:rPr lang="zh-CN" altLang="en-US" sz="2400" dirty="0">
                    <a:latin typeface="Arial" panose="020B0604020202020204" pitchFamily="34" charset="0"/>
                  </a:rPr>
                  <a:t>，完全非饱和</a:t>
                </a:r>
                <a:endParaRPr lang="en-US" altLang="zh-CN" sz="2400" dirty="0">
                  <a:latin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</a:rPr>
                  <a:t>时，输出和梯度均为</a:t>
                </a:r>
                <a:r>
                  <a:rPr lang="en-US" altLang="zh-CN" sz="2400" dirty="0">
                    <a:latin typeface="Arial" panose="020B0604020202020204" pitchFamily="34" charset="0"/>
                  </a:rPr>
                  <a:t>0</a:t>
                </a:r>
                <a:r>
                  <a:rPr lang="zh-CN" altLang="en-US" sz="2400" dirty="0">
                    <a:latin typeface="Arial" panose="020B0604020202020204" pitchFamily="34" charset="0"/>
                  </a:rPr>
                  <a:t>，稀疏激活</a:t>
                </a:r>
                <a:endParaRPr lang="zh-CN" altLang="zh-CN" sz="2400" dirty="0">
                  <a:latin typeface="Arial" panose="020B060402020202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371" y="1040757"/>
                <a:ext cx="7717563" cy="4154984"/>
              </a:xfrm>
              <a:prstGeom prst="rect">
                <a:avLst/>
              </a:prstGeom>
              <a:blipFill>
                <a:blip r:embed="rId10"/>
                <a:stretch>
                  <a:fillRect l="-1422" t="-1762" r="-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\documentclass{article}&#10;\usepackage{amsmath}&#10;\pagestyle{empty}&#10;\begin{document}&#10;&#10;$$\sigma(x) = \frac{1}{1 + e^{-x}}, \tanh(x) = \frac{e^x - e^{-x}}{e^x + e^{-x}}$$&#10;&#10;&#10;\end{document}" title="IguanaTex Picture Display">
            <a:extLst>
              <a:ext uri="{FF2B5EF4-FFF2-40B4-BE49-F238E27FC236}">
                <a16:creationId xmlns:a16="http://schemas.microsoft.com/office/drawing/2014/main" id="{A8AE653F-7D71-415F-BD31-1AED135E95D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363" y="1972065"/>
            <a:ext cx="4007619" cy="5363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A6BF36E-57D0-481F-90CC-C3EB1CAEFBB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738" y="3018444"/>
            <a:ext cx="3351891" cy="26919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69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26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05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梯度消失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梯度爆炸</a:t>
            </a:r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5</a:t>
            </a:fld>
            <a:endParaRPr lang="zh-CN" altLang="en-US" strike="noStrike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997371" y="1040757"/>
                <a:ext cx="849128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US" altLang="zh-CN" sz="2800" dirty="0"/>
                  <a:t>5.2 </a:t>
                </a:r>
                <a:r>
                  <a:rPr lang="zh-CN" altLang="en-US" sz="2800" dirty="0"/>
                  <a:t>参数初始化</a:t>
                </a:r>
                <a:endParaRPr lang="en-US" altLang="zh-CN" sz="2800" dirty="0"/>
              </a:p>
              <a:p>
                <a:r>
                  <a:rPr lang="zh-CN" altLang="en-US" sz="2400" dirty="0"/>
                  <a:t>核心：打破对称性，提升神经元表征不同状态的能力</a:t>
                </a:r>
                <a:endParaRPr lang="en-US" altLang="zh-CN" sz="2400" dirty="0"/>
              </a:p>
              <a:p>
                <a:endParaRPr lang="en-US" altLang="zh-CN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000" dirty="0"/>
                  <a:t>朴素方法：</a:t>
                </a:r>
                <a:endParaRPr lang="en-US" altLang="zh-CN" sz="20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zh-CN" altLang="en-US" sz="2000" dirty="0"/>
                  <a:t>均匀分布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000" dirty="0"/>
                  <a:t>或高斯分布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1" smtClean="0"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zh-CN" altLang="en-US" sz="2000" b="0" dirty="0"/>
                  <a:t>取值存在技巧</a:t>
                </a:r>
                <a:endParaRPr lang="en-US" altLang="zh-CN" sz="20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000" b="0" dirty="0"/>
                  <a:t>方差缩放方法：</a:t>
                </a:r>
                <a:endParaRPr lang="en-US" altLang="zh-CN" sz="2000" b="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zh-CN" altLang="en-US" sz="2000" b="0" dirty="0"/>
                  <a:t>保证神经网络每层输入和输出的方差一致</a:t>
                </a:r>
                <a:endParaRPr lang="en-US" altLang="zh-CN" sz="2000" b="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altLang="zh-CN" sz="2000" dirty="0"/>
                  <a:t>LeCun </a:t>
                </a:r>
                <a:r>
                  <a:rPr lang="zh-CN" altLang="en-US" sz="2000" dirty="0"/>
                  <a:t>初始化、 </a:t>
                </a:r>
                <a:r>
                  <a:rPr lang="en-US" altLang="zh-CN" sz="2000" dirty="0"/>
                  <a:t>Xavier </a:t>
                </a:r>
                <a:r>
                  <a:rPr lang="zh-CN" altLang="en-US" sz="2000" dirty="0"/>
                  <a:t>初始化以及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He 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初始化</a:t>
                </a:r>
                <a:endParaRPr lang="en-US" altLang="zh-CN" sz="2000" b="0" dirty="0">
                  <a:solidFill>
                    <a:srgbClr val="FF0000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endParaRPr lang="en-US" altLang="zh-CN" sz="2000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371" y="1040757"/>
                <a:ext cx="8491287" cy="3416320"/>
              </a:xfrm>
              <a:prstGeom prst="rect">
                <a:avLst/>
              </a:prstGeom>
              <a:blipFill>
                <a:blip r:embed="rId28"/>
                <a:stretch>
                  <a:fillRect l="-1292" t="-2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 descr="\documentclass{article}&#10;\usepackage{amsmath}&#10;\pagestyle{empty}&#10;\begin{document}&#10;&#10;$$Var(w)=\frac{2}{n_{in}+n_{out}}$$&#10;&#10;&#10;\end{document}" title="IguanaTex Shape Display">
            <a:extLst>
              <a:ext uri="{FF2B5EF4-FFF2-40B4-BE49-F238E27FC236}">
                <a16:creationId xmlns:a16="http://schemas.microsoft.com/office/drawing/2014/main" id="{4B588CA2-35C9-41F8-A063-439F406BD00C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484745" y="4774070"/>
            <a:ext cx="2334539" cy="572783"/>
            <a:chOff x="8667846" y="7171159"/>
            <a:chExt cx="2334539" cy="572783"/>
          </a:xfrm>
        </p:grpSpPr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80A968BC-0358-4E0E-8FDD-1FA9968A097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667846" y="7344008"/>
              <a:ext cx="180915" cy="184772"/>
            </a:xfrm>
            <a:custGeom>
              <a:avLst/>
              <a:gdLst>
                <a:gd name="connsiteX0" fmla="*/ 145325 w 180915"/>
                <a:gd name="connsiteY0" fmla="*/ 29955 h 184772"/>
                <a:gd name="connsiteX1" fmla="*/ 177804 w 180915"/>
                <a:gd name="connsiteY1" fmla="*/ 8202 h 184772"/>
                <a:gd name="connsiteX2" fmla="*/ 181103 w 180915"/>
                <a:gd name="connsiteY2" fmla="*/ 3222 h 184772"/>
                <a:gd name="connsiteX3" fmla="*/ 177804 w 180915"/>
                <a:gd name="connsiteY3" fmla="*/ 77 h 184772"/>
                <a:gd name="connsiteX4" fmla="*/ 156997 w 180915"/>
                <a:gd name="connsiteY4" fmla="*/ 863 h 184772"/>
                <a:gd name="connsiteX5" fmla="*/ 131877 w 180915"/>
                <a:gd name="connsiteY5" fmla="*/ 77 h 184772"/>
                <a:gd name="connsiteX6" fmla="*/ 127056 w 180915"/>
                <a:gd name="connsiteY6" fmla="*/ 5057 h 184772"/>
                <a:gd name="connsiteX7" fmla="*/ 131116 w 180915"/>
                <a:gd name="connsiteY7" fmla="*/ 8202 h 184772"/>
                <a:gd name="connsiteX8" fmla="*/ 142788 w 180915"/>
                <a:gd name="connsiteY8" fmla="*/ 16851 h 184772"/>
                <a:gd name="connsiteX9" fmla="*/ 138982 w 180915"/>
                <a:gd name="connsiteY9" fmla="*/ 26810 h 184772"/>
                <a:gd name="connsiteX10" fmla="*/ 61084 w 180915"/>
                <a:gd name="connsiteY10" fmla="*/ 154709 h 184772"/>
                <a:gd name="connsiteX11" fmla="*/ 43830 w 180915"/>
                <a:gd name="connsiteY11" fmla="*/ 16064 h 184772"/>
                <a:gd name="connsiteX12" fmla="*/ 61338 w 180915"/>
                <a:gd name="connsiteY12" fmla="*/ 8202 h 184772"/>
                <a:gd name="connsiteX13" fmla="*/ 67681 w 180915"/>
                <a:gd name="connsiteY13" fmla="*/ 2960 h 184772"/>
                <a:gd name="connsiteX14" fmla="*/ 64129 w 180915"/>
                <a:gd name="connsiteY14" fmla="*/ 77 h 184772"/>
                <a:gd name="connsiteX15" fmla="*/ 32665 w 180915"/>
                <a:gd name="connsiteY15" fmla="*/ 863 h 184772"/>
                <a:gd name="connsiteX16" fmla="*/ 18710 w 180915"/>
                <a:gd name="connsiteY16" fmla="*/ 601 h 184772"/>
                <a:gd name="connsiteX17" fmla="*/ 5008 w 180915"/>
                <a:gd name="connsiteY17" fmla="*/ 77 h 184772"/>
                <a:gd name="connsiteX18" fmla="*/ 187 w 180915"/>
                <a:gd name="connsiteY18" fmla="*/ 5057 h 184772"/>
                <a:gd name="connsiteX19" fmla="*/ 6530 w 180915"/>
                <a:gd name="connsiteY19" fmla="*/ 8202 h 184772"/>
                <a:gd name="connsiteX20" fmla="*/ 21755 w 180915"/>
                <a:gd name="connsiteY20" fmla="*/ 17113 h 184772"/>
                <a:gd name="connsiteX21" fmla="*/ 41800 w 180915"/>
                <a:gd name="connsiteY21" fmla="*/ 178821 h 184772"/>
                <a:gd name="connsiteX22" fmla="*/ 46875 w 180915"/>
                <a:gd name="connsiteY22" fmla="*/ 184849 h 184772"/>
                <a:gd name="connsiteX23" fmla="*/ 53980 w 180915"/>
                <a:gd name="connsiteY23" fmla="*/ 180132 h 184772"/>
                <a:gd name="connsiteX24" fmla="*/ 145325 w 180915"/>
                <a:gd name="connsiteY24" fmla="*/ 29955 h 18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915" h="184772">
                  <a:moveTo>
                    <a:pt x="145325" y="29955"/>
                  </a:moveTo>
                  <a:cubicBezTo>
                    <a:pt x="157759" y="9512"/>
                    <a:pt x="168416" y="8726"/>
                    <a:pt x="177804" y="8202"/>
                  </a:cubicBezTo>
                  <a:cubicBezTo>
                    <a:pt x="180849" y="7940"/>
                    <a:pt x="181103" y="3484"/>
                    <a:pt x="181103" y="3222"/>
                  </a:cubicBezTo>
                  <a:cubicBezTo>
                    <a:pt x="181103" y="1125"/>
                    <a:pt x="179834" y="77"/>
                    <a:pt x="177804" y="77"/>
                  </a:cubicBezTo>
                  <a:cubicBezTo>
                    <a:pt x="171207" y="77"/>
                    <a:pt x="163848" y="863"/>
                    <a:pt x="156997" y="863"/>
                  </a:cubicBezTo>
                  <a:cubicBezTo>
                    <a:pt x="148624" y="863"/>
                    <a:pt x="139997" y="77"/>
                    <a:pt x="131877" y="77"/>
                  </a:cubicBezTo>
                  <a:cubicBezTo>
                    <a:pt x="130355" y="77"/>
                    <a:pt x="127056" y="77"/>
                    <a:pt x="127056" y="5057"/>
                  </a:cubicBezTo>
                  <a:cubicBezTo>
                    <a:pt x="127056" y="7940"/>
                    <a:pt x="129340" y="8202"/>
                    <a:pt x="131116" y="8202"/>
                  </a:cubicBezTo>
                  <a:cubicBezTo>
                    <a:pt x="137967" y="8726"/>
                    <a:pt x="142788" y="11347"/>
                    <a:pt x="142788" y="16851"/>
                  </a:cubicBezTo>
                  <a:cubicBezTo>
                    <a:pt x="142788" y="20782"/>
                    <a:pt x="138982" y="26548"/>
                    <a:pt x="138982" y="26810"/>
                  </a:cubicBezTo>
                  <a:lnTo>
                    <a:pt x="61084" y="154709"/>
                  </a:lnTo>
                  <a:lnTo>
                    <a:pt x="43830" y="16064"/>
                  </a:lnTo>
                  <a:cubicBezTo>
                    <a:pt x="43830" y="11609"/>
                    <a:pt x="49666" y="8202"/>
                    <a:pt x="61338" y="8202"/>
                  </a:cubicBezTo>
                  <a:cubicBezTo>
                    <a:pt x="64890" y="8202"/>
                    <a:pt x="67681" y="8202"/>
                    <a:pt x="67681" y="2960"/>
                  </a:cubicBezTo>
                  <a:cubicBezTo>
                    <a:pt x="67681" y="601"/>
                    <a:pt x="65651" y="77"/>
                    <a:pt x="64129" y="77"/>
                  </a:cubicBezTo>
                  <a:cubicBezTo>
                    <a:pt x="53980" y="77"/>
                    <a:pt x="43069" y="863"/>
                    <a:pt x="32665" y="863"/>
                  </a:cubicBezTo>
                  <a:cubicBezTo>
                    <a:pt x="28098" y="863"/>
                    <a:pt x="23277" y="601"/>
                    <a:pt x="18710" y="601"/>
                  </a:cubicBezTo>
                  <a:cubicBezTo>
                    <a:pt x="14143" y="601"/>
                    <a:pt x="9322" y="77"/>
                    <a:pt x="5008" y="77"/>
                  </a:cubicBezTo>
                  <a:cubicBezTo>
                    <a:pt x="3232" y="77"/>
                    <a:pt x="187" y="77"/>
                    <a:pt x="187" y="5057"/>
                  </a:cubicBezTo>
                  <a:cubicBezTo>
                    <a:pt x="187" y="8202"/>
                    <a:pt x="2471" y="8202"/>
                    <a:pt x="6530" y="8202"/>
                  </a:cubicBezTo>
                  <a:cubicBezTo>
                    <a:pt x="20740" y="8202"/>
                    <a:pt x="20993" y="10560"/>
                    <a:pt x="21755" y="17113"/>
                  </a:cubicBezTo>
                  <a:lnTo>
                    <a:pt x="41800" y="178821"/>
                  </a:lnTo>
                  <a:cubicBezTo>
                    <a:pt x="42561" y="184063"/>
                    <a:pt x="43576" y="184849"/>
                    <a:pt x="46875" y="184849"/>
                  </a:cubicBezTo>
                  <a:cubicBezTo>
                    <a:pt x="50935" y="184849"/>
                    <a:pt x="51950" y="183539"/>
                    <a:pt x="53980" y="180132"/>
                  </a:cubicBezTo>
                  <a:lnTo>
                    <a:pt x="145325" y="29955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A174044C-EB48-4D10-B848-66CF868BE48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868187" y="7407172"/>
              <a:ext cx="116212" cy="118726"/>
            </a:xfrm>
            <a:custGeom>
              <a:avLst/>
              <a:gdLst>
                <a:gd name="connsiteX0" fmla="*/ 84690 w 116212"/>
                <a:gd name="connsiteY0" fmla="*/ 16851 h 118726"/>
                <a:gd name="connsiteX1" fmla="*/ 61346 w 116212"/>
                <a:gd name="connsiteY1" fmla="*/ 77 h 118726"/>
                <a:gd name="connsiteX2" fmla="*/ 195 w 116212"/>
                <a:gd name="connsiteY2" fmla="*/ 76869 h 118726"/>
                <a:gd name="connsiteX3" fmla="*/ 33942 w 116212"/>
                <a:gd name="connsiteY3" fmla="*/ 118803 h 118726"/>
                <a:gd name="connsiteX4" fmla="*/ 66928 w 116212"/>
                <a:gd name="connsiteY4" fmla="*/ 99146 h 118726"/>
                <a:gd name="connsiteX5" fmla="*/ 90018 w 116212"/>
                <a:gd name="connsiteY5" fmla="*/ 118803 h 118726"/>
                <a:gd name="connsiteX6" fmla="*/ 108795 w 116212"/>
                <a:gd name="connsiteY6" fmla="*/ 104388 h 118726"/>
                <a:gd name="connsiteX7" fmla="*/ 116407 w 116212"/>
                <a:gd name="connsiteY7" fmla="*/ 78441 h 118726"/>
                <a:gd name="connsiteX8" fmla="*/ 113362 w 116212"/>
                <a:gd name="connsiteY8" fmla="*/ 75821 h 118726"/>
                <a:gd name="connsiteX9" fmla="*/ 109810 w 116212"/>
                <a:gd name="connsiteY9" fmla="*/ 80538 h 118726"/>
                <a:gd name="connsiteX10" fmla="*/ 90526 w 116212"/>
                <a:gd name="connsiteY10" fmla="*/ 113037 h 118726"/>
                <a:gd name="connsiteX11" fmla="*/ 82914 w 116212"/>
                <a:gd name="connsiteY11" fmla="*/ 100981 h 118726"/>
                <a:gd name="connsiteX12" fmla="*/ 86212 w 116212"/>
                <a:gd name="connsiteY12" fmla="*/ 81586 h 118726"/>
                <a:gd name="connsiteX13" fmla="*/ 91795 w 116212"/>
                <a:gd name="connsiteY13" fmla="*/ 57999 h 118726"/>
                <a:gd name="connsiteX14" fmla="*/ 100929 w 116212"/>
                <a:gd name="connsiteY14" fmla="*/ 21306 h 118726"/>
                <a:gd name="connsiteX15" fmla="*/ 102705 w 116212"/>
                <a:gd name="connsiteY15" fmla="*/ 12395 h 118726"/>
                <a:gd name="connsiteX16" fmla="*/ 95347 w 116212"/>
                <a:gd name="connsiteY16" fmla="*/ 5319 h 118726"/>
                <a:gd name="connsiteX17" fmla="*/ 84690 w 116212"/>
                <a:gd name="connsiteY17" fmla="*/ 16851 h 118726"/>
                <a:gd name="connsiteX18" fmla="*/ 68197 w 116212"/>
                <a:gd name="connsiteY18" fmla="*/ 84732 h 118726"/>
                <a:gd name="connsiteX19" fmla="*/ 63122 w 116212"/>
                <a:gd name="connsiteY19" fmla="*/ 94429 h 118726"/>
                <a:gd name="connsiteX20" fmla="*/ 34450 w 116212"/>
                <a:gd name="connsiteY20" fmla="*/ 113037 h 118726"/>
                <a:gd name="connsiteX21" fmla="*/ 18210 w 116212"/>
                <a:gd name="connsiteY21" fmla="*/ 88401 h 118726"/>
                <a:gd name="connsiteX22" fmla="*/ 32166 w 116212"/>
                <a:gd name="connsiteY22" fmla="*/ 31003 h 118726"/>
                <a:gd name="connsiteX23" fmla="*/ 61600 w 116212"/>
                <a:gd name="connsiteY23" fmla="*/ 5843 h 118726"/>
                <a:gd name="connsiteX24" fmla="*/ 81645 w 116212"/>
                <a:gd name="connsiteY24" fmla="*/ 28907 h 118726"/>
                <a:gd name="connsiteX25" fmla="*/ 80884 w 116212"/>
                <a:gd name="connsiteY25" fmla="*/ 33362 h 118726"/>
                <a:gd name="connsiteX26" fmla="*/ 68197 w 116212"/>
                <a:gd name="connsiteY26" fmla="*/ 84732 h 118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6212" h="118726">
                  <a:moveTo>
                    <a:pt x="84690" y="16851"/>
                  </a:moveTo>
                  <a:cubicBezTo>
                    <a:pt x="80123" y="7153"/>
                    <a:pt x="72764" y="77"/>
                    <a:pt x="61346" y="77"/>
                  </a:cubicBezTo>
                  <a:cubicBezTo>
                    <a:pt x="31659" y="77"/>
                    <a:pt x="195" y="38604"/>
                    <a:pt x="195" y="76869"/>
                  </a:cubicBezTo>
                  <a:cubicBezTo>
                    <a:pt x="195" y="101505"/>
                    <a:pt x="14151" y="118803"/>
                    <a:pt x="33942" y="118803"/>
                  </a:cubicBezTo>
                  <a:cubicBezTo>
                    <a:pt x="39017" y="118803"/>
                    <a:pt x="51704" y="117755"/>
                    <a:pt x="66928" y="99146"/>
                  </a:cubicBezTo>
                  <a:cubicBezTo>
                    <a:pt x="68958" y="110154"/>
                    <a:pt x="77839" y="118803"/>
                    <a:pt x="90018" y="118803"/>
                  </a:cubicBezTo>
                  <a:cubicBezTo>
                    <a:pt x="98899" y="118803"/>
                    <a:pt x="104735" y="112775"/>
                    <a:pt x="108795" y="104388"/>
                  </a:cubicBezTo>
                  <a:cubicBezTo>
                    <a:pt x="113109" y="94953"/>
                    <a:pt x="116407" y="78966"/>
                    <a:pt x="116407" y="78441"/>
                  </a:cubicBezTo>
                  <a:cubicBezTo>
                    <a:pt x="116407" y="75821"/>
                    <a:pt x="114124" y="75821"/>
                    <a:pt x="113362" y="75821"/>
                  </a:cubicBezTo>
                  <a:cubicBezTo>
                    <a:pt x="110825" y="75821"/>
                    <a:pt x="110571" y="76869"/>
                    <a:pt x="109810" y="80538"/>
                  </a:cubicBezTo>
                  <a:cubicBezTo>
                    <a:pt x="105496" y="97574"/>
                    <a:pt x="100929" y="113037"/>
                    <a:pt x="90526" y="113037"/>
                  </a:cubicBezTo>
                  <a:cubicBezTo>
                    <a:pt x="83675" y="113037"/>
                    <a:pt x="82914" y="106223"/>
                    <a:pt x="82914" y="100981"/>
                  </a:cubicBezTo>
                  <a:cubicBezTo>
                    <a:pt x="82914" y="95215"/>
                    <a:pt x="83421" y="93118"/>
                    <a:pt x="86212" y="81586"/>
                  </a:cubicBezTo>
                  <a:cubicBezTo>
                    <a:pt x="89003" y="70579"/>
                    <a:pt x="89511" y="67958"/>
                    <a:pt x="91795" y="57999"/>
                  </a:cubicBezTo>
                  <a:lnTo>
                    <a:pt x="100929" y="21306"/>
                  </a:lnTo>
                  <a:cubicBezTo>
                    <a:pt x="102705" y="13968"/>
                    <a:pt x="102705" y="13443"/>
                    <a:pt x="102705" y="12395"/>
                  </a:cubicBezTo>
                  <a:cubicBezTo>
                    <a:pt x="102705" y="7940"/>
                    <a:pt x="99660" y="5319"/>
                    <a:pt x="95347" y="5319"/>
                  </a:cubicBezTo>
                  <a:cubicBezTo>
                    <a:pt x="89257" y="5319"/>
                    <a:pt x="85451" y="11085"/>
                    <a:pt x="84690" y="16851"/>
                  </a:cubicBezTo>
                  <a:close/>
                  <a:moveTo>
                    <a:pt x="68197" y="84732"/>
                  </a:moveTo>
                  <a:cubicBezTo>
                    <a:pt x="66928" y="89449"/>
                    <a:pt x="66928" y="89973"/>
                    <a:pt x="63122" y="94429"/>
                  </a:cubicBezTo>
                  <a:cubicBezTo>
                    <a:pt x="51958" y="108844"/>
                    <a:pt x="41554" y="113037"/>
                    <a:pt x="34450" y="113037"/>
                  </a:cubicBezTo>
                  <a:cubicBezTo>
                    <a:pt x="21763" y="113037"/>
                    <a:pt x="18210" y="98622"/>
                    <a:pt x="18210" y="88401"/>
                  </a:cubicBezTo>
                  <a:cubicBezTo>
                    <a:pt x="18210" y="75296"/>
                    <a:pt x="26330" y="43059"/>
                    <a:pt x="32166" y="31003"/>
                  </a:cubicBezTo>
                  <a:cubicBezTo>
                    <a:pt x="40032" y="15540"/>
                    <a:pt x="51450" y="5843"/>
                    <a:pt x="61600" y="5843"/>
                  </a:cubicBezTo>
                  <a:cubicBezTo>
                    <a:pt x="78093" y="5843"/>
                    <a:pt x="81645" y="27334"/>
                    <a:pt x="81645" y="28907"/>
                  </a:cubicBezTo>
                  <a:cubicBezTo>
                    <a:pt x="81645" y="30479"/>
                    <a:pt x="81138" y="32052"/>
                    <a:pt x="80884" y="33362"/>
                  </a:cubicBezTo>
                  <a:lnTo>
                    <a:pt x="68197" y="84732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5388FFB7-2D0A-4F0A-8718-19E76977B597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999519" y="7407172"/>
              <a:ext cx="103271" cy="118726"/>
            </a:xfrm>
            <a:custGeom>
              <a:avLst/>
              <a:gdLst>
                <a:gd name="connsiteX0" fmla="*/ 15171 w 103271"/>
                <a:gd name="connsiteY0" fmla="*/ 100457 h 118726"/>
                <a:gd name="connsiteX1" fmla="*/ 12887 w 103271"/>
                <a:gd name="connsiteY1" fmla="*/ 111727 h 118726"/>
                <a:gd name="connsiteX2" fmla="*/ 20246 w 103271"/>
                <a:gd name="connsiteY2" fmla="*/ 118803 h 118726"/>
                <a:gd name="connsiteX3" fmla="*/ 29634 w 103271"/>
                <a:gd name="connsiteY3" fmla="*/ 111465 h 118726"/>
                <a:gd name="connsiteX4" fmla="*/ 39783 w 103271"/>
                <a:gd name="connsiteY4" fmla="*/ 70055 h 118726"/>
                <a:gd name="connsiteX5" fmla="*/ 47903 w 103271"/>
                <a:gd name="connsiteY5" fmla="*/ 35983 h 118726"/>
                <a:gd name="connsiteX6" fmla="*/ 62112 w 103271"/>
                <a:gd name="connsiteY6" fmla="*/ 14492 h 118726"/>
                <a:gd name="connsiteX7" fmla="*/ 82412 w 103271"/>
                <a:gd name="connsiteY7" fmla="*/ 5843 h 118726"/>
                <a:gd name="connsiteX8" fmla="*/ 93069 w 103271"/>
                <a:gd name="connsiteY8" fmla="*/ 8988 h 118726"/>
                <a:gd name="connsiteX9" fmla="*/ 79874 w 103271"/>
                <a:gd name="connsiteY9" fmla="*/ 23403 h 118726"/>
                <a:gd name="connsiteX10" fmla="*/ 89516 w 103271"/>
                <a:gd name="connsiteY10" fmla="*/ 32576 h 118726"/>
                <a:gd name="connsiteX11" fmla="*/ 103472 w 103271"/>
                <a:gd name="connsiteY11" fmla="*/ 17113 h 118726"/>
                <a:gd name="connsiteX12" fmla="*/ 82412 w 103271"/>
                <a:gd name="connsiteY12" fmla="*/ 77 h 118726"/>
                <a:gd name="connsiteX13" fmla="*/ 49933 w 103271"/>
                <a:gd name="connsiteY13" fmla="*/ 20258 h 118726"/>
                <a:gd name="connsiteX14" fmla="*/ 26843 w 103271"/>
                <a:gd name="connsiteY14" fmla="*/ 77 h 118726"/>
                <a:gd name="connsiteX15" fmla="*/ 8066 w 103271"/>
                <a:gd name="connsiteY15" fmla="*/ 15016 h 118726"/>
                <a:gd name="connsiteX16" fmla="*/ 200 w 103271"/>
                <a:gd name="connsiteY16" fmla="*/ 40439 h 118726"/>
                <a:gd name="connsiteX17" fmla="*/ 3245 w 103271"/>
                <a:gd name="connsiteY17" fmla="*/ 43059 h 118726"/>
                <a:gd name="connsiteX18" fmla="*/ 7559 w 103271"/>
                <a:gd name="connsiteY18" fmla="*/ 37031 h 118726"/>
                <a:gd name="connsiteX19" fmla="*/ 26082 w 103271"/>
                <a:gd name="connsiteY19" fmla="*/ 5843 h 118726"/>
                <a:gd name="connsiteX20" fmla="*/ 33947 w 103271"/>
                <a:gd name="connsiteY20" fmla="*/ 17899 h 118726"/>
                <a:gd name="connsiteX21" fmla="*/ 29888 w 103271"/>
                <a:gd name="connsiteY21" fmla="*/ 39914 h 118726"/>
                <a:gd name="connsiteX22" fmla="*/ 15171 w 103271"/>
                <a:gd name="connsiteY22" fmla="*/ 100457 h 118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3271" h="118726">
                  <a:moveTo>
                    <a:pt x="15171" y="100457"/>
                  </a:moveTo>
                  <a:cubicBezTo>
                    <a:pt x="14410" y="104388"/>
                    <a:pt x="12887" y="110416"/>
                    <a:pt x="12887" y="111727"/>
                  </a:cubicBezTo>
                  <a:cubicBezTo>
                    <a:pt x="12887" y="116444"/>
                    <a:pt x="16439" y="118803"/>
                    <a:pt x="20246" y="118803"/>
                  </a:cubicBezTo>
                  <a:cubicBezTo>
                    <a:pt x="23290" y="118803"/>
                    <a:pt x="27858" y="116706"/>
                    <a:pt x="29634" y="111465"/>
                  </a:cubicBezTo>
                  <a:cubicBezTo>
                    <a:pt x="30141" y="110416"/>
                    <a:pt x="38768" y="74772"/>
                    <a:pt x="39783" y="70055"/>
                  </a:cubicBezTo>
                  <a:cubicBezTo>
                    <a:pt x="41813" y="61406"/>
                    <a:pt x="46381" y="43059"/>
                    <a:pt x="47903" y="35983"/>
                  </a:cubicBezTo>
                  <a:cubicBezTo>
                    <a:pt x="48918" y="32576"/>
                    <a:pt x="56023" y="20258"/>
                    <a:pt x="62112" y="14492"/>
                  </a:cubicBezTo>
                  <a:cubicBezTo>
                    <a:pt x="64142" y="12657"/>
                    <a:pt x="71501" y="5843"/>
                    <a:pt x="82412" y="5843"/>
                  </a:cubicBezTo>
                  <a:cubicBezTo>
                    <a:pt x="89009" y="5843"/>
                    <a:pt x="92815" y="8988"/>
                    <a:pt x="93069" y="8988"/>
                  </a:cubicBezTo>
                  <a:cubicBezTo>
                    <a:pt x="85456" y="10298"/>
                    <a:pt x="79874" y="16589"/>
                    <a:pt x="79874" y="23403"/>
                  </a:cubicBezTo>
                  <a:cubicBezTo>
                    <a:pt x="79874" y="27596"/>
                    <a:pt x="82665" y="32576"/>
                    <a:pt x="89516" y="32576"/>
                  </a:cubicBezTo>
                  <a:cubicBezTo>
                    <a:pt x="96367" y="32576"/>
                    <a:pt x="103472" y="26548"/>
                    <a:pt x="103472" y="17113"/>
                  </a:cubicBezTo>
                  <a:cubicBezTo>
                    <a:pt x="103472" y="7940"/>
                    <a:pt x="95352" y="77"/>
                    <a:pt x="82412" y="77"/>
                  </a:cubicBezTo>
                  <a:cubicBezTo>
                    <a:pt x="65918" y="77"/>
                    <a:pt x="54754" y="12919"/>
                    <a:pt x="49933" y="20258"/>
                  </a:cubicBezTo>
                  <a:cubicBezTo>
                    <a:pt x="47903" y="8464"/>
                    <a:pt x="38768" y="77"/>
                    <a:pt x="26843" y="77"/>
                  </a:cubicBezTo>
                  <a:cubicBezTo>
                    <a:pt x="15171" y="77"/>
                    <a:pt x="10350" y="10298"/>
                    <a:pt x="8066" y="15016"/>
                  </a:cubicBezTo>
                  <a:cubicBezTo>
                    <a:pt x="3499" y="23927"/>
                    <a:pt x="200" y="39652"/>
                    <a:pt x="200" y="40439"/>
                  </a:cubicBezTo>
                  <a:cubicBezTo>
                    <a:pt x="200" y="43059"/>
                    <a:pt x="2738" y="43059"/>
                    <a:pt x="3245" y="43059"/>
                  </a:cubicBezTo>
                  <a:cubicBezTo>
                    <a:pt x="5782" y="43059"/>
                    <a:pt x="6036" y="42797"/>
                    <a:pt x="7559" y="37031"/>
                  </a:cubicBezTo>
                  <a:cubicBezTo>
                    <a:pt x="11872" y="18423"/>
                    <a:pt x="16947" y="5843"/>
                    <a:pt x="26082" y="5843"/>
                  </a:cubicBezTo>
                  <a:cubicBezTo>
                    <a:pt x="30395" y="5843"/>
                    <a:pt x="33947" y="7940"/>
                    <a:pt x="33947" y="17899"/>
                  </a:cubicBezTo>
                  <a:cubicBezTo>
                    <a:pt x="33947" y="23403"/>
                    <a:pt x="33186" y="26286"/>
                    <a:pt x="29888" y="39914"/>
                  </a:cubicBezTo>
                  <a:lnTo>
                    <a:pt x="15171" y="100457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DBC65A3-EC85-4664-A59D-CBB2659C46C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138806" y="7326448"/>
              <a:ext cx="58867" cy="262088"/>
            </a:xfrm>
            <a:custGeom>
              <a:avLst/>
              <a:gdLst>
                <a:gd name="connsiteX0" fmla="*/ 59072 w 58867"/>
                <a:gd name="connsiteY0" fmla="*/ 259545 h 262088"/>
                <a:gd name="connsiteX1" fmla="*/ 54759 w 58867"/>
                <a:gd name="connsiteY1" fmla="*/ 253779 h 262088"/>
                <a:gd name="connsiteX2" fmla="*/ 14922 w 58867"/>
                <a:gd name="connsiteY2" fmla="*/ 131121 h 262088"/>
                <a:gd name="connsiteX3" fmla="*/ 55774 w 58867"/>
                <a:gd name="connsiteY3" fmla="*/ 7153 h 262088"/>
                <a:gd name="connsiteX4" fmla="*/ 59072 w 58867"/>
                <a:gd name="connsiteY4" fmla="*/ 2698 h 262088"/>
                <a:gd name="connsiteX5" fmla="*/ 56535 w 58867"/>
                <a:gd name="connsiteY5" fmla="*/ 77 h 262088"/>
                <a:gd name="connsiteX6" fmla="*/ 16191 w 58867"/>
                <a:gd name="connsiteY6" fmla="*/ 51184 h 262088"/>
                <a:gd name="connsiteX7" fmla="*/ 205 w 58867"/>
                <a:gd name="connsiteY7" fmla="*/ 131121 h 262088"/>
                <a:gd name="connsiteX8" fmla="*/ 16952 w 58867"/>
                <a:gd name="connsiteY8" fmla="*/ 212893 h 262088"/>
                <a:gd name="connsiteX9" fmla="*/ 56535 w 58867"/>
                <a:gd name="connsiteY9" fmla="*/ 262166 h 262088"/>
                <a:gd name="connsiteX10" fmla="*/ 59072 w 58867"/>
                <a:gd name="connsiteY10" fmla="*/ 259545 h 26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867" h="262088">
                  <a:moveTo>
                    <a:pt x="59072" y="259545"/>
                  </a:moveTo>
                  <a:cubicBezTo>
                    <a:pt x="59072" y="258758"/>
                    <a:pt x="59072" y="258234"/>
                    <a:pt x="54759" y="253779"/>
                  </a:cubicBezTo>
                  <a:cubicBezTo>
                    <a:pt x="23041" y="220756"/>
                    <a:pt x="14922" y="171221"/>
                    <a:pt x="14922" y="131121"/>
                  </a:cubicBezTo>
                  <a:cubicBezTo>
                    <a:pt x="14922" y="85518"/>
                    <a:pt x="24564" y="39914"/>
                    <a:pt x="55774" y="7153"/>
                  </a:cubicBezTo>
                  <a:cubicBezTo>
                    <a:pt x="59072" y="4008"/>
                    <a:pt x="59072" y="3484"/>
                    <a:pt x="59072" y="2698"/>
                  </a:cubicBezTo>
                  <a:cubicBezTo>
                    <a:pt x="59072" y="863"/>
                    <a:pt x="58057" y="77"/>
                    <a:pt x="56535" y="77"/>
                  </a:cubicBezTo>
                  <a:cubicBezTo>
                    <a:pt x="53998" y="77"/>
                    <a:pt x="31161" y="17899"/>
                    <a:pt x="16191" y="51184"/>
                  </a:cubicBezTo>
                  <a:cubicBezTo>
                    <a:pt x="3250" y="80014"/>
                    <a:pt x="205" y="109106"/>
                    <a:pt x="205" y="131121"/>
                  </a:cubicBezTo>
                  <a:cubicBezTo>
                    <a:pt x="205" y="151564"/>
                    <a:pt x="2996" y="183277"/>
                    <a:pt x="16952" y="212893"/>
                  </a:cubicBezTo>
                  <a:cubicBezTo>
                    <a:pt x="32176" y="245130"/>
                    <a:pt x="53998" y="262166"/>
                    <a:pt x="56535" y="262166"/>
                  </a:cubicBezTo>
                  <a:cubicBezTo>
                    <a:pt x="58057" y="262166"/>
                    <a:pt x="59072" y="261379"/>
                    <a:pt x="59072" y="259545"/>
                  </a:cubicBez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D1319D87-11F8-4C92-97EE-50B6649B45E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225899" y="7407172"/>
              <a:ext cx="167974" cy="118726"/>
            </a:xfrm>
            <a:custGeom>
              <a:avLst/>
              <a:gdLst>
                <a:gd name="connsiteX0" fmla="*/ 110078 w 167974"/>
                <a:gd name="connsiteY0" fmla="*/ 27072 h 118726"/>
                <a:gd name="connsiteX1" fmla="*/ 113884 w 167974"/>
                <a:gd name="connsiteY1" fmla="*/ 10036 h 118726"/>
                <a:gd name="connsiteX2" fmla="*/ 106525 w 167974"/>
                <a:gd name="connsiteY2" fmla="*/ 2960 h 118726"/>
                <a:gd name="connsiteX3" fmla="*/ 97137 w 167974"/>
                <a:gd name="connsiteY3" fmla="*/ 10298 h 118726"/>
                <a:gd name="connsiteX4" fmla="*/ 82674 w 167974"/>
                <a:gd name="connsiteY4" fmla="*/ 69006 h 118726"/>
                <a:gd name="connsiteX5" fmla="*/ 80390 w 167974"/>
                <a:gd name="connsiteY5" fmla="*/ 86304 h 118726"/>
                <a:gd name="connsiteX6" fmla="*/ 80644 w 167974"/>
                <a:gd name="connsiteY6" fmla="*/ 91022 h 118726"/>
                <a:gd name="connsiteX7" fmla="*/ 57300 w 167974"/>
                <a:gd name="connsiteY7" fmla="*/ 113037 h 118726"/>
                <a:gd name="connsiteX8" fmla="*/ 37001 w 167974"/>
                <a:gd name="connsiteY8" fmla="*/ 89187 h 118726"/>
                <a:gd name="connsiteX9" fmla="*/ 50195 w 167974"/>
                <a:gd name="connsiteY9" fmla="*/ 38342 h 118726"/>
                <a:gd name="connsiteX10" fmla="*/ 54509 w 167974"/>
                <a:gd name="connsiteY10" fmla="*/ 21568 h 118726"/>
                <a:gd name="connsiteX11" fmla="*/ 33702 w 167974"/>
                <a:gd name="connsiteY11" fmla="*/ 77 h 118726"/>
                <a:gd name="connsiteX12" fmla="*/ 209 w 167974"/>
                <a:gd name="connsiteY12" fmla="*/ 40439 h 118726"/>
                <a:gd name="connsiteX13" fmla="*/ 3254 w 167974"/>
                <a:gd name="connsiteY13" fmla="*/ 43059 h 118726"/>
                <a:gd name="connsiteX14" fmla="*/ 7314 w 167974"/>
                <a:gd name="connsiteY14" fmla="*/ 38342 h 118726"/>
                <a:gd name="connsiteX15" fmla="*/ 32941 w 167974"/>
                <a:gd name="connsiteY15" fmla="*/ 5843 h 118726"/>
                <a:gd name="connsiteX16" fmla="*/ 39285 w 167974"/>
                <a:gd name="connsiteY16" fmla="*/ 14492 h 118726"/>
                <a:gd name="connsiteX17" fmla="*/ 34717 w 167974"/>
                <a:gd name="connsiteY17" fmla="*/ 32838 h 118726"/>
                <a:gd name="connsiteX18" fmla="*/ 20508 w 167974"/>
                <a:gd name="connsiteY18" fmla="*/ 85780 h 118726"/>
                <a:gd name="connsiteX19" fmla="*/ 56539 w 167974"/>
                <a:gd name="connsiteY19" fmla="*/ 118803 h 118726"/>
                <a:gd name="connsiteX20" fmla="*/ 82928 w 167974"/>
                <a:gd name="connsiteY20" fmla="*/ 100457 h 118726"/>
                <a:gd name="connsiteX21" fmla="*/ 114645 w 167974"/>
                <a:gd name="connsiteY21" fmla="*/ 118803 h 118726"/>
                <a:gd name="connsiteX22" fmla="*/ 151437 w 167974"/>
                <a:gd name="connsiteY22" fmla="*/ 86566 h 118726"/>
                <a:gd name="connsiteX23" fmla="*/ 168184 w 167974"/>
                <a:gd name="connsiteY23" fmla="*/ 18423 h 118726"/>
                <a:gd name="connsiteX24" fmla="*/ 157019 w 167974"/>
                <a:gd name="connsiteY24" fmla="*/ 77 h 118726"/>
                <a:gd name="connsiteX25" fmla="*/ 144332 w 167974"/>
                <a:gd name="connsiteY25" fmla="*/ 12657 h 118726"/>
                <a:gd name="connsiteX26" fmla="*/ 148138 w 167974"/>
                <a:gd name="connsiteY26" fmla="*/ 19734 h 118726"/>
                <a:gd name="connsiteX27" fmla="*/ 157273 w 167974"/>
                <a:gd name="connsiteY27" fmla="*/ 42011 h 118726"/>
                <a:gd name="connsiteX28" fmla="*/ 143317 w 167974"/>
                <a:gd name="connsiteY28" fmla="*/ 89973 h 118726"/>
                <a:gd name="connsiteX29" fmla="*/ 115406 w 167974"/>
                <a:gd name="connsiteY29" fmla="*/ 113037 h 118726"/>
                <a:gd name="connsiteX30" fmla="*/ 96630 w 167974"/>
                <a:gd name="connsiteY30" fmla="*/ 90235 h 118726"/>
                <a:gd name="connsiteX31" fmla="*/ 99421 w 167974"/>
                <a:gd name="connsiteY31" fmla="*/ 71103 h 118726"/>
                <a:gd name="connsiteX32" fmla="*/ 110078 w 167974"/>
                <a:gd name="connsiteY32" fmla="*/ 27072 h 118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67974" h="118726">
                  <a:moveTo>
                    <a:pt x="110078" y="27072"/>
                  </a:moveTo>
                  <a:cubicBezTo>
                    <a:pt x="111346" y="21306"/>
                    <a:pt x="113884" y="11609"/>
                    <a:pt x="113884" y="10036"/>
                  </a:cubicBezTo>
                  <a:cubicBezTo>
                    <a:pt x="113884" y="5319"/>
                    <a:pt x="110331" y="2960"/>
                    <a:pt x="106525" y="2960"/>
                  </a:cubicBezTo>
                  <a:cubicBezTo>
                    <a:pt x="103480" y="2960"/>
                    <a:pt x="98913" y="5057"/>
                    <a:pt x="97137" y="10298"/>
                  </a:cubicBezTo>
                  <a:cubicBezTo>
                    <a:pt x="96376" y="12133"/>
                    <a:pt x="84450" y="62192"/>
                    <a:pt x="82674" y="69006"/>
                  </a:cubicBezTo>
                  <a:cubicBezTo>
                    <a:pt x="80898" y="76869"/>
                    <a:pt x="80390" y="81586"/>
                    <a:pt x="80390" y="86304"/>
                  </a:cubicBezTo>
                  <a:cubicBezTo>
                    <a:pt x="80390" y="89187"/>
                    <a:pt x="80390" y="89711"/>
                    <a:pt x="80644" y="91022"/>
                  </a:cubicBezTo>
                  <a:cubicBezTo>
                    <a:pt x="74808" y="104912"/>
                    <a:pt x="67196" y="113037"/>
                    <a:pt x="57300" y="113037"/>
                  </a:cubicBezTo>
                  <a:cubicBezTo>
                    <a:pt x="37001" y="113037"/>
                    <a:pt x="37001" y="93643"/>
                    <a:pt x="37001" y="89187"/>
                  </a:cubicBezTo>
                  <a:cubicBezTo>
                    <a:pt x="37001" y="80800"/>
                    <a:pt x="38270" y="70579"/>
                    <a:pt x="50195" y="38342"/>
                  </a:cubicBezTo>
                  <a:cubicBezTo>
                    <a:pt x="52986" y="30479"/>
                    <a:pt x="54509" y="26810"/>
                    <a:pt x="54509" y="21568"/>
                  </a:cubicBezTo>
                  <a:cubicBezTo>
                    <a:pt x="54509" y="9774"/>
                    <a:pt x="46136" y="77"/>
                    <a:pt x="33702" y="77"/>
                  </a:cubicBezTo>
                  <a:cubicBezTo>
                    <a:pt x="9597" y="77"/>
                    <a:pt x="209" y="38080"/>
                    <a:pt x="209" y="40439"/>
                  </a:cubicBezTo>
                  <a:cubicBezTo>
                    <a:pt x="209" y="43059"/>
                    <a:pt x="2746" y="43059"/>
                    <a:pt x="3254" y="43059"/>
                  </a:cubicBezTo>
                  <a:cubicBezTo>
                    <a:pt x="5791" y="43059"/>
                    <a:pt x="6045" y="42535"/>
                    <a:pt x="7314" y="38342"/>
                  </a:cubicBezTo>
                  <a:cubicBezTo>
                    <a:pt x="14164" y="13968"/>
                    <a:pt x="24060" y="5843"/>
                    <a:pt x="32941" y="5843"/>
                  </a:cubicBezTo>
                  <a:cubicBezTo>
                    <a:pt x="35225" y="5843"/>
                    <a:pt x="39285" y="6105"/>
                    <a:pt x="39285" y="14492"/>
                  </a:cubicBezTo>
                  <a:cubicBezTo>
                    <a:pt x="39285" y="21044"/>
                    <a:pt x="36493" y="28382"/>
                    <a:pt x="34717" y="32838"/>
                  </a:cubicBezTo>
                  <a:cubicBezTo>
                    <a:pt x="23553" y="63764"/>
                    <a:pt x="20508" y="75821"/>
                    <a:pt x="20508" y="85780"/>
                  </a:cubicBezTo>
                  <a:cubicBezTo>
                    <a:pt x="20508" y="109630"/>
                    <a:pt x="37508" y="118803"/>
                    <a:pt x="56539" y="118803"/>
                  </a:cubicBezTo>
                  <a:cubicBezTo>
                    <a:pt x="60852" y="118803"/>
                    <a:pt x="72778" y="118803"/>
                    <a:pt x="82928" y="100457"/>
                  </a:cubicBezTo>
                  <a:cubicBezTo>
                    <a:pt x="89525" y="117231"/>
                    <a:pt x="107033" y="118803"/>
                    <a:pt x="114645" y="118803"/>
                  </a:cubicBezTo>
                  <a:cubicBezTo>
                    <a:pt x="133675" y="118803"/>
                    <a:pt x="144840" y="102291"/>
                    <a:pt x="151437" y="86566"/>
                  </a:cubicBezTo>
                  <a:cubicBezTo>
                    <a:pt x="160064" y="66123"/>
                    <a:pt x="168184" y="31003"/>
                    <a:pt x="168184" y="18423"/>
                  </a:cubicBezTo>
                  <a:cubicBezTo>
                    <a:pt x="168184" y="4008"/>
                    <a:pt x="161333" y="77"/>
                    <a:pt x="157019" y="77"/>
                  </a:cubicBezTo>
                  <a:cubicBezTo>
                    <a:pt x="150676" y="77"/>
                    <a:pt x="144332" y="6891"/>
                    <a:pt x="144332" y="12657"/>
                  </a:cubicBezTo>
                  <a:cubicBezTo>
                    <a:pt x="144332" y="16064"/>
                    <a:pt x="145855" y="17637"/>
                    <a:pt x="148138" y="19734"/>
                  </a:cubicBezTo>
                  <a:cubicBezTo>
                    <a:pt x="150930" y="22617"/>
                    <a:pt x="157273" y="29431"/>
                    <a:pt x="157273" y="42011"/>
                  </a:cubicBezTo>
                  <a:cubicBezTo>
                    <a:pt x="157273" y="50922"/>
                    <a:pt x="149915" y="76607"/>
                    <a:pt x="143317" y="89973"/>
                  </a:cubicBezTo>
                  <a:cubicBezTo>
                    <a:pt x="136720" y="103864"/>
                    <a:pt x="127839" y="113037"/>
                    <a:pt x="115406" y="113037"/>
                  </a:cubicBezTo>
                  <a:cubicBezTo>
                    <a:pt x="103480" y="113037"/>
                    <a:pt x="96630" y="105174"/>
                    <a:pt x="96630" y="90235"/>
                  </a:cubicBezTo>
                  <a:cubicBezTo>
                    <a:pt x="96630" y="82897"/>
                    <a:pt x="98406" y="74772"/>
                    <a:pt x="99421" y="71103"/>
                  </a:cubicBezTo>
                  <a:lnTo>
                    <a:pt x="110078" y="27072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AAB12D10-65CD-4F4D-BD39-A69E3DF6F17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415309" y="7326448"/>
              <a:ext cx="58867" cy="262088"/>
            </a:xfrm>
            <a:custGeom>
              <a:avLst/>
              <a:gdLst>
                <a:gd name="connsiteX0" fmla="*/ 59084 w 58867"/>
                <a:gd name="connsiteY0" fmla="*/ 131121 h 262088"/>
                <a:gd name="connsiteX1" fmla="*/ 42337 w 58867"/>
                <a:gd name="connsiteY1" fmla="*/ 49350 h 262088"/>
                <a:gd name="connsiteX2" fmla="*/ 2754 w 58867"/>
                <a:gd name="connsiteY2" fmla="*/ 77 h 262088"/>
                <a:gd name="connsiteX3" fmla="*/ 216 w 58867"/>
                <a:gd name="connsiteY3" fmla="*/ 2698 h 262088"/>
                <a:gd name="connsiteX4" fmla="*/ 5037 w 58867"/>
                <a:gd name="connsiteY4" fmla="*/ 8726 h 262088"/>
                <a:gd name="connsiteX5" fmla="*/ 44367 w 58867"/>
                <a:gd name="connsiteY5" fmla="*/ 131121 h 262088"/>
                <a:gd name="connsiteX6" fmla="*/ 3515 w 58867"/>
                <a:gd name="connsiteY6" fmla="*/ 255089 h 262088"/>
                <a:gd name="connsiteX7" fmla="*/ 216 w 58867"/>
                <a:gd name="connsiteY7" fmla="*/ 259545 h 262088"/>
                <a:gd name="connsiteX8" fmla="*/ 2754 w 58867"/>
                <a:gd name="connsiteY8" fmla="*/ 262166 h 262088"/>
                <a:gd name="connsiteX9" fmla="*/ 43098 w 58867"/>
                <a:gd name="connsiteY9" fmla="*/ 211058 h 262088"/>
                <a:gd name="connsiteX10" fmla="*/ 59084 w 58867"/>
                <a:gd name="connsiteY10" fmla="*/ 131121 h 26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867" h="262088">
                  <a:moveTo>
                    <a:pt x="59084" y="131121"/>
                  </a:moveTo>
                  <a:cubicBezTo>
                    <a:pt x="59084" y="110678"/>
                    <a:pt x="56292" y="78966"/>
                    <a:pt x="42337" y="49350"/>
                  </a:cubicBezTo>
                  <a:cubicBezTo>
                    <a:pt x="27113" y="17113"/>
                    <a:pt x="5291" y="77"/>
                    <a:pt x="2754" y="77"/>
                  </a:cubicBezTo>
                  <a:cubicBezTo>
                    <a:pt x="1231" y="77"/>
                    <a:pt x="216" y="1125"/>
                    <a:pt x="216" y="2698"/>
                  </a:cubicBezTo>
                  <a:cubicBezTo>
                    <a:pt x="216" y="3484"/>
                    <a:pt x="216" y="4008"/>
                    <a:pt x="5037" y="8726"/>
                  </a:cubicBezTo>
                  <a:cubicBezTo>
                    <a:pt x="29904" y="34673"/>
                    <a:pt x="44367" y="76345"/>
                    <a:pt x="44367" y="131121"/>
                  </a:cubicBezTo>
                  <a:cubicBezTo>
                    <a:pt x="44367" y="175938"/>
                    <a:pt x="34978" y="222066"/>
                    <a:pt x="3515" y="255089"/>
                  </a:cubicBezTo>
                  <a:cubicBezTo>
                    <a:pt x="216" y="258234"/>
                    <a:pt x="216" y="258758"/>
                    <a:pt x="216" y="259545"/>
                  </a:cubicBezTo>
                  <a:cubicBezTo>
                    <a:pt x="216" y="261117"/>
                    <a:pt x="1231" y="262166"/>
                    <a:pt x="2754" y="262166"/>
                  </a:cubicBezTo>
                  <a:cubicBezTo>
                    <a:pt x="5291" y="262166"/>
                    <a:pt x="28128" y="244343"/>
                    <a:pt x="43098" y="211058"/>
                  </a:cubicBezTo>
                  <a:cubicBezTo>
                    <a:pt x="56039" y="182229"/>
                    <a:pt x="59084" y="153137"/>
                    <a:pt x="59084" y="131121"/>
                  </a:cubicBez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3CB9A37F-8483-4394-9B70-FCF35581691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584213" y="7426828"/>
              <a:ext cx="168736" cy="61328"/>
            </a:xfrm>
            <a:custGeom>
              <a:avLst/>
              <a:gdLst>
                <a:gd name="connsiteX0" fmla="*/ 160332 w 168736"/>
                <a:gd name="connsiteY0" fmla="*/ 10560 h 61328"/>
                <a:gd name="connsiteX1" fmla="*/ 168959 w 168736"/>
                <a:gd name="connsiteY1" fmla="*/ 5319 h 61328"/>
                <a:gd name="connsiteX2" fmla="*/ 160586 w 168736"/>
                <a:gd name="connsiteY2" fmla="*/ 77 h 61328"/>
                <a:gd name="connsiteX3" fmla="*/ 8596 w 168736"/>
                <a:gd name="connsiteY3" fmla="*/ 77 h 61328"/>
                <a:gd name="connsiteX4" fmla="*/ 223 w 168736"/>
                <a:gd name="connsiteY4" fmla="*/ 5319 h 61328"/>
                <a:gd name="connsiteX5" fmla="*/ 8850 w 168736"/>
                <a:gd name="connsiteY5" fmla="*/ 10560 h 61328"/>
                <a:gd name="connsiteX6" fmla="*/ 160332 w 168736"/>
                <a:gd name="connsiteY6" fmla="*/ 10560 h 61328"/>
                <a:gd name="connsiteX7" fmla="*/ 160586 w 168736"/>
                <a:gd name="connsiteY7" fmla="*/ 61406 h 61328"/>
                <a:gd name="connsiteX8" fmla="*/ 168959 w 168736"/>
                <a:gd name="connsiteY8" fmla="*/ 56164 h 61328"/>
                <a:gd name="connsiteX9" fmla="*/ 160332 w 168736"/>
                <a:gd name="connsiteY9" fmla="*/ 50922 h 61328"/>
                <a:gd name="connsiteX10" fmla="*/ 8850 w 168736"/>
                <a:gd name="connsiteY10" fmla="*/ 50922 h 61328"/>
                <a:gd name="connsiteX11" fmla="*/ 223 w 168736"/>
                <a:gd name="connsiteY11" fmla="*/ 56164 h 61328"/>
                <a:gd name="connsiteX12" fmla="*/ 8596 w 168736"/>
                <a:gd name="connsiteY12" fmla="*/ 61406 h 61328"/>
                <a:gd name="connsiteX13" fmla="*/ 160586 w 168736"/>
                <a:gd name="connsiteY13" fmla="*/ 61406 h 61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36" h="61328">
                  <a:moveTo>
                    <a:pt x="160332" y="10560"/>
                  </a:moveTo>
                  <a:cubicBezTo>
                    <a:pt x="164138" y="10560"/>
                    <a:pt x="168959" y="10560"/>
                    <a:pt x="168959" y="5319"/>
                  </a:cubicBezTo>
                  <a:cubicBezTo>
                    <a:pt x="168959" y="77"/>
                    <a:pt x="164138" y="77"/>
                    <a:pt x="160586" y="77"/>
                  </a:cubicBezTo>
                  <a:lnTo>
                    <a:pt x="8596" y="77"/>
                  </a:lnTo>
                  <a:cubicBezTo>
                    <a:pt x="5044" y="77"/>
                    <a:pt x="223" y="77"/>
                    <a:pt x="223" y="5319"/>
                  </a:cubicBezTo>
                  <a:cubicBezTo>
                    <a:pt x="223" y="10560"/>
                    <a:pt x="5044" y="10560"/>
                    <a:pt x="8850" y="10560"/>
                  </a:cubicBezTo>
                  <a:lnTo>
                    <a:pt x="160332" y="10560"/>
                  </a:lnTo>
                  <a:close/>
                  <a:moveTo>
                    <a:pt x="160586" y="61406"/>
                  </a:moveTo>
                  <a:cubicBezTo>
                    <a:pt x="164138" y="61406"/>
                    <a:pt x="168959" y="61406"/>
                    <a:pt x="168959" y="56164"/>
                  </a:cubicBezTo>
                  <a:cubicBezTo>
                    <a:pt x="168959" y="50922"/>
                    <a:pt x="164138" y="50922"/>
                    <a:pt x="160332" y="50922"/>
                  </a:cubicBezTo>
                  <a:lnTo>
                    <a:pt x="8850" y="50922"/>
                  </a:lnTo>
                  <a:cubicBezTo>
                    <a:pt x="5044" y="50922"/>
                    <a:pt x="223" y="50922"/>
                    <a:pt x="223" y="56164"/>
                  </a:cubicBezTo>
                  <a:cubicBezTo>
                    <a:pt x="223" y="61406"/>
                    <a:pt x="5044" y="61406"/>
                    <a:pt x="8596" y="61406"/>
                  </a:cubicBezTo>
                  <a:lnTo>
                    <a:pt x="160586" y="61406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2081B2DE-658D-481B-BBE0-A6B7DA98818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384588" y="7171159"/>
              <a:ext cx="101241" cy="174550"/>
            </a:xfrm>
            <a:custGeom>
              <a:avLst/>
              <a:gdLst>
                <a:gd name="connsiteX0" fmla="*/ 19792 w 101241"/>
                <a:gd name="connsiteY0" fmla="*/ 154440 h 174550"/>
                <a:gd name="connsiteX1" fmla="*/ 46689 w 101241"/>
                <a:gd name="connsiteY1" fmla="*/ 127445 h 174550"/>
                <a:gd name="connsiteX2" fmla="*/ 101496 w 101241"/>
                <a:gd name="connsiteY2" fmla="*/ 50915 h 174550"/>
                <a:gd name="connsiteX3" fmla="*/ 47704 w 101241"/>
                <a:gd name="connsiteY3" fmla="*/ 70 h 174550"/>
                <a:gd name="connsiteX4" fmla="*/ 254 w 101241"/>
                <a:gd name="connsiteY4" fmla="*/ 47508 h 174550"/>
                <a:gd name="connsiteX5" fmla="*/ 13703 w 101241"/>
                <a:gd name="connsiteY5" fmla="*/ 62185 h 174550"/>
                <a:gd name="connsiteX6" fmla="*/ 26897 w 101241"/>
                <a:gd name="connsiteY6" fmla="*/ 48294 h 174550"/>
                <a:gd name="connsiteX7" fmla="*/ 13449 w 101241"/>
                <a:gd name="connsiteY7" fmla="*/ 34666 h 174550"/>
                <a:gd name="connsiteX8" fmla="*/ 10150 w 101241"/>
                <a:gd name="connsiteY8" fmla="*/ 34928 h 174550"/>
                <a:gd name="connsiteX9" fmla="*/ 44405 w 101241"/>
                <a:gd name="connsiteY9" fmla="*/ 8195 h 174550"/>
                <a:gd name="connsiteX10" fmla="*/ 78406 w 101241"/>
                <a:gd name="connsiteY10" fmla="*/ 50915 h 174550"/>
                <a:gd name="connsiteX11" fmla="*/ 51763 w 101241"/>
                <a:gd name="connsiteY11" fmla="*/ 108837 h 174550"/>
                <a:gd name="connsiteX12" fmla="*/ 3046 w 101241"/>
                <a:gd name="connsiteY12" fmla="*/ 164924 h 174550"/>
                <a:gd name="connsiteX13" fmla="*/ 254 w 101241"/>
                <a:gd name="connsiteY13" fmla="*/ 174621 h 174550"/>
                <a:gd name="connsiteX14" fmla="*/ 94391 w 101241"/>
                <a:gd name="connsiteY14" fmla="*/ 174621 h 174550"/>
                <a:gd name="connsiteX15" fmla="*/ 101496 w 101241"/>
                <a:gd name="connsiteY15" fmla="*/ 129018 h 174550"/>
                <a:gd name="connsiteX16" fmla="*/ 95153 w 101241"/>
                <a:gd name="connsiteY16" fmla="*/ 129018 h 174550"/>
                <a:gd name="connsiteX17" fmla="*/ 89570 w 101241"/>
                <a:gd name="connsiteY17" fmla="*/ 152344 h 174550"/>
                <a:gd name="connsiteX18" fmla="*/ 65465 w 101241"/>
                <a:gd name="connsiteY18" fmla="*/ 154440 h 174550"/>
                <a:gd name="connsiteX19" fmla="*/ 19792 w 101241"/>
                <a:gd name="connsiteY19" fmla="*/ 154440 h 174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1241" h="174550">
                  <a:moveTo>
                    <a:pt x="19792" y="154440"/>
                  </a:moveTo>
                  <a:lnTo>
                    <a:pt x="46689" y="127445"/>
                  </a:lnTo>
                  <a:cubicBezTo>
                    <a:pt x="86272" y="91277"/>
                    <a:pt x="101496" y="77124"/>
                    <a:pt x="101496" y="50915"/>
                  </a:cubicBezTo>
                  <a:cubicBezTo>
                    <a:pt x="101496" y="21037"/>
                    <a:pt x="78660" y="70"/>
                    <a:pt x="47704" y="70"/>
                  </a:cubicBezTo>
                  <a:cubicBezTo>
                    <a:pt x="19031" y="70"/>
                    <a:pt x="254" y="24182"/>
                    <a:pt x="254" y="47508"/>
                  </a:cubicBezTo>
                  <a:cubicBezTo>
                    <a:pt x="254" y="62185"/>
                    <a:pt x="12941" y="62185"/>
                    <a:pt x="13703" y="62185"/>
                  </a:cubicBezTo>
                  <a:cubicBezTo>
                    <a:pt x="18016" y="62185"/>
                    <a:pt x="26897" y="59040"/>
                    <a:pt x="26897" y="48294"/>
                  </a:cubicBezTo>
                  <a:cubicBezTo>
                    <a:pt x="26897" y="41480"/>
                    <a:pt x="22330" y="34666"/>
                    <a:pt x="13449" y="34666"/>
                  </a:cubicBezTo>
                  <a:cubicBezTo>
                    <a:pt x="11419" y="34666"/>
                    <a:pt x="10911" y="34666"/>
                    <a:pt x="10150" y="34928"/>
                  </a:cubicBezTo>
                  <a:cubicBezTo>
                    <a:pt x="15986" y="17892"/>
                    <a:pt x="29688" y="8195"/>
                    <a:pt x="44405" y="8195"/>
                  </a:cubicBezTo>
                  <a:cubicBezTo>
                    <a:pt x="67495" y="8195"/>
                    <a:pt x="78406" y="29424"/>
                    <a:pt x="78406" y="50915"/>
                  </a:cubicBezTo>
                  <a:cubicBezTo>
                    <a:pt x="78406" y="71882"/>
                    <a:pt x="65719" y="92587"/>
                    <a:pt x="51763" y="108837"/>
                  </a:cubicBezTo>
                  <a:lnTo>
                    <a:pt x="3046" y="164924"/>
                  </a:lnTo>
                  <a:cubicBezTo>
                    <a:pt x="254" y="167807"/>
                    <a:pt x="254" y="168331"/>
                    <a:pt x="254" y="174621"/>
                  </a:cubicBezTo>
                  <a:lnTo>
                    <a:pt x="94391" y="174621"/>
                  </a:lnTo>
                  <a:lnTo>
                    <a:pt x="101496" y="129018"/>
                  </a:lnTo>
                  <a:lnTo>
                    <a:pt x="95153" y="129018"/>
                  </a:lnTo>
                  <a:cubicBezTo>
                    <a:pt x="93884" y="136880"/>
                    <a:pt x="92108" y="148412"/>
                    <a:pt x="89570" y="152344"/>
                  </a:cubicBezTo>
                  <a:cubicBezTo>
                    <a:pt x="87794" y="154440"/>
                    <a:pt x="71047" y="154440"/>
                    <a:pt x="65465" y="154440"/>
                  </a:cubicBezTo>
                  <a:lnTo>
                    <a:pt x="19792" y="154440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D294C64A-5A89-49E9-A14A-D5724AF7C81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868286" y="7452251"/>
              <a:ext cx="1134099" cy="10482"/>
            </a:xfrm>
            <a:custGeom>
              <a:avLst/>
              <a:gdLst>
                <a:gd name="connsiteX0" fmla="*/ 0 w 1134099"/>
                <a:gd name="connsiteY0" fmla="*/ 0 h 10482"/>
                <a:gd name="connsiteX1" fmla="*/ 1134099 w 1134099"/>
                <a:gd name="connsiteY1" fmla="*/ 0 h 10482"/>
                <a:gd name="connsiteX2" fmla="*/ 1134099 w 1134099"/>
                <a:gd name="connsiteY2" fmla="*/ 10483 h 10482"/>
                <a:gd name="connsiteX3" fmla="*/ 0 w 1134099"/>
                <a:gd name="connsiteY3" fmla="*/ 10483 h 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4099" h="10482">
                  <a:moveTo>
                    <a:pt x="0" y="0"/>
                  </a:moveTo>
                  <a:lnTo>
                    <a:pt x="1134099" y="0"/>
                  </a:lnTo>
                  <a:lnTo>
                    <a:pt x="1134099" y="10483"/>
                  </a:lnTo>
                  <a:lnTo>
                    <a:pt x="0" y="10483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350B2AEF-7F32-4570-B7F9-67D246DA1A4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875645" y="7586951"/>
              <a:ext cx="137526" cy="118726"/>
            </a:xfrm>
            <a:custGeom>
              <a:avLst/>
              <a:gdLst>
                <a:gd name="connsiteX0" fmla="*/ 15205 w 137526"/>
                <a:gd name="connsiteY0" fmla="*/ 100464 h 118726"/>
                <a:gd name="connsiteX1" fmla="*/ 12922 w 137526"/>
                <a:gd name="connsiteY1" fmla="*/ 111734 h 118726"/>
                <a:gd name="connsiteX2" fmla="*/ 20280 w 137526"/>
                <a:gd name="connsiteY2" fmla="*/ 118810 h 118726"/>
                <a:gd name="connsiteX3" fmla="*/ 29668 w 137526"/>
                <a:gd name="connsiteY3" fmla="*/ 111471 h 118726"/>
                <a:gd name="connsiteX4" fmla="*/ 34489 w 137526"/>
                <a:gd name="connsiteY4" fmla="*/ 92077 h 118726"/>
                <a:gd name="connsiteX5" fmla="*/ 40072 w 137526"/>
                <a:gd name="connsiteY5" fmla="*/ 68489 h 118726"/>
                <a:gd name="connsiteX6" fmla="*/ 44385 w 137526"/>
                <a:gd name="connsiteY6" fmla="*/ 50929 h 118726"/>
                <a:gd name="connsiteX7" fmla="*/ 47684 w 137526"/>
                <a:gd name="connsiteY7" fmla="*/ 37825 h 118726"/>
                <a:gd name="connsiteX8" fmla="*/ 89043 w 137526"/>
                <a:gd name="connsiteY8" fmla="*/ 5850 h 118726"/>
                <a:gd name="connsiteX9" fmla="*/ 102745 w 137526"/>
                <a:gd name="connsiteY9" fmla="*/ 24196 h 118726"/>
                <a:gd name="connsiteX10" fmla="*/ 86252 w 137526"/>
                <a:gd name="connsiteY10" fmla="*/ 85263 h 118726"/>
                <a:gd name="connsiteX11" fmla="*/ 83715 w 137526"/>
                <a:gd name="connsiteY11" fmla="*/ 97319 h 118726"/>
                <a:gd name="connsiteX12" fmla="*/ 104521 w 137526"/>
                <a:gd name="connsiteY12" fmla="*/ 118810 h 118726"/>
                <a:gd name="connsiteX13" fmla="*/ 137761 w 137526"/>
                <a:gd name="connsiteY13" fmla="*/ 78448 h 118726"/>
                <a:gd name="connsiteX14" fmla="*/ 134716 w 137526"/>
                <a:gd name="connsiteY14" fmla="*/ 75827 h 118726"/>
                <a:gd name="connsiteX15" fmla="*/ 130910 w 137526"/>
                <a:gd name="connsiteY15" fmla="*/ 80545 h 118726"/>
                <a:gd name="connsiteX16" fmla="*/ 105029 w 137526"/>
                <a:gd name="connsiteY16" fmla="*/ 113044 h 118726"/>
                <a:gd name="connsiteX17" fmla="*/ 98939 w 137526"/>
                <a:gd name="connsiteY17" fmla="*/ 104395 h 118726"/>
                <a:gd name="connsiteX18" fmla="*/ 103506 w 137526"/>
                <a:gd name="connsiteY18" fmla="*/ 85787 h 118726"/>
                <a:gd name="connsiteX19" fmla="*/ 118984 w 137526"/>
                <a:gd name="connsiteY19" fmla="*/ 28127 h 118726"/>
                <a:gd name="connsiteX20" fmla="*/ 89804 w 137526"/>
                <a:gd name="connsiteY20" fmla="*/ 84 h 118726"/>
                <a:gd name="connsiteX21" fmla="*/ 50221 w 137526"/>
                <a:gd name="connsiteY21" fmla="*/ 22885 h 118726"/>
                <a:gd name="connsiteX22" fmla="*/ 26877 w 137526"/>
                <a:gd name="connsiteY22" fmla="*/ 84 h 118726"/>
                <a:gd name="connsiteX23" fmla="*/ 7847 w 137526"/>
                <a:gd name="connsiteY23" fmla="*/ 15023 h 118726"/>
                <a:gd name="connsiteX24" fmla="*/ 235 w 137526"/>
                <a:gd name="connsiteY24" fmla="*/ 40445 h 118726"/>
                <a:gd name="connsiteX25" fmla="*/ 3279 w 137526"/>
                <a:gd name="connsiteY25" fmla="*/ 43066 h 118726"/>
                <a:gd name="connsiteX26" fmla="*/ 7593 w 137526"/>
                <a:gd name="connsiteY26" fmla="*/ 37038 h 118726"/>
                <a:gd name="connsiteX27" fmla="*/ 26116 w 137526"/>
                <a:gd name="connsiteY27" fmla="*/ 5850 h 118726"/>
                <a:gd name="connsiteX28" fmla="*/ 33982 w 137526"/>
                <a:gd name="connsiteY28" fmla="*/ 17906 h 118726"/>
                <a:gd name="connsiteX29" fmla="*/ 29922 w 137526"/>
                <a:gd name="connsiteY29" fmla="*/ 39921 h 118726"/>
                <a:gd name="connsiteX30" fmla="*/ 15205 w 137526"/>
                <a:gd name="connsiteY30" fmla="*/ 100464 h 118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7526" h="118726">
                  <a:moveTo>
                    <a:pt x="15205" y="100464"/>
                  </a:moveTo>
                  <a:cubicBezTo>
                    <a:pt x="14444" y="104395"/>
                    <a:pt x="12922" y="110423"/>
                    <a:pt x="12922" y="111734"/>
                  </a:cubicBezTo>
                  <a:cubicBezTo>
                    <a:pt x="12922" y="116451"/>
                    <a:pt x="16474" y="118810"/>
                    <a:pt x="20280" y="118810"/>
                  </a:cubicBezTo>
                  <a:cubicBezTo>
                    <a:pt x="23325" y="118810"/>
                    <a:pt x="27892" y="116713"/>
                    <a:pt x="29668" y="111471"/>
                  </a:cubicBezTo>
                  <a:cubicBezTo>
                    <a:pt x="29922" y="110947"/>
                    <a:pt x="32967" y="98629"/>
                    <a:pt x="34489" y="92077"/>
                  </a:cubicBezTo>
                  <a:lnTo>
                    <a:pt x="40072" y="68489"/>
                  </a:lnTo>
                  <a:cubicBezTo>
                    <a:pt x="41594" y="62723"/>
                    <a:pt x="43116" y="56957"/>
                    <a:pt x="44385" y="50929"/>
                  </a:cubicBezTo>
                  <a:cubicBezTo>
                    <a:pt x="45400" y="46473"/>
                    <a:pt x="47430" y="38873"/>
                    <a:pt x="47684" y="37825"/>
                  </a:cubicBezTo>
                  <a:cubicBezTo>
                    <a:pt x="51490" y="29700"/>
                    <a:pt x="64938" y="5850"/>
                    <a:pt x="89043" y="5850"/>
                  </a:cubicBezTo>
                  <a:cubicBezTo>
                    <a:pt x="100461" y="5850"/>
                    <a:pt x="102745" y="15547"/>
                    <a:pt x="102745" y="24196"/>
                  </a:cubicBezTo>
                  <a:cubicBezTo>
                    <a:pt x="102745" y="40445"/>
                    <a:pt x="90312" y="73993"/>
                    <a:pt x="86252" y="85263"/>
                  </a:cubicBezTo>
                  <a:cubicBezTo>
                    <a:pt x="83968" y="91291"/>
                    <a:pt x="83715" y="94436"/>
                    <a:pt x="83715" y="97319"/>
                  </a:cubicBezTo>
                  <a:cubicBezTo>
                    <a:pt x="83715" y="109637"/>
                    <a:pt x="92595" y="118810"/>
                    <a:pt x="104521" y="118810"/>
                  </a:cubicBezTo>
                  <a:cubicBezTo>
                    <a:pt x="128373" y="118810"/>
                    <a:pt x="137761" y="80545"/>
                    <a:pt x="137761" y="78448"/>
                  </a:cubicBezTo>
                  <a:cubicBezTo>
                    <a:pt x="137761" y="75827"/>
                    <a:pt x="135477" y="75827"/>
                    <a:pt x="134716" y="75827"/>
                  </a:cubicBezTo>
                  <a:cubicBezTo>
                    <a:pt x="132179" y="75827"/>
                    <a:pt x="132179" y="76614"/>
                    <a:pt x="130910" y="80545"/>
                  </a:cubicBezTo>
                  <a:cubicBezTo>
                    <a:pt x="125835" y="98367"/>
                    <a:pt x="117462" y="113044"/>
                    <a:pt x="105029" y="113044"/>
                  </a:cubicBezTo>
                  <a:cubicBezTo>
                    <a:pt x="100715" y="113044"/>
                    <a:pt x="98939" y="110423"/>
                    <a:pt x="98939" y="104395"/>
                  </a:cubicBezTo>
                  <a:cubicBezTo>
                    <a:pt x="98939" y="97843"/>
                    <a:pt x="101223" y="91553"/>
                    <a:pt x="103506" y="85787"/>
                  </a:cubicBezTo>
                  <a:cubicBezTo>
                    <a:pt x="108327" y="71896"/>
                    <a:pt x="118984" y="43066"/>
                    <a:pt x="118984" y="28127"/>
                  </a:cubicBezTo>
                  <a:cubicBezTo>
                    <a:pt x="118984" y="10567"/>
                    <a:pt x="108074" y="84"/>
                    <a:pt x="89804" y="84"/>
                  </a:cubicBezTo>
                  <a:cubicBezTo>
                    <a:pt x="66968" y="84"/>
                    <a:pt x="54535" y="16857"/>
                    <a:pt x="50221" y="22885"/>
                  </a:cubicBezTo>
                  <a:cubicBezTo>
                    <a:pt x="48952" y="8209"/>
                    <a:pt x="38549" y="84"/>
                    <a:pt x="26877" y="84"/>
                  </a:cubicBezTo>
                  <a:cubicBezTo>
                    <a:pt x="15205" y="84"/>
                    <a:pt x="10384" y="10305"/>
                    <a:pt x="7847" y="15023"/>
                  </a:cubicBezTo>
                  <a:cubicBezTo>
                    <a:pt x="3787" y="23934"/>
                    <a:pt x="235" y="39397"/>
                    <a:pt x="235" y="40445"/>
                  </a:cubicBezTo>
                  <a:cubicBezTo>
                    <a:pt x="235" y="43066"/>
                    <a:pt x="2772" y="43066"/>
                    <a:pt x="3279" y="43066"/>
                  </a:cubicBezTo>
                  <a:cubicBezTo>
                    <a:pt x="5817" y="43066"/>
                    <a:pt x="6071" y="42804"/>
                    <a:pt x="7593" y="37038"/>
                  </a:cubicBezTo>
                  <a:cubicBezTo>
                    <a:pt x="11907" y="18430"/>
                    <a:pt x="16981" y="5850"/>
                    <a:pt x="26116" y="5850"/>
                  </a:cubicBezTo>
                  <a:cubicBezTo>
                    <a:pt x="31191" y="5850"/>
                    <a:pt x="33982" y="9257"/>
                    <a:pt x="33982" y="17906"/>
                  </a:cubicBezTo>
                  <a:cubicBezTo>
                    <a:pt x="33982" y="23410"/>
                    <a:pt x="33221" y="26293"/>
                    <a:pt x="29922" y="39921"/>
                  </a:cubicBezTo>
                  <a:lnTo>
                    <a:pt x="15205" y="100464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802E54E4-D667-46E5-9453-D86C1856BC1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028937" y="7620472"/>
              <a:ext cx="53817" cy="123469"/>
            </a:xfrm>
            <a:custGeom>
              <a:avLst/>
              <a:gdLst>
                <a:gd name="connsiteX0" fmla="*/ 49441 w 53817"/>
                <a:gd name="connsiteY0" fmla="*/ 7057 h 123469"/>
                <a:gd name="connsiteX1" fmla="*/ 42336 w 53817"/>
                <a:gd name="connsiteY1" fmla="*/ 85 h 123469"/>
                <a:gd name="connsiteX2" fmla="*/ 32389 w 53817"/>
                <a:gd name="connsiteY2" fmla="*/ 10176 h 123469"/>
                <a:gd name="connsiteX3" fmla="*/ 39494 w 53817"/>
                <a:gd name="connsiteY3" fmla="*/ 17147 h 123469"/>
                <a:gd name="connsiteX4" fmla="*/ 49441 w 53817"/>
                <a:gd name="connsiteY4" fmla="*/ 7057 h 123469"/>
                <a:gd name="connsiteX5" fmla="*/ 13207 w 53817"/>
                <a:gd name="connsiteY5" fmla="*/ 100256 h 123469"/>
                <a:gd name="connsiteX6" fmla="*/ 11608 w 53817"/>
                <a:gd name="connsiteY6" fmla="*/ 107961 h 123469"/>
                <a:gd name="connsiteX7" fmla="*/ 28482 w 53817"/>
                <a:gd name="connsiteY7" fmla="*/ 123555 h 123469"/>
                <a:gd name="connsiteX8" fmla="*/ 54059 w 53817"/>
                <a:gd name="connsiteY8" fmla="*/ 95486 h 123469"/>
                <a:gd name="connsiteX9" fmla="*/ 51217 w 53817"/>
                <a:gd name="connsiteY9" fmla="*/ 93100 h 123469"/>
                <a:gd name="connsiteX10" fmla="*/ 47842 w 53817"/>
                <a:gd name="connsiteY10" fmla="*/ 96219 h 123469"/>
                <a:gd name="connsiteX11" fmla="*/ 29015 w 53817"/>
                <a:gd name="connsiteY11" fmla="*/ 118418 h 123469"/>
                <a:gd name="connsiteX12" fmla="*/ 24574 w 53817"/>
                <a:gd name="connsiteY12" fmla="*/ 111997 h 123469"/>
                <a:gd name="connsiteX13" fmla="*/ 27416 w 53817"/>
                <a:gd name="connsiteY13" fmla="*/ 100256 h 123469"/>
                <a:gd name="connsiteX14" fmla="*/ 33100 w 53817"/>
                <a:gd name="connsiteY14" fmla="*/ 85579 h 123469"/>
                <a:gd name="connsiteX15" fmla="*/ 41803 w 53817"/>
                <a:gd name="connsiteY15" fmla="*/ 62279 h 123469"/>
                <a:gd name="connsiteX16" fmla="*/ 42869 w 53817"/>
                <a:gd name="connsiteY16" fmla="*/ 56408 h 123469"/>
                <a:gd name="connsiteX17" fmla="*/ 25995 w 53817"/>
                <a:gd name="connsiteY17" fmla="*/ 40814 h 123469"/>
                <a:gd name="connsiteX18" fmla="*/ 241 w 53817"/>
                <a:gd name="connsiteY18" fmla="*/ 68884 h 123469"/>
                <a:gd name="connsiteX19" fmla="*/ 3260 w 53817"/>
                <a:gd name="connsiteY19" fmla="*/ 71269 h 123469"/>
                <a:gd name="connsiteX20" fmla="*/ 6457 w 53817"/>
                <a:gd name="connsiteY20" fmla="*/ 68333 h 123469"/>
                <a:gd name="connsiteX21" fmla="*/ 25462 w 53817"/>
                <a:gd name="connsiteY21" fmla="*/ 45951 h 123469"/>
                <a:gd name="connsiteX22" fmla="*/ 29903 w 53817"/>
                <a:gd name="connsiteY22" fmla="*/ 52372 h 123469"/>
                <a:gd name="connsiteX23" fmla="*/ 24396 w 53817"/>
                <a:gd name="connsiteY23" fmla="*/ 70718 h 123469"/>
                <a:gd name="connsiteX24" fmla="*/ 13207 w 53817"/>
                <a:gd name="connsiteY24" fmla="*/ 100256 h 12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817" h="123469">
                  <a:moveTo>
                    <a:pt x="49441" y="7057"/>
                  </a:moveTo>
                  <a:cubicBezTo>
                    <a:pt x="49441" y="4121"/>
                    <a:pt x="47309" y="85"/>
                    <a:pt x="42336" y="85"/>
                  </a:cubicBezTo>
                  <a:cubicBezTo>
                    <a:pt x="37540" y="85"/>
                    <a:pt x="32389" y="4855"/>
                    <a:pt x="32389" y="10176"/>
                  </a:cubicBezTo>
                  <a:cubicBezTo>
                    <a:pt x="32389" y="13295"/>
                    <a:pt x="34698" y="17147"/>
                    <a:pt x="39494" y="17147"/>
                  </a:cubicBezTo>
                  <a:cubicBezTo>
                    <a:pt x="44645" y="17147"/>
                    <a:pt x="49441" y="12010"/>
                    <a:pt x="49441" y="7057"/>
                  </a:cubicBezTo>
                  <a:close/>
                  <a:moveTo>
                    <a:pt x="13207" y="100256"/>
                  </a:moveTo>
                  <a:cubicBezTo>
                    <a:pt x="12496" y="102641"/>
                    <a:pt x="11608" y="104842"/>
                    <a:pt x="11608" y="107961"/>
                  </a:cubicBezTo>
                  <a:cubicBezTo>
                    <a:pt x="11608" y="116584"/>
                    <a:pt x="18713" y="123555"/>
                    <a:pt x="28482" y="123555"/>
                  </a:cubicBezTo>
                  <a:cubicBezTo>
                    <a:pt x="46243" y="123555"/>
                    <a:pt x="54059" y="98237"/>
                    <a:pt x="54059" y="95486"/>
                  </a:cubicBezTo>
                  <a:cubicBezTo>
                    <a:pt x="54059" y="93100"/>
                    <a:pt x="51750" y="93100"/>
                    <a:pt x="51217" y="93100"/>
                  </a:cubicBezTo>
                  <a:cubicBezTo>
                    <a:pt x="48730" y="93100"/>
                    <a:pt x="48552" y="94201"/>
                    <a:pt x="47842" y="96219"/>
                  </a:cubicBezTo>
                  <a:cubicBezTo>
                    <a:pt x="43757" y="110896"/>
                    <a:pt x="35942" y="118418"/>
                    <a:pt x="29015" y="118418"/>
                  </a:cubicBezTo>
                  <a:cubicBezTo>
                    <a:pt x="25462" y="118418"/>
                    <a:pt x="24574" y="116033"/>
                    <a:pt x="24574" y="111997"/>
                  </a:cubicBezTo>
                  <a:cubicBezTo>
                    <a:pt x="24574" y="107777"/>
                    <a:pt x="25817" y="104292"/>
                    <a:pt x="27416" y="100256"/>
                  </a:cubicBezTo>
                  <a:cubicBezTo>
                    <a:pt x="29192" y="95302"/>
                    <a:pt x="31146" y="90349"/>
                    <a:pt x="33100" y="85579"/>
                  </a:cubicBezTo>
                  <a:cubicBezTo>
                    <a:pt x="34698" y="81175"/>
                    <a:pt x="41093" y="64480"/>
                    <a:pt x="41803" y="62279"/>
                  </a:cubicBezTo>
                  <a:cubicBezTo>
                    <a:pt x="42336" y="60444"/>
                    <a:pt x="42869" y="58243"/>
                    <a:pt x="42869" y="56408"/>
                  </a:cubicBezTo>
                  <a:cubicBezTo>
                    <a:pt x="42869" y="47785"/>
                    <a:pt x="35764" y="40814"/>
                    <a:pt x="25995" y="40814"/>
                  </a:cubicBezTo>
                  <a:cubicBezTo>
                    <a:pt x="8411" y="40814"/>
                    <a:pt x="241" y="65765"/>
                    <a:pt x="241" y="68884"/>
                  </a:cubicBezTo>
                  <a:cubicBezTo>
                    <a:pt x="241" y="71269"/>
                    <a:pt x="2727" y="71269"/>
                    <a:pt x="3260" y="71269"/>
                  </a:cubicBezTo>
                  <a:cubicBezTo>
                    <a:pt x="5747" y="71269"/>
                    <a:pt x="5924" y="70351"/>
                    <a:pt x="6457" y="68333"/>
                  </a:cubicBezTo>
                  <a:cubicBezTo>
                    <a:pt x="11075" y="52555"/>
                    <a:pt x="18890" y="45951"/>
                    <a:pt x="25462" y="45951"/>
                  </a:cubicBezTo>
                  <a:cubicBezTo>
                    <a:pt x="28304" y="45951"/>
                    <a:pt x="29903" y="47418"/>
                    <a:pt x="29903" y="52372"/>
                  </a:cubicBezTo>
                  <a:cubicBezTo>
                    <a:pt x="29903" y="56592"/>
                    <a:pt x="28837" y="59343"/>
                    <a:pt x="24396" y="70718"/>
                  </a:cubicBezTo>
                  <a:lnTo>
                    <a:pt x="13207" y="100256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DEB51CA2-AF53-419B-BACF-C632276BD28D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100727" y="7661201"/>
              <a:ext cx="108523" cy="82741"/>
            </a:xfrm>
            <a:custGeom>
              <a:avLst/>
              <a:gdLst>
                <a:gd name="connsiteX0" fmla="*/ 13565 w 108523"/>
                <a:gd name="connsiteY0" fmla="*/ 69434 h 82741"/>
                <a:gd name="connsiteX1" fmla="*/ 11789 w 108523"/>
                <a:gd name="connsiteY1" fmla="*/ 76956 h 82741"/>
                <a:gd name="connsiteX2" fmla="*/ 17827 w 108523"/>
                <a:gd name="connsiteY2" fmla="*/ 82827 h 82741"/>
                <a:gd name="connsiteX3" fmla="*/ 24755 w 108523"/>
                <a:gd name="connsiteY3" fmla="*/ 78790 h 82741"/>
                <a:gd name="connsiteX4" fmla="*/ 27952 w 108523"/>
                <a:gd name="connsiteY4" fmla="*/ 67416 h 82741"/>
                <a:gd name="connsiteX5" fmla="*/ 31859 w 108523"/>
                <a:gd name="connsiteY5" fmla="*/ 50904 h 82741"/>
                <a:gd name="connsiteX6" fmla="*/ 34879 w 108523"/>
                <a:gd name="connsiteY6" fmla="*/ 38612 h 82741"/>
                <a:gd name="connsiteX7" fmla="*/ 42339 w 108523"/>
                <a:gd name="connsiteY7" fmla="*/ 22101 h 82741"/>
                <a:gd name="connsiteX8" fmla="*/ 68981 w 108523"/>
                <a:gd name="connsiteY8" fmla="*/ 5222 h 82741"/>
                <a:gd name="connsiteX9" fmla="*/ 79461 w 108523"/>
                <a:gd name="connsiteY9" fmla="*/ 18065 h 82741"/>
                <a:gd name="connsiteX10" fmla="*/ 68981 w 108523"/>
                <a:gd name="connsiteY10" fmla="*/ 57142 h 82741"/>
                <a:gd name="connsiteX11" fmla="*/ 66317 w 108523"/>
                <a:gd name="connsiteY11" fmla="*/ 67049 h 82741"/>
                <a:gd name="connsiteX12" fmla="*/ 83191 w 108523"/>
                <a:gd name="connsiteY12" fmla="*/ 82827 h 82741"/>
                <a:gd name="connsiteX13" fmla="*/ 108767 w 108523"/>
                <a:gd name="connsiteY13" fmla="*/ 54757 h 82741"/>
                <a:gd name="connsiteX14" fmla="*/ 105926 w 108523"/>
                <a:gd name="connsiteY14" fmla="*/ 52372 h 82741"/>
                <a:gd name="connsiteX15" fmla="*/ 102551 w 108523"/>
                <a:gd name="connsiteY15" fmla="*/ 55491 h 82741"/>
                <a:gd name="connsiteX16" fmla="*/ 83723 w 108523"/>
                <a:gd name="connsiteY16" fmla="*/ 77690 h 82741"/>
                <a:gd name="connsiteX17" fmla="*/ 79283 w 108523"/>
                <a:gd name="connsiteY17" fmla="*/ 71269 h 82741"/>
                <a:gd name="connsiteX18" fmla="*/ 83368 w 108523"/>
                <a:gd name="connsiteY18" fmla="*/ 56408 h 82741"/>
                <a:gd name="connsiteX19" fmla="*/ 92782 w 108523"/>
                <a:gd name="connsiteY19" fmla="*/ 21000 h 82741"/>
                <a:gd name="connsiteX20" fmla="*/ 69692 w 108523"/>
                <a:gd name="connsiteY20" fmla="*/ 85 h 82741"/>
                <a:gd name="connsiteX21" fmla="*/ 39674 w 108523"/>
                <a:gd name="connsiteY21" fmla="*/ 16780 h 82741"/>
                <a:gd name="connsiteX22" fmla="*/ 20669 w 108523"/>
                <a:gd name="connsiteY22" fmla="*/ 85 h 82741"/>
                <a:gd name="connsiteX23" fmla="*/ 6638 w 108523"/>
                <a:gd name="connsiteY23" fmla="*/ 9992 h 82741"/>
                <a:gd name="connsiteX24" fmla="*/ 243 w 108523"/>
                <a:gd name="connsiteY24" fmla="*/ 28155 h 82741"/>
                <a:gd name="connsiteX25" fmla="*/ 3263 w 108523"/>
                <a:gd name="connsiteY25" fmla="*/ 30540 h 82741"/>
                <a:gd name="connsiteX26" fmla="*/ 7170 w 108523"/>
                <a:gd name="connsiteY26" fmla="*/ 25036 h 82741"/>
                <a:gd name="connsiteX27" fmla="*/ 20137 w 108523"/>
                <a:gd name="connsiteY27" fmla="*/ 5222 h 82741"/>
                <a:gd name="connsiteX28" fmla="*/ 25998 w 108523"/>
                <a:gd name="connsiteY28" fmla="*/ 14212 h 82741"/>
                <a:gd name="connsiteX29" fmla="*/ 23156 w 108523"/>
                <a:gd name="connsiteY29" fmla="*/ 29439 h 82741"/>
                <a:gd name="connsiteX30" fmla="*/ 19248 w 108523"/>
                <a:gd name="connsiteY30" fmla="*/ 45951 h 82741"/>
                <a:gd name="connsiteX31" fmla="*/ 13565 w 108523"/>
                <a:gd name="connsiteY31" fmla="*/ 69434 h 8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8523" h="82741">
                  <a:moveTo>
                    <a:pt x="13565" y="69434"/>
                  </a:moveTo>
                  <a:cubicBezTo>
                    <a:pt x="12854" y="71819"/>
                    <a:pt x="11789" y="76405"/>
                    <a:pt x="11789" y="76956"/>
                  </a:cubicBezTo>
                  <a:cubicBezTo>
                    <a:pt x="11789" y="80992"/>
                    <a:pt x="14986" y="82827"/>
                    <a:pt x="17827" y="82827"/>
                  </a:cubicBezTo>
                  <a:cubicBezTo>
                    <a:pt x="21025" y="82827"/>
                    <a:pt x="23866" y="80442"/>
                    <a:pt x="24755" y="78790"/>
                  </a:cubicBezTo>
                  <a:cubicBezTo>
                    <a:pt x="25643" y="77139"/>
                    <a:pt x="27064" y="71269"/>
                    <a:pt x="27952" y="67416"/>
                  </a:cubicBezTo>
                  <a:cubicBezTo>
                    <a:pt x="28840" y="63930"/>
                    <a:pt x="30794" y="55491"/>
                    <a:pt x="31859" y="50904"/>
                  </a:cubicBezTo>
                  <a:cubicBezTo>
                    <a:pt x="32925" y="46868"/>
                    <a:pt x="33991" y="42832"/>
                    <a:pt x="34879" y="38612"/>
                  </a:cubicBezTo>
                  <a:cubicBezTo>
                    <a:pt x="36833" y="31090"/>
                    <a:pt x="37188" y="29623"/>
                    <a:pt x="42339" y="22101"/>
                  </a:cubicBezTo>
                  <a:cubicBezTo>
                    <a:pt x="47312" y="14762"/>
                    <a:pt x="55660" y="5222"/>
                    <a:pt x="68981" y="5222"/>
                  </a:cubicBezTo>
                  <a:cubicBezTo>
                    <a:pt x="79283" y="5222"/>
                    <a:pt x="79461" y="14579"/>
                    <a:pt x="79461" y="18065"/>
                  </a:cubicBezTo>
                  <a:cubicBezTo>
                    <a:pt x="79461" y="29072"/>
                    <a:pt x="71823" y="49437"/>
                    <a:pt x="68981" y="57142"/>
                  </a:cubicBezTo>
                  <a:cubicBezTo>
                    <a:pt x="67027" y="62279"/>
                    <a:pt x="66317" y="63930"/>
                    <a:pt x="66317" y="67049"/>
                  </a:cubicBezTo>
                  <a:cubicBezTo>
                    <a:pt x="66317" y="76772"/>
                    <a:pt x="74132" y="82827"/>
                    <a:pt x="83191" y="82827"/>
                  </a:cubicBezTo>
                  <a:cubicBezTo>
                    <a:pt x="100952" y="82827"/>
                    <a:pt x="108767" y="57509"/>
                    <a:pt x="108767" y="54757"/>
                  </a:cubicBezTo>
                  <a:cubicBezTo>
                    <a:pt x="108767" y="52372"/>
                    <a:pt x="106458" y="52372"/>
                    <a:pt x="105926" y="52372"/>
                  </a:cubicBezTo>
                  <a:cubicBezTo>
                    <a:pt x="103439" y="52372"/>
                    <a:pt x="103261" y="53473"/>
                    <a:pt x="102551" y="55491"/>
                  </a:cubicBezTo>
                  <a:cubicBezTo>
                    <a:pt x="98466" y="70168"/>
                    <a:pt x="90828" y="77690"/>
                    <a:pt x="83723" y="77690"/>
                  </a:cubicBezTo>
                  <a:cubicBezTo>
                    <a:pt x="79993" y="77690"/>
                    <a:pt x="79283" y="75121"/>
                    <a:pt x="79283" y="71269"/>
                  </a:cubicBezTo>
                  <a:cubicBezTo>
                    <a:pt x="79283" y="67049"/>
                    <a:pt x="80171" y="64664"/>
                    <a:pt x="83368" y="56408"/>
                  </a:cubicBezTo>
                  <a:cubicBezTo>
                    <a:pt x="85500" y="50721"/>
                    <a:pt x="92782" y="31274"/>
                    <a:pt x="92782" y="21000"/>
                  </a:cubicBezTo>
                  <a:cubicBezTo>
                    <a:pt x="92782" y="3204"/>
                    <a:pt x="79105" y="85"/>
                    <a:pt x="69692" y="85"/>
                  </a:cubicBezTo>
                  <a:cubicBezTo>
                    <a:pt x="54949" y="85"/>
                    <a:pt x="45003" y="9442"/>
                    <a:pt x="39674" y="16780"/>
                  </a:cubicBezTo>
                  <a:cubicBezTo>
                    <a:pt x="38431" y="4121"/>
                    <a:pt x="27952" y="85"/>
                    <a:pt x="20669" y="85"/>
                  </a:cubicBezTo>
                  <a:cubicBezTo>
                    <a:pt x="13032" y="85"/>
                    <a:pt x="8947" y="5773"/>
                    <a:pt x="6638" y="9992"/>
                  </a:cubicBezTo>
                  <a:cubicBezTo>
                    <a:pt x="2730" y="16780"/>
                    <a:pt x="243" y="27238"/>
                    <a:pt x="243" y="28155"/>
                  </a:cubicBezTo>
                  <a:cubicBezTo>
                    <a:pt x="243" y="30540"/>
                    <a:pt x="2730" y="30540"/>
                    <a:pt x="3263" y="30540"/>
                  </a:cubicBezTo>
                  <a:cubicBezTo>
                    <a:pt x="5750" y="30540"/>
                    <a:pt x="5927" y="29990"/>
                    <a:pt x="7170" y="25036"/>
                  </a:cubicBezTo>
                  <a:cubicBezTo>
                    <a:pt x="9835" y="14212"/>
                    <a:pt x="13209" y="5222"/>
                    <a:pt x="20137" y="5222"/>
                  </a:cubicBezTo>
                  <a:cubicBezTo>
                    <a:pt x="24755" y="5222"/>
                    <a:pt x="25998" y="9258"/>
                    <a:pt x="25998" y="14212"/>
                  </a:cubicBezTo>
                  <a:cubicBezTo>
                    <a:pt x="25998" y="17698"/>
                    <a:pt x="24399" y="24486"/>
                    <a:pt x="23156" y="29439"/>
                  </a:cubicBezTo>
                  <a:cubicBezTo>
                    <a:pt x="21913" y="34393"/>
                    <a:pt x="20137" y="41915"/>
                    <a:pt x="19248" y="45951"/>
                  </a:cubicBezTo>
                  <a:lnTo>
                    <a:pt x="13565" y="69434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59E0672C-6700-450E-BA40-07094EA6CF88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0301092" y="7549997"/>
              <a:ext cx="168736" cy="174550"/>
            </a:xfrm>
            <a:custGeom>
              <a:avLst/>
              <a:gdLst>
                <a:gd name="connsiteX0" fmla="*/ 89821 w 168736"/>
                <a:gd name="connsiteY0" fmla="*/ 92601 h 174550"/>
                <a:gd name="connsiteX1" fmla="*/ 160614 w 168736"/>
                <a:gd name="connsiteY1" fmla="*/ 92601 h 174550"/>
                <a:gd name="connsiteX2" fmla="*/ 168987 w 168736"/>
                <a:gd name="connsiteY2" fmla="*/ 87359 h 174550"/>
                <a:gd name="connsiteX3" fmla="*/ 160614 w 168736"/>
                <a:gd name="connsiteY3" fmla="*/ 82117 h 174550"/>
                <a:gd name="connsiteX4" fmla="*/ 89821 w 168736"/>
                <a:gd name="connsiteY4" fmla="*/ 82117 h 174550"/>
                <a:gd name="connsiteX5" fmla="*/ 89821 w 168736"/>
                <a:gd name="connsiteY5" fmla="*/ 8733 h 174550"/>
                <a:gd name="connsiteX6" fmla="*/ 84746 w 168736"/>
                <a:gd name="connsiteY6" fmla="*/ 84 h 174550"/>
                <a:gd name="connsiteX7" fmla="*/ 79671 w 168736"/>
                <a:gd name="connsiteY7" fmla="*/ 8733 h 174550"/>
                <a:gd name="connsiteX8" fmla="*/ 79671 w 168736"/>
                <a:gd name="connsiteY8" fmla="*/ 82117 h 174550"/>
                <a:gd name="connsiteX9" fmla="*/ 8624 w 168736"/>
                <a:gd name="connsiteY9" fmla="*/ 82117 h 174550"/>
                <a:gd name="connsiteX10" fmla="*/ 251 w 168736"/>
                <a:gd name="connsiteY10" fmla="*/ 87359 h 174550"/>
                <a:gd name="connsiteX11" fmla="*/ 8624 w 168736"/>
                <a:gd name="connsiteY11" fmla="*/ 92601 h 174550"/>
                <a:gd name="connsiteX12" fmla="*/ 79671 w 168736"/>
                <a:gd name="connsiteY12" fmla="*/ 92601 h 174550"/>
                <a:gd name="connsiteX13" fmla="*/ 79671 w 168736"/>
                <a:gd name="connsiteY13" fmla="*/ 165986 h 174550"/>
                <a:gd name="connsiteX14" fmla="*/ 84746 w 168736"/>
                <a:gd name="connsiteY14" fmla="*/ 174635 h 174550"/>
                <a:gd name="connsiteX15" fmla="*/ 89821 w 168736"/>
                <a:gd name="connsiteY15" fmla="*/ 165986 h 174550"/>
                <a:gd name="connsiteX16" fmla="*/ 89821 w 168736"/>
                <a:gd name="connsiteY16" fmla="*/ 92601 h 174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8736" h="174550">
                  <a:moveTo>
                    <a:pt x="89821" y="92601"/>
                  </a:moveTo>
                  <a:lnTo>
                    <a:pt x="160614" y="92601"/>
                  </a:lnTo>
                  <a:cubicBezTo>
                    <a:pt x="164166" y="92601"/>
                    <a:pt x="168987" y="92601"/>
                    <a:pt x="168987" y="87359"/>
                  </a:cubicBezTo>
                  <a:cubicBezTo>
                    <a:pt x="168987" y="82117"/>
                    <a:pt x="164166" y="82117"/>
                    <a:pt x="160614" y="82117"/>
                  </a:cubicBezTo>
                  <a:lnTo>
                    <a:pt x="89821" y="82117"/>
                  </a:lnTo>
                  <a:lnTo>
                    <a:pt x="89821" y="8733"/>
                  </a:lnTo>
                  <a:cubicBezTo>
                    <a:pt x="89821" y="5063"/>
                    <a:pt x="89821" y="84"/>
                    <a:pt x="84746" y="84"/>
                  </a:cubicBezTo>
                  <a:cubicBezTo>
                    <a:pt x="79671" y="84"/>
                    <a:pt x="79671" y="5063"/>
                    <a:pt x="79671" y="8733"/>
                  </a:cubicBezTo>
                  <a:lnTo>
                    <a:pt x="79671" y="82117"/>
                  </a:lnTo>
                  <a:lnTo>
                    <a:pt x="8624" y="82117"/>
                  </a:lnTo>
                  <a:cubicBezTo>
                    <a:pt x="5072" y="82117"/>
                    <a:pt x="251" y="82117"/>
                    <a:pt x="251" y="87359"/>
                  </a:cubicBezTo>
                  <a:cubicBezTo>
                    <a:pt x="251" y="92601"/>
                    <a:pt x="5072" y="92601"/>
                    <a:pt x="8624" y="92601"/>
                  </a:cubicBezTo>
                  <a:lnTo>
                    <a:pt x="79671" y="92601"/>
                  </a:lnTo>
                  <a:lnTo>
                    <a:pt x="79671" y="165986"/>
                  </a:lnTo>
                  <a:cubicBezTo>
                    <a:pt x="79671" y="169655"/>
                    <a:pt x="79671" y="174635"/>
                    <a:pt x="84746" y="174635"/>
                  </a:cubicBezTo>
                  <a:cubicBezTo>
                    <a:pt x="89821" y="174635"/>
                    <a:pt x="89821" y="169655"/>
                    <a:pt x="89821" y="165986"/>
                  </a:cubicBezTo>
                  <a:lnTo>
                    <a:pt x="89821" y="92601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66B5FBC4-4BF2-4A24-96D6-3ECD99018474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547979" y="7586951"/>
              <a:ext cx="137526" cy="118726"/>
            </a:xfrm>
            <a:custGeom>
              <a:avLst/>
              <a:gdLst>
                <a:gd name="connsiteX0" fmla="*/ 15232 w 137526"/>
                <a:gd name="connsiteY0" fmla="*/ 100464 h 118726"/>
                <a:gd name="connsiteX1" fmla="*/ 12948 w 137526"/>
                <a:gd name="connsiteY1" fmla="*/ 111734 h 118726"/>
                <a:gd name="connsiteX2" fmla="*/ 20306 w 137526"/>
                <a:gd name="connsiteY2" fmla="*/ 118810 h 118726"/>
                <a:gd name="connsiteX3" fmla="*/ 29695 w 137526"/>
                <a:gd name="connsiteY3" fmla="*/ 111471 h 118726"/>
                <a:gd name="connsiteX4" fmla="*/ 34516 w 137526"/>
                <a:gd name="connsiteY4" fmla="*/ 92077 h 118726"/>
                <a:gd name="connsiteX5" fmla="*/ 40098 w 137526"/>
                <a:gd name="connsiteY5" fmla="*/ 68489 h 118726"/>
                <a:gd name="connsiteX6" fmla="*/ 44412 w 137526"/>
                <a:gd name="connsiteY6" fmla="*/ 50929 h 118726"/>
                <a:gd name="connsiteX7" fmla="*/ 47710 w 137526"/>
                <a:gd name="connsiteY7" fmla="*/ 37825 h 118726"/>
                <a:gd name="connsiteX8" fmla="*/ 89070 w 137526"/>
                <a:gd name="connsiteY8" fmla="*/ 5850 h 118726"/>
                <a:gd name="connsiteX9" fmla="*/ 102771 w 137526"/>
                <a:gd name="connsiteY9" fmla="*/ 24196 h 118726"/>
                <a:gd name="connsiteX10" fmla="*/ 86278 w 137526"/>
                <a:gd name="connsiteY10" fmla="*/ 85263 h 118726"/>
                <a:gd name="connsiteX11" fmla="*/ 83741 w 137526"/>
                <a:gd name="connsiteY11" fmla="*/ 97319 h 118726"/>
                <a:gd name="connsiteX12" fmla="*/ 104548 w 137526"/>
                <a:gd name="connsiteY12" fmla="*/ 118810 h 118726"/>
                <a:gd name="connsiteX13" fmla="*/ 137787 w 137526"/>
                <a:gd name="connsiteY13" fmla="*/ 78448 h 118726"/>
                <a:gd name="connsiteX14" fmla="*/ 134742 w 137526"/>
                <a:gd name="connsiteY14" fmla="*/ 75827 h 118726"/>
                <a:gd name="connsiteX15" fmla="*/ 130936 w 137526"/>
                <a:gd name="connsiteY15" fmla="*/ 80545 h 118726"/>
                <a:gd name="connsiteX16" fmla="*/ 105055 w 137526"/>
                <a:gd name="connsiteY16" fmla="*/ 113044 h 118726"/>
                <a:gd name="connsiteX17" fmla="*/ 98965 w 137526"/>
                <a:gd name="connsiteY17" fmla="*/ 104395 h 118726"/>
                <a:gd name="connsiteX18" fmla="*/ 103533 w 137526"/>
                <a:gd name="connsiteY18" fmla="*/ 85787 h 118726"/>
                <a:gd name="connsiteX19" fmla="*/ 119011 w 137526"/>
                <a:gd name="connsiteY19" fmla="*/ 28127 h 118726"/>
                <a:gd name="connsiteX20" fmla="*/ 89831 w 137526"/>
                <a:gd name="connsiteY20" fmla="*/ 84 h 118726"/>
                <a:gd name="connsiteX21" fmla="*/ 50248 w 137526"/>
                <a:gd name="connsiteY21" fmla="*/ 22885 h 118726"/>
                <a:gd name="connsiteX22" fmla="*/ 26904 w 137526"/>
                <a:gd name="connsiteY22" fmla="*/ 84 h 118726"/>
                <a:gd name="connsiteX23" fmla="*/ 7873 w 137526"/>
                <a:gd name="connsiteY23" fmla="*/ 15023 h 118726"/>
                <a:gd name="connsiteX24" fmla="*/ 261 w 137526"/>
                <a:gd name="connsiteY24" fmla="*/ 40445 h 118726"/>
                <a:gd name="connsiteX25" fmla="*/ 3306 w 137526"/>
                <a:gd name="connsiteY25" fmla="*/ 43066 h 118726"/>
                <a:gd name="connsiteX26" fmla="*/ 7619 w 137526"/>
                <a:gd name="connsiteY26" fmla="*/ 37038 h 118726"/>
                <a:gd name="connsiteX27" fmla="*/ 26142 w 137526"/>
                <a:gd name="connsiteY27" fmla="*/ 5850 h 118726"/>
                <a:gd name="connsiteX28" fmla="*/ 34008 w 137526"/>
                <a:gd name="connsiteY28" fmla="*/ 17906 h 118726"/>
                <a:gd name="connsiteX29" fmla="*/ 29948 w 137526"/>
                <a:gd name="connsiteY29" fmla="*/ 39921 h 118726"/>
                <a:gd name="connsiteX30" fmla="*/ 15232 w 137526"/>
                <a:gd name="connsiteY30" fmla="*/ 100464 h 118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7526" h="118726">
                  <a:moveTo>
                    <a:pt x="15232" y="100464"/>
                  </a:moveTo>
                  <a:cubicBezTo>
                    <a:pt x="14470" y="104395"/>
                    <a:pt x="12948" y="110423"/>
                    <a:pt x="12948" y="111734"/>
                  </a:cubicBezTo>
                  <a:cubicBezTo>
                    <a:pt x="12948" y="116451"/>
                    <a:pt x="16500" y="118810"/>
                    <a:pt x="20306" y="118810"/>
                  </a:cubicBezTo>
                  <a:cubicBezTo>
                    <a:pt x="23351" y="118810"/>
                    <a:pt x="27918" y="116713"/>
                    <a:pt x="29695" y="111471"/>
                  </a:cubicBezTo>
                  <a:cubicBezTo>
                    <a:pt x="29948" y="110947"/>
                    <a:pt x="32993" y="98629"/>
                    <a:pt x="34516" y="92077"/>
                  </a:cubicBezTo>
                  <a:lnTo>
                    <a:pt x="40098" y="68489"/>
                  </a:lnTo>
                  <a:cubicBezTo>
                    <a:pt x="41620" y="62723"/>
                    <a:pt x="43143" y="56957"/>
                    <a:pt x="44412" y="50929"/>
                  </a:cubicBezTo>
                  <a:cubicBezTo>
                    <a:pt x="45426" y="46473"/>
                    <a:pt x="47456" y="38873"/>
                    <a:pt x="47710" y="37825"/>
                  </a:cubicBezTo>
                  <a:cubicBezTo>
                    <a:pt x="51516" y="29700"/>
                    <a:pt x="64964" y="5850"/>
                    <a:pt x="89070" y="5850"/>
                  </a:cubicBezTo>
                  <a:cubicBezTo>
                    <a:pt x="100488" y="5850"/>
                    <a:pt x="102771" y="15547"/>
                    <a:pt x="102771" y="24196"/>
                  </a:cubicBezTo>
                  <a:cubicBezTo>
                    <a:pt x="102771" y="40445"/>
                    <a:pt x="90338" y="73993"/>
                    <a:pt x="86278" y="85263"/>
                  </a:cubicBezTo>
                  <a:cubicBezTo>
                    <a:pt x="83995" y="91291"/>
                    <a:pt x="83741" y="94436"/>
                    <a:pt x="83741" y="97319"/>
                  </a:cubicBezTo>
                  <a:cubicBezTo>
                    <a:pt x="83741" y="109637"/>
                    <a:pt x="92622" y="118810"/>
                    <a:pt x="104548" y="118810"/>
                  </a:cubicBezTo>
                  <a:cubicBezTo>
                    <a:pt x="128399" y="118810"/>
                    <a:pt x="137787" y="80545"/>
                    <a:pt x="137787" y="78448"/>
                  </a:cubicBezTo>
                  <a:cubicBezTo>
                    <a:pt x="137787" y="75827"/>
                    <a:pt x="135504" y="75827"/>
                    <a:pt x="134742" y="75827"/>
                  </a:cubicBezTo>
                  <a:cubicBezTo>
                    <a:pt x="132205" y="75827"/>
                    <a:pt x="132205" y="76614"/>
                    <a:pt x="130936" y="80545"/>
                  </a:cubicBezTo>
                  <a:cubicBezTo>
                    <a:pt x="125862" y="98367"/>
                    <a:pt x="117488" y="113044"/>
                    <a:pt x="105055" y="113044"/>
                  </a:cubicBezTo>
                  <a:cubicBezTo>
                    <a:pt x="100741" y="113044"/>
                    <a:pt x="98965" y="110423"/>
                    <a:pt x="98965" y="104395"/>
                  </a:cubicBezTo>
                  <a:cubicBezTo>
                    <a:pt x="98965" y="97843"/>
                    <a:pt x="101249" y="91553"/>
                    <a:pt x="103533" y="85787"/>
                  </a:cubicBezTo>
                  <a:cubicBezTo>
                    <a:pt x="108354" y="71896"/>
                    <a:pt x="119011" y="43066"/>
                    <a:pt x="119011" y="28127"/>
                  </a:cubicBezTo>
                  <a:cubicBezTo>
                    <a:pt x="119011" y="10567"/>
                    <a:pt x="108100" y="84"/>
                    <a:pt x="89831" y="84"/>
                  </a:cubicBezTo>
                  <a:cubicBezTo>
                    <a:pt x="66994" y="84"/>
                    <a:pt x="54561" y="16857"/>
                    <a:pt x="50248" y="22885"/>
                  </a:cubicBezTo>
                  <a:cubicBezTo>
                    <a:pt x="48979" y="8209"/>
                    <a:pt x="38576" y="84"/>
                    <a:pt x="26904" y="84"/>
                  </a:cubicBezTo>
                  <a:cubicBezTo>
                    <a:pt x="15232" y="84"/>
                    <a:pt x="10411" y="10305"/>
                    <a:pt x="7873" y="15023"/>
                  </a:cubicBezTo>
                  <a:cubicBezTo>
                    <a:pt x="3813" y="23934"/>
                    <a:pt x="261" y="39397"/>
                    <a:pt x="261" y="40445"/>
                  </a:cubicBezTo>
                  <a:cubicBezTo>
                    <a:pt x="261" y="43066"/>
                    <a:pt x="2798" y="43066"/>
                    <a:pt x="3306" y="43066"/>
                  </a:cubicBezTo>
                  <a:cubicBezTo>
                    <a:pt x="5843" y="43066"/>
                    <a:pt x="6097" y="42804"/>
                    <a:pt x="7619" y="37038"/>
                  </a:cubicBezTo>
                  <a:cubicBezTo>
                    <a:pt x="11933" y="18430"/>
                    <a:pt x="17008" y="5850"/>
                    <a:pt x="26142" y="5850"/>
                  </a:cubicBezTo>
                  <a:cubicBezTo>
                    <a:pt x="31217" y="5850"/>
                    <a:pt x="34008" y="9257"/>
                    <a:pt x="34008" y="17906"/>
                  </a:cubicBezTo>
                  <a:cubicBezTo>
                    <a:pt x="34008" y="23410"/>
                    <a:pt x="33247" y="26293"/>
                    <a:pt x="29948" y="39921"/>
                  </a:cubicBezTo>
                  <a:lnTo>
                    <a:pt x="15232" y="100464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BE46483B-43E6-4A07-BA8E-8632D7E79F8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703935" y="7661201"/>
              <a:ext cx="83302" cy="82741"/>
            </a:xfrm>
            <a:custGeom>
              <a:avLst/>
              <a:gdLst>
                <a:gd name="connsiteX0" fmla="*/ 83569 w 83302"/>
                <a:gd name="connsiteY0" fmla="*/ 32191 h 82741"/>
                <a:gd name="connsiteX1" fmla="*/ 51421 w 83302"/>
                <a:gd name="connsiteY1" fmla="*/ 85 h 82741"/>
                <a:gd name="connsiteX2" fmla="*/ 267 w 83302"/>
                <a:gd name="connsiteY2" fmla="*/ 50721 h 82741"/>
                <a:gd name="connsiteX3" fmla="*/ 32593 w 83302"/>
                <a:gd name="connsiteY3" fmla="*/ 82827 h 82741"/>
                <a:gd name="connsiteX4" fmla="*/ 83569 w 83302"/>
                <a:gd name="connsiteY4" fmla="*/ 32191 h 82741"/>
                <a:gd name="connsiteX5" fmla="*/ 32771 w 83302"/>
                <a:gd name="connsiteY5" fmla="*/ 77690 h 82741"/>
                <a:gd name="connsiteX6" fmla="*/ 15009 w 83302"/>
                <a:gd name="connsiteY6" fmla="*/ 57325 h 82741"/>
                <a:gd name="connsiteX7" fmla="*/ 25311 w 83302"/>
                <a:gd name="connsiteY7" fmla="*/ 21367 h 82741"/>
                <a:gd name="connsiteX8" fmla="*/ 51243 w 83302"/>
                <a:gd name="connsiteY8" fmla="*/ 5222 h 82741"/>
                <a:gd name="connsiteX9" fmla="*/ 69005 w 83302"/>
                <a:gd name="connsiteY9" fmla="*/ 25586 h 82741"/>
                <a:gd name="connsiteX10" fmla="*/ 59058 w 83302"/>
                <a:gd name="connsiteY10" fmla="*/ 60995 h 82741"/>
                <a:gd name="connsiteX11" fmla="*/ 32771 w 83302"/>
                <a:gd name="connsiteY11" fmla="*/ 77690 h 8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3302" h="82741">
                  <a:moveTo>
                    <a:pt x="83569" y="32191"/>
                  </a:moveTo>
                  <a:cubicBezTo>
                    <a:pt x="83569" y="11827"/>
                    <a:pt x="68827" y="85"/>
                    <a:pt x="51421" y="85"/>
                  </a:cubicBezTo>
                  <a:cubicBezTo>
                    <a:pt x="25133" y="85"/>
                    <a:pt x="267" y="25586"/>
                    <a:pt x="267" y="50721"/>
                  </a:cubicBezTo>
                  <a:cubicBezTo>
                    <a:pt x="267" y="69067"/>
                    <a:pt x="13233" y="82827"/>
                    <a:pt x="32593" y="82827"/>
                  </a:cubicBezTo>
                  <a:cubicBezTo>
                    <a:pt x="57993" y="82827"/>
                    <a:pt x="83569" y="58610"/>
                    <a:pt x="83569" y="32191"/>
                  </a:cubicBezTo>
                  <a:close/>
                  <a:moveTo>
                    <a:pt x="32771" y="77690"/>
                  </a:moveTo>
                  <a:cubicBezTo>
                    <a:pt x="23890" y="77690"/>
                    <a:pt x="15009" y="71819"/>
                    <a:pt x="15009" y="57325"/>
                  </a:cubicBezTo>
                  <a:cubicBezTo>
                    <a:pt x="15009" y="49803"/>
                    <a:pt x="18384" y="31824"/>
                    <a:pt x="25311" y="21367"/>
                  </a:cubicBezTo>
                  <a:cubicBezTo>
                    <a:pt x="32949" y="9992"/>
                    <a:pt x="43250" y="5222"/>
                    <a:pt x="51243" y="5222"/>
                  </a:cubicBezTo>
                  <a:cubicBezTo>
                    <a:pt x="60834" y="5222"/>
                    <a:pt x="69005" y="12010"/>
                    <a:pt x="69005" y="25586"/>
                  </a:cubicBezTo>
                  <a:cubicBezTo>
                    <a:pt x="69005" y="29990"/>
                    <a:pt x="66873" y="48152"/>
                    <a:pt x="59058" y="60995"/>
                  </a:cubicBezTo>
                  <a:cubicBezTo>
                    <a:pt x="52309" y="71819"/>
                    <a:pt x="41652" y="77690"/>
                    <a:pt x="32771" y="77690"/>
                  </a:cubicBez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7D1D3048-1B58-41D6-AE8C-E2EABC96799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801428" y="7661201"/>
              <a:ext cx="103195" cy="82741"/>
            </a:xfrm>
            <a:custGeom>
              <a:avLst/>
              <a:gdLst>
                <a:gd name="connsiteX0" fmla="*/ 67055 w 103195"/>
                <a:gd name="connsiteY0" fmla="*/ 51271 h 82741"/>
                <a:gd name="connsiteX1" fmla="*/ 64213 w 103195"/>
                <a:gd name="connsiteY1" fmla="*/ 62095 h 82741"/>
                <a:gd name="connsiteX2" fmla="*/ 42721 w 103195"/>
                <a:gd name="connsiteY2" fmla="*/ 77690 h 82741"/>
                <a:gd name="connsiteX3" fmla="*/ 30466 w 103195"/>
                <a:gd name="connsiteY3" fmla="*/ 62462 h 82741"/>
                <a:gd name="connsiteX4" fmla="*/ 40412 w 103195"/>
                <a:gd name="connsiteY4" fmla="*/ 25220 h 82741"/>
                <a:gd name="connsiteX5" fmla="*/ 42899 w 103195"/>
                <a:gd name="connsiteY5" fmla="*/ 15863 h 82741"/>
                <a:gd name="connsiteX6" fmla="*/ 26025 w 103195"/>
                <a:gd name="connsiteY6" fmla="*/ 85 h 82741"/>
                <a:gd name="connsiteX7" fmla="*/ 271 w 103195"/>
                <a:gd name="connsiteY7" fmla="*/ 28155 h 82741"/>
                <a:gd name="connsiteX8" fmla="*/ 3290 w 103195"/>
                <a:gd name="connsiteY8" fmla="*/ 30540 h 82741"/>
                <a:gd name="connsiteX9" fmla="*/ 6488 w 103195"/>
                <a:gd name="connsiteY9" fmla="*/ 27605 h 82741"/>
                <a:gd name="connsiteX10" fmla="*/ 25493 w 103195"/>
                <a:gd name="connsiteY10" fmla="*/ 5222 h 82741"/>
                <a:gd name="connsiteX11" fmla="*/ 29933 w 103195"/>
                <a:gd name="connsiteY11" fmla="*/ 11643 h 82741"/>
                <a:gd name="connsiteX12" fmla="*/ 26736 w 103195"/>
                <a:gd name="connsiteY12" fmla="*/ 23935 h 82741"/>
                <a:gd name="connsiteX13" fmla="*/ 17145 w 103195"/>
                <a:gd name="connsiteY13" fmla="*/ 59527 h 82741"/>
                <a:gd name="connsiteX14" fmla="*/ 23716 w 103195"/>
                <a:gd name="connsiteY14" fmla="*/ 76956 h 82741"/>
                <a:gd name="connsiteX15" fmla="*/ 42011 w 103195"/>
                <a:gd name="connsiteY15" fmla="*/ 82827 h 82741"/>
                <a:gd name="connsiteX16" fmla="*/ 65101 w 103195"/>
                <a:gd name="connsiteY16" fmla="*/ 70718 h 82741"/>
                <a:gd name="connsiteX17" fmla="*/ 83040 w 103195"/>
                <a:gd name="connsiteY17" fmla="*/ 82827 h 82741"/>
                <a:gd name="connsiteX18" fmla="*/ 97072 w 103195"/>
                <a:gd name="connsiteY18" fmla="*/ 73103 h 82741"/>
                <a:gd name="connsiteX19" fmla="*/ 103466 w 103195"/>
                <a:gd name="connsiteY19" fmla="*/ 54757 h 82741"/>
                <a:gd name="connsiteX20" fmla="*/ 100447 w 103195"/>
                <a:gd name="connsiteY20" fmla="*/ 52372 h 82741"/>
                <a:gd name="connsiteX21" fmla="*/ 96539 w 103195"/>
                <a:gd name="connsiteY21" fmla="*/ 58059 h 82741"/>
                <a:gd name="connsiteX22" fmla="*/ 83573 w 103195"/>
                <a:gd name="connsiteY22" fmla="*/ 77690 h 82741"/>
                <a:gd name="connsiteX23" fmla="*/ 77712 w 103195"/>
                <a:gd name="connsiteY23" fmla="*/ 68700 h 82741"/>
                <a:gd name="connsiteX24" fmla="*/ 80376 w 103195"/>
                <a:gd name="connsiteY24" fmla="*/ 54207 h 82741"/>
                <a:gd name="connsiteX25" fmla="*/ 84284 w 103195"/>
                <a:gd name="connsiteY25" fmla="*/ 37695 h 82741"/>
                <a:gd name="connsiteX26" fmla="*/ 88369 w 103195"/>
                <a:gd name="connsiteY26" fmla="*/ 21367 h 82741"/>
                <a:gd name="connsiteX27" fmla="*/ 91388 w 103195"/>
                <a:gd name="connsiteY27" fmla="*/ 7791 h 82741"/>
                <a:gd name="connsiteX28" fmla="*/ 85527 w 103195"/>
                <a:gd name="connsiteY28" fmla="*/ 1920 h 82741"/>
                <a:gd name="connsiteX29" fmla="*/ 76291 w 103195"/>
                <a:gd name="connsiteY29" fmla="*/ 13111 h 82741"/>
                <a:gd name="connsiteX30" fmla="*/ 67055 w 103195"/>
                <a:gd name="connsiteY30" fmla="*/ 51271 h 8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03195" h="82741">
                  <a:moveTo>
                    <a:pt x="67055" y="51271"/>
                  </a:moveTo>
                  <a:cubicBezTo>
                    <a:pt x="66167" y="54940"/>
                    <a:pt x="64568" y="61912"/>
                    <a:pt x="64213" y="62095"/>
                  </a:cubicBezTo>
                  <a:cubicBezTo>
                    <a:pt x="60838" y="67783"/>
                    <a:pt x="53734" y="77690"/>
                    <a:pt x="42721" y="77690"/>
                  </a:cubicBezTo>
                  <a:cubicBezTo>
                    <a:pt x="30466" y="77690"/>
                    <a:pt x="30466" y="65765"/>
                    <a:pt x="30466" y="62462"/>
                  </a:cubicBezTo>
                  <a:cubicBezTo>
                    <a:pt x="30466" y="51638"/>
                    <a:pt x="35439" y="38612"/>
                    <a:pt x="40412" y="25220"/>
                  </a:cubicBezTo>
                  <a:cubicBezTo>
                    <a:pt x="41833" y="21550"/>
                    <a:pt x="42899" y="18798"/>
                    <a:pt x="42899" y="15863"/>
                  </a:cubicBezTo>
                  <a:cubicBezTo>
                    <a:pt x="42899" y="6323"/>
                    <a:pt x="35084" y="85"/>
                    <a:pt x="26025" y="85"/>
                  </a:cubicBezTo>
                  <a:cubicBezTo>
                    <a:pt x="8264" y="85"/>
                    <a:pt x="271" y="25220"/>
                    <a:pt x="271" y="28155"/>
                  </a:cubicBezTo>
                  <a:cubicBezTo>
                    <a:pt x="271" y="30540"/>
                    <a:pt x="2758" y="30540"/>
                    <a:pt x="3290" y="30540"/>
                  </a:cubicBezTo>
                  <a:cubicBezTo>
                    <a:pt x="5777" y="30540"/>
                    <a:pt x="5955" y="29623"/>
                    <a:pt x="6488" y="27605"/>
                  </a:cubicBezTo>
                  <a:cubicBezTo>
                    <a:pt x="10750" y="12561"/>
                    <a:pt x="18565" y="5222"/>
                    <a:pt x="25493" y="5222"/>
                  </a:cubicBezTo>
                  <a:cubicBezTo>
                    <a:pt x="28512" y="5222"/>
                    <a:pt x="29933" y="7240"/>
                    <a:pt x="29933" y="11643"/>
                  </a:cubicBezTo>
                  <a:cubicBezTo>
                    <a:pt x="29933" y="15863"/>
                    <a:pt x="28512" y="19716"/>
                    <a:pt x="26736" y="23935"/>
                  </a:cubicBezTo>
                  <a:cubicBezTo>
                    <a:pt x="17145" y="49253"/>
                    <a:pt x="17145" y="54573"/>
                    <a:pt x="17145" y="59527"/>
                  </a:cubicBezTo>
                  <a:cubicBezTo>
                    <a:pt x="17145" y="62646"/>
                    <a:pt x="17145" y="71085"/>
                    <a:pt x="23716" y="76956"/>
                  </a:cubicBezTo>
                  <a:cubicBezTo>
                    <a:pt x="28867" y="81359"/>
                    <a:pt x="35794" y="82827"/>
                    <a:pt x="42011" y="82827"/>
                  </a:cubicBezTo>
                  <a:cubicBezTo>
                    <a:pt x="53201" y="82827"/>
                    <a:pt x="59240" y="76589"/>
                    <a:pt x="65101" y="70718"/>
                  </a:cubicBezTo>
                  <a:cubicBezTo>
                    <a:pt x="69009" y="82460"/>
                    <a:pt x="80909" y="82827"/>
                    <a:pt x="83040" y="82827"/>
                  </a:cubicBezTo>
                  <a:cubicBezTo>
                    <a:pt x="89079" y="82827"/>
                    <a:pt x="93697" y="79157"/>
                    <a:pt x="97072" y="73103"/>
                  </a:cubicBezTo>
                  <a:cubicBezTo>
                    <a:pt x="100980" y="65948"/>
                    <a:pt x="103466" y="55307"/>
                    <a:pt x="103466" y="54757"/>
                  </a:cubicBezTo>
                  <a:cubicBezTo>
                    <a:pt x="103466" y="52372"/>
                    <a:pt x="100980" y="52372"/>
                    <a:pt x="100447" y="52372"/>
                  </a:cubicBezTo>
                  <a:cubicBezTo>
                    <a:pt x="97960" y="52372"/>
                    <a:pt x="97783" y="53106"/>
                    <a:pt x="96539" y="58059"/>
                  </a:cubicBezTo>
                  <a:cubicBezTo>
                    <a:pt x="94408" y="66682"/>
                    <a:pt x="91033" y="77690"/>
                    <a:pt x="83573" y="77690"/>
                  </a:cubicBezTo>
                  <a:cubicBezTo>
                    <a:pt x="78955" y="77690"/>
                    <a:pt x="77712" y="73470"/>
                    <a:pt x="77712" y="68700"/>
                  </a:cubicBezTo>
                  <a:cubicBezTo>
                    <a:pt x="77712" y="65581"/>
                    <a:pt x="79133" y="58977"/>
                    <a:pt x="80376" y="54207"/>
                  </a:cubicBezTo>
                  <a:cubicBezTo>
                    <a:pt x="81619" y="49253"/>
                    <a:pt x="83396" y="41731"/>
                    <a:pt x="84284" y="37695"/>
                  </a:cubicBezTo>
                  <a:lnTo>
                    <a:pt x="88369" y="21367"/>
                  </a:lnTo>
                  <a:cubicBezTo>
                    <a:pt x="89435" y="16780"/>
                    <a:pt x="91388" y="8708"/>
                    <a:pt x="91388" y="7791"/>
                  </a:cubicBezTo>
                  <a:cubicBezTo>
                    <a:pt x="91388" y="4121"/>
                    <a:pt x="88547" y="1920"/>
                    <a:pt x="85527" y="1920"/>
                  </a:cubicBezTo>
                  <a:cubicBezTo>
                    <a:pt x="78955" y="1920"/>
                    <a:pt x="77712" y="7240"/>
                    <a:pt x="76291" y="13111"/>
                  </a:cubicBezTo>
                  <a:lnTo>
                    <a:pt x="67055" y="51271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EF453D3C-4E0A-46FC-BA99-DF597F7BAF8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0920509" y="7627444"/>
              <a:ext cx="60034" cy="116498"/>
            </a:xfrm>
            <a:custGeom>
              <a:avLst/>
              <a:gdLst>
                <a:gd name="connsiteX0" fmla="*/ 36510 w 60034"/>
                <a:gd name="connsiteY0" fmla="*/ 42282 h 116498"/>
                <a:gd name="connsiteX1" fmla="*/ 54626 w 60034"/>
                <a:gd name="connsiteY1" fmla="*/ 42282 h 116498"/>
                <a:gd name="connsiteX2" fmla="*/ 60310 w 60034"/>
                <a:gd name="connsiteY2" fmla="*/ 38245 h 116498"/>
                <a:gd name="connsiteX3" fmla="*/ 54982 w 60034"/>
                <a:gd name="connsiteY3" fmla="*/ 35677 h 116498"/>
                <a:gd name="connsiteX4" fmla="*/ 38108 w 60034"/>
                <a:gd name="connsiteY4" fmla="*/ 35677 h 116498"/>
                <a:gd name="connsiteX5" fmla="*/ 44680 w 60034"/>
                <a:gd name="connsiteY5" fmla="*/ 8525 h 116498"/>
                <a:gd name="connsiteX6" fmla="*/ 45213 w 60034"/>
                <a:gd name="connsiteY6" fmla="*/ 5956 h 116498"/>
                <a:gd name="connsiteX7" fmla="*/ 39174 w 60034"/>
                <a:gd name="connsiteY7" fmla="*/ 85 h 116498"/>
                <a:gd name="connsiteX8" fmla="*/ 30826 w 60034"/>
                <a:gd name="connsiteY8" fmla="*/ 7974 h 116498"/>
                <a:gd name="connsiteX9" fmla="*/ 24076 w 60034"/>
                <a:gd name="connsiteY9" fmla="*/ 35677 h 116498"/>
                <a:gd name="connsiteX10" fmla="*/ 5959 w 60034"/>
                <a:gd name="connsiteY10" fmla="*/ 35677 h 116498"/>
                <a:gd name="connsiteX11" fmla="*/ 276 w 60034"/>
                <a:gd name="connsiteY11" fmla="*/ 39713 h 116498"/>
                <a:gd name="connsiteX12" fmla="*/ 5604 w 60034"/>
                <a:gd name="connsiteY12" fmla="*/ 42282 h 116498"/>
                <a:gd name="connsiteX13" fmla="*/ 22478 w 60034"/>
                <a:gd name="connsiteY13" fmla="*/ 42282 h 116498"/>
                <a:gd name="connsiteX14" fmla="*/ 11998 w 60034"/>
                <a:gd name="connsiteY14" fmla="*/ 85579 h 116498"/>
                <a:gd name="connsiteX15" fmla="*/ 9334 w 60034"/>
                <a:gd name="connsiteY15" fmla="*/ 99155 h 116498"/>
                <a:gd name="connsiteX16" fmla="*/ 28339 w 60034"/>
                <a:gd name="connsiteY16" fmla="*/ 116584 h 116498"/>
                <a:gd name="connsiteX17" fmla="*/ 59244 w 60034"/>
                <a:gd name="connsiteY17" fmla="*/ 88514 h 116498"/>
                <a:gd name="connsiteX18" fmla="*/ 56403 w 60034"/>
                <a:gd name="connsiteY18" fmla="*/ 86129 h 116498"/>
                <a:gd name="connsiteX19" fmla="*/ 52673 w 60034"/>
                <a:gd name="connsiteY19" fmla="*/ 89615 h 116498"/>
                <a:gd name="connsiteX20" fmla="*/ 28872 w 60034"/>
                <a:gd name="connsiteY20" fmla="*/ 111447 h 116498"/>
                <a:gd name="connsiteX21" fmla="*/ 22655 w 60034"/>
                <a:gd name="connsiteY21" fmla="*/ 102457 h 116498"/>
                <a:gd name="connsiteX22" fmla="*/ 23721 w 60034"/>
                <a:gd name="connsiteY22" fmla="*/ 94935 h 116498"/>
                <a:gd name="connsiteX23" fmla="*/ 36510 w 60034"/>
                <a:gd name="connsiteY23" fmla="*/ 42282 h 11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034" h="116498">
                  <a:moveTo>
                    <a:pt x="36510" y="42282"/>
                  </a:moveTo>
                  <a:lnTo>
                    <a:pt x="54626" y="42282"/>
                  </a:lnTo>
                  <a:cubicBezTo>
                    <a:pt x="58001" y="42282"/>
                    <a:pt x="60310" y="42282"/>
                    <a:pt x="60310" y="38245"/>
                  </a:cubicBezTo>
                  <a:cubicBezTo>
                    <a:pt x="60310" y="35677"/>
                    <a:pt x="58001" y="35677"/>
                    <a:pt x="54982" y="35677"/>
                  </a:cubicBezTo>
                  <a:lnTo>
                    <a:pt x="38108" y="35677"/>
                  </a:lnTo>
                  <a:lnTo>
                    <a:pt x="44680" y="8525"/>
                  </a:lnTo>
                  <a:cubicBezTo>
                    <a:pt x="44857" y="7607"/>
                    <a:pt x="45213" y="6690"/>
                    <a:pt x="45213" y="5956"/>
                  </a:cubicBezTo>
                  <a:cubicBezTo>
                    <a:pt x="45213" y="2654"/>
                    <a:pt x="42726" y="85"/>
                    <a:pt x="39174" y="85"/>
                  </a:cubicBezTo>
                  <a:cubicBezTo>
                    <a:pt x="34733" y="85"/>
                    <a:pt x="32069" y="3204"/>
                    <a:pt x="30826" y="7974"/>
                  </a:cubicBezTo>
                  <a:cubicBezTo>
                    <a:pt x="29582" y="12561"/>
                    <a:pt x="31891" y="3754"/>
                    <a:pt x="24076" y="35677"/>
                  </a:cubicBezTo>
                  <a:lnTo>
                    <a:pt x="5959" y="35677"/>
                  </a:lnTo>
                  <a:cubicBezTo>
                    <a:pt x="2585" y="35677"/>
                    <a:pt x="276" y="35677"/>
                    <a:pt x="276" y="39713"/>
                  </a:cubicBezTo>
                  <a:cubicBezTo>
                    <a:pt x="276" y="42282"/>
                    <a:pt x="2407" y="42282"/>
                    <a:pt x="5604" y="42282"/>
                  </a:cubicBezTo>
                  <a:lnTo>
                    <a:pt x="22478" y="42282"/>
                  </a:lnTo>
                  <a:lnTo>
                    <a:pt x="11998" y="85579"/>
                  </a:lnTo>
                  <a:cubicBezTo>
                    <a:pt x="10933" y="90165"/>
                    <a:pt x="9334" y="96770"/>
                    <a:pt x="9334" y="99155"/>
                  </a:cubicBezTo>
                  <a:cubicBezTo>
                    <a:pt x="9334" y="109979"/>
                    <a:pt x="18215" y="116584"/>
                    <a:pt x="28339" y="116584"/>
                  </a:cubicBezTo>
                  <a:cubicBezTo>
                    <a:pt x="48055" y="116584"/>
                    <a:pt x="59244" y="90899"/>
                    <a:pt x="59244" y="88514"/>
                  </a:cubicBezTo>
                  <a:cubicBezTo>
                    <a:pt x="59244" y="86129"/>
                    <a:pt x="56935" y="86129"/>
                    <a:pt x="56403" y="86129"/>
                  </a:cubicBezTo>
                  <a:cubicBezTo>
                    <a:pt x="54271" y="86129"/>
                    <a:pt x="54094" y="86496"/>
                    <a:pt x="52673" y="89615"/>
                  </a:cubicBezTo>
                  <a:cubicBezTo>
                    <a:pt x="47699" y="101173"/>
                    <a:pt x="38641" y="111447"/>
                    <a:pt x="28872" y="111447"/>
                  </a:cubicBezTo>
                  <a:cubicBezTo>
                    <a:pt x="25142" y="111447"/>
                    <a:pt x="22655" y="109062"/>
                    <a:pt x="22655" y="102457"/>
                  </a:cubicBezTo>
                  <a:cubicBezTo>
                    <a:pt x="22655" y="100622"/>
                    <a:pt x="23366" y="96770"/>
                    <a:pt x="23721" y="94935"/>
                  </a:cubicBezTo>
                  <a:lnTo>
                    <a:pt x="36510" y="42282"/>
                  </a:lnTo>
                  <a:close/>
                </a:path>
              </a:pathLst>
            </a:custGeom>
            <a:solidFill>
              <a:srgbClr val="000000"/>
            </a:solidFill>
            <a:ln w="253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1" name="箭头: 下 30">
            <a:extLst>
              <a:ext uri="{FF2B5EF4-FFF2-40B4-BE49-F238E27FC236}">
                <a16:creationId xmlns:a16="http://schemas.microsoft.com/office/drawing/2014/main" id="{19B1DD2F-D01E-40AD-A862-98FC66F84D67}"/>
              </a:ext>
            </a:extLst>
          </p:cNvPr>
          <p:cNvSpPr/>
          <p:nvPr/>
        </p:nvSpPr>
        <p:spPr>
          <a:xfrm>
            <a:off x="3843506" y="4105071"/>
            <a:ext cx="239949" cy="46044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 descr="\documentclass{article}&#10;\usepackage{amsmath}&#10;\pagestyle{empty}&#10;\begin{document}&#10;&#10;$$Var(w_l) = \frac{2}{n_{in}}$$&#10;&#10;&#10;\end{document}" title="IguanaTex Picture Display">
            <a:extLst>
              <a:ext uri="{FF2B5EF4-FFF2-40B4-BE49-F238E27FC236}">
                <a16:creationId xmlns:a16="http://schemas.microsoft.com/office/drawing/2014/main" id="{ECB5A036-A997-48BD-8D3C-2297B6ED11C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793" y="4814675"/>
            <a:ext cx="1628952" cy="551619"/>
          </a:xfrm>
          <a:prstGeom prst="rect">
            <a:avLst/>
          </a:prstGeom>
        </p:spPr>
      </p:pic>
      <p:sp>
        <p:nvSpPr>
          <p:cNvPr id="33" name="箭头: 下 32">
            <a:extLst>
              <a:ext uri="{FF2B5EF4-FFF2-40B4-BE49-F238E27FC236}">
                <a16:creationId xmlns:a16="http://schemas.microsoft.com/office/drawing/2014/main" id="{E7163151-2369-483E-867D-3A86DA7A153C}"/>
              </a:ext>
            </a:extLst>
          </p:cNvPr>
          <p:cNvSpPr/>
          <p:nvPr/>
        </p:nvSpPr>
        <p:spPr>
          <a:xfrm>
            <a:off x="6349218" y="4105071"/>
            <a:ext cx="331315" cy="592961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B0BE608-8593-4425-8DB1-D3ECCE24B839}"/>
              </a:ext>
            </a:extLst>
          </p:cNvPr>
          <p:cNvSpPr/>
          <p:nvPr/>
        </p:nvSpPr>
        <p:spPr>
          <a:xfrm>
            <a:off x="5576435" y="4736913"/>
            <a:ext cx="2015224" cy="68350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C3AD9D3-B05C-44FC-ABF5-67CE8FD48198}"/>
              </a:ext>
            </a:extLst>
          </p:cNvPr>
          <p:cNvSpPr/>
          <p:nvPr/>
        </p:nvSpPr>
        <p:spPr>
          <a:xfrm>
            <a:off x="2321967" y="4660072"/>
            <a:ext cx="2652408" cy="802278"/>
          </a:xfrm>
          <a:prstGeom prst="roundRect">
            <a:avLst/>
          </a:prstGeom>
          <a:noFill/>
          <a:ln w="28575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917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05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97439" y="151711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梯度消失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梯度爆炸</a:t>
            </a:r>
            <a:endParaRPr lang="zh-CN" altLang="en-US" sz="14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79748" y="6260194"/>
            <a:ext cx="2700604" cy="315929"/>
          </a:xfrm>
        </p:spPr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6</a:t>
            </a:fld>
            <a:endParaRPr lang="zh-CN" altLang="en-US" strike="noStrike" noProof="1"/>
          </a:p>
        </p:txBody>
      </p:sp>
      <p:sp>
        <p:nvSpPr>
          <p:cNvPr id="11" name="文本框 10"/>
          <p:cNvSpPr txBox="1"/>
          <p:nvPr/>
        </p:nvSpPr>
        <p:spPr>
          <a:xfrm>
            <a:off x="997371" y="1040757"/>
            <a:ext cx="84912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dirty="0"/>
              <a:t>5.3 </a:t>
            </a:r>
            <a:r>
              <a:rPr lang="zh-CN" altLang="en-US" sz="2800" dirty="0"/>
              <a:t>归一化方法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CN" sz="2000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95EB5B2F-8E10-4449-AE30-C9F45A64AC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11907" y="3596011"/>
            <a:ext cx="2335212" cy="2997233"/>
          </a:xfrm>
          <a:prstGeom prst="rect">
            <a:avLst/>
          </a:prstGeom>
        </p:spPr>
      </p:pic>
      <p:sp>
        <p:nvSpPr>
          <p:cNvPr id="37" name="文本占位符 3">
            <a:extLst>
              <a:ext uri="{FF2B5EF4-FFF2-40B4-BE49-F238E27FC236}">
                <a16:creationId xmlns:a16="http://schemas.microsoft.com/office/drawing/2014/main" id="{95630124-F7DA-4AAB-90EE-32E56C38A091}"/>
              </a:ext>
            </a:extLst>
          </p:cNvPr>
          <p:cNvSpPr txBox="1">
            <a:spLocks/>
          </p:cNvSpPr>
          <p:nvPr/>
        </p:nvSpPr>
        <p:spPr>
          <a:xfrm>
            <a:off x="741362" y="1625957"/>
            <a:ext cx="5157787" cy="44595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Batch </a:t>
            </a:r>
            <a:r>
              <a:rPr lang="zh-CN" altLang="en-US"/>
              <a:t>归一化</a:t>
            </a:r>
            <a:endParaRPr lang="zh-CN" altLang="en-US" dirty="0"/>
          </a:p>
        </p:txBody>
      </p:sp>
      <p:sp>
        <p:nvSpPr>
          <p:cNvPr id="38" name="内容占位符 4">
            <a:extLst>
              <a:ext uri="{FF2B5EF4-FFF2-40B4-BE49-F238E27FC236}">
                <a16:creationId xmlns:a16="http://schemas.microsoft.com/office/drawing/2014/main" id="{6E307003-BB62-4E5A-9678-B08C3BFC1928}"/>
              </a:ext>
            </a:extLst>
          </p:cNvPr>
          <p:cNvSpPr txBox="1">
            <a:spLocks/>
          </p:cNvSpPr>
          <p:nvPr/>
        </p:nvSpPr>
        <p:spPr>
          <a:xfrm>
            <a:off x="738186" y="2130275"/>
            <a:ext cx="5160963" cy="40041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将每个</a:t>
            </a:r>
            <a:r>
              <a:rPr lang="en-US" altLang="zh-CN"/>
              <a:t>Batch </a:t>
            </a:r>
            <a:r>
              <a:rPr lang="zh-CN" altLang="en-US"/>
              <a:t>中全部样本的隐藏值归一化</a:t>
            </a:r>
            <a:endParaRPr lang="en-US" altLang="zh-CN"/>
          </a:p>
          <a:p>
            <a:r>
              <a:rPr lang="zh-CN" altLang="en-US"/>
              <a:t>公式：</a:t>
            </a:r>
            <a:endParaRPr lang="zh-CN" altLang="en-US" dirty="0"/>
          </a:p>
        </p:txBody>
      </p:sp>
      <p:sp>
        <p:nvSpPr>
          <p:cNvPr id="39" name="文本占位符 5">
            <a:extLst>
              <a:ext uri="{FF2B5EF4-FFF2-40B4-BE49-F238E27FC236}">
                <a16:creationId xmlns:a16="http://schemas.microsoft.com/office/drawing/2014/main" id="{88AE3140-9731-47F1-B42A-667214811FE3}"/>
              </a:ext>
            </a:extLst>
          </p:cNvPr>
          <p:cNvSpPr txBox="1">
            <a:spLocks/>
          </p:cNvSpPr>
          <p:nvPr/>
        </p:nvSpPr>
        <p:spPr>
          <a:xfrm>
            <a:off x="6096000" y="1625957"/>
            <a:ext cx="5160961" cy="44595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Layer </a:t>
            </a:r>
            <a:r>
              <a:rPr lang="zh-CN" altLang="en-US"/>
              <a:t>归一化</a:t>
            </a:r>
            <a:endParaRPr lang="zh-CN" altLang="en-US" dirty="0"/>
          </a:p>
        </p:txBody>
      </p:sp>
      <p:sp>
        <p:nvSpPr>
          <p:cNvPr id="40" name="内容占位符 6">
            <a:extLst>
              <a:ext uri="{FF2B5EF4-FFF2-40B4-BE49-F238E27FC236}">
                <a16:creationId xmlns:a16="http://schemas.microsoft.com/office/drawing/2014/main" id="{6CA95A21-EB51-431C-A38C-C9560C7A679F}"/>
              </a:ext>
            </a:extLst>
          </p:cNvPr>
          <p:cNvSpPr txBox="1">
            <a:spLocks/>
          </p:cNvSpPr>
          <p:nvPr/>
        </p:nvSpPr>
        <p:spPr>
          <a:xfrm>
            <a:off x="6095998" y="2071909"/>
            <a:ext cx="5160964" cy="40625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将同一层的隐藏值归一化</a:t>
            </a:r>
            <a:endParaRPr lang="en-US" altLang="zh-CN"/>
          </a:p>
          <a:p>
            <a:r>
              <a:rPr lang="zh-CN" altLang="en-US"/>
              <a:t>公式：</a:t>
            </a:r>
            <a:endParaRPr lang="zh-CN" altLang="en-US" dirty="0"/>
          </a:p>
        </p:txBody>
      </p:sp>
      <p:pic>
        <p:nvPicPr>
          <p:cNvPr id="41" name="图片 40" descr="\documentclass{article}&#10;\usepackage{amsmath}&#10;\pagestyle{empty}&#10;\begin{document}&#10;&#10;$$&#10;\hat{a}_{ni}=\frac{a_{ni}-\mu_i}{\sqrt{\sigma_i^2+\delta}}&#10;,&#10;\bar{a}_{ni}=\gamma_i \hat{a}_{ni}+\beta_i&#10;$$&#10;&#10;&#10;\end{document}" title="IguanaTex Picture Display">
            <a:extLst>
              <a:ext uri="{FF2B5EF4-FFF2-40B4-BE49-F238E27FC236}">
                <a16:creationId xmlns:a16="http://schemas.microsoft.com/office/drawing/2014/main" id="{2C45598E-356E-43E4-9655-2FFA9CE84E5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099" y="3421126"/>
            <a:ext cx="4258742" cy="682057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&#10;$$&#10;\hat{a}_{ni}=\frac{a_{ni}-\mu_n}{\sqrt{\sigma_n^2+\delta}}&#10;,&#10;\bar{a}_{ni}=\gamma_i \hat{a}_{ni}+\beta_i&#10;$$&#10;&#10;&#10;\end{document}" title="IguanaTex Picture Display">
            <a:extLst>
              <a:ext uri="{FF2B5EF4-FFF2-40B4-BE49-F238E27FC236}">
                <a16:creationId xmlns:a16="http://schemas.microsoft.com/office/drawing/2014/main" id="{ED0DCBD3-B559-4C87-9025-9D7FBBC9A4E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386" y="3385699"/>
            <a:ext cx="4277028" cy="682057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11E3AA49-CB26-4589-AF9E-5BFCD59651B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8400" y="4405634"/>
            <a:ext cx="3857898" cy="2109788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8224F328-E751-4C7E-A24E-38FB46C944E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939" y="4405634"/>
            <a:ext cx="2777117" cy="21097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426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EF137CC-29E7-4EA3-B4A1-411B3FCA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361444" cy="1039947"/>
          </a:xfrm>
        </p:spPr>
        <p:txBody>
          <a:bodyPr anchor="t"/>
          <a:lstStyle/>
          <a:p>
            <a:r>
              <a:rPr lang="en-US" altLang="zh-CN" dirty="0"/>
              <a:t>6. </a:t>
            </a:r>
            <a:r>
              <a:rPr lang="zh-CN" altLang="en-US" dirty="0"/>
              <a:t>如何高效进行</a:t>
            </a:r>
            <a:r>
              <a:rPr lang="en-US" altLang="zh-CN" dirty="0"/>
              <a:t>BP &amp; GD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12178D-F17D-4FBC-9485-345B2F971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658047"/>
            <a:ext cx="10413324" cy="317135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zh-CN" altLang="en-US" dirty="0"/>
              <a:t>计算图概述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自动微分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正向自动微分与反向自动微分对比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自动微分的优势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en-US" altLang="zh-CN" dirty="0"/>
              <a:t>PyTorch </a:t>
            </a:r>
            <a:r>
              <a:rPr lang="zh-CN" altLang="en-US" dirty="0"/>
              <a:t>实践</a:t>
            </a:r>
          </a:p>
        </p:txBody>
      </p:sp>
      <p:pic>
        <p:nvPicPr>
          <p:cNvPr id="8" name="图片 2" descr="剪影蓝 低版本">
            <a:extLst>
              <a:ext uri="{FF2B5EF4-FFF2-40B4-BE49-F238E27FC236}">
                <a16:creationId xmlns:a16="http://schemas.microsoft.com/office/drawing/2014/main" id="{D193907E-68EB-4CC0-8B93-D4CD2F777B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8E6583A-B4CE-493D-AC63-51522DFF544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0" name="图片 9" descr="国科大标准Logo横式一（白色）">
            <a:extLst>
              <a:ext uri="{FF2B5EF4-FFF2-40B4-BE49-F238E27FC236}">
                <a16:creationId xmlns:a16="http://schemas.microsoft.com/office/drawing/2014/main" id="{2433E3B0-B13D-44AC-BA8C-697B98F4E4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11" name="文本框 3">
            <a:extLst>
              <a:ext uri="{FF2B5EF4-FFF2-40B4-BE49-F238E27FC236}">
                <a16:creationId xmlns:a16="http://schemas.microsoft.com/office/drawing/2014/main" id="{F0909830-9235-42F8-BAAC-EA31CADC237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Chapter 6</a:t>
            </a:r>
          </a:p>
        </p:txBody>
      </p:sp>
    </p:spTree>
    <p:extLst>
      <p:ext uri="{BB962C8B-B14F-4D97-AF65-F5344CB8AC3E}">
        <p14:creationId xmlns:p14="http://schemas.microsoft.com/office/powerpoint/2010/main" val="2871681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06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81233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 dirty="0"/>
              <a:t>如何高效进行</a:t>
            </a:r>
            <a:r>
              <a:rPr lang="en-US" altLang="zh-CN" sz="4000" dirty="0"/>
              <a:t>GD &amp; BP</a:t>
            </a:r>
            <a:r>
              <a:rPr lang="zh-CN" altLang="en-US" sz="4000" dirty="0"/>
              <a:t>？</a:t>
            </a:r>
            <a:endParaRPr lang="en-US" altLang="zh-CN" sz="16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8</a:t>
            </a:fld>
            <a:endParaRPr lang="zh-CN" altLang="en-US" strike="noStrike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31470" y="976630"/>
                <a:ext cx="10591800" cy="558717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如何高效计算梯度并传递梯度？（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PyTorch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）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计算图是一个有向无环图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𝐺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=(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𝑉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𝐸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，用于表达运算过程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静态图：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  <a:cs typeface="+mn-cs"/>
                </a:endParaRPr>
              </a:p>
              <a:p>
                <a:pPr marL="68580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先构建计算图，后执行计算（例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TensorFlow 1.X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）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  <a:cs typeface="+mn-cs"/>
                </a:endParaRPr>
              </a:p>
              <a:p>
                <a:pPr marL="68580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便于全局优化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，但调试困难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动态图：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  <a:cs typeface="+mn-cs"/>
                </a:endParaRPr>
              </a:p>
              <a:p>
                <a:pPr marL="68580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计算图在前向计算中动态构建（例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PyTorch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）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  <a:cs typeface="+mn-cs"/>
                </a:endParaRPr>
              </a:p>
              <a:p>
                <a:pPr marL="68580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灵活易调试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，每次迭代需要重新建图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微软雅黑"/>
                  <a:cs typeface="+mn-cs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charset="0"/>
                  <a:buChar char="l"/>
                </a:pPr>
                <a:endParaRPr lang="en-US" altLang="zh-CN" sz="1600" dirty="0">
                  <a:sym typeface="+mn-ea"/>
                </a:endParaRP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charset="0"/>
                  <a:buChar char="l"/>
                </a:pPr>
                <a:endParaRPr lang="en-US" altLang="zh-CN" sz="1600" dirty="0">
                  <a:sym typeface="+mn-ea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70" y="976630"/>
                <a:ext cx="10591800" cy="5587171"/>
              </a:xfrm>
              <a:prstGeom prst="rect">
                <a:avLst/>
              </a:prstGeom>
              <a:blipFill>
                <a:blip r:embed="rId9"/>
                <a:stretch>
                  <a:fillRect l="-748" t="-1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D959CA0E-B23D-498A-9B96-8937F0AAB3F2}"/>
              </a:ext>
            </a:extLst>
          </p:cNvPr>
          <p:cNvSpPr/>
          <p:nvPr/>
        </p:nvSpPr>
        <p:spPr>
          <a:xfrm>
            <a:off x="1961505" y="1446728"/>
            <a:ext cx="759374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动态计算图</a:t>
            </a:r>
            <a:r>
              <a:rPr lang="en-US" altLang="zh-CN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+</a:t>
            </a:r>
            <a:r>
              <a:rPr lang="zh-CN" alt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自动微分</a:t>
            </a:r>
            <a:r>
              <a:rPr lang="en-US" altLang="zh-CN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+</a:t>
            </a:r>
            <a:r>
              <a:rPr lang="zh-CN" altLang="en-U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优化器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846C99A-2896-4856-ABAD-6BED1387925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9887" r="633"/>
          <a:stretch/>
        </p:blipFill>
        <p:spPr>
          <a:xfrm>
            <a:off x="7197683" y="3101877"/>
            <a:ext cx="4359876" cy="191889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06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如何高效进行</a:t>
            </a:r>
            <a:r>
              <a:rPr lang="en-US" altLang="zh-CN" sz="2800" dirty="0"/>
              <a:t>GD &amp; BP</a:t>
            </a:r>
            <a:r>
              <a:rPr lang="zh-CN" altLang="en-US" sz="2800" dirty="0"/>
              <a:t>？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9</a:t>
            </a:fld>
            <a:endParaRPr lang="zh-CN" altLang="en-US" strike="noStrike" noProof="1"/>
          </a:p>
        </p:txBody>
      </p:sp>
      <p:sp>
        <p:nvSpPr>
          <p:cNvPr id="8" name="文本框 7"/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6.1</a:t>
            </a:r>
            <a:r>
              <a:rPr lang="zh-CN" altLang="en-US" sz="2800" dirty="0"/>
              <a:t>自动微分</a:t>
            </a:r>
            <a:r>
              <a:rPr lang="en-US" altLang="zh-CN" sz="2800" dirty="0"/>
              <a:t>——</a:t>
            </a:r>
            <a:r>
              <a:rPr lang="zh-CN" altLang="en-US" sz="2800" dirty="0"/>
              <a:t>反向自动微分</a:t>
            </a:r>
            <a:endParaRPr lang="en-US" altLang="zh-CN" sz="1100" dirty="0">
              <a:sym typeface="+mn-ea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E20E6BB-3AA5-4ABD-9A48-7E3DDCA7D74D}"/>
              </a:ext>
            </a:extLst>
          </p:cNvPr>
          <p:cNvSpPr txBox="1">
            <a:spLocks/>
          </p:cNvSpPr>
          <p:nvPr/>
        </p:nvSpPr>
        <p:spPr>
          <a:xfrm>
            <a:off x="423089" y="1828927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定义伴随变量（输出关于输入的导数）</a:t>
            </a:r>
            <a:endParaRPr lang="en-US" altLang="zh-CN" sz="2000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sz="2000" dirty="0"/>
              <a:t>沿着计算图反向传播，即可计算出全部伴随变量</a:t>
            </a:r>
            <a:endParaRPr lang="en-US" altLang="zh-CN" sz="2000" dirty="0"/>
          </a:p>
          <a:p>
            <a:r>
              <a:rPr lang="zh-CN" altLang="en-US" sz="2000" dirty="0"/>
              <a:t>假设有</a:t>
            </a:r>
            <a:r>
              <a:rPr lang="en-US" altLang="zh-CN" sz="2000" dirty="0"/>
              <a:t>K</a:t>
            </a:r>
            <a:r>
              <a:rPr lang="zh-CN" altLang="en-US" sz="2000" dirty="0"/>
              <a:t>个输出变量，则只需</a:t>
            </a:r>
            <a:r>
              <a:rPr lang="en-US" altLang="zh-CN" sz="2000" dirty="0">
                <a:solidFill>
                  <a:srgbClr val="FF0000"/>
                </a:solidFill>
              </a:rPr>
              <a:t>K</a:t>
            </a:r>
            <a:r>
              <a:rPr lang="zh-CN" altLang="en-US" sz="2000" dirty="0">
                <a:solidFill>
                  <a:srgbClr val="FF0000"/>
                </a:solidFill>
              </a:rPr>
              <a:t>次反向传播</a:t>
            </a:r>
            <a:r>
              <a:rPr lang="zh-CN" altLang="en-US" sz="2000" dirty="0"/>
              <a:t>即可求得整个雅可比矩阵</a:t>
            </a:r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59010A1C-6E43-4450-A6F9-A9740625AFA8}"/>
              </a:ext>
            </a:extLst>
          </p:cNvPr>
          <p:cNvSpPr/>
          <p:nvPr/>
        </p:nvSpPr>
        <p:spPr>
          <a:xfrm>
            <a:off x="8350978" y="2307045"/>
            <a:ext cx="574590" cy="556054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7ED0559-C7DC-4835-8B30-D443368728B7}"/>
                  </a:ext>
                </a:extLst>
              </p:cNvPr>
              <p:cNvSpPr txBox="1"/>
              <p:nvPr/>
            </p:nvSpPr>
            <p:spPr>
              <a:xfrm>
                <a:off x="8459100" y="2378698"/>
                <a:ext cx="358346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7ED0559-C7DC-4835-8B30-D44336872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100" y="2378698"/>
                <a:ext cx="358346" cy="370294"/>
              </a:xfrm>
              <a:prstGeom prst="rect">
                <a:avLst/>
              </a:prstGeom>
              <a:blipFill>
                <a:blip r:embed="rId1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239B01B-654D-46C1-85B8-BB0A3BEA116C}"/>
              </a:ext>
            </a:extLst>
          </p:cNvPr>
          <p:cNvCxnSpPr>
            <a:cxnSpLocks/>
          </p:cNvCxnSpPr>
          <p:nvPr/>
        </p:nvCxnSpPr>
        <p:spPr>
          <a:xfrm>
            <a:off x="7698387" y="2171120"/>
            <a:ext cx="637917" cy="3927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77508B5-A66D-4DC9-A706-3AEBA68B85CF}"/>
              </a:ext>
            </a:extLst>
          </p:cNvPr>
          <p:cNvCxnSpPr>
            <a:cxnSpLocks/>
          </p:cNvCxnSpPr>
          <p:nvPr/>
        </p:nvCxnSpPr>
        <p:spPr>
          <a:xfrm flipV="1">
            <a:off x="7689120" y="2566768"/>
            <a:ext cx="637917" cy="264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C00FC4-C1DD-4C7A-B87D-5B5BA7A682DC}"/>
              </a:ext>
            </a:extLst>
          </p:cNvPr>
          <p:cNvCxnSpPr>
            <a:cxnSpLocks/>
          </p:cNvCxnSpPr>
          <p:nvPr/>
        </p:nvCxnSpPr>
        <p:spPr>
          <a:xfrm flipV="1">
            <a:off x="8925568" y="2300046"/>
            <a:ext cx="580767" cy="2637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8D962C4-78BD-40E2-A434-AC2D0F03193F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8925568" y="2585072"/>
            <a:ext cx="580767" cy="2780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915F6674-77D4-4A1F-A96D-BC1E2E903DCA}"/>
              </a:ext>
            </a:extLst>
          </p:cNvPr>
          <p:cNvSpPr/>
          <p:nvPr/>
        </p:nvSpPr>
        <p:spPr>
          <a:xfrm>
            <a:off x="9451631" y="1896347"/>
            <a:ext cx="574590" cy="556054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755A94B-CACC-41B7-8385-3FF6CB2A8055}"/>
                  </a:ext>
                </a:extLst>
              </p:cNvPr>
              <p:cNvSpPr txBox="1"/>
              <p:nvPr/>
            </p:nvSpPr>
            <p:spPr>
              <a:xfrm>
                <a:off x="9573267" y="1965661"/>
                <a:ext cx="358346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755A94B-CACC-41B7-8385-3FF6CB2A8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3267" y="1965661"/>
                <a:ext cx="358346" cy="391646"/>
              </a:xfrm>
              <a:prstGeom prst="rect">
                <a:avLst/>
              </a:prstGeom>
              <a:blipFill>
                <a:blip r:embed="rId1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流程图: 接点 17">
            <a:extLst>
              <a:ext uri="{FF2B5EF4-FFF2-40B4-BE49-F238E27FC236}">
                <a16:creationId xmlns:a16="http://schemas.microsoft.com/office/drawing/2014/main" id="{E5CD20C7-F2AA-4367-8796-45E5F2A22F73}"/>
              </a:ext>
            </a:extLst>
          </p:cNvPr>
          <p:cNvSpPr/>
          <p:nvPr/>
        </p:nvSpPr>
        <p:spPr>
          <a:xfrm>
            <a:off x="9506335" y="2606299"/>
            <a:ext cx="574590" cy="556054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11C3396-C5BE-4989-8C54-E97420CD9D3A}"/>
              </a:ext>
            </a:extLst>
          </p:cNvPr>
          <p:cNvSpPr txBox="1"/>
          <p:nvPr/>
        </p:nvSpPr>
        <p:spPr>
          <a:xfrm>
            <a:off x="9585881" y="264613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53F10EDE-FACA-4A7C-ADB1-2E9B568D0C1D}"/>
              </a:ext>
            </a:extLst>
          </p:cNvPr>
          <p:cNvSpPr/>
          <p:nvPr/>
        </p:nvSpPr>
        <p:spPr>
          <a:xfrm>
            <a:off x="7100628" y="2580598"/>
            <a:ext cx="574590" cy="556054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902096-8340-4A4C-907D-6A80EDA7877F}"/>
              </a:ext>
            </a:extLst>
          </p:cNvPr>
          <p:cNvSpPr txBox="1"/>
          <p:nvPr/>
        </p:nvSpPr>
        <p:spPr>
          <a:xfrm>
            <a:off x="7180174" y="262042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2" name="流程图: 接点 21">
            <a:extLst>
              <a:ext uri="{FF2B5EF4-FFF2-40B4-BE49-F238E27FC236}">
                <a16:creationId xmlns:a16="http://schemas.microsoft.com/office/drawing/2014/main" id="{5BBFDD4F-5F10-4CD7-9DA6-EA302050F1B3}"/>
              </a:ext>
            </a:extLst>
          </p:cNvPr>
          <p:cNvSpPr/>
          <p:nvPr/>
        </p:nvSpPr>
        <p:spPr>
          <a:xfrm>
            <a:off x="7134609" y="1825625"/>
            <a:ext cx="574590" cy="556054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F6B044D-51FF-4684-82CE-62FF5872DEB9}"/>
              </a:ext>
            </a:extLst>
          </p:cNvPr>
          <p:cNvSpPr txBox="1"/>
          <p:nvPr/>
        </p:nvSpPr>
        <p:spPr>
          <a:xfrm>
            <a:off x="7214155" y="186545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847FAF3D-7496-4AAB-B878-F267525EF3DB}"/>
              </a:ext>
            </a:extLst>
          </p:cNvPr>
          <p:cNvSpPr/>
          <p:nvPr/>
        </p:nvSpPr>
        <p:spPr>
          <a:xfrm>
            <a:off x="10147857" y="2357307"/>
            <a:ext cx="790832" cy="3089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接点 24">
            <a:extLst>
              <a:ext uri="{FF2B5EF4-FFF2-40B4-BE49-F238E27FC236}">
                <a16:creationId xmlns:a16="http://schemas.microsoft.com/office/drawing/2014/main" id="{5E47437F-E310-40C2-A8A0-543C92094480}"/>
              </a:ext>
            </a:extLst>
          </p:cNvPr>
          <p:cNvSpPr/>
          <p:nvPr/>
        </p:nvSpPr>
        <p:spPr>
          <a:xfrm>
            <a:off x="11015919" y="2210075"/>
            <a:ext cx="574590" cy="556054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2F7E7AA-6247-4027-9CDC-50CC2D338E6B}"/>
                  </a:ext>
                </a:extLst>
              </p:cNvPr>
              <p:cNvSpPr txBox="1"/>
              <p:nvPr/>
            </p:nvSpPr>
            <p:spPr>
              <a:xfrm>
                <a:off x="11107631" y="2276798"/>
                <a:ext cx="358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2F7E7AA-6247-4027-9CDC-50CC2D338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7631" y="2276798"/>
                <a:ext cx="358346" cy="369332"/>
              </a:xfrm>
              <a:prstGeom prst="rect">
                <a:avLst/>
              </a:prstGeom>
              <a:blipFill>
                <a:blip r:embed="rId13"/>
                <a:stretch>
                  <a:fillRect l="-5085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图片 26" descr="\documentclass{article}&#10;\usepackage{amsmath}&#10;\pagestyle{empty}&#10;\begin{document}&#10;&#10;$$\bar{v}_i=\frac{\partial f_k}{\partial v_i}=\sum_{j\in ch(i)}\frac{\partial f_k}{\partial v_j}\frac{\partial v_j}{\partial v_i}=\sum_{j\in ch(i)}\bar{v}_j\frac{\partial v_j}{\partial v_i}$$&#10;&#10;&#10;\end{document}" title="IguanaTex Picture Display">
            <a:extLst>
              <a:ext uri="{FF2B5EF4-FFF2-40B4-BE49-F238E27FC236}">
                <a16:creationId xmlns:a16="http://schemas.microsoft.com/office/drawing/2014/main" id="{3FEED820-AD0D-4555-BF4C-C10512EC204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22" y="2428934"/>
            <a:ext cx="5549714" cy="85211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A3882498-7249-424E-8B13-DDF81180D07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61818" y="4351162"/>
            <a:ext cx="4048125" cy="2266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CD1E2CA-834D-4FBE-8F83-DE4CB74A0372}"/>
                  </a:ext>
                </a:extLst>
              </p:cNvPr>
              <p:cNvSpPr txBox="1"/>
              <p:nvPr/>
            </p:nvSpPr>
            <p:spPr>
              <a:xfrm>
                <a:off x="370702" y="5034391"/>
                <a:ext cx="3268362" cy="681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设置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=1,</m:t>
                    </m:r>
                    <m:acc>
                      <m:accPr>
                        <m:chr m:val="̅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r>
                  <a:rPr lang="zh-CN" altLang="en-US" dirty="0"/>
                  <a:t>反向传播一次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CD1E2CA-834D-4FBE-8F83-DE4CB74A0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02" y="5034391"/>
                <a:ext cx="3268362" cy="681725"/>
              </a:xfrm>
              <a:prstGeom prst="rect">
                <a:avLst/>
              </a:prstGeom>
              <a:blipFill>
                <a:blip r:embed="rId16"/>
                <a:stretch>
                  <a:fillRect l="-1679" t="-3571" b="-13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图片 29" descr="\documentclass{article}&#10;\usepackage{amsmath}&#10;\pagestyle{empty}&#10;\begin{document}&#10;&#10;$$\mathbf{J}_{i, :} = \left[ \frac{\partial f_i}{\partial x_1}, \cdots, \frac{\partial f_i}{\partial x_D} \right]$$&#10;&#10;&#10;\end{document}" title="IguanaTex Picture Display">
            <a:extLst>
              <a:ext uri="{FF2B5EF4-FFF2-40B4-BE49-F238E27FC236}">
                <a16:creationId xmlns:a16="http://schemas.microsoft.com/office/drawing/2014/main" id="{919A490C-A4E8-4AFB-8592-DDA4802E6C9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842" y="5108116"/>
            <a:ext cx="2497524" cy="608000"/>
          </a:xfrm>
          <a:prstGeom prst="rect">
            <a:avLst/>
          </a:prstGeom>
        </p:spPr>
      </p:pic>
      <p:sp>
        <p:nvSpPr>
          <p:cNvPr id="31" name="箭头: 右 30">
            <a:extLst>
              <a:ext uri="{FF2B5EF4-FFF2-40B4-BE49-F238E27FC236}">
                <a16:creationId xmlns:a16="http://schemas.microsoft.com/office/drawing/2014/main" id="{4A7C4338-C4A4-42FB-9133-41DEA7E1284F}"/>
              </a:ext>
            </a:extLst>
          </p:cNvPr>
          <p:cNvSpPr/>
          <p:nvPr/>
        </p:nvSpPr>
        <p:spPr>
          <a:xfrm>
            <a:off x="3014020" y="5264042"/>
            <a:ext cx="673442" cy="222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1132165B-C443-4605-985C-B309E23354E1}"/>
              </a:ext>
            </a:extLst>
          </p:cNvPr>
          <p:cNvSpPr/>
          <p:nvPr/>
        </p:nvSpPr>
        <p:spPr>
          <a:xfrm>
            <a:off x="6714822" y="5375253"/>
            <a:ext cx="650875" cy="1729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55F994B-1875-4D52-B0A5-239535A2B338}"/>
              </a:ext>
            </a:extLst>
          </p:cNvPr>
          <p:cNvSpPr txBox="1"/>
          <p:nvPr/>
        </p:nvSpPr>
        <p:spPr>
          <a:xfrm>
            <a:off x="6752430" y="4934404"/>
            <a:ext cx="631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</a:t>
            </a:r>
            <a:r>
              <a:rPr lang="zh-CN" altLang="en-US" dirty="0"/>
              <a:t>次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3BD4F04-1674-4093-A026-80784A18C2A8}"/>
              </a:ext>
            </a:extLst>
          </p:cNvPr>
          <p:cNvSpPr txBox="1"/>
          <p:nvPr/>
        </p:nvSpPr>
        <p:spPr>
          <a:xfrm>
            <a:off x="10157318" y="1976818"/>
            <a:ext cx="781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8422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06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如何高效进行</a:t>
            </a:r>
            <a:r>
              <a:rPr lang="en-US" altLang="zh-CN" sz="2800" dirty="0"/>
              <a:t>GD &amp; BP</a:t>
            </a:r>
            <a:r>
              <a:rPr lang="zh-CN" altLang="en-US" sz="2800" dirty="0"/>
              <a:t>？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10</a:t>
            </a:fld>
            <a:endParaRPr lang="zh-CN" altLang="en-US" strike="noStrike" noProof="1"/>
          </a:p>
        </p:txBody>
      </p:sp>
      <p:sp>
        <p:nvSpPr>
          <p:cNvPr id="8" name="文本框 7"/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6.1</a:t>
            </a:r>
            <a:r>
              <a:rPr lang="zh-CN" altLang="en-US" sz="2800" dirty="0"/>
              <a:t>自动微分</a:t>
            </a:r>
            <a:r>
              <a:rPr lang="en-US" altLang="zh-CN" sz="2800" dirty="0"/>
              <a:t>——</a:t>
            </a:r>
            <a:r>
              <a:rPr lang="zh-CN" altLang="en-US" sz="2800" dirty="0"/>
              <a:t>正向自动微分</a:t>
            </a:r>
            <a:endParaRPr lang="en-US" altLang="zh-CN" sz="2800" dirty="0">
              <a:sym typeface="+mn-ea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BA3CAD1-CFBE-4321-B473-DD037989030D}"/>
              </a:ext>
            </a:extLst>
          </p:cNvPr>
          <p:cNvSpPr txBox="1">
            <a:spLocks/>
          </p:cNvSpPr>
          <p:nvPr/>
        </p:nvSpPr>
        <p:spPr>
          <a:xfrm>
            <a:off x="418654" y="1684729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定义切线变量：</a:t>
            </a:r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000" dirty="0"/>
          </a:p>
          <a:p>
            <a:r>
              <a:rPr lang="zh-CN" altLang="en-US" sz="2000" dirty="0"/>
              <a:t>前向传播过程中即可同步求得全部切线变量</a:t>
            </a:r>
            <a:endParaRPr lang="en-US" altLang="zh-CN" sz="2000" dirty="0"/>
          </a:p>
          <a:p>
            <a:r>
              <a:rPr lang="zh-CN" altLang="en-US" sz="2000" dirty="0"/>
              <a:t>对于</a:t>
            </a:r>
            <a:r>
              <a:rPr lang="en-US" altLang="zh-CN" sz="2000" dirty="0"/>
              <a:t>D</a:t>
            </a:r>
            <a:r>
              <a:rPr lang="zh-CN" altLang="en-US" sz="2000" dirty="0"/>
              <a:t>个输入，需要</a:t>
            </a:r>
            <a:r>
              <a:rPr lang="en-US" altLang="zh-CN" sz="2000" dirty="0">
                <a:solidFill>
                  <a:srgbClr val="FF0000"/>
                </a:solidFill>
              </a:rPr>
              <a:t>D</a:t>
            </a:r>
            <a:r>
              <a:rPr lang="zh-CN" altLang="en-US" sz="2000" dirty="0">
                <a:solidFill>
                  <a:srgbClr val="FF0000"/>
                </a:solidFill>
              </a:rPr>
              <a:t>次前向传播</a:t>
            </a:r>
            <a:r>
              <a:rPr lang="zh-CN" altLang="en-US" sz="2000" dirty="0"/>
              <a:t>求得整个雅各比矩阵</a:t>
            </a:r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DB813E08-308C-4CA8-8C53-4AC30CD6F9F3}"/>
              </a:ext>
            </a:extLst>
          </p:cNvPr>
          <p:cNvSpPr/>
          <p:nvPr/>
        </p:nvSpPr>
        <p:spPr>
          <a:xfrm>
            <a:off x="9939800" y="2367471"/>
            <a:ext cx="574590" cy="556054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D77F43F-FBB0-4E32-9CB2-8C40ECA926B5}"/>
                  </a:ext>
                </a:extLst>
              </p:cNvPr>
              <p:cNvSpPr txBox="1"/>
              <p:nvPr/>
            </p:nvSpPr>
            <p:spPr>
              <a:xfrm>
                <a:off x="10047922" y="2439124"/>
                <a:ext cx="358346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D77F43F-FBB0-4E32-9CB2-8C40ECA92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922" y="2439124"/>
                <a:ext cx="358346" cy="370294"/>
              </a:xfrm>
              <a:prstGeom prst="rect">
                <a:avLst/>
              </a:prstGeom>
              <a:blipFill>
                <a:blip r:embed="rId1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6FC935B-AC27-4C80-9F20-AEA5A4AFB500}"/>
              </a:ext>
            </a:extLst>
          </p:cNvPr>
          <p:cNvCxnSpPr>
            <a:cxnSpLocks/>
          </p:cNvCxnSpPr>
          <p:nvPr/>
        </p:nvCxnSpPr>
        <p:spPr>
          <a:xfrm>
            <a:off x="9287209" y="2231546"/>
            <a:ext cx="637917" cy="3927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9E451D8-7B49-43FA-A6B3-0741C817B69C}"/>
              </a:ext>
            </a:extLst>
          </p:cNvPr>
          <p:cNvCxnSpPr>
            <a:cxnSpLocks/>
          </p:cNvCxnSpPr>
          <p:nvPr/>
        </p:nvCxnSpPr>
        <p:spPr>
          <a:xfrm flipV="1">
            <a:off x="9277942" y="2627194"/>
            <a:ext cx="637917" cy="264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25837AB-C79E-4C69-8EC6-55F33D29BF70}"/>
              </a:ext>
            </a:extLst>
          </p:cNvPr>
          <p:cNvCxnSpPr>
            <a:cxnSpLocks/>
          </p:cNvCxnSpPr>
          <p:nvPr/>
        </p:nvCxnSpPr>
        <p:spPr>
          <a:xfrm flipV="1">
            <a:off x="10514390" y="2360472"/>
            <a:ext cx="580767" cy="2637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217123D-9883-4754-AED1-D8B275FDE893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10514390" y="2645498"/>
            <a:ext cx="580767" cy="2780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4027E0C6-084D-46F8-8629-DA05F313506A}"/>
              </a:ext>
            </a:extLst>
          </p:cNvPr>
          <p:cNvSpPr/>
          <p:nvPr/>
        </p:nvSpPr>
        <p:spPr>
          <a:xfrm>
            <a:off x="11040453" y="1956773"/>
            <a:ext cx="574590" cy="556054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8D880FD-B0EA-497A-BF96-743940C3D89C}"/>
                  </a:ext>
                </a:extLst>
              </p:cNvPr>
              <p:cNvSpPr txBox="1"/>
              <p:nvPr/>
            </p:nvSpPr>
            <p:spPr>
              <a:xfrm>
                <a:off x="8817814" y="1928082"/>
                <a:ext cx="358346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8D880FD-B0EA-497A-BF96-743940C3D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814" y="1928082"/>
                <a:ext cx="358346" cy="391646"/>
              </a:xfrm>
              <a:prstGeom prst="rect">
                <a:avLst/>
              </a:prstGeom>
              <a:blipFill>
                <a:blip r:embed="rId1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流程图: 接点 17">
            <a:extLst>
              <a:ext uri="{FF2B5EF4-FFF2-40B4-BE49-F238E27FC236}">
                <a16:creationId xmlns:a16="http://schemas.microsoft.com/office/drawing/2014/main" id="{163FB60D-2EBB-4232-912B-185BFF516087}"/>
              </a:ext>
            </a:extLst>
          </p:cNvPr>
          <p:cNvSpPr/>
          <p:nvPr/>
        </p:nvSpPr>
        <p:spPr>
          <a:xfrm>
            <a:off x="11095157" y="2666725"/>
            <a:ext cx="574590" cy="556054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AA82B93-7A23-4DD8-910E-7CC3CE1A3473}"/>
              </a:ext>
            </a:extLst>
          </p:cNvPr>
          <p:cNvSpPr txBox="1"/>
          <p:nvPr/>
        </p:nvSpPr>
        <p:spPr>
          <a:xfrm>
            <a:off x="11174703" y="270655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74FE9926-DF71-41D3-B79C-8A9EEA75EE5B}"/>
              </a:ext>
            </a:extLst>
          </p:cNvPr>
          <p:cNvSpPr/>
          <p:nvPr/>
        </p:nvSpPr>
        <p:spPr>
          <a:xfrm>
            <a:off x="8689450" y="2641024"/>
            <a:ext cx="574590" cy="556054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92EFF5-5205-49B8-84DE-C8AFB5D2EAAE}"/>
              </a:ext>
            </a:extLst>
          </p:cNvPr>
          <p:cNvSpPr txBox="1"/>
          <p:nvPr/>
        </p:nvSpPr>
        <p:spPr>
          <a:xfrm>
            <a:off x="8768996" y="268085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2" name="流程图: 接点 21">
            <a:extLst>
              <a:ext uri="{FF2B5EF4-FFF2-40B4-BE49-F238E27FC236}">
                <a16:creationId xmlns:a16="http://schemas.microsoft.com/office/drawing/2014/main" id="{CAFBE7EC-6DCB-48AA-8D63-B4DAA6646937}"/>
              </a:ext>
            </a:extLst>
          </p:cNvPr>
          <p:cNvSpPr/>
          <p:nvPr/>
        </p:nvSpPr>
        <p:spPr>
          <a:xfrm>
            <a:off x="8723431" y="1886051"/>
            <a:ext cx="574590" cy="556054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4988AAD-69FB-4AE3-9227-17B232CD6FE7}"/>
              </a:ext>
            </a:extLst>
          </p:cNvPr>
          <p:cNvSpPr txBox="1"/>
          <p:nvPr/>
        </p:nvSpPr>
        <p:spPr>
          <a:xfrm>
            <a:off x="11118890" y="197326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AA150479-672B-4197-A783-06016F14FCE9}"/>
              </a:ext>
            </a:extLst>
          </p:cNvPr>
          <p:cNvSpPr/>
          <p:nvPr/>
        </p:nvSpPr>
        <p:spPr>
          <a:xfrm>
            <a:off x="7792813" y="2397637"/>
            <a:ext cx="790832" cy="3089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接点 24">
            <a:extLst>
              <a:ext uri="{FF2B5EF4-FFF2-40B4-BE49-F238E27FC236}">
                <a16:creationId xmlns:a16="http://schemas.microsoft.com/office/drawing/2014/main" id="{327B3A96-7091-47DC-8877-9A8838E913EA}"/>
              </a:ext>
            </a:extLst>
          </p:cNvPr>
          <p:cNvSpPr/>
          <p:nvPr/>
        </p:nvSpPr>
        <p:spPr>
          <a:xfrm>
            <a:off x="7117053" y="2253364"/>
            <a:ext cx="574590" cy="556054"/>
          </a:xfrm>
          <a:prstGeom prst="flowChartConnector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3E257AC-4F0F-4B41-AF6D-A882BDF65F30}"/>
                  </a:ext>
                </a:extLst>
              </p:cNvPr>
              <p:cNvSpPr txBox="1"/>
              <p:nvPr/>
            </p:nvSpPr>
            <p:spPr>
              <a:xfrm>
                <a:off x="7208185" y="2297393"/>
                <a:ext cx="358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3E257AC-4F0F-4B41-AF6D-A882BDF65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8185" y="2297393"/>
                <a:ext cx="358346" cy="369332"/>
              </a:xfrm>
              <a:prstGeom prst="rect">
                <a:avLst/>
              </a:prstGeom>
              <a:blipFill>
                <a:blip r:embed="rId13"/>
                <a:stretch>
                  <a:fillRect r="-3390"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图片 26" descr="\documentclass{article}&#10;\usepackage{amsmath}&#10;\pagestyle{empty}&#10;\begin{document}&#10;&#10;$$\dot{v}_i=\frac{\partial v_i}{\partial x_k}=\sum_{j\in pa(i)}\frac{\partial v_j}{\partial x_k}\frac{\partial v_i}{\partial v_j}=\sum_{j\in pa(i)}\dot{v}_j\frac{\partial v_i}{\partial v_j}$$&#10;&#10;&#10;\end{document}" title="IguanaTex Picture Display">
            <a:extLst>
              <a:ext uri="{FF2B5EF4-FFF2-40B4-BE49-F238E27FC236}">
                <a16:creationId xmlns:a16="http://schemas.microsoft.com/office/drawing/2014/main" id="{C67683B3-4E67-4A11-90EC-DAE7FB9717C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48" y="2198073"/>
            <a:ext cx="5611885" cy="852114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4D793472-0859-4A9C-B392-8717C3265D49}"/>
              </a:ext>
            </a:extLst>
          </p:cNvPr>
          <p:cNvSpPr txBox="1"/>
          <p:nvPr/>
        </p:nvSpPr>
        <p:spPr>
          <a:xfrm>
            <a:off x="7843269" y="2058576"/>
            <a:ext cx="781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FD785B5-A2E1-4B9E-A1B3-B35A7E68F5AE}"/>
                  </a:ext>
                </a:extLst>
              </p:cNvPr>
              <p:cNvSpPr txBox="1"/>
              <p:nvPr/>
            </p:nvSpPr>
            <p:spPr>
              <a:xfrm>
                <a:off x="401594" y="4782064"/>
                <a:ext cx="2984157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设置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pl-PL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pl-PL" altLang="zh-CN" i="1">
                        <a:latin typeface="Cambria Math" panose="02040503050406030204" pitchFamily="18" charset="0"/>
                      </a:rPr>
                      <m:t>=1,</m:t>
                    </m:r>
                    <m:acc>
                      <m:accPr>
                        <m:chr m:val="̇"/>
                        <m:ctrlPr>
                          <a:rPr lang="pl-PL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pl-PL" altLang="zh-CN" i="1">
                        <a:latin typeface="Cambria Math" panose="02040503050406030204" pitchFamily="18" charset="0"/>
                      </a:rPr>
                      <m:t>=0(</m:t>
                    </m:r>
                    <m:r>
                      <a:rPr lang="pl-PL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pl-PL" altLang="zh-CN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pl-PL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pl-PL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r>
                  <a:rPr lang="zh-CN" altLang="en-US" dirty="0"/>
                  <a:t>前向传播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FD785B5-A2E1-4B9E-A1B3-B35A7E68F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94" y="4782064"/>
                <a:ext cx="2984157" cy="668645"/>
              </a:xfrm>
              <a:prstGeom prst="rect">
                <a:avLst/>
              </a:prstGeom>
              <a:blipFill>
                <a:blip r:embed="rId15"/>
                <a:stretch>
                  <a:fillRect l="-1840" t="-4545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图片 29" descr="\documentclass{article}&#10;\usepackage{amsmath}&#10;\pagestyle{empty}&#10;\begin{document}&#10;&#10;$$\mathbf{J}_{:, i} = \left[ \frac{\partial f_1}{\partial x_i}, \cdots, \frac{\partial f_K}{\partial x_i} \right]^T$$&#10;&#10;&#10;\end{document}" title="IguanaTex Picture Display">
            <a:extLst>
              <a:ext uri="{FF2B5EF4-FFF2-40B4-BE49-F238E27FC236}">
                <a16:creationId xmlns:a16="http://schemas.microsoft.com/office/drawing/2014/main" id="{FB1D3AA5-8991-4053-BF5D-430BA2D4367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391" y="4669715"/>
            <a:ext cx="2669715" cy="662857"/>
          </a:xfrm>
          <a:prstGeom prst="rect">
            <a:avLst/>
          </a:prstGeom>
        </p:spPr>
      </p:pic>
      <p:sp>
        <p:nvSpPr>
          <p:cNvPr id="31" name="箭头: 右 30">
            <a:extLst>
              <a:ext uri="{FF2B5EF4-FFF2-40B4-BE49-F238E27FC236}">
                <a16:creationId xmlns:a16="http://schemas.microsoft.com/office/drawing/2014/main" id="{27826BBE-B89A-45AE-9978-3CCD173F818A}"/>
              </a:ext>
            </a:extLst>
          </p:cNvPr>
          <p:cNvSpPr/>
          <p:nvPr/>
        </p:nvSpPr>
        <p:spPr>
          <a:xfrm>
            <a:off x="3248885" y="4969093"/>
            <a:ext cx="673442" cy="222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D25E7F0C-4918-4EEB-B9F7-806B6F2EF6D3}"/>
              </a:ext>
            </a:extLst>
          </p:cNvPr>
          <p:cNvSpPr/>
          <p:nvPr/>
        </p:nvSpPr>
        <p:spPr>
          <a:xfrm>
            <a:off x="6949687" y="5080304"/>
            <a:ext cx="650875" cy="1729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71FB016-F628-4D96-B27C-56ADCFAB75BC}"/>
              </a:ext>
            </a:extLst>
          </p:cNvPr>
          <p:cNvSpPr txBox="1"/>
          <p:nvPr/>
        </p:nvSpPr>
        <p:spPr>
          <a:xfrm>
            <a:off x="6987295" y="4639455"/>
            <a:ext cx="631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次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84D5FC64-0122-4DAD-9A01-517A9D7E696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49143" y="4086688"/>
            <a:ext cx="4048125" cy="22669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73821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06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如何高效进行</a:t>
            </a:r>
            <a:r>
              <a:rPr lang="en-US" altLang="zh-CN" sz="2800" dirty="0"/>
              <a:t>GD &amp; BP</a:t>
            </a:r>
            <a:r>
              <a:rPr lang="zh-CN" altLang="en-US" sz="2800" dirty="0"/>
              <a:t>？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11</a:t>
            </a:fld>
            <a:endParaRPr lang="zh-CN" altLang="en-US" strike="noStrike" noProof="1"/>
          </a:p>
        </p:txBody>
      </p:sp>
      <p:sp>
        <p:nvSpPr>
          <p:cNvPr id="8" name="文本框 7"/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sym typeface="+mn-ea"/>
              </a:rPr>
              <a:t>6.1</a:t>
            </a:r>
            <a:r>
              <a:rPr lang="zh-CN" altLang="en-US" sz="2800" dirty="0"/>
              <a:t>深度学习中的自动微分</a:t>
            </a:r>
            <a:endParaRPr lang="en-US" altLang="zh-CN" sz="2800" dirty="0">
              <a:sym typeface="+mn-ea"/>
            </a:endParaRPr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2F804060-2495-4E91-BCB9-B9E7AF3C3725}"/>
              </a:ext>
            </a:extLst>
          </p:cNvPr>
          <p:cNvSpPr txBox="1">
            <a:spLocks/>
          </p:cNvSpPr>
          <p:nvPr/>
        </p:nvSpPr>
        <p:spPr>
          <a:xfrm>
            <a:off x="673470" y="1653286"/>
            <a:ext cx="5157787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前向自动微分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4">
                <a:extLst>
                  <a:ext uri="{FF2B5EF4-FFF2-40B4-BE49-F238E27FC236}">
                    <a16:creationId xmlns:a16="http://schemas.microsoft.com/office/drawing/2014/main" id="{44E099A7-1CAB-4C9C-8C9C-1FE4827418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3469" y="2364657"/>
                <a:ext cx="5157787" cy="368458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●"/>
                  <a:defRPr sz="18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  <a:tab pos="1609725" algn="l"/>
                    <a:tab pos="1609725" algn="l"/>
                    <a:tab pos="1609725" algn="l"/>
                  </a:tabLst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835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400" dirty="0"/>
                  <a:t>优势：</a:t>
                </a:r>
                <a:endParaRPr lang="en-US" altLang="zh-CN" sz="2400" dirty="0"/>
              </a:p>
              <a:p>
                <a:pPr lvl="1"/>
                <a:r>
                  <a:rPr lang="zh-CN" altLang="en-US" sz="2000" dirty="0"/>
                  <a:t>同步计算微分与实际值</a:t>
                </a:r>
                <a:endParaRPr lang="en-US" altLang="zh-CN" sz="2000" dirty="0"/>
              </a:p>
              <a:p>
                <a:pPr lvl="1"/>
                <a:r>
                  <a:rPr lang="zh-CN" altLang="en-US" sz="2000" dirty="0">
                    <a:solidFill>
                      <a:srgbClr val="FF0000"/>
                    </a:solidFill>
                  </a:rPr>
                  <a:t>存储占用低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zh-CN" altLang="en-US" sz="2000" dirty="0"/>
                  <a:t>一次正向传播即可计算雅可比矩阵与矢量乘积</a:t>
                </a:r>
                <a:endParaRPr lang="en-US" altLang="zh-CN" sz="2000" dirty="0"/>
              </a:p>
              <a:p>
                <a:r>
                  <a:rPr lang="zh-CN" altLang="en-US" sz="2400" dirty="0"/>
                  <a:t>劣势：</a:t>
                </a:r>
                <a:endParaRPr lang="en-US" altLang="zh-CN" sz="2400" dirty="0"/>
              </a:p>
              <a:p>
                <a:pPr lvl="1"/>
                <a:r>
                  <a:rPr lang="zh-CN" altLang="en-US" sz="2000" dirty="0">
                    <a:solidFill>
                      <a:srgbClr val="FF0000"/>
                    </a:solidFill>
                  </a:rPr>
                  <a:t>时间复杂度为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ops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内容占位符 4">
                <a:extLst>
                  <a:ext uri="{FF2B5EF4-FFF2-40B4-BE49-F238E27FC236}">
                    <a16:creationId xmlns:a16="http://schemas.microsoft.com/office/drawing/2014/main" id="{44E099A7-1CAB-4C9C-8C9C-1FE482741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69" y="2364657"/>
                <a:ext cx="5157787" cy="3684588"/>
              </a:xfrm>
              <a:prstGeom prst="rect">
                <a:avLst/>
              </a:prstGeom>
              <a:blipFill>
                <a:blip r:embed="rId9"/>
                <a:stretch>
                  <a:fillRect l="-1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占位符 5">
            <a:extLst>
              <a:ext uri="{FF2B5EF4-FFF2-40B4-BE49-F238E27FC236}">
                <a16:creationId xmlns:a16="http://schemas.microsoft.com/office/drawing/2014/main" id="{60A76F4D-84F1-474D-91C9-B281513B99A4}"/>
              </a:ext>
            </a:extLst>
          </p:cNvPr>
          <p:cNvSpPr txBox="1">
            <a:spLocks/>
          </p:cNvSpPr>
          <p:nvPr/>
        </p:nvSpPr>
        <p:spPr>
          <a:xfrm>
            <a:off x="6005882" y="1653286"/>
            <a:ext cx="5183188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u="sng" dirty="0"/>
              <a:t>反向自动微分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6">
                <a:extLst>
                  <a:ext uri="{FF2B5EF4-FFF2-40B4-BE49-F238E27FC236}">
                    <a16:creationId xmlns:a16="http://schemas.microsoft.com/office/drawing/2014/main" id="{C3DD05EF-47B0-4C07-9A57-AEE30572C9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05880" y="2365223"/>
                <a:ext cx="5572897" cy="368458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●"/>
                  <a:defRPr sz="18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  <a:tab pos="1609725" algn="l"/>
                    <a:tab pos="1609725" algn="l"/>
                    <a:tab pos="1609725" algn="l"/>
                  </a:tabLst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835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400" dirty="0"/>
                  <a:t>优势：</a:t>
                </a:r>
                <a:endParaRPr lang="en-US" altLang="zh-CN" sz="2400" dirty="0"/>
              </a:p>
              <a:p>
                <a:pPr lvl="1"/>
                <a:r>
                  <a:rPr lang="zh-CN" altLang="en-US" sz="2000" dirty="0">
                    <a:solidFill>
                      <a:srgbClr val="FF0000"/>
                    </a:solidFill>
                  </a:rPr>
                  <a:t>时间复杂度为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ops</m:t>
                        </m:r>
                      </m:e>
                    </m:d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=1≪</m:t>
                    </m:r>
                    <m:r>
                      <a:rPr lang="en-US" altLang="zh-CN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zh-CN" altLang="en-US" sz="2000" dirty="0"/>
                  <a:t>深度学习场景中非常高效</a:t>
                </a:r>
                <a:endParaRPr lang="en-US" altLang="zh-CN" sz="2000" dirty="0"/>
              </a:p>
              <a:p>
                <a:r>
                  <a:rPr lang="zh-CN" altLang="en-US" sz="2400" dirty="0"/>
                  <a:t>劣势：</a:t>
                </a:r>
                <a:endParaRPr lang="en-US" altLang="zh-CN" sz="2400" dirty="0"/>
              </a:p>
              <a:p>
                <a:pPr lvl="1"/>
                <a:r>
                  <a:rPr lang="zh-CN" altLang="en-US" sz="2000" dirty="0">
                    <a:solidFill>
                      <a:srgbClr val="FF0000"/>
                    </a:solidFill>
                  </a:rPr>
                  <a:t>存储占用高</a:t>
                </a:r>
              </a:p>
            </p:txBody>
          </p:sp>
        </mc:Choice>
        <mc:Fallback xmlns="">
          <p:sp>
            <p:nvSpPr>
              <p:cNvPr id="12" name="内容占位符 6">
                <a:extLst>
                  <a:ext uri="{FF2B5EF4-FFF2-40B4-BE49-F238E27FC236}">
                    <a16:creationId xmlns:a16="http://schemas.microsoft.com/office/drawing/2014/main" id="{C3DD05EF-47B0-4C07-9A57-AEE30572C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880" y="2365223"/>
                <a:ext cx="5572897" cy="3684588"/>
              </a:xfrm>
              <a:prstGeom prst="rect">
                <a:avLst/>
              </a:prstGeom>
              <a:blipFill>
                <a:blip r:embed="rId10"/>
                <a:stretch>
                  <a:fillRect l="-14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5C11B776-01E1-49AA-B56A-D74484989E63}"/>
              </a:ext>
            </a:extLst>
          </p:cNvPr>
          <p:cNvSpPr/>
          <p:nvPr/>
        </p:nvSpPr>
        <p:spPr>
          <a:xfrm>
            <a:off x="5405786" y="1666636"/>
            <a:ext cx="620325" cy="540351"/>
          </a:xfrm>
          <a:prstGeom prst="star5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3E1AFF-1A2E-46A2-AB7F-DDA975B1D71F}"/>
              </a:ext>
            </a:extLst>
          </p:cNvPr>
          <p:cNvSpPr txBox="1"/>
          <p:nvPr/>
        </p:nvSpPr>
        <p:spPr>
          <a:xfrm>
            <a:off x="6005880" y="5515455"/>
            <a:ext cx="3271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PyTorch</a:t>
            </a:r>
            <a:r>
              <a:rPr lang="zh-CN" altLang="en-US" dirty="0"/>
              <a:t>中通过精细的内存管理</a:t>
            </a:r>
            <a:endParaRPr lang="en-US" altLang="zh-CN" dirty="0"/>
          </a:p>
          <a:p>
            <a:r>
              <a:rPr lang="zh-CN" altLang="en-US" dirty="0"/>
              <a:t>一定程度降低存储要求</a:t>
            </a:r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51565FC2-B68B-45BB-B839-EC5BAB5B10B4}"/>
              </a:ext>
            </a:extLst>
          </p:cNvPr>
          <p:cNvSpPr/>
          <p:nvPr/>
        </p:nvSpPr>
        <p:spPr>
          <a:xfrm>
            <a:off x="7223023" y="4994031"/>
            <a:ext cx="308918" cy="433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8622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8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06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如何高效进行</a:t>
            </a:r>
            <a:r>
              <a:rPr lang="en-US" altLang="zh-CN" sz="2800" dirty="0"/>
              <a:t>GD &amp; BP</a:t>
            </a:r>
            <a:r>
              <a:rPr lang="zh-CN" altLang="en-US" sz="2800" dirty="0"/>
              <a:t>？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12</a:t>
            </a:fld>
            <a:endParaRPr lang="zh-CN" altLang="en-US" strike="noStrike" noProof="1"/>
          </a:p>
        </p:txBody>
      </p:sp>
      <p:sp>
        <p:nvSpPr>
          <p:cNvPr id="8" name="文本框 7"/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prstClr val="black"/>
                </a:solidFill>
                <a:latin typeface="Times New Roman"/>
                <a:ea typeface="微软雅黑"/>
                <a:cs typeface="+mj-cs"/>
              </a:rPr>
              <a:t>6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软雅黑"/>
                <a:cs typeface="+mj-cs"/>
              </a:rPr>
              <a:t>.2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软雅黑"/>
                <a:cs typeface="+mj-cs"/>
              </a:rPr>
              <a:t>为什么选择自动微分？</a:t>
            </a:r>
            <a:endParaRPr lang="en-US" altLang="zh-CN" sz="2800" dirty="0">
              <a:sym typeface="+mn-ea"/>
            </a:endParaRPr>
          </a:p>
        </p:txBody>
      </p:sp>
      <p:sp>
        <p:nvSpPr>
          <p:cNvPr id="9" name="内容占位符 7">
            <a:extLst>
              <a:ext uri="{FF2B5EF4-FFF2-40B4-BE49-F238E27FC236}">
                <a16:creationId xmlns:a16="http://schemas.microsoft.com/office/drawing/2014/main" id="{06DF03BB-460E-457B-957C-E0A8F079D883}"/>
              </a:ext>
            </a:extLst>
          </p:cNvPr>
          <p:cNvSpPr txBox="1">
            <a:spLocks/>
          </p:cNvSpPr>
          <p:nvPr/>
        </p:nvSpPr>
        <p:spPr>
          <a:xfrm>
            <a:off x="697523" y="1646822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000" dirty="0"/>
              <a:t>梯度计算的方法</a:t>
            </a:r>
            <a:endParaRPr lang="en-US" altLang="zh-CN" sz="20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1800" dirty="0">
                <a:solidFill>
                  <a:srgbClr val="FF0000"/>
                </a:solidFill>
              </a:rPr>
              <a:t>人力计算梯度解析式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2">
              <a:lnSpc>
                <a:spcPct val="100000"/>
              </a:lnSpc>
            </a:pPr>
            <a:r>
              <a:rPr lang="zh-CN" altLang="en-US" sz="1800" dirty="0"/>
              <a:t>不适用深层网络</a:t>
            </a:r>
            <a:endParaRPr lang="en-US" altLang="zh-CN" sz="1800" dirty="0"/>
          </a:p>
          <a:p>
            <a:pPr lvl="2">
              <a:lnSpc>
                <a:spcPct val="100000"/>
              </a:lnSpc>
            </a:pPr>
            <a:r>
              <a:rPr lang="zh-CN" altLang="en-US" sz="1800" dirty="0"/>
              <a:t>易出错</a:t>
            </a:r>
            <a:endParaRPr lang="en-US" altLang="zh-CN" sz="18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CN" altLang="en-US" sz="1800" dirty="0">
                <a:solidFill>
                  <a:srgbClr val="FF0000"/>
                </a:solidFill>
              </a:rPr>
              <a:t>符号微分</a:t>
            </a:r>
            <a:r>
              <a:rPr lang="zh-CN" altLang="en-US" sz="1800" dirty="0"/>
              <a:t>：使用计算机代数计算梯度解析式</a:t>
            </a:r>
            <a:endParaRPr lang="en-US" altLang="zh-CN" sz="1800" dirty="0"/>
          </a:p>
          <a:p>
            <a:pPr lvl="2">
              <a:lnSpc>
                <a:spcPct val="100000"/>
              </a:lnSpc>
            </a:pPr>
            <a:r>
              <a:rPr lang="zh-CN" altLang="en-US" sz="1800" dirty="0"/>
              <a:t>解析式复杂</a:t>
            </a:r>
            <a:endParaRPr lang="en-US" altLang="zh-CN" sz="1800" dirty="0"/>
          </a:p>
          <a:p>
            <a:pPr lvl="2">
              <a:lnSpc>
                <a:spcPct val="100000"/>
              </a:lnSpc>
            </a:pPr>
            <a:r>
              <a:rPr lang="zh-CN" altLang="en-US" sz="1800" dirty="0"/>
              <a:t>重复计算</a:t>
            </a:r>
            <a:endParaRPr lang="en-US" altLang="zh-CN" sz="1800" dirty="0"/>
          </a:p>
          <a:p>
            <a:pPr lvl="2">
              <a:lnSpc>
                <a:spcPct val="100000"/>
              </a:lnSpc>
            </a:pPr>
            <a:r>
              <a:rPr lang="zh-CN" altLang="en-US" sz="1800" dirty="0"/>
              <a:t>要求有闭式解</a:t>
            </a:r>
            <a:endParaRPr lang="en-US" altLang="zh-CN" sz="1800" dirty="0"/>
          </a:p>
          <a:p>
            <a:endParaRPr lang="zh-CN" altLang="en-US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4CDE079-3EB4-4328-B42C-4A8F6C3A66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2078" y="3365400"/>
            <a:ext cx="4505325" cy="5429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C59FD0C-58F6-4166-8A4A-F080AC4218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6453" y="4688938"/>
            <a:ext cx="5541119" cy="689448"/>
          </a:xfrm>
          <a:prstGeom prst="rect">
            <a:avLst/>
          </a:prstGeom>
        </p:spPr>
      </p:pic>
      <p:sp>
        <p:nvSpPr>
          <p:cNvPr id="12" name="箭头: 下 11">
            <a:extLst>
              <a:ext uri="{FF2B5EF4-FFF2-40B4-BE49-F238E27FC236}">
                <a16:creationId xmlns:a16="http://schemas.microsoft.com/office/drawing/2014/main" id="{078B90B3-3793-4EFF-AA9A-5FA946AE0B83}"/>
              </a:ext>
            </a:extLst>
          </p:cNvPr>
          <p:cNvSpPr/>
          <p:nvPr/>
        </p:nvSpPr>
        <p:spPr>
          <a:xfrm>
            <a:off x="8929242" y="3977685"/>
            <a:ext cx="317770" cy="5901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1188B1-4C41-4EEF-AEA4-B7F530B45A3F}"/>
              </a:ext>
            </a:extLst>
          </p:cNvPr>
          <p:cNvSpPr txBox="1"/>
          <p:nvPr/>
        </p:nvSpPr>
        <p:spPr>
          <a:xfrm>
            <a:off x="9281701" y="4062399"/>
            <a:ext cx="1322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符号微分</a:t>
            </a:r>
          </a:p>
        </p:txBody>
      </p:sp>
      <p:pic>
        <p:nvPicPr>
          <p:cNvPr id="14" name="图片 13" descr="\documentclass{article}&#10;\usepackage{amsmath}&#10;\pagestyle{empty}&#10;\begin{document}&#10;&#10;$$h(a)=ln(1+exp(a))$$&#10;&#10;&#10;\end{document}" title="IguanaTex Picture Display">
            <a:extLst>
              <a:ext uri="{FF2B5EF4-FFF2-40B4-BE49-F238E27FC236}">
                <a16:creationId xmlns:a16="http://schemas.microsoft.com/office/drawing/2014/main" id="{8DD9C213-0542-431C-ADCC-4F6599A6BAE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279" y="4959535"/>
            <a:ext cx="2957526" cy="31885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4164142-92D7-4E00-A3BC-C3766DD44B6B}"/>
              </a:ext>
            </a:extLst>
          </p:cNvPr>
          <p:cNvSpPr txBox="1"/>
          <p:nvPr/>
        </p:nvSpPr>
        <p:spPr>
          <a:xfrm>
            <a:off x="897837" y="4909058"/>
            <a:ext cx="19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Soft ReLU</a:t>
            </a:r>
            <a:r>
              <a:rPr lang="zh-CN" altLang="en-US" dirty="0"/>
              <a:t>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1017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8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06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如何高效进行</a:t>
            </a:r>
            <a:r>
              <a:rPr lang="en-US" altLang="zh-CN" sz="2800" dirty="0"/>
              <a:t>GD &amp; BP</a:t>
            </a:r>
            <a:r>
              <a:rPr lang="zh-CN" altLang="en-US" sz="2800" dirty="0"/>
              <a:t>？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13</a:t>
            </a:fld>
            <a:endParaRPr lang="zh-CN" altLang="en-US" strike="noStrike" noProof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9974A-8EDB-43A4-82D6-F2F1248B2E64}"/>
              </a:ext>
            </a:extLst>
          </p:cNvPr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prstClr val="black"/>
                </a:solidFill>
                <a:latin typeface="Times New Roman"/>
                <a:ea typeface="微软雅黑"/>
                <a:cs typeface="+mj-cs"/>
              </a:rPr>
              <a:t>6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软雅黑"/>
                <a:cs typeface="+mj-cs"/>
              </a:rPr>
              <a:t>.2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软雅黑"/>
                <a:cs typeface="+mj-cs"/>
              </a:rPr>
              <a:t>为什么选择自动微分？</a:t>
            </a:r>
            <a:endParaRPr lang="en-US" altLang="zh-CN" sz="2800" dirty="0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C2BEEB52-1128-4D53-9D27-8A49B43E65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●"/>
                  <a:defRPr sz="18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  <a:tab pos="1609725" algn="l"/>
                    <a:tab pos="1609725" algn="l"/>
                    <a:tab pos="1609725" algn="l"/>
                  </a:tabLst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835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3.  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数值微分</a:t>
                </a:r>
                <a:r>
                  <a:rPr lang="zh-CN" altLang="en-US" sz="2000" dirty="0"/>
                  <a:t>：使用有限差分数值计算梯度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受计算机精度限制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/>
                  <a:t>计算一次微分需要一次正向传播，</a:t>
                </a:r>
                <a:r>
                  <a:rPr lang="en-US" altLang="zh-CN" sz="2000" dirty="0"/>
                  <a:t>W</a:t>
                </a:r>
                <a:r>
                  <a:rPr lang="zh-CN" altLang="en-US" sz="2000" dirty="0"/>
                  <a:t>个参数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zh-CN" altLang="en-US" sz="2000" dirty="0"/>
                  <a:t>总的时间复杂度为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𝑜𝑝𝑠</m:t>
                        </m:r>
                      </m:e>
                    </m:d>
                    <m:r>
                      <a:rPr lang="en-US" altLang="zh-CN" sz="2000" smtClean="0">
                        <a:latin typeface="Cambria Math" panose="02040503050406030204" pitchFamily="18" charset="0"/>
                      </a:rPr>
                      <m:t>≫</m:t>
                    </m:r>
                    <m:r>
                      <m:rPr>
                        <m:sty m:val="p"/>
                      </m:rPr>
                      <a:rPr lang="en-US" altLang="zh-CN" sz="200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sz="200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 smtClean="0">
                        <a:latin typeface="Cambria Math" panose="02040503050406030204" pitchFamily="18" charset="0"/>
                      </a:rPr>
                      <m:t>ops</m:t>
                    </m:r>
                    <m:r>
                      <a:rPr lang="en-US" altLang="zh-CN" sz="200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C2BEEB52-1128-4D53-9D27-8A49B43E6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10"/>
                <a:stretch>
                  <a:fillRect l="-638" t="-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5A55DB03-7B06-4221-8CB5-32945A5CFE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1475" y="1742973"/>
            <a:ext cx="4417303" cy="400976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59A0EC5-2304-4AD1-B9E1-D0BADACD510D}"/>
              </a:ext>
            </a:extLst>
          </p:cNvPr>
          <p:cNvSpPr/>
          <p:nvPr/>
        </p:nvSpPr>
        <p:spPr>
          <a:xfrm>
            <a:off x="1409375" y="5216059"/>
            <a:ext cx="428835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一般用于梯度检查</a:t>
            </a:r>
          </a:p>
        </p:txBody>
      </p:sp>
      <p:pic>
        <p:nvPicPr>
          <p:cNvPr id="13" name="图片 12" descr="\documentclass{article}&#10;\usepackage{amsmath}&#10;\pagestyle{empty}&#10;\begin{document}&#10;$$&#10;\frac{\partial J_n}{\partial w_{ji}}=\frac{J_n(w_{ji}+\epsilon)-J_n(w_{ji})}{\epsilon}+O(\epsilon)&#10;$$&#10;$$&#10;\frac{\partial J_n}{\partial w_{ji}}=\frac{J_n(w_{ji}+\epsilon)-J_n(w_{ji}-\epsilon)}{2\epsilon}+O(\epsilon^2)&#10;$$&#10;&#10;&#10;&#10;\end{document}" title="IguanaTex Picture Display">
            <a:extLst>
              <a:ext uri="{FF2B5EF4-FFF2-40B4-BE49-F238E27FC236}">
                <a16:creationId xmlns:a16="http://schemas.microsoft.com/office/drawing/2014/main" id="{5C6BD3E4-A0FA-416A-9F05-D75DB10ACF7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40" y="2471819"/>
            <a:ext cx="4520684" cy="13587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7309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06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如何高效进行</a:t>
            </a:r>
            <a:r>
              <a:rPr lang="en-US" altLang="zh-CN" sz="2800" dirty="0"/>
              <a:t>GD &amp; BP</a:t>
            </a:r>
            <a:r>
              <a:rPr lang="zh-CN" altLang="en-US" sz="2800" dirty="0"/>
              <a:t>？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14</a:t>
            </a:fld>
            <a:endParaRPr lang="zh-CN" altLang="en-US" strike="noStrike" noProof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9974A-8EDB-43A4-82D6-F2F1248B2E64}"/>
              </a:ext>
            </a:extLst>
          </p:cNvPr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6.3 PyTorch </a:t>
            </a:r>
            <a:r>
              <a:rPr lang="zh-CN" altLang="en-US" sz="2800" dirty="0"/>
              <a:t>中的自动微分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软雅黑"/>
                <a:cs typeface="+mj-cs"/>
              </a:rPr>
              <a:t>？</a:t>
            </a:r>
            <a:endParaRPr lang="en-US" altLang="zh-CN" sz="2800" dirty="0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内容占位符 2">
                <a:extLst>
                  <a:ext uri="{FF2B5EF4-FFF2-40B4-BE49-F238E27FC236}">
                    <a16:creationId xmlns:a16="http://schemas.microsoft.com/office/drawing/2014/main" id="{7EC7468C-0EAA-41A5-94B7-780E10CBA0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48273"/>
                <a:ext cx="105156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●"/>
                  <a:defRPr sz="18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  <a:tab pos="1609725" algn="l"/>
                    <a:tab pos="1609725" algn="l"/>
                    <a:tab pos="1609725" algn="l"/>
                  </a:tabLst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835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000" dirty="0">
                    <a:solidFill>
                      <a:schemeClr val="tx1"/>
                    </a:solidFill>
                  </a:rPr>
                  <a:t>构建计算图：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zh-CN" altLang="en-US" sz="1800" dirty="0">
                    <a:solidFill>
                      <a:schemeClr val="tx1"/>
                    </a:solidFill>
                  </a:rPr>
                  <a:t>在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PyTorch 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中，计算图的基本组成单元是张量对象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(`</a:t>
                </a:r>
                <a:r>
                  <a:rPr lang="en-US" altLang="zh-CN" sz="1800" dirty="0" err="1">
                    <a:solidFill>
                      <a:schemeClr val="tx1"/>
                    </a:solidFill>
                  </a:rPr>
                  <a:t>torch.Tensor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`) 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和对张量的操作。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𝑔𝑟𝑎𝑑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𝑓𝑛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属性：指向一个表示其生成方式的函数对象，叶节点为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None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𝑏𝑎𝑐𝑘𝑤𝑎𝑟𝑑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：反向传播计算梯度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𝑑𝑒𝑡𝑎𝑐h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() 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操作：隔离某些张量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r>
                  <a:rPr lang="zh-CN" altLang="en-US" sz="2000" dirty="0">
                    <a:solidFill>
                      <a:schemeClr val="tx1"/>
                    </a:solidFill>
                  </a:rPr>
                  <a:t>叶张量（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Leaf Tensor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）：由用户直接创建的的张量（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𝑟𝑒𝑞𝑢𝑖𝑟𝑒𝑠</m:t>
                    </m:r>
                    <m:r>
                      <a:rPr lang="en-US" altLang="zh-CN" sz="2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2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𝑔𝑟𝑎𝑑</m:t>
                    </m:r>
                    <m:r>
                      <a:rPr lang="en-US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𝑇𝑟𝑢𝑒</m:t>
                    </m:r>
                    <m:r>
                      <a:rPr lang="en-US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）</a:t>
                </a:r>
                <a:endParaRPr lang="en-US" altLang="zh-CN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𝑓𝑛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为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None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𝑔𝑟𝑎𝑑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属性，记录梯度（多次反向传播中累加）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𝑒𝑡𝑎𝑖𝑛</m:t>
                    </m:r>
                    <m:r>
                      <a:rPr lang="en-US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𝑔𝑟𝑎𝑑</m:t>
                    </m:r>
                    <m:r>
                      <a:rPr lang="en-US" altLang="zh-C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操作保留中间变量的梯度</a:t>
                </a:r>
              </a:p>
            </p:txBody>
          </p:sp>
        </mc:Choice>
        <mc:Fallback xmlns="">
          <p:sp>
            <p:nvSpPr>
              <p:cNvPr id="14" name="内容占位符 2">
                <a:extLst>
                  <a:ext uri="{FF2B5EF4-FFF2-40B4-BE49-F238E27FC236}">
                    <a16:creationId xmlns:a16="http://schemas.microsoft.com/office/drawing/2014/main" id="{7EC7468C-0EAA-41A5-94B7-780E10CBA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8273"/>
                <a:ext cx="10515600" cy="4351338"/>
              </a:xfrm>
              <a:prstGeom prst="rect">
                <a:avLst/>
              </a:prstGeom>
              <a:blipFill>
                <a:blip r:embed="rId9"/>
                <a:stretch>
                  <a:fillRect l="-522" r="-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79117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06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如何高效进行</a:t>
            </a:r>
            <a:r>
              <a:rPr lang="en-US" altLang="zh-CN" sz="2800" dirty="0"/>
              <a:t>GD &amp; BP</a:t>
            </a:r>
            <a:r>
              <a:rPr lang="zh-CN" altLang="en-US" sz="2800" dirty="0"/>
              <a:t>？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15</a:t>
            </a:fld>
            <a:endParaRPr lang="zh-CN" altLang="en-US" strike="noStrike" noProof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9974A-8EDB-43A4-82D6-F2F1248B2E64}"/>
              </a:ext>
            </a:extLst>
          </p:cNvPr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6.3 PyTorch </a:t>
            </a:r>
            <a:r>
              <a:rPr lang="zh-CN" altLang="en-US" sz="2800" dirty="0"/>
              <a:t>中的自动微分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软雅黑"/>
                <a:cs typeface="+mj-cs"/>
              </a:rPr>
              <a:t>？</a:t>
            </a:r>
            <a:endParaRPr lang="en-US" altLang="zh-CN" sz="2800" dirty="0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2C1C71EC-D93E-44FC-85FA-CC72E6FE82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46822"/>
                <a:ext cx="105156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●"/>
                  <a:defRPr sz="18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  <a:tab pos="1609725" algn="l"/>
                    <a:tab pos="1609725" algn="l"/>
                    <a:tab pos="1609725" algn="l"/>
                  </a:tabLst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835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前向操作</a:t>
                </a:r>
                <a:r>
                  <a:rPr lang="en-US" altLang="zh-CN" dirty="0"/>
                  <a:t>(Forward)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1"/>
                <a:r>
                  <a:rPr lang="en-US" altLang="zh-CN" b="1" dirty="0" err="1"/>
                  <a:t>Autograd</a:t>
                </a:r>
                <a:r>
                  <a:rPr lang="en-US" altLang="zh-CN" b="1" dirty="0"/>
                  <a:t> </a:t>
                </a:r>
                <a:r>
                  <a:rPr lang="zh-CN" altLang="en-US" b="1" dirty="0"/>
                  <a:t>引擎</a:t>
                </a:r>
                <a:r>
                  <a:rPr lang="zh-CN" altLang="en-US" dirty="0"/>
                  <a:t>逐步构建表示求导函数的计算图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创建中间变量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的反向计算函数并赋予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𝑓𝑛</m:t>
                    </m:r>
                  </m:oMath>
                </a14:m>
                <a:r>
                  <a:rPr lang="zh-CN" altLang="en-US" dirty="0"/>
                  <a:t>；</a:t>
                </a:r>
                <a:endParaRPr lang="en-US" altLang="zh-CN" dirty="0"/>
              </a:p>
              <a:p>
                <a:r>
                  <a:rPr lang="zh-CN" altLang="en-US" dirty="0"/>
                  <a:t>反向传播（</a:t>
                </a:r>
                <a:r>
                  <a:rPr lang="en-US" altLang="zh-CN" dirty="0"/>
                  <a:t>Backward</a:t>
                </a:r>
                <a:r>
                  <a:rPr lang="zh-CN" altLang="en-US" dirty="0"/>
                  <a:t>）：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调用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𝑏𝑎𝑐𝑘𝑤𝑎𝑟𝑑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zh-CN" altLang="en-US" dirty="0"/>
                  <a:t>函数，从根节点（输出）开始反向传播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根据当前节点的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𝑔𝑟𝑎𝑑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𝑓𝑛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计算该操作输出对其各输入的梯度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将得到的梯度累加到相应输入张量的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𝑔𝑟𝑎𝑑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属性上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沿着计算图将梯度传递给下一个依赖的节点</a:t>
                </a:r>
                <a:endParaRPr lang="en-US" altLang="zh-CN" dirty="0"/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内存管理</a:t>
                </a:r>
                <a:r>
                  <a:rPr lang="zh-CN" altLang="en-US" dirty="0"/>
                  <a:t>：自动保存必要的中间变量，使用结束后立即释放</a:t>
                </a:r>
                <a:endParaRPr lang="en-US" altLang="zh-CN" dirty="0"/>
              </a:p>
              <a:p>
                <a:r>
                  <a:rPr lang="zh-CN" altLang="en-US" dirty="0"/>
                  <a:t>梯度提取：反向传播结束后，通过访问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𝑔𝑟𝑎𝑑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来提取所需的梯度值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2C1C71EC-D93E-44FC-85FA-CC72E6FE8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6822"/>
                <a:ext cx="10515600" cy="4351338"/>
              </a:xfrm>
              <a:prstGeom prst="rect">
                <a:avLst/>
              </a:prstGeom>
              <a:blipFill>
                <a:blip r:embed="rId9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97638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06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如何高效进行</a:t>
            </a:r>
            <a:r>
              <a:rPr lang="en-US" altLang="zh-CN" sz="2800" dirty="0"/>
              <a:t>GD &amp; BP</a:t>
            </a:r>
            <a:r>
              <a:rPr lang="zh-CN" altLang="en-US" sz="2800" dirty="0"/>
              <a:t>？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16</a:t>
            </a:fld>
            <a:endParaRPr lang="zh-CN" altLang="en-US" strike="noStrike" noProof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9974A-8EDB-43A4-82D6-F2F1248B2E64}"/>
              </a:ext>
            </a:extLst>
          </p:cNvPr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6.3 PyTorch </a:t>
            </a:r>
            <a:r>
              <a:rPr lang="zh-CN" altLang="en-US" sz="2800" dirty="0"/>
              <a:t>中的自动微分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微软雅黑"/>
                <a:cs typeface="+mj-cs"/>
              </a:rPr>
              <a:t>？</a:t>
            </a:r>
            <a:endParaRPr lang="en-US" altLang="zh-CN" sz="2800" dirty="0">
              <a:sym typeface="+mn-ea"/>
            </a:endParaRPr>
          </a:p>
        </p:txBody>
      </p:sp>
      <p:pic>
        <p:nvPicPr>
          <p:cNvPr id="10" name="内容占位符 3">
            <a:extLst>
              <a:ext uri="{FF2B5EF4-FFF2-40B4-BE49-F238E27FC236}">
                <a16:creationId xmlns:a16="http://schemas.microsoft.com/office/drawing/2014/main" id="{83387560-EF43-4648-8B19-4572C919281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9887" r="633"/>
          <a:stretch/>
        </p:blipFill>
        <p:spPr>
          <a:xfrm>
            <a:off x="6096000" y="1517514"/>
            <a:ext cx="4610135" cy="20290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F54145D-C021-4842-8088-4D15B33989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270" y="1796374"/>
            <a:ext cx="4243464" cy="423072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2202795-523E-48DD-85DC-9348342752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0426" y="3546534"/>
            <a:ext cx="4176054" cy="25535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9086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4">
            <a:extLst>
              <a:ext uri="{FF2B5EF4-FFF2-40B4-BE49-F238E27FC236}">
                <a16:creationId xmlns:a16="http://schemas.microsoft.com/office/drawing/2014/main" id="{F8C2B607-44D4-459A-B290-CF2CB57615A9}"/>
              </a:ext>
            </a:extLst>
          </p:cNvPr>
          <p:cNvSpPr txBox="1">
            <a:spLocks/>
          </p:cNvSpPr>
          <p:nvPr/>
        </p:nvSpPr>
        <p:spPr>
          <a:xfrm>
            <a:off x="831850" y="2657157"/>
            <a:ext cx="10413324" cy="3171352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>
            <a:norm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8235" indent="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000" dirty="0"/>
              <a:t>优化问题二阶方法</a:t>
            </a:r>
            <a:endParaRPr lang="en-US" altLang="zh-CN" sz="2000" dirty="0"/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zh-CN" altLang="en-US" sz="1800" dirty="0"/>
              <a:t>牛顿法</a:t>
            </a:r>
            <a:endParaRPr lang="en-US" altLang="zh-CN" sz="1800" dirty="0"/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zh-CN" altLang="en-US" sz="1800" dirty="0"/>
              <a:t>拟牛顿法</a:t>
            </a:r>
            <a:endParaRPr lang="en-US" altLang="zh-CN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zh-CN" sz="2000" dirty="0"/>
              <a:t>SGD </a:t>
            </a:r>
            <a:r>
              <a:rPr lang="zh-CN" altLang="en-US" sz="2000" dirty="0"/>
              <a:t>中引入额外噪声</a:t>
            </a:r>
            <a:endParaRPr lang="en-US" altLang="zh-CN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sz="2000" b="1" dirty="0">
                <a:solidFill>
                  <a:srgbClr val="FF0000"/>
                </a:solidFill>
              </a:rPr>
              <a:t>并行与分布式训练</a:t>
            </a:r>
          </a:p>
        </p:txBody>
      </p:sp>
      <p:sp>
        <p:nvSpPr>
          <p:cNvPr id="10" name="标题 3">
            <a:extLst>
              <a:ext uri="{FF2B5EF4-FFF2-40B4-BE49-F238E27FC236}">
                <a16:creationId xmlns:a16="http://schemas.microsoft.com/office/drawing/2014/main" id="{1E6BC0AD-CB94-4BF3-AD55-032FBB3D0021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361444" cy="1039947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4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0"/>
              </a:spcAft>
            </a:pPr>
            <a:r>
              <a:rPr lang="en-US" altLang="zh-CN" dirty="0"/>
              <a:t>7. </a:t>
            </a:r>
            <a:r>
              <a:rPr lang="zh-CN" altLang="en-US" dirty="0"/>
              <a:t>补充内容</a:t>
            </a:r>
          </a:p>
        </p:txBody>
      </p:sp>
      <p:pic>
        <p:nvPicPr>
          <p:cNvPr id="8" name="图片 2" descr="剪影蓝 低版本">
            <a:extLst>
              <a:ext uri="{FF2B5EF4-FFF2-40B4-BE49-F238E27FC236}">
                <a16:creationId xmlns:a16="http://schemas.microsoft.com/office/drawing/2014/main" id="{BA4E9621-2970-4C05-ABF2-A67FA37D2A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9FD64AE-D423-4F0C-89AE-F3F2DE4B637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12" name="图片 11" descr="国科大标准Logo横式一（白色）">
            <a:extLst>
              <a:ext uri="{FF2B5EF4-FFF2-40B4-BE49-F238E27FC236}">
                <a16:creationId xmlns:a16="http://schemas.microsoft.com/office/drawing/2014/main" id="{EED21246-232E-4CBE-99A2-0C95A3AE7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13" name="文本框 3">
            <a:extLst>
              <a:ext uri="{FF2B5EF4-FFF2-40B4-BE49-F238E27FC236}">
                <a16:creationId xmlns:a16="http://schemas.microsoft.com/office/drawing/2014/main" id="{D3E44B7C-979B-495B-A67A-E932E804441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Chapter 7</a:t>
            </a:r>
          </a:p>
        </p:txBody>
      </p:sp>
    </p:spTree>
    <p:extLst>
      <p:ext uri="{BB962C8B-B14F-4D97-AF65-F5344CB8AC3E}">
        <p14:creationId xmlns:p14="http://schemas.microsoft.com/office/powerpoint/2010/main" val="1528420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9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07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补充内容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18</a:t>
            </a:fld>
            <a:endParaRPr lang="zh-CN" altLang="en-US" strike="noStrike" noProof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9974A-8EDB-43A4-82D6-F2F1248B2E64}"/>
              </a:ext>
            </a:extLst>
          </p:cNvPr>
          <p:cNvSpPr txBox="1"/>
          <p:nvPr/>
        </p:nvSpPr>
        <p:spPr>
          <a:xfrm>
            <a:off x="331470" y="976630"/>
            <a:ext cx="10591800" cy="1305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7.1 </a:t>
            </a:r>
            <a:r>
              <a:rPr lang="zh-CN" altLang="en-US" sz="2800" dirty="0"/>
              <a:t>二阶方法（牛顿法）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endParaRPr lang="en-US" altLang="zh-CN" sz="2800" dirty="0">
              <a:sym typeface="+mn-ea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7B598E50-6AD7-4D3A-92E7-5177F40DE72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一般函数泰勒级数展开：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牛顿法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endParaRPr lang="zh-CN" altLang="en-US" sz="2000" dirty="0"/>
          </a:p>
        </p:txBody>
      </p:sp>
      <p:pic>
        <p:nvPicPr>
          <p:cNvPr id="14" name="图片 13" descr="\documentclass{article}&#10;\usepackage{amsmath}&#10;\pagestyle{empty}&#10;\begin{document}&#10;$$E(\textbf{w})\approx E(\textbf{w}^{(k)})+\nabla_{\textbf{w}}E(\textbf{w}^{(k)})(\textbf{w}-\textbf{w}^{(k)})+\frac{1}{2}(\textbf{w}-\textbf{w}^{(k)})^TH_E(\textbf{w}^{(k)})(\textbf{w}-\textbf{w}^{(k)})$$&#10;&#10;&#10;&#10;\end{document}" title="IguanaTex Picture Display">
            <a:extLst>
              <a:ext uri="{FF2B5EF4-FFF2-40B4-BE49-F238E27FC236}">
                <a16:creationId xmlns:a16="http://schemas.microsoft.com/office/drawing/2014/main" id="{C97999DC-4534-4C06-ABEE-9441E65C13B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57" y="2533225"/>
            <a:ext cx="10432000" cy="616229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$\textbf{w}^{(k+1)}=\textbf{w}^{(k)}-\eta\textbf{H}_E(\textbf{w}^{(k)})^{-1}\nabla_{\textbf{w}}E(w^{(k)})^T,\eta=1&lt;2$$&#10;&#10;&#10;\end{document}" title="IguanaTex Picture Display">
            <a:extLst>
              <a:ext uri="{FF2B5EF4-FFF2-40B4-BE49-F238E27FC236}">
                <a16:creationId xmlns:a16="http://schemas.microsoft.com/office/drawing/2014/main" id="{BB93516F-E8CD-4E60-B33E-DE9B6EA7958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743" y="3451117"/>
            <a:ext cx="7144228" cy="36205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291898C-32F4-4A2E-BC91-1C7B493E89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60290" y="4429722"/>
            <a:ext cx="1806329" cy="181821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5E64CF2-1436-4C4E-A05E-0C7E44280FA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24708" y="4497191"/>
            <a:ext cx="2547418" cy="1683276"/>
          </a:xfrm>
          <a:prstGeom prst="rect">
            <a:avLst/>
          </a:prstGeom>
        </p:spPr>
      </p:pic>
      <p:sp>
        <p:nvSpPr>
          <p:cNvPr id="18" name="箭头: 右 17">
            <a:extLst>
              <a:ext uri="{FF2B5EF4-FFF2-40B4-BE49-F238E27FC236}">
                <a16:creationId xmlns:a16="http://schemas.microsoft.com/office/drawing/2014/main" id="{60DD8F99-E8B4-4484-9D6A-34AB397377B1}"/>
              </a:ext>
            </a:extLst>
          </p:cNvPr>
          <p:cNvSpPr/>
          <p:nvPr/>
        </p:nvSpPr>
        <p:spPr>
          <a:xfrm>
            <a:off x="7449159" y="5225083"/>
            <a:ext cx="834081" cy="4201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90A8735-98CF-4EAB-AE30-70B3C6165A5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70" y="4171022"/>
            <a:ext cx="2413686" cy="2240202"/>
          </a:xfrm>
          <a:prstGeom prst="rect">
            <a:avLst/>
          </a:prstGeom>
        </p:spPr>
      </p:pic>
      <p:sp>
        <p:nvSpPr>
          <p:cNvPr id="20" name="箭头: 右 19">
            <a:extLst>
              <a:ext uri="{FF2B5EF4-FFF2-40B4-BE49-F238E27FC236}">
                <a16:creationId xmlns:a16="http://schemas.microsoft.com/office/drawing/2014/main" id="{4F6DCFEE-7F91-4FFF-91C1-CFBBA6F793A3}"/>
              </a:ext>
            </a:extLst>
          </p:cNvPr>
          <p:cNvSpPr/>
          <p:nvPr/>
        </p:nvSpPr>
        <p:spPr>
          <a:xfrm>
            <a:off x="3518486" y="5291123"/>
            <a:ext cx="854656" cy="2842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14505A-8BF6-432D-8293-8976D39913BC}"/>
              </a:ext>
            </a:extLst>
          </p:cNvPr>
          <p:cNvSpPr txBox="1"/>
          <p:nvPr/>
        </p:nvSpPr>
        <p:spPr>
          <a:xfrm>
            <a:off x="3373868" y="4655403"/>
            <a:ext cx="1181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二次型函数拟合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0B28D3-5ED0-41A0-9116-7DF6F5E0D50C}"/>
              </a:ext>
            </a:extLst>
          </p:cNvPr>
          <p:cNvSpPr txBox="1"/>
          <p:nvPr/>
        </p:nvSpPr>
        <p:spPr>
          <a:xfrm>
            <a:off x="7223449" y="4835872"/>
            <a:ext cx="119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坐标变换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5706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07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补充内容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19</a:t>
            </a:fld>
            <a:endParaRPr lang="zh-CN" altLang="en-US" strike="noStrike" noProof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9974A-8EDB-43A4-82D6-F2F1248B2E64}"/>
              </a:ext>
            </a:extLst>
          </p:cNvPr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7.1 </a:t>
            </a:r>
            <a:r>
              <a:rPr lang="zh-CN" altLang="en-US" sz="2800" dirty="0"/>
              <a:t>二阶方法（拟牛顿法）</a:t>
            </a:r>
            <a:endParaRPr lang="en-US" altLang="zh-CN" sz="2800" dirty="0">
              <a:sym typeface="+mn-ea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6022E9E-69B8-4CE2-91BC-7A5A899E6EA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BFGS </a:t>
            </a:r>
            <a:r>
              <a:rPr lang="zh-CN" altLang="en-US" sz="2000" dirty="0">
                <a:solidFill>
                  <a:schemeClr val="tx1"/>
                </a:solidFill>
              </a:rPr>
              <a:t>方法：</a:t>
            </a:r>
            <a:r>
              <a:rPr lang="zh-CN" altLang="en-US" sz="2000" dirty="0">
                <a:solidFill>
                  <a:srgbClr val="FF0000"/>
                </a:solidFill>
              </a:rPr>
              <a:t>迭代更新</a:t>
            </a:r>
            <a:r>
              <a:rPr lang="en-US" altLang="zh-CN" sz="2000" dirty="0">
                <a:solidFill>
                  <a:schemeClr val="tx1"/>
                </a:solidFill>
              </a:rPr>
              <a:t>Hessian </a:t>
            </a:r>
            <a:r>
              <a:rPr lang="zh-CN" altLang="en-US" sz="2000" dirty="0">
                <a:solidFill>
                  <a:schemeClr val="tx1"/>
                </a:solidFill>
              </a:rPr>
              <a:t>矩阵的逆矩阵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L-BFGS </a:t>
            </a:r>
            <a:r>
              <a:rPr lang="zh-CN" altLang="en-US" sz="2000" dirty="0">
                <a:solidFill>
                  <a:schemeClr val="tx1"/>
                </a:solidFill>
              </a:rPr>
              <a:t>方法：高效内存下的</a:t>
            </a:r>
            <a:r>
              <a:rPr lang="en-US" altLang="zh-CN" sz="2000" dirty="0">
                <a:solidFill>
                  <a:schemeClr val="tx1"/>
                </a:solidFill>
              </a:rPr>
              <a:t>BFGS</a:t>
            </a:r>
            <a:r>
              <a:rPr lang="zh-CN" altLang="en-US" sz="2000" dirty="0">
                <a:solidFill>
                  <a:schemeClr val="tx1"/>
                </a:solidFill>
              </a:rPr>
              <a:t>方法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1"/>
                </a:solidFill>
              </a:rPr>
              <a:t>QuickProp </a:t>
            </a:r>
            <a:r>
              <a:rPr lang="zh-CN" altLang="en-US" sz="2000" dirty="0">
                <a:solidFill>
                  <a:schemeClr val="tx1"/>
                </a:solidFill>
              </a:rPr>
              <a:t>方法：有限差分近似海森矩阵</a:t>
            </a:r>
          </a:p>
        </p:txBody>
      </p:sp>
      <p:pic>
        <p:nvPicPr>
          <p:cNvPr id="11" name="图片 10" descr="\documentclass{article}&#10;\usepackage{amsmath}&#10;\pagestyle{empty}&#10;\begin{document}&#10;&#10;$$w_i^{k+1}=w_i^k-\frac{\Delta w_i^{k-1}}{E'(w_i^{(k)})-E'(w_i^{k-1})}E'(w_i^k)$$&#10;&#10;&#10;\end{document}" title="IguanaTex Picture Display">
            <a:extLst>
              <a:ext uri="{FF2B5EF4-FFF2-40B4-BE49-F238E27FC236}">
                <a16:creationId xmlns:a16="http://schemas.microsoft.com/office/drawing/2014/main" id="{FD2EC13E-70C6-43E4-8C9A-518D2811E3D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579" y="5052341"/>
            <a:ext cx="4627809" cy="711619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$\mathbf{D}^{(k)} = \mathbf{H}_E(\mathbf{w}^{(k)})^{-1}$&#10;&#10;&#10;\end{document}" title="IguanaTex Picture Display">
            <a:extLst>
              <a:ext uri="{FF2B5EF4-FFF2-40B4-BE49-F238E27FC236}">
                <a16:creationId xmlns:a16="http://schemas.microsoft.com/office/drawing/2014/main" id="{6AB4D37A-EDC5-4FD7-A9FD-05AE1D6D84A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534" y="1923199"/>
            <a:ext cx="2168381" cy="288000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$\mathbf{D}^{(k+1)} = \left( \mathbf{I} - \rho_k \mathbf{s}^{(k)} (\mathbf{y}^{(k)})^T \right) \mathbf{D}^{(k)} \left( \mathbf{I} - \rho_k \mathbf{y}^{(k)} (\mathbf{s}^{(k)})^T \right) + \rho_k \mathbf{s}^{(k)} (\mathbf{s}^{(k)})^T$$&#10;&#10;&#10;&#10;\end{document}" title="IguanaTex Picture Display">
            <a:extLst>
              <a:ext uri="{FF2B5EF4-FFF2-40B4-BE49-F238E27FC236}">
                <a16:creationId xmlns:a16="http://schemas.microsoft.com/office/drawing/2014/main" id="{5677A2A7-8B57-4CBA-A7EF-55D4826FFEA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300" y="2510160"/>
            <a:ext cx="7718095" cy="455619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$\mathbf{y}^{(k)} = \nabla_{\mathbf{w}} E(\mathbf{w}^{(k+1)})^T - \nabla_{\mathbf{w}} E(\mathbf{w}^{(k)})^T,&#10;\mathbf{s}^{(k)} = \mathbf{w}^{(k+1)} - \mathbf{w}^{(k)},&#10;\rho_k = \frac{1}{(\mathbf{y}^{(k)})^T \mathbf{s}^{(k)}}$$&#10;&#10;&#10;\end{document}" title="IguanaTex Picture Display">
            <a:extLst>
              <a:ext uri="{FF2B5EF4-FFF2-40B4-BE49-F238E27FC236}">
                <a16:creationId xmlns:a16="http://schemas.microsoft.com/office/drawing/2014/main" id="{7951B749-DA17-4704-8AD0-A9FC5D9E8FD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680" y="3088356"/>
            <a:ext cx="8565333" cy="5820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65842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8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07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补充内容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20</a:t>
            </a:fld>
            <a:endParaRPr lang="zh-CN" altLang="en-US" strike="noStrike" noProof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9974A-8EDB-43A4-82D6-F2F1248B2E64}"/>
              </a:ext>
            </a:extLst>
          </p:cNvPr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7.2 SGD</a:t>
            </a:r>
            <a:r>
              <a:rPr lang="zh-CN" altLang="en-US" sz="2800" dirty="0"/>
              <a:t> </a:t>
            </a:r>
            <a:r>
              <a:rPr lang="en-US" altLang="zh-CN" sz="2800" dirty="0"/>
              <a:t>Noise</a:t>
            </a:r>
            <a:endParaRPr lang="en-US" altLang="zh-CN" sz="2800" dirty="0">
              <a:sym typeface="+mn-ea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6CBCCD92-6233-4283-BA16-BD58C7236B9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在</a:t>
            </a:r>
            <a:r>
              <a:rPr lang="en-US" altLang="zh-CN" dirty="0">
                <a:solidFill>
                  <a:schemeClr val="tx1"/>
                </a:solidFill>
              </a:rPr>
              <a:t>SGD </a:t>
            </a:r>
            <a:r>
              <a:rPr lang="zh-CN" altLang="en-US" dirty="0">
                <a:solidFill>
                  <a:schemeClr val="tx1"/>
                </a:solidFill>
              </a:rPr>
              <a:t>过程中，除了</a:t>
            </a:r>
            <a:r>
              <a:rPr lang="en-US" altLang="zh-CN" dirty="0">
                <a:solidFill>
                  <a:schemeClr val="tx1"/>
                </a:solidFill>
              </a:rPr>
              <a:t>mini-batch </a:t>
            </a:r>
            <a:r>
              <a:rPr lang="zh-CN" altLang="en-US" dirty="0">
                <a:solidFill>
                  <a:schemeClr val="tx1"/>
                </a:solidFill>
              </a:rPr>
              <a:t>导致的噪声，人为引入额外噪声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有利于跳出局部极小值，提升模型泛化能力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Adam </a:t>
            </a:r>
            <a:r>
              <a:rPr lang="zh-CN" altLang="en-US" dirty="0">
                <a:solidFill>
                  <a:schemeClr val="tx1"/>
                </a:solidFill>
              </a:rPr>
              <a:t>等自适应方法，平均历史梯度平滑了噪声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随机梯度朗之万动力学 </a:t>
            </a:r>
            <a:r>
              <a:rPr lang="en-US" altLang="zh-CN" dirty="0">
                <a:solidFill>
                  <a:srgbClr val="FF0000"/>
                </a:solidFill>
              </a:rPr>
              <a:t>(SGLD)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在 </a:t>
            </a:r>
            <a:r>
              <a:rPr lang="en-US" altLang="zh-CN" dirty="0">
                <a:solidFill>
                  <a:schemeClr val="tx1"/>
                </a:solidFill>
              </a:rPr>
              <a:t>SGD </a:t>
            </a:r>
            <a:r>
              <a:rPr lang="zh-CN" altLang="en-US" dirty="0">
                <a:solidFill>
                  <a:schemeClr val="tx1"/>
                </a:solidFill>
              </a:rPr>
              <a:t>更新公式中加入特定的缩放噪声项</a:t>
            </a:r>
          </a:p>
        </p:txBody>
      </p:sp>
      <p:pic>
        <p:nvPicPr>
          <p:cNvPr id="11" name="图片 10" descr="\documentclass{article}&#10;\usepackage{amsmath}&#10;\pagestyle{empty}&#10;\begin{document}&#10;&#10;$$\Delta w^{k+1} = -\frac{\eta_k}{2} \nabla E(w^k) + \underbrace{\sqrt{\eta_k} \cdot N(0, I)}_{\textbf{Gaussian Noise}}$$&#10;&#10;&#10;\end{document}" title="IguanaTex Picture Display">
            <a:extLst>
              <a:ext uri="{FF2B5EF4-FFF2-40B4-BE49-F238E27FC236}">
                <a16:creationId xmlns:a16="http://schemas.microsoft.com/office/drawing/2014/main" id="{5A4DEF52-5A51-4684-AA6D-1DBCC6944BE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890" y="4440013"/>
            <a:ext cx="5238860" cy="84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281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07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补充内容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21</a:t>
            </a:fld>
            <a:endParaRPr lang="zh-CN" altLang="en-US" strike="noStrike" noProof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9974A-8EDB-43A4-82D6-F2F1248B2E64}"/>
              </a:ext>
            </a:extLst>
          </p:cNvPr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7.3 </a:t>
            </a:r>
            <a:r>
              <a:rPr lang="zh-CN" altLang="en-US" sz="2800" dirty="0"/>
              <a:t>并行与分布式训练</a:t>
            </a:r>
            <a:endParaRPr lang="en-US" altLang="zh-CN" sz="2800" dirty="0">
              <a:sym typeface="+mn-ea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93A330C-5793-44AD-9BC4-5E372EF34DF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+mn-ea"/>
              </a:rPr>
              <a:t>并行模式：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+mn-ea"/>
              </a:rPr>
              <a:t>数据并行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：不同设备处理不同数据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+mn-ea"/>
              </a:rPr>
              <a:t>模型并行：不同设备处理模型不同部分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+mn-ea"/>
              </a:rPr>
              <a:t>梯度聚合（数据并行）：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+mn-ea"/>
              </a:rPr>
              <a:t>同步更新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：全部节点计算结束后，统一更新参数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+mn-ea"/>
              </a:rPr>
              <a:t>异步更新：各个节点独立计算独立更新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A6DDED-5BCC-4D1A-BB55-F4C1DA2089DF}"/>
              </a:ext>
            </a:extLst>
          </p:cNvPr>
          <p:cNvSpPr/>
          <p:nvPr/>
        </p:nvSpPr>
        <p:spPr>
          <a:xfrm>
            <a:off x="2334549" y="4308285"/>
            <a:ext cx="639790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数据并行</a:t>
            </a:r>
            <a:r>
              <a:rPr lang="en-US" altLang="zh-CN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+</a:t>
            </a:r>
            <a:r>
              <a:rPr lang="zh-CN" alt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同步更新</a:t>
            </a:r>
            <a:r>
              <a:rPr lang="en-US" altLang="zh-CN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=</a:t>
            </a:r>
            <a:r>
              <a:rPr lang="zh-CN" alt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超大</a:t>
            </a:r>
            <a:r>
              <a:rPr lang="en-US" altLang="zh-CN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Batch</a:t>
            </a:r>
            <a:endParaRPr lang="zh-CN" altLang="en-US" sz="3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CE8156-91B9-4428-92F5-C1F9476EC84A}"/>
              </a:ext>
            </a:extLst>
          </p:cNvPr>
          <p:cNvSpPr/>
          <p:nvPr/>
        </p:nvSpPr>
        <p:spPr>
          <a:xfrm>
            <a:off x="4965496" y="5361610"/>
            <a:ext cx="526298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1" dirty="0">
                <a:ln w="22225">
                  <a:noFill/>
                  <a:prstDash val="solid"/>
                </a:ln>
                <a:solidFill>
                  <a:srgbClr val="FF0000"/>
                </a:solidFill>
              </a:rPr>
              <a:t>梯度误差小，收敛变差！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F327A684-699A-41B3-BDE2-60403554FACC}"/>
              </a:ext>
            </a:extLst>
          </p:cNvPr>
          <p:cNvSpPr/>
          <p:nvPr/>
        </p:nvSpPr>
        <p:spPr>
          <a:xfrm>
            <a:off x="7230743" y="4875595"/>
            <a:ext cx="389107" cy="478437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133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07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补充内容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22</a:t>
            </a:fld>
            <a:endParaRPr lang="zh-CN" altLang="en-US" strike="noStrike" noProof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9974A-8EDB-43A4-82D6-F2F1248B2E64}"/>
              </a:ext>
            </a:extLst>
          </p:cNvPr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7.3 </a:t>
            </a:r>
            <a:r>
              <a:rPr lang="zh-CN" altLang="en-US" sz="2800" dirty="0"/>
              <a:t>并行与分布式训练</a:t>
            </a:r>
            <a:endParaRPr lang="en-US" altLang="zh-CN" sz="2800" dirty="0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293A330C-5793-44AD-9BC4-5E372EF34D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●"/>
                  <a:defRPr sz="18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  <a:tab pos="1609725" algn="l"/>
                    <a:tab pos="1609725" algn="l"/>
                    <a:tab pos="1609725" algn="l"/>
                  </a:tabLst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835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准确率和速度的权衡（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trade-offs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）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如何充分利用硬件并行，同时收敛性好？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线性缩放规则 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(Linear Scaling Rule)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当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Batch Size 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增大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k 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倍时，将学习率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也增大 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k 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倍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专用优化器 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(LARS / LAMB)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根据每一层的权重范数和梯度范数比值，动态调整该层的学习率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改用模型并行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本地更新：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每个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GPU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独立更新若干步后，同步各设备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减少通信次数</a:t>
                </a:r>
              </a:p>
            </p:txBody>
          </p:sp>
        </mc:Choice>
        <mc:Fallback xmlns="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293A330C-5793-44AD-9BC4-5E372EF34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9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42959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2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07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补充内容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23</a:t>
            </a:fld>
            <a:endParaRPr lang="zh-CN" altLang="en-US" strike="noStrike" noProof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9974A-8EDB-43A4-82D6-F2F1248B2E64}"/>
              </a:ext>
            </a:extLst>
          </p:cNvPr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7.3 </a:t>
            </a:r>
            <a:r>
              <a:rPr lang="zh-CN" altLang="en-US" sz="2800" dirty="0"/>
              <a:t>并行与分布式训练</a:t>
            </a:r>
            <a:endParaRPr lang="en-US" altLang="zh-CN" sz="2800" dirty="0">
              <a:sym typeface="+mn-ea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93A330C-5793-44AD-9BC4-5E372EF34DF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内容占位符 2">
                <a:extLst>
                  <a:ext uri="{FF2B5EF4-FFF2-40B4-BE49-F238E27FC236}">
                    <a16:creationId xmlns:a16="http://schemas.microsoft.com/office/drawing/2014/main" id="{14DB954C-D57F-4DCC-A094-CF55DEBF2A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7421" y="1743196"/>
                <a:ext cx="105156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●"/>
                  <a:defRPr sz="18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  <a:tab pos="1609725" algn="l"/>
                    <a:tab pos="1609725" algn="l"/>
                    <a:tab pos="1609725" algn="l"/>
                  </a:tabLst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835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zh-CN" sz="2000" dirty="0">
                    <a:solidFill>
                      <a:schemeClr val="tx1"/>
                    </a:solidFill>
                  </a:rPr>
                  <a:t>LARS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（基于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SGD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）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对于网络中的第</a:t>
                </a:r>
                <a14:m>
                  <m:oMath xmlns:m="http://schemas.openxmlformats.org/officeDocument/2006/math">
                    <m:r>
                      <a:rPr lang="zh-CN" alt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层，参数为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，梯度为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。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LARS 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计算一个局部学习率乘子，也称为信任比率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: 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参数更新：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LAMB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（基于</a:t>
                </a:r>
                <a:r>
                  <a:rPr lang="en-US" altLang="zh-CN" sz="2000" dirty="0" err="1">
                    <a:solidFill>
                      <a:srgbClr val="FF0000"/>
                    </a:solidFill>
                  </a:rPr>
                  <a:t>AdamW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）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计算信任比率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：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参数更新：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内容占位符 2">
                <a:extLst>
                  <a:ext uri="{FF2B5EF4-FFF2-40B4-BE49-F238E27FC236}">
                    <a16:creationId xmlns:a16="http://schemas.microsoft.com/office/drawing/2014/main" id="{14DB954C-D57F-4DCC-A094-CF55DEBF2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21" y="1743196"/>
                <a:ext cx="10515600" cy="4351338"/>
              </a:xfrm>
              <a:prstGeom prst="rect">
                <a:avLst/>
              </a:prstGeom>
              <a:blipFill>
                <a:blip r:embed="rId14"/>
                <a:stretch>
                  <a:fillRect l="-522" t="-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 descr="\documentclass{article}&#10;\usepackage{amsmath}&#10;\pagestyle{empty}&#10;\begin{document}&#10;$$\lambda_l = \eta \times \frac{\| w_l \|}{\| \nabla E(w_l) \| + \beta \| w_l \|}$$&#10;&#10;&#10;&#10;\end{document}" title="IguanaTex Picture Display">
            <a:extLst>
              <a:ext uri="{FF2B5EF4-FFF2-40B4-BE49-F238E27FC236}">
                <a16:creationId xmlns:a16="http://schemas.microsoft.com/office/drawing/2014/main" id="{09CA640D-8A13-4D22-8B72-54D2C15D96B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935" y="2707609"/>
            <a:ext cx="3748571" cy="718629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&#10;$$\Delta w_l = \eta \cdot \lambda_l \cdot \nabla E(w_l)$$&#10;&#10;\end{document}" title="IguanaTex Picture Display">
            <a:extLst>
              <a:ext uri="{FF2B5EF4-FFF2-40B4-BE49-F238E27FC236}">
                <a16:creationId xmlns:a16="http://schemas.microsoft.com/office/drawing/2014/main" id="{85A9019C-89AA-4388-8590-65186878AEC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715" y="3901994"/>
            <a:ext cx="2363428" cy="254476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$r_t = \frac{m_t}{\sqrt{v_t} + \epsilon} + \lambda w_t$$&#10;&#10;&#10;\end{document}" title="IguanaTex Picture Display">
            <a:extLst>
              <a:ext uri="{FF2B5EF4-FFF2-40B4-BE49-F238E27FC236}">
                <a16:creationId xmlns:a16="http://schemas.microsoft.com/office/drawing/2014/main" id="{4136C866-D248-4D82-8616-0772BFFE915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370" y="4617684"/>
            <a:ext cx="2136381" cy="536381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$\phi_t = \frac{\| w_t \|}{\| r_t \|}$$&#10;&#10;&#10;\end{document}" title="IguanaTex Picture Display">
            <a:extLst>
              <a:ext uri="{FF2B5EF4-FFF2-40B4-BE49-F238E27FC236}">
                <a16:creationId xmlns:a16="http://schemas.microsoft.com/office/drawing/2014/main" id="{D2B48818-DA8F-4912-BD2F-99040B16825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313" y="4517186"/>
            <a:ext cx="1118476" cy="598857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$w_{t+1} = w_t - \eta \cdot \phi_t \cdot r_t$$&#10;&#10;&#10;\end{document}" title="IguanaTex Picture Display">
            <a:extLst>
              <a:ext uri="{FF2B5EF4-FFF2-40B4-BE49-F238E27FC236}">
                <a16:creationId xmlns:a16="http://schemas.microsoft.com/office/drawing/2014/main" id="{6F3C3A9A-4020-450F-BEED-516E7799BB7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286" y="5385273"/>
            <a:ext cx="2358857" cy="23466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44A3C2F-93CF-4E11-AF48-B50C985731A8}"/>
              </a:ext>
            </a:extLst>
          </p:cNvPr>
          <p:cNvSpPr txBox="1"/>
          <p:nvPr/>
        </p:nvSpPr>
        <p:spPr>
          <a:xfrm>
            <a:off x="8316262" y="3833304"/>
            <a:ext cx="3456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信任比率小：梯度大，权重小</a:t>
            </a:r>
            <a:endParaRPr lang="en-US" altLang="zh-CN" dirty="0"/>
          </a:p>
          <a:p>
            <a:r>
              <a:rPr lang="zh-CN" altLang="en-US" dirty="0"/>
              <a:t>信任比率大：梯度小，权重大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6631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2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07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/>
              <a:t>补充内容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24</a:t>
            </a:fld>
            <a:endParaRPr lang="zh-CN" altLang="en-US" strike="noStrike" noProof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9974A-8EDB-43A4-82D6-F2F1248B2E64}"/>
              </a:ext>
            </a:extLst>
          </p:cNvPr>
          <p:cNvSpPr txBox="1"/>
          <p:nvPr/>
        </p:nvSpPr>
        <p:spPr>
          <a:xfrm>
            <a:off x="331470" y="976630"/>
            <a:ext cx="10591800" cy="661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/>
              <a:t>7.3 </a:t>
            </a:r>
            <a:r>
              <a:rPr lang="zh-CN" altLang="en-US" sz="2800" dirty="0"/>
              <a:t>并行与分布式训练</a:t>
            </a:r>
            <a:endParaRPr lang="en-US" altLang="zh-CN" sz="2800" dirty="0">
              <a:sym typeface="+mn-ea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93A330C-5793-44AD-9BC4-5E372EF34DF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内容占位符 2">
                <a:extLst>
                  <a:ext uri="{FF2B5EF4-FFF2-40B4-BE49-F238E27FC236}">
                    <a16:creationId xmlns:a16="http://schemas.microsoft.com/office/drawing/2014/main" id="{14DB954C-D57F-4DCC-A094-CF55DEBF2A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7421" y="1743196"/>
                <a:ext cx="105156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●"/>
                  <a:defRPr sz="18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tabLst>
                    <a:tab pos="1609725" algn="l"/>
                    <a:tab pos="1609725" algn="l"/>
                    <a:tab pos="1609725" algn="l"/>
                    <a:tab pos="1609725" algn="l"/>
                  </a:tabLst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●"/>
                  <a:defRPr sz="16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Wingdings" panose="05000000000000000000" charset="0"/>
                  <a:buChar char="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 sz="1400" u="none" strike="noStrike" kern="1200" cap="none" spc="150" normalizeH="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uFillTx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835" indent="-228600" algn="l" defTabSz="914400" rtl="0" eaLnBrk="1" latinLnBrk="0" hangingPunct="1">
                  <a:lnSpc>
                    <a:spcPct val="90000"/>
                  </a:lnSpc>
                  <a:spcBef>
                    <a:spcPct val="100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zh-CN" sz="2000" dirty="0">
                    <a:solidFill>
                      <a:schemeClr val="tx1"/>
                    </a:solidFill>
                  </a:rPr>
                  <a:t>LARS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（基于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SGD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）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对于网络中的第</a:t>
                </a:r>
                <a14:m>
                  <m:oMath xmlns:m="http://schemas.openxmlformats.org/officeDocument/2006/math">
                    <m:r>
                      <a:rPr lang="zh-CN" alt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层，参数为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，梯度为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。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LARS </a:t>
                </a:r>
                <a:r>
                  <a:rPr lang="zh-CN" altLang="en-US" sz="1800" dirty="0">
                    <a:solidFill>
                      <a:schemeClr val="tx1"/>
                    </a:solidFill>
                  </a:rPr>
                  <a:t>计算一个局部学习率乘子，也称为信任比率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: 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参数更新：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LAMB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（基于</a:t>
                </a:r>
                <a:r>
                  <a:rPr lang="en-US" altLang="zh-CN" sz="2000" dirty="0" err="1">
                    <a:solidFill>
                      <a:srgbClr val="FF0000"/>
                    </a:solidFill>
                  </a:rPr>
                  <a:t>AdamW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）</a:t>
                </a: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计算信任比率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</a:rPr>
                  <a:t>：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</a:rPr>
                  <a:t>参数更新：</a:t>
                </a: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00000"/>
                  </a:lnSpc>
                </a:pPr>
                <a:endParaRPr lang="en-US" altLang="zh-CN" sz="18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内容占位符 2">
                <a:extLst>
                  <a:ext uri="{FF2B5EF4-FFF2-40B4-BE49-F238E27FC236}">
                    <a16:creationId xmlns:a16="http://schemas.microsoft.com/office/drawing/2014/main" id="{14DB954C-D57F-4DCC-A094-CF55DEBF2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21" y="1743196"/>
                <a:ext cx="10515600" cy="4351338"/>
              </a:xfrm>
              <a:prstGeom prst="rect">
                <a:avLst/>
              </a:prstGeom>
              <a:blipFill>
                <a:blip r:embed="rId14"/>
                <a:stretch>
                  <a:fillRect l="-522" t="-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 descr="\documentclass{article}&#10;\usepackage{amsmath}&#10;\pagestyle{empty}&#10;\begin{document}&#10;$$\lambda_l = \eta \times \frac{\| w_l \|}{\| \nabla E(w_l) \| + \beta \| w_l \|}$$&#10;&#10;&#10;&#10;\end{document}" title="IguanaTex Picture Display">
            <a:extLst>
              <a:ext uri="{FF2B5EF4-FFF2-40B4-BE49-F238E27FC236}">
                <a16:creationId xmlns:a16="http://schemas.microsoft.com/office/drawing/2014/main" id="{09CA640D-8A13-4D22-8B72-54D2C15D96B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935" y="2707609"/>
            <a:ext cx="3748571" cy="718629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&#10;$$\Delta w_l = \eta \cdot \lambda_l \cdot \nabla E(w_l)$$&#10;&#10;\end{document}" title="IguanaTex Picture Display">
            <a:extLst>
              <a:ext uri="{FF2B5EF4-FFF2-40B4-BE49-F238E27FC236}">
                <a16:creationId xmlns:a16="http://schemas.microsoft.com/office/drawing/2014/main" id="{85A9019C-89AA-4388-8590-65186878AEC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715" y="3901994"/>
            <a:ext cx="2363428" cy="254476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$r_t = \frac{m_t}{\sqrt{v_t} + \epsilon} + \lambda w_t$$&#10;&#10;&#10;\end{document}" title="IguanaTex Picture Display">
            <a:extLst>
              <a:ext uri="{FF2B5EF4-FFF2-40B4-BE49-F238E27FC236}">
                <a16:creationId xmlns:a16="http://schemas.microsoft.com/office/drawing/2014/main" id="{4136C866-D248-4D82-8616-0772BFFE915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370" y="4617684"/>
            <a:ext cx="2136381" cy="536381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$\phi_t = \frac{\| w_t \|}{\| r_t \|}$$&#10;&#10;&#10;\end{document}" title="IguanaTex Picture Display">
            <a:extLst>
              <a:ext uri="{FF2B5EF4-FFF2-40B4-BE49-F238E27FC236}">
                <a16:creationId xmlns:a16="http://schemas.microsoft.com/office/drawing/2014/main" id="{D2B48818-DA8F-4912-BD2F-99040B16825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313" y="4517186"/>
            <a:ext cx="1118476" cy="598857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$w_{t+1} = w_t - \eta \cdot \phi_t \cdot r_t$$&#10;&#10;&#10;\end{document}" title="IguanaTex Picture Display">
            <a:extLst>
              <a:ext uri="{FF2B5EF4-FFF2-40B4-BE49-F238E27FC236}">
                <a16:creationId xmlns:a16="http://schemas.microsoft.com/office/drawing/2014/main" id="{6F3C3A9A-4020-450F-BEED-516E7799BB7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286" y="5385273"/>
            <a:ext cx="2358857" cy="23466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44A3C2F-93CF-4E11-AF48-B50C985731A8}"/>
              </a:ext>
            </a:extLst>
          </p:cNvPr>
          <p:cNvSpPr txBox="1"/>
          <p:nvPr/>
        </p:nvSpPr>
        <p:spPr>
          <a:xfrm>
            <a:off x="8316262" y="3833304"/>
            <a:ext cx="3456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信任比率小：梯度大，权重小</a:t>
            </a:r>
            <a:endParaRPr lang="en-US" altLang="zh-CN" dirty="0"/>
          </a:p>
          <a:p>
            <a:r>
              <a:rPr lang="zh-CN" altLang="en-US" dirty="0"/>
              <a:t>信任比率大：梯度小，权重大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0479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08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rgbClr val="2E3C63"/>
                </a:solidFill>
              </a:rPr>
              <a:t>总结</a:t>
            </a:r>
            <a:endParaRPr lang="en-US" altLang="zh-CN" sz="11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25</a:t>
            </a:fld>
            <a:endParaRPr lang="zh-CN" altLang="en-US" strike="noStrike" noProof="1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93A330C-5793-44AD-9BC4-5E372EF34DF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64D2C7-85C2-4C5C-ABCE-297F05344096}"/>
              </a:ext>
            </a:extLst>
          </p:cNvPr>
          <p:cNvSpPr txBox="1"/>
          <p:nvPr/>
        </p:nvSpPr>
        <p:spPr>
          <a:xfrm>
            <a:off x="965200" y="1181813"/>
            <a:ext cx="241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训练神经网络</a:t>
            </a:r>
          </a:p>
        </p:txBody>
      </p:sp>
      <p:sp>
        <p:nvSpPr>
          <p:cNvPr id="8" name="箭头: 左右 7">
            <a:extLst>
              <a:ext uri="{FF2B5EF4-FFF2-40B4-BE49-F238E27FC236}">
                <a16:creationId xmlns:a16="http://schemas.microsoft.com/office/drawing/2014/main" id="{E703CB33-77D6-4139-B1FF-CD3D64CF3D28}"/>
              </a:ext>
            </a:extLst>
          </p:cNvPr>
          <p:cNvSpPr/>
          <p:nvPr/>
        </p:nvSpPr>
        <p:spPr>
          <a:xfrm>
            <a:off x="3197225" y="1346015"/>
            <a:ext cx="908050" cy="20381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B65DF8-F984-449E-9133-5DAE5A325BB5}"/>
              </a:ext>
            </a:extLst>
          </p:cNvPr>
          <p:cNvSpPr txBox="1"/>
          <p:nvPr/>
        </p:nvSpPr>
        <p:spPr>
          <a:xfrm>
            <a:off x="4400550" y="1192886"/>
            <a:ext cx="295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寻找损失函数最小值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BFE0D9-F79E-4D39-95D8-F8B6E4C58B08}"/>
              </a:ext>
            </a:extLst>
          </p:cNvPr>
          <p:cNvSpPr txBox="1"/>
          <p:nvPr/>
        </p:nvSpPr>
        <p:spPr>
          <a:xfrm>
            <a:off x="3584575" y="2238496"/>
            <a:ext cx="3162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方法：</a:t>
            </a:r>
            <a:r>
              <a:rPr lang="zh-CN" altLang="en-US" sz="2000" b="1" dirty="0">
                <a:solidFill>
                  <a:srgbClr val="FF0000"/>
                </a:solidFill>
              </a:rPr>
              <a:t>梯度下降与反向传播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F4DF466A-5670-49A7-A483-DFD7BDFE4D99}"/>
              </a:ext>
            </a:extLst>
          </p:cNvPr>
          <p:cNvSpPr/>
          <p:nvPr/>
        </p:nvSpPr>
        <p:spPr>
          <a:xfrm>
            <a:off x="5067714" y="1785345"/>
            <a:ext cx="434561" cy="3320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13B742-DCAC-4019-A780-D428D2DAC1CF}"/>
              </a:ext>
            </a:extLst>
          </p:cNvPr>
          <p:cNvSpPr txBox="1"/>
          <p:nvPr/>
        </p:nvSpPr>
        <p:spPr>
          <a:xfrm>
            <a:off x="1238250" y="2602789"/>
            <a:ext cx="32829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优化</a:t>
            </a:r>
            <a:r>
              <a:rPr lang="en-US" altLang="zh-CN" dirty="0"/>
              <a:t>GD</a:t>
            </a:r>
            <a:r>
              <a:rPr lang="zh-CN" altLang="en-US" dirty="0"/>
              <a:t>：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优化算法：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SGD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Batch GD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Mini-Batch GD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学习率调整：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学习率衰减</a:t>
            </a:r>
            <a:endParaRPr lang="en-US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自适应学习率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梯度估计修正：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动量法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zh-CN" dirty="0" err="1"/>
              <a:t>Nesterov</a:t>
            </a:r>
            <a:r>
              <a:rPr lang="en-US" altLang="zh-CN" dirty="0"/>
              <a:t> </a:t>
            </a:r>
            <a:r>
              <a:rPr lang="zh-CN" altLang="en-US" dirty="0"/>
              <a:t>加速梯度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5F3298-5C30-4EF1-81AC-EB8F0CB0683B}"/>
              </a:ext>
            </a:extLst>
          </p:cNvPr>
          <p:cNvSpPr txBox="1"/>
          <p:nvPr/>
        </p:nvSpPr>
        <p:spPr>
          <a:xfrm>
            <a:off x="6683374" y="2648312"/>
            <a:ext cx="2854325" cy="1328023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高效实现</a:t>
            </a:r>
            <a:r>
              <a:rPr lang="en-US" altLang="zh-CN" dirty="0"/>
              <a:t>GD &amp; BP</a:t>
            </a:r>
            <a:r>
              <a:rPr lang="zh-CN" altLang="en-US" dirty="0"/>
              <a:t>：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动态</a:t>
            </a:r>
            <a:r>
              <a:rPr lang="zh-CN" altLang="en-US" dirty="0">
                <a:solidFill>
                  <a:srgbClr val="FF0000"/>
                </a:solidFill>
              </a:rPr>
              <a:t>计算图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反向</a:t>
            </a:r>
            <a:r>
              <a:rPr lang="zh-CN" altLang="en-US" dirty="0">
                <a:solidFill>
                  <a:srgbClr val="FF0000"/>
                </a:solidFill>
              </a:rPr>
              <a:t>自动微分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并行以及分布式运行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1057BF-BB7D-4BEF-9754-4CEB4B919020}"/>
              </a:ext>
            </a:extLst>
          </p:cNvPr>
          <p:cNvSpPr txBox="1"/>
          <p:nvPr/>
        </p:nvSpPr>
        <p:spPr>
          <a:xfrm>
            <a:off x="6500812" y="4730525"/>
            <a:ext cx="3876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TensorFlow / PyTorch</a:t>
            </a:r>
          </a:p>
          <a:p>
            <a:r>
              <a:rPr lang="en-US" altLang="zh-CN" sz="2400" b="1" dirty="0"/>
              <a:t>GPU</a:t>
            </a:r>
            <a:r>
              <a:rPr lang="zh-CN" altLang="en-US" sz="2400" b="1" dirty="0"/>
              <a:t>（集群）</a:t>
            </a:r>
          </a:p>
        </p:txBody>
      </p:sp>
      <p:sp>
        <p:nvSpPr>
          <p:cNvPr id="24" name="箭头: 上 23">
            <a:extLst>
              <a:ext uri="{FF2B5EF4-FFF2-40B4-BE49-F238E27FC236}">
                <a16:creationId xmlns:a16="http://schemas.microsoft.com/office/drawing/2014/main" id="{9FE7C20F-1873-48CB-ADFE-DD9B47B15CBD}"/>
              </a:ext>
            </a:extLst>
          </p:cNvPr>
          <p:cNvSpPr/>
          <p:nvPr/>
        </p:nvSpPr>
        <p:spPr>
          <a:xfrm>
            <a:off x="8007350" y="4063228"/>
            <a:ext cx="431800" cy="46572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右大括号 24">
            <a:extLst>
              <a:ext uri="{FF2B5EF4-FFF2-40B4-BE49-F238E27FC236}">
                <a16:creationId xmlns:a16="http://schemas.microsoft.com/office/drawing/2014/main" id="{7013D0CA-ABAB-43D9-ABA2-DF9F1841982A}"/>
              </a:ext>
            </a:extLst>
          </p:cNvPr>
          <p:cNvSpPr/>
          <p:nvPr/>
        </p:nvSpPr>
        <p:spPr>
          <a:xfrm>
            <a:off x="4089400" y="2696306"/>
            <a:ext cx="508000" cy="2947314"/>
          </a:xfrm>
          <a:prstGeom prst="rightBrac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2453F3B-EE15-4880-A360-858858F03144}"/>
              </a:ext>
            </a:extLst>
          </p:cNvPr>
          <p:cNvSpPr txBox="1"/>
          <p:nvPr/>
        </p:nvSpPr>
        <p:spPr>
          <a:xfrm>
            <a:off x="4657725" y="3554452"/>
            <a:ext cx="1485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Adam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 err="1"/>
              <a:t>AdamW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SGD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LAMB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5936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53" y="1172030"/>
            <a:ext cx="12190495" cy="190317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sp>
        <p:nvSpPr>
          <p:cNvPr id="2051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9662" y="1356616"/>
            <a:ext cx="9798534" cy="1536087"/>
          </a:xfrm>
        </p:spPr>
        <p:txBody>
          <a:bodyPr vert="horz" lIns="89988" tIns="46794" rIns="89988" bIns="46794" anchor="b" anchorCtr="0"/>
          <a:lstStyle/>
          <a:p>
            <a:pPr defTabSz="914400">
              <a:buClrTx/>
              <a:buSzTx/>
              <a:buFontTx/>
              <a:buNone/>
            </a:pPr>
            <a:r>
              <a:rPr lang="zh-CN" altLang="zh-CN" sz="5400" b="0" kern="1200" normalizeH="0" baseline="0">
                <a:solidFill>
                  <a:schemeClr val="bg1"/>
                </a:solidFill>
                <a:latin typeface="造字工房朗倩（非商用）常规体" charset="-122"/>
                <a:ea typeface="造字工房朗倩（非商用）常规体" charset="-122"/>
                <a:cs typeface="+mj-cs"/>
              </a:rPr>
              <a:t>感谢观看</a:t>
            </a:r>
            <a:br>
              <a:rPr lang="zh-CN" altLang="zh-CN" sz="5400" b="0" kern="1200" normalizeH="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zh-CN" altLang="zh-CN" sz="3200" b="0" kern="1200" normalizeH="0" baseline="0">
                <a:ln>
                  <a:solidFill>
                    <a:schemeClr val="bg1"/>
                  </a:solidFill>
                </a:ln>
                <a:noFill/>
                <a:latin typeface="Bauhaus 93" panose="04030905020B02020C02" charset="0"/>
                <a:ea typeface="+mj-ea"/>
                <a:cs typeface="Bauhaus 93" panose="04030905020B02020C02" charset="0"/>
              </a:rPr>
              <a:t>Thank you for watching</a:t>
            </a:r>
          </a:p>
        </p:txBody>
      </p:sp>
      <p:pic>
        <p:nvPicPr>
          <p:cNvPr id="2053" name="图片 5" descr="剪影居中蓝 低版本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图片 1" descr="国科大标准Logo横式一（蓝色）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I3MjYyZDJmMWViZTNlM2MyYWM2NDVjMTMxYjI5Z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98.9502"/>
  <p:tag name="ORIGINALWIDTH" val=" 2416.198"/>
  <p:tag name="OUTPUTTYPE" val="PNG"/>
  <p:tag name="IGUANATEXVERSION" val="162"/>
  <p:tag name="LATEXADDIN" val="\documentclass{article}&#10;\usepackage{amsmath}&#10;\pagestyle{empty}&#10;\begin{document}&#10;&#10;$$&#10;\frac{\partial J}{\partial w_i}=\sum_m\cdot \cdot\cdot\sum_l\sum_j\frac{\partial z_m^{(1)}}{\partial w_i}\cdot \cdot\cdot \frac{\partial z_j^{(n)}}{\partial z_l^{(n-1)}}\frac{\partial J}{\partial z_j^{(n)}}&#10;$$&#10;&#10;&#10;\end{document}"/>
  <p:tag name="IGUANATEXSIZE" val="10"/>
  <p:tag name="IGUANATEXCURSOR" val="290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3.967"/>
  <p:tag name="ORIGINALWIDTH" val=" 1972.254"/>
  <p:tag name="OUTPUTTYPE" val="PNG"/>
  <p:tag name="IGUANATEXVERSION" val="162"/>
  <p:tag name="LATEXADDIN" val="\documentclass{article}&#10;\usepackage{amsmath}&#10;\pagestyle{empty}&#10;\begin{document}&#10;&#10;$$\sigma(x) = \frac{1}{1 + e^{-x}}, \tanh(x) = \frac{e^x - e^{-x}}{e^x + e^{-x}}$$&#10;&#10;&#10;\end{document}"/>
  <p:tag name="IGUANATEXSIZE" val="20"/>
  <p:tag name="IGUANATEXCURSOR" val="117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2.55052"/>
  <p:tag name="ORIGINALWIDTH" val=" 91.91102"/>
  <p:tag name="OUTPUTTYPE" val="SVG"/>
  <p:tag name="IGUANATEXVERSION" val="162"/>
  <p:tag name="LATEXADDIN" val="\documentclass{article}&#10;\usepackage{amsmath}&#10;\pagestyle{empty}&#10;\begin{document}&#10;&#10;$$Var(w)=\frac{2}{n_{in}+n_{out}}$$&#10;&#10;&#10;\end{document}"/>
  <p:tag name="IGUANATEXSIZE" val="20"/>
  <p:tag name="IGUANATEXCURSOR" val="116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71.4661"/>
  <p:tag name="ORIGINALWIDTH" val=" 801.6498"/>
  <p:tag name="OUTPUTTYPE" val="PNG"/>
  <p:tag name="IGUANATEXVERSION" val="162"/>
  <p:tag name="LATEXADDIN" val="\documentclass{article}&#10;\usepackage{amsmath}&#10;\pagestyle{empty}&#10;\begin{document}&#10;&#10;$$Var(w_l) = \frac{2}{n_{in}}$$&#10;&#10;&#10;\end{document}"/>
  <p:tag name="IGUANATEXSIZE" val="20"/>
  <p:tag name="IGUANATEXCURSOR" val="83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274489"/>
  <p:tag name="ORIGINALWIDTH" val=" 7.12264"/>
  <p:tag name="LATEXADDIN" val="\documentclass{article}&#10;\usepackage{amsmath}&#10;\pagestyle{empty}&#10;\begin{document}&#10;&#10;$$Var(w)=\frac{2}{n_{in}+n_{out}}$$&#10;&#10;&#10;\end{document}"/>
  <p:tag name="IGUANATEXSIZE" val="20"/>
  <p:tag name="IGUANATEXCURSOR" val="116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1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74253"/>
  <p:tag name="ORIGINALWIDTH" val=" 4.575277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74253"/>
  <p:tag name="ORIGINALWIDTH" val=" 4.065789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31843"/>
  <p:tag name="ORIGINALWIDTH" val=" 2.317599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74253"/>
  <p:tag name="ORIGINALWIDTH" val=" 6.613152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0.31843"/>
  <p:tag name="ORIGINALWIDTH" val=" 2.317599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414489"/>
  <p:tag name="ORIGINALWIDTH" val=" 6.643151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72049"/>
  <p:tag name="ORIGINALWIDTH" val=" 3.985867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4126772"/>
  <p:tag name="ORIGINALWIDTH" val=" 44.64958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74253"/>
  <p:tag name="ORIGINALWIDTH" val=" 5.414411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860985"/>
  <p:tag name="ORIGINALWIDTH" val=" 2.11878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25752"/>
  <p:tag name="ORIGINALWIDTH" val=" 4.272561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72049"/>
  <p:tag name="ORIGINALWIDTH" val=" 6.643151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74253"/>
  <p:tag name="ORIGINALWIDTH" val=" 5.414411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25752"/>
  <p:tag name="ORIGINALWIDTH" val=" 3.279607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25752"/>
  <p:tag name="ORIGINALWIDTH" val=" 4.062797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86536"/>
  <p:tag name="ORIGINALWIDTH" val=" 2.363544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79.715"/>
  <p:tag name="ORIGINALWIDTH" val=" 1746.532"/>
  <p:tag name="OUTPUTTYPE" val="PNG"/>
  <p:tag name="IGUANATEXVERSION" val="162"/>
  <p:tag name="LATEXADDIN" val="\documentclass{article}&#10;\usepackage{amsmath}&#10;\pagestyle{empty}&#10;\begin{document}&#10;&#10;$$&#10;\hat{a}_{ni}=\frac{a_{ni}-\mu_i}{\sqrt{\sigma_i^2+\delta}}&#10;,&#10;\bar{a}_{ni}=\gamma_i \hat{a}_{ni}+\beta_i&#10;$$&#10;&#10;&#10;\end{document}"/>
  <p:tag name="IGUANATEXSIZE" val="24"/>
  <p:tag name="IGUANATEXCURSOR" val="144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79.715"/>
  <p:tag name="ORIGINALWIDTH" val=" 1754.031"/>
  <p:tag name="OUTPUTTYPE" val="PNG"/>
  <p:tag name="IGUANATEXVERSION" val="162"/>
  <p:tag name="LATEXADDIN" val="\documentclass{article}&#10;\usepackage{amsmath}&#10;\pagestyle{empty}&#10;\begin{document}&#10;&#10;$$&#10;\hat{a}_{ni}=\frac{a_{ni}-\mu_n}{\sqrt{\sigma_n^2+\delta}}&#10;,&#10;\bar{a}_{ni}=\gamma_i \hat{a}_{ni}+\beta_i&#10;$$&#10;&#10;&#10;\end{document}"/>
  <p:tag name="IGUANATEXSIZE" val="24"/>
  <p:tag name="IGUANATEXCURSOR" val="187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9.4563"/>
  <p:tag name="ORIGINALWIDTH" val=" 2275.966"/>
  <p:tag name="OUTPUTTYPE" val="PNG"/>
  <p:tag name="IGUANATEXVERSION" val="162"/>
  <p:tag name="LATEXADDIN" val="\documentclass{article}&#10;\usepackage{amsmath}&#10;\pagestyle{empty}&#10;\begin{document}&#10;&#10;$$\bar{v}_i=\frac{\partial f_k}{\partial v_i}=\sum_{j\in ch(i)}\frac{\partial f_k}{\partial v_j}\frac{\partial v_j}{\partial v_i}=\sum_{j\in ch(i)}\bar{v}_j\frac{\partial v_j}{\partial v_i}$$&#10;&#10;&#10;\end{document}"/>
  <p:tag name="IGUANATEXSIZE" val="24"/>
  <p:tag name="IGUANATEXCURSOR" val="162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9.2126"/>
  <p:tag name="ORIGINALWIDTH" val=" 1229.096"/>
  <p:tag name="OUTPUTTYPE" val="PNG"/>
  <p:tag name="IGUANATEXVERSION" val="162"/>
  <p:tag name="LATEXADDIN" val="\documentclass{article}&#10;\usepackage{amsmath}&#10;\pagestyle{empty}&#10;\begin{document}&#10;&#10;$$\mathbf{J}_{i, :} = \left[ \frac{\partial f_i}{\partial x_1}, \cdots, \frac{\partial f_i}{\partial x_D} \right]$$&#10;&#10;&#10;\end{document}"/>
  <p:tag name="IGUANATEXSIZE" val="20"/>
  <p:tag name="IGUANATEXCURSOR" val="196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9.4563"/>
  <p:tag name="ORIGINALWIDTH" val=" 2301.462"/>
  <p:tag name="OUTPUTTYPE" val="PNG"/>
  <p:tag name="IGUANATEXVERSION" val="162"/>
  <p:tag name="LATEXADDIN" val="\documentclass{article}&#10;\usepackage{amsmath}&#10;\pagestyle{empty}&#10;\begin{document}&#10;&#10;$$\dot{v}_i=\frac{\partial v_i}{\partial x_k}=\sum_{j\in pa(i)}\frac{\partial v_j}{\partial x_k}\frac{\partial v_i}{\partial v_j}=\sum_{j\in pa(i)}\dot{v}_j\frac{\partial v_i}{\partial v_j}$$&#10;&#10;&#10;\end{document}"/>
  <p:tag name="IGUANATEXSIZE" val="24"/>
  <p:tag name="IGUANATEXCURSOR" val="176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26.2092"/>
  <p:tag name="ORIGINALWIDTH" val=" 1313.836"/>
  <p:tag name="OUTPUTTYPE" val="PNG"/>
  <p:tag name="IGUANATEXVERSION" val="162"/>
  <p:tag name="LATEXADDIN" val="\documentclass{article}&#10;\usepackage{amsmath}&#10;\pagestyle{empty}&#10;\begin{document}&#10;&#10;$$\mathbf{J}_{:, i} = \left[ \frac{\partial f_1}{\partial x_i}, \cdots, \frac{\partial f_K}{\partial x_i} \right]^T$$&#10;&#10;&#10;\end{document}"/>
  <p:tag name="IGUANATEXSIZE" val="20"/>
  <p:tag name="IGUANATEXCURSOR" val="185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33"/>
  <p:tag name="LATEXFORMWIDTH" val=" 506.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161.605"/>
  <p:tag name="OUTPUTTYPE" val="PNG"/>
  <p:tag name="IGUANATEXVERSION" val="162"/>
  <p:tag name="LATEXADDIN" val="\documentclass{article}&#10;\usepackage{amsmath}&#10;\pagestyle{empty}&#10;\begin{document}&#10;&#10;$$h(a)=ln(1+exp(a))$$&#10;&#10;&#10;\end{document}"/>
  <p:tag name="IGUANATEXSIZE" val="20"/>
  <p:tag name="IGUANATEXCURSOR" val="100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685.4143"/>
  <p:tag name="ORIGINALWIDTH" val=" 2280.465"/>
  <p:tag name="OUTPUTTYPE" val="PNG"/>
  <p:tag name="IGUANATEXVERSION" val="162"/>
  <p:tag name="LATEXADDIN" val="\documentclass{article}&#10;\usepackage{amsmath}&#10;\pagestyle{empty}&#10;\begin{document}&#10;$$&#10;\frac{\partial J_n}{\partial w_{ji}}=\frac{J_n(w_{ji}+\epsilon)-J_n(w_{ji})}{\epsilon}+O(\epsilon)&#10;$$&#10;$$&#10;\frac{\partial J_n}{\partial w_{ji}}=\frac{J_n(w_{ji}+\epsilon)-J_n(w_{ji}-\epsilon)}{2\epsilon}+O(\epsilon^2)&#10;$$&#10;&#10;&#10;&#10;\end{document}"/>
  <p:tag name="IGUANATEXSIZE" val="24"/>
  <p:tag name="IGUANATEXCURSOR" val="301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52.7184"/>
  <p:tag name="ORIGINALWIDTH" val=" 4278.215"/>
  <p:tag name="OUTPUTTYPE" val="PNG"/>
  <p:tag name="IGUANATEXVERSION" val="162"/>
  <p:tag name="LATEXADDIN" val="\documentclass{article}&#10;\usepackage{amsmath}&#10;\pagestyle{empty}&#10;\begin{document}&#10;$$E(\textbf{w})\approx E(\textbf{w}^{(k)})+\nabla_{\textbf{w}}E(\textbf{w}^{(k)})(\textbf{w}-\textbf{w}^{(k)})+\frac{1}{2}(\textbf{w}-\textbf{w}^{(k)})^TH_E(\textbf{w}^{(k)})(\textbf{w}-\textbf{w}^{(k)})$$&#10;&#10;&#10;&#10;\end{document}"/>
  <p:tag name="IGUANATEXSIZE" val="24"/>
  <p:tag name="IGUANATEXCURSOR" val="285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8.4814"/>
  <p:tag name="ORIGINALWIDTH" val=" 2929.884"/>
  <p:tag name="OUTPUTTYPE" val="PNG"/>
  <p:tag name="IGUANATEXVERSION" val="162"/>
  <p:tag name="LATEXADDIN" val="\documentclass{article}&#10;\usepackage{amsmath}&#10;\pagestyle{empty}&#10;\begin{document}&#10;&#10;$$\textbf{w}^{(k+1)}=\textbf{w}^{(k)}-\eta\textbf{H}_E(\textbf{w}^{(k)})^{-1}\nabla_{\textbf{w}}E(w^{(k)})^T,\eta=1&lt;2$$&#10;&#10;&#10;\end{document}"/>
  <p:tag name="IGUANATEXSIZE" val="24"/>
  <p:tag name="IGUANATEXCURSOR" val="200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50.2062"/>
  <p:tag name="ORIGINALWIDTH" val=" 2277.465"/>
  <p:tag name="OUTPUTTYPE" val="PNG"/>
  <p:tag name="IGUANATEXVERSION" val="162"/>
  <p:tag name="LATEXADDIN" val="\documentclass{article}&#10;\usepackage{amsmath}&#10;\pagestyle{empty}&#10;\begin{document}&#10;&#10;$$w_i^{k+1}=w_i^k-\frac{\Delta w_i^{k-1}}{E'(w_i^{(k)})-E'(w_i^{k-1})}E'(w_i^k)$$&#10;&#10;&#10;\end{document}"/>
  <p:tag name="IGUANATEXSIZE" val="20"/>
  <p:tag name="IGUANATEXCURSOR" val="162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1.7323"/>
  <p:tag name="ORIGINALWIDTH" val=" 1067.117"/>
  <p:tag name="OUTPUTTYPE" val="PNG"/>
  <p:tag name="IGUANATEXVERSION" val="162"/>
  <p:tag name="LATEXADDIN" val="\documentclass{article}&#10;\usepackage{amsmath}&#10;\pagestyle{empty}&#10;\begin{document}&#10;&#10;$\mathbf{D}^{(k)} = \mathbf{H}_E(\mathbf{w}^{(k)})^{-1}$&#10;&#10;&#10;\end{document}"/>
  <p:tag name="IGUANATEXSIZE" val="20"/>
  <p:tag name="IGUANATEXCURSOR" val="136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24.222"/>
  <p:tag name="ORIGINALWIDTH" val=" 3798.275"/>
  <p:tag name="OUTPUTTYPE" val="PNG"/>
  <p:tag name="IGUANATEXVERSION" val="162"/>
  <p:tag name="LATEXADDIN" val="\documentclass{article}&#10;\usepackage{amsmath}&#10;\pagestyle{empty}&#10;\begin{document}&#10;&#10;$$\mathbf{D}^{(k+1)} = \left( \mathbf{I} - \rho_k \mathbf{s}^{(k)} (\mathbf{y}^{(k)})^T \right) \mathbf{D}^{(k)} \left( \mathbf{I} - \rho_k \mathbf{y}^{(k)} (\mathbf{s}^{(k)})^T \right) + \rho_k \mathbf{s}^{(k)} (\mathbf{s}^{(k)})^T$$&#10;&#10;&#10;&#10;\end{document}"/>
  <p:tag name="IGUANATEXSIZE" val="20"/>
  <p:tag name="IGUANATEXCURSOR" val="316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86.4642"/>
  <p:tag name="ORIGINALWIDTH" val=" 4215.223"/>
  <p:tag name="OUTPUTTYPE" val="PNG"/>
  <p:tag name="IGUANATEXVERSION" val="162"/>
  <p:tag name="LATEXADDIN" val="\documentclass{article}&#10;\usepackage{amsmath}&#10;\pagestyle{empty}&#10;\begin{document}&#10;&#10;$$\mathbf{y}^{(k)} = \nabla_{\mathbf{w}} E(\mathbf{w}^{(k+1)})^T - \nabla_{\mathbf{w}} E(\mathbf{w}^{(k)})^T,&#10;\mathbf{s}^{(k)} = \mathbf{w}^{(k+1)} - \mathbf{w}^{(k)},&#10;\rho_k = \frac{1}{(\mathbf{y}^{(k)})^T \mathbf{s}^{(k)}}$$&#10;&#10;&#10;\end{document}"/>
  <p:tag name="IGUANATEXSIZE" val="20"/>
  <p:tag name="IGUANATEXCURSOR" val="307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46.4567"/>
  <p:tag name="ORIGINALWIDTH" val=" 2148.481"/>
  <p:tag name="OUTPUTTYPE" val="PNG"/>
  <p:tag name="IGUANATEXVERSION" val="162"/>
  <p:tag name="LATEXADDIN" val="\documentclass{article}&#10;\usepackage{amsmath}&#10;\pagestyle{empty}&#10;\begin{document}&#10;&#10;$$\Delta w^{k+1} = -\frac{\eta_k}{2} \nabla E(w^k) + \underbrace{\sqrt{\eta_k} \cdot N(0, I)}_{\textbf{Gaussian Noise}}$$&#10;&#10;&#10;\end{document}"/>
  <p:tag name="IGUANATEXSIZE" val="24"/>
  <p:tag name="IGUANATEXCURSOR" val="96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4.7131"/>
  <p:tag name="ORIGINALWIDTH" val=" 1537.308"/>
  <p:tag name="OUTPUTTYPE" val="PNG"/>
  <p:tag name="IGUANATEXVERSION" val="162"/>
  <p:tag name="LATEXADDIN" val="\documentclass{article}&#10;\usepackage{amsmath}&#10;\pagestyle{empty}&#10;\begin{document}&#10;$$\lambda_l = \eta \times \frac{\| w_l \|}{\| \nabla E(w_l) \| + \beta \| w_l \|}$$&#10;&#10;&#10;&#10;\end{document}"/>
  <p:tag name="IGUANATEXSIZE" val="24"/>
  <p:tag name="IGUANATEXCURSOR" val="134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163.105"/>
  <p:tag name="OUTPUTTYPE" val="PNG"/>
  <p:tag name="IGUANATEXVERSION" val="162"/>
  <p:tag name="LATEXADDIN" val="\documentclass{article}&#10;\usepackage{amsmath}&#10;\pagestyle{empty}&#10;\begin{document}&#10;&#10;&#10;$$\Delta w_l = \eta \cdot \lambda_l \cdot \nabla E(w_l)$$&#10;&#10;\end{document}"/>
  <p:tag name="IGUANATEXSIZE" val="20"/>
  <p:tag name="IGUANATEXCURSOR" val="132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3.967"/>
  <p:tag name="ORIGINALWIDTH" val=" 1051.369"/>
  <p:tag name="OUTPUTTYPE" val="PNG"/>
  <p:tag name="IGUANATEXVERSION" val="162"/>
  <p:tag name="LATEXADDIN" val="\documentclass{article}&#10;\usepackage{amsmath}&#10;\pagestyle{empty}&#10;\begin{document}&#10;&#10;$$r_t = \frac{m_t}{\sqrt{v_t} + \epsilon} + \lambda w_t$$&#10;&#10;&#10;\end{document}"/>
  <p:tag name="IGUANATEXSIZE" val="20"/>
  <p:tag name="IGUANATEXCURSOR" val="136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4.7131"/>
  <p:tag name="ORIGINALWIDTH" val=" 550.4312"/>
  <p:tag name="OUTPUTTYPE" val="PNG"/>
  <p:tag name="IGUANATEXVERSION" val="162"/>
  <p:tag name="LATEXADDIN" val="\documentclass{article}&#10;\usepackage{amsmath}&#10;\pagestyle{empty}&#10;\begin{document}&#10;&#10;$$\phi_t = \frac{\| w_t \|}{\| r_t \|}$$&#10;&#10;&#10;\end{document}"/>
  <p:tag name="IGUANATEXSIZE" val="20"/>
  <p:tag name="IGUANATEXCURSOR" val="121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5.4856"/>
  <p:tag name="ORIGINALWIDTH" val=" 1160.855"/>
  <p:tag name="OUTPUTTYPE" val="PNG"/>
  <p:tag name="IGUANATEXVERSION" val="162"/>
  <p:tag name="LATEXADDIN" val="\documentclass{article}&#10;\usepackage{amsmath}&#10;\pagestyle{empty}&#10;\begin{document}&#10;&#10;$$w_{t+1} = w_t - \eta \cdot \phi_t \cdot r_t$$&#10;&#10;&#10;\end{document}"/>
  <p:tag name="IGUANATEXSIZE" val="20"/>
  <p:tag name="IGUANATEXCURSOR" val="128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4.7131"/>
  <p:tag name="ORIGINALWIDTH" val=" 1537.308"/>
  <p:tag name="OUTPUTTYPE" val="PNG"/>
  <p:tag name="IGUANATEXVERSION" val="162"/>
  <p:tag name="LATEXADDIN" val="\documentclass{article}&#10;\usepackage{amsmath}&#10;\pagestyle{empty}&#10;\begin{document}&#10;$$\lambda_l = \eta \times \frac{\| w_l \|}{\| \nabla E(w_l) \| + \beta \| w_l \|}$$&#10;&#10;&#10;&#10;\end{document}"/>
  <p:tag name="IGUANATEXSIZE" val="24"/>
  <p:tag name="IGUANATEXCURSOR" val="134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163.105"/>
  <p:tag name="OUTPUTTYPE" val="PNG"/>
  <p:tag name="IGUANATEXVERSION" val="162"/>
  <p:tag name="LATEXADDIN" val="\documentclass{article}&#10;\usepackage{amsmath}&#10;\pagestyle{empty}&#10;\begin{document}&#10;&#10;&#10;$$\Delta w_l = \eta \cdot \lambda_l \cdot \nabla E(w_l)$$&#10;&#10;\end{document}"/>
  <p:tag name="IGUANATEXSIZE" val="20"/>
  <p:tag name="IGUANATEXCURSOR" val="132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3.967"/>
  <p:tag name="ORIGINALWIDTH" val=" 1051.369"/>
  <p:tag name="OUTPUTTYPE" val="PNG"/>
  <p:tag name="IGUANATEXVERSION" val="162"/>
  <p:tag name="LATEXADDIN" val="\documentclass{article}&#10;\usepackage{amsmath}&#10;\pagestyle{empty}&#10;\begin{document}&#10;&#10;$$r_t = \frac{m_t}{\sqrt{v_t} + \epsilon} + \lambda w_t$$&#10;&#10;&#10;\end{document}"/>
  <p:tag name="IGUANATEXSIZE" val="20"/>
  <p:tag name="IGUANATEXCURSOR" val="136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94.7131"/>
  <p:tag name="ORIGINALWIDTH" val=" 550.4312"/>
  <p:tag name="OUTPUTTYPE" val="PNG"/>
  <p:tag name="IGUANATEXVERSION" val="162"/>
  <p:tag name="LATEXADDIN" val="\documentclass{article}&#10;\usepackage{amsmath}&#10;\pagestyle{empty}&#10;\begin{document}&#10;&#10;$$\phi_t = \frac{\| w_t \|}{\| r_t \|}$$&#10;&#10;&#10;\end{document}"/>
  <p:tag name="IGUANATEXSIZE" val="20"/>
  <p:tag name="IGUANATEXCURSOR" val="121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5.4856"/>
  <p:tag name="ORIGINALWIDTH" val=" 1160.855"/>
  <p:tag name="OUTPUTTYPE" val="PNG"/>
  <p:tag name="IGUANATEXVERSION" val="162"/>
  <p:tag name="LATEXADDIN" val="\documentclass{article}&#10;\usepackage{amsmath}&#10;\pagestyle{empty}&#10;\begin{document}&#10;&#10;$$w_{t+1} = w_t - \eta \cdot \phi_t \cdot r_t$$&#10;&#10;&#10;\end{document}"/>
  <p:tag name="IGUANATEXSIZE" val="20"/>
  <p:tag name="IGUANATEXCURSOR" val="128"/>
  <p:tag name="TRANSPARENCY" val="True"/>
  <p:tag name="CHOOSECOLOR" val="False"/>
  <p:tag name="COLORHEX" val="000000"/>
  <p:tag name="FILENAME" val=""/>
  <p:tag name="LATEXENGINEID" val="0"/>
  <p:tag name="TEMPFOLDER" val="E:\LguanaTex\"/>
  <p:tag name="LATEXFORMHEIGHT" val=" 320"/>
  <p:tag name="LATEXFORMWIDTH" val=" 385"/>
  <p:tag name="LATEXFORMWRAP" val="True"/>
  <p:tag name="BITMAPVECTOR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1639</Words>
  <Application>Microsoft Office PowerPoint</Application>
  <PresentationFormat>宽屏</PresentationFormat>
  <Paragraphs>324</Paragraphs>
  <Slides>27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微软雅黑</vt:lpstr>
      <vt:lpstr>造字工房朗倩（非商用）常规体</vt:lpstr>
      <vt:lpstr>Arial</vt:lpstr>
      <vt:lpstr>Bauhaus 93</vt:lpstr>
      <vt:lpstr>Calibri</vt:lpstr>
      <vt:lpstr>Cambria Math</vt:lpstr>
      <vt:lpstr>Times New Roman</vt:lpstr>
      <vt:lpstr>Wingdings</vt:lpstr>
      <vt:lpstr>2023国科大融媒体编辑部出品</vt:lpstr>
      <vt:lpstr>1_2023国科大融媒体编辑部出品</vt:lpstr>
      <vt:lpstr>PowerPoint 演示文稿</vt:lpstr>
      <vt:lpstr>PowerPoint 演示文稿</vt:lpstr>
      <vt:lpstr>5. 梯度消失/梯度爆炸</vt:lpstr>
      <vt:lpstr>PowerPoint 演示文稿</vt:lpstr>
      <vt:lpstr>PowerPoint 演示文稿</vt:lpstr>
      <vt:lpstr>PowerPoint 演示文稿</vt:lpstr>
      <vt:lpstr>PowerPoint 演示文稿</vt:lpstr>
      <vt:lpstr>6. 如何高效进行BP &amp; GD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感谢观看 Thank you for watching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极简风蓝色学术模板 Minimalism Blue Academic Template</dc:title>
  <dc:creator>supernova</dc:creator>
  <cp:lastModifiedBy>氏 高</cp:lastModifiedBy>
  <cp:revision>233</cp:revision>
  <dcterms:created xsi:type="dcterms:W3CDTF">2024-08-08T00:41:00Z</dcterms:created>
  <dcterms:modified xsi:type="dcterms:W3CDTF">2025-12-24T09:16:05Z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0A0D5C00FEC34F0492529B50DACF2A0D_12</vt:lpwstr>
  </property>
</Properties>
</file>