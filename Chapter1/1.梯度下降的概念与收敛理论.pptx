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83" r:id="rId3"/>
    <p:sldId id="280" r:id="rId4"/>
    <p:sldId id="281" r:id="rId5"/>
    <p:sldId id="278" r:id="rId6"/>
    <p:sldId id="287" r:id="rId7"/>
    <p:sldId id="267" r:id="rId8"/>
    <p:sldId id="285" r:id="rId9"/>
    <p:sldId id="286" r:id="rId10"/>
    <p:sldId id="284" r:id="rId11"/>
    <p:sldId id="288" r:id="rId12"/>
    <p:sldId id="289" r:id="rId13"/>
    <p:sldId id="290" r:id="rId14"/>
    <p:sldId id="291" r:id="rId15"/>
    <p:sldId id="292" r:id="rId16"/>
    <p:sldId id="293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 文杰" initials="刘" lastIdx="0" clrIdx="0"/>
  <p:cmAuthor id="2" name="灿聪 代" initials="灿代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0"/>
        <p:guide pos="2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17433" y="0"/>
            <a:ext cx="4011352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  <p:sp>
        <p:nvSpPr>
          <p:cNvPr id="3" name="圆角矩形 1"/>
          <p:cNvSpPr/>
          <p:nvPr/>
        </p:nvSpPr>
        <p:spPr>
          <a:xfrm>
            <a:off x="0" y="0"/>
            <a:ext cx="4215319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5683" y="1443841"/>
            <a:ext cx="4457718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第一部分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kern="0" dirty="0">
                <a:solidFill>
                  <a:schemeClr val="accent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第二部分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kern="0" dirty="0">
                <a:solidFill>
                  <a:schemeClr val="accent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第三部分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kern="0" dirty="0">
                <a:solidFill>
                  <a:schemeClr val="accent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第四部分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kern="0" dirty="0">
                <a:solidFill>
                  <a:schemeClr val="accent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第五部分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205140" y="2054375"/>
            <a:ext cx="387919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6" name="直接连接符 5"/>
          <p:cNvCxnSpPr/>
          <p:nvPr/>
        </p:nvCxnSpPr>
        <p:spPr>
          <a:xfrm>
            <a:off x="6205140" y="2953017"/>
            <a:ext cx="387919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7" name="直接连接符 6"/>
          <p:cNvCxnSpPr/>
          <p:nvPr/>
        </p:nvCxnSpPr>
        <p:spPr>
          <a:xfrm>
            <a:off x="6205140" y="3787602"/>
            <a:ext cx="387919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8" name="直接连接符 7"/>
          <p:cNvCxnSpPr/>
          <p:nvPr/>
        </p:nvCxnSpPr>
        <p:spPr>
          <a:xfrm>
            <a:off x="6205140" y="4634838"/>
            <a:ext cx="3764894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6205140" y="5598309"/>
            <a:ext cx="387919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grpSp>
        <p:nvGrpSpPr>
          <p:cNvPr id="10" name="组合 9"/>
          <p:cNvGrpSpPr/>
          <p:nvPr/>
        </p:nvGrpSpPr>
        <p:grpSpPr>
          <a:xfrm>
            <a:off x="1129767" y="2445677"/>
            <a:ext cx="1954525" cy="1966644"/>
            <a:chOff x="1074057" y="2518270"/>
            <a:chExt cx="1954627" cy="1966644"/>
          </a:xfrm>
        </p:grpSpPr>
        <p:sp>
          <p:nvSpPr>
            <p:cNvPr id="11" name="矩形 10"/>
            <p:cNvSpPr/>
            <p:nvPr/>
          </p:nvSpPr>
          <p:spPr>
            <a:xfrm>
              <a:off x="1074057" y="2518270"/>
              <a:ext cx="1349939" cy="19666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  <a:solidFill>
                  <a:srgbClr val="82318E"/>
                </a:solidFill>
                <a:ea typeface="阿里巴巴普惠体 R" panose="00020600040101010101" pitchFamily="18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85596" y="2891057"/>
              <a:ext cx="1843088" cy="1219701"/>
              <a:chOff x="1185596" y="2806967"/>
              <a:chExt cx="1843088" cy="1219701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1185596" y="2806967"/>
                <a:ext cx="1843088" cy="101473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阿里巴巴普惠体 B" panose="00020600040101010101" pitchFamily="18" charset="-122"/>
                    <a:ea typeface="阿里巴巴普惠体 B" panose="00020600040101010101" pitchFamily="18" charset="-122"/>
                  </a:rPr>
                  <a:t>目录</a:t>
                </a:r>
                <a:endPara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阿里巴巴普惠体 B" panose="00020600040101010101" pitchFamily="18" charset="-122"/>
                  <a:ea typeface="阿里巴巴普惠体 B" panose="00020600040101010101" pitchFamily="18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305170" y="3689483"/>
                <a:ext cx="1536282" cy="33718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阿里巴巴普惠体 R" panose="00020600040101010101" pitchFamily="18" charset="-122"/>
                    <a:ea typeface="阿里巴巴普惠体 R" panose="00020600040101010101" pitchFamily="18" charset="-122"/>
                  </a:rPr>
                  <a:t>CONTENTS</a:t>
                </a: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阿里巴巴普惠体 R" panose="00020600040101010101" pitchFamily="18" charset="-122"/>
                  <a:ea typeface="阿里巴巴普惠体 R" panose="00020600040101010101" pitchFamily="18" charset="-122"/>
                </a:endParaRPr>
              </a:p>
            </p:txBody>
          </p:sp>
        </p:grpSp>
      </p:grpSp>
      <p:sp>
        <p:nvSpPr>
          <p:cNvPr id="44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7705324" y="1466850"/>
            <a:ext cx="2379539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a typeface="阿里巴巴普惠体 R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编辑母版文本</a:t>
            </a:r>
            <a:endParaRPr lang="zh-CN" altLang="en-US" dirty="0"/>
          </a:p>
        </p:txBody>
      </p:sp>
      <p:sp>
        <p:nvSpPr>
          <p:cNvPr id="45" name="文本占位符 43"/>
          <p:cNvSpPr>
            <a:spLocks noGrp="1"/>
          </p:cNvSpPr>
          <p:nvPr>
            <p:ph type="body" sz="quarter" idx="11" hasCustomPrompt="1"/>
          </p:nvPr>
        </p:nvSpPr>
        <p:spPr>
          <a:xfrm>
            <a:off x="7705324" y="2319725"/>
            <a:ext cx="2379539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a typeface="阿里巴巴普惠体 R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编辑母版文本</a:t>
            </a:r>
            <a:endParaRPr lang="zh-CN" altLang="en-US" dirty="0"/>
          </a:p>
        </p:txBody>
      </p:sp>
      <p:sp>
        <p:nvSpPr>
          <p:cNvPr id="46" name="文本占位符 43"/>
          <p:cNvSpPr>
            <a:spLocks noGrp="1"/>
          </p:cNvSpPr>
          <p:nvPr>
            <p:ph type="body" sz="quarter" idx="12" hasCustomPrompt="1"/>
          </p:nvPr>
        </p:nvSpPr>
        <p:spPr>
          <a:xfrm>
            <a:off x="7705324" y="3185301"/>
            <a:ext cx="2379539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a typeface="阿里巴巴普惠体 R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编辑母版文本</a:t>
            </a:r>
            <a:endParaRPr lang="zh-CN" altLang="en-US" dirty="0"/>
          </a:p>
        </p:txBody>
      </p:sp>
      <p:sp>
        <p:nvSpPr>
          <p:cNvPr id="47" name="文本占位符 43"/>
          <p:cNvSpPr>
            <a:spLocks noGrp="1"/>
          </p:cNvSpPr>
          <p:nvPr>
            <p:ph type="body" sz="quarter" idx="13" hasCustomPrompt="1"/>
          </p:nvPr>
        </p:nvSpPr>
        <p:spPr>
          <a:xfrm>
            <a:off x="7705324" y="4039534"/>
            <a:ext cx="2379539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a typeface="阿里巴巴普惠体 R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编辑母版文本</a:t>
            </a:r>
            <a:endParaRPr lang="zh-CN" altLang="en-US" dirty="0"/>
          </a:p>
        </p:txBody>
      </p:sp>
      <p:sp>
        <p:nvSpPr>
          <p:cNvPr id="48" name="文本占位符 43"/>
          <p:cNvSpPr>
            <a:spLocks noGrp="1"/>
          </p:cNvSpPr>
          <p:nvPr>
            <p:ph type="body" sz="quarter" idx="14" hasCustomPrompt="1"/>
          </p:nvPr>
        </p:nvSpPr>
        <p:spPr>
          <a:xfrm>
            <a:off x="7705324" y="4876072"/>
            <a:ext cx="2379539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a typeface="阿里巴巴普惠体 R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编辑母版文本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image" Target="../media/image4.png"/><Relationship Id="rId4" Type="http://schemas.openxmlformats.org/officeDocument/2006/relationships/tags" Target="../tags/tag7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6" Type="http://schemas.openxmlformats.org/officeDocument/2006/relationships/image" Target="../media/image10.pn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4.png"/><Relationship Id="rId2" Type="http://schemas.openxmlformats.org/officeDocument/2006/relationships/tags" Target="../tags/tag7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4.png"/><Relationship Id="rId2" Type="http://schemas.openxmlformats.org/officeDocument/2006/relationships/tags" Target="../tags/tag8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4.png"/><Relationship Id="rId2" Type="http://schemas.openxmlformats.org/officeDocument/2006/relationships/tags" Target="../tags/tag85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image" Target="../media/image11.png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5.xml"/><Relationship Id="rId10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99.xml"/><Relationship Id="rId6" Type="http://schemas.openxmlformats.org/officeDocument/2006/relationships/image" Target="../media/image14.png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image" Target="../media/image4.png"/><Relationship Id="rId2" Type="http://schemas.openxmlformats.org/officeDocument/2006/relationships/tags" Target="../tags/tag96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3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4.png"/><Relationship Id="rId2" Type="http://schemas.openxmlformats.org/officeDocument/2006/relationships/tags" Target="../tags/tag100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7.xml"/><Relationship Id="rId6" Type="http://schemas.openxmlformats.org/officeDocument/2006/relationships/image" Target="../media/image17.png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image" Target="../media/image4.png"/><Relationship Id="rId2" Type="http://schemas.openxmlformats.org/officeDocument/2006/relationships/tags" Target="../tags/tag10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image" Target="../media/image4.png"/><Relationship Id="rId2" Type="http://schemas.openxmlformats.org/officeDocument/2006/relationships/tags" Target="../tags/tag108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1" descr="国科大标准Logo横式一（蓝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01590" y="1429385"/>
            <a:ext cx="11657330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spc="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Topic1 Gradient</a:t>
            </a:r>
            <a:endParaRPr lang="en-US" altLang="zh-CN" sz="1800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ctr"/>
            <a:endParaRPr lang="en-US" altLang="zh-CN" sz="1800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2840" y="397573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latin typeface="+mn-ea"/>
                <a:ea typeface="+mn-ea"/>
                <a:cs typeface="+mn-ea"/>
              </a:rPr>
              <a:t>成员</a:t>
            </a:r>
            <a:r>
              <a:rPr lang="en-US" altLang="zh-CN" sz="1800" dirty="0">
                <a:latin typeface="+mn-ea"/>
                <a:ea typeface="+mn-ea"/>
                <a:cs typeface="+mn-ea"/>
              </a:rPr>
              <a:t>       2025.12.24</a:t>
            </a:r>
            <a:endParaRPr lang="en-US" altLang="zh-CN" sz="1800" dirty="0">
              <a:latin typeface="+mn-ea"/>
              <a:ea typeface="+mn-ea"/>
              <a:cs typeface="+mn-ea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剪影居中蓝 低版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000" b="1">
                <a:solidFill>
                  <a:schemeClr val="tx1"/>
                </a:solidFill>
              </a:rPr>
              <a:t>梯度与梯度下降的概念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梯度下降的收敛理论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优化器：梯度下降的变体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如何选择合适的优化器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什么是反向传播？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  <a:sym typeface="+mn-ea"/>
              </a:rPr>
              <a:t>神经网络与大语言模型中的梯度下降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 + 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反向传播</a:t>
            </a:r>
            <a:endParaRPr lang="zh-CN" altLang="en-US" sz="2000" b="1">
              <a:solidFill>
                <a:schemeClr val="tx1"/>
              </a:solidFill>
            </a:endParaRPr>
          </a:p>
          <a:p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Autofit/>
          </a:bodyPr>
          <a:p>
            <a:r>
              <a:rPr lang="zh-CN" altLang="en-US" sz="2000" b="1">
                <a:solidFill>
                  <a:schemeClr val="tx1"/>
                </a:solidFill>
                <a:sym typeface="+mn-ea"/>
              </a:rPr>
              <a:t>神经网络中的梯度消失与梯度爆炸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  <a:sym typeface="+mn-ea"/>
              </a:rPr>
              <a:t>如何高效实现梯度下降与反向传播（例如用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 PyTorch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  <a:sym typeface="+mn-ea"/>
              </a:rPr>
              <a:t>反向模式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 vs 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前向模式自动微分：框架为何选择反向模式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  <a:sym typeface="+mn-ea"/>
              </a:rPr>
              <a:t>其他值得关注的特性与实用技巧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/>
            <a:r>
              <a:rPr lang="zh-CN" altLang="en-US" sz="2000" b="1" spc="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论文实例：从梯度更新角度缓解内存消耗</a:t>
            </a:r>
            <a:endParaRPr lang="zh-CN" altLang="en-US" sz="2000" b="1" spc="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zh-CN" altLang="en-US" sz="2000" b="1" spc="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梯度推导</a:t>
            </a:r>
            <a:endParaRPr lang="zh-CN" altLang="en-US" sz="2000" b="1" spc="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01694" y="201441"/>
            <a:ext cx="3185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图片 1" descr="国科大标准Logo横式一（蓝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54131" y="-67834"/>
            <a:ext cx="552450" cy="923330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zh-CN" altLang="en-US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590" y="1429385"/>
            <a:ext cx="11657330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spc="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Topic1 Gradient</a:t>
            </a:r>
            <a:endParaRPr lang="en-US" altLang="zh-CN" sz="1800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梯度与梯度下降的概念</a:t>
            </a:r>
            <a:br>
              <a:rPr lang="zh-CN" altLang="en-US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zh-CN" altLang="en-US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梯度下降的收敛理论</a:t>
            </a:r>
            <a:endParaRPr lang="zh-CN" altLang="en-US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ctr"/>
            <a:endParaRPr lang="en-US" altLang="zh-CN" sz="1800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2840" y="397573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latin typeface="+mn-ea"/>
                <a:ea typeface="+mn-ea"/>
                <a:cs typeface="+mn-ea"/>
              </a:rPr>
              <a:t>成员</a:t>
            </a:r>
            <a:r>
              <a:rPr lang="en-US" altLang="zh-CN" sz="1800" dirty="0">
                <a:latin typeface="+mn-ea"/>
                <a:ea typeface="+mn-ea"/>
                <a:cs typeface="+mn-ea"/>
              </a:rPr>
              <a:t>       2025.12.24</a:t>
            </a:r>
            <a:endParaRPr lang="en-US" altLang="zh-CN" sz="1800" dirty="0">
              <a:latin typeface="+mn-ea"/>
              <a:ea typeface="+mn-ea"/>
              <a:cs typeface="+mn-ea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154305" y="-43180"/>
            <a:ext cx="552450" cy="875030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48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48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6042" y="2198884"/>
            <a:ext cx="584956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梯度与梯度下降的概念</a:t>
            </a:r>
            <a:br>
              <a:rPr lang="zh-CN" altLang="en-US" sz="3200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zh-CN" altLang="en-US" sz="3200" spc="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梯度下降的收敛理论</a:t>
            </a:r>
            <a:endParaRPr lang="zh-CN" altLang="en-US" sz="3200" spc="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1001299" y="2521731"/>
            <a:ext cx="3185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图片 5" descr="剪影居中蓝 低版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 descr="国科大标准Logo横式一（蓝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p:transition advTm="5897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/>
        </p:nvSpPr>
        <p:spPr>
          <a:xfrm>
            <a:off x="831850" y="1709738"/>
            <a:ext cx="10361444" cy="1039947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4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marL="0" lvl="1"/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梯度与梯度下降的概念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/>
        </p:nvSpPr>
        <p:spPr>
          <a:xfrm>
            <a:off x="831850" y="2918299"/>
            <a:ext cx="10413324" cy="3171352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8235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从变化率到梯度的直观引入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梯度的定义与几何意义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梯度下降方法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4" name="图片 13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5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 1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736271"/>
            <a:ext cx="285742" cy="204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24" y="1650365"/>
            <a:ext cx="10604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一维情况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773" y="2219643"/>
            <a:ext cx="212090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考虑一元函数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f(x) = x²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773" y="2676843"/>
            <a:ext cx="179832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其导数为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f'(x) = 2x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773" y="3115628"/>
            <a:ext cx="6724650" cy="3505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1040"/>
              </a:spcBef>
              <a:spcAft>
                <a:spcPts val="0"/>
              </a:spcAft>
            </a:pP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导数描述了函数在当前位置的局部变化速率，即沿该方向移动时函数值变化的快慢。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778897"/>
            <a:ext cx="285742" cy="1574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24" y="3669664"/>
            <a:ext cx="10604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多维情况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773" y="4238943"/>
            <a:ext cx="273304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考虑二维函数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cs typeface="+mn-lt"/>
              </a:rPr>
              <a:t> f(x, y) = x² + y²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6773" y="4696143"/>
            <a:ext cx="314896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其偏导数为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cs typeface="+mn-lt"/>
              </a:rPr>
              <a:t>∂f/∂x = 2x，∂f/∂y = 2y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5327" y="5362892"/>
            <a:ext cx="10362940" cy="6426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引入梯度的必要性：在实际优化问题中，目标函数通常依赖多个变量，仅使用一维导数已无法完整描述函数的变化特性。为了统一描述</a:t>
            </a: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函数在各个方向上的变化情况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，引入</a:t>
            </a: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的概念。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6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梯度与梯度下降的概念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1.1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从变化率到梯度的直观引入</a:t>
            </a: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ransition advTm="5897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梯度与梯度下降的概念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.2 梯度的定义与几何意义</a:t>
            </a: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Picture 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9584" y="1838415"/>
            <a:ext cx="285742" cy="244928"/>
          </a:xfrm>
          <a:prstGeom prst="rect">
            <a:avLst/>
          </a:prstGeom>
        </p:spPr>
      </p:pic>
      <p:sp>
        <p:nvSpPr>
          <p:cNvPr id="18" name="TextBox 4"/>
          <p:cNvSpPr txBox="1"/>
          <p:nvPr/>
        </p:nvSpPr>
        <p:spPr>
          <a:xfrm>
            <a:off x="1009624" y="1772919"/>
            <a:ext cx="10604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梯度定义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4329910" y="2180272"/>
            <a:ext cx="368427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对于多变量函数 f(x)，其梯度定义为：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09584" y="3762465"/>
            <a:ext cx="285742" cy="244928"/>
          </a:xfrm>
          <a:prstGeom prst="rect">
            <a:avLst/>
          </a:prstGeom>
        </p:spPr>
      </p:pic>
      <p:sp>
        <p:nvSpPr>
          <p:cNvPr id="23" name="TextBox 9"/>
          <p:cNvSpPr txBox="1"/>
          <p:nvPr/>
        </p:nvSpPr>
        <p:spPr>
          <a:xfrm>
            <a:off x="1009624" y="3696970"/>
            <a:ext cx="17462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梯度的重要性质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1066773" y="4290059"/>
            <a:ext cx="39814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260"/>
              </a:spcBef>
              <a:spcAft>
                <a:spcPts val="0"/>
              </a:spcAft>
            </a:pPr>
            <a:r>
              <a:rPr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endParaRPr sz="2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1476338" y="4254182"/>
            <a:ext cx="33972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梯度方向表示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函数值上升最快的方向</a:t>
            </a:r>
            <a:endParaRPr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12"/>
          <p:cNvSpPr txBox="1"/>
          <p:nvPr/>
        </p:nvSpPr>
        <p:spPr>
          <a:xfrm>
            <a:off x="1066773" y="4861560"/>
            <a:ext cx="39814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260"/>
              </a:spcBef>
              <a:spcAft>
                <a:spcPts val="0"/>
              </a:spcAft>
            </a:pPr>
            <a:r>
              <a:rPr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endParaRPr sz="2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1476338" y="4825682"/>
            <a:ext cx="40068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梯度的模长表示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函数在该方向上的变化速率</a:t>
            </a:r>
            <a:endParaRPr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5"/>
          <p:cNvSpPr txBox="1"/>
          <p:nvPr/>
        </p:nvSpPr>
        <p:spPr>
          <a:xfrm>
            <a:off x="914377" y="5559107"/>
            <a:ext cx="73787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结论：梯度可以看作导数在多维空间中的自然推广，是优化算法中的核心工具。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065" y="2851150"/>
            <a:ext cx="4158615" cy="7029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 advTm="5897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梯度与梯度下降的概念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梯度下降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方法</a:t>
            </a: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9624" y="1688465"/>
            <a:ext cx="22606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梯度下降更新公式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773" y="2286318"/>
            <a:ext cx="189674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56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设目标函数为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J(θ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9624" y="3393440"/>
            <a:ext cx="13462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参数说明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4950" y="3955415"/>
            <a:ext cx="4591050" cy="3759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285750" indent="-28575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η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为学习率，用于控制每次参数更新的步长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4950" y="4488815"/>
            <a:ext cx="3750945" cy="3759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285750" indent="-28575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J(θ)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为目标函数（损失函数）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15"/>
          <p:cNvSpPr txBox="1"/>
          <p:nvPr/>
        </p:nvSpPr>
        <p:spPr>
          <a:xfrm>
            <a:off x="914400" y="5555615"/>
            <a:ext cx="7756525" cy="3759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目标：通过不断更新参数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θ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，直到损失函数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J(θ)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收敛到最小值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250" y="2679065"/>
            <a:ext cx="5215255" cy="7099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advTm="5897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/>
        </p:nvSpPr>
        <p:spPr>
          <a:xfrm>
            <a:off x="831850" y="1709738"/>
            <a:ext cx="10361444" cy="1039947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4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marL="0" lvl="1"/>
            <a:r>
              <a:rPr 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4400" dirty="0">
                <a:solidFill>
                  <a:schemeClr val="tx1"/>
                </a:solidFill>
                <a:sym typeface="+mn-ea"/>
              </a:rPr>
              <a:t>梯度下降的收敛理论</a:t>
            </a:r>
            <a:endParaRPr lang="zh-CN" altLang="en-US" sz="4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4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/>
        </p:nvSpPr>
        <p:spPr>
          <a:xfrm>
            <a:off x="831850" y="2918299"/>
            <a:ext cx="10413324" cy="3171352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8235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学习率的选择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函数的凸性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强凸函数与弱凸函数 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梯度下降的收敛速度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收敛的条件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梯度下降面临的主要困难</a:t>
            </a:r>
            <a:endParaRPr lang="zh-CN" altLang="en-US" sz="18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 algn="l" defTabSz="914400">
              <a:lnSpc>
                <a:spcPct val="130000"/>
              </a:lnSpc>
              <a:spcAft>
                <a:spcPts val="1000"/>
              </a:spcAft>
              <a:buClrTx/>
              <a:buSzTx/>
              <a:buAutoNum type="arabicPeriod"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4" name="图片 13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5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 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2.1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学习率的选择</a:t>
            </a: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TextBox 4"/>
          <p:cNvSpPr txBox="1"/>
          <p:nvPr/>
        </p:nvSpPr>
        <p:spPr>
          <a:xfrm>
            <a:off x="1009624" y="1878328"/>
            <a:ext cx="2025015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学习率 η 的重要性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16"/>
          <p:cNvSpPr txBox="1"/>
          <p:nvPr/>
        </p:nvSpPr>
        <p:spPr>
          <a:xfrm>
            <a:off x="1009624" y="4041140"/>
            <a:ext cx="19748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学习率的约束条件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18"/>
          <p:cNvSpPr txBox="1"/>
          <p:nvPr/>
        </p:nvSpPr>
        <p:spPr>
          <a:xfrm>
            <a:off x="2915765" y="4811712"/>
            <a:ext cx="1833880" cy="442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 &lt; η ≤ 2/L</a:t>
            </a:r>
            <a:endParaRPr sz="28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TextBox 21"/>
          <p:cNvSpPr txBox="1"/>
          <p:nvPr/>
        </p:nvSpPr>
        <p:spPr>
          <a:xfrm>
            <a:off x="1009618" y="5587683"/>
            <a:ext cx="6156325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L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为目标函数梯度的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Lipschitz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常数，定义为梯度的最大变化率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" name="表格 44"/>
          <p:cNvGraphicFramePr/>
          <p:nvPr>
            <p:custDataLst>
              <p:tags r:id="rId6"/>
            </p:custDataLst>
          </p:nvPr>
        </p:nvGraphicFramePr>
        <p:xfrm>
          <a:off x="1094740" y="2553335"/>
          <a:ext cx="4627880" cy="118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4950"/>
                <a:gridCol w="3122930"/>
              </a:tblGrid>
              <a:tr h="0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学习率情况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对应的影响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过大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算法可能发生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震荡</a:t>
                      </a: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甚至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发散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过小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收敛速度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较慢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p:transition advTm="5897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2.2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函数的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凸性</a:t>
            </a:r>
            <a:endParaRPr lang="zh-CN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Picture 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9584" y="1805836"/>
            <a:ext cx="285742" cy="169117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1009624" y="1702434"/>
            <a:ext cx="12890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凸函数定义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1066773" y="2443163"/>
            <a:ext cx="245745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对于凸函数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 f(θ)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，满足：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1"/>
          <p:cNvSpPr txBox="1"/>
          <p:nvPr>
            <p:custDataLst>
              <p:tags r:id="rId7"/>
            </p:custDataLst>
          </p:nvPr>
        </p:nvSpPr>
        <p:spPr>
          <a:xfrm>
            <a:off x="1181100" y="3859848"/>
            <a:ext cx="4995545" cy="5759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凸函数</a:t>
            </a: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梯度下降方法能够保证收敛到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全局最小值</a:t>
            </a:r>
            <a:endParaRPr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6"/>
          <p:cNvSpPr txBox="1"/>
          <p:nvPr>
            <p:custDataLst>
              <p:tags r:id="rId8"/>
            </p:custDataLst>
          </p:nvPr>
        </p:nvSpPr>
        <p:spPr>
          <a:xfrm>
            <a:off x="1181100" y="4436110"/>
            <a:ext cx="4914265" cy="3422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非凸函数</a:t>
            </a: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梯度下降可能会陷入局部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最小值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鞍点</a:t>
            </a:r>
            <a:endParaRPr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1" name="Picture 1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14377" y="5698490"/>
            <a:ext cx="228594" cy="194309"/>
          </a:xfrm>
          <a:prstGeom prst="rect">
            <a:avLst/>
          </a:prstGeom>
        </p:spPr>
      </p:pic>
      <p:sp>
        <p:nvSpPr>
          <p:cNvPr id="23" name="TextBox 20"/>
          <p:cNvSpPr txBox="1"/>
          <p:nvPr/>
        </p:nvSpPr>
        <p:spPr>
          <a:xfrm>
            <a:off x="1257268" y="5574348"/>
            <a:ext cx="53467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关键：对于一个凸函数，梯度下降会最终找到全局最小值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2960" y="2847975"/>
            <a:ext cx="9062720" cy="81915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 advTm="5897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2.3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强凸函数与弱凸函数</a:t>
            </a:r>
            <a:endParaRPr lang="zh-CN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9624" y="1612264"/>
            <a:ext cx="15176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强凸函数定义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565" y="2172017"/>
            <a:ext cx="589597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对于强凸函数（即损失函数的 Hessian 矩阵是正定的），满足：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1371565" y="3924617"/>
            <a:ext cx="116205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参数说明：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1371565" y="4307839"/>
            <a:ext cx="2463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14457" y="4319905"/>
            <a:ext cx="195961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μ 是函数的强凸常数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1371565" y="4688840"/>
            <a:ext cx="2463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1714500" y="4700905"/>
            <a:ext cx="2493645" cy="3422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θ* 是最优解（最小值点）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1181100" y="5246370"/>
            <a:ext cx="5322570" cy="5759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强凸函数</a:t>
            </a: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梯度下降可以保证收敛到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唯一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的最小值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2"/>
          <p:cNvSpPr txBox="1"/>
          <p:nvPr/>
        </p:nvSpPr>
        <p:spPr>
          <a:xfrm>
            <a:off x="1181100" y="5821998"/>
            <a:ext cx="5322570" cy="5759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弱凸函数</a:t>
            </a: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收敛性较难保证，可能存在</a:t>
            </a:r>
            <a:r>
              <a:rPr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多个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局部最小值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570" y="2663190"/>
            <a:ext cx="6909435" cy="8343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advTm="5897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2.4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梯度下降的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收敛速度</a:t>
            </a:r>
            <a:endParaRPr lang="zh-CN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9584" y="1766304"/>
            <a:ext cx="285742" cy="201191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1009624" y="1678940"/>
            <a:ext cx="151765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线性收敛公式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1066773" y="2095816"/>
            <a:ext cx="674306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Lipschitz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连续且凸的函数，梯度下降的收敛速度通常是线性收敛的：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1"/>
          <p:cNvSpPr txBox="1"/>
          <p:nvPr/>
        </p:nvSpPr>
        <p:spPr>
          <a:xfrm>
            <a:off x="1038195" y="3267392"/>
            <a:ext cx="95885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参数说明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2"/>
          <p:cNvSpPr txBox="1"/>
          <p:nvPr/>
        </p:nvSpPr>
        <p:spPr>
          <a:xfrm>
            <a:off x="733403" y="3669665"/>
            <a:ext cx="2463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1076325" y="3686175"/>
            <a:ext cx="4591050" cy="3422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α</a:t>
            </a: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是一个常数，取决于函数的 </a:t>
            </a: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Lipschitz </a:t>
            </a: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常数和学习率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733403" y="4050664"/>
            <a:ext cx="2463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5"/>
          <p:cNvSpPr txBox="1"/>
          <p:nvPr/>
        </p:nvSpPr>
        <p:spPr>
          <a:xfrm>
            <a:off x="1076294" y="4067493"/>
            <a:ext cx="113728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</a:t>
            </a: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是迭代次数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16"/>
          <p:cNvSpPr txBox="1"/>
          <p:nvPr/>
        </p:nvSpPr>
        <p:spPr>
          <a:xfrm>
            <a:off x="733403" y="4431665"/>
            <a:ext cx="2463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•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7"/>
          <p:cNvSpPr txBox="1"/>
          <p:nvPr/>
        </p:nvSpPr>
        <p:spPr>
          <a:xfrm>
            <a:off x="1076325" y="4448810"/>
            <a:ext cx="3860800" cy="3422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θ*</a:t>
            </a: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是最优解（全局最小值点）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1"/>
          <p:cNvSpPr txBox="1"/>
          <p:nvPr/>
        </p:nvSpPr>
        <p:spPr>
          <a:xfrm>
            <a:off x="978364" y="5025072"/>
            <a:ext cx="6242050" cy="5759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线性收敛含义</a:t>
            </a:r>
            <a:r>
              <a:rPr 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误差在每次迭代中按固定比例减少，直到误差足够小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978503" y="5688011"/>
            <a:ext cx="66040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收敛特性：对于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Lipschitz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连续且凸的函数，梯度下降会以线性速率收敛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1885" y="2462530"/>
            <a:ext cx="4873625" cy="75184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advTm="5897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2.5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收敛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的条件</a:t>
            </a:r>
            <a:endParaRPr lang="zh-CN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669" y="1682749"/>
            <a:ext cx="124968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凸性条件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2206625"/>
            <a:ext cx="5515610" cy="3759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若目标函数是凸函数，且学习率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η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被选择为合适的范围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897229" y="2634296"/>
            <a:ext cx="3096260" cy="3505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梯度下降能够保证收敛到全局最小值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1028528" y="3220084"/>
            <a:ext cx="1978025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Lipschitz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连续性</a:t>
            </a:r>
            <a:endParaRPr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14"/>
          <p:cNvSpPr txBox="1"/>
          <p:nvPr/>
        </p:nvSpPr>
        <p:spPr>
          <a:xfrm>
            <a:off x="1028700" y="3804920"/>
            <a:ext cx="7181850" cy="3759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如果梯度是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Lipschitz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连续的，即存在常数 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</a:t>
            </a: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，使得对于任意 θ₁ 和 θ₂，有：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706723" y="5459412"/>
            <a:ext cx="5346700" cy="375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收敛保证：满足上述条件时，梯度下降会以线性速率收敛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2775" y="4389755"/>
            <a:ext cx="4298315" cy="6769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advTm="5897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154297" y="-42999"/>
            <a:ext cx="552421" cy="874984"/>
          </a:xfrm>
          <a:prstGeom prst="rect">
            <a:avLst/>
          </a:prstGeom>
          <a:noFill/>
          <a:effectLst>
            <a:reflection blurRad="12700" stA="0" endPos="65000" dist="50800" dir="5400000" sy="-100000" algn="bl" rotWithShape="0"/>
          </a:effectLst>
        </p:spPr>
        <p:txBody>
          <a:bodyPr wrap="square" rtlCol="0">
            <a:noAutofit/>
          </a:bodyPr>
          <a:p>
            <a:r>
              <a:rPr lang="en-US" altLang="zh-CN" sz="5400" b="1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5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40" y="2597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从变化率到梯度的直观引入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5" name="图片 14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梯度下降的收敛理论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l" fontAlgn="auto"/>
            <a:fld id="{49AE70B2-8BF9-45C0-BB95-33D1B9D3A854}" type="slidenum">
              <a:rPr lang="zh-CN" altLang="en-US" sz="1800" strike="noStrike" noProof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fld>
            <a:endParaRPr lang="zh-CN" altLang="en-US" sz="1800" strike="noStrike" noProof="1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6755" y="87058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457200" algn="l" defTabSz="914400" fontAlgn="base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2.6</a:t>
            </a:r>
            <a:r>
              <a:rPr lang="zh-CN" altLang="en-US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梯度下降面临的主要困难</a:t>
            </a:r>
            <a:endParaRPr lang="zh-CN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Box 20"/>
          <p:cNvSpPr txBox="1"/>
          <p:nvPr/>
        </p:nvSpPr>
        <p:spPr>
          <a:xfrm>
            <a:off x="609600" y="5116195"/>
            <a:ext cx="10393680" cy="6426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解决方案：上述问题促使研究者提出了多种梯度下降的变体，即优化算法（如 Momentum、AdaGrad、RMSprop、Adam 等） 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6"/>
            </p:custDataLst>
          </p:nvPr>
        </p:nvGraphicFramePr>
        <p:xfrm>
          <a:off x="2347595" y="1834515"/>
          <a:ext cx="7075805" cy="25679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80820"/>
                <a:gridCol w="5594985"/>
              </a:tblGrid>
              <a:tr h="641985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问题类型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核心表现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  <a:tr h="641985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局部最小值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算法可能停留在局部最优解而非全局最优解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  <a:tr h="641985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平原区域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梯度接近零，参数更新缓慢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  <a:tr h="641985"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鞍点问题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168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在高维空间中鞍点普遍存在</a:t>
                      </a:r>
                      <a:endParaRPr lang="zh-CN" altLang="en-US" sz="18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477" marR="137477" marT="91757" marB="91757"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p:transition advTm="58970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MH_OLD_SHAPE_ID" val="22"/>
  <p:tag name="REFSHAPE" val="105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TABLE_ENDDRAG_ORIGIN_RECT" val="364*110"/>
  <p:tag name="TABLE_ENDDRAG_RECT" val="87*120*364*110"/>
</p:tagLst>
</file>

<file path=ppt/tags/tag8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DIAGRAM_VIRTUALLY_FRAME" val="{&quot;height&quot;:90.74992125984254,&quot;left&quot;:47.99874015748031,&quot;top&quot;:314.2499212598425,&quot;width&quot;:863.978346456693}"/>
</p:tagLst>
</file>

<file path=ppt/tags/tag94.xml><?xml version="1.0" encoding="utf-8"?>
<p:tagLst xmlns:p="http://schemas.openxmlformats.org/presentationml/2006/main">
  <p:tag name="KSO_WM_DIAGRAM_VIRTUALLY_FRAME" val="{&quot;height&quot;:90.74992125984254,&quot;left&quot;:47.99874015748031,&quot;top&quot;:314.2499212598425,&quot;width&quot;:863.978346456693}"/>
</p:tagLst>
</file>

<file path=ppt/tags/tag9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TABLE_ENDDRAG_ORIGIN_RECT" val="557*124"/>
  <p:tag name="TABLE_ENDDRAG_RECT" val="62*153*557*124"/>
</p:tagLst>
</file>

<file path=ppt/tags/tag11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WPS 演示</Application>
  <PresentationFormat>On-screen Show (4:3)</PresentationFormat>
  <Paragraphs>338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阿里巴巴普惠体 R</vt:lpstr>
      <vt:lpstr>阿里巴巴普惠体 B</vt:lpstr>
      <vt:lpstr>Times New Roman</vt:lpstr>
      <vt:lpstr>微软雅黑</vt:lpstr>
      <vt:lpstr>Bauhaus 93</vt:lpstr>
      <vt:lpstr>Gabriola</vt:lpstr>
      <vt:lpstr>造字工房朗倩（非商用）常规体</vt:lpstr>
      <vt:lpstr>Arial Unicode MS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小乔</cp:lastModifiedBy>
  <cp:revision>12</cp:revision>
  <dcterms:created xsi:type="dcterms:W3CDTF">2013-01-27T09:14:00Z</dcterms:created>
  <dcterms:modified xsi:type="dcterms:W3CDTF">2025-12-25T09:17:43Z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519C01F789384FD39CBD30AAC4094AEF_13</vt:lpwstr>
  </property>
</Properties>
</file>