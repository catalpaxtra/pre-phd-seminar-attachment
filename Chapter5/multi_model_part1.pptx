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60" r:id="rId4"/>
    <p:sldId id="265" r:id="rId6"/>
    <p:sldId id="263" r:id="rId7"/>
    <p:sldId id="266" r:id="rId8"/>
    <p:sldId id="267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7" userDrawn="1">
          <p15:clr>
            <a:srgbClr val="A4A3A4"/>
          </p15:clr>
        </p15:guide>
        <p15:guide id="2" pos="38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E349"/>
    <a:srgbClr val="FAEB44"/>
    <a:srgbClr val="FAF844"/>
    <a:srgbClr val="FED961"/>
    <a:srgbClr val="FFFFFF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97"/>
        <p:guide pos="38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png"/><Relationship Id="rId7" Type="http://schemas.openxmlformats.org/officeDocument/2006/relationships/image" Target="../media/image5.png"/><Relationship Id="rId6" Type="http://schemas.openxmlformats.org/officeDocument/2006/relationships/image" Target="../media/image4.png"/><Relationship Id="rId5" Type="http://schemas.openxmlformats.org/officeDocument/2006/relationships/tags" Target="../tags/tag70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71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6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914400"/>
            <a:ext cx="9799320" cy="2040890"/>
          </a:xfrm>
        </p:spPr>
        <p:txBody>
          <a:bodyPr/>
          <a:p>
            <a:r>
              <a:rPr lang="en-US" altLang="zh-CN" sz="5400"/>
              <a:t>Multimodal Transformer</a:t>
            </a:r>
            <a:r>
              <a:rPr lang="en-US" altLang="zh-CN" sz="5400"/>
              <a:t>s</a:t>
            </a:r>
            <a:endParaRPr lang="en-US" altLang="zh-CN" sz="54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025445" y="3825830"/>
            <a:ext cx="9799200" cy="1472400"/>
          </a:xfrm>
        </p:spPr>
        <p:txBody>
          <a:bodyPr/>
          <a:p>
            <a:r>
              <a:rPr lang="zh-CN" altLang="en-US" sz="2000"/>
              <a:t>陈依扬</a:t>
            </a:r>
            <a:endParaRPr lang="zh-CN" altLang="en-US" sz="2000"/>
          </a:p>
          <a:p>
            <a:r>
              <a:rPr lang="en-US" altLang="zh-CN" sz="2000"/>
              <a:t>2026.02.02</a:t>
            </a:r>
            <a:endParaRPr lang="en-US" altLang="zh-CN" sz="200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673860"/>
            <a:ext cx="11335385" cy="3726815"/>
          </a:xfrm>
        </p:spPr>
        <p:txBody>
          <a:bodyPr>
            <a:normAutofit/>
          </a:bodyPr>
          <a:p>
            <a:pPr>
              <a:lnSpc>
                <a:spcPct val="200000"/>
              </a:lnSpc>
            </a:pPr>
            <a:r>
              <a:rPr lang="en-US" altLang="zh-CN" sz="2400">
                <a:solidFill>
                  <a:schemeClr val="tx1"/>
                </a:solidFill>
              </a:rPr>
              <a:t> Vision and language transformers  </a:t>
            </a:r>
            <a:endParaRPr lang="en-US" altLang="zh-CN" sz="240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</a:pPr>
            <a:r>
              <a:rPr lang="en-US" altLang="zh-CN" sz="2400">
                <a:solidFill>
                  <a:schemeClr val="tx1"/>
                </a:solidFill>
              </a:rPr>
              <a:t> Generative image transformers </a:t>
            </a:r>
            <a:endParaRPr lang="en-US" altLang="zh-CN" sz="24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rcRect l="777" t="9399" r="50432" b="3373"/>
          <a:stretch>
            <a:fillRect/>
          </a:stretch>
        </p:blipFill>
        <p:spPr>
          <a:xfrm>
            <a:off x="901700" y="106045"/>
            <a:ext cx="2497455" cy="1552575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3616325" y="661670"/>
            <a:ext cx="815340" cy="52133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/>
              <a:t>CLIP</a:t>
            </a:r>
            <a:endParaRPr lang="en-US" altLang="zh-CN" sz="1200"/>
          </a:p>
        </p:txBody>
      </p:sp>
      <p:sp>
        <p:nvSpPr>
          <p:cNvPr id="9" name="上箭头 8"/>
          <p:cNvSpPr/>
          <p:nvPr/>
        </p:nvSpPr>
        <p:spPr>
          <a:xfrm rot="10800000">
            <a:off x="3799205" y="1138555"/>
            <a:ext cx="438785" cy="861060"/>
          </a:xfrm>
          <a:prstGeom prst="upArrow">
            <a:avLst>
              <a:gd name="adj1" fmla="val 44836"/>
              <a:gd name="adj2" fmla="val 57385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/>
          </a:p>
        </p:txBody>
      </p:sp>
      <p:sp>
        <p:nvSpPr>
          <p:cNvPr id="12" name="椭圆 11"/>
          <p:cNvSpPr/>
          <p:nvPr/>
        </p:nvSpPr>
        <p:spPr>
          <a:xfrm>
            <a:off x="3611245" y="1999615"/>
            <a:ext cx="815340" cy="52133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/>
              <a:t>BLIP</a:t>
            </a:r>
            <a:endParaRPr lang="en-US" altLang="zh-CN" sz="120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90" y="1713865"/>
            <a:ext cx="2818130" cy="1148080"/>
          </a:xfrm>
          <a:prstGeom prst="rect">
            <a:avLst/>
          </a:prstGeom>
        </p:spPr>
      </p:pic>
      <p:sp>
        <p:nvSpPr>
          <p:cNvPr id="14" name="上箭头 13"/>
          <p:cNvSpPr/>
          <p:nvPr/>
        </p:nvSpPr>
        <p:spPr>
          <a:xfrm rot="10800000">
            <a:off x="3799205" y="2476500"/>
            <a:ext cx="438785" cy="1052830"/>
          </a:xfrm>
          <a:prstGeom prst="upArrow">
            <a:avLst>
              <a:gd name="adj1" fmla="val 44836"/>
              <a:gd name="adj2" fmla="val 57385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/>
          </a:p>
        </p:txBody>
      </p:sp>
      <p:sp>
        <p:nvSpPr>
          <p:cNvPr id="16" name="上箭头 15"/>
          <p:cNvSpPr/>
          <p:nvPr/>
        </p:nvSpPr>
        <p:spPr>
          <a:xfrm rot="10800000">
            <a:off x="3799205" y="4006215"/>
            <a:ext cx="438785" cy="1082040"/>
          </a:xfrm>
          <a:prstGeom prst="upArrow">
            <a:avLst>
              <a:gd name="adj1" fmla="val 44836"/>
              <a:gd name="adj2" fmla="val 57385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/>
          </a:p>
        </p:txBody>
      </p:sp>
      <p:sp>
        <p:nvSpPr>
          <p:cNvPr id="17" name="椭圆 16"/>
          <p:cNvSpPr/>
          <p:nvPr/>
        </p:nvSpPr>
        <p:spPr>
          <a:xfrm>
            <a:off x="3478530" y="5088255"/>
            <a:ext cx="1118235" cy="52133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/>
              <a:t>BLIP-2</a:t>
            </a:r>
            <a:endParaRPr lang="en-US" altLang="zh-CN" sz="120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" y="3029585"/>
            <a:ext cx="2980690" cy="1350010"/>
          </a:xfrm>
          <a:prstGeom prst="rect">
            <a:avLst/>
          </a:prstGeom>
        </p:spPr>
      </p:pic>
      <p:sp>
        <p:nvSpPr>
          <p:cNvPr id="15" name="椭圆 14"/>
          <p:cNvSpPr/>
          <p:nvPr/>
        </p:nvSpPr>
        <p:spPr>
          <a:xfrm>
            <a:off x="3427095" y="3529330"/>
            <a:ext cx="1169035" cy="52133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/>
              <a:t>Flamingo</a:t>
            </a:r>
            <a:endParaRPr lang="en-US" altLang="zh-CN" sz="1200"/>
          </a:p>
        </p:txBody>
      </p:sp>
      <p:pic>
        <p:nvPicPr>
          <p:cNvPr id="20" name="内容占位符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81025" y="4425950"/>
            <a:ext cx="2818130" cy="132397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7"/>
          <a:srcRect r="39558"/>
          <a:stretch>
            <a:fillRect/>
          </a:stretch>
        </p:blipFill>
        <p:spPr>
          <a:xfrm>
            <a:off x="613410" y="5749925"/>
            <a:ext cx="2734310" cy="969010"/>
          </a:xfrm>
          <a:prstGeom prst="rect">
            <a:avLst/>
          </a:prstGeom>
        </p:spPr>
      </p:pic>
      <p:sp>
        <p:nvSpPr>
          <p:cNvPr id="77" name="圆角矩形 76"/>
          <p:cNvSpPr/>
          <p:nvPr/>
        </p:nvSpPr>
        <p:spPr>
          <a:xfrm>
            <a:off x="434975" y="106045"/>
            <a:ext cx="2964180" cy="1525905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bg2">
                <a:lumMod val="50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圆角矩形 77"/>
          <p:cNvSpPr/>
          <p:nvPr/>
        </p:nvSpPr>
        <p:spPr>
          <a:xfrm>
            <a:off x="434975" y="1631950"/>
            <a:ext cx="2964180" cy="1379855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bg2">
                <a:lumMod val="50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圆角矩形 78"/>
          <p:cNvSpPr/>
          <p:nvPr/>
        </p:nvSpPr>
        <p:spPr>
          <a:xfrm>
            <a:off x="434975" y="3011805"/>
            <a:ext cx="2964180" cy="1451610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bg2">
                <a:lumMod val="50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圆角矩形 79"/>
          <p:cNvSpPr/>
          <p:nvPr/>
        </p:nvSpPr>
        <p:spPr>
          <a:xfrm>
            <a:off x="434975" y="4463415"/>
            <a:ext cx="2980055" cy="2254885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bg2">
                <a:lumMod val="50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4150" y="1713230"/>
            <a:ext cx="5488940" cy="3867150"/>
          </a:xfrm>
          <a:prstGeom prst="rect">
            <a:avLst/>
          </a:prstGeom>
        </p:spPr>
      </p:pic>
      <p:sp>
        <p:nvSpPr>
          <p:cNvPr id="18" name="下弧形箭头 17"/>
          <p:cNvSpPr/>
          <p:nvPr/>
        </p:nvSpPr>
        <p:spPr>
          <a:xfrm>
            <a:off x="3960495" y="5580380"/>
            <a:ext cx="5377180" cy="1010920"/>
          </a:xfrm>
          <a:prstGeom prst="curvedUpArrow">
            <a:avLst>
              <a:gd name="adj1" fmla="val 25000"/>
              <a:gd name="adj2" fmla="val 61641"/>
              <a:gd name="adj3" fmla="val 25000"/>
            </a:avLst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670040" y="201295"/>
            <a:ext cx="52177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sym typeface="+mn-ea"/>
              </a:rPr>
              <a:t>Vision and language transformers</a:t>
            </a:r>
            <a:endParaRPr lang="en-US" altLang="zh-CN" sz="2400">
              <a:sym typeface="+mn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622165" y="1757680"/>
            <a:ext cx="15868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1200"/>
              <a:t>Contrastive loss</a:t>
            </a:r>
            <a:endParaRPr lang="en-US" altLang="zh-CN" sz="1200"/>
          </a:p>
          <a:p>
            <a:pPr>
              <a:lnSpc>
                <a:spcPct val="150000"/>
              </a:lnSpc>
            </a:pPr>
            <a:r>
              <a:rPr lang="en-US" altLang="zh-CN" sz="1200"/>
              <a:t>BCE loss</a:t>
            </a:r>
            <a:endParaRPr lang="en-US" altLang="zh-CN" sz="1200"/>
          </a:p>
          <a:p>
            <a:pPr>
              <a:lnSpc>
                <a:spcPct val="150000"/>
              </a:lnSpc>
            </a:pPr>
            <a:r>
              <a:rPr lang="en-US" altLang="zh-CN" sz="1200"/>
              <a:t>LM loss</a:t>
            </a:r>
            <a:endParaRPr lang="en-US" altLang="zh-CN" sz="1200"/>
          </a:p>
        </p:txBody>
      </p:sp>
      <p:sp>
        <p:nvSpPr>
          <p:cNvPr id="28" name="左大括号 27"/>
          <p:cNvSpPr/>
          <p:nvPr/>
        </p:nvSpPr>
        <p:spPr>
          <a:xfrm>
            <a:off x="4515485" y="1911350"/>
            <a:ext cx="127000" cy="711200"/>
          </a:xfrm>
          <a:prstGeom prst="leftBrac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4648835" y="527685"/>
            <a:ext cx="20237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1200"/>
              <a:t>图文对</a:t>
            </a:r>
            <a:endParaRPr lang="zh-CN" altLang="en-US" sz="1200"/>
          </a:p>
          <a:p>
            <a:pPr>
              <a:lnSpc>
                <a:spcPct val="150000"/>
              </a:lnSpc>
            </a:pPr>
            <a:r>
              <a:rPr lang="zh-CN" altLang="en-US" sz="1200"/>
              <a:t>对比学习</a:t>
            </a:r>
            <a:endParaRPr lang="zh-CN" altLang="en-US" sz="1200"/>
          </a:p>
          <a:p>
            <a:pPr>
              <a:lnSpc>
                <a:spcPct val="150000"/>
              </a:lnSpc>
            </a:pPr>
            <a:r>
              <a:rPr lang="zh-CN" altLang="en-US" sz="1200"/>
              <a:t>强大的零样本学习能力</a:t>
            </a:r>
            <a:endParaRPr lang="zh-CN" altLang="en-US" sz="1200"/>
          </a:p>
        </p:txBody>
      </p:sp>
      <p:sp>
        <p:nvSpPr>
          <p:cNvPr id="31" name="左大括号 30"/>
          <p:cNvSpPr/>
          <p:nvPr/>
        </p:nvSpPr>
        <p:spPr>
          <a:xfrm>
            <a:off x="4554855" y="674370"/>
            <a:ext cx="83820" cy="666750"/>
          </a:xfrm>
          <a:prstGeom prst="leftBrac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4753610" y="3475355"/>
            <a:ext cx="18561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1200"/>
              <a:t>图文交错</a:t>
            </a:r>
            <a:r>
              <a:rPr lang="zh-CN" altLang="en-US" sz="1200"/>
              <a:t>数据</a:t>
            </a:r>
            <a:endParaRPr lang="zh-CN" altLang="en-US" sz="1200"/>
          </a:p>
          <a:p>
            <a:pPr>
              <a:lnSpc>
                <a:spcPct val="150000"/>
              </a:lnSpc>
            </a:pPr>
            <a:r>
              <a:rPr lang="zh-CN" altLang="en-US" sz="1200"/>
              <a:t>强大的</a:t>
            </a:r>
            <a:r>
              <a:rPr lang="zh-CN" altLang="en-US" sz="1200"/>
              <a:t>少样本学习能力</a:t>
            </a:r>
            <a:endParaRPr lang="zh-CN" altLang="en-US" sz="1200"/>
          </a:p>
        </p:txBody>
      </p:sp>
      <p:sp>
        <p:nvSpPr>
          <p:cNvPr id="35" name="左大括号 34"/>
          <p:cNvSpPr/>
          <p:nvPr/>
        </p:nvSpPr>
        <p:spPr>
          <a:xfrm>
            <a:off x="4669790" y="3545205"/>
            <a:ext cx="104775" cy="575945"/>
          </a:xfrm>
          <a:prstGeom prst="leftBrac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9">
            <a:lum contrast="6000"/>
          </a:blip>
          <a:stretch>
            <a:fillRect/>
          </a:stretch>
        </p:blipFill>
        <p:spPr>
          <a:xfrm>
            <a:off x="4835525" y="4736465"/>
            <a:ext cx="4069080" cy="1194435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18" grpId="1" animBg="1"/>
      <p:bldP spid="80" grpId="0" bldLvl="0" animBg="1"/>
      <p:bldP spid="80" grpId="1" animBg="1"/>
      <p:bldP spid="17" grpId="0" bldLvl="0" animBg="1"/>
      <p:bldP spid="17" grpId="1" animBg="1"/>
      <p:bldP spid="15" grpId="0" bldLvl="0" animBg="1"/>
      <p:bldP spid="79" grpId="0" bldLvl="0" animBg="1"/>
      <p:bldP spid="15" grpId="1" animBg="1"/>
      <p:bldP spid="79" grpId="1" animBg="1"/>
      <p:bldP spid="16" grpId="0" bldLvl="0" animBg="1"/>
      <p:bldP spid="16" grpId="1" animBg="1"/>
      <p:bldP spid="14" grpId="0" bldLvl="0" animBg="1"/>
      <p:bldP spid="14" grpId="1" animBg="1"/>
      <p:bldP spid="12" grpId="0" bldLvl="0" animBg="1"/>
      <p:bldP spid="78" grpId="0" bldLvl="0" animBg="1"/>
      <p:bldP spid="12" grpId="1" animBg="1"/>
      <p:bldP spid="78" grpId="1" animBg="1"/>
      <p:bldP spid="9" grpId="0" bldLvl="0" animBg="1"/>
      <p:bldP spid="9" grpId="1" animBg="1"/>
      <p:bldP spid="25" grpId="0"/>
      <p:bldP spid="28" grpId="0" bldLvl="0" animBg="1"/>
      <p:bldP spid="25" grpId="1"/>
      <p:bldP spid="28" grpId="1" animBg="1"/>
      <p:bldP spid="30" grpId="1"/>
      <p:bldP spid="31" grpId="1" animBg="1"/>
      <p:bldP spid="32" grpId="0"/>
      <p:bldP spid="35" grpId="0" animBg="1"/>
      <p:bldP spid="32" grpId="1"/>
      <p:bldP spid="35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308045"/>
            <a:ext cx="10969200" cy="705600"/>
          </a:xfrm>
        </p:spPr>
        <p:txBody>
          <a:bodyPr/>
          <a:p>
            <a:r>
              <a:rPr lang="en-US" altLang="zh-CN" sz="2800">
                <a:sym typeface="+mn-ea"/>
              </a:rPr>
              <a:t>Generative image transformers</a:t>
            </a:r>
            <a:endParaRPr lang="en-US" altLang="zh-CN" sz="280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83895" y="1099185"/>
            <a:ext cx="10968990" cy="5648960"/>
          </a:xfrm>
        </p:spPr>
        <p:txBody>
          <a:bodyPr>
            <a:noAutofit/>
          </a:bodyPr>
          <a:p>
            <a:pPr lvl="0">
              <a:lnSpc>
                <a:spcPct val="150000"/>
              </a:lnSpc>
              <a:spcAft>
                <a:spcPct val="0"/>
              </a:spcAft>
            </a:pPr>
            <a:r>
              <a:rPr lang="zh-CN" altLang="en-US"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图像生成模型</a:t>
            </a:r>
            <a:endParaRPr lang="zh-CN" altLang="en-US" sz="16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  <a:spcAft>
                <a:spcPct val="0"/>
              </a:spcAft>
            </a:pP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Pixel-level：iGPT</a:t>
            </a:r>
            <a:endParaRPr lang="en-US" altLang="zh-CN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2">
              <a:lnSpc>
                <a:spcPct val="150000"/>
              </a:lnSpc>
              <a:spcAft>
                <a:spcPct val="0"/>
              </a:spcAft>
            </a:pP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图像数据的自回归预测</a:t>
            </a:r>
            <a:endParaRPr lang="en-US" altLang="zh-CN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2">
              <a:lnSpc>
                <a:spcPct val="150000"/>
              </a:lnSpc>
              <a:spcAft>
                <a:spcPct val="0"/>
              </a:spcAft>
            </a:pP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没有加入位置编码，默认光栅扫描顺序</a:t>
            </a:r>
            <a:endParaRPr lang="en-US" altLang="zh-CN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2">
              <a:lnSpc>
                <a:spcPct val="150000"/>
              </a:lnSpc>
              <a:spcAft>
                <a:spcPct val="0"/>
              </a:spcAft>
            </a:pP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适用低分辨率图片</a:t>
            </a:r>
            <a:endParaRPr lang="en-US" altLang="zh-CN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1">
              <a:lnSpc>
                <a:spcPct val="150000"/>
              </a:lnSpc>
              <a:spcAft>
                <a:spcPct val="0"/>
              </a:spcAft>
            </a:pP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Patch-level</a:t>
            </a:r>
            <a:endParaRPr lang="en-US" altLang="zh-CN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2">
              <a:lnSpc>
                <a:spcPct val="150000"/>
              </a:lnSpc>
              <a:spcAft>
                <a:spcPct val="0"/>
              </a:spcAft>
            </a:pP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向量量化（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Vector quantization 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）</a:t>
            </a:r>
            <a:endParaRPr lang="zh-CN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3">
              <a:lnSpc>
                <a:spcPct val="150000"/>
              </a:lnSpc>
              <a:spcAft>
                <a:spcPct val="0"/>
              </a:spcAft>
            </a:pPr>
            <a:r>
              <a:rPr lang="zh-CN" alt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直通估计器，</a:t>
            </a:r>
            <a:r>
              <a:rPr lang="en-US" altLang="zh-CN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Straight-through estimator (STE)</a:t>
            </a:r>
            <a:endParaRPr lang="en-US" altLang="zh-CN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3">
              <a:lnSpc>
                <a:spcPct val="150000"/>
              </a:lnSpc>
              <a:spcAft>
                <a:spcPct val="0"/>
              </a:spcAft>
            </a:pPr>
            <a:r>
              <a:rPr lang="en-US" altLang="zh-CN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Gumbel softmax</a:t>
            </a:r>
            <a:endParaRPr lang="zh-CN" altLang="en-US" sz="16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lnSpc>
                <a:spcPct val="150000"/>
              </a:lnSpc>
              <a:spcAft>
                <a:spcPct val="0"/>
              </a:spcAft>
            </a:pP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DALL-E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：基于自回归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Transformer</a:t>
            </a:r>
            <a:endParaRPr lang="en-US" altLang="zh-CN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lnSpc>
                <a:spcPct val="150000"/>
              </a:lnSpc>
              <a:spcAft>
                <a:spcPct val="0"/>
              </a:spcAft>
            </a:pP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MaskGIT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：基于掩码建模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Transformer</a:t>
            </a:r>
            <a:endParaRPr lang="en-US" altLang="zh-CN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  <a:spcAft>
                <a:spcPct val="0"/>
              </a:spcAft>
            </a:pP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Latent Space</a:t>
            </a:r>
            <a:endParaRPr lang="en-US" altLang="zh-CN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lnSpc>
                <a:spcPct val="150000"/>
              </a:lnSpc>
              <a:spcAft>
                <a:spcPct val="0"/>
              </a:spcAft>
            </a:pP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Stable Diffusion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：扩散模型</a:t>
            </a:r>
            <a:endParaRPr lang="zh-CN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lnSpc>
                <a:spcPct val="150000"/>
              </a:lnSpc>
              <a:spcAft>
                <a:spcPct val="0"/>
              </a:spcAft>
            </a:pP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DiTs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：基于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ViT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的扩散模型</a:t>
            </a:r>
            <a:endParaRPr lang="zh-CN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6314440" y="1459230"/>
            <a:ext cx="2349500" cy="418465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高昂的计算成本</a:t>
            </a:r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6314440" y="2903220"/>
            <a:ext cx="2349500" cy="418465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指数级</a:t>
            </a:r>
            <a:r>
              <a:rPr lang="zh-CN" altLang="en-US">
                <a:sym typeface="+mn-ea"/>
              </a:rPr>
              <a:t>维度挑战</a:t>
            </a:r>
            <a:endParaRPr lang="zh-CN" altLang="en-US"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bldLvl="0" animBg="1"/>
      <p:bldP spid="5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>
            <a:lum contrast="12000"/>
          </a:blip>
          <a:stretch>
            <a:fillRect/>
          </a:stretch>
        </p:blipFill>
        <p:spPr>
          <a:xfrm>
            <a:off x="608330" y="751205"/>
            <a:ext cx="5560060" cy="29978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lum contrast="18000"/>
          </a:blip>
          <a:stretch>
            <a:fillRect/>
          </a:stretch>
        </p:blipFill>
        <p:spPr>
          <a:xfrm>
            <a:off x="676275" y="4210050"/>
            <a:ext cx="5492115" cy="24574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lum contrast="6000"/>
          </a:blip>
          <a:srcRect l="1682"/>
          <a:stretch>
            <a:fillRect/>
          </a:stretch>
        </p:blipFill>
        <p:spPr>
          <a:xfrm>
            <a:off x="6308090" y="3971925"/>
            <a:ext cx="5624830" cy="275971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541010" y="419735"/>
            <a:ext cx="288290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>
                <a:sym typeface="+mn-ea"/>
              </a:rPr>
              <a:t>第一阶段：训练</a:t>
            </a:r>
            <a:r>
              <a:rPr lang="en-US" altLang="zh-CN">
                <a:sym typeface="+mn-ea"/>
              </a:rPr>
              <a:t>dVAE</a:t>
            </a:r>
            <a:r>
              <a:rPr lang="zh-CN" altLang="en-US">
                <a:sym typeface="+mn-ea"/>
              </a:rPr>
              <a:t>模型</a:t>
            </a:r>
            <a:endParaRPr lang="zh-CN" altLang="en-US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sym typeface="+mn-ea"/>
              </a:rPr>
              <a:t>第二阶段：自回归</a:t>
            </a:r>
            <a:r>
              <a:rPr lang="zh-CN" altLang="en-US">
                <a:sym typeface="+mn-ea"/>
              </a:rPr>
              <a:t>训练</a:t>
            </a:r>
            <a:endParaRPr lang="zh-CN" altLang="en-US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sym typeface="+mn-ea"/>
              </a:rPr>
              <a:t>推理阶段：采样</a:t>
            </a:r>
            <a:r>
              <a:rPr lang="en-US" altLang="zh-CN">
                <a:sym typeface="+mn-ea"/>
              </a:rPr>
              <a:t>+CLIP</a:t>
            </a:r>
            <a:r>
              <a:rPr lang="zh-CN" altLang="en-US">
                <a:sym typeface="+mn-ea"/>
              </a:rPr>
              <a:t>排序</a:t>
            </a:r>
            <a:endParaRPr lang="zh-CN" altLang="en-US">
              <a:sym typeface="+mn-ea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5401310" y="335280"/>
            <a:ext cx="3117850" cy="1542415"/>
          </a:xfrm>
          <a:prstGeom prst="roundRect">
            <a:avLst>
              <a:gd name="adj" fmla="val 28940"/>
            </a:avLst>
          </a:prstGeom>
          <a:noFill/>
          <a:ln w="19050">
            <a:solidFill>
              <a:schemeClr val="bg2">
                <a:lumMod val="50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785860" y="2338705"/>
            <a:ext cx="288290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>
                <a:sym typeface="+mn-ea"/>
              </a:rPr>
              <a:t>第一阶段：</a:t>
            </a:r>
            <a:r>
              <a:rPr lang="zh-CN" altLang="en-US">
                <a:sym typeface="+mn-ea"/>
              </a:rPr>
              <a:t>图像离散化</a:t>
            </a:r>
            <a:endParaRPr lang="zh-CN" altLang="en-US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sym typeface="+mn-ea"/>
              </a:rPr>
              <a:t>第二阶段：</a:t>
            </a:r>
            <a:r>
              <a:rPr lang="zh-CN" altLang="en-US">
                <a:sym typeface="+mn-ea"/>
              </a:rPr>
              <a:t>生成建模</a:t>
            </a:r>
            <a:endParaRPr lang="zh-CN" altLang="en-US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sym typeface="+mn-ea"/>
              </a:rPr>
              <a:t>推理阶段：并行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迭代</a:t>
            </a:r>
            <a:r>
              <a:rPr lang="zh-CN" altLang="en-US">
                <a:sym typeface="+mn-ea"/>
              </a:rPr>
              <a:t>解码</a:t>
            </a:r>
            <a:endParaRPr lang="zh-CN" altLang="en-US">
              <a:sym typeface="+mn-ea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8646160" y="2254250"/>
            <a:ext cx="3117850" cy="1542415"/>
          </a:xfrm>
          <a:prstGeom prst="roundRect">
            <a:avLst>
              <a:gd name="adj" fmla="val 28940"/>
            </a:avLst>
          </a:prstGeom>
          <a:noFill/>
          <a:ln w="19050">
            <a:solidFill>
              <a:schemeClr val="bg2">
                <a:lumMod val="50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圆角右箭头 10"/>
          <p:cNvSpPr/>
          <p:nvPr/>
        </p:nvSpPr>
        <p:spPr>
          <a:xfrm rot="5400000">
            <a:off x="8608695" y="1010920"/>
            <a:ext cx="1070610" cy="993775"/>
          </a:xfrm>
          <a:prstGeom prst="bentArrow">
            <a:avLst>
              <a:gd name="adj1" fmla="val 19073"/>
              <a:gd name="adj2" fmla="val 23626"/>
              <a:gd name="adj3" fmla="val 25591"/>
              <a:gd name="adj4" fmla="val 4375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9726295" y="1133475"/>
            <a:ext cx="956945" cy="407670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改进</a:t>
            </a: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08330" y="260350"/>
            <a:ext cx="2867025" cy="4445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sym typeface="+mn-ea"/>
              </a:rPr>
              <a:t>DALL-E</a:t>
            </a:r>
            <a:r>
              <a:rPr lang="zh-CN" altLang="en-US" sz="2000">
                <a:sym typeface="+mn-ea"/>
              </a:rPr>
              <a:t>：自回归生成</a:t>
            </a:r>
            <a:endParaRPr lang="zh-CN" altLang="en-US" sz="2000"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76275" y="3736975"/>
            <a:ext cx="3180715" cy="42608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sym typeface="+mn-ea"/>
              </a:rPr>
              <a:t>MaskGIT</a:t>
            </a:r>
            <a:r>
              <a:rPr lang="zh-CN" altLang="en-US" sz="2000">
                <a:sym typeface="+mn-ea"/>
              </a:rPr>
              <a:t>：非自回归生成</a:t>
            </a:r>
            <a:endParaRPr lang="zh-CN" altLang="en-US" sz="2000">
              <a:sym typeface="+mn-ea"/>
            </a:endParaRPr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1" grpId="0" animBg="1"/>
      <p:bldP spid="13" grpId="0" animBg="1"/>
      <p:bldP spid="9" grpId="1"/>
      <p:bldP spid="10" grpId="1" animBg="1"/>
      <p:bldP spid="11" grpId="1" animBg="1"/>
      <p:bldP spid="13" grpId="1" animBg="1"/>
      <p:bldP spid="15" grpId="0" animBg="1"/>
      <p:bldP spid="15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155" y="2242820"/>
            <a:ext cx="4652645" cy="235966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0915" y="2165985"/>
            <a:ext cx="5929630" cy="2588260"/>
          </a:xfrm>
          <a:prstGeom prst="rect">
            <a:avLst/>
          </a:prstGeom>
        </p:spPr>
      </p:pic>
      <p:sp>
        <p:nvSpPr>
          <p:cNvPr id="13" name="圆角矩形 12"/>
          <p:cNvSpPr/>
          <p:nvPr/>
        </p:nvSpPr>
        <p:spPr>
          <a:xfrm>
            <a:off x="3426460" y="226060"/>
            <a:ext cx="4956175" cy="713740"/>
          </a:xfrm>
          <a:prstGeom prst="roundRect">
            <a:avLst>
              <a:gd name="adj" fmla="val 38731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sym typeface="+mn-ea"/>
              </a:rPr>
              <a:t>将扩散过程中的</a:t>
            </a:r>
            <a:r>
              <a:rPr lang="en-US" altLang="zh-CN" sz="24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sym typeface="+mn-ea"/>
              </a:rPr>
              <a:t>U-Net </a:t>
            </a:r>
            <a:r>
              <a:rPr lang="zh-CN" altLang="en-US" sz="24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sym typeface="+mn-ea"/>
              </a:rPr>
              <a:t>换成</a:t>
            </a:r>
            <a:r>
              <a:rPr lang="en-US" altLang="zh-CN" sz="24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sym typeface="+mn-ea"/>
              </a:rPr>
              <a:t>ViT</a:t>
            </a:r>
            <a:endParaRPr lang="en-US" altLang="zh-CN" sz="240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05155" y="1585595"/>
            <a:ext cx="2295525" cy="4572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sym typeface="+mn-ea"/>
              </a:rPr>
              <a:t>Stable Diffusion</a:t>
            </a:r>
            <a:endParaRPr lang="en-US" altLang="zh-CN" sz="2000"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155690" y="1585595"/>
            <a:ext cx="3496310" cy="4572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sym typeface="+mn-ea"/>
              </a:rPr>
              <a:t>DiT</a:t>
            </a:r>
            <a:r>
              <a:rPr lang="en-US" altLang="zh-CN" sz="2000">
                <a:sym typeface="+mn-ea"/>
              </a:rPr>
              <a:t>s: Diffusion Transformer</a:t>
            </a:r>
            <a:endParaRPr lang="en-US" altLang="zh-CN" sz="2000"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81685" y="4839970"/>
            <a:ext cx="4064000" cy="1842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/>
              <a:t>模型框架：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en-US" altLang="zh-CN"/>
              <a:t>1. </a:t>
            </a:r>
            <a:r>
              <a:rPr lang="en-US" altLang="zh-CN"/>
              <a:t>VAE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en-US" altLang="zh-CN"/>
              <a:t>2. </a:t>
            </a:r>
            <a:r>
              <a:rPr lang="en-US" altLang="zh-CN">
                <a:sym typeface="+mn-ea"/>
              </a:rPr>
              <a:t>CLIP text encoder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en-US" altLang="zh-CN"/>
              <a:t>3. U-N</a:t>
            </a:r>
            <a:r>
              <a:rPr lang="en-US" altLang="zh-CN"/>
              <a:t>et</a:t>
            </a:r>
            <a:endParaRPr lang="en-US" altLang="zh-CN"/>
          </a:p>
          <a:p>
            <a:pPr>
              <a:lnSpc>
                <a:spcPct val="150000"/>
              </a:lnSpc>
            </a:pP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6359525" y="4877435"/>
            <a:ext cx="40640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>
                <a:sym typeface="+mn-ea"/>
              </a:rPr>
              <a:t>三种</a:t>
            </a:r>
            <a:r>
              <a:rPr lang="en-US" altLang="zh-CN">
                <a:sym typeface="+mn-ea"/>
              </a:rPr>
              <a:t>Conditioning</a:t>
            </a:r>
            <a:endParaRPr lang="en-US" altLang="zh-CN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sym typeface="+mn-ea"/>
              </a:rPr>
              <a:t>1. </a:t>
            </a:r>
            <a:r>
              <a:rPr lang="zh-CN" altLang="en-US">
                <a:sym typeface="+mn-ea"/>
              </a:rPr>
              <a:t>上下文条件</a:t>
            </a:r>
            <a:endParaRPr lang="zh-CN" altLang="en-US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/>
              <a:t>2. </a:t>
            </a:r>
            <a:r>
              <a:rPr lang="zh-CN" altLang="en-US"/>
              <a:t>交叉注意力：类似</a:t>
            </a:r>
            <a:r>
              <a:rPr lang="en-US" altLang="zh-CN"/>
              <a:t>U-Net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en-US" altLang="zh-CN"/>
              <a:t>3. </a:t>
            </a:r>
            <a:r>
              <a:rPr lang="zh-CN" altLang="en-US"/>
              <a:t>条件自适应</a:t>
            </a:r>
            <a:r>
              <a:rPr lang="zh-CN" altLang="en-US"/>
              <a:t>归一化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8" grpId="0" bldLvl="0" animBg="1"/>
      <p:bldP spid="13" grpId="1" animBg="1"/>
      <p:bldP spid="8" grpId="1" animBg="1"/>
      <p:bldP spid="14" grpId="0"/>
      <p:bldP spid="14" grpId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752</Words>
  <Application>WPS 演示</Application>
  <PresentationFormat>宽屏</PresentationFormat>
  <Paragraphs>83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Multimodal Transformers</vt:lpstr>
      <vt:lpstr>目录</vt:lpstr>
      <vt:lpstr>PowerPoint 演示文稿</vt:lpstr>
      <vt:lpstr>Generative image transformers</vt:lpstr>
      <vt:lpstr>DALL-E：自回归生成</vt:lpstr>
      <vt:lpstr>Stable Diffusion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微笑</cp:lastModifiedBy>
  <cp:revision>189</cp:revision>
  <dcterms:created xsi:type="dcterms:W3CDTF">2019-06-19T02:08:00Z</dcterms:created>
  <dcterms:modified xsi:type="dcterms:W3CDTF">2026-02-02T07:54:51Z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E35C067C65A548B7A810A63905503607_11</vt:lpwstr>
  </property>
</Properties>
</file>