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8" r:id="rId4"/>
    <p:sldId id="268" r:id="rId6"/>
    <p:sldId id="259" r:id="rId7"/>
    <p:sldId id="260" r:id="rId8"/>
    <p:sldId id="269" r:id="rId9"/>
    <p:sldId id="261" r:id="rId10"/>
    <p:sldId id="262" r:id="rId11"/>
    <p:sldId id="263" r:id="rId12"/>
    <p:sldId id="264" r:id="rId13"/>
    <p:sldId id="270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Reinforcement Learning</a:t>
            </a:r>
            <a:br>
              <a:rPr lang="en-US" altLang="zh-CN"/>
            </a:br>
            <a:endParaRPr lang="zh-CN" altLang="en-US" sz="40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665028"/>
            <a:ext cx="9144000" cy="1655762"/>
          </a:xfrm>
        </p:spPr>
        <p:txBody>
          <a:bodyPr/>
          <a:p>
            <a:r>
              <a:rPr lang="zh-CN" altLang="en-US"/>
              <a:t>汇报人：关晓晔、李双元、谢文文</a:t>
            </a:r>
            <a:endParaRPr lang="en-US" altLang="zh-CN"/>
          </a:p>
          <a:p>
            <a:r>
              <a:rPr lang="en-US" altLang="zh-CN"/>
              <a:t>2026.3.12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652780"/>
            <a:ext cx="5181600" cy="5524500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、强化学习的概念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定义与范式区分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典型应用场景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、基本概念框架（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MDP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智能体与环境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状态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(State)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、动作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(Action)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、奖励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(Reward)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马尔可夫决策过程（MDP）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algn="l">
              <a:buClrTx/>
              <a:buSzTx/>
              <a:buNone/>
            </a:pP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None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3、核心目标与价值函数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累积期望奖励与折扣因子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zh-CN" altLang="en-US" sz="2000" b="1">
                <a:sym typeface="+mn-ea"/>
              </a:rPr>
              <a:t>价值函数</a:t>
            </a:r>
            <a:endParaRPr lang="zh-CN" altLang="en-US" sz="2000" b="1"/>
          </a:p>
          <a:p>
            <a:pPr marL="0" algn="l">
              <a:buClrTx/>
              <a:buSzTx/>
              <a:buNone/>
            </a:pPr>
            <a:r>
              <a:rPr lang="zh-CN" altLang="en-US" sz="2000" b="1">
                <a:sym typeface="+mn-ea"/>
              </a:rPr>
              <a:t>Bellman方程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6305" y="714693"/>
            <a:ext cx="10515600" cy="2852737"/>
          </a:xfrm>
        </p:spPr>
        <p:txBody>
          <a:bodyPr/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强化学习的概念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175"/>
          </a:xfrm>
        </p:spPr>
        <p:txBody>
          <a:bodyPr>
            <a:normAutofit fontScale="90000"/>
          </a:bodyPr>
          <a:p>
            <a:r>
              <a:rPr lang="en-US" altLang="zh-CN"/>
              <a:t>1.1 </a:t>
            </a:r>
            <a:r>
              <a:rPr lang="zh-CN" altLang="en-US"/>
              <a:t>定义与</a:t>
            </a:r>
            <a:r>
              <a:rPr lang="zh-CN" altLang="en-US"/>
              <a:t>范式区分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838200" y="1130300"/>
          <a:ext cx="10730865" cy="3357245"/>
        </p:xfrm>
        <a:graphic>
          <a:graphicData uri="http://schemas.openxmlformats.org/drawingml/2006/table">
            <a:tbl>
              <a:tblPr/>
              <a:tblGrid>
                <a:gridCol w="2855595"/>
                <a:gridCol w="2625090"/>
                <a:gridCol w="2625090"/>
                <a:gridCol w="2625090"/>
              </a:tblGrid>
              <a:tr h="520700"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机器学习三大范式核心对比</a:t>
                      </a:r>
                      <a:endParaRPr lang="zh-CN" altLang="en-US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700">
                <a:tc>
                  <a:txBody>
                    <a:bodyPr/>
                    <a:p>
                      <a:pPr algn="ctr"/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范式类型</a:t>
                      </a:r>
                      <a:endParaRPr lang="zh-CN" altLang="en-US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核心模式</a:t>
                      </a:r>
                      <a:endParaRPr lang="zh-CN" altLang="en-US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数据形式</a:t>
                      </a:r>
                      <a:endParaRPr lang="zh-CN" altLang="en-US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学习目标</a:t>
                      </a:r>
                      <a:endParaRPr lang="zh-CN" altLang="en-US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2960">
                <a:tc>
                  <a:txBody>
                    <a:bodyPr/>
                    <a:p>
                      <a:pPr algn="ctr"/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监督学习 </a:t>
                      </a: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(SL)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（教师授课）</a:t>
                      </a:r>
                      <a:endParaRPr lang="zh-CN" altLang="en-US" sz="1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特征 </a:t>
                      </a: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 </a:t>
                      </a:r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标签对 </a:t>
                      </a: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(x,y)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学习映射关系 </a:t>
                      </a: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f(x)→y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回归（连续值预测）</a:t>
                      </a:r>
                      <a:endParaRPr lang="zh-CN" altLang="en-US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分类（离散类别划分）</a:t>
                      </a:r>
                      <a:endParaRPr lang="zh-CN" altLang="en-US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2325">
                <a:tc>
                  <a:txBody>
                    <a:bodyPr/>
                    <a:p>
                      <a:pPr algn="ctr"/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无监督学习 </a:t>
                      </a: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(UL)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（自我领悟）</a:t>
                      </a:r>
                      <a:endParaRPr lang="zh-CN" altLang="en-US" sz="1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仅特征 </a:t>
                      </a: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（无标签）</a:t>
                      </a:r>
                      <a:endParaRPr lang="zh-CN" altLang="en-US" sz="1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挖掘数据内在结构与规律</a:t>
                      </a:r>
                      <a:endParaRPr lang="zh-CN" altLang="en-US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聚类（相似数据分组）</a:t>
                      </a:r>
                      <a:endParaRPr lang="zh-CN" altLang="en-US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降维（高维数据简化）</a:t>
                      </a:r>
                      <a:endParaRPr lang="zh-CN" altLang="en-US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700">
                <a:tc>
                  <a:txBody>
                    <a:bodyPr/>
                    <a:p>
                      <a:pPr algn="ctr"/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强化学习 </a:t>
                      </a: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(RL)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（环境交互）</a:t>
                      </a:r>
                      <a:endParaRPr lang="zh-CN" altLang="en-US" sz="18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 b="1">
                          <a:solidFill>
                            <a:srgbClr val="FF0000"/>
                          </a:solidFill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四元组 </a:t>
                      </a:r>
                      <a:r>
                        <a:rPr lang="en-US" altLang="zh-CN" sz="1800" b="1">
                          <a:solidFill>
                            <a:srgbClr val="FF0000"/>
                          </a:solidFill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(s,a,r,s′)</a:t>
                      </a:r>
                      <a:endParaRPr lang="en-US" altLang="zh-CN" sz="1800" b="1">
                        <a:solidFill>
                          <a:srgbClr val="FF0000"/>
                        </a:solidFill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获取最优决策序列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实现智能体长期收益最大化</a:t>
                      </a:r>
                      <a:endParaRPr lang="zh-CN" altLang="en-US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838200" y="4806950"/>
            <a:ext cx="10500995" cy="1530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spcBef>
                <a:spcPts val="600"/>
              </a:spcBef>
            </a:pPr>
            <a:r>
              <a:rPr lang="zh-CN" altLang="en-US" sz="2400" b="1"/>
              <a:t>强化学习</a:t>
            </a:r>
            <a:r>
              <a:rPr lang="zh-CN" altLang="en-US" sz="2400"/>
              <a:t>的核心差异特征</a:t>
            </a:r>
            <a:endParaRPr lang="zh-CN" altLang="en-US"/>
          </a:p>
          <a:p>
            <a:pPr indent="0" fontAlgn="auto">
              <a:spcBef>
                <a:spcPts val="600"/>
              </a:spcBef>
            </a:pP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无标签，仅有奖惩</a:t>
            </a:r>
            <a:endParaRPr lang="zh-CN" altLang="en-US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spcBef>
                <a:spcPts val="600"/>
              </a:spcBef>
            </a:pP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 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数据非独立同分布</a:t>
            </a:r>
            <a:endParaRPr lang="zh-CN" altLang="en-US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spcBef>
                <a:spcPts val="600"/>
              </a:spcBef>
            </a:pP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c. 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主动探索</a:t>
            </a:r>
            <a:endParaRPr lang="zh-CN" altLang="en-US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175"/>
          </a:xfrm>
        </p:spPr>
        <p:txBody>
          <a:bodyPr>
            <a:normAutofit fontScale="90000"/>
          </a:bodyPr>
          <a:p>
            <a:r>
              <a:rPr lang="en-US" altLang="zh-CN"/>
              <a:t>1.2 </a:t>
            </a:r>
            <a:r>
              <a:rPr lang="zh-CN" altLang="en-US"/>
              <a:t>典型</a:t>
            </a:r>
            <a:r>
              <a:rPr lang="zh-CN" altLang="en-US"/>
              <a:t>应用场景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38200" y="1226185"/>
            <a:ext cx="10500360" cy="2409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spcBef>
                <a:spcPts val="600"/>
              </a:spcBef>
            </a:pPr>
            <a:r>
              <a:rPr lang="zh-CN" altLang="en-US" sz="2800" b="1"/>
              <a:t>核心比喻</a:t>
            </a:r>
            <a:endParaRPr lang="zh-CN" altLang="en-US" sz="2800" b="1"/>
          </a:p>
          <a:p>
            <a:pPr indent="0" fontAlgn="auto">
              <a:spcBef>
                <a:spcPts val="600"/>
              </a:spcBef>
            </a:pPr>
            <a:r>
              <a:rPr lang="en-US" altLang="zh-CN"/>
              <a:t>a.  </a:t>
            </a:r>
            <a:r>
              <a:rPr lang="zh-CN" altLang="en-US" b="1"/>
              <a:t>游戏玩家</a:t>
            </a:r>
            <a:r>
              <a:rPr lang="zh-CN" altLang="en-US"/>
              <a:t>：在不同场景下选择操作，根据得分</a:t>
            </a:r>
            <a:r>
              <a:rPr lang="en-US" altLang="zh-CN"/>
              <a:t> / </a:t>
            </a:r>
            <a:r>
              <a:rPr lang="zh-CN" altLang="en-US"/>
              <a:t>血量变化调整策略，目标是</a:t>
            </a:r>
            <a:r>
              <a:rPr lang="en-US" altLang="zh-CN"/>
              <a:t> “</a:t>
            </a:r>
            <a:r>
              <a:rPr lang="zh-CN" altLang="en-US"/>
              <a:t>赢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pPr indent="0" fontAlgn="auto">
              <a:spcBef>
                <a:spcPts val="600"/>
              </a:spcBef>
            </a:pPr>
            <a:r>
              <a:rPr lang="en-US" altLang="zh-CN"/>
              <a:t>b. </a:t>
            </a:r>
            <a:r>
              <a:rPr lang="en-US" altLang="zh-CN" b="1"/>
              <a:t> </a:t>
            </a:r>
            <a:r>
              <a:rPr lang="zh-CN" altLang="en-US" b="1"/>
              <a:t>婴儿学步</a:t>
            </a:r>
            <a:r>
              <a:rPr lang="zh-CN" altLang="en-US"/>
              <a:t>：通过感知姿态尝试迈步，通过姿态反馈调整动作，逐步优化行走策略。</a:t>
            </a:r>
            <a:endParaRPr lang="zh-CN" altLang="en-US"/>
          </a:p>
          <a:p>
            <a:pPr indent="0" fontAlgn="auto">
              <a:spcBef>
                <a:spcPts val="600"/>
              </a:spcBef>
            </a:pPr>
            <a:r>
              <a:rPr lang="zh-CN" altLang="en-US"/>
              <a:t>两者都体现了：</a:t>
            </a:r>
            <a:r>
              <a:rPr lang="zh-CN" altLang="en-US">
                <a:sym typeface="+mn-ea"/>
              </a:rPr>
              <a:t>只有通过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“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动作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-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反馈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-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调整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” </a:t>
            </a:r>
            <a:r>
              <a:rPr lang="zh-CN" altLang="en-US">
                <a:sym typeface="+mn-ea"/>
              </a:rPr>
              <a:t>的闭环</a:t>
            </a:r>
            <a:r>
              <a:rPr lang="en-US" altLang="zh-CN">
                <a:sym typeface="+mn-ea"/>
              </a:rPr>
              <a:t>,   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“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试错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-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反馈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”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中学习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最优决策</a:t>
            </a:r>
            <a:r>
              <a:rPr lang="zh-CN" altLang="en-US">
                <a:sym typeface="+mn-ea"/>
              </a:rPr>
              <a:t>，以实现长期收益最大化。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38200" y="3834130"/>
            <a:ext cx="10500360" cy="2576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spcBef>
                <a:spcPts val="600"/>
              </a:spcBef>
              <a:buClrTx/>
              <a:buSzTx/>
              <a:buFontTx/>
            </a:pPr>
            <a:r>
              <a:rPr lang="zh-CN" altLang="en-US" sz="2800" b="1"/>
              <a:t>典型应用场景</a:t>
            </a:r>
            <a:endParaRPr lang="en-US" altLang="zh-CN" sz="2800" b="1"/>
          </a:p>
          <a:p>
            <a:pPr algn="l">
              <a:spcBef>
                <a:spcPts val="600"/>
              </a:spcBef>
              <a:buClrTx/>
              <a:buSzTx/>
              <a:buFontTx/>
            </a:pPr>
            <a:r>
              <a:rPr lang="en-US" altLang="zh-CN" sz="1800"/>
              <a:t>a</a:t>
            </a:r>
            <a:r>
              <a:rPr lang="zh-CN" altLang="en-US" sz="1800"/>
              <a:t>.  </a:t>
            </a:r>
            <a:r>
              <a:rPr lang="zh-CN" altLang="en-US" sz="1800" b="1"/>
              <a:t>AlphaGo</a:t>
            </a:r>
            <a:r>
              <a:rPr lang="zh-CN" altLang="en-US" sz="1800"/>
              <a:t>：通过</a:t>
            </a:r>
            <a:r>
              <a:rPr lang="zh-CN" altLang="en-US" sz="1800" b="1"/>
              <a:t>结合蒙特卡洛树搜索与策略梯度算法</a:t>
            </a:r>
            <a:r>
              <a:rPr lang="zh-CN" altLang="en-US" sz="1800"/>
              <a:t>，AlphaGo解决了围棋的复杂决策问题，战胜了人类顶尖棋手。</a:t>
            </a:r>
            <a:endParaRPr lang="zh-CN" altLang="en-US" sz="1800"/>
          </a:p>
          <a:p>
            <a:pPr algn="l">
              <a:spcBef>
                <a:spcPts val="600"/>
              </a:spcBef>
              <a:buClrTx/>
              <a:buSzTx/>
              <a:buFontTx/>
            </a:pPr>
            <a:r>
              <a:rPr lang="en-US" altLang="zh-CN" sz="1800"/>
              <a:t>b</a:t>
            </a:r>
            <a:r>
              <a:rPr lang="zh-CN" altLang="en-US" sz="1800"/>
              <a:t>.  </a:t>
            </a:r>
            <a:r>
              <a:rPr lang="zh-CN" altLang="en-US" sz="1800" b="1"/>
              <a:t>ChatGPT 的 RLHF</a:t>
            </a:r>
            <a:r>
              <a:rPr lang="zh-CN" altLang="en-US" sz="1800"/>
              <a:t>：RLHF技术通过</a:t>
            </a:r>
            <a:r>
              <a:rPr lang="zh-CN" altLang="en-US" sz="1800" b="1"/>
              <a:t>人类反馈来训练奖励模型</a:t>
            </a:r>
            <a:r>
              <a:rPr lang="zh-CN" altLang="en-US" sz="1800"/>
              <a:t>，并利用</a:t>
            </a:r>
            <a:r>
              <a:rPr lang="zh-CN" altLang="en-US" sz="1800" b="1"/>
              <a:t>PPO算法微调大模型</a:t>
            </a:r>
            <a:r>
              <a:rPr lang="zh-CN" altLang="en-US" sz="1800"/>
              <a:t>，使其输出更符合人类偏好。</a:t>
            </a:r>
            <a:endParaRPr lang="zh-CN" altLang="en-US" sz="1800"/>
          </a:p>
          <a:p>
            <a:pPr algn="l">
              <a:spcBef>
                <a:spcPts val="600"/>
              </a:spcBef>
              <a:buClrTx/>
              <a:buSzTx/>
              <a:buFontTx/>
            </a:pPr>
            <a:r>
              <a:rPr lang="en-US" altLang="zh-CN" sz="1800"/>
              <a:t>c</a:t>
            </a:r>
            <a:r>
              <a:rPr lang="zh-CN" altLang="en-US" sz="1800"/>
              <a:t>. </a:t>
            </a:r>
            <a:r>
              <a:rPr lang="zh-CN" altLang="en-US" sz="1800" b="1"/>
              <a:t> 推荐系统</a:t>
            </a:r>
            <a:r>
              <a:rPr lang="zh-CN" altLang="en-US" sz="1800"/>
              <a:t>：强化学习帮助推荐系统从追求</a:t>
            </a:r>
            <a:r>
              <a:rPr lang="zh-CN" altLang="en-US" sz="1800" b="1"/>
              <a:t>短期点击奖励转向优化用户长期价值</a:t>
            </a:r>
            <a:r>
              <a:rPr lang="zh-CN" altLang="en-US" sz="1800"/>
              <a:t>，有效平衡了即时满足与长期粘性。</a:t>
            </a:r>
            <a:endParaRPr lang="zh-CN" altLang="en-US" sz="1800"/>
          </a:p>
          <a:p>
            <a:pPr algn="l">
              <a:spcBef>
                <a:spcPts val="600"/>
              </a:spcBef>
              <a:buClrTx/>
              <a:buSzTx/>
              <a:buFontTx/>
            </a:pPr>
            <a:endParaRPr lang="zh-CN" altLang="en-US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6305" y="714693"/>
            <a:ext cx="10515600" cy="2852737"/>
          </a:xfrm>
        </p:spPr>
        <p:txBody>
          <a:bodyPr/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 MDP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马尔可夫决策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过程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175"/>
          </a:xfrm>
        </p:spPr>
        <p:txBody>
          <a:bodyPr>
            <a:normAutofit fontScale="90000"/>
          </a:bodyPr>
          <a:p>
            <a:r>
              <a:rPr lang="en-US"/>
              <a:t>2.1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智能体与环境</a:t>
            </a:r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838200" y="1226185"/>
            <a:ext cx="10500360" cy="5056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/>
              <a:t>核心前提</a:t>
            </a:r>
            <a:endParaRPr lang="zh-CN" altLang="en-US" sz="2800" b="1"/>
          </a:p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/>
              <a:t>强化学习的所有算法都建立在智能体（</a:t>
            </a:r>
            <a:r>
              <a:rPr lang="en-US" altLang="zh-CN"/>
              <a:t>Agent</a:t>
            </a:r>
            <a:r>
              <a:rPr lang="zh-CN" altLang="en-US"/>
              <a:t>）</a:t>
            </a:r>
            <a:endParaRPr lang="zh-CN" altLang="en-US"/>
          </a:p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/>
              <a:t>与环境（</a:t>
            </a:r>
            <a:r>
              <a:rPr lang="en-US" altLang="zh-CN"/>
              <a:t>Environment</a:t>
            </a:r>
            <a:r>
              <a:rPr lang="zh-CN" altLang="en-US"/>
              <a:t>）的交互之上，二者通过</a:t>
            </a:r>
            <a:endParaRPr lang="zh-CN" altLang="en-US"/>
          </a:p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solidFill>
                  <a:srgbClr val="FF0000"/>
                </a:solidFill>
              </a:rPr>
              <a:t>状态、动作、奖励</a:t>
            </a:r>
            <a:r>
              <a:rPr lang="zh-CN" altLang="en-US"/>
              <a:t>三大核心要素完成信息传递，</a:t>
            </a:r>
            <a:endParaRPr lang="zh-CN" altLang="en-US"/>
          </a:p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/>
              <a:t>构成闭环交互</a:t>
            </a:r>
            <a:r>
              <a:rPr lang="en-US" altLang="zh-CN"/>
              <a:t> “</a:t>
            </a:r>
            <a:r>
              <a:rPr lang="zh-CN" altLang="en-US"/>
              <a:t>协议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pPr indent="0" fontAlgn="auto">
              <a:spcBef>
                <a:spcPts val="600"/>
              </a:spcBef>
              <a:spcAft>
                <a:spcPts val="600"/>
              </a:spcAft>
            </a:pPr>
            <a:endParaRPr lang="zh-CN" altLang="en-US"/>
          </a:p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/>
              <a:t>三大核心要素</a:t>
            </a:r>
            <a:endParaRPr lang="zh-CN" altLang="en-US" sz="2800" b="1"/>
          </a:p>
          <a:p>
            <a:pPr indent="0" algn="l" fontAlgn="auto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 sz="1800" b="1"/>
              <a:t>状态 (State)：</a:t>
            </a:r>
            <a:r>
              <a:rPr lang="zh-CN" altLang="en-US" sz="1800"/>
              <a:t>对环境</a:t>
            </a:r>
            <a:r>
              <a:rPr lang="zh-CN" altLang="en-US" sz="1800">
                <a:solidFill>
                  <a:srgbClr val="FF0000"/>
                </a:solidFill>
              </a:rPr>
              <a:t>当前状况的</a:t>
            </a:r>
            <a:r>
              <a:rPr lang="zh-CN" altLang="en-US" sz="1800"/>
              <a:t>完整数学</a:t>
            </a:r>
            <a:r>
              <a:rPr lang="zh-CN" altLang="en-US" sz="1800">
                <a:solidFill>
                  <a:srgbClr val="FF0000"/>
                </a:solidFill>
              </a:rPr>
              <a:t>描述</a:t>
            </a:r>
            <a:r>
              <a:rPr lang="zh-CN" altLang="en-US" sz="1800"/>
              <a:t>，是智能体决策的唯一依据， s ∈ S （S为状态空间，包含环境所有可能的状态）。</a:t>
            </a:r>
            <a:endParaRPr lang="zh-CN" altLang="en-US"/>
          </a:p>
          <a:p>
            <a:pPr indent="0" algn="l" fontAlgn="auto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 b="1"/>
              <a:t>动作 (Action)：</a:t>
            </a:r>
            <a:r>
              <a:rPr lang="zh-CN" altLang="en-US">
                <a:solidFill>
                  <a:srgbClr val="FF0000"/>
                </a:solidFill>
              </a:rPr>
              <a:t>智能体</a:t>
            </a:r>
            <a:r>
              <a:rPr lang="zh-CN" altLang="en-US"/>
              <a:t>在当前状态下</a:t>
            </a:r>
            <a:r>
              <a:rPr lang="zh-CN" altLang="en-US">
                <a:solidFill>
                  <a:srgbClr val="FF0000"/>
                </a:solidFill>
              </a:rPr>
              <a:t>做出的决策</a:t>
            </a:r>
            <a:r>
              <a:rPr lang="zh-CN" altLang="en-US"/>
              <a:t>， a ∈ A （</a:t>
            </a:r>
            <a:r>
              <a:rPr lang="zh-CN" altLang="en-US"/>
              <a:t>A为动作空间）。</a:t>
            </a:r>
            <a:endParaRPr lang="zh-CN" altLang="en-US"/>
          </a:p>
          <a:p>
            <a:pPr indent="0" algn="l" fontAlgn="auto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 b="1"/>
              <a:t>奖励 (Reward)：</a:t>
            </a:r>
            <a:r>
              <a:rPr lang="zh-CN" altLang="en-US"/>
              <a:t>环境对智能体</a:t>
            </a:r>
            <a:r>
              <a:rPr lang="zh-CN" altLang="en-US">
                <a:solidFill>
                  <a:srgbClr val="FF0000"/>
                </a:solidFill>
              </a:rPr>
              <a:t>当前动作</a:t>
            </a:r>
            <a:r>
              <a:rPr lang="zh-CN" altLang="en-US"/>
              <a:t>的标量</a:t>
            </a:r>
            <a:r>
              <a:rPr lang="zh-CN" altLang="en-US">
                <a:solidFill>
                  <a:srgbClr val="FF0000"/>
                </a:solidFill>
              </a:rPr>
              <a:t>反馈信号</a:t>
            </a:r>
            <a:r>
              <a:rPr lang="zh-CN" altLang="en-US"/>
              <a:t>，r ∈ R ，是引导智能体学习的 “指挥棒</a:t>
            </a:r>
            <a:r>
              <a:rPr lang="zh-CN" altLang="en-US"/>
              <a:t>”。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4060" y="575310"/>
            <a:ext cx="5626100" cy="32975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175"/>
          </a:xfrm>
        </p:spPr>
        <p:txBody>
          <a:bodyPr>
            <a:normAutofit fontScale="90000"/>
          </a:bodyPr>
          <a:p>
            <a:r>
              <a:rPr lang="en-US"/>
              <a:t>2.2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状态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(State)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、动作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(Action)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、奖励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(Reward)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8200" y="1226185"/>
            <a:ext cx="10500360" cy="5056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spcBef>
                <a:spcPts val="600"/>
              </a:spcBef>
              <a:spcAft>
                <a:spcPts val="600"/>
              </a:spcAft>
            </a:pPr>
            <a:endParaRPr lang="zh-CN" altLang="en-US" sz="2800"/>
          </a:p>
          <a:p>
            <a:pPr algn="l" fontAlgn="auto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835660" y="1446530"/>
          <a:ext cx="10518140" cy="4476750"/>
        </p:xfrm>
        <a:graphic>
          <a:graphicData uri="http://schemas.openxmlformats.org/drawingml/2006/table">
            <a:tbl>
              <a:tblPr/>
              <a:tblGrid>
                <a:gridCol w="1316355"/>
                <a:gridCol w="3942715"/>
                <a:gridCol w="2629535"/>
                <a:gridCol w="2629535"/>
              </a:tblGrid>
              <a:tr h="842010">
                <a:tc>
                  <a:txBody>
                    <a:bodyPr/>
                    <a:p>
                      <a:pPr indent="0" algn="ctr" fontAlgn="auto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800" b="1"/>
                        <a:t>要素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800" b="1"/>
                        <a:t>状态 </a:t>
                      </a:r>
                      <a:r>
                        <a:rPr lang="en-US" altLang="zh-CN" sz="1800" b="1"/>
                        <a:t>(State)</a:t>
                      </a:r>
                      <a:endParaRPr lang="en-US" altLang="zh-CN" sz="1800" b="1"/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800" b="1"/>
                        <a:t>动作 </a:t>
                      </a:r>
                      <a:r>
                        <a:rPr lang="en-US" altLang="zh-CN" sz="1800" b="1"/>
                        <a:t>(Action)</a:t>
                      </a:r>
                      <a:endParaRPr lang="en-US" altLang="zh-CN" sz="1800" b="1"/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800" b="1"/>
                        <a:t>奖励 </a:t>
                      </a:r>
                      <a:r>
                        <a:rPr lang="en-US" altLang="zh-CN" sz="1800" b="1"/>
                        <a:t>(Reward)</a:t>
                      </a:r>
                      <a:endParaRPr lang="en-US" altLang="zh-CN" sz="1800" b="1"/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0">
                <a:tc>
                  <a:txBody>
                    <a:bodyPr/>
                    <a:p>
                      <a:pPr indent="0" algn="l" fontAlgn="auto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800" b="1"/>
                        <a:t>分类 </a:t>
                      </a:r>
                      <a:r>
                        <a:rPr lang="en-US" altLang="zh-CN" sz="1800" b="1"/>
                        <a:t>/ </a:t>
                      </a:r>
                      <a:r>
                        <a:rPr lang="zh-CN" altLang="en-US" sz="1800" b="1"/>
                        <a:t>特性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auto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800" b="1"/>
                        <a:t>1. </a:t>
                      </a:r>
                      <a:r>
                        <a:rPr lang="zh-CN" altLang="en-US" sz="1800" b="1"/>
                        <a:t>完全可观测（</a:t>
                      </a:r>
                      <a:r>
                        <a:rPr lang="en-US" altLang="zh-CN" sz="1800" b="1">
                          <a:solidFill>
                            <a:srgbClr val="FF0000"/>
                          </a:solidFill>
                        </a:rPr>
                        <a:t>MDP</a:t>
                      </a:r>
                      <a:r>
                        <a:rPr lang="zh-CN" altLang="en-US" sz="1800" b="1"/>
                        <a:t>）：获取全部环境信息，如完整棋盘。</a:t>
                      </a:r>
                      <a:endParaRPr lang="zh-CN" altLang="en-US" sz="1800" b="1"/>
                    </a:p>
                    <a:p>
                      <a:pPr indent="0" algn="l" fontAlgn="auto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800" b="1"/>
                        <a:t>2. </a:t>
                      </a:r>
                      <a:r>
                        <a:rPr lang="zh-CN" altLang="en-US" sz="1800" b="1"/>
                        <a:t>部分可观测（</a:t>
                      </a:r>
                      <a:r>
                        <a:rPr lang="en-US" altLang="zh-CN" sz="1800" b="1">
                          <a:solidFill>
                            <a:srgbClr val="FF0000"/>
                          </a:solidFill>
                        </a:rPr>
                        <a:t>POMDP</a:t>
                      </a:r>
                      <a:r>
                        <a:rPr lang="zh-CN" altLang="en-US" sz="1800" b="1"/>
                        <a:t>）：仅获局部信息，需用</a:t>
                      </a:r>
                      <a:r>
                        <a:rPr lang="en-US" altLang="zh-CN" sz="1800" b="1">
                          <a:solidFill>
                            <a:srgbClr val="FF0000"/>
                          </a:solidFill>
                        </a:rPr>
                        <a:t>LSTM</a:t>
                      </a:r>
                      <a:r>
                        <a:rPr lang="zh-CN" altLang="en-US" sz="1800" b="1"/>
                        <a:t>等弥补。</a:t>
                      </a:r>
                      <a:endParaRPr lang="zh-CN" altLang="en-US" sz="1800" b="1">
                        <a:solidFill>
                          <a:srgbClr val="FF0000"/>
                        </a:solidFill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auto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800" b="1"/>
                        <a:t>1. </a:t>
                      </a:r>
                      <a:r>
                        <a:rPr lang="zh-CN" altLang="en-US" sz="1800" b="1">
                          <a:solidFill>
                            <a:srgbClr val="FF0000"/>
                          </a:solidFill>
                        </a:rPr>
                        <a:t>离散动作</a:t>
                      </a:r>
                      <a:r>
                        <a:rPr lang="zh-CN" altLang="en-US" sz="1800" b="1"/>
                        <a:t>：数量有限可枚举（如落子、方向键）。</a:t>
                      </a:r>
                      <a:endParaRPr lang="zh-CN" altLang="en-US" sz="1800" b="1"/>
                    </a:p>
                    <a:p>
                      <a:pPr indent="0" algn="l" fontAlgn="auto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800" b="1"/>
                        <a:t>2. </a:t>
                      </a:r>
                      <a:r>
                        <a:rPr lang="zh-CN" altLang="en-US" sz="1800" b="1">
                          <a:solidFill>
                            <a:srgbClr val="FF0000"/>
                          </a:solidFill>
                        </a:rPr>
                        <a:t>连续动作</a:t>
                      </a:r>
                      <a:r>
                        <a:rPr lang="zh-CN" altLang="en-US" sz="1800" b="1"/>
                        <a:t>：取值连续（如油门开度、机械臂扭矩）。</a:t>
                      </a:r>
                      <a:endParaRPr lang="zh-CN" altLang="en-US" sz="1800" b="1">
                        <a:solidFill>
                          <a:srgbClr val="FF0000"/>
                        </a:solidFill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auto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800" b="1"/>
                        <a:t>1. </a:t>
                      </a:r>
                      <a:r>
                        <a:rPr lang="zh-CN" altLang="en-US" sz="1800" b="1">
                          <a:solidFill>
                            <a:srgbClr val="FF0000"/>
                          </a:solidFill>
                        </a:rPr>
                        <a:t>稀疏延迟</a:t>
                      </a:r>
                      <a:r>
                        <a:rPr lang="zh-CN" altLang="en-US" sz="1800" b="1"/>
                        <a:t>：仅关键节点有反馈，且奖励滞后。</a:t>
                      </a:r>
                      <a:r>
                        <a:rPr lang="en-US" altLang="zh-CN" sz="1800" b="1"/>
                        <a:t>2. </a:t>
                      </a:r>
                      <a:r>
                        <a:rPr lang="zh-CN" altLang="en-US" sz="1800" b="1">
                          <a:solidFill>
                            <a:srgbClr val="FF0000"/>
                          </a:solidFill>
                        </a:rPr>
                        <a:t>量化反馈</a:t>
                      </a:r>
                      <a:r>
                        <a:rPr lang="zh-CN" altLang="en-US" sz="1800" b="1"/>
                        <a:t>：用正负数值引导智能体学习。</a:t>
                      </a:r>
                      <a:endParaRPr lang="zh-CN" altLang="en-US" sz="1800" b="1">
                        <a:solidFill>
                          <a:srgbClr val="FF0000"/>
                        </a:solidFill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29690">
                <a:tc>
                  <a:txBody>
                    <a:bodyPr/>
                    <a:p>
                      <a:pPr indent="0" algn="l" fontAlgn="auto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800" b="1"/>
                        <a:t>典型实例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auto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800" b="1"/>
                        <a:t>MDP</a:t>
                      </a:r>
                      <a:r>
                        <a:rPr lang="zh-CN" altLang="en-US" sz="1800" b="1"/>
                        <a:t>：围棋、</a:t>
                      </a:r>
                      <a:r>
                        <a:rPr lang="en-US" altLang="zh-CN" sz="1800" b="1"/>
                        <a:t>Atari </a:t>
                      </a:r>
                      <a:r>
                        <a:rPr lang="zh-CN" altLang="en-US" sz="1800" b="1"/>
                        <a:t>游戏。</a:t>
                      </a:r>
                      <a:endParaRPr lang="zh-CN" altLang="en-US" sz="1800" b="1"/>
                    </a:p>
                    <a:p>
                      <a:pPr indent="0" algn="l" fontAlgn="auto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800" b="1"/>
                        <a:t>POMDP</a:t>
                      </a:r>
                      <a:r>
                        <a:rPr lang="zh-CN" altLang="en-US" sz="1800" b="1"/>
                        <a:t>：</a:t>
                      </a:r>
                      <a:r>
                        <a:rPr lang="zh-CN" altLang="en-US" sz="1800" b="1">
                          <a:solidFill>
                            <a:srgbClr val="FF0000"/>
                          </a:solidFill>
                        </a:rPr>
                        <a:t>自动驾驶</a:t>
                      </a:r>
                      <a:r>
                        <a:rPr lang="zh-CN" altLang="en-US" sz="1800" b="1"/>
                        <a:t>、隐藏手牌博弈。</a:t>
                      </a:r>
                      <a:endParaRPr lang="zh-CN" altLang="en-US" sz="1800" b="1">
                        <a:solidFill>
                          <a:srgbClr val="FF0000"/>
                        </a:solidFill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auto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800" b="1"/>
                        <a:t>离散：下棋、游戏操作。连续：</a:t>
                      </a:r>
                      <a:r>
                        <a:rPr lang="zh-CN" altLang="en-US" sz="1800" b="1">
                          <a:solidFill>
                            <a:srgbClr val="FF0000"/>
                          </a:solidFill>
                        </a:rPr>
                        <a:t>自动驾驶</a:t>
                      </a:r>
                      <a:r>
                        <a:rPr lang="zh-CN" altLang="en-US" sz="1800" b="1"/>
                        <a:t>、</a:t>
                      </a:r>
                      <a:r>
                        <a:rPr lang="zh-CN" altLang="en-US" sz="1800" b="1">
                          <a:solidFill>
                            <a:srgbClr val="FF0000"/>
                          </a:solidFill>
                        </a:rPr>
                        <a:t>机械臂控制</a:t>
                      </a:r>
                      <a:r>
                        <a:rPr lang="zh-CN" altLang="en-US" sz="1800" b="1"/>
                        <a:t>。</a:t>
                      </a:r>
                      <a:endParaRPr lang="zh-CN" altLang="en-US" sz="1800" b="1">
                        <a:solidFill>
                          <a:srgbClr val="FF0000"/>
                        </a:solidFill>
                      </a:endParaRPr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auto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800" b="1"/>
                        <a:t>正奖励：得分、任务完成。</a:t>
                      </a:r>
                      <a:endParaRPr lang="zh-CN" altLang="en-US" sz="1800" b="1"/>
                    </a:p>
                    <a:p>
                      <a:pPr indent="0" algn="l" fontAlgn="auto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800" b="1"/>
                        <a:t>负奖励：撞墙、游戏失败。</a:t>
                      </a:r>
                      <a:endParaRPr lang="zh-CN" altLang="en-US" sz="1800" b="1"/>
                    </a:p>
                  </a:txBody>
                  <a:tcPr marL="61277" marR="61277" marT="61277" marB="6127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175"/>
          </a:xfrm>
        </p:spPr>
        <p:txBody>
          <a:bodyPr>
            <a:normAutofit fontScale="90000"/>
          </a:bodyPr>
          <a:p>
            <a:r>
              <a:rPr lang="en-US"/>
              <a:t>2.3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MDP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核心定义与马尔可夫性质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8200" y="1226185"/>
            <a:ext cx="10500360" cy="5056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spcBef>
                <a:spcPts val="600"/>
              </a:spcBef>
              <a:spcAft>
                <a:spcPts val="600"/>
              </a:spcAft>
            </a:pPr>
            <a:endParaRPr lang="zh-CN" altLang="en-US" sz="2800"/>
          </a:p>
          <a:p>
            <a:pPr algn="l" fontAlgn="auto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38835" y="1226185"/>
            <a:ext cx="10514330" cy="5265420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ts val="144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>
                <a:solidFill>
                  <a:srgbClr val="1F2329"/>
                </a:solidFill>
              </a:rPr>
              <a:t>核心定义</a:t>
            </a:r>
            <a:endParaRPr lang="zh-CN" altLang="en-US" sz="2800" b="1">
              <a:solidFill>
                <a:srgbClr val="1F2329"/>
              </a:solidFill>
            </a:endParaRPr>
          </a:p>
          <a:p>
            <a:pPr indent="0" fontAlgn="auto">
              <a:lnSpc>
                <a:spcPts val="144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MDP </a:t>
            </a: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是强化学习的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核心数学框架</a:t>
            </a: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，通过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五元组</a:t>
            </a: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(S,A,P,R,γ) </a:t>
            </a: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完整描述智能体与环境的交互过程：</a:t>
            </a:r>
            <a:endParaRPr lang="zh-CN" altLang="en-US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1395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altLang="zh-CN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zh-CN" altLang="en-US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：状态空间</a:t>
            </a: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，包含环境所有可能的状态</a:t>
            </a:r>
            <a:endParaRPr lang="zh-CN" altLang="en-US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1395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altLang="zh-CN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：动作空间</a:t>
            </a: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，包含智能体所有可能的动作</a:t>
            </a:r>
            <a:endParaRPr lang="zh-CN" altLang="en-US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1395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altLang="zh-CN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：状态转移概率矩阵</a:t>
            </a:r>
            <a:endParaRPr lang="zh-CN" altLang="en-US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1395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altLang="zh-CN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lang="zh-CN" altLang="en-US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：奖励函数</a:t>
            </a:r>
            <a:endParaRPr lang="zh-CN" altLang="en-US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1395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altLang="zh-CN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γ</a:t>
            </a:r>
            <a:r>
              <a:rPr lang="zh-CN" altLang="en-US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：折扣因子</a:t>
            </a: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3.1 </a:t>
            </a: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节详细解析</a:t>
            </a: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1395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zh-CN" altLang="en-US" sz="1600" b="0">
              <a:solidFill>
                <a:srgbClr val="1F2329"/>
              </a:solidFill>
            </a:endParaRPr>
          </a:p>
          <a:p>
            <a:pPr indent="0" algn="l" fontAlgn="auto">
              <a:lnSpc>
                <a:spcPts val="144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 sz="2800" b="1">
                <a:solidFill>
                  <a:srgbClr val="1F2329"/>
                </a:solidFill>
              </a:rPr>
              <a:t>马尔可夫性质</a:t>
            </a:r>
            <a:endParaRPr lang="zh-CN" altLang="en-US" sz="1600" b="1">
              <a:solidFill>
                <a:srgbClr val="1F2329"/>
              </a:solidFill>
            </a:endParaRPr>
          </a:p>
          <a:p>
            <a:pPr indent="0" fontAlgn="auto">
              <a:lnSpc>
                <a:spcPts val="1440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数学表达：</a:t>
            </a:r>
            <a:endParaRPr lang="zh-CN" altLang="en-US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1440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zh-CN" altLang="en-US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深度解读：未来状态仅由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当前状态与动作</a:t>
            </a: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决定，与更早的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历史交互无关</a:t>
            </a: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，当前状态已包含全部历史信息。</a:t>
            </a:r>
            <a:endParaRPr lang="zh-CN" altLang="en-US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/>
              <a:buChar char="•"/>
            </a:pP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工程意义：现实场景中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纯马尔可夫状态极少存在</a:t>
            </a: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，需通过多帧叠加、时序模型编码等方式人工构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建近似马尔可夫状态</a:t>
            </a:r>
            <a:r>
              <a:rPr lang="zh-CN" altLang="en-US" sz="1800" b="1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800" b="1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2730" y="1837055"/>
            <a:ext cx="6859270" cy="25749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495" y="4210050"/>
            <a:ext cx="5745480" cy="6483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175"/>
          </a:xfrm>
        </p:spPr>
        <p:txBody>
          <a:bodyPr>
            <a:normAutofit fontScale="90000"/>
          </a:bodyPr>
          <a:p>
            <a:r>
              <a:rPr lang="en-US"/>
              <a:t>2.3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MDP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状态转移与奖励函数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8200" y="1226185"/>
            <a:ext cx="10500360" cy="5056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spcBef>
                <a:spcPts val="600"/>
              </a:spcBef>
              <a:spcAft>
                <a:spcPts val="600"/>
              </a:spcAft>
            </a:pPr>
            <a:endParaRPr lang="zh-CN" altLang="en-US" sz="2800"/>
          </a:p>
          <a:p>
            <a:pPr algn="l" fontAlgn="auto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38835" y="1226185"/>
            <a:ext cx="10514330" cy="5265420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ts val="144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>
                <a:solidFill>
                  <a:srgbClr val="1F2329"/>
                </a:solidFill>
              </a:rPr>
              <a:t>状态转移概率矩阵</a:t>
            </a:r>
            <a:r>
              <a:rPr lang="en-US" altLang="zh-CN" sz="2800" b="1">
                <a:solidFill>
                  <a:srgbClr val="1F2329"/>
                </a:solidFill>
              </a:rPr>
              <a:t> P</a:t>
            </a:r>
            <a:endParaRPr lang="zh-CN" altLang="en-US" sz="2800" b="1">
              <a:solidFill>
                <a:srgbClr val="1F2329"/>
              </a:solidFill>
            </a:endParaRPr>
          </a:p>
          <a:p>
            <a:pPr indent="0" fontAlgn="auto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数学表达：</a:t>
            </a:r>
            <a:endParaRPr lang="zh-CN" altLang="en-US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核心特性：</a:t>
            </a:r>
            <a:r>
              <a:rPr lang="en-US" altLang="zh-CN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</a:t>
            </a: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环境的固有属性</a:t>
            </a: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，描述状态转移的客观规律</a:t>
            </a: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，不随智能体策略变化而改变。</a:t>
            </a:r>
            <a:endParaRPr lang="zh-CN" altLang="en-US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算法关联：</a:t>
            </a:r>
            <a:endParaRPr lang="zh-CN" altLang="en-US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fontAlgn="auto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基于模型（</a:t>
            </a:r>
            <a:r>
              <a:rPr lang="en-US" altLang="zh-CN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Model-based</a:t>
            </a: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）算法：需显式学习或已知</a:t>
            </a:r>
            <a:r>
              <a:rPr lang="en-US" altLang="zh-CN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</a:t>
            </a: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，通过模型模拟交互并规划最优路径。</a:t>
            </a:r>
            <a:endParaRPr lang="zh-CN" altLang="en-US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fontAlgn="auto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无模型（</a:t>
            </a:r>
            <a:r>
              <a:rPr lang="en-US" altLang="zh-CN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Model-free</a:t>
            </a: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）算法：无需知晓</a:t>
            </a:r>
            <a:r>
              <a:rPr lang="en-US" altLang="zh-CN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</a:t>
            </a:r>
            <a:r>
              <a:rPr lang="zh-CN" alt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，直接从真实交互数据中学习策略，是复杂环境下的主流方案。</a:t>
            </a:r>
            <a:endParaRPr lang="zh-CN" altLang="en-US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fontAlgn="auto">
              <a:lnSpc>
                <a:spcPts val="144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1600" b="0">
              <a:solidFill>
                <a:srgbClr val="1F2329"/>
              </a:solidFill>
            </a:endParaRPr>
          </a:p>
          <a:p>
            <a:pPr algn="l" fontAlgn="auto">
              <a:lnSpc>
                <a:spcPts val="144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 sz="2800" b="1">
                <a:solidFill>
                  <a:srgbClr val="1F2329"/>
                </a:solidFill>
              </a:rPr>
              <a:t>奖励函数 R</a:t>
            </a:r>
            <a:endParaRPr lang="zh-CN" altLang="en-US" sz="2800">
              <a:solidFill>
                <a:srgbClr val="1F2329"/>
              </a:solidFill>
            </a:endParaRPr>
          </a:p>
          <a:p>
            <a:pPr indent="0" algn="l" fontAlgn="auto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数学表达：</a:t>
            </a:r>
            <a:endParaRPr lang="zh-CN" altLang="en-US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核心关联：</a:t>
            </a:r>
            <a:r>
              <a:rPr lang="zh-CN" altLang="en-US" sz="18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奖励获取依赖</a:t>
            </a:r>
            <a:r>
              <a:rPr lang="en-US" altLang="zh-CN" sz="18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“</a:t>
            </a:r>
            <a:r>
              <a:rPr lang="zh-CN" altLang="en-US" sz="18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r>
              <a:rPr lang="en-US" altLang="zh-CN" sz="18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 sz="18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</a:t>
            </a:r>
            <a:r>
              <a:rPr lang="en-US" altLang="zh-CN" sz="18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 </a:t>
            </a:r>
            <a:r>
              <a:rPr lang="zh-CN" altLang="en-US" sz="18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组合，部分场景还与下一状态</a:t>
            </a:r>
            <a:r>
              <a:rPr lang="en-US" altLang="zh-CN" sz="18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 ′</a:t>
            </a:r>
            <a:r>
              <a:rPr lang="zh-CN" altLang="en-US" sz="18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，可扩展为</a:t>
            </a: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endParaRPr lang="en-US" altLang="zh-CN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设计原则：需遵循明确性、一致性、稀疏性适度原则，避免过密或过稀疏奖励，确保奖励信号与</a:t>
            </a:r>
            <a:r>
              <a:rPr lang="zh-CN" altLang="en-US" sz="18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长期目标正相关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3275" y="1473200"/>
            <a:ext cx="4068445" cy="4781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275" y="4485005"/>
            <a:ext cx="5152390" cy="5480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t="8333" r="724"/>
          <a:stretch>
            <a:fillRect/>
          </a:stretch>
        </p:blipFill>
        <p:spPr>
          <a:xfrm>
            <a:off x="3216910" y="5313045"/>
            <a:ext cx="487426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6305" y="714693"/>
            <a:ext cx="10515600" cy="2852737"/>
          </a:xfrm>
        </p:spPr>
        <p:txBody>
          <a:bodyPr/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核心目标与价值函数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175"/>
          </a:xfrm>
        </p:spPr>
        <p:txBody>
          <a:bodyPr>
            <a:normAutofit fontScale="90000"/>
          </a:bodyPr>
          <a:p>
            <a:r>
              <a:rPr lang="en-US"/>
              <a:t>3.1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累积期望奖励与折扣因子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8200" y="1226185"/>
            <a:ext cx="10500360" cy="5056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spcBef>
                <a:spcPts val="600"/>
              </a:spcBef>
              <a:spcAft>
                <a:spcPts val="600"/>
              </a:spcAft>
            </a:pPr>
            <a:endParaRPr lang="zh-CN" altLang="en-US" sz="2800"/>
          </a:p>
          <a:p>
            <a:pPr algn="l" fontAlgn="auto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38835" y="1226185"/>
            <a:ext cx="10514330" cy="5265420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ts val="144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0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144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回报（</a:t>
            </a:r>
            <a:r>
              <a:rPr lang="en-US" altLang="zh-CN" sz="2400" b="1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Return,           </a:t>
            </a:r>
            <a:r>
              <a:rPr lang="zh-CN" altLang="en-US" sz="2400" b="1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24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时刻</a:t>
            </a: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 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起后续所有奖励的加权和。</a:t>
            </a:r>
            <a:endParaRPr lang="zh-CN" altLang="en-US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144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1800" b="1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144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数学表达</a:t>
            </a:r>
            <a:r>
              <a:rPr lang="zh-CN" altLang="en-US" sz="24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24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144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144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144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符号说明</a:t>
            </a:r>
            <a:r>
              <a:rPr lang="zh-CN" altLang="en-US" sz="24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γ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zh-CN" altLang="en-US" sz="18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折扣因子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≤ γ </a:t>
            </a: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 1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），调节未来奖励权重。</a:t>
            </a:r>
            <a:endParaRPr lang="zh-CN" altLang="en-US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为什么需要</a:t>
            </a: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γ 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lang="en-US" altLang="zh-CN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8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数学收敛性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：保证无限时序回报为有限值</a:t>
            </a:r>
            <a:endParaRPr lang="zh-CN" altLang="en-US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8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不确定性建模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γ 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越小，越重视即时奖励</a:t>
            </a:r>
            <a:endParaRPr lang="zh-CN" altLang="en-US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8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远见调节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γ</a:t>
            </a:r>
            <a:r>
              <a:rPr lang="en-US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（短视），</a:t>
            </a: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γ</a:t>
            </a:r>
            <a:r>
              <a:rPr lang="en-US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（远视）</a:t>
            </a:r>
            <a:endParaRPr lang="zh-CN" altLang="en-US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6275" y="1430655"/>
            <a:ext cx="420370" cy="46736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t="7062" r="1299"/>
          <a:stretch>
            <a:fillRect/>
          </a:stretch>
        </p:blipFill>
        <p:spPr>
          <a:xfrm>
            <a:off x="2303780" y="2045970"/>
            <a:ext cx="3328670" cy="12033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25" y="5687060"/>
            <a:ext cx="951865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175"/>
          </a:xfrm>
        </p:spPr>
        <p:txBody>
          <a:bodyPr>
            <a:normAutofit fontScale="90000"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3.2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价值函数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</a:t>
            </a:r>
            <a:r>
              <a:rPr lang="zh-CN" altLang="en-US" sz="3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衡量智能体决策好坏的核心标尺</a:t>
            </a:r>
            <a:endParaRPr lang="zh-CN" altLang="en-US" sz="3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8200" y="1226185"/>
            <a:ext cx="10500360" cy="5056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spcBef>
                <a:spcPts val="600"/>
              </a:spcBef>
              <a:spcAft>
                <a:spcPts val="600"/>
              </a:spcAft>
            </a:pPr>
            <a:endParaRPr lang="zh-CN" altLang="en-US" sz="2800"/>
          </a:p>
          <a:p>
            <a:pPr algn="l" fontAlgn="auto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38835" y="1226185"/>
            <a:ext cx="10514330" cy="5265420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状态价值函数</a:t>
            </a:r>
            <a:r>
              <a:rPr lang="en-US" altLang="zh-CN" sz="2400" b="1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en-US" altLang="zh-CN" sz="24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：策略</a:t>
            </a: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下，状态</a:t>
            </a: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 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的长期期望回报，衡量状态</a:t>
            </a: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好坏</a:t>
            </a: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数学表达：</a:t>
            </a:r>
            <a:endParaRPr lang="zh-CN" altLang="en-US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动作价值函数</a:t>
            </a:r>
            <a:r>
              <a:rPr lang="en-US" altLang="zh-CN" sz="24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：策略</a:t>
            </a: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下，状态</a:t>
            </a: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 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执行动作</a:t>
            </a: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 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的长期期望回报。</a:t>
            </a:r>
            <a:endParaRPr lang="zh-CN" altLang="en-US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数学表达：</a:t>
            </a:r>
            <a:endParaRPr lang="zh-CN" altLang="en-US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885" y="1226185"/>
            <a:ext cx="890270" cy="4260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350" y="1226185"/>
            <a:ext cx="273050" cy="3282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275" y="2155190"/>
            <a:ext cx="4875530" cy="7118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575" y="3360420"/>
            <a:ext cx="273050" cy="32829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8930" y="3245485"/>
            <a:ext cx="1125855" cy="51879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1275" y="4256405"/>
            <a:ext cx="8738870" cy="79121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005" y="5450205"/>
            <a:ext cx="11313795" cy="9645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175"/>
          </a:xfrm>
        </p:spPr>
        <p:txBody>
          <a:bodyPr>
            <a:normAutofit fontScale="90000"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3.3 </a:t>
            </a:r>
            <a:r>
              <a:rPr lang="zh-CN" altLang="en-US">
                <a:sym typeface="+mn-ea"/>
              </a:rPr>
              <a:t>Bellman方程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8200" y="1226185"/>
            <a:ext cx="10500360" cy="5056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spcBef>
                <a:spcPts val="600"/>
              </a:spcBef>
              <a:spcAft>
                <a:spcPts val="600"/>
              </a:spcAft>
            </a:pPr>
            <a:endParaRPr lang="zh-CN" altLang="en-US" sz="2800"/>
          </a:p>
          <a:p>
            <a:pPr algn="l" fontAlgn="auto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38835" y="1226185"/>
            <a:ext cx="10514330" cy="5265420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Bellman</a:t>
            </a:r>
            <a:r>
              <a:rPr lang="zh-CN" altLang="en-US" sz="20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方程，它建立了当前价值和未来价值之间的递推关系。</a:t>
            </a:r>
            <a:endParaRPr lang="zh-CN" altLang="en-US" sz="20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0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核心公式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0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当前状态的价值，等于当前一步的即时</a:t>
            </a:r>
            <a:endParaRPr lang="zh-CN" altLang="en-US" sz="20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0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奖励，加上折扣后的下一状态的期望价值体现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自洽性</a:t>
            </a:r>
            <a:r>
              <a:rPr lang="zh-CN" altLang="en-US" sz="20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0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展开形式</a:t>
            </a:r>
            <a:r>
              <a:rPr lang="zh-CN" altLang="en-US" sz="24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24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核心意义</a:t>
            </a:r>
            <a:r>
              <a:rPr lang="zh-CN" altLang="en-US" sz="24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算法本质是消除</a:t>
            </a:r>
            <a:r>
              <a:rPr lang="zh-CN" altLang="en-US" sz="18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时序差分误差（</a:t>
            </a:r>
            <a:r>
              <a:rPr lang="en-US" altLang="zh-CN" sz="18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TD Error</a:t>
            </a:r>
            <a:r>
              <a:rPr lang="zh-CN" altLang="en-US" sz="18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</a:t>
            </a:r>
            <a:endParaRPr lang="en-US" altLang="zh-CN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</a:t>
            </a:r>
            <a:endParaRPr lang="en-US" altLang="zh-CN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14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</a:t>
            </a:r>
            <a:r>
              <a:rPr lang="zh-CN" altLang="en-US" sz="1800">
                <a:solidFill>
                  <a:srgbClr val="1F232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，最小化误差实现收敛。</a:t>
            </a:r>
            <a:endParaRPr lang="zh-CN" altLang="en-US" sz="1800">
              <a:solidFill>
                <a:srgbClr val="1F2329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0" y="1925955"/>
            <a:ext cx="3844925" cy="7277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015" y="5589270"/>
            <a:ext cx="4977130" cy="8159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940" y="3535045"/>
            <a:ext cx="5610860" cy="13804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2629</Words>
  <Application>WPS 演示</Application>
  <PresentationFormat>宽屏</PresentationFormat>
  <Paragraphs>216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Arial</vt:lpstr>
      <vt:lpstr>Calibri</vt:lpstr>
      <vt:lpstr>Arial Unicode MS</vt:lpstr>
      <vt:lpstr>WPS</vt:lpstr>
      <vt:lpstr>Reinforcement Learning </vt:lpstr>
      <vt:lpstr>PowerPoint 演示文稿</vt:lpstr>
      <vt:lpstr>PowerPoint 演示文稿</vt:lpstr>
      <vt:lpstr>1.1 定义与范式区分</vt:lpstr>
      <vt:lpstr>1.2 典型应用场景</vt:lpstr>
      <vt:lpstr>1 强化学习的概念</vt:lpstr>
      <vt:lpstr>2.1 智能体与环境</vt:lpstr>
      <vt:lpstr>2.2 状态(State)、动作(Action)、奖励(Reward)</vt:lpstr>
      <vt:lpstr>2.3 MDP 核心定义与马尔可夫性质</vt:lpstr>
      <vt:lpstr>2.3 MDP 状态转移与奖励函数</vt:lpstr>
      <vt:lpstr>2 MDP马尔可夫决策过程</vt:lpstr>
      <vt:lpstr>3.1 累积期望奖励与折扣因子</vt:lpstr>
      <vt:lpstr>3.2 价值函数——衡量智能体决策好坏的核心标尺</vt:lpstr>
      <vt:lpstr>3.3 Bellman方程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关晓晔</dc:creator>
  <cp:lastModifiedBy>小乔</cp:lastModifiedBy>
  <cp:revision>16</cp:revision>
  <dcterms:created xsi:type="dcterms:W3CDTF">2023-08-09T12:44:00Z</dcterms:created>
  <dcterms:modified xsi:type="dcterms:W3CDTF">2026-03-11T12:31:06Z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6AA2EB2615EB489BA61BAB51EE11BB12_12</vt:lpwstr>
  </property>
</Properties>
</file>