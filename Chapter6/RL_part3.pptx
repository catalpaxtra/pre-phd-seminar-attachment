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7" r:id="rId5"/>
    <p:sldId id="266" r:id="rId6"/>
    <p:sldId id="265" r:id="rId7"/>
    <p:sldId id="270" r:id="rId8"/>
    <p:sldId id="264" r:id="rId9"/>
    <p:sldId id="271" r:id="rId10"/>
    <p:sldId id="263" r:id="rId11"/>
    <p:sldId id="272" r:id="rId12"/>
    <p:sldId id="262" r:id="rId13"/>
    <p:sldId id="273" r:id="rId14"/>
    <p:sldId id="261" r:id="rId15"/>
    <p:sldId id="274" r:id="rId16"/>
    <p:sldId id="275" r:id="rId17"/>
    <p:sldId id="276" r:id="rId18"/>
    <p:sldId id="260" r:id="rId19"/>
    <p:sldId id="269" r:id="rId20"/>
    <p:sldId id="26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9" autoAdjust="0"/>
    <p:restoredTop sz="94660"/>
  </p:normalViewPr>
  <p:slideViewPr>
    <p:cSldViewPr snapToGrid="0">
      <p:cViewPr varScale="1">
        <p:scale>
          <a:sx n="91" d="100"/>
          <a:sy n="91" d="100"/>
        </p:scale>
        <p:origin x="17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6A4B6-137A-43E7-9547-5A8B9C179B8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C4FE0-3E54-4A5E-90B4-1311EADEFD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03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C4FE0-3E54-4A5E-90B4-1311EADEFD3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622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C4FE0-3E54-4A5E-90B4-1311EADEFD3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114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ADD07-5B37-A9DB-C547-9C2076837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A6FBB3-3784-D984-BD07-85B36D3A9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A9FA93-326E-2C9B-DE8A-6F371523F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8235-1C10-4830-8A8F-05404764D6E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01E43B-D3A4-161E-DD63-006FE3697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CF48FC-A80F-A378-0C36-8AA0135D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7E15-AF2B-44FD-8B98-ACE369C8A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593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72DDA-175D-EB69-A28C-1220E97C4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547A4A-44B7-7F65-CAB4-06A318F20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84FF55-7E70-3D77-058E-6DF1B2CBC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8235-1C10-4830-8A8F-05404764D6E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772B63-4D49-B03D-0745-742D97C7F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B7303F-AE61-091C-D6E7-983B6454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7E15-AF2B-44FD-8B98-ACE369C8A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03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D61D0-C9B5-2F38-6104-E4E82884C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0A3C69-2BCA-76F8-8967-E3F23290A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1B5EB5-1332-30E2-E2AA-0CF468DC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8235-1C10-4830-8A8F-05404764D6E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A30ACA-F95F-F92F-33D1-7A9F81CCB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05A2C-4996-41F5-E004-E564AFB3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7E15-AF2B-44FD-8B98-ACE369C8A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27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D5C0A-8BFB-6088-C07D-B0EE255A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96737-E82B-DB07-1E41-2E26ED552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279875-2A55-FDF7-0D79-D1621E8A8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948A35-929A-0B3E-8414-73C4ABF36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8235-1C10-4830-8A8F-05404764D6E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C33101-06D0-0A28-9BA0-019F4411E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7BDD69-A683-54B8-E8BE-11728827B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7E15-AF2B-44FD-8B98-ACE369C8A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229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D22AE-96E0-F4B6-C71D-41C53C27C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7595EE-5B15-9B56-0F27-C62EF0628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32776C-316D-FA2C-934C-4B52E848C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B61CB8-4922-F830-03CD-F892DA0A9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20EBCC-D935-0248-C14F-3292CE640D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E6FD2E-CDCB-A231-52C9-8BEA017AE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8235-1C10-4830-8A8F-05404764D6E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8B13C1-A629-A5E8-C25D-61A3F36D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AC6CFF-1CE1-675B-5286-BE379D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7E15-AF2B-44FD-8B98-ACE369C8A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078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0480E-7BF3-82AF-C565-9787A06A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4B6DA8-5DDE-1617-3A73-9AA04EDB6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8235-1C10-4830-8A8F-05404764D6E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C661B8-66A7-04CE-5001-EB43447D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5AE0E3-BE0F-B8C6-1A35-CACCB11A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7E15-AF2B-44FD-8B98-ACE369C8A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935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67DCDB-4295-A6F0-B1A9-4F057B8C8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8235-1C10-4830-8A8F-05404764D6E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567F33-E6B2-D9C1-A294-3C768CB35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4C9559-84EE-E203-CC68-444A91FF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7E15-AF2B-44FD-8B98-ACE369C8A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13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8E414-0E83-9454-B4E6-E38BAF43F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A29A8A-0880-0362-65B0-1202C43C9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6482D4-6E72-68D5-D519-BEEE6809F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C49A89-E8A0-E288-86E1-51AE48021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8235-1C10-4830-8A8F-05404764D6E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6A53C2-8C9B-8360-53CA-710A9CAC8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8DF3C4-AB8B-814C-37C0-2106FCEE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7E15-AF2B-44FD-8B98-ACE369C8A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41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D708C-4640-1055-584E-6B155A458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49FA62-3BF5-B662-0FF4-C7A28F49F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1FF80A-DAE0-C774-86A3-BAFF6F46B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7E4BE6-ECED-42C1-B106-E5AB16E4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8235-1C10-4830-8A8F-05404764D6E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64BA00-D590-8F8A-A7FA-CC8149C4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F63769-8725-B8D8-2F7F-C2F1686D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7E15-AF2B-44FD-8B98-ACE369C8A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02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BC043-B982-61C9-DEA0-2338D1651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530ABE-9F7F-F046-3E10-DAAF25B6D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A13AB1-DF5E-8314-0591-DD6121FE5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8235-1C10-4830-8A8F-05404764D6E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2A76F9-BD35-DD5D-494B-E71676864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E64423-85F7-554A-9434-1A55DE371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7E15-AF2B-44FD-8B98-ACE369C8A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63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91E2AE-E605-4F3E-986A-2C5703D66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BE6D96-0197-6F58-20A1-A370FDFC2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6343CA-3D87-AA1C-91FF-240C2BD7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F8235-1C10-4830-8A8F-05404764D6E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1479BB-6BCD-30DC-FC4A-9773C1498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86AC7B-0AEC-832E-E53C-9CB8C3E1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7E15-AF2B-44FD-8B98-ACE369C8A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613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AF2BE6-755D-2D5C-143B-78E5F29A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62114A-9F8E-119D-B21E-63FDE5030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83507E-22A0-9191-8E9C-CADADB6910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F8235-1C10-4830-8A8F-05404764D6EB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2DD621-2320-2CE3-95F2-A036CD7AE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ED15B4-4FA5-D1A4-C46E-1CBEFD657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F7E15-AF2B-44FD-8B98-ACE369C8A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77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6211C-305B-17C2-7503-9E65AF2FC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43268" cy="2971964"/>
          </a:xfrm>
        </p:spPr>
        <p:txBody>
          <a:bodyPr>
            <a:normAutofit/>
          </a:bodyPr>
          <a:lstStyle/>
          <a:p>
            <a:pPr algn="ctr"/>
            <a:r>
              <a:rPr lang="en-US" altLang="zh-CN" sz="6000" b="1" dirty="0"/>
              <a:t>Reinforcement Learning</a:t>
            </a:r>
            <a:endParaRPr lang="zh-CN" altLang="en-US" sz="60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5785D5-88A9-DE2A-FD10-6F04F682A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68685"/>
            <a:ext cx="10515600" cy="2208278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dirty="0"/>
              <a:t>关晓晔</a:t>
            </a:r>
            <a:r>
              <a:rPr lang="en-US" altLang="zh-CN" dirty="0"/>
              <a:t>&amp;</a:t>
            </a:r>
            <a:r>
              <a:rPr lang="zh-CN" altLang="en-US" dirty="0"/>
              <a:t>李双元</a:t>
            </a:r>
            <a:r>
              <a:rPr lang="en-US" altLang="zh-CN" dirty="0"/>
              <a:t>&amp;</a:t>
            </a:r>
            <a:r>
              <a:rPr lang="zh-CN" altLang="en-US" dirty="0"/>
              <a:t>谢文文</a:t>
            </a: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dirty="0"/>
              <a:t>2026/3/12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426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0DF16-970A-E0CF-D1CB-10DDCD93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主要算法分类：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8A64F1-D9D2-2B8E-A6C1-3B37F67C1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按照</a:t>
            </a:r>
            <a:r>
              <a:rPr lang="zh-CN" altLang="en-US" b="1" u="sng" dirty="0"/>
              <a:t>环境</a:t>
            </a:r>
            <a:r>
              <a:rPr lang="zh-CN" altLang="en-US" dirty="0"/>
              <a:t>是否已知划分：</a:t>
            </a:r>
            <a:r>
              <a:rPr lang="zh-CN" altLang="en-US" b="1" dirty="0"/>
              <a:t>免模型学习</a:t>
            </a:r>
            <a:r>
              <a:rPr lang="zh-CN" altLang="en-US" dirty="0"/>
              <a:t>（</a:t>
            </a:r>
            <a:r>
              <a:rPr lang="en-US" altLang="zh-CN" dirty="0"/>
              <a:t>Model-Free</a:t>
            </a:r>
            <a:r>
              <a:rPr lang="zh-CN" altLang="en-US" dirty="0"/>
              <a:t>） </a:t>
            </a:r>
            <a:r>
              <a:rPr lang="en-US" altLang="zh-CN" dirty="0"/>
              <a:t>vs </a:t>
            </a:r>
            <a:r>
              <a:rPr lang="zh-CN" altLang="en-US" b="1" dirty="0"/>
              <a:t>有模型学习</a:t>
            </a:r>
            <a:r>
              <a:rPr lang="zh-CN" altLang="en-US" dirty="0"/>
              <a:t>（</a:t>
            </a:r>
            <a:r>
              <a:rPr lang="en-US" altLang="zh-CN" dirty="0"/>
              <a:t>Model-Based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按照</a:t>
            </a:r>
            <a:r>
              <a:rPr lang="zh-CN" altLang="en-US" b="1" u="sng" dirty="0"/>
              <a:t>学习目标</a:t>
            </a:r>
            <a:r>
              <a:rPr lang="zh-CN" altLang="en-US" dirty="0"/>
              <a:t>划分：</a:t>
            </a:r>
            <a:r>
              <a:rPr lang="zh-CN" altLang="en-US" b="1" dirty="0"/>
              <a:t>基于策略</a:t>
            </a:r>
            <a:r>
              <a:rPr lang="zh-CN" altLang="en-US" dirty="0"/>
              <a:t>（</a:t>
            </a:r>
            <a:r>
              <a:rPr lang="en-US" altLang="zh-CN" dirty="0"/>
              <a:t>Policy-Based</a:t>
            </a:r>
            <a:r>
              <a:rPr lang="zh-CN" altLang="en-US" dirty="0"/>
              <a:t>）和</a:t>
            </a:r>
            <a:r>
              <a:rPr lang="zh-CN" altLang="en-US" b="1" dirty="0"/>
              <a:t>基于价值</a:t>
            </a:r>
            <a:r>
              <a:rPr lang="zh-CN" altLang="en-US" dirty="0"/>
              <a:t>（</a:t>
            </a:r>
            <a:r>
              <a:rPr lang="en-US" altLang="zh-CN" dirty="0"/>
              <a:t>Value-Based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20755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1A8146-DF74-428E-5A63-4F1939979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强化学习</a:t>
            </a:r>
            <a:r>
              <a:rPr lang="en-US" altLang="zh-CN" sz="3200" b="1" dirty="0"/>
              <a:t>———</a:t>
            </a:r>
            <a:r>
              <a:rPr lang="zh-CN" altLang="en-US" sz="3200" b="1" dirty="0"/>
              <a:t>免模型</a:t>
            </a:r>
            <a:r>
              <a:rPr lang="en-US" altLang="zh-CN" sz="3200" b="1" dirty="0"/>
              <a:t>VS</a:t>
            </a:r>
            <a:r>
              <a:rPr lang="zh-CN" altLang="en-US" sz="3200" b="1" dirty="0"/>
              <a:t>有模型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2C940B-5763-3602-836D-9BB8C6843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1.</a:t>
            </a:r>
            <a:r>
              <a:rPr lang="zh-CN" altLang="en-US" b="1" dirty="0"/>
              <a:t>原理</a:t>
            </a:r>
            <a:endParaRPr lang="en-US" altLang="zh-CN" b="1" dirty="0"/>
          </a:p>
          <a:p>
            <a:r>
              <a:rPr lang="zh-CN" altLang="en-US" dirty="0"/>
              <a:t>免模型：不去学习和理解环境，环境给出什么信息就是什么信息。</a:t>
            </a:r>
            <a:endParaRPr lang="en-US" altLang="zh-CN" dirty="0"/>
          </a:p>
          <a:p>
            <a:r>
              <a:rPr lang="zh-CN" altLang="en-US" dirty="0"/>
              <a:t>有模型：学习和理解环境，学会用一个模型来模拟环境，通过模拟的环境来得到反馈。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21B95F-2116-53BF-90D5-6D09D112B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856" y="3775412"/>
            <a:ext cx="5911511" cy="240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53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0B2AFC-694A-E0DC-35EC-7A371BBFE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9047"/>
            <a:ext cx="10515600" cy="5667916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2.</a:t>
            </a:r>
            <a:r>
              <a:rPr lang="zh-CN" altLang="en-US" b="1" dirty="0"/>
              <a:t>对比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B1F8F5-017F-DA82-5749-D577C775D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225486"/>
            <a:ext cx="10294147" cy="463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56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B085B-9F45-4F94-AB15-C4AAA3B5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强化学习</a:t>
            </a:r>
            <a:r>
              <a:rPr lang="en-US" altLang="zh-CN" sz="3200" b="1" dirty="0"/>
              <a:t>———</a:t>
            </a:r>
            <a:r>
              <a:rPr lang="zh-CN" altLang="en-US" sz="3200" b="1" dirty="0"/>
              <a:t>基于策略</a:t>
            </a:r>
            <a:r>
              <a:rPr lang="en-US" altLang="zh-CN" sz="3200" b="1" dirty="0"/>
              <a:t>VS</a:t>
            </a:r>
            <a:r>
              <a:rPr lang="zh-CN" altLang="en-US" sz="3200" b="1" dirty="0"/>
              <a:t>基于价值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42A9EC-A8C0-40FD-5789-248039EEB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基于价值：</a:t>
            </a:r>
            <a:endParaRPr lang="en-US" altLang="zh-CN" dirty="0"/>
          </a:p>
          <a:p>
            <a:r>
              <a:rPr lang="zh-CN" altLang="en-US" dirty="0"/>
              <a:t>动态规划</a:t>
            </a:r>
            <a:r>
              <a:rPr lang="en-US" altLang="zh-CN" dirty="0"/>
              <a:t>(DP)</a:t>
            </a:r>
          </a:p>
          <a:p>
            <a:r>
              <a:rPr lang="zh-CN" altLang="en-US" dirty="0"/>
              <a:t>蒙特卡洛方法（</a:t>
            </a:r>
            <a:r>
              <a:rPr lang="en-US" altLang="zh-CN" dirty="0"/>
              <a:t>MC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时序差分（</a:t>
            </a:r>
            <a:r>
              <a:rPr lang="en-US" altLang="zh-CN" dirty="0"/>
              <a:t>TD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深度</a:t>
            </a:r>
            <a:r>
              <a:rPr lang="en-US" altLang="zh-CN" dirty="0"/>
              <a:t>Q</a:t>
            </a:r>
            <a:r>
              <a:rPr lang="zh-CN" altLang="en-US" dirty="0"/>
              <a:t>网络</a:t>
            </a:r>
            <a:r>
              <a:rPr lang="en-US" altLang="zh-CN" dirty="0"/>
              <a:t>(DQN)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9264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3AAEE-B899-D37C-185B-E4A0D5B4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动态规划</a:t>
            </a:r>
            <a:r>
              <a:rPr lang="en-US" altLang="zh-CN" sz="3200" b="1" dirty="0"/>
              <a:t>——</a:t>
            </a:r>
            <a:r>
              <a:rPr lang="zh-CN" altLang="en-US" sz="2000" b="1" dirty="0"/>
              <a:t>基于完整环境模型的值函数方法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4626B-5A10-BA7D-BE7F-FE33BB5F8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b="1" dirty="0"/>
              <a:t>DP</a:t>
            </a:r>
            <a:r>
              <a:rPr lang="zh-CN" altLang="en-US" sz="2000" b="1" dirty="0"/>
              <a:t>是什么</a:t>
            </a:r>
            <a:endParaRPr lang="en-US" altLang="zh-CN" sz="2000" b="1" dirty="0"/>
          </a:p>
          <a:p>
            <a:r>
              <a:rPr lang="zh-CN" altLang="en-US" sz="2000" dirty="0"/>
              <a:t>用来求解</a:t>
            </a:r>
            <a:r>
              <a:rPr lang="en-US" altLang="zh-CN" sz="2000" dirty="0"/>
              <a:t>MDP</a:t>
            </a:r>
            <a:r>
              <a:rPr lang="zh-CN" altLang="en-US" sz="2000" dirty="0"/>
              <a:t>（完全可观测）最优策略</a:t>
            </a:r>
            <a:endParaRPr lang="en-US" altLang="zh-CN" sz="2000" dirty="0"/>
          </a:p>
          <a:p>
            <a:r>
              <a:rPr lang="zh-CN" altLang="en-US" sz="2000" dirty="0"/>
              <a:t>核心思想：利⽤⻉尔曼⽅程的递推关系，通过“迭代更新”求解最优价值函数，进⽽得到最优策略。</a:t>
            </a:r>
            <a:endParaRPr lang="en-US" altLang="zh-CN" sz="2000" dirty="0"/>
          </a:p>
          <a:p>
            <a:r>
              <a:rPr lang="zh-CN" altLang="en-US" sz="2000" dirty="0"/>
              <a:t>关键定位：</a:t>
            </a:r>
            <a:r>
              <a:rPr lang="en-US" altLang="zh-CN" sz="2000" dirty="0"/>
              <a:t>1.</a:t>
            </a:r>
            <a:r>
              <a:rPr lang="zh-CN" altLang="en-US" sz="2000" dirty="0"/>
              <a:t>值函数方法   </a:t>
            </a:r>
            <a:r>
              <a:rPr lang="en-US" altLang="zh-CN" sz="2000" dirty="0"/>
              <a:t>2.Model-Based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b="1" dirty="0"/>
              <a:t>DP</a:t>
            </a:r>
            <a:r>
              <a:rPr lang="zh-CN" altLang="en-US" sz="2000" b="1" dirty="0"/>
              <a:t>的两个前提</a:t>
            </a:r>
            <a:r>
              <a:rPr lang="en-US" altLang="zh-CN" sz="2000" dirty="0"/>
              <a:t>:</a:t>
            </a:r>
          </a:p>
          <a:p>
            <a:r>
              <a:rPr lang="zh-CN" altLang="en-US" sz="2000" dirty="0"/>
              <a:t>环境完全已知（完整模型），知道状态转移概率</a:t>
            </a:r>
            <a:r>
              <a:rPr lang="en-US" altLang="zh-CN" sz="2000" dirty="0"/>
              <a:t>P</a:t>
            </a:r>
            <a:r>
              <a:rPr lang="zh-CN" altLang="en-US" sz="2000" dirty="0"/>
              <a:t>和奖励函数</a:t>
            </a:r>
            <a:r>
              <a:rPr lang="en-US" altLang="zh-CN" sz="2000" dirty="0"/>
              <a:t>R</a:t>
            </a:r>
          </a:p>
          <a:p>
            <a:r>
              <a:rPr lang="zh-CN" altLang="en-US" sz="2000" dirty="0"/>
              <a:t>最优子结构（满足贝尔曼）</a:t>
            </a:r>
            <a:endParaRPr lang="en-US" altLang="zh-CN" sz="20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285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EF8A7F-7BDB-6055-3D28-8DDF7119F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6513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1" dirty="0"/>
              <a:t>策略迭代 </a:t>
            </a:r>
            <a:r>
              <a:rPr lang="en-US" altLang="zh-CN" sz="2000" b="1" dirty="0"/>
              <a:t>Policy Iteration</a:t>
            </a:r>
          </a:p>
          <a:p>
            <a:pPr marL="0" indent="0">
              <a:buNone/>
            </a:pPr>
            <a:r>
              <a:rPr lang="zh-CN" altLang="en-US" sz="1600" dirty="0"/>
              <a:t>两步循环：</a:t>
            </a:r>
            <a:endParaRPr lang="en-US" altLang="zh-CN" sz="1600" dirty="0"/>
          </a:p>
          <a:p>
            <a:r>
              <a:rPr lang="zh-CN" altLang="en-US" sz="2000" dirty="0"/>
              <a:t>策略评估：给定当前策略，利⽤⻉尔曼⽅程计算该策略下的价值函数</a:t>
            </a:r>
            <a:endParaRPr lang="en-US" altLang="zh-CN" sz="2000" dirty="0"/>
          </a:p>
          <a:p>
            <a:r>
              <a:rPr lang="zh-CN" altLang="en-US" sz="2000" dirty="0"/>
              <a:t>策略改进：基于价值函数，通过“贪⼼策略”更新策略，即</a:t>
            </a:r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值迭代 </a:t>
            </a:r>
            <a:r>
              <a:rPr lang="en-US" altLang="zh-CN" sz="2000" b="1" dirty="0"/>
              <a:t>Value Iteration</a:t>
            </a:r>
          </a:p>
          <a:p>
            <a:r>
              <a:rPr lang="zh-CN" altLang="en-US" sz="2000" dirty="0"/>
              <a:t>直接迭代更新最优价值函数，⽆需显式维护策略，核心公式为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局限性</a:t>
            </a:r>
            <a:r>
              <a:rPr lang="zh-CN" altLang="en-US" sz="2000" dirty="0"/>
              <a:t>：仅适⽤于“状态空间和动作空间有限且模型已知”的简单场景（如⼩格⼦世界、简单博 弈），⽆法处理⾼维状态（如图像、⽂本）和连续动作空间，实⽤性受限。</a:t>
            </a:r>
            <a:endParaRPr lang="en-US" altLang="zh-CN" sz="20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0C6A67F-8772-E897-4FA8-9EDFFCEDE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动态规划</a:t>
            </a:r>
            <a:r>
              <a:rPr lang="en-US" altLang="zh-CN" sz="3200" b="1" dirty="0"/>
              <a:t>——</a:t>
            </a:r>
            <a:r>
              <a:rPr lang="zh-CN" altLang="en-US" sz="2000" b="1" dirty="0"/>
              <a:t>基于完整环境模型的值函数方法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615C16-3B0A-BBD0-E286-948CE8963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378" y="3204594"/>
            <a:ext cx="4367699" cy="44881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5152C0A-0F89-E2CB-1BAB-24FC774E7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378" y="4347995"/>
            <a:ext cx="3875100" cy="71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41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72B6F6-1B9D-3DB3-48F0-846FF438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蒙特卡洛方法</a:t>
            </a:r>
            <a:r>
              <a:rPr lang="en-US" altLang="zh-CN" sz="3200" b="1" dirty="0"/>
              <a:t>——</a:t>
            </a:r>
            <a:r>
              <a:rPr lang="zh-CN" altLang="en-US" sz="2000" b="1" dirty="0"/>
              <a:t>基于完整轨迹的无模型值函数算法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9E4BE-01B7-76D7-FFBC-D028F41B5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b="1" dirty="0"/>
              <a:t>MC</a:t>
            </a:r>
            <a:r>
              <a:rPr lang="zh-CN" altLang="en-US" sz="2000" b="1" dirty="0"/>
              <a:t>是什么</a:t>
            </a:r>
            <a:endParaRPr lang="en-US" altLang="zh-CN" sz="2000" b="1" dirty="0"/>
          </a:p>
          <a:p>
            <a:r>
              <a:rPr lang="zh-CN" altLang="en-US" sz="2000" dirty="0"/>
              <a:t>属于：值函数方法</a:t>
            </a:r>
            <a:endParaRPr lang="en-US" altLang="zh-CN" sz="2000" dirty="0"/>
          </a:p>
          <a:p>
            <a:r>
              <a:rPr lang="zh-CN" altLang="en-US" sz="2000" dirty="0"/>
              <a:t>属于：无模型（</a:t>
            </a:r>
            <a:r>
              <a:rPr lang="en-US" altLang="zh-CN" sz="2000" dirty="0"/>
              <a:t>Model-Based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zh-CN" altLang="en-US" sz="2000" dirty="0"/>
              <a:t>核心思想： ⽆需环境模型，通过“完整的决策序列”学习价值函数。只有当序列结束 后，才能计算每个状态</a:t>
            </a:r>
            <a:r>
              <a:rPr lang="en-US" altLang="zh-CN" sz="2000" dirty="0"/>
              <a:t>/</a:t>
            </a:r>
            <a:r>
              <a:rPr lang="zh-CN" altLang="en-US" sz="2000" dirty="0"/>
              <a:t>动作的实际回报，并⽤实际回报更新价值函数。</a:t>
            </a:r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en-US" altLang="zh-CN" sz="2000" b="1" dirty="0"/>
              <a:t>MC</a:t>
            </a:r>
            <a:r>
              <a:rPr lang="zh-CN" altLang="en-US" sz="2000" b="1" dirty="0"/>
              <a:t>核心思想</a:t>
            </a:r>
            <a:r>
              <a:rPr lang="zh-CN" altLang="en-US" sz="2000" dirty="0"/>
              <a:t>：完整轨迹</a:t>
            </a:r>
            <a:r>
              <a:rPr lang="en-US" altLang="zh-CN" sz="2000" dirty="0"/>
              <a:t>&amp;</a:t>
            </a:r>
            <a:r>
              <a:rPr lang="zh-CN" altLang="en-US" sz="2000" dirty="0"/>
              <a:t>回报</a:t>
            </a:r>
            <a:r>
              <a:rPr lang="en-US" altLang="zh-CN" sz="2000" dirty="0"/>
              <a:t>G</a:t>
            </a:r>
          </a:p>
          <a:p>
            <a:r>
              <a:rPr lang="zh-CN" altLang="en-US" sz="2000" dirty="0"/>
              <a:t>必须跑完一整条轨迹直到结束，计算每一步的回报</a:t>
            </a:r>
            <a:r>
              <a:rPr lang="en-US" altLang="zh-CN" sz="2000" dirty="0"/>
              <a:t>G</a:t>
            </a:r>
            <a:r>
              <a:rPr lang="zh-CN" altLang="en-US" sz="2000" dirty="0"/>
              <a:t>，核心公式</a:t>
            </a:r>
            <a:endParaRPr lang="en-US" altLang="zh-CN" sz="2000" dirty="0"/>
          </a:p>
          <a:p>
            <a:r>
              <a:rPr lang="zh-CN" altLang="en-US" sz="2000" dirty="0"/>
              <a:t>值函数</a:t>
            </a:r>
            <a:r>
              <a:rPr lang="en-US" altLang="zh-CN" sz="2000" dirty="0"/>
              <a:t>=</a:t>
            </a:r>
            <a:r>
              <a:rPr lang="zh-CN" altLang="en-US" sz="2000" dirty="0"/>
              <a:t>多次实验的平均</a:t>
            </a:r>
            <a:r>
              <a:rPr lang="en-US" altLang="zh-CN" sz="2000" dirty="0"/>
              <a:t>G</a:t>
            </a:r>
          </a:p>
          <a:p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D03C00-19F1-C43A-2591-640C16D0B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646" y="4900900"/>
            <a:ext cx="4043472" cy="53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21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8CC163-BEB6-FAE6-F50F-D363BEA8D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130"/>
            <a:ext cx="10515600" cy="4599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b="1" dirty="0"/>
              <a:t>MC</a:t>
            </a:r>
            <a:r>
              <a:rPr lang="zh-CN" altLang="en-US" sz="2000" b="1" dirty="0"/>
              <a:t>的两大任务</a:t>
            </a:r>
            <a:endParaRPr lang="en-US" altLang="zh-CN" sz="2000" b="1" dirty="0"/>
          </a:p>
          <a:p>
            <a:r>
              <a:rPr lang="en-US" altLang="zh-CN" sz="2000" dirty="0"/>
              <a:t>MC</a:t>
            </a:r>
            <a:r>
              <a:rPr lang="zh-CN" altLang="en-US" sz="2000" dirty="0"/>
              <a:t>预测（评估策略）：给定策略 </a:t>
            </a:r>
            <a:r>
              <a:rPr lang="el-GR" altLang="zh-CN" sz="2000" dirty="0"/>
              <a:t>π</a:t>
            </a:r>
            <a:r>
              <a:rPr lang="zh-CN" altLang="en-US" sz="2000" dirty="0"/>
              <a:t>，用轨迹平均</a:t>
            </a:r>
            <a:r>
              <a:rPr lang="en-US" altLang="zh-CN" sz="2000" dirty="0"/>
              <a:t>-&gt;</a:t>
            </a:r>
            <a:r>
              <a:rPr lang="zh-CN" altLang="en-US" sz="2000" dirty="0"/>
              <a:t>估计 </a:t>
            </a:r>
            <a:r>
              <a:rPr lang="en-US" altLang="zh-CN" sz="2000" dirty="0"/>
              <a:t>V (s)</a:t>
            </a:r>
          </a:p>
          <a:p>
            <a:r>
              <a:rPr lang="en-US" altLang="zh-CN" sz="2000" dirty="0"/>
              <a:t>MC</a:t>
            </a:r>
            <a:r>
              <a:rPr lang="zh-CN" altLang="en-US" sz="2000" dirty="0"/>
              <a:t>控制（优化策略）：一边估计 </a:t>
            </a:r>
            <a:r>
              <a:rPr lang="en-US" altLang="zh-CN" sz="2000" dirty="0"/>
              <a:t>Q (</a:t>
            </a:r>
            <a:r>
              <a:rPr lang="en-US" altLang="zh-CN" sz="2000" dirty="0" err="1"/>
              <a:t>s,a</a:t>
            </a:r>
            <a:r>
              <a:rPr lang="en-US" altLang="zh-CN" sz="2000" dirty="0"/>
              <a:t>)</a:t>
            </a:r>
            <a:r>
              <a:rPr lang="zh-CN" altLang="en-US" sz="2000" dirty="0"/>
              <a:t>一边用 </a:t>
            </a:r>
            <a:r>
              <a:rPr lang="el-GR" altLang="zh-CN" sz="2000" dirty="0"/>
              <a:t>ε-</a:t>
            </a:r>
            <a:r>
              <a:rPr lang="en-US" altLang="zh-CN" sz="2000" dirty="0"/>
              <a:t>greedy </a:t>
            </a:r>
            <a:r>
              <a:rPr lang="zh-CN" altLang="en-US" sz="2000" dirty="0"/>
              <a:t>改进策略，最终得到最优策略。</a:t>
            </a:r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en-US" altLang="zh-CN" sz="2000" b="1" dirty="0"/>
              <a:t>MC</a:t>
            </a:r>
            <a:r>
              <a:rPr lang="zh-CN" altLang="en-US" sz="2000" b="1" dirty="0"/>
              <a:t>的特点</a:t>
            </a:r>
            <a:endParaRPr lang="en-US" altLang="zh-CN" sz="2000" b="1" dirty="0"/>
          </a:p>
          <a:p>
            <a:r>
              <a:rPr lang="zh-CN" altLang="en-US" sz="2000" dirty="0"/>
              <a:t>无模型：不需要转移概率 </a:t>
            </a:r>
            <a:r>
              <a:rPr lang="en-US" altLang="zh-CN" sz="2000" dirty="0"/>
              <a:t>P</a:t>
            </a:r>
            <a:r>
              <a:rPr lang="zh-CN" altLang="en-US" sz="2000" dirty="0"/>
              <a:t>、奖励 </a:t>
            </a:r>
            <a:r>
              <a:rPr lang="en-US" altLang="zh-CN" sz="2000" dirty="0"/>
              <a:t>R</a:t>
            </a:r>
          </a:p>
          <a:p>
            <a:r>
              <a:rPr lang="zh-CN" altLang="en-US" sz="2000" dirty="0"/>
              <a:t>必须完整轨迹：不能中途更新</a:t>
            </a:r>
            <a:endParaRPr lang="en-US" altLang="zh-CN" sz="2000" dirty="0"/>
          </a:p>
          <a:p>
            <a:r>
              <a:rPr lang="zh-CN" altLang="en-US" sz="2000" dirty="0"/>
              <a:t>无自举（</a:t>
            </a:r>
            <a:r>
              <a:rPr lang="en-US" altLang="zh-CN" sz="2000" dirty="0"/>
              <a:t>no bootstrapping</a:t>
            </a:r>
            <a:r>
              <a:rPr lang="zh-CN" altLang="en-US" sz="2000" dirty="0"/>
              <a:t>）：不用下一个状态的 </a:t>
            </a:r>
            <a:r>
              <a:rPr lang="en-US" altLang="zh-CN" sz="2000" dirty="0"/>
              <a:t>V </a:t>
            </a:r>
            <a:r>
              <a:rPr lang="zh-CN" altLang="en-US" sz="2000" dirty="0"/>
              <a:t>来估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优点</a:t>
            </a:r>
            <a:r>
              <a:rPr lang="zh-CN" altLang="en-US" sz="2000" dirty="0"/>
              <a:t>：简单、无偏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缺点</a:t>
            </a:r>
            <a:r>
              <a:rPr lang="zh-CN" altLang="en-US" sz="2000" dirty="0"/>
              <a:t>：要等结束、方差大、不在线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F3E2742-D2D0-43FE-331C-968DB17F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蒙特卡洛方法</a:t>
            </a:r>
            <a:r>
              <a:rPr lang="en-US" altLang="zh-CN" sz="3200" b="1" dirty="0"/>
              <a:t>——</a:t>
            </a:r>
            <a:r>
              <a:rPr lang="zh-CN" altLang="en-US" sz="2000" b="1" dirty="0"/>
              <a:t>基于完整轨迹的无模型值函数算法</a:t>
            </a:r>
          </a:p>
        </p:txBody>
      </p:sp>
    </p:spTree>
    <p:extLst>
      <p:ext uri="{BB962C8B-B14F-4D97-AF65-F5344CB8AC3E}">
        <p14:creationId xmlns:p14="http://schemas.microsoft.com/office/powerpoint/2010/main" val="2086828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EC2437-FC2D-3C18-A782-69A9F78C7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时序差分</a:t>
            </a:r>
            <a:r>
              <a:rPr lang="en-US" altLang="zh-CN" sz="3200" b="1" dirty="0"/>
              <a:t>——</a:t>
            </a:r>
            <a:r>
              <a:rPr lang="zh-CN" altLang="en-US" sz="2000" b="1" dirty="0"/>
              <a:t>介于 </a:t>
            </a:r>
            <a:r>
              <a:rPr lang="en-US" altLang="zh-CN" sz="2000" b="1" dirty="0"/>
              <a:t>DP </a:t>
            </a:r>
            <a:r>
              <a:rPr lang="zh-CN" altLang="en-US" sz="2000" b="1" dirty="0"/>
              <a:t>与 </a:t>
            </a:r>
            <a:r>
              <a:rPr lang="en-US" altLang="zh-CN" sz="2000" b="1" dirty="0"/>
              <a:t>MC </a:t>
            </a:r>
            <a:r>
              <a:rPr lang="zh-CN" altLang="en-US" sz="2000" b="1" dirty="0"/>
              <a:t>之间的无模型值函数方法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76FDBA-A6A6-49B9-28FB-FF38B9A3D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b="1" dirty="0"/>
              <a:t>TD </a:t>
            </a:r>
            <a:r>
              <a:rPr lang="zh-CN" altLang="en-US" sz="2000" b="1" dirty="0"/>
              <a:t>是什么</a:t>
            </a:r>
            <a:endParaRPr lang="en-US" altLang="zh-CN" sz="2000" b="1" dirty="0"/>
          </a:p>
          <a:p>
            <a:r>
              <a:rPr lang="zh-CN" altLang="en-US" sz="2000" dirty="0"/>
              <a:t>属于：值函数方法</a:t>
            </a:r>
            <a:endParaRPr lang="en-US" altLang="zh-CN" sz="2000" dirty="0"/>
          </a:p>
          <a:p>
            <a:r>
              <a:rPr lang="zh-CN" altLang="en-US" sz="2000" dirty="0"/>
              <a:t>属于：无模型 </a:t>
            </a:r>
            <a:r>
              <a:rPr lang="en-US" altLang="zh-CN" sz="2000" dirty="0"/>
              <a:t>Model-Free</a:t>
            </a:r>
          </a:p>
          <a:p>
            <a:r>
              <a:rPr lang="zh-CN" altLang="en-US" sz="2000" dirty="0"/>
              <a:t>核心定位： 像 </a:t>
            </a:r>
            <a:r>
              <a:rPr lang="en-US" altLang="zh-CN" sz="2000" dirty="0"/>
              <a:t>DP</a:t>
            </a:r>
            <a:r>
              <a:rPr lang="zh-CN" altLang="en-US" sz="2000" dirty="0"/>
              <a:t>用自举，像 </a:t>
            </a:r>
            <a:r>
              <a:rPr lang="en-US" altLang="zh-CN" sz="2000" dirty="0"/>
              <a:t>MC</a:t>
            </a:r>
            <a:r>
              <a:rPr lang="zh-CN" altLang="en-US" sz="2000" dirty="0"/>
              <a:t>从真实经验学习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b="1" dirty="0"/>
              <a:t>TD = </a:t>
            </a:r>
            <a:r>
              <a:rPr lang="zh-CN" altLang="en-US" sz="2000" b="1" dirty="0"/>
              <a:t>用实时经验 </a:t>
            </a:r>
            <a:r>
              <a:rPr lang="en-US" altLang="zh-CN" sz="2000" b="1" dirty="0"/>
              <a:t>+ </a:t>
            </a:r>
            <a:r>
              <a:rPr lang="zh-CN" altLang="en-US" sz="2000" b="1" dirty="0"/>
              <a:t>单步自举，更新值函数</a:t>
            </a:r>
            <a:endParaRPr lang="en-US" altLang="zh-CN" sz="2000" b="1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en-US" altLang="zh-CN" sz="2000" b="1" dirty="0"/>
              <a:t>TD </a:t>
            </a:r>
            <a:r>
              <a:rPr lang="zh-CN" altLang="en-US" sz="2000" b="1" dirty="0"/>
              <a:t>核心特点</a:t>
            </a:r>
            <a:endParaRPr lang="en-US" altLang="zh-CN" sz="2000" b="1" dirty="0"/>
          </a:p>
          <a:p>
            <a:r>
              <a:rPr lang="zh-CN" altLang="en-US" sz="2000" dirty="0"/>
              <a:t>不需要环境模型 → 无模型</a:t>
            </a:r>
            <a:endParaRPr lang="en-US" altLang="zh-CN" sz="2000" dirty="0"/>
          </a:p>
          <a:p>
            <a:r>
              <a:rPr lang="zh-CN" altLang="en-US" sz="2000" dirty="0"/>
              <a:t>不需要完整轨迹 → 不用等到回合结束</a:t>
            </a:r>
            <a:endParaRPr lang="en-US" altLang="zh-CN" sz="2000" dirty="0"/>
          </a:p>
          <a:p>
            <a:r>
              <a:rPr lang="zh-CN" altLang="en-US" sz="2000" dirty="0"/>
              <a:t>单步更新 → 每走一步就更新</a:t>
            </a:r>
            <a:endParaRPr lang="en-US" altLang="zh-CN" sz="2000" dirty="0"/>
          </a:p>
          <a:p>
            <a:r>
              <a:rPr lang="zh-CN" altLang="en-US" sz="2000" dirty="0"/>
              <a:t>自举 </a:t>
            </a:r>
            <a:r>
              <a:rPr lang="en-US" altLang="zh-CN" sz="2000" dirty="0"/>
              <a:t>Bootstrap</a:t>
            </a:r>
            <a:r>
              <a:rPr lang="zh-CN" altLang="en-US" sz="2000" dirty="0"/>
              <a:t> → 用下一个状态的估值来更新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endParaRPr lang="en-US" altLang="zh-CN" sz="2000" b="1" dirty="0"/>
          </a:p>
          <a:p>
            <a:pPr marL="0" indent="0">
              <a:buNone/>
            </a:pPr>
            <a:endParaRPr lang="en-US" altLang="zh-CN" sz="2000" b="1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1293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F1AB07-CA05-B2E3-5D4E-77851BB7E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1" dirty="0"/>
              <a:t>三个最重要 </a:t>
            </a:r>
            <a:r>
              <a:rPr lang="en-US" altLang="zh-CN" sz="2000" b="1" dirty="0"/>
              <a:t>TD </a:t>
            </a:r>
            <a:r>
              <a:rPr lang="zh-CN" altLang="en-US" sz="2000" b="1" dirty="0"/>
              <a:t>算法</a:t>
            </a:r>
            <a:endParaRPr lang="en-US" altLang="zh-CN" sz="2000" b="1" dirty="0"/>
          </a:p>
          <a:p>
            <a:r>
              <a:rPr lang="en-US" altLang="zh-CN" sz="2000" dirty="0"/>
              <a:t>TD(0)</a:t>
            </a:r>
            <a:r>
              <a:rPr lang="zh-CN" altLang="en-US" sz="2000" dirty="0"/>
              <a:t>：估计状态价值 </a:t>
            </a:r>
            <a:r>
              <a:rPr lang="en-US" altLang="zh-CN" sz="2000" dirty="0"/>
              <a:t>V (s)</a:t>
            </a:r>
            <a:r>
              <a:rPr lang="zh-CN" altLang="en-US" sz="2000" dirty="0"/>
              <a:t>，策略评估</a:t>
            </a:r>
            <a:endParaRPr lang="en-US" altLang="zh-CN" sz="2000" dirty="0"/>
          </a:p>
          <a:p>
            <a:r>
              <a:rPr lang="en-US" altLang="zh-CN" sz="2000" dirty="0"/>
              <a:t>SARSA</a:t>
            </a:r>
            <a:r>
              <a:rPr lang="zh-CN" altLang="en-US" sz="2000" dirty="0"/>
              <a:t>：同策略（</a:t>
            </a:r>
            <a:r>
              <a:rPr lang="en-US" altLang="zh-CN" sz="2000" dirty="0"/>
              <a:t>On-Policy</a:t>
            </a:r>
            <a:r>
              <a:rPr lang="zh-CN" altLang="en-US" sz="2000" dirty="0"/>
              <a:t>），</a:t>
            </a:r>
            <a:r>
              <a:rPr lang="zh-CN" altLang="pt-BR" sz="2000" dirty="0"/>
              <a:t>更新 </a:t>
            </a:r>
            <a:r>
              <a:rPr lang="pt-BR" altLang="zh-CN" sz="2000" dirty="0"/>
              <a:t>Q (s,a)</a:t>
            </a:r>
            <a:r>
              <a:rPr lang="zh-CN" altLang="pt-BR" sz="2000" dirty="0"/>
              <a:t>：</a:t>
            </a:r>
            <a:r>
              <a:rPr lang="pt-BR" altLang="zh-CN" sz="2000" dirty="0"/>
              <a:t>S-A-R-S'-A’</a:t>
            </a:r>
          </a:p>
          <a:p>
            <a:r>
              <a:rPr lang="en-US" altLang="zh-CN" sz="2000" b="1" dirty="0"/>
              <a:t>Q-Learning</a:t>
            </a:r>
            <a:r>
              <a:rPr lang="zh-CN" altLang="en-US" sz="2000" dirty="0"/>
              <a:t>：异策略（</a:t>
            </a:r>
            <a:r>
              <a:rPr lang="en-US" altLang="zh-CN" sz="2000" dirty="0"/>
              <a:t>Off-Policy</a:t>
            </a:r>
            <a:r>
              <a:rPr lang="zh-CN" altLang="en-US" sz="2000" dirty="0"/>
              <a:t>），直接学习最优 </a:t>
            </a:r>
            <a:r>
              <a:rPr lang="en-US" altLang="zh-CN" sz="2000" dirty="0"/>
              <a:t>Q</a:t>
            </a:r>
            <a:r>
              <a:rPr lang="zh-CN" altLang="en-US" sz="2000" dirty="0"/>
              <a:t>，不关心当前策略，核心公式为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总结：</a:t>
            </a:r>
            <a:endParaRPr lang="en-US" altLang="zh-CN" sz="2000" b="1" dirty="0"/>
          </a:p>
          <a:p>
            <a:r>
              <a:rPr lang="en-US" altLang="zh-CN" sz="2000" dirty="0"/>
              <a:t>TD = </a:t>
            </a:r>
            <a:r>
              <a:rPr lang="zh-CN" altLang="en-US" sz="2000" dirty="0"/>
              <a:t>无模型 </a:t>
            </a:r>
            <a:r>
              <a:rPr lang="en-US" altLang="zh-CN" sz="2000" dirty="0"/>
              <a:t>+ </a:t>
            </a:r>
            <a:r>
              <a:rPr lang="zh-CN" altLang="en-US" sz="2000" dirty="0"/>
              <a:t>单步 </a:t>
            </a:r>
            <a:r>
              <a:rPr lang="en-US" altLang="zh-CN" sz="2000" dirty="0"/>
              <a:t>+ </a:t>
            </a:r>
            <a:r>
              <a:rPr lang="zh-CN" altLang="en-US" sz="2000" dirty="0"/>
              <a:t>自举</a:t>
            </a:r>
            <a:endParaRPr lang="en-US" altLang="zh-CN" sz="2000" dirty="0"/>
          </a:p>
          <a:p>
            <a:r>
              <a:rPr lang="zh-CN" altLang="en-US" sz="2000" dirty="0"/>
              <a:t>是 </a:t>
            </a:r>
            <a:r>
              <a:rPr lang="en-US" altLang="zh-CN" sz="2000" dirty="0"/>
              <a:t>RL </a:t>
            </a:r>
            <a:r>
              <a:rPr lang="zh-CN" altLang="en-US" sz="2000" dirty="0"/>
              <a:t>最核心、最常用的一类方法</a:t>
            </a:r>
            <a:endParaRPr lang="en-US" altLang="zh-CN" sz="2000" dirty="0"/>
          </a:p>
          <a:p>
            <a:r>
              <a:rPr lang="zh-CN" altLang="en-US" sz="2000" dirty="0"/>
              <a:t>后面 </a:t>
            </a:r>
            <a:r>
              <a:rPr lang="en-US" altLang="zh-CN" sz="2000" dirty="0"/>
              <a:t>DQN </a:t>
            </a:r>
            <a:r>
              <a:rPr lang="zh-CN" altLang="en-US" sz="2000" dirty="0"/>
              <a:t>就是深度版的 </a:t>
            </a:r>
            <a:r>
              <a:rPr lang="en-US" altLang="zh-CN" sz="2000" dirty="0"/>
              <a:t>Q-Learning</a:t>
            </a:r>
            <a:endParaRPr lang="zh-CN" altLang="en-US" sz="20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3DE2500-1281-385F-6AEF-B80CCF3BD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时序差分</a:t>
            </a:r>
            <a:r>
              <a:rPr lang="en-US" altLang="zh-CN" sz="3200" b="1" dirty="0"/>
              <a:t>——</a:t>
            </a:r>
            <a:r>
              <a:rPr lang="zh-CN" altLang="en-US" sz="2000" b="1" dirty="0"/>
              <a:t>介于 </a:t>
            </a:r>
            <a:r>
              <a:rPr lang="en-US" altLang="zh-CN" sz="2000" b="1" dirty="0"/>
              <a:t>DP </a:t>
            </a:r>
            <a:r>
              <a:rPr lang="zh-CN" altLang="en-US" sz="2000" b="1" dirty="0"/>
              <a:t>与 </a:t>
            </a:r>
            <a:r>
              <a:rPr lang="en-US" altLang="zh-CN" sz="2000" b="1" dirty="0"/>
              <a:t>MC </a:t>
            </a:r>
            <a:r>
              <a:rPr lang="zh-CN" altLang="en-US" sz="2000" b="1" dirty="0"/>
              <a:t>之间的无模型值函数方法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218EDA-978A-D96E-86E8-E3BEED9CC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158" y="3512890"/>
            <a:ext cx="6411309" cy="55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39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433F7-D610-D3B0-3530-6D8F1860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深度</a:t>
            </a:r>
            <a:r>
              <a:rPr lang="en-US" altLang="zh-CN" sz="3200" b="1" dirty="0"/>
              <a:t>Q</a:t>
            </a:r>
            <a:r>
              <a:rPr lang="zh-CN" altLang="en-US" sz="3200" b="1" dirty="0"/>
              <a:t>网络</a:t>
            </a:r>
            <a:r>
              <a:rPr lang="en-US" altLang="zh-CN" sz="3200" b="1" dirty="0"/>
              <a:t>——</a:t>
            </a:r>
            <a:r>
              <a:rPr lang="zh-CN" altLang="en-US" sz="2000" b="1" dirty="0"/>
              <a:t>基于深度学习的无模型值函数算法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38282D-A425-9CDC-3048-C5EB46EE4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629"/>
            <a:ext cx="10515600" cy="467533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/>
              <a:t>DQN </a:t>
            </a:r>
            <a:r>
              <a:rPr lang="zh-CN" altLang="en-US" sz="2000" b="1" dirty="0"/>
              <a:t>是什么</a:t>
            </a:r>
            <a:endParaRPr lang="en-US" altLang="zh-CN" sz="2000" b="1" dirty="0"/>
          </a:p>
          <a:p>
            <a:r>
              <a:rPr lang="zh-CN" altLang="en-US" sz="2000" dirty="0"/>
              <a:t>属于：值函数方法</a:t>
            </a:r>
            <a:endParaRPr lang="en-US" altLang="zh-CN" sz="2000" dirty="0"/>
          </a:p>
          <a:p>
            <a:r>
              <a:rPr lang="zh-CN" altLang="en-US" sz="2000" dirty="0"/>
              <a:t>属于：无模型 </a:t>
            </a:r>
            <a:r>
              <a:rPr lang="en-US" altLang="zh-CN" sz="2000" dirty="0"/>
              <a:t>Model-Free</a:t>
            </a:r>
          </a:p>
          <a:p>
            <a:r>
              <a:rPr lang="zh-CN" altLang="en-US" sz="2000" dirty="0"/>
              <a:t>本质：</a:t>
            </a:r>
            <a:r>
              <a:rPr lang="en-US" altLang="zh-CN" sz="2000" dirty="0"/>
              <a:t>Q-Learning + </a:t>
            </a:r>
            <a:r>
              <a:rPr lang="zh-CN" altLang="en-US" sz="2000" dirty="0"/>
              <a:t>深度神经网络</a:t>
            </a:r>
            <a:endParaRPr lang="en-US" altLang="zh-CN" sz="2000" dirty="0"/>
          </a:p>
          <a:p>
            <a:r>
              <a:rPr lang="zh-CN" altLang="en-US" sz="2000" dirty="0"/>
              <a:t>用途：直接从高维输入（如图像）学习 </a:t>
            </a:r>
            <a:r>
              <a:rPr lang="en-US" altLang="zh-CN" sz="2000" dirty="0"/>
              <a:t>Q </a:t>
            </a:r>
            <a:r>
              <a:rPr lang="zh-CN" altLang="en-US" sz="2000" dirty="0"/>
              <a:t>值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b="1" dirty="0"/>
              <a:t>DQN </a:t>
            </a:r>
            <a:r>
              <a:rPr lang="zh-CN" altLang="en-US" sz="2000" b="1" dirty="0"/>
              <a:t>解决的问题</a:t>
            </a:r>
            <a:endParaRPr lang="en-US" altLang="zh-CN" sz="2000" b="1" dirty="0"/>
          </a:p>
          <a:p>
            <a:pPr marL="0" indent="0">
              <a:buNone/>
            </a:pPr>
            <a:r>
              <a:rPr lang="zh-CN" altLang="en-US" sz="2000" dirty="0"/>
              <a:t>传统 </a:t>
            </a:r>
            <a:r>
              <a:rPr lang="en-US" altLang="zh-CN" sz="2000" dirty="0"/>
              <a:t>Q-Learning </a:t>
            </a:r>
            <a:r>
              <a:rPr lang="zh-CN" altLang="en-US" sz="2000" dirty="0"/>
              <a:t>的缺点：</a:t>
            </a:r>
            <a:endParaRPr lang="en-US" altLang="zh-CN" sz="2000" dirty="0"/>
          </a:p>
          <a:p>
            <a:r>
              <a:rPr lang="zh-CN" altLang="en-US" sz="2000" dirty="0"/>
              <a:t>状态空间大时，表格存不下 </a:t>
            </a:r>
            <a:r>
              <a:rPr lang="en-US" altLang="zh-CN" sz="2000" dirty="0"/>
              <a:t>Q </a:t>
            </a:r>
            <a:r>
              <a:rPr lang="zh-CN" altLang="en-US" sz="2000" dirty="0"/>
              <a:t>值</a:t>
            </a:r>
            <a:endParaRPr lang="en-US" altLang="zh-CN" sz="2000" dirty="0"/>
          </a:p>
          <a:p>
            <a:r>
              <a:rPr lang="zh-CN" altLang="en-US" sz="2000" dirty="0"/>
              <a:t>样本之间相关，训练不稳定</a:t>
            </a:r>
            <a:endParaRPr lang="en-US" altLang="zh-CN" sz="2000" dirty="0"/>
          </a:p>
          <a:p>
            <a:r>
              <a:rPr lang="zh-CN" altLang="en-US" sz="2000" dirty="0"/>
              <a:t>目标一直在变，网络很难收敛</a:t>
            </a:r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E5421F-6AF2-E775-4C1B-198DE3CE7A93}"/>
              </a:ext>
            </a:extLst>
          </p:cNvPr>
          <p:cNvSpPr txBox="1"/>
          <p:nvPr/>
        </p:nvSpPr>
        <p:spPr>
          <a:xfrm>
            <a:off x="6096000" y="4530055"/>
            <a:ext cx="54865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DQN </a:t>
            </a:r>
            <a:r>
              <a:rPr lang="zh-CN" altLang="en-US" sz="2000" b="1" dirty="0"/>
              <a:t>用两个关键技巧解决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1.</a:t>
            </a:r>
            <a:r>
              <a:rPr lang="zh-CN" altLang="en-US" sz="2000" dirty="0"/>
              <a:t>经验回放 </a:t>
            </a:r>
            <a:r>
              <a:rPr lang="en-US" altLang="zh-CN" sz="2000" dirty="0"/>
              <a:t>Experience Replay</a:t>
            </a:r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目标网络 </a:t>
            </a:r>
            <a:r>
              <a:rPr lang="en-US" altLang="zh-CN" sz="2000" dirty="0"/>
              <a:t>Target Network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03384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7AB36C-642E-781A-F297-60D351FC6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796"/>
            <a:ext cx="10515600" cy="46501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b="1" dirty="0"/>
              <a:t>DQN </a:t>
            </a:r>
            <a:r>
              <a:rPr lang="zh-CN" altLang="en-US" sz="2000" b="1" dirty="0"/>
              <a:t>核心 </a:t>
            </a:r>
            <a:r>
              <a:rPr lang="en-US" altLang="zh-CN" sz="2000" b="1" dirty="0"/>
              <a:t>1</a:t>
            </a:r>
            <a:r>
              <a:rPr lang="zh-CN" altLang="en-US" sz="2000" dirty="0"/>
              <a:t>：经验回放</a:t>
            </a:r>
            <a:endParaRPr lang="en-US" altLang="zh-CN" sz="2000" dirty="0"/>
          </a:p>
          <a:p>
            <a:r>
              <a:rPr lang="zh-CN" altLang="en-US" sz="2000" dirty="0"/>
              <a:t>把每一步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s,a,r,s</a:t>
            </a:r>
            <a:r>
              <a:rPr lang="en-US" altLang="zh-CN" sz="2000" dirty="0"/>
              <a:t>') </a:t>
            </a:r>
            <a:r>
              <a:rPr lang="zh-CN" altLang="en-US" sz="2000" dirty="0"/>
              <a:t>存到经验池</a:t>
            </a:r>
            <a:endParaRPr lang="en-US" altLang="zh-CN" sz="2000" dirty="0"/>
          </a:p>
          <a:p>
            <a:r>
              <a:rPr lang="zh-CN" altLang="en-US" sz="2000" dirty="0"/>
              <a:t>训练时随机抽取一批数据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作用：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1.</a:t>
            </a:r>
            <a:r>
              <a:rPr lang="zh-CN" altLang="en-US" sz="2000" dirty="0"/>
              <a:t>打破样本相关性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2.</a:t>
            </a:r>
            <a:r>
              <a:rPr lang="zh-CN" altLang="en-US" sz="2000" dirty="0"/>
              <a:t>提高样本利用率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3.</a:t>
            </a:r>
            <a:r>
              <a:rPr lang="zh-CN" altLang="en-US" sz="2000" dirty="0"/>
              <a:t>让训练更稳定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b="1" dirty="0"/>
              <a:t>DQN </a:t>
            </a:r>
            <a:r>
              <a:rPr lang="zh-CN" altLang="en-US" sz="2000" b="1" dirty="0"/>
              <a:t>训练流程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1.</a:t>
            </a:r>
            <a:r>
              <a:rPr lang="zh-CN" altLang="en-US" sz="2000" dirty="0"/>
              <a:t>智能体与环境交互，存经验到回放池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2.</a:t>
            </a:r>
            <a:r>
              <a:rPr lang="zh-CN" altLang="en-US" sz="2000" dirty="0"/>
              <a:t>随机抽一批经验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3.</a:t>
            </a:r>
            <a:r>
              <a:rPr lang="zh-CN" altLang="en-US" sz="2000" dirty="0"/>
              <a:t>用目标网络算目标 </a:t>
            </a:r>
            <a:r>
              <a:rPr lang="en-US" altLang="zh-CN" sz="2000" dirty="0"/>
              <a:t>Q </a:t>
            </a:r>
            <a:r>
              <a:rPr lang="zh-CN" altLang="en-US" sz="2000" dirty="0"/>
              <a:t>值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4.</a:t>
            </a:r>
            <a:r>
              <a:rPr lang="zh-CN" altLang="en-US" sz="2000" dirty="0"/>
              <a:t>用当前网络预测 </a:t>
            </a:r>
            <a:r>
              <a:rPr lang="en-US" altLang="zh-CN" sz="2000" dirty="0"/>
              <a:t>Q</a:t>
            </a:r>
            <a:r>
              <a:rPr lang="zh-CN" altLang="en-US" sz="2000" dirty="0"/>
              <a:t>，更新减小误差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5.</a:t>
            </a:r>
            <a:r>
              <a:rPr lang="zh-CN" altLang="en-US" sz="2000" dirty="0"/>
              <a:t>隔一段时间把当前网络复制给目标网络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6.</a:t>
            </a:r>
            <a:r>
              <a:rPr lang="zh-CN" altLang="en-US" sz="2000" dirty="0"/>
              <a:t>最终选 </a:t>
            </a:r>
            <a:r>
              <a:rPr lang="en-US" altLang="zh-CN" sz="2000" dirty="0"/>
              <a:t>Q </a:t>
            </a:r>
            <a:r>
              <a:rPr lang="zh-CN" altLang="en-US" sz="2000" dirty="0"/>
              <a:t>值最大的动作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EC6765C-1DDC-DE47-CC77-7AA14765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深度</a:t>
            </a:r>
            <a:r>
              <a:rPr lang="en-US" altLang="zh-CN" sz="3200" b="1" dirty="0"/>
              <a:t>Q</a:t>
            </a:r>
            <a:r>
              <a:rPr lang="zh-CN" altLang="en-US" sz="3200" b="1" dirty="0"/>
              <a:t>网络</a:t>
            </a:r>
            <a:r>
              <a:rPr lang="en-US" altLang="zh-CN" sz="3200" b="1" dirty="0"/>
              <a:t>——</a:t>
            </a:r>
            <a:r>
              <a:rPr lang="zh-CN" altLang="en-US" sz="2000" b="1" dirty="0"/>
              <a:t>基于深度学习的无模型值函数算法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604839-D523-D197-04D0-5B44A073A2E7}"/>
              </a:ext>
            </a:extLst>
          </p:cNvPr>
          <p:cNvSpPr txBox="1"/>
          <p:nvPr/>
        </p:nvSpPr>
        <p:spPr>
          <a:xfrm>
            <a:off x="5928221" y="1526796"/>
            <a:ext cx="5774422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b="1" dirty="0"/>
              <a:t>DQN </a:t>
            </a:r>
            <a:r>
              <a:rPr lang="zh-CN" altLang="en-US" sz="1700" b="1" dirty="0"/>
              <a:t>核心 </a:t>
            </a:r>
            <a:r>
              <a:rPr lang="en-US" altLang="zh-CN" sz="1700" b="1" dirty="0"/>
              <a:t>2</a:t>
            </a:r>
            <a:r>
              <a:rPr lang="zh-CN" altLang="en-US" sz="1700" dirty="0"/>
              <a:t>：目标网络</a:t>
            </a:r>
            <a:endParaRPr lang="en-US" altLang="zh-CN" sz="1700" dirty="0"/>
          </a:p>
          <a:p>
            <a:r>
              <a:rPr lang="zh-CN" altLang="en-US" sz="1700" dirty="0"/>
              <a:t>用两个结构相同、参数不同的网络：</a:t>
            </a:r>
            <a:endParaRPr lang="en-US" altLang="zh-CN" sz="1700" dirty="0"/>
          </a:p>
          <a:p>
            <a:r>
              <a:rPr lang="en-US" altLang="zh-CN" sz="1700" dirty="0"/>
              <a:t>1.</a:t>
            </a:r>
            <a:r>
              <a:rPr lang="zh-CN" altLang="en-US" sz="1700" dirty="0"/>
              <a:t>当前网络 </a:t>
            </a:r>
            <a:r>
              <a:rPr lang="en-US" altLang="zh-CN" sz="1700" dirty="0"/>
              <a:t>Q</a:t>
            </a:r>
            <a:r>
              <a:rPr lang="zh-CN" altLang="en-US" sz="1700" dirty="0"/>
              <a:t>：选动作、实时更新</a:t>
            </a:r>
            <a:endParaRPr lang="en-US" altLang="zh-CN" sz="1700" dirty="0"/>
          </a:p>
          <a:p>
            <a:r>
              <a:rPr lang="en-US" altLang="zh-CN" sz="1700" dirty="0"/>
              <a:t>2.</a:t>
            </a:r>
            <a:r>
              <a:rPr lang="zh-CN" altLang="en-US" sz="1700" dirty="0"/>
              <a:t>目标网络 </a:t>
            </a:r>
            <a:r>
              <a:rPr lang="en-US" altLang="zh-CN" sz="1700" dirty="0" err="1"/>
              <a:t>Q_target</a:t>
            </a:r>
            <a:r>
              <a:rPr lang="zh-CN" altLang="en-US" sz="1700" dirty="0"/>
              <a:t>：计算目标 </a:t>
            </a:r>
            <a:r>
              <a:rPr lang="en-US" altLang="zh-CN" sz="1700" dirty="0"/>
              <a:t>Q </a:t>
            </a:r>
            <a:r>
              <a:rPr lang="zh-CN" altLang="en-US" sz="1700" dirty="0"/>
              <a:t>值，很久才更新一次</a:t>
            </a:r>
            <a:endParaRPr lang="en-US" altLang="zh-CN" sz="1700" dirty="0"/>
          </a:p>
          <a:p>
            <a:endParaRPr lang="en-US" altLang="zh-CN" sz="1700" dirty="0"/>
          </a:p>
          <a:p>
            <a:r>
              <a:rPr lang="zh-CN" altLang="en-US" sz="1700" dirty="0"/>
              <a:t>作用：</a:t>
            </a:r>
            <a:endParaRPr lang="en-US" altLang="zh-CN" sz="1700" dirty="0"/>
          </a:p>
          <a:p>
            <a:r>
              <a:rPr lang="zh-CN" altLang="en-US" sz="1700" dirty="0"/>
              <a:t>让训练目标固定一点，不边学边变，收敛更稳</a:t>
            </a:r>
          </a:p>
        </p:txBody>
      </p:sp>
    </p:spTree>
    <p:extLst>
      <p:ext uri="{BB962C8B-B14F-4D97-AF65-F5344CB8AC3E}">
        <p14:creationId xmlns:p14="http://schemas.microsoft.com/office/powerpoint/2010/main" val="2569610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6B475-0BA0-E702-6D78-F1F81DC73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强化学习</a:t>
            </a:r>
            <a:r>
              <a:rPr lang="en-US" altLang="zh-CN" sz="3200" b="1" dirty="0"/>
              <a:t>———</a:t>
            </a:r>
            <a:r>
              <a:rPr lang="zh-CN" altLang="en-US" sz="3200" b="1" dirty="0"/>
              <a:t>基于策略</a:t>
            </a:r>
            <a:r>
              <a:rPr lang="en-US" altLang="zh-CN" sz="3200" b="1" dirty="0"/>
              <a:t>VS</a:t>
            </a:r>
            <a:r>
              <a:rPr lang="zh-CN" altLang="en-US" sz="3200" b="1" dirty="0"/>
              <a:t>基于价值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C55B9F-328A-95B7-F97B-C405565FE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基于策略：</a:t>
            </a:r>
            <a:endParaRPr lang="en-US" altLang="zh-CN" dirty="0"/>
          </a:p>
          <a:p>
            <a:r>
              <a:rPr lang="zh-CN" altLang="en-US" dirty="0"/>
              <a:t>直接优化策略参数</a:t>
            </a:r>
            <a:endParaRPr lang="en-US" altLang="zh-CN" dirty="0"/>
          </a:p>
          <a:p>
            <a:r>
              <a:rPr lang="en-US" altLang="zh-CN" dirty="0"/>
              <a:t>REINFORCE</a:t>
            </a:r>
            <a:r>
              <a:rPr lang="zh-CN" altLang="en-US" dirty="0"/>
              <a:t>算法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6736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54493-C184-007B-9220-A060D4231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2231472"/>
          </a:xfrm>
        </p:spPr>
        <p:txBody>
          <a:bodyPr/>
          <a:lstStyle/>
          <a:p>
            <a:r>
              <a:rPr lang="zh-CN" altLang="en-US" sz="3200" b="1" dirty="0"/>
              <a:t>直接优化策略参数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01FB27-D75C-397F-BD44-923FF2C6B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075"/>
            <a:ext cx="10515600" cy="4557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1" dirty="0"/>
              <a:t>是什么</a:t>
            </a:r>
            <a:endParaRPr lang="en-US" altLang="zh-CN" sz="2000" b="1" dirty="0"/>
          </a:p>
          <a:p>
            <a:r>
              <a:rPr lang="zh-CN" altLang="en-US" sz="2000" dirty="0"/>
              <a:t>属于：策略 </a:t>
            </a:r>
            <a:r>
              <a:rPr lang="en-US" altLang="zh-CN" sz="2000" dirty="0"/>
              <a:t>- based </a:t>
            </a:r>
            <a:r>
              <a:rPr lang="zh-CN" altLang="en-US" sz="2000" dirty="0"/>
              <a:t>方法（</a:t>
            </a:r>
            <a:r>
              <a:rPr lang="en-US" altLang="zh-CN" sz="2000" dirty="0"/>
              <a:t>Policy-Based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zh-CN" altLang="en-US" sz="2000" dirty="0"/>
              <a:t>属于：无模型 </a:t>
            </a:r>
            <a:r>
              <a:rPr lang="en-US" altLang="zh-CN" sz="2000" dirty="0"/>
              <a:t>Model-Free</a:t>
            </a:r>
          </a:p>
          <a:p>
            <a:r>
              <a:rPr lang="zh-CN" altLang="en-US" sz="2000" dirty="0"/>
              <a:t>核心：直接构造带参数的策略 </a:t>
            </a:r>
            <a:r>
              <a:rPr lang="en-US" altLang="zh-CN" sz="2000" dirty="0"/>
              <a:t>πθ(</a:t>
            </a:r>
            <a:r>
              <a:rPr lang="en-US" altLang="zh-CN" sz="2000" dirty="0" err="1"/>
              <a:t>a|s</a:t>
            </a:r>
            <a:r>
              <a:rPr lang="en-US" altLang="zh-CN" sz="2000" dirty="0"/>
              <a:t>)</a:t>
            </a:r>
            <a:r>
              <a:rPr lang="zh-CN" altLang="en-US" sz="2000" dirty="0"/>
              <a:t>，通过梯度上升最大化总奖励</a:t>
            </a:r>
            <a:endParaRPr lang="en-US" altLang="zh-CN" sz="2000" dirty="0"/>
          </a:p>
          <a:p>
            <a:r>
              <a:rPr lang="zh-CN" altLang="en-US" sz="2000" dirty="0"/>
              <a:t>不依赖 </a:t>
            </a:r>
            <a:r>
              <a:rPr lang="en-US" altLang="zh-CN" sz="2000" dirty="0"/>
              <a:t>Q </a:t>
            </a:r>
            <a:r>
              <a:rPr lang="zh-CN" altLang="en-US" sz="2000" dirty="0"/>
              <a:t>表格、不依赖值函数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为什么要直接优化策略</a:t>
            </a:r>
            <a:endParaRPr lang="en-US" altLang="zh-CN" sz="2000" b="1" dirty="0"/>
          </a:p>
          <a:p>
            <a:r>
              <a:rPr lang="zh-CN" altLang="en-US" sz="2000" dirty="0"/>
              <a:t>值函数方法（</a:t>
            </a:r>
            <a:r>
              <a:rPr lang="en-US" altLang="zh-CN" sz="2000" dirty="0"/>
              <a:t>Q-Learning</a:t>
            </a:r>
            <a:r>
              <a:rPr lang="zh-CN" altLang="en-US" sz="2000" dirty="0"/>
              <a:t>、</a:t>
            </a:r>
            <a:r>
              <a:rPr lang="en-US" altLang="zh-CN" sz="2000" dirty="0"/>
              <a:t>DQN</a:t>
            </a:r>
            <a:r>
              <a:rPr lang="zh-CN" altLang="en-US" sz="2000" dirty="0"/>
              <a:t>）的问题：只能处理离散动作</a:t>
            </a:r>
            <a:r>
              <a:rPr lang="en-US" altLang="zh-CN" sz="2000" dirty="0"/>
              <a:t>,</a:t>
            </a:r>
            <a:r>
              <a:rPr lang="zh-CN" altLang="en-US" sz="2000" dirty="0"/>
              <a:t>难以处理连续动作</a:t>
            </a:r>
            <a:r>
              <a:rPr lang="en-US" altLang="zh-CN" sz="2000" dirty="0"/>
              <a:t>,</a:t>
            </a:r>
            <a:r>
              <a:rPr lang="zh-CN" altLang="en-US" sz="2000" dirty="0"/>
              <a:t>策略是间接得到的（选 </a:t>
            </a:r>
            <a:r>
              <a:rPr lang="en-US" altLang="zh-CN" sz="2000" dirty="0"/>
              <a:t>Q </a:t>
            </a:r>
            <a:r>
              <a:rPr lang="zh-CN" altLang="en-US" sz="2000" dirty="0"/>
              <a:t>最大）。</a:t>
            </a:r>
            <a:endParaRPr lang="en-US" altLang="zh-CN" sz="2000" dirty="0"/>
          </a:p>
          <a:p>
            <a:r>
              <a:rPr lang="zh-CN" altLang="en-US" sz="2000" dirty="0"/>
              <a:t>策略梯度优点：支持连续动作空间</a:t>
            </a:r>
            <a:r>
              <a:rPr lang="en-US" altLang="zh-CN" sz="2000" dirty="0"/>
              <a:t>,</a:t>
            </a:r>
            <a:r>
              <a:rPr lang="zh-CN" altLang="en-US" sz="2000" dirty="0"/>
              <a:t>策略输出是概率分布，更稳定</a:t>
            </a:r>
            <a:r>
              <a:rPr lang="en-US" altLang="zh-CN" sz="2000" dirty="0"/>
              <a:t>,</a:t>
            </a:r>
            <a:r>
              <a:rPr lang="zh-CN" altLang="en-US" sz="2000" dirty="0"/>
              <a:t>直接端到端学习。</a:t>
            </a:r>
          </a:p>
        </p:txBody>
      </p:sp>
    </p:spTree>
    <p:extLst>
      <p:ext uri="{BB962C8B-B14F-4D97-AF65-F5344CB8AC3E}">
        <p14:creationId xmlns:p14="http://schemas.microsoft.com/office/powerpoint/2010/main" val="3917525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D20B7E-FDAE-A606-CBC8-B531CAF0B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0792"/>
            <a:ext cx="10515600" cy="4351338"/>
          </a:xfrm>
        </p:spPr>
        <p:txBody>
          <a:bodyPr/>
          <a:lstStyle/>
          <a:p>
            <a:r>
              <a:rPr lang="zh-CN" altLang="en-US" sz="2000" b="1" dirty="0"/>
              <a:t>核心思想</a:t>
            </a:r>
            <a:r>
              <a:rPr lang="zh-CN" altLang="en-US" sz="2000" dirty="0"/>
              <a:t>：策略梯度⽅法的核⼼是计算⽬标函数对策略参数的梯度，并沿梯度⽅向更新参 数，使⽬标函数最⼤化</a:t>
            </a:r>
            <a:endParaRPr lang="en-US" altLang="zh-CN" sz="2000" dirty="0"/>
          </a:p>
          <a:p>
            <a:r>
              <a:rPr lang="zh-CN" altLang="en-US" sz="2000" b="1" dirty="0"/>
              <a:t>核心公式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经典算法</a:t>
            </a:r>
            <a:r>
              <a:rPr lang="zh-CN" altLang="en-US" sz="2000" dirty="0"/>
              <a:t>：</a:t>
            </a:r>
            <a:r>
              <a:rPr lang="en-US" altLang="zh-CN" sz="2000" dirty="0"/>
              <a:t>REINFORCE </a:t>
            </a:r>
            <a:r>
              <a:rPr lang="zh-CN" altLang="en-US" sz="2000" dirty="0"/>
              <a:t>步骤</a:t>
            </a:r>
            <a:endParaRPr lang="en-US" altLang="zh-CN" sz="2000" dirty="0"/>
          </a:p>
          <a:p>
            <a:r>
              <a:rPr lang="zh-CN" altLang="en-US" sz="2000" dirty="0"/>
              <a:t>⽣成序列：⽤当前策略与环境交互，⽣成⼀个完整的决策序列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sz="2000" dirty="0"/>
              <a:t>计算回报：对序列中的每个时刻</a:t>
            </a:r>
            <a:r>
              <a:rPr lang="en-US" altLang="zh-CN" sz="2000" dirty="0"/>
              <a:t>t</a:t>
            </a:r>
            <a:r>
              <a:rPr lang="zh-CN" altLang="en-US" sz="2000" dirty="0"/>
              <a:t>，计算累积回报</a:t>
            </a:r>
            <a:endParaRPr lang="en-US" altLang="zh-CN" sz="2000" dirty="0"/>
          </a:p>
          <a:p>
            <a:r>
              <a:rPr lang="zh-CN" altLang="en-US" sz="2000" dirty="0"/>
              <a:t>计算梯度：对每个时刻</a:t>
            </a:r>
            <a:r>
              <a:rPr lang="en-US" altLang="zh-CN" sz="2000" dirty="0"/>
              <a:t>t</a:t>
            </a:r>
            <a:r>
              <a:rPr lang="zh-CN" altLang="en-US" sz="2000" dirty="0"/>
              <a:t>，计算策略梯度                               ，并对所有时刻的梯度取平均， 得到</a:t>
            </a:r>
            <a:endParaRPr lang="en-US" altLang="zh-CN" sz="2000" dirty="0"/>
          </a:p>
          <a:p>
            <a:r>
              <a:rPr lang="zh-CN" altLang="en-US" sz="2000" dirty="0"/>
              <a:t>重复直到收敛                            （  为学习率）</a:t>
            </a:r>
            <a:endParaRPr lang="en-US" altLang="zh-CN" sz="20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65C5AE2-B3FB-D6E5-007D-728E9025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936" y="520287"/>
            <a:ext cx="10515600" cy="1325563"/>
          </a:xfrm>
        </p:spPr>
        <p:txBody>
          <a:bodyPr/>
          <a:lstStyle/>
          <a:p>
            <a:r>
              <a:rPr lang="zh-CN" altLang="en-US" sz="3200" b="1" dirty="0"/>
              <a:t>直接优化策略参数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4D56574-8226-2E81-9CDF-42E763F1E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029" y="2461435"/>
            <a:ext cx="3912707" cy="6548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6DE17E5-D8E1-78BF-009E-FC871C431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029" y="4104546"/>
            <a:ext cx="4071006" cy="41647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1BE85EB-8C82-2D5B-E583-7C119D544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298" y="4217181"/>
            <a:ext cx="1740116" cy="7442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D2C456E-C2D7-80CF-D28E-16C5BBF1CE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3840" y="4961472"/>
            <a:ext cx="1756516" cy="35130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357B6C4-19A5-656F-8A3D-6F8B71699F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1638" y="5223767"/>
            <a:ext cx="2426712" cy="45116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943D53A-916C-53C7-36C7-7C0394591C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5783" y="5665407"/>
            <a:ext cx="1714286" cy="29523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5B7811F-CFA7-1EAF-8CB7-3B9801A129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5597" y="5665407"/>
            <a:ext cx="152381" cy="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34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37A426-C422-711A-F91D-8DA32389C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1" dirty="0"/>
              <a:t>优点</a:t>
            </a:r>
            <a:r>
              <a:rPr lang="zh-CN" altLang="en-US" sz="2000" dirty="0"/>
              <a:t>：</a:t>
            </a:r>
            <a:r>
              <a:rPr lang="en-US" altLang="zh-CN" sz="2000" dirty="0"/>
              <a:t>1.</a:t>
            </a:r>
            <a:r>
              <a:rPr lang="zh-CN" altLang="en-US" sz="2000" dirty="0"/>
              <a:t>直接输出策略，简单稳定 </a:t>
            </a:r>
            <a:r>
              <a:rPr lang="en-US" altLang="zh-CN" sz="2000" dirty="0"/>
              <a:t>2.</a:t>
            </a:r>
            <a:r>
              <a:rPr lang="zh-CN" altLang="en-US" sz="2000" dirty="0"/>
              <a:t>支持连续动作 </a:t>
            </a:r>
            <a:r>
              <a:rPr lang="en-US" altLang="zh-CN" sz="2000" dirty="0"/>
              <a:t>3.</a:t>
            </a:r>
            <a:r>
              <a:rPr lang="zh-CN" altLang="en-US" sz="2000" dirty="0"/>
              <a:t>收敛性更好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缺点</a:t>
            </a:r>
            <a:r>
              <a:rPr lang="zh-CN" altLang="en-US" sz="2000" dirty="0"/>
              <a:t>：</a:t>
            </a:r>
            <a:r>
              <a:rPr lang="en-US" altLang="zh-CN" sz="2000" dirty="0"/>
              <a:t>1.</a:t>
            </a:r>
            <a:r>
              <a:rPr lang="zh-CN" altLang="en-US" sz="2000" dirty="0"/>
              <a:t>方差大 </a:t>
            </a:r>
            <a:r>
              <a:rPr lang="en-US" altLang="zh-CN" sz="2000" dirty="0"/>
              <a:t>2.</a:t>
            </a:r>
            <a:r>
              <a:rPr lang="zh-CN" altLang="en-US" sz="2000" dirty="0"/>
              <a:t>样本效率低 </a:t>
            </a:r>
            <a:r>
              <a:rPr lang="en-US" altLang="zh-CN" sz="2000" dirty="0"/>
              <a:t>3.</a:t>
            </a:r>
            <a:r>
              <a:rPr lang="zh-CN" altLang="en-US" sz="2000" dirty="0"/>
              <a:t>必须跑完整轨迹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总结</a:t>
            </a:r>
            <a:endParaRPr lang="en-US" altLang="zh-CN" sz="2000" b="1" dirty="0"/>
          </a:p>
          <a:p>
            <a:r>
              <a:rPr lang="zh-CN" altLang="en-US" sz="2000" dirty="0"/>
              <a:t>直接优化策略参数 </a:t>
            </a:r>
            <a:r>
              <a:rPr lang="en-US" altLang="zh-CN" sz="2000" dirty="0"/>
              <a:t>= </a:t>
            </a:r>
            <a:r>
              <a:rPr lang="zh-CN" altLang="en-US" sz="2000" dirty="0"/>
              <a:t>策略梯度方法</a:t>
            </a:r>
            <a:endParaRPr lang="en-US" altLang="zh-CN" sz="2000" dirty="0"/>
          </a:p>
          <a:p>
            <a:r>
              <a:rPr lang="zh-CN" altLang="en-US" sz="2000" dirty="0"/>
              <a:t>属于：无模型、</a:t>
            </a:r>
            <a:r>
              <a:rPr lang="en-US" altLang="zh-CN" sz="2000" dirty="0"/>
              <a:t>Policy-Based</a:t>
            </a:r>
          </a:p>
          <a:p>
            <a:r>
              <a:rPr lang="zh-CN" altLang="en-US" sz="2000" dirty="0"/>
              <a:t>不靠 </a:t>
            </a:r>
            <a:r>
              <a:rPr lang="en-US" altLang="zh-CN" sz="2000" dirty="0"/>
              <a:t>Q </a:t>
            </a:r>
            <a:r>
              <a:rPr lang="zh-CN" altLang="en-US" sz="2000" dirty="0"/>
              <a:t>值、不靠值函数</a:t>
            </a:r>
            <a:endParaRPr lang="en-US" altLang="zh-CN" sz="2000" dirty="0"/>
          </a:p>
          <a:p>
            <a:r>
              <a:rPr lang="zh-CN" altLang="en-US" sz="2000" dirty="0"/>
              <a:t>代表算法：</a:t>
            </a:r>
            <a:r>
              <a:rPr lang="en-US" altLang="zh-CN" sz="2000" dirty="0"/>
              <a:t>REINFORCE</a:t>
            </a:r>
          </a:p>
          <a:p>
            <a:r>
              <a:rPr lang="zh-CN" altLang="en-US" sz="2000" dirty="0"/>
              <a:t>是 </a:t>
            </a:r>
            <a:r>
              <a:rPr lang="en-US" altLang="zh-CN" sz="2000" dirty="0"/>
              <a:t>Actor-Critic</a:t>
            </a:r>
            <a:r>
              <a:rPr lang="zh-CN" altLang="en-US" sz="2000" dirty="0"/>
              <a:t>、</a:t>
            </a:r>
            <a:r>
              <a:rPr lang="en-US" altLang="zh-CN" sz="2000" dirty="0"/>
              <a:t>PPO </a:t>
            </a:r>
            <a:r>
              <a:rPr lang="zh-CN" altLang="en-US" sz="2000" dirty="0"/>
              <a:t>等高级算法的基础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348D36D-1FA8-B60F-2C03-7242AE1DC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z="3200" b="1" dirty="0"/>
              <a:t>直接优化策略参数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1138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C780D-AC54-A0F0-6054-6351431C6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/>
              <a:t>Actor Critic</a:t>
            </a:r>
            <a:r>
              <a:rPr lang="zh-CN" altLang="en-US" sz="3200" b="1" dirty="0"/>
              <a:t>算法</a:t>
            </a:r>
            <a:r>
              <a:rPr lang="en-US" altLang="zh-CN" sz="3200" b="1" dirty="0"/>
              <a:t>——</a:t>
            </a:r>
            <a:r>
              <a:rPr lang="zh-CN" altLang="en-US" sz="2000" b="1" dirty="0"/>
              <a:t>策略梯度 </a:t>
            </a:r>
            <a:r>
              <a:rPr lang="en-US" altLang="zh-CN" sz="2000" b="1" dirty="0"/>
              <a:t>+ </a:t>
            </a:r>
            <a:r>
              <a:rPr lang="zh-CN" altLang="en-US" sz="2000" b="1" dirty="0"/>
              <a:t>值函数 的结合算法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4B2F7D-6EC8-4BE2-0108-5E3C30B33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b="1" dirty="0"/>
              <a:t>Actor-Critic </a:t>
            </a:r>
            <a:r>
              <a:rPr lang="zh-CN" altLang="en-US" sz="2000" b="1" dirty="0"/>
              <a:t>是什么</a:t>
            </a:r>
            <a:endParaRPr lang="en-US" altLang="zh-CN" sz="2000" b="1" dirty="0"/>
          </a:p>
          <a:p>
            <a:r>
              <a:rPr lang="zh-CN" altLang="en-US" sz="2000" dirty="0"/>
              <a:t>属于：</a:t>
            </a:r>
            <a:r>
              <a:rPr lang="en-US" altLang="zh-CN" sz="2000" dirty="0"/>
              <a:t>Actor-Critic </a:t>
            </a:r>
            <a:r>
              <a:rPr lang="zh-CN" altLang="en-US" sz="2000" dirty="0"/>
              <a:t>类方法</a:t>
            </a:r>
            <a:endParaRPr lang="en-US" altLang="zh-CN" sz="2000" dirty="0"/>
          </a:p>
          <a:p>
            <a:r>
              <a:rPr lang="zh-CN" altLang="en-US" sz="2000" dirty="0"/>
              <a:t>属于：无模型 </a:t>
            </a:r>
            <a:r>
              <a:rPr lang="en-US" altLang="zh-CN" sz="2000" dirty="0"/>
              <a:t>Model-Free</a:t>
            </a:r>
          </a:p>
          <a:p>
            <a:r>
              <a:rPr lang="zh-CN" altLang="en-US" sz="2000" dirty="0"/>
              <a:t>本质：</a:t>
            </a:r>
            <a:r>
              <a:rPr lang="en-US" altLang="zh-CN" sz="2000" dirty="0"/>
              <a:t>Policy-Based + Value-Based </a:t>
            </a:r>
            <a:r>
              <a:rPr lang="zh-CN" altLang="en-US" sz="2000" dirty="0"/>
              <a:t>结合</a:t>
            </a:r>
            <a:endParaRPr lang="en-US" altLang="zh-CN" sz="2000" dirty="0"/>
          </a:p>
          <a:p>
            <a:r>
              <a:rPr lang="zh-CN" altLang="en-US" sz="2000" dirty="0"/>
              <a:t>同时训练两个网络： </a:t>
            </a:r>
            <a:r>
              <a:rPr lang="en-US" altLang="zh-CN" sz="2000" dirty="0"/>
              <a:t>1.Actor</a:t>
            </a:r>
            <a:r>
              <a:rPr lang="zh-CN" altLang="en-US" sz="2000" dirty="0"/>
              <a:t>：策略网络  </a:t>
            </a:r>
            <a:r>
              <a:rPr lang="en-US" altLang="zh-CN" sz="2000" dirty="0"/>
              <a:t>2.Critic</a:t>
            </a:r>
            <a:r>
              <a:rPr lang="zh-CN" altLang="en-US" sz="2000" dirty="0"/>
              <a:t>：值函数网络</a:t>
            </a:r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核⼼⻆⾊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r>
              <a:rPr lang="en-US" altLang="zh-CN" sz="2000" dirty="0"/>
              <a:t>Actor</a:t>
            </a:r>
            <a:r>
              <a:rPr lang="zh-CN" altLang="en-US" sz="2000" dirty="0"/>
              <a:t>（策略⽹络）：参数化策略，负责⽣成动作（探索环境），通过策略梯度更新参 数，⽬标是最⼤化⻓期回报；</a:t>
            </a:r>
            <a:endParaRPr lang="en-US" altLang="zh-CN" sz="2000" dirty="0"/>
          </a:p>
          <a:p>
            <a:r>
              <a:rPr lang="en-US" altLang="zh-CN" sz="2000" dirty="0"/>
              <a:t>Critic</a:t>
            </a:r>
            <a:r>
              <a:rPr lang="zh-CN" altLang="en-US" sz="2000" dirty="0"/>
              <a:t>（价值⽹络）：参数化价值函数或，负责评价</a:t>
            </a:r>
            <a:r>
              <a:rPr lang="en-US" altLang="zh-CN" sz="2000" dirty="0"/>
              <a:t>Actor⽣</a:t>
            </a:r>
            <a:r>
              <a:rPr lang="zh-CN" altLang="en-US" sz="2000" dirty="0"/>
              <a:t>成动作的好坏 （估计该动作的⻓期期望回报），通过</a:t>
            </a:r>
            <a:r>
              <a:rPr lang="en-US" altLang="zh-CN" sz="2000" dirty="0"/>
              <a:t>TD</a:t>
            </a:r>
            <a:r>
              <a:rPr lang="zh-CN" altLang="en-US" sz="2000" dirty="0"/>
              <a:t>误差更新参数，⽬标是准确估计价值。</a:t>
            </a:r>
            <a:endParaRPr lang="en-US" altLang="zh-CN" sz="2000" dirty="0"/>
          </a:p>
          <a:p>
            <a:endParaRPr lang="zh-CN" altLang="en-US" sz="2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07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271D50-5F14-C46B-6FEC-FBF8B6F33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000" b="1" dirty="0"/>
              <a:t>核⼼改进</a:t>
            </a:r>
            <a:r>
              <a:rPr lang="zh-CN" altLang="en-US" sz="2000" dirty="0"/>
              <a:t>：⽤</a:t>
            </a:r>
            <a:r>
              <a:rPr lang="en-US" altLang="zh-CN" sz="2000" dirty="0"/>
              <a:t>Critic</a:t>
            </a:r>
            <a:r>
              <a:rPr lang="zh-CN" altLang="en-US" sz="2000" dirty="0"/>
              <a:t>的价值估计替代真实回报，减少⽅差。核心公式（</a:t>
            </a:r>
            <a:r>
              <a:rPr lang="en-US" altLang="zh-CN" sz="2000" dirty="0"/>
              <a:t>Actor</a:t>
            </a:r>
            <a:r>
              <a:rPr lang="zh-CN" altLang="en-US" sz="2000" dirty="0"/>
              <a:t>更新）如下：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b="1" dirty="0"/>
              <a:t>Actor-Critic </a:t>
            </a:r>
            <a:r>
              <a:rPr lang="zh-CN" altLang="en-US" sz="2000" b="1" dirty="0"/>
              <a:t>流程</a:t>
            </a:r>
            <a:endParaRPr lang="en-US" altLang="zh-CN" sz="2000" b="1" dirty="0"/>
          </a:p>
          <a:p>
            <a:r>
              <a:rPr lang="zh-CN" altLang="en-US" sz="2000" dirty="0"/>
              <a:t>状态 </a:t>
            </a:r>
            <a:r>
              <a:rPr lang="en-US" altLang="zh-CN" sz="2000" dirty="0"/>
              <a:t>s </a:t>
            </a:r>
            <a:r>
              <a:rPr lang="zh-CN" altLang="en-US" sz="2000" dirty="0"/>
              <a:t>输入 </a:t>
            </a:r>
            <a:r>
              <a:rPr lang="en-US" altLang="zh-CN" sz="2000" dirty="0"/>
              <a:t>Actor</a:t>
            </a:r>
            <a:r>
              <a:rPr lang="zh-CN" altLang="en-US" sz="2000" dirty="0"/>
              <a:t>，得到动作 </a:t>
            </a:r>
            <a:r>
              <a:rPr lang="en-US" altLang="zh-CN" sz="2000" dirty="0"/>
              <a:t>a</a:t>
            </a:r>
          </a:p>
          <a:p>
            <a:r>
              <a:rPr lang="zh-CN" altLang="en-US" sz="2000" dirty="0"/>
              <a:t>执行 </a:t>
            </a:r>
            <a:r>
              <a:rPr lang="en-US" altLang="zh-CN" sz="2000" dirty="0"/>
              <a:t>a</a:t>
            </a:r>
            <a:r>
              <a:rPr lang="zh-CN" altLang="en-US" sz="2000" dirty="0"/>
              <a:t>，得到 </a:t>
            </a:r>
            <a:r>
              <a:rPr lang="en-US" altLang="zh-CN" sz="2000" dirty="0"/>
              <a:t>r, s’</a:t>
            </a:r>
          </a:p>
          <a:p>
            <a:r>
              <a:rPr lang="en-US" altLang="zh-CN" sz="2000" dirty="0"/>
              <a:t>Critic </a:t>
            </a:r>
            <a:r>
              <a:rPr lang="zh-CN" altLang="en-US" sz="2000" dirty="0"/>
              <a:t>计算 </a:t>
            </a:r>
            <a:r>
              <a:rPr lang="en-US" altLang="zh-CN" sz="2000" dirty="0"/>
              <a:t>TD </a:t>
            </a:r>
            <a:r>
              <a:rPr lang="zh-CN" altLang="en-US" sz="2000" dirty="0"/>
              <a:t>误差：评价准不准</a:t>
            </a:r>
            <a:endParaRPr lang="en-US" altLang="zh-CN" sz="2000" dirty="0"/>
          </a:p>
          <a:p>
            <a:r>
              <a:rPr lang="zh-CN" altLang="en-US" sz="2000" dirty="0"/>
              <a:t>用 </a:t>
            </a:r>
            <a:r>
              <a:rPr lang="en-US" altLang="zh-CN" sz="2000" dirty="0"/>
              <a:t>TD </a:t>
            </a:r>
            <a:r>
              <a:rPr lang="zh-CN" altLang="en-US" sz="2000" dirty="0"/>
              <a:t>误差更新 </a:t>
            </a:r>
            <a:r>
              <a:rPr lang="en-US" altLang="zh-CN" sz="2000" dirty="0"/>
              <a:t>Critic</a:t>
            </a:r>
          </a:p>
          <a:p>
            <a:r>
              <a:rPr lang="zh-CN" altLang="en-US" sz="2000" dirty="0"/>
              <a:t>用 </a:t>
            </a:r>
            <a:r>
              <a:rPr lang="en-US" altLang="zh-CN" sz="2000" dirty="0"/>
              <a:t>TD </a:t>
            </a:r>
            <a:r>
              <a:rPr lang="zh-CN" altLang="en-US" sz="2000" dirty="0"/>
              <a:t>误差指导 </a:t>
            </a:r>
            <a:r>
              <a:rPr lang="en-US" altLang="zh-CN" sz="2000" dirty="0"/>
              <a:t>Actor </a:t>
            </a:r>
            <a:r>
              <a:rPr lang="zh-CN" altLang="en-US" sz="2000" dirty="0"/>
              <a:t>更新策略</a:t>
            </a:r>
            <a:endParaRPr lang="en-US" altLang="zh-CN" sz="2000" dirty="0"/>
          </a:p>
          <a:p>
            <a:r>
              <a:rPr lang="zh-CN" altLang="en-US" sz="2000" dirty="0"/>
              <a:t>不断循环直到收敛</a:t>
            </a:r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28A0230-4DDF-3587-7B19-F5F42163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Actor Critic</a:t>
            </a:r>
            <a:r>
              <a:rPr lang="zh-CN" altLang="en-US" sz="3200" b="1" dirty="0"/>
              <a:t>算法</a:t>
            </a:r>
            <a:r>
              <a:rPr lang="en-US" altLang="zh-CN" sz="3200" b="1" dirty="0"/>
              <a:t>——</a:t>
            </a:r>
            <a:r>
              <a:rPr lang="zh-CN" altLang="en-US" sz="2000" b="1" dirty="0"/>
              <a:t>策略梯度 </a:t>
            </a:r>
            <a:r>
              <a:rPr lang="en-US" altLang="zh-CN" sz="2000" b="1" dirty="0"/>
              <a:t>+ </a:t>
            </a:r>
            <a:r>
              <a:rPr lang="zh-CN" altLang="en-US" sz="2000" b="1" dirty="0"/>
              <a:t>值函数 的结合算法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296C5A-7F3A-DE1F-7E4D-684010865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503" y="2221185"/>
            <a:ext cx="4628968" cy="5304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7146DEA-2B53-8504-61F9-32BBAA0D4225}"/>
              </a:ext>
            </a:extLst>
          </p:cNvPr>
          <p:cNvSpPr txBox="1"/>
          <p:nvPr/>
        </p:nvSpPr>
        <p:spPr>
          <a:xfrm>
            <a:off x="5768829" y="3147148"/>
            <a:ext cx="5257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特点与优点</a:t>
            </a:r>
            <a:endParaRPr lang="en-US" altLang="zh-CN" sz="2000" b="1" dirty="0"/>
          </a:p>
          <a:p>
            <a:r>
              <a:rPr lang="en-US" altLang="zh-CN" sz="2000" dirty="0"/>
              <a:t>1.</a:t>
            </a:r>
            <a:r>
              <a:rPr lang="zh-CN" altLang="en-US" sz="2000" dirty="0"/>
              <a:t>无模型</a:t>
            </a:r>
            <a:endParaRPr lang="en-US" altLang="zh-CN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单步更新，不需要完整轨迹</a:t>
            </a:r>
            <a:endParaRPr lang="en-US" altLang="zh-CN" sz="20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方差比 </a:t>
            </a:r>
            <a:r>
              <a:rPr lang="en-US" altLang="zh-CN" sz="2000" dirty="0"/>
              <a:t>REINFORCE </a:t>
            </a:r>
            <a:r>
              <a:rPr lang="zh-CN" altLang="en-US" sz="2000" dirty="0"/>
              <a:t>小</a:t>
            </a:r>
            <a:endParaRPr lang="en-US" altLang="zh-CN" sz="2000" dirty="0"/>
          </a:p>
          <a:p>
            <a:r>
              <a:rPr lang="en-US" altLang="zh-CN" sz="2000" dirty="0"/>
              <a:t>4.</a:t>
            </a:r>
            <a:r>
              <a:rPr lang="zh-CN" altLang="en-US" sz="2000" dirty="0"/>
              <a:t>训练更稳定</a:t>
            </a:r>
            <a:endParaRPr lang="en-US" altLang="zh-CN" sz="2000" dirty="0"/>
          </a:p>
          <a:p>
            <a:r>
              <a:rPr lang="en-US" altLang="zh-CN" sz="2000" dirty="0"/>
              <a:t>5.</a:t>
            </a:r>
            <a:r>
              <a:rPr lang="zh-CN" altLang="en-US" sz="2000" dirty="0"/>
              <a:t>支持连续动作空间</a:t>
            </a:r>
            <a:endParaRPr lang="en-US" altLang="zh-CN" sz="2000" dirty="0"/>
          </a:p>
          <a:p>
            <a:r>
              <a:rPr lang="en-US" altLang="zh-CN" sz="2000" dirty="0"/>
              <a:t>6.</a:t>
            </a:r>
            <a:r>
              <a:rPr lang="zh-CN" altLang="en-US" sz="2000" dirty="0"/>
              <a:t>是 </a:t>
            </a:r>
            <a:r>
              <a:rPr lang="en-US" altLang="zh-CN" sz="2000" dirty="0"/>
              <a:t>A2C</a:t>
            </a:r>
            <a:r>
              <a:rPr lang="zh-CN" altLang="en-US" sz="2000" dirty="0"/>
              <a:t>、</a:t>
            </a:r>
            <a:r>
              <a:rPr lang="en-US" altLang="zh-CN" sz="2000" dirty="0"/>
              <a:t>A3C</a:t>
            </a:r>
            <a:r>
              <a:rPr lang="zh-CN" altLang="en-US" sz="2000" dirty="0"/>
              <a:t>、</a:t>
            </a:r>
            <a:r>
              <a:rPr lang="en-US" altLang="zh-CN" sz="2000" dirty="0"/>
              <a:t>SAC</a:t>
            </a:r>
            <a:r>
              <a:rPr lang="zh-CN" altLang="en-US" sz="2000" dirty="0"/>
              <a:t>、</a:t>
            </a:r>
            <a:r>
              <a:rPr lang="en-US" altLang="zh-CN" sz="2000" dirty="0"/>
              <a:t>PPO </a:t>
            </a:r>
            <a:r>
              <a:rPr lang="zh-CN" altLang="en-US" sz="2000" dirty="0"/>
              <a:t>等高级算法的基础</a:t>
            </a:r>
          </a:p>
        </p:txBody>
      </p:sp>
    </p:spTree>
    <p:extLst>
      <p:ext uri="{BB962C8B-B14F-4D97-AF65-F5344CB8AC3E}">
        <p14:creationId xmlns:p14="http://schemas.microsoft.com/office/powerpoint/2010/main" val="1118198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53CA9-2C66-EC92-69F1-9A5039B5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F327A7-1A44-1135-CAF2-B0E345F30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262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1650</Words>
  <Application>Microsoft Office PowerPoint</Application>
  <PresentationFormat>宽屏</PresentationFormat>
  <Paragraphs>195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主题​​</vt:lpstr>
      <vt:lpstr>Reinforcement Learning</vt:lpstr>
      <vt:lpstr>主要算法分类：</vt:lpstr>
      <vt:lpstr>强化学习———免模型VS有模型</vt:lpstr>
      <vt:lpstr>PowerPoint 演示文稿</vt:lpstr>
      <vt:lpstr>强化学习———基于策略VS基于价值</vt:lpstr>
      <vt:lpstr>动态规划——基于完整环境模型的值函数方法</vt:lpstr>
      <vt:lpstr>动态规划——基于完整环境模型的值函数方法</vt:lpstr>
      <vt:lpstr>蒙特卡洛方法——基于完整轨迹的无模型值函数算法</vt:lpstr>
      <vt:lpstr>蒙特卡洛方法——基于完整轨迹的无模型值函数算法</vt:lpstr>
      <vt:lpstr>时序差分——介于 DP 与 MC 之间的无模型值函数方法</vt:lpstr>
      <vt:lpstr>时序差分——介于 DP 与 MC 之间的无模型值函数方法</vt:lpstr>
      <vt:lpstr>深度Q网络——基于深度学习的无模型值函数算法</vt:lpstr>
      <vt:lpstr>深度Q网络——基于深度学习的无模型值函数算法</vt:lpstr>
      <vt:lpstr>强化学习———基于策略VS基于价值</vt:lpstr>
      <vt:lpstr>直接优化策略参数 </vt:lpstr>
      <vt:lpstr>直接优化策略参数 </vt:lpstr>
      <vt:lpstr>直接优化策略参数 </vt:lpstr>
      <vt:lpstr>Actor Critic算法——策略梯度 + 值函数 的结合算法</vt:lpstr>
      <vt:lpstr>Actor Critic算法——策略梯度 + 值函数 的结合算法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li</dc:creator>
  <cp:lastModifiedBy>sy li</cp:lastModifiedBy>
  <cp:revision>2</cp:revision>
  <dcterms:created xsi:type="dcterms:W3CDTF">2026-03-11T10:56:59Z</dcterms:created>
  <dcterms:modified xsi:type="dcterms:W3CDTF">2026-03-12T06:31:44Z</dcterms:modified>
</cp:coreProperties>
</file>