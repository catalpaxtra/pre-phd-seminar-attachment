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4" r:id="rId2"/>
  </p:sldMasterIdLst>
  <p:notesMasterIdLst>
    <p:notesMasterId r:id="rId14"/>
  </p:notesMasterIdLst>
  <p:handoutMasterIdLst>
    <p:handoutMasterId r:id="rId15"/>
  </p:handoutMasterIdLst>
  <p:sldIdLst>
    <p:sldId id="481" r:id="rId3"/>
    <p:sldId id="501" r:id="rId4"/>
    <p:sldId id="530" r:id="rId5"/>
    <p:sldId id="535" r:id="rId6"/>
    <p:sldId id="529" r:id="rId7"/>
    <p:sldId id="531" r:id="rId8"/>
    <p:sldId id="532" r:id="rId9"/>
    <p:sldId id="527" r:id="rId10"/>
    <p:sldId id="533" r:id="rId11"/>
    <p:sldId id="534" r:id="rId12"/>
    <p:sldId id="516" r:id="rId13"/>
  </p:sldIdLst>
  <p:sldSz cx="9144000" cy="5143500" type="screen16x9"/>
  <p:notesSz cx="6858000" cy="9144000"/>
  <p:custDataLst>
    <p:tags r:id="rId1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616" userDrawn="1">
          <p15:clr>
            <a:srgbClr val="A4A3A4"/>
          </p15:clr>
        </p15:guide>
        <p15:guide id="4" orient="horz" pos="327" userDrawn="1">
          <p15:clr>
            <a:srgbClr val="A4A3A4"/>
          </p15:clr>
        </p15:guide>
        <p15:guide id="5" orient="horz" pos="940" userDrawn="1">
          <p15:clr>
            <a:srgbClr val="A4A3A4"/>
          </p15:clr>
        </p15:guide>
        <p15:guide id="6" orient="horz" pos="2777" userDrawn="1">
          <p15:clr>
            <a:srgbClr val="A4A3A4"/>
          </p15:clr>
        </p15:guide>
        <p15:guide id="7" pos="290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5546" autoAdjust="0"/>
  </p:normalViewPr>
  <p:slideViewPr>
    <p:cSldViewPr snapToGrid="0" showGuides="1">
      <p:cViewPr varScale="1">
        <p:scale>
          <a:sx n="109" d="100"/>
          <a:sy n="109" d="100"/>
        </p:scale>
        <p:origin x="734" y="82"/>
      </p:cViewPr>
      <p:guideLst>
        <p:guide pos="5616"/>
        <p:guide orient="horz" pos="327"/>
        <p:guide orient="horz" pos="940"/>
        <p:guide orient="horz" pos="2777"/>
        <p:guide pos="2903"/>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ea typeface="微软雅黑" panose="020B0503020204020204" pitchFamily="34" charset="-122"/>
              </a:rPr>
              <a:t>2026-03-12</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ea typeface="微软雅黑" panose="020B0503020204020204" pitchFamily="34" charset="-122"/>
              </a:rPr>
              <a:t>‹#›</a:t>
            </a:fld>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8744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D2A48B96-639E-45A3-A0BA-2464DFDB1FAA}" type="datetimeFigureOut">
              <a:rPr lang="zh-CN" altLang="en-US" smtClean="0"/>
              <a:pPr/>
              <a:t>2026-03-12</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A6837353-30EB-4A48-80EB-173D804AEFBD}" type="slidenum">
              <a:rPr lang="zh-CN" altLang="en-US" smtClean="0"/>
              <a:pPr/>
              <a:t>‹#›</a:t>
            </a:fld>
            <a:endParaRPr lang="zh-CN" altLang="en-US" dirty="0"/>
          </a:p>
        </p:txBody>
      </p:sp>
    </p:spTree>
    <p:extLst>
      <p:ext uri="{BB962C8B-B14F-4D97-AF65-F5344CB8AC3E}">
        <p14:creationId xmlns:p14="http://schemas.microsoft.com/office/powerpoint/2010/main" val="401180826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
        <p:nvSpPr>
          <p:cNvPr id="2" name="图片占位符 4"/>
          <p:cNvSpPr>
            <a:spLocks noGrp="1"/>
          </p:cNvSpPr>
          <p:nvPr>
            <p:ph type="pic" sz="quarter" idx="11"/>
          </p:nvPr>
        </p:nvSpPr>
        <p:spPr>
          <a:xfrm>
            <a:off x="228601" y="1168430"/>
            <a:ext cx="1741601" cy="1615496"/>
          </a:xfrm>
          <a:prstGeom prst="roundRect">
            <a:avLst>
              <a:gd name="adj" fmla="val 4027"/>
            </a:avLst>
          </a:prstGeom>
        </p:spPr>
        <p:txBody>
          <a:bodyPr/>
          <a:lstStyle/>
          <a:p>
            <a:r>
              <a:rPr lang="zh-CN" altLang="en-US"/>
              <a:t>单击图标添加图片</a:t>
            </a:r>
          </a:p>
        </p:txBody>
      </p:sp>
      <p:sp>
        <p:nvSpPr>
          <p:cNvPr id="3" name="图片占位符 4"/>
          <p:cNvSpPr>
            <a:spLocks noGrp="1"/>
          </p:cNvSpPr>
          <p:nvPr>
            <p:ph type="pic" sz="quarter" idx="12"/>
          </p:nvPr>
        </p:nvSpPr>
        <p:spPr>
          <a:xfrm>
            <a:off x="2076255" y="1168430"/>
            <a:ext cx="1741601" cy="1615496"/>
          </a:xfrm>
          <a:prstGeom prst="roundRect">
            <a:avLst>
              <a:gd name="adj" fmla="val 4027"/>
            </a:avLst>
          </a:prstGeom>
        </p:spPr>
        <p:txBody>
          <a:bodyPr/>
          <a:lstStyle/>
          <a:p>
            <a:r>
              <a:rPr lang="zh-CN" altLang="en-US"/>
              <a:t>单击图标添加图片</a:t>
            </a:r>
          </a:p>
        </p:txBody>
      </p:sp>
      <p:sp>
        <p:nvSpPr>
          <p:cNvPr id="4" name="图片占位符 4"/>
          <p:cNvSpPr>
            <a:spLocks noGrp="1"/>
          </p:cNvSpPr>
          <p:nvPr>
            <p:ph type="pic" sz="quarter" idx="13"/>
          </p:nvPr>
        </p:nvSpPr>
        <p:spPr>
          <a:xfrm>
            <a:off x="3952189" y="1168430"/>
            <a:ext cx="1741601" cy="1615496"/>
          </a:xfrm>
          <a:prstGeom prst="roundRect">
            <a:avLst>
              <a:gd name="adj" fmla="val 4027"/>
            </a:avLst>
          </a:prstGeom>
        </p:spPr>
        <p:txBody>
          <a:bodyPr/>
          <a:lstStyle/>
          <a:p>
            <a:r>
              <a:rPr lang="zh-CN" altLang="en-US"/>
              <a:t>单击图标添加图片</a:t>
            </a:r>
          </a:p>
        </p:txBody>
      </p:sp>
      <p:sp>
        <p:nvSpPr>
          <p:cNvPr id="5" name="矩形: 圆角 4"/>
          <p:cNvSpPr/>
          <p:nvPr userDrawn="1"/>
        </p:nvSpPr>
        <p:spPr>
          <a:xfrm>
            <a:off x="5825765" y="1167978"/>
            <a:ext cx="3089635" cy="1616400"/>
          </a:xfrm>
          <a:prstGeom prst="roundRect">
            <a:avLst>
              <a:gd name="adj" fmla="val 6753"/>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98F44667-F811-4D20-B32B-68DB41B8965F}" type="datetimeFigureOut">
              <a:rPr lang="zh-CN" altLang="en-US" smtClean="0"/>
              <a:t>2026-03-12</a:t>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smtClean="0"/>
              <a:t>‹#›</a:t>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9pPr>
          </a:lstStyle>
          <a:p>
            <a:r>
              <a:rPr lang="zh-CN" altLang="en-US" dirty="0">
                <a:ea typeface="时尚中黑简体" panose="01010104010101010101" pitchFamily="2" charset="-122"/>
              </a:rPr>
              <a:t>单击此处编辑母版标题样式</a:t>
            </a:r>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dirty="0">
                <a:latin typeface="微软雅黑" panose="020B0503020204020204" pitchFamily="34" charset="-122"/>
                <a:ea typeface="微软雅黑" panose="020B0503020204020204" pitchFamily="34" charset="-122"/>
              </a:rPr>
              <a:t>单击此处编辑母版文本样式</a:t>
            </a:r>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dirty="0">
                <a:latin typeface="微软雅黑" panose="020B0503020204020204" pitchFamily="34" charset="-122"/>
                <a:ea typeface="微软雅黑" panose="020B0503020204020204" pitchFamily="34" charset="-122"/>
              </a:rPr>
              <a:t>单击此处编辑母版文本样式</a:t>
            </a:r>
          </a:p>
          <a:p>
            <a:pPr lvl="1"/>
            <a:r>
              <a:rPr lang="zh-CN" altLang="en-US" dirty="0">
                <a:latin typeface="微软雅黑" panose="020B0503020204020204" pitchFamily="34" charset="-122"/>
                <a:ea typeface="微软雅黑" panose="020B0503020204020204" pitchFamily="34" charset="-122"/>
              </a:rPr>
              <a:t>二级</a:t>
            </a:r>
          </a:p>
          <a:p>
            <a:pPr lvl="2"/>
            <a:r>
              <a:rPr lang="zh-CN" altLang="en-US" dirty="0">
                <a:latin typeface="微软雅黑" panose="020B0503020204020204" pitchFamily="34" charset="-122"/>
                <a:ea typeface="微软雅黑" panose="020B0503020204020204" pitchFamily="34" charset="-122"/>
              </a:rPr>
              <a:t>三级</a:t>
            </a:r>
          </a:p>
          <a:p>
            <a:pPr lvl="3"/>
            <a:r>
              <a:rPr lang="zh-CN" altLang="en-US" dirty="0">
                <a:latin typeface="微软雅黑" panose="020B0503020204020204" pitchFamily="34" charset="-122"/>
                <a:ea typeface="微软雅黑" panose="020B0503020204020204" pitchFamily="34" charset="-122"/>
              </a:rPr>
              <a:t>四级</a:t>
            </a:r>
          </a:p>
          <a:p>
            <a:pPr lvl="4"/>
            <a:r>
              <a:rPr lang="zh-CN" altLang="en-US" dirty="0">
                <a:latin typeface="微软雅黑" panose="020B0503020204020204" pitchFamily="34" charset="-122"/>
                <a:ea typeface="微软雅黑" panose="020B0503020204020204" pitchFamily="34" charset="-122"/>
              </a:rPr>
              <a:t>五级</a:t>
            </a:r>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t>‹#›</a:t>
            </a:fld>
            <a:endParaRPr lang="zh-CN" altLang="en-US"/>
          </a:p>
        </p:txBody>
      </p:sp>
    </p:spTree>
  </p:cSld>
  <p:clrMapOvr>
    <a:masterClrMapping/>
  </p:clrMapOvr>
  <p:transition/>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rcRect l="15082"/>
          <a:stretch>
            <a:fillRect/>
          </a:stretch>
        </p:blipFill>
        <p:spPr>
          <a:xfrm>
            <a:off x="-1" y="0"/>
            <a:ext cx="7764905" cy="5143500"/>
          </a:xfrm>
          <a:prstGeom prst="rect">
            <a:avLst/>
          </a:prstGeom>
        </p:spPr>
      </p:pic>
    </p:spTree>
  </p:cSld>
  <p:clrMapOvr>
    <a:masterClrMapping/>
  </p:clrMapOvr>
  <p:transition/>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latin typeface="微软雅黑" panose="020B0503020204020204" pitchFamily="34" charset="-122"/>
                <a:ea typeface="微软雅黑" panose="020B0503020204020204" pitchFamily="34" charset="-122"/>
              </a:defRPr>
            </a:lvl1pPr>
          </a:lstStyle>
          <a:p>
            <a:fld id="{D955F040-ED43-464F-96F2-927121FE6FD0}" type="datetimeFigureOut">
              <a:rPr lang="zh-CN" altLang="en-US" smtClean="0"/>
              <a:pPr/>
              <a:t>2026-03-12</a:t>
            </a:fld>
            <a:endParaRPr lang="zh-CN" alt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latin typeface="微软雅黑" panose="020B0503020204020204" pitchFamily="34" charset="-122"/>
                <a:ea typeface="微软雅黑" panose="020B0503020204020204" pitchFamily="34" charset="-122"/>
              </a:defRPr>
            </a:lvl1pPr>
          </a:lstStyle>
          <a:p>
            <a:fld id="{C95CE31C-667C-455E-B312-3B73BAEC6163}"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p:hf sldNum="0" ftr="0" dt="0"/>
  <p:txStyles>
    <p:titleStyle>
      <a:lvl1pPr algn="l" defTabSz="685800" rtl="0" eaLnBrk="1" latinLnBrk="0" hangingPunct="1">
        <a:lnSpc>
          <a:spcPct val="90000"/>
        </a:lnSpc>
        <a:spcBef>
          <a:spcPct val="0"/>
        </a:spcBef>
        <a:buNone/>
        <a:defRPr sz="3300" kern="1200">
          <a:solidFill>
            <a:schemeClr val="tx1"/>
          </a:solidFill>
          <a:latin typeface="微软雅黑" panose="020B0503020204020204" pitchFamily="34" charset="-122"/>
          <a:ea typeface="时尚中黑简体" panose="01010104010101010101" pitchFamily="2" charset="-122"/>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ransition/>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6895" indent="-213995"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bwMode="auto">
          <a:xfrm>
            <a:off x="1047566" y="1943774"/>
            <a:ext cx="6853560" cy="769441"/>
          </a:xfrm>
          <a:prstGeom prst="rect">
            <a:avLst/>
          </a:prstGeom>
        </p:spPr>
        <p:txBody>
          <a:bodyPr wrap="square">
            <a:spAutoFit/>
          </a:bodyPr>
          <a:lstStyle/>
          <a:p>
            <a:pPr algn="ctr" defTabSz="914400"/>
            <a:r>
              <a:rPr lang="en-US" altLang="zh-CN" sz="4400" dirty="0">
                <a:ln w="19050">
                  <a:noFill/>
                </a:ln>
                <a:solidFill>
                  <a:schemeClr val="tx1">
                    <a:lumMod val="65000"/>
                    <a:lumOff val="35000"/>
                  </a:schemeClr>
                </a:solidFill>
                <a:latin typeface="时尚中黑简体" panose="01010104010101010101" pitchFamily="2" charset="-122"/>
                <a:ea typeface="时尚中黑简体" panose="01010104010101010101" pitchFamily="2" charset="-122"/>
                <a:sym typeface="思源黑体 CN Normal"/>
              </a:rPr>
              <a:t>Reinforcement Learning</a:t>
            </a:r>
          </a:p>
        </p:txBody>
      </p:sp>
      <p:sp>
        <p:nvSpPr>
          <p:cNvPr id="2" name="椭圆 1"/>
          <p:cNvSpPr/>
          <p:nvPr/>
        </p:nvSpPr>
        <p:spPr>
          <a:xfrm rot="5400000">
            <a:off x="8782172" y="372975"/>
            <a:ext cx="145928" cy="145928"/>
          </a:xfrm>
          <a:prstGeom prst="ellipse">
            <a:avLst/>
          </a:prstGeom>
          <a:solidFill>
            <a:schemeClr val="tx1">
              <a:lumMod val="50000"/>
              <a:lumOff val="50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 name="椭圆 2"/>
          <p:cNvSpPr/>
          <p:nvPr/>
        </p:nvSpPr>
        <p:spPr>
          <a:xfrm rot="5400000">
            <a:off x="8533535" y="372975"/>
            <a:ext cx="145928" cy="145928"/>
          </a:xfrm>
          <a:prstGeom prst="ellipse">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042029" y="1499631"/>
            <a:ext cx="2134910" cy="400110"/>
          </a:xfrm>
          <a:prstGeom prst="rect">
            <a:avLst/>
          </a:prstGeom>
          <a:noFill/>
          <a:ln>
            <a:noFill/>
          </a:ln>
        </p:spPr>
        <p:txBody>
          <a:bodyPr wrap="square" rtlCol="0">
            <a:spAutoFit/>
          </a:bodyPr>
          <a:lstStyle/>
          <a:p>
            <a:r>
              <a:rPr lang="en-US" altLang="zh-CN" sz="2000" dirty="0">
                <a:ln w="38100">
                  <a:noFill/>
                </a:ln>
                <a:solidFill>
                  <a:schemeClr val="tx1">
                    <a:lumMod val="65000"/>
                    <a:lumOff val="35000"/>
                  </a:schemeClr>
                </a:solidFill>
                <a:latin typeface="时尚中黑简体" panose="01010104010101010101" pitchFamily="2" charset="-122"/>
                <a:ea typeface="时尚中黑简体" panose="01010104010101010101" pitchFamily="2" charset="-122"/>
                <a:sym typeface="+mn-lt"/>
              </a:rPr>
              <a:t>TRPO</a:t>
            </a:r>
          </a:p>
        </p:txBody>
      </p:sp>
      <p:sp>
        <p:nvSpPr>
          <p:cNvPr id="13" name="矩形 12"/>
          <p:cNvSpPr/>
          <p:nvPr/>
        </p:nvSpPr>
        <p:spPr>
          <a:xfrm>
            <a:off x="6042029" y="2406197"/>
            <a:ext cx="2134910" cy="400110"/>
          </a:xfrm>
          <a:prstGeom prst="rect">
            <a:avLst/>
          </a:prstGeom>
          <a:noFill/>
          <a:ln>
            <a:noFill/>
          </a:ln>
        </p:spPr>
        <p:txBody>
          <a:bodyPr wrap="square" rtlCol="0">
            <a:spAutoFit/>
          </a:bodyPr>
          <a:lstStyle/>
          <a:p>
            <a:r>
              <a:rPr lang="en-US" altLang="zh-CN" sz="2000" dirty="0">
                <a:ln w="38100">
                  <a:noFill/>
                </a:ln>
                <a:solidFill>
                  <a:schemeClr val="tx1">
                    <a:lumMod val="65000"/>
                    <a:lumOff val="35000"/>
                  </a:schemeClr>
                </a:solidFill>
                <a:latin typeface="时尚中黑简体" panose="01010104010101010101" pitchFamily="2" charset="-122"/>
                <a:ea typeface="时尚中黑简体" panose="01010104010101010101" pitchFamily="2" charset="-122"/>
                <a:sym typeface="+mn-lt"/>
              </a:rPr>
              <a:t>PPO</a:t>
            </a:r>
          </a:p>
        </p:txBody>
      </p:sp>
      <p:sp>
        <p:nvSpPr>
          <p:cNvPr id="15" name="矩形 14"/>
          <p:cNvSpPr/>
          <p:nvPr/>
        </p:nvSpPr>
        <p:spPr>
          <a:xfrm>
            <a:off x="6042029" y="3328850"/>
            <a:ext cx="2134910" cy="400110"/>
          </a:xfrm>
          <a:prstGeom prst="rect">
            <a:avLst/>
          </a:prstGeom>
          <a:noFill/>
          <a:ln>
            <a:noFill/>
          </a:ln>
        </p:spPr>
        <p:txBody>
          <a:bodyPr wrap="square" rtlCol="0">
            <a:spAutoFit/>
          </a:bodyPr>
          <a:lstStyle/>
          <a:p>
            <a:r>
              <a:rPr lang="en-US" altLang="zh-CN" sz="2000" dirty="0">
                <a:ln w="38100">
                  <a:noFill/>
                </a:ln>
                <a:solidFill>
                  <a:schemeClr val="tx1">
                    <a:lumMod val="65000"/>
                    <a:lumOff val="35000"/>
                  </a:schemeClr>
                </a:solidFill>
                <a:latin typeface="时尚中黑简体" panose="01010104010101010101" pitchFamily="2" charset="-122"/>
                <a:ea typeface="时尚中黑简体" panose="01010104010101010101" pitchFamily="2" charset="-122"/>
                <a:sym typeface="+mn-lt"/>
              </a:rPr>
              <a:t>SAC</a:t>
            </a:r>
          </a:p>
        </p:txBody>
      </p:sp>
      <p:sp>
        <p:nvSpPr>
          <p:cNvPr id="32" name="矩形 31"/>
          <p:cNvSpPr/>
          <p:nvPr/>
        </p:nvSpPr>
        <p:spPr bwMode="auto">
          <a:xfrm>
            <a:off x="1575053" y="1940800"/>
            <a:ext cx="2085963" cy="1015663"/>
          </a:xfrm>
          <a:prstGeom prst="rect">
            <a:avLst/>
          </a:prstGeom>
        </p:spPr>
        <p:txBody>
          <a:bodyPr wrap="square">
            <a:spAutoFit/>
          </a:bodyPr>
          <a:lstStyle/>
          <a:p>
            <a:pPr algn="dist" defTabSz="914400"/>
            <a:r>
              <a:rPr lang="zh-CN" altLang="en-US" sz="6000" dirty="0">
                <a:ln w="19050">
                  <a:noFill/>
                </a:ln>
                <a:solidFill>
                  <a:schemeClr val="tx1">
                    <a:lumMod val="65000"/>
                    <a:lumOff val="35000"/>
                  </a:schemeClr>
                </a:solidFill>
                <a:latin typeface="时尚中黑简体" panose="01010104010101010101" pitchFamily="2" charset="-122"/>
                <a:ea typeface="时尚中黑简体" panose="01010104010101010101" pitchFamily="2" charset="-122"/>
                <a:sym typeface="思源黑体 CN Normal"/>
              </a:rPr>
              <a:t>目录</a:t>
            </a:r>
            <a:endParaRPr lang="en-US" altLang="zh-CN" sz="6000" dirty="0">
              <a:ln w="19050">
                <a:noFill/>
              </a:ln>
              <a:solidFill>
                <a:schemeClr val="tx1">
                  <a:lumMod val="65000"/>
                  <a:lumOff val="35000"/>
                </a:schemeClr>
              </a:solidFill>
              <a:latin typeface="时尚中黑简体" panose="01010104010101010101" pitchFamily="2" charset="-122"/>
              <a:ea typeface="时尚中黑简体" panose="01010104010101010101" pitchFamily="2" charset="-122"/>
              <a:sym typeface="思源黑体 CN Normal"/>
            </a:endParaRPr>
          </a:p>
        </p:txBody>
      </p:sp>
      <p:sp>
        <p:nvSpPr>
          <p:cNvPr id="33" name="文本框 32"/>
          <p:cNvSpPr txBox="1"/>
          <p:nvPr/>
        </p:nvSpPr>
        <p:spPr>
          <a:xfrm>
            <a:off x="1698145" y="2952115"/>
            <a:ext cx="1839778" cy="276999"/>
          </a:xfrm>
          <a:prstGeom prst="rect">
            <a:avLst/>
          </a:prstGeom>
        </p:spPr>
        <p:txBody>
          <a:bodyPr wrap="square">
            <a:spAutoFit/>
          </a:bodyPr>
          <a:lstStyle>
            <a:defPPr>
              <a:defRPr lang="en-US"/>
            </a:defPPr>
            <a:lvl1pPr marR="0" lvl="0" indent="0" defTabSz="914400" fontAlgn="auto">
              <a:lnSpc>
                <a:spcPct val="100000"/>
              </a:lnSpc>
              <a:spcBef>
                <a:spcPct val="0"/>
              </a:spcBef>
              <a:spcAft>
                <a:spcPct val="0"/>
              </a:spcAft>
              <a:buClrTx/>
              <a:buSzTx/>
              <a:buFontTx/>
              <a:buNone/>
              <a:defRPr kumimoji="0" sz="6000" b="0" i="0" u="none" strike="noStrike" cap="none" spc="0" normalizeH="0" baseline="0">
                <a:ln>
                  <a:noFill/>
                </a:ln>
                <a:gradFill>
                  <a:gsLst>
                    <a:gs pos="19000">
                      <a:srgbClr val="55A9FF"/>
                    </a:gs>
                    <a:gs pos="100000">
                      <a:srgbClr val="1E8EFE"/>
                    </a:gs>
                    <a:gs pos="53000">
                      <a:srgbClr val="168AFF"/>
                    </a:gs>
                  </a:gsLst>
                  <a:lin ang="18900000" scaled="1"/>
                </a:gradFill>
                <a:effectLst/>
                <a:uLnTx/>
                <a:uFillTx/>
                <a:latin typeface="汉仪雅酷黑 65W" panose="020B0604020202020204" charset="-122"/>
                <a:ea typeface="汉仪雅酷黑 65W" panose="020B0604020202020204" charset="-122"/>
              </a:defRPr>
            </a:lvl1pPr>
            <a:lvl2pPr defTabSz="914400"/>
            <a:lvl3pPr defTabSz="914400"/>
            <a:lvl4pPr defTabSz="914400"/>
            <a:lvl5pPr defTabSz="914400"/>
            <a:lvl6pPr defTabSz="914400"/>
            <a:lvl7pPr defTabSz="914400"/>
            <a:lvl8pPr defTabSz="914400"/>
            <a:lvl9pPr defTabSz="914400"/>
          </a:lstStyle>
          <a:p>
            <a:pPr algn="dist"/>
            <a:r>
              <a:rPr lang="en-US" altLang="zh-CN" sz="1200" dirty="0">
                <a:ln w="19050">
                  <a:noFill/>
                </a:ln>
                <a:solidFill>
                  <a:schemeClr val="tx1">
                    <a:lumMod val="65000"/>
                    <a:lumOff val="35000"/>
                  </a:schemeClr>
                </a:solidFill>
                <a:latin typeface="时尚中黑简体" panose="01010104010101010101" pitchFamily="2" charset="-122"/>
                <a:ea typeface="时尚中黑简体" panose="01010104010101010101" pitchFamily="2" charset="-122"/>
              </a:rPr>
              <a:t>CONTENTS</a:t>
            </a:r>
          </a:p>
        </p:txBody>
      </p:sp>
      <p:grpSp>
        <p:nvGrpSpPr>
          <p:cNvPr id="36" name="组合 35"/>
          <p:cNvGrpSpPr/>
          <p:nvPr/>
        </p:nvGrpSpPr>
        <p:grpSpPr>
          <a:xfrm>
            <a:off x="5482986" y="1514323"/>
            <a:ext cx="556445" cy="425669"/>
            <a:chOff x="4523745" y="1139058"/>
            <a:chExt cx="556445" cy="425669"/>
          </a:xfrm>
        </p:grpSpPr>
        <p:sp>
          <p:nvSpPr>
            <p:cNvPr id="35" name="椭圆 34"/>
            <p:cNvSpPr/>
            <p:nvPr/>
          </p:nvSpPr>
          <p:spPr>
            <a:xfrm>
              <a:off x="4589133" y="1139058"/>
              <a:ext cx="425669" cy="425669"/>
            </a:xfrm>
            <a:prstGeom prst="ellipse">
              <a:avLst/>
            </a:prstGeom>
            <a:solidFill>
              <a:schemeClr val="tx2">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8" name="文本框 27"/>
            <p:cNvSpPr txBox="1"/>
            <p:nvPr/>
          </p:nvSpPr>
          <p:spPr>
            <a:xfrm>
              <a:off x="4523745" y="1167226"/>
              <a:ext cx="556445" cy="369332"/>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pPr algn="ctr"/>
              <a:r>
                <a:rPr lang="en-US" altLang="zh-CN" sz="1800" spc="0" dirty="0">
                  <a:solidFill>
                    <a:schemeClr val="bg1"/>
                  </a:solidFill>
                  <a:effectLst/>
                  <a:latin typeface="时尚中黑简体" panose="01010104010101010101" pitchFamily="2" charset="-122"/>
                  <a:ea typeface="时尚中黑简体" panose="01010104010101010101" pitchFamily="2" charset="-122"/>
                  <a:sym typeface="思源黑体 CN Normal"/>
                </a:rPr>
                <a:t>01</a:t>
              </a:r>
            </a:p>
          </p:txBody>
        </p:sp>
      </p:grpSp>
      <p:grpSp>
        <p:nvGrpSpPr>
          <p:cNvPr id="37" name="组合 36"/>
          <p:cNvGrpSpPr/>
          <p:nvPr/>
        </p:nvGrpSpPr>
        <p:grpSpPr>
          <a:xfrm>
            <a:off x="5482986" y="2408807"/>
            <a:ext cx="556445" cy="425669"/>
            <a:chOff x="4523745" y="1139058"/>
            <a:chExt cx="556445" cy="425669"/>
          </a:xfrm>
        </p:grpSpPr>
        <p:sp>
          <p:nvSpPr>
            <p:cNvPr id="38" name="椭圆 37"/>
            <p:cNvSpPr/>
            <p:nvPr/>
          </p:nvSpPr>
          <p:spPr>
            <a:xfrm>
              <a:off x="4589133" y="1139058"/>
              <a:ext cx="425669" cy="425669"/>
            </a:xfrm>
            <a:prstGeom prst="ellipse">
              <a:avLst/>
            </a:prstGeom>
            <a:solidFill>
              <a:schemeClr val="tx2">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4523745" y="1167226"/>
              <a:ext cx="556445" cy="369332"/>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pPr algn="ctr"/>
              <a:r>
                <a:rPr lang="en-US" altLang="zh-CN" sz="1800" spc="0" dirty="0">
                  <a:solidFill>
                    <a:schemeClr val="bg1"/>
                  </a:solidFill>
                  <a:effectLst/>
                  <a:latin typeface="时尚中黑简体" panose="01010104010101010101" pitchFamily="2" charset="-122"/>
                  <a:ea typeface="时尚中黑简体" panose="01010104010101010101" pitchFamily="2" charset="-122"/>
                  <a:sym typeface="思源黑体 CN Normal"/>
                </a:rPr>
                <a:t>02</a:t>
              </a:r>
            </a:p>
          </p:txBody>
        </p:sp>
      </p:grpSp>
      <p:grpSp>
        <p:nvGrpSpPr>
          <p:cNvPr id="40" name="组合 39"/>
          <p:cNvGrpSpPr/>
          <p:nvPr/>
        </p:nvGrpSpPr>
        <p:grpSpPr>
          <a:xfrm>
            <a:off x="5482986" y="3303291"/>
            <a:ext cx="556445" cy="425669"/>
            <a:chOff x="4523745" y="1139058"/>
            <a:chExt cx="556445" cy="425669"/>
          </a:xfrm>
        </p:grpSpPr>
        <p:sp>
          <p:nvSpPr>
            <p:cNvPr id="41" name="椭圆 40"/>
            <p:cNvSpPr/>
            <p:nvPr/>
          </p:nvSpPr>
          <p:spPr>
            <a:xfrm>
              <a:off x="4589133" y="1139058"/>
              <a:ext cx="425669" cy="425669"/>
            </a:xfrm>
            <a:prstGeom prst="ellipse">
              <a:avLst/>
            </a:prstGeom>
            <a:solidFill>
              <a:schemeClr val="tx2">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2" name="文本框 41"/>
            <p:cNvSpPr txBox="1"/>
            <p:nvPr/>
          </p:nvSpPr>
          <p:spPr>
            <a:xfrm>
              <a:off x="4523745" y="1167226"/>
              <a:ext cx="556445" cy="369332"/>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pPr algn="ctr"/>
              <a:r>
                <a:rPr lang="en-US" altLang="zh-CN" sz="1800" spc="0" dirty="0">
                  <a:solidFill>
                    <a:schemeClr val="bg1"/>
                  </a:solidFill>
                  <a:effectLst/>
                  <a:latin typeface="时尚中黑简体" panose="01010104010101010101" pitchFamily="2" charset="-122"/>
                  <a:ea typeface="时尚中黑简体" panose="01010104010101010101" pitchFamily="2" charset="-122"/>
                  <a:sym typeface="思源黑体 CN Normal"/>
                </a:rPr>
                <a:t>03</a:t>
              </a:r>
            </a:p>
          </p:txBody>
        </p:sp>
      </p:grpSp>
      <p:sp>
        <p:nvSpPr>
          <p:cNvPr id="2" name="矩形 1">
            <a:extLst>
              <a:ext uri="{FF2B5EF4-FFF2-40B4-BE49-F238E27FC236}">
                <a16:creationId xmlns:a16="http://schemas.microsoft.com/office/drawing/2014/main" id="{5BFCC205-786E-B7BB-7A31-1E36EC8D82A5}"/>
              </a:ext>
            </a:extLst>
          </p:cNvPr>
          <p:cNvSpPr/>
          <p:nvPr/>
        </p:nvSpPr>
        <p:spPr>
          <a:xfrm>
            <a:off x="6042029" y="4223333"/>
            <a:ext cx="2134910" cy="400110"/>
          </a:xfrm>
          <a:prstGeom prst="rect">
            <a:avLst/>
          </a:prstGeom>
          <a:noFill/>
          <a:ln>
            <a:noFill/>
          </a:ln>
        </p:spPr>
        <p:txBody>
          <a:bodyPr wrap="square" rtlCol="0">
            <a:spAutoFit/>
          </a:bodyPr>
          <a:lstStyle/>
          <a:p>
            <a:r>
              <a:rPr lang="zh-CN" altLang="en-US" sz="2000" dirty="0">
                <a:ln w="38100">
                  <a:noFill/>
                </a:ln>
                <a:solidFill>
                  <a:schemeClr val="tx1">
                    <a:lumMod val="65000"/>
                    <a:lumOff val="35000"/>
                  </a:schemeClr>
                </a:solidFill>
                <a:latin typeface="时尚中黑简体" panose="01010104010101010101" pitchFamily="2" charset="-122"/>
                <a:ea typeface="时尚中黑简体" panose="01010104010101010101" pitchFamily="2" charset="-122"/>
                <a:sym typeface="+mn-lt"/>
              </a:rPr>
              <a:t>扩展</a:t>
            </a:r>
            <a:endParaRPr lang="en-US" altLang="zh-CN" sz="2000" dirty="0">
              <a:ln w="38100">
                <a:noFill/>
              </a:ln>
              <a:solidFill>
                <a:schemeClr val="tx1">
                  <a:lumMod val="65000"/>
                  <a:lumOff val="35000"/>
                </a:schemeClr>
              </a:solidFill>
              <a:latin typeface="时尚中黑简体" panose="01010104010101010101" pitchFamily="2" charset="-122"/>
              <a:ea typeface="时尚中黑简体" panose="01010104010101010101" pitchFamily="2" charset="-122"/>
              <a:sym typeface="+mn-lt"/>
            </a:endParaRPr>
          </a:p>
        </p:txBody>
      </p:sp>
      <p:grpSp>
        <p:nvGrpSpPr>
          <p:cNvPr id="3" name="组合 2">
            <a:extLst>
              <a:ext uri="{FF2B5EF4-FFF2-40B4-BE49-F238E27FC236}">
                <a16:creationId xmlns:a16="http://schemas.microsoft.com/office/drawing/2014/main" id="{3D57AC3F-7EA7-FCFE-8EF2-53E8B720A933}"/>
              </a:ext>
            </a:extLst>
          </p:cNvPr>
          <p:cNvGrpSpPr/>
          <p:nvPr/>
        </p:nvGrpSpPr>
        <p:grpSpPr>
          <a:xfrm>
            <a:off x="5482986" y="4197774"/>
            <a:ext cx="556445" cy="425669"/>
            <a:chOff x="4523745" y="1139058"/>
            <a:chExt cx="556445" cy="425669"/>
          </a:xfrm>
        </p:grpSpPr>
        <p:sp>
          <p:nvSpPr>
            <p:cNvPr id="4" name="椭圆 3">
              <a:extLst>
                <a:ext uri="{FF2B5EF4-FFF2-40B4-BE49-F238E27FC236}">
                  <a16:creationId xmlns:a16="http://schemas.microsoft.com/office/drawing/2014/main" id="{149BF0E8-5F36-4A54-FA23-6FDC439E9559}"/>
                </a:ext>
              </a:extLst>
            </p:cNvPr>
            <p:cNvSpPr/>
            <p:nvPr/>
          </p:nvSpPr>
          <p:spPr>
            <a:xfrm>
              <a:off x="4589133" y="1139058"/>
              <a:ext cx="425669" cy="425669"/>
            </a:xfrm>
            <a:prstGeom prst="ellipse">
              <a:avLst/>
            </a:prstGeom>
            <a:solidFill>
              <a:schemeClr val="tx2">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6DF05382-AF44-2E0B-88F7-3F5AB95C9D4E}"/>
                </a:ext>
              </a:extLst>
            </p:cNvPr>
            <p:cNvSpPr txBox="1"/>
            <p:nvPr/>
          </p:nvSpPr>
          <p:spPr>
            <a:xfrm>
              <a:off x="4523745" y="1167226"/>
              <a:ext cx="556445" cy="369332"/>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pPr algn="ctr"/>
              <a:r>
                <a:rPr lang="en-US" altLang="zh-CN" sz="1800" spc="0" dirty="0">
                  <a:solidFill>
                    <a:schemeClr val="bg1"/>
                  </a:solidFill>
                  <a:effectLst/>
                  <a:latin typeface="时尚中黑简体" panose="01010104010101010101" pitchFamily="2" charset="-122"/>
                  <a:ea typeface="时尚中黑简体" panose="01010104010101010101" pitchFamily="2" charset="-122"/>
                  <a:sym typeface="思源黑体 CN Normal"/>
                </a:rPr>
                <a:t>04</a:t>
              </a:r>
            </a:p>
          </p:txBody>
        </p:sp>
      </p:gr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01E65-FB7E-E708-A450-5F617B640946}"/>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5E7D1CE0-DB7F-9475-DC4E-06DE1D232BD7}"/>
              </a:ext>
            </a:extLst>
          </p:cNvPr>
          <p:cNvSpPr/>
          <p:nvPr/>
        </p:nvSpPr>
        <p:spPr>
          <a:xfrm>
            <a:off x="0" y="4826000"/>
            <a:ext cx="9144000" cy="317500"/>
          </a:xfrm>
          <a:prstGeom prst="rect">
            <a:avLst/>
          </a:prstGeom>
          <a:solidFill>
            <a:srgbClr val="5C5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a:endParaRPr>
          </a:p>
        </p:txBody>
      </p:sp>
      <p:sp>
        <p:nvSpPr>
          <p:cNvPr id="2" name="矩形 1">
            <a:extLst>
              <a:ext uri="{FF2B5EF4-FFF2-40B4-BE49-F238E27FC236}">
                <a16:creationId xmlns:a16="http://schemas.microsoft.com/office/drawing/2014/main" id="{855E40C5-576A-B2DE-180F-6DAD40C876CE}"/>
              </a:ext>
            </a:extLst>
          </p:cNvPr>
          <p:cNvSpPr/>
          <p:nvPr/>
        </p:nvSpPr>
        <p:spPr>
          <a:xfrm>
            <a:off x="228600" y="172896"/>
            <a:ext cx="2358543" cy="461665"/>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dirty="0">
                <a:ln w="38100">
                  <a:noFill/>
                </a:ln>
                <a:solidFill>
                  <a:prstClr val="black">
                    <a:lumMod val="65000"/>
                    <a:lumOff val="35000"/>
                  </a:prstClr>
                </a:solidFill>
                <a:latin typeface="时尚中黑简体" panose="01010104010101010101" pitchFamily="2" charset="-122"/>
                <a:ea typeface="时尚中黑简体" panose="01010104010101010101" pitchFamily="2" charset="-122"/>
                <a:cs typeface="Arial"/>
                <a:sym typeface="+mn-lt"/>
              </a:rPr>
              <a:t>TR</a:t>
            </a:r>
            <a:r>
              <a:rPr kumimoji="0" lang="en-US" altLang="zh-CN" sz="2400" b="0" i="0" u="none" strike="noStrike" kern="1200" cap="none" spc="0" normalizeH="0" baseline="0" noProof="0" dirty="0">
                <a:ln w="38100">
                  <a:noFill/>
                </a:ln>
                <a:solidFill>
                  <a:prstClr val="black">
                    <a:lumMod val="65000"/>
                    <a:lumOff val="35000"/>
                  </a:prstClr>
                </a:solidFill>
                <a:effectLst/>
                <a:uLnTx/>
                <a:uFillTx/>
                <a:latin typeface="时尚中黑简体" panose="01010104010101010101" pitchFamily="2" charset="-122"/>
                <a:ea typeface="时尚中黑简体" panose="01010104010101010101" pitchFamily="2" charset="-122"/>
                <a:cs typeface="Arial"/>
                <a:sym typeface="+mn-lt"/>
              </a:rPr>
              <a:t>PO</a:t>
            </a:r>
          </a:p>
        </p:txBody>
      </p:sp>
      <p:sp>
        <p:nvSpPr>
          <p:cNvPr id="6" name="文本框 5">
            <a:extLst>
              <a:ext uri="{FF2B5EF4-FFF2-40B4-BE49-F238E27FC236}">
                <a16:creationId xmlns:a16="http://schemas.microsoft.com/office/drawing/2014/main" id="{36534844-5C48-5AE7-E3E0-D688FAE93A2E}"/>
              </a:ext>
            </a:extLst>
          </p:cNvPr>
          <p:cNvSpPr txBox="1"/>
          <p:nvPr/>
        </p:nvSpPr>
        <p:spPr>
          <a:xfrm>
            <a:off x="316754" y="811560"/>
            <a:ext cx="6560296" cy="523220"/>
          </a:xfrm>
          <a:prstGeom prst="rect">
            <a:avLst/>
          </a:prstGeom>
          <a:noFill/>
        </p:spPr>
        <p:txBody>
          <a:bodyPr wrap="square">
            <a:spAutoFit/>
          </a:bodyPr>
          <a:lstStyle/>
          <a:p>
            <a:r>
              <a:rPr lang="zh-CN" altLang="en-US" sz="1400" dirty="0">
                <a:solidFill>
                  <a:prstClr val="black"/>
                </a:solidFill>
                <a:latin typeface="微软雅黑" panose="020B0503020204020204" pitchFamily="34" charset="-122"/>
                <a:ea typeface="微软雅黑" panose="020B0503020204020204" pitchFamily="34" charset="-122"/>
              </a:rPr>
              <a:t>信赖域策略优化算法（</a:t>
            </a:r>
            <a:r>
              <a:rPr lang="en-US" altLang="zh-CN" sz="1400" dirty="0">
                <a:solidFill>
                  <a:prstClr val="black"/>
                </a:solidFill>
                <a:latin typeface="微软雅黑" panose="020B0503020204020204" pitchFamily="34" charset="-122"/>
                <a:ea typeface="微软雅黑" panose="020B0503020204020204" pitchFamily="34" charset="-122"/>
              </a:rPr>
              <a:t>TRPO</a:t>
            </a:r>
            <a:r>
              <a:rPr lang="zh-CN" altLang="en-US" sz="1400" dirty="0">
                <a:solidFill>
                  <a:prstClr val="black"/>
                </a:solidFill>
                <a:latin typeface="微软雅黑" panose="020B0503020204020204" pitchFamily="34" charset="-122"/>
                <a:ea typeface="微软雅黑" panose="020B0503020204020204" pitchFamily="34" charset="-122"/>
              </a:rPr>
              <a:t>）是一种无模型的策略算法，它使用信任域优化方法来更新策略。</a:t>
            </a:r>
          </a:p>
        </p:txBody>
      </p:sp>
      <p:pic>
        <p:nvPicPr>
          <p:cNvPr id="16" name="图片 15">
            <a:extLst>
              <a:ext uri="{FF2B5EF4-FFF2-40B4-BE49-F238E27FC236}">
                <a16:creationId xmlns:a16="http://schemas.microsoft.com/office/drawing/2014/main" id="{814DDC9E-D6A5-B167-BECC-EF22A6FCA11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79854" y="1919726"/>
            <a:ext cx="2168332" cy="597841"/>
          </a:xfrm>
          <a:prstGeom prst="rect">
            <a:avLst/>
          </a:prstGeom>
        </p:spPr>
      </p:pic>
      <p:sp>
        <p:nvSpPr>
          <p:cNvPr id="7" name="文本框 6">
            <a:extLst>
              <a:ext uri="{FF2B5EF4-FFF2-40B4-BE49-F238E27FC236}">
                <a16:creationId xmlns:a16="http://schemas.microsoft.com/office/drawing/2014/main" id="{4C9B5763-2B18-CFD6-ADDA-11DE55DEB37E}"/>
              </a:ext>
            </a:extLst>
          </p:cNvPr>
          <p:cNvSpPr txBox="1"/>
          <p:nvPr/>
        </p:nvSpPr>
        <p:spPr>
          <a:xfrm>
            <a:off x="316754" y="1546348"/>
            <a:ext cx="2702671" cy="307777"/>
          </a:xfrm>
          <a:prstGeom prst="rect">
            <a:avLst/>
          </a:prstGeom>
          <a:noFill/>
        </p:spPr>
        <p:txBody>
          <a:bodyPr wrap="square">
            <a:spAutoFit/>
          </a:bodyPr>
          <a:lstStyle/>
          <a:p>
            <a:r>
              <a:rPr lang="zh-CN" altLang="en-US" sz="1400" dirty="0">
                <a:solidFill>
                  <a:prstClr val="black"/>
                </a:solidFill>
                <a:latin typeface="微软雅黑" panose="020B0503020204020204" pitchFamily="34" charset="-122"/>
                <a:ea typeface="微软雅黑" panose="020B0503020204020204" pitchFamily="34" charset="-122"/>
              </a:rPr>
              <a:t>策略梯度方法，参数更新方程式</a:t>
            </a:r>
          </a:p>
        </p:txBody>
      </p:sp>
      <p:pic>
        <p:nvPicPr>
          <p:cNvPr id="9" name="图片 8">
            <a:extLst>
              <a:ext uri="{FF2B5EF4-FFF2-40B4-BE49-F238E27FC236}">
                <a16:creationId xmlns:a16="http://schemas.microsoft.com/office/drawing/2014/main" id="{B53CEF94-B4C8-6E2D-105E-303C9986ED5F}"/>
              </a:ext>
            </a:extLst>
          </p:cNvPr>
          <p:cNvPicPr>
            <a:picLocks noChangeAspect="1"/>
          </p:cNvPicPr>
          <p:nvPr/>
        </p:nvPicPr>
        <p:blipFill>
          <a:blip r:embed="rId3"/>
          <a:stretch>
            <a:fillRect/>
          </a:stretch>
        </p:blipFill>
        <p:spPr>
          <a:xfrm>
            <a:off x="316754" y="2877037"/>
            <a:ext cx="2896786" cy="488615"/>
          </a:xfrm>
          <a:prstGeom prst="rect">
            <a:avLst/>
          </a:prstGeom>
        </p:spPr>
      </p:pic>
      <p:pic>
        <p:nvPicPr>
          <p:cNvPr id="13" name="图片 12">
            <a:extLst>
              <a:ext uri="{FF2B5EF4-FFF2-40B4-BE49-F238E27FC236}">
                <a16:creationId xmlns:a16="http://schemas.microsoft.com/office/drawing/2014/main" id="{DCC84487-F9B1-7920-BDA0-04F01A52168C}"/>
              </a:ext>
            </a:extLst>
          </p:cNvPr>
          <p:cNvPicPr>
            <a:picLocks noChangeAspect="1"/>
          </p:cNvPicPr>
          <p:nvPr/>
        </p:nvPicPr>
        <p:blipFill>
          <a:blip r:embed="rId4"/>
          <a:stretch>
            <a:fillRect/>
          </a:stretch>
        </p:blipFill>
        <p:spPr>
          <a:xfrm>
            <a:off x="115294" y="3728569"/>
            <a:ext cx="3702784" cy="523219"/>
          </a:xfrm>
          <a:prstGeom prst="rect">
            <a:avLst/>
          </a:prstGeom>
        </p:spPr>
      </p:pic>
      <p:pic>
        <p:nvPicPr>
          <p:cNvPr id="17" name="图片 16">
            <a:extLst>
              <a:ext uri="{FF2B5EF4-FFF2-40B4-BE49-F238E27FC236}">
                <a16:creationId xmlns:a16="http://schemas.microsoft.com/office/drawing/2014/main" id="{2C0ADC5C-A4FB-3C91-1662-CC6AB2B63EF9}"/>
              </a:ext>
            </a:extLst>
          </p:cNvPr>
          <p:cNvPicPr>
            <a:picLocks noChangeAspect="1"/>
          </p:cNvPicPr>
          <p:nvPr/>
        </p:nvPicPr>
        <p:blipFill>
          <a:blip r:embed="rId5"/>
          <a:stretch>
            <a:fillRect/>
          </a:stretch>
        </p:blipFill>
        <p:spPr>
          <a:xfrm>
            <a:off x="4756552" y="1282598"/>
            <a:ext cx="2896786" cy="527501"/>
          </a:xfrm>
          <a:prstGeom prst="rect">
            <a:avLst/>
          </a:prstGeom>
        </p:spPr>
      </p:pic>
      <p:pic>
        <p:nvPicPr>
          <p:cNvPr id="20" name="图片 19">
            <a:extLst>
              <a:ext uri="{FF2B5EF4-FFF2-40B4-BE49-F238E27FC236}">
                <a16:creationId xmlns:a16="http://schemas.microsoft.com/office/drawing/2014/main" id="{440E4AD6-0955-38D5-AD08-57E8E45046AA}"/>
              </a:ext>
            </a:extLst>
          </p:cNvPr>
          <p:cNvPicPr>
            <a:picLocks noChangeAspect="1"/>
          </p:cNvPicPr>
          <p:nvPr/>
        </p:nvPicPr>
        <p:blipFill>
          <a:blip r:embed="rId6"/>
          <a:stretch>
            <a:fillRect/>
          </a:stretch>
        </p:blipFill>
        <p:spPr>
          <a:xfrm>
            <a:off x="4467847" y="1963987"/>
            <a:ext cx="3474196" cy="1564502"/>
          </a:xfrm>
          <a:prstGeom prst="rect">
            <a:avLst/>
          </a:prstGeom>
        </p:spPr>
      </p:pic>
      <p:pic>
        <p:nvPicPr>
          <p:cNvPr id="4" name="图片 3">
            <a:extLst>
              <a:ext uri="{FF2B5EF4-FFF2-40B4-BE49-F238E27FC236}">
                <a16:creationId xmlns:a16="http://schemas.microsoft.com/office/drawing/2014/main" id="{3103740C-AB4D-A93C-B828-95E740438D6E}"/>
              </a:ext>
            </a:extLst>
          </p:cNvPr>
          <p:cNvPicPr>
            <a:picLocks noChangeAspect="1"/>
          </p:cNvPicPr>
          <p:nvPr/>
        </p:nvPicPr>
        <p:blipFill>
          <a:blip r:embed="rId7"/>
          <a:stretch>
            <a:fillRect/>
          </a:stretch>
        </p:blipFill>
        <p:spPr>
          <a:xfrm>
            <a:off x="4911728" y="3799525"/>
            <a:ext cx="3648463" cy="458497"/>
          </a:xfrm>
          <a:prstGeom prst="rect">
            <a:avLst/>
          </a:prstGeom>
        </p:spPr>
      </p:pic>
      <p:sp>
        <p:nvSpPr>
          <p:cNvPr id="11" name="箭头: 右 10">
            <a:extLst>
              <a:ext uri="{FF2B5EF4-FFF2-40B4-BE49-F238E27FC236}">
                <a16:creationId xmlns:a16="http://schemas.microsoft.com/office/drawing/2014/main" id="{0C81B3FA-1C0C-F88E-EE08-D7CC0DBCB8B3}"/>
              </a:ext>
            </a:extLst>
          </p:cNvPr>
          <p:cNvSpPr/>
          <p:nvPr/>
        </p:nvSpPr>
        <p:spPr>
          <a:xfrm>
            <a:off x="4039099" y="3911213"/>
            <a:ext cx="717453" cy="2464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2639746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4170C-0206-E067-1D5E-4E19FF10A7F6}"/>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862A1E9C-8C41-B011-7550-6666A45770B1}"/>
              </a:ext>
            </a:extLst>
          </p:cNvPr>
          <p:cNvSpPr/>
          <p:nvPr/>
        </p:nvSpPr>
        <p:spPr>
          <a:xfrm>
            <a:off x="0" y="4826000"/>
            <a:ext cx="9144000" cy="317500"/>
          </a:xfrm>
          <a:prstGeom prst="rect">
            <a:avLst/>
          </a:prstGeom>
          <a:solidFill>
            <a:srgbClr val="5C5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a:endParaRPr>
          </a:p>
        </p:txBody>
      </p:sp>
      <p:sp>
        <p:nvSpPr>
          <p:cNvPr id="2" name="矩形 1">
            <a:extLst>
              <a:ext uri="{FF2B5EF4-FFF2-40B4-BE49-F238E27FC236}">
                <a16:creationId xmlns:a16="http://schemas.microsoft.com/office/drawing/2014/main" id="{FDCA9BB1-99BA-C437-93A4-42264F9DC87B}"/>
              </a:ext>
            </a:extLst>
          </p:cNvPr>
          <p:cNvSpPr/>
          <p:nvPr/>
        </p:nvSpPr>
        <p:spPr>
          <a:xfrm>
            <a:off x="228600" y="172896"/>
            <a:ext cx="2358543" cy="461665"/>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dirty="0">
                <a:ln w="38100">
                  <a:noFill/>
                </a:ln>
                <a:solidFill>
                  <a:prstClr val="black">
                    <a:lumMod val="65000"/>
                    <a:lumOff val="35000"/>
                  </a:prstClr>
                </a:solidFill>
                <a:latin typeface="时尚中黑简体" panose="01010104010101010101" pitchFamily="2" charset="-122"/>
                <a:ea typeface="时尚中黑简体" panose="01010104010101010101" pitchFamily="2" charset="-122"/>
                <a:cs typeface="Arial"/>
                <a:sym typeface="+mn-lt"/>
              </a:rPr>
              <a:t>TR</a:t>
            </a:r>
            <a:r>
              <a:rPr kumimoji="0" lang="en-US" altLang="zh-CN" sz="2400" b="0" i="0" u="none" strike="noStrike" kern="1200" cap="none" spc="0" normalizeH="0" baseline="0" noProof="0" dirty="0">
                <a:ln w="38100">
                  <a:noFill/>
                </a:ln>
                <a:solidFill>
                  <a:prstClr val="black">
                    <a:lumMod val="65000"/>
                    <a:lumOff val="35000"/>
                  </a:prstClr>
                </a:solidFill>
                <a:effectLst/>
                <a:uLnTx/>
                <a:uFillTx/>
                <a:latin typeface="时尚中黑简体" panose="01010104010101010101" pitchFamily="2" charset="-122"/>
                <a:ea typeface="时尚中黑简体" panose="01010104010101010101" pitchFamily="2" charset="-122"/>
                <a:cs typeface="Arial"/>
                <a:sym typeface="+mn-lt"/>
              </a:rPr>
              <a:t>PO</a:t>
            </a:r>
          </a:p>
        </p:txBody>
      </p:sp>
      <p:pic>
        <p:nvPicPr>
          <p:cNvPr id="4" name="图片 3">
            <a:extLst>
              <a:ext uri="{FF2B5EF4-FFF2-40B4-BE49-F238E27FC236}">
                <a16:creationId xmlns:a16="http://schemas.microsoft.com/office/drawing/2014/main" id="{9C39E96B-F4E7-551D-841A-DC9786786ACE}"/>
              </a:ext>
            </a:extLst>
          </p:cNvPr>
          <p:cNvPicPr>
            <a:picLocks noChangeAspect="1"/>
          </p:cNvPicPr>
          <p:nvPr/>
        </p:nvPicPr>
        <p:blipFill>
          <a:blip r:embed="rId2"/>
          <a:stretch>
            <a:fillRect/>
          </a:stretch>
        </p:blipFill>
        <p:spPr>
          <a:xfrm>
            <a:off x="2636362" y="985986"/>
            <a:ext cx="3460304" cy="434851"/>
          </a:xfrm>
          <a:prstGeom prst="rect">
            <a:avLst/>
          </a:prstGeom>
        </p:spPr>
      </p:pic>
      <p:pic>
        <p:nvPicPr>
          <p:cNvPr id="10" name="图片 9">
            <a:extLst>
              <a:ext uri="{FF2B5EF4-FFF2-40B4-BE49-F238E27FC236}">
                <a16:creationId xmlns:a16="http://schemas.microsoft.com/office/drawing/2014/main" id="{4A35970A-4E8A-454D-7DC4-108CE018060A}"/>
              </a:ext>
            </a:extLst>
          </p:cNvPr>
          <p:cNvPicPr>
            <a:picLocks noChangeAspect="1"/>
          </p:cNvPicPr>
          <p:nvPr/>
        </p:nvPicPr>
        <p:blipFill>
          <a:blip r:embed="rId3"/>
          <a:stretch>
            <a:fillRect/>
          </a:stretch>
        </p:blipFill>
        <p:spPr>
          <a:xfrm>
            <a:off x="3059299" y="3216666"/>
            <a:ext cx="3025402" cy="556308"/>
          </a:xfrm>
          <a:prstGeom prst="rect">
            <a:avLst/>
          </a:prstGeom>
        </p:spPr>
      </p:pic>
      <p:sp>
        <p:nvSpPr>
          <p:cNvPr id="3" name="箭头: 下 2">
            <a:extLst>
              <a:ext uri="{FF2B5EF4-FFF2-40B4-BE49-F238E27FC236}">
                <a16:creationId xmlns:a16="http://schemas.microsoft.com/office/drawing/2014/main" id="{3BC18FA9-61C6-6E6A-C92F-74F4EB75078F}"/>
              </a:ext>
            </a:extLst>
          </p:cNvPr>
          <p:cNvSpPr/>
          <p:nvPr/>
        </p:nvSpPr>
        <p:spPr>
          <a:xfrm>
            <a:off x="3130061" y="1551710"/>
            <a:ext cx="484632" cy="153408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9C8AE2F6-73F8-6A19-F06E-5D9E237CBB73}"/>
              </a:ext>
            </a:extLst>
          </p:cNvPr>
          <p:cNvSpPr txBox="1"/>
          <p:nvPr/>
        </p:nvSpPr>
        <p:spPr>
          <a:xfrm>
            <a:off x="3693000" y="1551710"/>
            <a:ext cx="2250599" cy="1346907"/>
          </a:xfrm>
          <a:prstGeom prst="rect">
            <a:avLst/>
          </a:prstGeom>
          <a:noFill/>
        </p:spPr>
        <p:txBody>
          <a:bodyPr wrap="square">
            <a:spAutoFit/>
          </a:bodyPr>
          <a:lstStyle/>
          <a:p>
            <a:pPr>
              <a:lnSpc>
                <a:spcPct val="150000"/>
              </a:lnSpc>
            </a:pPr>
            <a:r>
              <a:rPr lang="en-US" altLang="zh-CN" sz="1400" dirty="0">
                <a:solidFill>
                  <a:prstClr val="black"/>
                </a:solidFill>
                <a:latin typeface="微软雅黑" panose="020B0503020204020204" pitchFamily="34" charset="-122"/>
                <a:ea typeface="微软雅黑" panose="020B0503020204020204" pitchFamily="34" charset="-122"/>
              </a:rPr>
              <a:t>1</a:t>
            </a:r>
            <a:r>
              <a:rPr lang="zh-CN" altLang="en-US" sz="1400" dirty="0">
                <a:solidFill>
                  <a:prstClr val="black"/>
                </a:solidFill>
                <a:latin typeface="微软雅黑" panose="020B0503020204020204" pitchFamily="34" charset="-122"/>
                <a:ea typeface="微软雅黑" panose="020B0503020204020204" pitchFamily="34" charset="-122"/>
              </a:rPr>
              <a:t>）忽略状态分布的变化</a:t>
            </a:r>
            <a:endParaRPr lang="en-US" altLang="zh-CN" sz="1400" dirty="0">
              <a:solidFill>
                <a:prstClr val="black"/>
              </a:solidFill>
              <a:latin typeface="微软雅黑" panose="020B0503020204020204" pitchFamily="34" charset="-122"/>
              <a:ea typeface="微软雅黑" panose="020B0503020204020204" pitchFamily="34" charset="-122"/>
            </a:endParaRPr>
          </a:p>
          <a:p>
            <a:pPr>
              <a:lnSpc>
                <a:spcPct val="150000"/>
              </a:lnSpc>
            </a:pPr>
            <a:r>
              <a:rPr lang="en-US" altLang="zh-CN" sz="1400" dirty="0">
                <a:solidFill>
                  <a:prstClr val="black"/>
                </a:solidFill>
                <a:latin typeface="微软雅黑" panose="020B0503020204020204" pitchFamily="34" charset="-122"/>
                <a:ea typeface="微软雅黑" panose="020B0503020204020204" pitchFamily="34" charset="-122"/>
              </a:rPr>
              <a:t>2</a:t>
            </a:r>
            <a:r>
              <a:rPr lang="zh-CN" altLang="en-US" sz="1400" dirty="0">
                <a:solidFill>
                  <a:prstClr val="black"/>
                </a:solidFill>
                <a:latin typeface="微软雅黑" panose="020B0503020204020204" pitchFamily="34" charset="-122"/>
                <a:ea typeface="微软雅黑" panose="020B0503020204020204" pitchFamily="34" charset="-122"/>
              </a:rPr>
              <a:t>）引入重要性采样</a:t>
            </a:r>
            <a:endParaRPr lang="en-US" altLang="zh-CN" sz="1400" dirty="0">
              <a:solidFill>
                <a:prstClr val="black"/>
              </a:solidFill>
              <a:latin typeface="微软雅黑" panose="020B0503020204020204" pitchFamily="34" charset="-122"/>
              <a:ea typeface="微软雅黑" panose="020B0503020204020204" pitchFamily="34" charset="-122"/>
            </a:endParaRPr>
          </a:p>
          <a:p>
            <a:pPr>
              <a:lnSpc>
                <a:spcPct val="150000"/>
              </a:lnSpc>
            </a:pPr>
            <a:r>
              <a:rPr lang="en-US" altLang="zh-CN" sz="1400" dirty="0">
                <a:solidFill>
                  <a:prstClr val="black"/>
                </a:solidFill>
                <a:latin typeface="微软雅黑" panose="020B0503020204020204" pitchFamily="34" charset="-122"/>
                <a:ea typeface="微软雅黑" panose="020B0503020204020204" pitchFamily="34" charset="-122"/>
              </a:rPr>
              <a:t>3</a:t>
            </a:r>
            <a:r>
              <a:rPr lang="zh-CN" altLang="en-US" sz="1400" dirty="0">
                <a:solidFill>
                  <a:prstClr val="black"/>
                </a:solidFill>
                <a:latin typeface="微软雅黑" panose="020B0503020204020204" pitchFamily="34" charset="-122"/>
                <a:ea typeface="微软雅黑" panose="020B0503020204020204" pitchFamily="34" charset="-122"/>
              </a:rPr>
              <a:t>）引入不等式，定义下界</a:t>
            </a:r>
            <a:endParaRPr lang="en-US" altLang="zh-CN" sz="1400" dirty="0">
              <a:solidFill>
                <a:prstClr val="black"/>
              </a:solidFill>
              <a:latin typeface="微软雅黑" panose="020B0503020204020204" pitchFamily="34" charset="-122"/>
              <a:ea typeface="微软雅黑" panose="020B0503020204020204" pitchFamily="34" charset="-122"/>
            </a:endParaRPr>
          </a:p>
          <a:p>
            <a:pPr>
              <a:lnSpc>
                <a:spcPct val="150000"/>
              </a:lnSpc>
            </a:pPr>
            <a:r>
              <a:rPr lang="en-US" altLang="zh-CN" sz="1400" dirty="0">
                <a:solidFill>
                  <a:prstClr val="black"/>
                </a:solidFill>
                <a:latin typeface="微软雅黑" panose="020B0503020204020204" pitchFamily="34" charset="-122"/>
                <a:ea typeface="微软雅黑" panose="020B0503020204020204" pitchFamily="34" charset="-122"/>
              </a:rPr>
              <a:t>4</a:t>
            </a:r>
            <a:r>
              <a:rPr lang="zh-CN" altLang="en-US" sz="1400" dirty="0">
                <a:solidFill>
                  <a:prstClr val="black"/>
                </a:solidFill>
                <a:latin typeface="微软雅黑" panose="020B0503020204020204" pitchFamily="34" charset="-122"/>
                <a:ea typeface="微软雅黑" panose="020B0503020204020204" pitchFamily="34" charset="-122"/>
              </a:rPr>
              <a:t>）简化约束条件</a:t>
            </a:r>
          </a:p>
        </p:txBody>
      </p:sp>
    </p:spTree>
    <p:extLst>
      <p:ext uri="{BB962C8B-B14F-4D97-AF65-F5344CB8AC3E}">
        <p14:creationId xmlns:p14="http://schemas.microsoft.com/office/powerpoint/2010/main" val="24343062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938D0-5441-A847-7A96-38B3A4583ED9}"/>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01940D44-B766-3EB1-1B5B-75F206873F59}"/>
              </a:ext>
            </a:extLst>
          </p:cNvPr>
          <p:cNvSpPr/>
          <p:nvPr/>
        </p:nvSpPr>
        <p:spPr>
          <a:xfrm>
            <a:off x="0" y="4826000"/>
            <a:ext cx="9144000" cy="317500"/>
          </a:xfrm>
          <a:prstGeom prst="rect">
            <a:avLst/>
          </a:prstGeom>
          <a:solidFill>
            <a:srgbClr val="5C5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a:endParaRPr>
          </a:p>
        </p:txBody>
      </p:sp>
      <p:sp>
        <p:nvSpPr>
          <p:cNvPr id="2" name="矩形 1">
            <a:extLst>
              <a:ext uri="{FF2B5EF4-FFF2-40B4-BE49-F238E27FC236}">
                <a16:creationId xmlns:a16="http://schemas.microsoft.com/office/drawing/2014/main" id="{55510650-6F9B-9B02-02EE-715C5DEE3861}"/>
              </a:ext>
            </a:extLst>
          </p:cNvPr>
          <p:cNvSpPr/>
          <p:nvPr/>
        </p:nvSpPr>
        <p:spPr>
          <a:xfrm>
            <a:off x="228600" y="172896"/>
            <a:ext cx="2358543" cy="461665"/>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w="38100">
                  <a:noFill/>
                </a:ln>
                <a:solidFill>
                  <a:prstClr val="black">
                    <a:lumMod val="65000"/>
                    <a:lumOff val="35000"/>
                  </a:prstClr>
                </a:solidFill>
                <a:effectLst/>
                <a:uLnTx/>
                <a:uFillTx/>
                <a:latin typeface="时尚中黑简体" panose="01010104010101010101" pitchFamily="2" charset="-122"/>
                <a:ea typeface="时尚中黑简体" panose="01010104010101010101" pitchFamily="2" charset="-122"/>
                <a:cs typeface="Arial"/>
                <a:sym typeface="+mn-lt"/>
              </a:rPr>
              <a:t>PPO</a:t>
            </a:r>
          </a:p>
        </p:txBody>
      </p:sp>
      <p:sp>
        <p:nvSpPr>
          <p:cNvPr id="6" name="文本框 5">
            <a:extLst>
              <a:ext uri="{FF2B5EF4-FFF2-40B4-BE49-F238E27FC236}">
                <a16:creationId xmlns:a16="http://schemas.microsoft.com/office/drawing/2014/main" id="{8EC4F31C-9A09-8A8E-C41B-78211F5976B3}"/>
              </a:ext>
            </a:extLst>
          </p:cNvPr>
          <p:cNvSpPr txBox="1"/>
          <p:nvPr/>
        </p:nvSpPr>
        <p:spPr>
          <a:xfrm>
            <a:off x="316754" y="811560"/>
            <a:ext cx="5764006" cy="307777"/>
          </a:xfrm>
          <a:prstGeom prst="rect">
            <a:avLst/>
          </a:prstGeom>
          <a:noFill/>
        </p:spPr>
        <p:txBody>
          <a:bodyPr wrap="square">
            <a:spAutoFit/>
          </a:bodyPr>
          <a:lstStyle/>
          <a:p>
            <a:r>
              <a:rPr lang="zh-CN" altLang="en-US" sz="1400" dirty="0">
                <a:solidFill>
                  <a:prstClr val="black"/>
                </a:solidFill>
                <a:latin typeface="微软雅黑" panose="020B0503020204020204" pitchFamily="34" charset="-122"/>
                <a:ea typeface="微软雅黑" panose="020B0503020204020204" pitchFamily="34" charset="-122"/>
              </a:rPr>
              <a:t>近端策略优化（</a:t>
            </a:r>
            <a:r>
              <a:rPr lang="en-US" altLang="zh-CN" sz="1400" dirty="0">
                <a:solidFill>
                  <a:prstClr val="black"/>
                </a:solidFill>
                <a:latin typeface="微软雅黑" panose="020B0503020204020204" pitchFamily="34" charset="-122"/>
                <a:ea typeface="微软雅黑" panose="020B0503020204020204" pitchFamily="34" charset="-122"/>
              </a:rPr>
              <a:t>PPO</a:t>
            </a:r>
            <a:r>
              <a:rPr lang="zh-CN" altLang="en-US" sz="1400" dirty="0">
                <a:solidFill>
                  <a:prstClr val="black"/>
                </a:solidFill>
                <a:latin typeface="微软雅黑" panose="020B0503020204020204" pitchFamily="34" charset="-122"/>
                <a:ea typeface="微软雅黑" panose="020B0503020204020204" pitchFamily="34" charset="-122"/>
              </a:rPr>
              <a:t>）算法是</a:t>
            </a:r>
            <a:r>
              <a:rPr lang="en-US" altLang="zh-CN" sz="1400" dirty="0">
                <a:solidFill>
                  <a:prstClr val="black"/>
                </a:solidFill>
                <a:latin typeface="微软雅黑" panose="020B0503020204020204" pitchFamily="34" charset="-122"/>
                <a:ea typeface="微软雅黑" panose="020B0503020204020204" pitchFamily="34" charset="-122"/>
              </a:rPr>
              <a:t>OpenAI</a:t>
            </a:r>
            <a:r>
              <a:rPr lang="zh-CN" altLang="en-US" sz="1400" dirty="0">
                <a:solidFill>
                  <a:prstClr val="black"/>
                </a:solidFill>
                <a:latin typeface="微软雅黑" panose="020B0503020204020204" pitchFamily="34" charset="-122"/>
                <a:ea typeface="微软雅黑" panose="020B0503020204020204" pitchFamily="34" charset="-122"/>
              </a:rPr>
              <a:t>在</a:t>
            </a:r>
            <a:r>
              <a:rPr lang="en-US" altLang="zh-CN" sz="1400" dirty="0">
                <a:solidFill>
                  <a:prstClr val="black"/>
                </a:solidFill>
                <a:latin typeface="微软雅黑" panose="020B0503020204020204" pitchFamily="34" charset="-122"/>
                <a:ea typeface="微软雅黑" panose="020B0503020204020204" pitchFamily="34" charset="-122"/>
              </a:rPr>
              <a:t>2017</a:t>
            </a:r>
            <a:r>
              <a:rPr lang="zh-CN" altLang="en-US" sz="1400" dirty="0">
                <a:solidFill>
                  <a:prstClr val="black"/>
                </a:solidFill>
                <a:latin typeface="微软雅黑" panose="020B0503020204020204" pitchFamily="34" charset="-122"/>
                <a:ea typeface="微软雅黑" panose="020B0503020204020204" pitchFamily="34" charset="-122"/>
              </a:rPr>
              <a:t>提出的一种强化学习算法。</a:t>
            </a:r>
          </a:p>
        </p:txBody>
      </p:sp>
      <p:sp>
        <p:nvSpPr>
          <p:cNvPr id="4" name="文本框 3">
            <a:extLst>
              <a:ext uri="{FF2B5EF4-FFF2-40B4-BE49-F238E27FC236}">
                <a16:creationId xmlns:a16="http://schemas.microsoft.com/office/drawing/2014/main" id="{ED1BB86A-65F0-2FFD-AF78-9D874A503F0A}"/>
              </a:ext>
            </a:extLst>
          </p:cNvPr>
          <p:cNvSpPr txBox="1"/>
          <p:nvPr/>
        </p:nvSpPr>
        <p:spPr>
          <a:xfrm>
            <a:off x="316754" y="1150159"/>
            <a:ext cx="6074902" cy="307777"/>
          </a:xfrm>
          <a:prstGeom prst="rect">
            <a:avLst/>
          </a:prstGeom>
          <a:noFill/>
        </p:spPr>
        <p:txBody>
          <a:bodyPr wrap="square">
            <a:spAutoFit/>
          </a:bodyPr>
          <a:lstStyle/>
          <a:p>
            <a:r>
              <a:rPr lang="en-US" altLang="zh-CN" sz="1400" dirty="0">
                <a:solidFill>
                  <a:prstClr val="black"/>
                </a:solidFill>
                <a:latin typeface="微软雅黑" panose="020B0503020204020204" pitchFamily="34" charset="-122"/>
                <a:ea typeface="微软雅黑" panose="020B0503020204020204" pitchFamily="34" charset="-122"/>
              </a:rPr>
              <a:t>TRPO</a:t>
            </a:r>
            <a:r>
              <a:rPr lang="zh-CN" altLang="en-US" sz="1400" dirty="0">
                <a:solidFill>
                  <a:prstClr val="black"/>
                </a:solidFill>
                <a:latin typeface="微软雅黑" panose="020B0503020204020204" pitchFamily="34" charset="-122"/>
                <a:ea typeface="微软雅黑" panose="020B0503020204020204" pitchFamily="34" charset="-122"/>
              </a:rPr>
              <a:t>算法解决了许多与自然策略梯度相关的问题，但是仍然存在一些缺点。</a:t>
            </a:r>
          </a:p>
        </p:txBody>
      </p:sp>
      <p:sp>
        <p:nvSpPr>
          <p:cNvPr id="7" name="文本框 6">
            <a:extLst>
              <a:ext uri="{FF2B5EF4-FFF2-40B4-BE49-F238E27FC236}">
                <a16:creationId xmlns:a16="http://schemas.microsoft.com/office/drawing/2014/main" id="{41653607-2AA2-C6FF-51BE-402E8C48401D}"/>
              </a:ext>
            </a:extLst>
          </p:cNvPr>
          <p:cNvSpPr txBox="1"/>
          <p:nvPr/>
        </p:nvSpPr>
        <p:spPr>
          <a:xfrm>
            <a:off x="316754" y="1415721"/>
            <a:ext cx="8022574" cy="1384995"/>
          </a:xfrm>
          <a:prstGeom prst="rect">
            <a:avLst/>
          </a:prstGeom>
          <a:noFill/>
        </p:spPr>
        <p:txBody>
          <a:bodyPr wrap="square">
            <a:spAutoFit/>
          </a:bodyPr>
          <a:lstStyle/>
          <a:p>
            <a:r>
              <a:rPr lang="en-US" altLang="zh-CN" sz="1400" dirty="0">
                <a:solidFill>
                  <a:prstClr val="black"/>
                </a:solidFill>
                <a:latin typeface="微软雅黑" panose="020B0503020204020204" pitchFamily="34" charset="-122"/>
                <a:ea typeface="微软雅黑" panose="020B0503020204020204" pitchFamily="34" charset="-122"/>
              </a:rPr>
              <a:t>1</a:t>
            </a:r>
            <a:r>
              <a:rPr lang="zh-CN" altLang="en-US" sz="1400" dirty="0">
                <a:solidFill>
                  <a:prstClr val="black"/>
                </a:solidFill>
                <a:latin typeface="微软雅黑" panose="020B0503020204020204" pitchFamily="34" charset="-122"/>
                <a:ea typeface="微软雅黑" panose="020B0503020204020204" pitchFamily="34" charset="-122"/>
              </a:rPr>
              <a:t>）无法处理大参数矩阵：尽管使用了共轭梯度法，</a:t>
            </a:r>
            <a:r>
              <a:rPr lang="en-US" altLang="zh-CN" sz="1400" dirty="0">
                <a:solidFill>
                  <a:prstClr val="black"/>
                </a:solidFill>
                <a:latin typeface="微软雅黑" panose="020B0503020204020204" pitchFamily="34" charset="-122"/>
                <a:ea typeface="微软雅黑" panose="020B0503020204020204" pitchFamily="34" charset="-122"/>
              </a:rPr>
              <a:t>TRPO</a:t>
            </a:r>
            <a:r>
              <a:rPr lang="zh-CN" altLang="en-US" sz="1400" dirty="0">
                <a:solidFill>
                  <a:prstClr val="black"/>
                </a:solidFill>
                <a:latin typeface="微软雅黑" panose="020B0503020204020204" pitchFamily="34" charset="-122"/>
                <a:ea typeface="微软雅黑" panose="020B0503020204020204" pitchFamily="34" charset="-122"/>
              </a:rPr>
              <a:t>仍然难以处理大的 </a:t>
            </a:r>
            <a:r>
              <a:rPr lang="en-US" altLang="zh-CN" sz="1400" dirty="0">
                <a:solidFill>
                  <a:prstClr val="black"/>
                </a:solidFill>
                <a:latin typeface="微软雅黑" panose="020B0503020204020204" pitchFamily="34" charset="-122"/>
                <a:ea typeface="微软雅黑" panose="020B0503020204020204" pitchFamily="34" charset="-122"/>
              </a:rPr>
              <a:t>Fisher</a:t>
            </a:r>
            <a:r>
              <a:rPr lang="zh-CN" altLang="en-US" sz="1400" dirty="0">
                <a:solidFill>
                  <a:prstClr val="black"/>
                </a:solidFill>
                <a:latin typeface="微软雅黑" panose="020B0503020204020204" pitchFamily="34" charset="-122"/>
                <a:ea typeface="微软雅黑" panose="020B0503020204020204" pitchFamily="34" charset="-122"/>
              </a:rPr>
              <a:t>矩阵，即使它们不需要求逆</a:t>
            </a:r>
          </a:p>
          <a:p>
            <a:r>
              <a:rPr lang="en-US" altLang="zh-CN" sz="1400" dirty="0">
                <a:solidFill>
                  <a:prstClr val="black"/>
                </a:solidFill>
                <a:latin typeface="微软雅黑" panose="020B0503020204020204" pitchFamily="34" charset="-122"/>
                <a:ea typeface="微软雅黑" panose="020B0503020204020204" pitchFamily="34" charset="-122"/>
              </a:rPr>
              <a:t>2</a:t>
            </a:r>
            <a:r>
              <a:rPr lang="zh-CN" altLang="en-US" sz="1400" dirty="0">
                <a:solidFill>
                  <a:prstClr val="black"/>
                </a:solidFill>
                <a:latin typeface="微软雅黑" panose="020B0503020204020204" pitchFamily="34" charset="-122"/>
                <a:ea typeface="微软雅黑" panose="020B0503020204020204" pitchFamily="34" charset="-122"/>
              </a:rPr>
              <a:t>）二阶优化很慢：</a:t>
            </a:r>
            <a:r>
              <a:rPr lang="en-US" altLang="zh-CN" sz="1400" dirty="0">
                <a:solidFill>
                  <a:prstClr val="black"/>
                </a:solidFill>
                <a:latin typeface="微软雅黑" panose="020B0503020204020204" pitchFamily="34" charset="-122"/>
                <a:ea typeface="微软雅黑" panose="020B0503020204020204" pitchFamily="34" charset="-122"/>
              </a:rPr>
              <a:t>TRPO</a:t>
            </a:r>
            <a:r>
              <a:rPr lang="zh-CN" altLang="en-US" sz="1400" dirty="0">
                <a:solidFill>
                  <a:prstClr val="black"/>
                </a:solidFill>
                <a:latin typeface="微软雅黑" panose="020B0503020204020204" pitchFamily="34" charset="-122"/>
                <a:ea typeface="微软雅黑" panose="020B0503020204020204" pitchFamily="34" charset="-122"/>
              </a:rPr>
              <a:t>的实际实现是基于约束的，需要计算上述</a:t>
            </a:r>
            <a:r>
              <a:rPr lang="en-US" altLang="zh-CN" sz="1400" dirty="0">
                <a:solidFill>
                  <a:prstClr val="black"/>
                </a:solidFill>
                <a:latin typeface="微软雅黑" panose="020B0503020204020204" pitchFamily="34" charset="-122"/>
                <a:ea typeface="微软雅黑" panose="020B0503020204020204" pitchFamily="34" charset="-122"/>
              </a:rPr>
              <a:t>Fisher</a:t>
            </a:r>
            <a:r>
              <a:rPr lang="zh-CN" altLang="en-US" sz="1400" dirty="0">
                <a:solidFill>
                  <a:prstClr val="black"/>
                </a:solidFill>
                <a:latin typeface="微软雅黑" panose="020B0503020204020204" pitchFamily="34" charset="-122"/>
                <a:ea typeface="微软雅黑" panose="020B0503020204020204" pitchFamily="34" charset="-122"/>
              </a:rPr>
              <a:t>矩阵，这大大减慢了更新过程。此外，我们不能利用一阶随机梯度优化器，例如</a:t>
            </a:r>
            <a:r>
              <a:rPr lang="en-US" altLang="zh-CN" sz="1400" dirty="0">
                <a:solidFill>
                  <a:prstClr val="black"/>
                </a:solidFill>
                <a:latin typeface="微软雅黑" panose="020B0503020204020204" pitchFamily="34" charset="-122"/>
                <a:ea typeface="微软雅黑" panose="020B0503020204020204" pitchFamily="34" charset="-122"/>
              </a:rPr>
              <a:t>ADAM</a:t>
            </a:r>
          </a:p>
          <a:p>
            <a:r>
              <a:rPr lang="en-US" altLang="zh-CN" sz="1400" dirty="0">
                <a:solidFill>
                  <a:prstClr val="black"/>
                </a:solidFill>
                <a:latin typeface="微软雅黑" panose="020B0503020204020204" pitchFamily="34" charset="-122"/>
                <a:ea typeface="微软雅黑" panose="020B0503020204020204" pitchFamily="34" charset="-122"/>
              </a:rPr>
              <a:t>3</a:t>
            </a:r>
            <a:r>
              <a:rPr lang="zh-CN" altLang="en-US" sz="1400" dirty="0">
                <a:solidFill>
                  <a:prstClr val="black"/>
                </a:solidFill>
                <a:latin typeface="微软雅黑" panose="020B0503020204020204" pitchFamily="34" charset="-122"/>
                <a:ea typeface="微软雅黑" panose="020B0503020204020204" pitchFamily="34" charset="-122"/>
              </a:rPr>
              <a:t>）</a:t>
            </a:r>
            <a:r>
              <a:rPr lang="en-US" altLang="zh-CN" sz="1400" dirty="0">
                <a:solidFill>
                  <a:prstClr val="black"/>
                </a:solidFill>
                <a:latin typeface="微软雅黑" panose="020B0503020204020204" pitchFamily="34" charset="-122"/>
                <a:ea typeface="微软雅黑" panose="020B0503020204020204" pitchFamily="34" charset="-122"/>
              </a:rPr>
              <a:t>TRPO </a:t>
            </a:r>
            <a:r>
              <a:rPr lang="zh-CN" altLang="en-US" sz="1400" dirty="0">
                <a:solidFill>
                  <a:prstClr val="black"/>
                </a:solidFill>
                <a:latin typeface="微软雅黑" panose="020B0503020204020204" pitchFamily="34" charset="-122"/>
                <a:ea typeface="微软雅黑" panose="020B0503020204020204" pitchFamily="34" charset="-122"/>
              </a:rPr>
              <a:t>很复杂：</a:t>
            </a:r>
            <a:r>
              <a:rPr lang="en-US" altLang="zh-CN" sz="1400" dirty="0">
                <a:solidFill>
                  <a:prstClr val="black"/>
                </a:solidFill>
                <a:latin typeface="微软雅黑" panose="020B0503020204020204" pitchFamily="34" charset="-122"/>
                <a:ea typeface="微软雅黑" panose="020B0503020204020204" pitchFamily="34" charset="-122"/>
              </a:rPr>
              <a:t>TRPO</a:t>
            </a:r>
            <a:r>
              <a:rPr lang="zh-CN" altLang="en-US" sz="1400" dirty="0">
                <a:solidFill>
                  <a:prstClr val="black"/>
                </a:solidFill>
                <a:latin typeface="微软雅黑" panose="020B0503020204020204" pitchFamily="34" charset="-122"/>
                <a:ea typeface="微软雅黑" panose="020B0503020204020204" pitchFamily="34" charset="-122"/>
              </a:rPr>
              <a:t>很难解释、实现和调试。当训练没有产生预期的结果时，确定如何提高性能可能会很麻烦</a:t>
            </a:r>
          </a:p>
        </p:txBody>
      </p:sp>
      <p:sp>
        <p:nvSpPr>
          <p:cNvPr id="9" name="文本框 8">
            <a:extLst>
              <a:ext uri="{FF2B5EF4-FFF2-40B4-BE49-F238E27FC236}">
                <a16:creationId xmlns:a16="http://schemas.microsoft.com/office/drawing/2014/main" id="{F13DF4F5-2C38-1E5A-68DF-95030F7568DF}"/>
              </a:ext>
            </a:extLst>
          </p:cNvPr>
          <p:cNvSpPr txBox="1"/>
          <p:nvPr/>
        </p:nvSpPr>
        <p:spPr>
          <a:xfrm>
            <a:off x="316754" y="3168500"/>
            <a:ext cx="1737360" cy="369332"/>
          </a:xfrm>
          <a:prstGeom prst="rect">
            <a:avLst/>
          </a:prstGeom>
          <a:noFill/>
        </p:spPr>
        <p:txBody>
          <a:bodyPr wrap="square">
            <a:spAutoFit/>
          </a:bodyPr>
          <a:lstStyle/>
          <a:p>
            <a:r>
              <a:rPr lang="en-US" altLang="zh-CN" dirty="0"/>
              <a:t> PPO Penalty</a:t>
            </a:r>
            <a:endParaRPr lang="zh-CN" altLang="en-US" dirty="0"/>
          </a:p>
        </p:txBody>
      </p:sp>
      <p:pic>
        <p:nvPicPr>
          <p:cNvPr id="13" name="图片 12">
            <a:extLst>
              <a:ext uri="{FF2B5EF4-FFF2-40B4-BE49-F238E27FC236}">
                <a16:creationId xmlns:a16="http://schemas.microsoft.com/office/drawing/2014/main" id="{5078FB35-8C4D-8C4A-E6C9-8815D099147F}"/>
              </a:ext>
            </a:extLst>
          </p:cNvPr>
          <p:cNvPicPr>
            <a:picLocks noChangeAspect="1"/>
          </p:cNvPicPr>
          <p:nvPr/>
        </p:nvPicPr>
        <p:blipFill>
          <a:blip r:embed="rId2"/>
          <a:stretch>
            <a:fillRect/>
          </a:stretch>
        </p:blipFill>
        <p:spPr>
          <a:xfrm>
            <a:off x="369948" y="3686538"/>
            <a:ext cx="3368332" cy="403895"/>
          </a:xfrm>
          <a:prstGeom prst="rect">
            <a:avLst/>
          </a:prstGeom>
        </p:spPr>
      </p:pic>
      <p:pic>
        <p:nvPicPr>
          <p:cNvPr id="17" name="图片 16">
            <a:extLst>
              <a:ext uri="{FF2B5EF4-FFF2-40B4-BE49-F238E27FC236}">
                <a16:creationId xmlns:a16="http://schemas.microsoft.com/office/drawing/2014/main" id="{1DE7EE49-F357-832B-7F66-C688EF2CE646}"/>
              </a:ext>
            </a:extLst>
          </p:cNvPr>
          <p:cNvPicPr>
            <a:picLocks noChangeAspect="1"/>
          </p:cNvPicPr>
          <p:nvPr/>
        </p:nvPicPr>
        <p:blipFill>
          <a:blip r:embed="rId3"/>
          <a:stretch>
            <a:fillRect/>
          </a:stretch>
        </p:blipFill>
        <p:spPr>
          <a:xfrm>
            <a:off x="4001216" y="2676870"/>
            <a:ext cx="3634024" cy="2114572"/>
          </a:xfrm>
          <a:prstGeom prst="rect">
            <a:avLst/>
          </a:prstGeom>
        </p:spPr>
      </p:pic>
    </p:spTree>
    <p:extLst>
      <p:ext uri="{BB962C8B-B14F-4D97-AF65-F5344CB8AC3E}">
        <p14:creationId xmlns:p14="http://schemas.microsoft.com/office/powerpoint/2010/main" val="96775457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79DF4-A722-8820-C262-588751426848}"/>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3E2E073F-A5C5-DF74-A28D-2343CB4A9CC5}"/>
              </a:ext>
            </a:extLst>
          </p:cNvPr>
          <p:cNvSpPr/>
          <p:nvPr/>
        </p:nvSpPr>
        <p:spPr>
          <a:xfrm>
            <a:off x="0" y="4826000"/>
            <a:ext cx="9144000" cy="317500"/>
          </a:xfrm>
          <a:prstGeom prst="rect">
            <a:avLst/>
          </a:prstGeom>
          <a:solidFill>
            <a:srgbClr val="5C5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a:endParaRPr>
          </a:p>
        </p:txBody>
      </p:sp>
      <p:sp>
        <p:nvSpPr>
          <p:cNvPr id="2" name="矩形 1">
            <a:extLst>
              <a:ext uri="{FF2B5EF4-FFF2-40B4-BE49-F238E27FC236}">
                <a16:creationId xmlns:a16="http://schemas.microsoft.com/office/drawing/2014/main" id="{E7E57501-95BA-58DF-31C7-C0A19C3536C2}"/>
              </a:ext>
            </a:extLst>
          </p:cNvPr>
          <p:cNvSpPr/>
          <p:nvPr/>
        </p:nvSpPr>
        <p:spPr>
          <a:xfrm>
            <a:off x="228600" y="172896"/>
            <a:ext cx="2358543" cy="461665"/>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w="38100">
                  <a:noFill/>
                </a:ln>
                <a:solidFill>
                  <a:prstClr val="black">
                    <a:lumMod val="65000"/>
                    <a:lumOff val="35000"/>
                  </a:prstClr>
                </a:solidFill>
                <a:effectLst/>
                <a:uLnTx/>
                <a:uFillTx/>
                <a:latin typeface="时尚中黑简体" panose="01010104010101010101" pitchFamily="2" charset="-122"/>
                <a:ea typeface="时尚中黑简体" panose="01010104010101010101" pitchFamily="2" charset="-122"/>
                <a:cs typeface="Arial"/>
                <a:sym typeface="+mn-lt"/>
              </a:rPr>
              <a:t>PPO</a:t>
            </a:r>
          </a:p>
        </p:txBody>
      </p:sp>
      <p:sp>
        <p:nvSpPr>
          <p:cNvPr id="9" name="文本框 8">
            <a:extLst>
              <a:ext uri="{FF2B5EF4-FFF2-40B4-BE49-F238E27FC236}">
                <a16:creationId xmlns:a16="http://schemas.microsoft.com/office/drawing/2014/main" id="{A5DEB204-6560-FC24-10CF-DD67A5BDA715}"/>
              </a:ext>
            </a:extLst>
          </p:cNvPr>
          <p:cNvSpPr txBox="1"/>
          <p:nvPr/>
        </p:nvSpPr>
        <p:spPr>
          <a:xfrm>
            <a:off x="281794" y="954729"/>
            <a:ext cx="1368314" cy="369332"/>
          </a:xfrm>
          <a:prstGeom prst="rect">
            <a:avLst/>
          </a:prstGeom>
          <a:noFill/>
        </p:spPr>
        <p:txBody>
          <a:bodyPr wrap="square">
            <a:spAutoFit/>
          </a:bodyPr>
          <a:lstStyle/>
          <a:p>
            <a:r>
              <a:rPr lang="en-US" altLang="zh-CN" dirty="0"/>
              <a:t> PPO Clip</a:t>
            </a:r>
            <a:endParaRPr lang="zh-CN" altLang="en-US" dirty="0"/>
          </a:p>
        </p:txBody>
      </p:sp>
      <p:pic>
        <p:nvPicPr>
          <p:cNvPr id="5" name="图片 4">
            <a:extLst>
              <a:ext uri="{FF2B5EF4-FFF2-40B4-BE49-F238E27FC236}">
                <a16:creationId xmlns:a16="http://schemas.microsoft.com/office/drawing/2014/main" id="{672023D4-061B-2C46-18AC-7592AC1EDA94}"/>
              </a:ext>
            </a:extLst>
          </p:cNvPr>
          <p:cNvPicPr>
            <a:picLocks noChangeAspect="1"/>
          </p:cNvPicPr>
          <p:nvPr/>
        </p:nvPicPr>
        <p:blipFill>
          <a:blip r:embed="rId2"/>
          <a:stretch>
            <a:fillRect/>
          </a:stretch>
        </p:blipFill>
        <p:spPr>
          <a:xfrm>
            <a:off x="247600" y="1580221"/>
            <a:ext cx="4679085" cy="876376"/>
          </a:xfrm>
          <a:prstGeom prst="rect">
            <a:avLst/>
          </a:prstGeom>
        </p:spPr>
      </p:pic>
      <p:pic>
        <p:nvPicPr>
          <p:cNvPr id="10" name="图片 9">
            <a:extLst>
              <a:ext uri="{FF2B5EF4-FFF2-40B4-BE49-F238E27FC236}">
                <a16:creationId xmlns:a16="http://schemas.microsoft.com/office/drawing/2014/main" id="{B274B8E9-D833-5F8B-4FD8-2B1398402FEA}"/>
              </a:ext>
            </a:extLst>
          </p:cNvPr>
          <p:cNvPicPr>
            <a:picLocks noChangeAspect="1"/>
          </p:cNvPicPr>
          <p:nvPr/>
        </p:nvPicPr>
        <p:blipFill>
          <a:blip r:embed="rId3"/>
          <a:stretch>
            <a:fillRect/>
          </a:stretch>
        </p:blipFill>
        <p:spPr>
          <a:xfrm>
            <a:off x="662201" y="2456597"/>
            <a:ext cx="3909799" cy="2137687"/>
          </a:xfrm>
          <a:prstGeom prst="rect">
            <a:avLst/>
          </a:prstGeom>
        </p:spPr>
      </p:pic>
    </p:spTree>
    <p:extLst>
      <p:ext uri="{BB962C8B-B14F-4D97-AF65-F5344CB8AC3E}">
        <p14:creationId xmlns:p14="http://schemas.microsoft.com/office/powerpoint/2010/main" val="80852028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14D14-5AA8-765E-F807-A2C8ADDA8FFE}"/>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02A90CFE-1290-9710-AE9B-0A901985123A}"/>
              </a:ext>
            </a:extLst>
          </p:cNvPr>
          <p:cNvSpPr/>
          <p:nvPr/>
        </p:nvSpPr>
        <p:spPr>
          <a:xfrm>
            <a:off x="0" y="4826000"/>
            <a:ext cx="9144000" cy="317500"/>
          </a:xfrm>
          <a:prstGeom prst="rect">
            <a:avLst/>
          </a:prstGeom>
          <a:solidFill>
            <a:srgbClr val="5C5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a:endParaRPr>
          </a:p>
        </p:txBody>
      </p:sp>
      <p:sp>
        <p:nvSpPr>
          <p:cNvPr id="2" name="矩形 1">
            <a:extLst>
              <a:ext uri="{FF2B5EF4-FFF2-40B4-BE49-F238E27FC236}">
                <a16:creationId xmlns:a16="http://schemas.microsoft.com/office/drawing/2014/main" id="{E9F5964C-F1F4-2AE7-196E-73FE1A35FF44}"/>
              </a:ext>
            </a:extLst>
          </p:cNvPr>
          <p:cNvSpPr/>
          <p:nvPr/>
        </p:nvSpPr>
        <p:spPr>
          <a:xfrm>
            <a:off x="228600" y="172896"/>
            <a:ext cx="2358543" cy="461665"/>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w="38100">
                  <a:noFill/>
                </a:ln>
                <a:solidFill>
                  <a:prstClr val="black">
                    <a:lumMod val="65000"/>
                    <a:lumOff val="35000"/>
                  </a:prstClr>
                </a:solidFill>
                <a:effectLst/>
                <a:uLnTx/>
                <a:uFillTx/>
                <a:latin typeface="时尚中黑简体" panose="01010104010101010101" pitchFamily="2" charset="-122"/>
                <a:ea typeface="时尚中黑简体" panose="01010104010101010101" pitchFamily="2" charset="-122"/>
                <a:cs typeface="Arial"/>
                <a:sym typeface="+mn-lt"/>
              </a:rPr>
              <a:t>SAC</a:t>
            </a:r>
          </a:p>
        </p:txBody>
      </p:sp>
      <p:sp>
        <p:nvSpPr>
          <p:cNvPr id="6" name="文本框 5">
            <a:extLst>
              <a:ext uri="{FF2B5EF4-FFF2-40B4-BE49-F238E27FC236}">
                <a16:creationId xmlns:a16="http://schemas.microsoft.com/office/drawing/2014/main" id="{CBB61CE5-1524-EB92-50B0-9D1C9991094E}"/>
              </a:ext>
            </a:extLst>
          </p:cNvPr>
          <p:cNvSpPr txBox="1"/>
          <p:nvPr/>
        </p:nvSpPr>
        <p:spPr>
          <a:xfrm>
            <a:off x="316754" y="811560"/>
            <a:ext cx="8242030" cy="523220"/>
          </a:xfrm>
          <a:prstGeom prst="rect">
            <a:avLst/>
          </a:prstGeom>
          <a:noFill/>
        </p:spPr>
        <p:txBody>
          <a:bodyPr wrap="square">
            <a:spAutoFit/>
          </a:bodyPr>
          <a:lstStyle/>
          <a:p>
            <a:r>
              <a:rPr lang="en-US" altLang="zh-CN" sz="1400" dirty="0">
                <a:solidFill>
                  <a:prstClr val="black"/>
                </a:solidFill>
                <a:latin typeface="微软雅黑" panose="020B0503020204020204" pitchFamily="34" charset="-122"/>
                <a:ea typeface="微软雅黑" panose="020B0503020204020204" pitchFamily="34" charset="-122"/>
              </a:rPr>
              <a:t>Soft Actor-Critic</a:t>
            </a:r>
            <a:r>
              <a:rPr lang="zh-CN" altLang="en-US" sz="1400" dirty="0">
                <a:solidFill>
                  <a:prstClr val="black"/>
                </a:solidFill>
                <a:latin typeface="微软雅黑" panose="020B0503020204020204" pitchFamily="34" charset="-122"/>
                <a:ea typeface="微软雅黑" panose="020B0503020204020204" pitchFamily="34" charset="-122"/>
              </a:rPr>
              <a:t>（</a:t>
            </a:r>
            <a:r>
              <a:rPr lang="en-US" altLang="zh-CN" sz="1400" dirty="0">
                <a:solidFill>
                  <a:prstClr val="black"/>
                </a:solidFill>
                <a:latin typeface="微软雅黑" panose="020B0503020204020204" pitchFamily="34" charset="-122"/>
                <a:ea typeface="微软雅黑" panose="020B0503020204020204" pitchFamily="34" charset="-122"/>
              </a:rPr>
              <a:t>SAC</a:t>
            </a:r>
            <a:r>
              <a:rPr lang="zh-CN" altLang="en-US" sz="1400" dirty="0">
                <a:solidFill>
                  <a:prstClr val="black"/>
                </a:solidFill>
                <a:latin typeface="微软雅黑" panose="020B0503020204020204" pitchFamily="34" charset="-122"/>
                <a:ea typeface="微软雅黑" panose="020B0503020204020204" pitchFamily="34" charset="-122"/>
              </a:rPr>
              <a:t>） 适合处理 连续动作空间，并通过引入最大熵强化学习的思想，解决了许多传统算法中的稳定性和探索问题。</a:t>
            </a:r>
          </a:p>
        </p:txBody>
      </p:sp>
      <p:pic>
        <p:nvPicPr>
          <p:cNvPr id="5" name="图片 4">
            <a:extLst>
              <a:ext uri="{FF2B5EF4-FFF2-40B4-BE49-F238E27FC236}">
                <a16:creationId xmlns:a16="http://schemas.microsoft.com/office/drawing/2014/main" id="{96E59C93-EA22-9501-872B-0FD405A46A80}"/>
              </a:ext>
            </a:extLst>
          </p:cNvPr>
          <p:cNvPicPr>
            <a:picLocks noChangeAspect="1"/>
          </p:cNvPicPr>
          <p:nvPr/>
        </p:nvPicPr>
        <p:blipFill>
          <a:blip r:embed="rId2"/>
          <a:stretch>
            <a:fillRect/>
          </a:stretch>
        </p:blipFill>
        <p:spPr>
          <a:xfrm>
            <a:off x="857917" y="1415544"/>
            <a:ext cx="2179509" cy="350550"/>
          </a:xfrm>
          <a:prstGeom prst="rect">
            <a:avLst/>
          </a:prstGeom>
        </p:spPr>
      </p:pic>
      <p:pic>
        <p:nvPicPr>
          <p:cNvPr id="10" name="图片 9">
            <a:extLst>
              <a:ext uri="{FF2B5EF4-FFF2-40B4-BE49-F238E27FC236}">
                <a16:creationId xmlns:a16="http://schemas.microsoft.com/office/drawing/2014/main" id="{6A46E9CE-DB9B-C6BC-4F74-161E5767F2DD}"/>
              </a:ext>
            </a:extLst>
          </p:cNvPr>
          <p:cNvPicPr>
            <a:picLocks noChangeAspect="1"/>
          </p:cNvPicPr>
          <p:nvPr/>
        </p:nvPicPr>
        <p:blipFill>
          <a:blip r:embed="rId3"/>
          <a:stretch>
            <a:fillRect/>
          </a:stretch>
        </p:blipFill>
        <p:spPr>
          <a:xfrm>
            <a:off x="3690944" y="1415544"/>
            <a:ext cx="3223539" cy="335309"/>
          </a:xfrm>
          <a:prstGeom prst="rect">
            <a:avLst/>
          </a:prstGeom>
        </p:spPr>
      </p:pic>
      <p:pic>
        <p:nvPicPr>
          <p:cNvPr id="15" name="图片 14">
            <a:extLst>
              <a:ext uri="{FF2B5EF4-FFF2-40B4-BE49-F238E27FC236}">
                <a16:creationId xmlns:a16="http://schemas.microsoft.com/office/drawing/2014/main" id="{EA273EFC-42D2-56DF-CC08-EC3F3C93142E}"/>
              </a:ext>
            </a:extLst>
          </p:cNvPr>
          <p:cNvPicPr>
            <a:picLocks noChangeAspect="1"/>
          </p:cNvPicPr>
          <p:nvPr/>
        </p:nvPicPr>
        <p:blipFill>
          <a:blip r:embed="rId4"/>
          <a:stretch>
            <a:fillRect/>
          </a:stretch>
        </p:blipFill>
        <p:spPr>
          <a:xfrm>
            <a:off x="969245" y="1768380"/>
            <a:ext cx="3758204" cy="2960574"/>
          </a:xfrm>
          <a:prstGeom prst="rect">
            <a:avLst/>
          </a:prstGeom>
        </p:spPr>
      </p:pic>
    </p:spTree>
    <p:extLst>
      <p:ext uri="{BB962C8B-B14F-4D97-AF65-F5344CB8AC3E}">
        <p14:creationId xmlns:p14="http://schemas.microsoft.com/office/powerpoint/2010/main" val="286044086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A87CB-343D-C186-6999-72F4BA707256}"/>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7F4AE127-3442-43DB-9F7F-22C2E73533BF}"/>
              </a:ext>
            </a:extLst>
          </p:cNvPr>
          <p:cNvSpPr/>
          <p:nvPr/>
        </p:nvSpPr>
        <p:spPr>
          <a:xfrm>
            <a:off x="0" y="4826000"/>
            <a:ext cx="9144000" cy="317500"/>
          </a:xfrm>
          <a:prstGeom prst="rect">
            <a:avLst/>
          </a:prstGeom>
          <a:solidFill>
            <a:srgbClr val="5C5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a:endParaRPr>
          </a:p>
        </p:txBody>
      </p:sp>
      <p:sp>
        <p:nvSpPr>
          <p:cNvPr id="2" name="矩形 1">
            <a:extLst>
              <a:ext uri="{FF2B5EF4-FFF2-40B4-BE49-F238E27FC236}">
                <a16:creationId xmlns:a16="http://schemas.microsoft.com/office/drawing/2014/main" id="{4B4F8393-844A-E21B-48C3-BC69E62D5667}"/>
              </a:ext>
            </a:extLst>
          </p:cNvPr>
          <p:cNvSpPr/>
          <p:nvPr/>
        </p:nvSpPr>
        <p:spPr>
          <a:xfrm>
            <a:off x="228600" y="172896"/>
            <a:ext cx="2358543" cy="461665"/>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w="38100">
                  <a:noFill/>
                </a:ln>
                <a:solidFill>
                  <a:prstClr val="black">
                    <a:lumMod val="65000"/>
                    <a:lumOff val="35000"/>
                  </a:prstClr>
                </a:solidFill>
                <a:effectLst/>
                <a:uLnTx/>
                <a:uFillTx/>
                <a:latin typeface="时尚中黑简体" panose="01010104010101010101" pitchFamily="2" charset="-122"/>
                <a:ea typeface="时尚中黑简体" panose="01010104010101010101" pitchFamily="2" charset="-122"/>
                <a:cs typeface="Arial"/>
                <a:sym typeface="+mn-lt"/>
              </a:rPr>
              <a:t>MARL</a:t>
            </a:r>
          </a:p>
        </p:txBody>
      </p:sp>
      <p:sp>
        <p:nvSpPr>
          <p:cNvPr id="3" name="文本框 2">
            <a:extLst>
              <a:ext uri="{FF2B5EF4-FFF2-40B4-BE49-F238E27FC236}">
                <a16:creationId xmlns:a16="http://schemas.microsoft.com/office/drawing/2014/main" id="{CBF37D65-0E78-C1B3-ABFF-B3093E7B08DB}"/>
              </a:ext>
            </a:extLst>
          </p:cNvPr>
          <p:cNvSpPr txBox="1"/>
          <p:nvPr/>
        </p:nvSpPr>
        <p:spPr>
          <a:xfrm>
            <a:off x="473299" y="1360621"/>
            <a:ext cx="8197402" cy="1023742"/>
          </a:xfrm>
          <a:prstGeom prst="rect">
            <a:avLst/>
          </a:prstGeom>
          <a:noFill/>
        </p:spPr>
        <p:txBody>
          <a:bodyPr wrap="square">
            <a:spAutoFit/>
          </a:bodyPr>
          <a:lstStyle/>
          <a:p>
            <a:pPr>
              <a:lnSpc>
                <a:spcPct val="150000"/>
              </a:lnSpc>
            </a:pPr>
            <a:r>
              <a:rPr lang="zh-CN" altLang="en-US" sz="1400" dirty="0">
                <a:solidFill>
                  <a:prstClr val="black"/>
                </a:solidFill>
                <a:latin typeface="微软雅黑" panose="020B0503020204020204" pitchFamily="34" charset="-122"/>
                <a:ea typeface="微软雅黑" panose="020B0503020204020204" pitchFamily="34" charset="-122"/>
              </a:rPr>
              <a:t>当同时存在多个智能体与环境交互时，整个系统就变成一个多智能体系统（</a:t>
            </a:r>
            <a:r>
              <a:rPr lang="en-US" altLang="zh-CN" sz="1400" dirty="0">
                <a:solidFill>
                  <a:prstClr val="black"/>
                </a:solidFill>
                <a:latin typeface="微软雅黑" panose="020B0503020204020204" pitchFamily="34" charset="-122"/>
                <a:ea typeface="微软雅黑" panose="020B0503020204020204" pitchFamily="34" charset="-122"/>
              </a:rPr>
              <a:t>multi-agent system</a:t>
            </a:r>
            <a:r>
              <a:rPr lang="zh-CN" altLang="en-US" sz="1400" dirty="0">
                <a:solidFill>
                  <a:prstClr val="black"/>
                </a:solidFill>
                <a:latin typeface="微软雅黑" panose="020B0503020204020204" pitchFamily="34" charset="-122"/>
                <a:ea typeface="微软雅黑" panose="020B0503020204020204" pitchFamily="34" charset="-122"/>
              </a:rPr>
              <a:t>）。每个智能体仍然是遵循着强化学习的目标，即最大化能够获得的累积回报，而此时环境全局状态的改变就和所有智能体的联合动作（</a:t>
            </a:r>
            <a:r>
              <a:rPr lang="en-US" altLang="zh-CN" sz="1400" dirty="0">
                <a:solidFill>
                  <a:prstClr val="black"/>
                </a:solidFill>
                <a:latin typeface="微软雅黑" panose="020B0503020204020204" pitchFamily="34" charset="-122"/>
                <a:ea typeface="微软雅黑" panose="020B0503020204020204" pitchFamily="34" charset="-122"/>
              </a:rPr>
              <a:t>joint action</a:t>
            </a:r>
            <a:r>
              <a:rPr lang="zh-CN" altLang="en-US" sz="1400" dirty="0">
                <a:solidFill>
                  <a:prstClr val="black"/>
                </a:solidFill>
                <a:latin typeface="微软雅黑" panose="020B0503020204020204" pitchFamily="34" charset="-122"/>
                <a:ea typeface="微软雅黑" panose="020B0503020204020204" pitchFamily="34" charset="-122"/>
              </a:rPr>
              <a:t>）相关。</a:t>
            </a:r>
          </a:p>
        </p:txBody>
      </p:sp>
      <p:sp>
        <p:nvSpPr>
          <p:cNvPr id="7" name="文本框 6">
            <a:extLst>
              <a:ext uri="{FF2B5EF4-FFF2-40B4-BE49-F238E27FC236}">
                <a16:creationId xmlns:a16="http://schemas.microsoft.com/office/drawing/2014/main" id="{DF71526F-2618-B718-6078-275D17E114E3}"/>
              </a:ext>
            </a:extLst>
          </p:cNvPr>
          <p:cNvSpPr txBox="1"/>
          <p:nvPr/>
        </p:nvSpPr>
        <p:spPr>
          <a:xfrm>
            <a:off x="473299" y="1052844"/>
            <a:ext cx="5497733" cy="307777"/>
          </a:xfrm>
          <a:prstGeom prst="rect">
            <a:avLst/>
          </a:prstGeom>
          <a:noFill/>
        </p:spPr>
        <p:txBody>
          <a:bodyPr wrap="square">
            <a:spAutoFit/>
          </a:bodyPr>
          <a:lstStyle/>
          <a:p>
            <a:r>
              <a:rPr lang="en-US" altLang="zh-CN" sz="1400" dirty="0">
                <a:solidFill>
                  <a:prstClr val="black"/>
                </a:solidFill>
                <a:latin typeface="微软雅黑" panose="020B0503020204020204" pitchFamily="34" charset="-122"/>
                <a:ea typeface="微软雅黑" panose="020B0503020204020204" pitchFamily="34" charset="-122"/>
              </a:rPr>
              <a:t>MARL </a:t>
            </a:r>
            <a:r>
              <a:rPr lang="zh-CN" altLang="en-US" sz="1400" dirty="0">
                <a:solidFill>
                  <a:prstClr val="black"/>
                </a:solidFill>
                <a:latin typeface="微软雅黑" panose="020B0503020204020204" pitchFamily="34" charset="-122"/>
                <a:ea typeface="微软雅黑" panose="020B0503020204020204" pitchFamily="34" charset="-122"/>
              </a:rPr>
              <a:t>是多个决策者（智能体）在同一环境中交互的强化学习。</a:t>
            </a:r>
          </a:p>
        </p:txBody>
      </p:sp>
      <p:sp>
        <p:nvSpPr>
          <p:cNvPr id="9" name="文本框 8">
            <a:extLst>
              <a:ext uri="{FF2B5EF4-FFF2-40B4-BE49-F238E27FC236}">
                <a16:creationId xmlns:a16="http://schemas.microsoft.com/office/drawing/2014/main" id="{F5C0AFF5-A3B9-2805-6B6F-43B7999CB609}"/>
              </a:ext>
            </a:extLst>
          </p:cNvPr>
          <p:cNvSpPr txBox="1"/>
          <p:nvPr/>
        </p:nvSpPr>
        <p:spPr>
          <a:xfrm>
            <a:off x="473299" y="2507474"/>
            <a:ext cx="1785269" cy="338554"/>
          </a:xfrm>
          <a:prstGeom prst="rect">
            <a:avLst/>
          </a:prstGeom>
          <a:noFill/>
        </p:spPr>
        <p:txBody>
          <a:bodyPr wrap="square">
            <a:spAutoFit/>
          </a:bodyPr>
          <a:lstStyle/>
          <a:p>
            <a:r>
              <a:rPr lang="en-US" altLang="zh-CN" sz="1600" dirty="0">
                <a:ln w="38100">
                  <a:noFill/>
                </a:ln>
                <a:solidFill>
                  <a:prstClr val="black">
                    <a:lumMod val="65000"/>
                    <a:lumOff val="35000"/>
                  </a:prstClr>
                </a:solidFill>
                <a:ea typeface="时尚中黑简体" panose="01010104010101010101" pitchFamily="2" charset="-122"/>
                <a:cs typeface="Arial"/>
              </a:rPr>
              <a:t>policy-based</a:t>
            </a:r>
            <a:endParaRPr lang="zh-CN" altLang="en-US" sz="1600" dirty="0">
              <a:ln w="38100">
                <a:noFill/>
              </a:ln>
              <a:solidFill>
                <a:prstClr val="black">
                  <a:lumMod val="65000"/>
                  <a:lumOff val="35000"/>
                </a:prstClr>
              </a:solidFill>
              <a:ea typeface="时尚中黑简体" panose="01010104010101010101" pitchFamily="2" charset="-122"/>
              <a:cs typeface="Arial"/>
            </a:endParaRPr>
          </a:p>
        </p:txBody>
      </p:sp>
      <p:sp>
        <p:nvSpPr>
          <p:cNvPr id="12" name="文本框 11">
            <a:extLst>
              <a:ext uri="{FF2B5EF4-FFF2-40B4-BE49-F238E27FC236}">
                <a16:creationId xmlns:a16="http://schemas.microsoft.com/office/drawing/2014/main" id="{DF286A22-F346-B97F-556F-5B9E56F78C5C}"/>
              </a:ext>
            </a:extLst>
          </p:cNvPr>
          <p:cNvSpPr txBox="1"/>
          <p:nvPr/>
        </p:nvSpPr>
        <p:spPr>
          <a:xfrm>
            <a:off x="585215" y="2969139"/>
            <a:ext cx="8085485" cy="523220"/>
          </a:xfrm>
          <a:prstGeom prst="rect">
            <a:avLst/>
          </a:prstGeom>
          <a:noFill/>
        </p:spPr>
        <p:txBody>
          <a:bodyPr wrap="square">
            <a:spAutoFit/>
          </a:bodyPr>
          <a:lstStyle/>
          <a:p>
            <a:r>
              <a:rPr lang="zh-CN" altLang="en-US" sz="1400" dirty="0">
                <a:solidFill>
                  <a:prstClr val="black"/>
                </a:solidFill>
                <a:latin typeface="微软雅黑" panose="020B0503020204020204" pitchFamily="34" charset="-122"/>
                <a:ea typeface="微软雅黑" panose="020B0503020204020204" pitchFamily="34" charset="-122"/>
              </a:rPr>
              <a:t>在完全合作的情况下，多智能体整体通常需要最大化全局的期望回报。利用强化学习中 </a:t>
            </a:r>
            <a:r>
              <a:rPr lang="en-US" altLang="zh-CN" sz="1400" dirty="0">
                <a:solidFill>
                  <a:prstClr val="black"/>
                </a:solidFill>
                <a:latin typeface="微软雅黑" panose="020B0503020204020204" pitchFamily="34" charset="-122"/>
                <a:ea typeface="微软雅黑" panose="020B0503020204020204" pitchFamily="34" charset="-122"/>
              </a:rPr>
              <a:t>actor-critic </a:t>
            </a:r>
            <a:r>
              <a:rPr lang="zh-CN" altLang="en-US" sz="1400" dirty="0">
                <a:solidFill>
                  <a:prstClr val="black"/>
                </a:solidFill>
                <a:latin typeface="微软雅黑" panose="020B0503020204020204" pitchFamily="34" charset="-122"/>
                <a:ea typeface="微软雅黑" panose="020B0503020204020204" pitchFamily="34" charset="-122"/>
              </a:rPr>
              <a:t>框架的特点，能够在完全集中式和完全分布式这两种极端方式中找到协调的办法。</a:t>
            </a:r>
          </a:p>
        </p:txBody>
      </p:sp>
      <p:pic>
        <p:nvPicPr>
          <p:cNvPr id="14" name="图片 13">
            <a:extLst>
              <a:ext uri="{FF2B5EF4-FFF2-40B4-BE49-F238E27FC236}">
                <a16:creationId xmlns:a16="http://schemas.microsoft.com/office/drawing/2014/main" id="{362A6905-9CDD-49BA-82F1-D60A0C604EF3}"/>
              </a:ext>
            </a:extLst>
          </p:cNvPr>
          <p:cNvPicPr>
            <a:picLocks noChangeAspect="1"/>
          </p:cNvPicPr>
          <p:nvPr/>
        </p:nvPicPr>
        <p:blipFill>
          <a:blip r:embed="rId2"/>
          <a:stretch>
            <a:fillRect/>
          </a:stretch>
        </p:blipFill>
        <p:spPr>
          <a:xfrm>
            <a:off x="585215" y="3672895"/>
            <a:ext cx="4770533" cy="1013548"/>
          </a:xfrm>
          <a:prstGeom prst="rect">
            <a:avLst/>
          </a:prstGeom>
        </p:spPr>
      </p:pic>
      <p:pic>
        <p:nvPicPr>
          <p:cNvPr id="16" name="图片 15">
            <a:extLst>
              <a:ext uri="{FF2B5EF4-FFF2-40B4-BE49-F238E27FC236}">
                <a16:creationId xmlns:a16="http://schemas.microsoft.com/office/drawing/2014/main" id="{C9EB8C4E-1AE6-D848-3F37-BA46E05A74B3}"/>
              </a:ext>
            </a:extLst>
          </p:cNvPr>
          <p:cNvPicPr>
            <a:picLocks noChangeAspect="1"/>
          </p:cNvPicPr>
          <p:nvPr/>
        </p:nvPicPr>
        <p:blipFill>
          <a:blip r:embed="rId3"/>
          <a:stretch>
            <a:fillRect/>
          </a:stretch>
        </p:blipFill>
        <p:spPr>
          <a:xfrm>
            <a:off x="5038344" y="3718004"/>
            <a:ext cx="3730958" cy="986551"/>
          </a:xfrm>
          <a:prstGeom prst="rect">
            <a:avLst/>
          </a:prstGeom>
        </p:spPr>
      </p:pic>
    </p:spTree>
    <p:extLst>
      <p:ext uri="{BB962C8B-B14F-4D97-AF65-F5344CB8AC3E}">
        <p14:creationId xmlns:p14="http://schemas.microsoft.com/office/powerpoint/2010/main" val="29738079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02F35-20A0-943F-EDAD-6207878322A0}"/>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CF3E80BD-FFC2-A01E-36CA-9C38C8184BE2}"/>
              </a:ext>
            </a:extLst>
          </p:cNvPr>
          <p:cNvSpPr/>
          <p:nvPr/>
        </p:nvSpPr>
        <p:spPr>
          <a:xfrm>
            <a:off x="0" y="4826000"/>
            <a:ext cx="9144000" cy="317500"/>
          </a:xfrm>
          <a:prstGeom prst="rect">
            <a:avLst/>
          </a:prstGeom>
          <a:solidFill>
            <a:srgbClr val="5C5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a:endParaRPr>
          </a:p>
        </p:txBody>
      </p:sp>
      <p:sp>
        <p:nvSpPr>
          <p:cNvPr id="2" name="矩形 1">
            <a:extLst>
              <a:ext uri="{FF2B5EF4-FFF2-40B4-BE49-F238E27FC236}">
                <a16:creationId xmlns:a16="http://schemas.microsoft.com/office/drawing/2014/main" id="{6C435631-B9BC-6621-F797-E7DDF14E9ECA}"/>
              </a:ext>
            </a:extLst>
          </p:cNvPr>
          <p:cNvSpPr/>
          <p:nvPr/>
        </p:nvSpPr>
        <p:spPr>
          <a:xfrm>
            <a:off x="228600" y="172896"/>
            <a:ext cx="2358543" cy="461665"/>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w="38100">
                  <a:noFill/>
                </a:ln>
                <a:solidFill>
                  <a:prstClr val="black">
                    <a:lumMod val="65000"/>
                    <a:lumOff val="35000"/>
                  </a:prstClr>
                </a:solidFill>
                <a:effectLst/>
                <a:uLnTx/>
                <a:uFillTx/>
                <a:latin typeface="时尚中黑简体" panose="01010104010101010101" pitchFamily="2" charset="-122"/>
                <a:ea typeface="时尚中黑简体" panose="01010104010101010101" pitchFamily="2" charset="-122"/>
                <a:cs typeface="Arial"/>
                <a:sym typeface="+mn-lt"/>
              </a:rPr>
              <a:t>MARL</a:t>
            </a:r>
          </a:p>
        </p:txBody>
      </p:sp>
      <p:sp>
        <p:nvSpPr>
          <p:cNvPr id="9" name="文本框 8">
            <a:extLst>
              <a:ext uri="{FF2B5EF4-FFF2-40B4-BE49-F238E27FC236}">
                <a16:creationId xmlns:a16="http://schemas.microsoft.com/office/drawing/2014/main" id="{D8FBF992-257A-4D03-FAAB-EF96493E4611}"/>
              </a:ext>
            </a:extLst>
          </p:cNvPr>
          <p:cNvSpPr txBox="1"/>
          <p:nvPr/>
        </p:nvSpPr>
        <p:spPr>
          <a:xfrm>
            <a:off x="381859" y="870698"/>
            <a:ext cx="1785269" cy="338554"/>
          </a:xfrm>
          <a:prstGeom prst="rect">
            <a:avLst/>
          </a:prstGeom>
          <a:noFill/>
        </p:spPr>
        <p:txBody>
          <a:bodyPr wrap="square">
            <a:spAutoFit/>
          </a:bodyPr>
          <a:lstStyle/>
          <a:p>
            <a:r>
              <a:rPr lang="en-US" altLang="zh-CN" sz="1600" dirty="0">
                <a:ln w="38100">
                  <a:noFill/>
                </a:ln>
                <a:solidFill>
                  <a:prstClr val="black">
                    <a:lumMod val="65000"/>
                    <a:lumOff val="35000"/>
                  </a:prstClr>
                </a:solidFill>
                <a:ea typeface="时尚中黑简体" panose="01010104010101010101" pitchFamily="2" charset="-122"/>
                <a:cs typeface="Arial"/>
              </a:rPr>
              <a:t>value-based</a:t>
            </a:r>
            <a:endParaRPr lang="zh-CN" altLang="en-US" sz="1600" dirty="0">
              <a:ln w="38100">
                <a:noFill/>
              </a:ln>
              <a:solidFill>
                <a:prstClr val="black">
                  <a:lumMod val="65000"/>
                  <a:lumOff val="35000"/>
                </a:prstClr>
              </a:solidFill>
              <a:ea typeface="时尚中黑简体" panose="01010104010101010101" pitchFamily="2" charset="-122"/>
              <a:cs typeface="Arial"/>
            </a:endParaRPr>
          </a:p>
        </p:txBody>
      </p:sp>
      <p:sp>
        <p:nvSpPr>
          <p:cNvPr id="12" name="文本框 11">
            <a:extLst>
              <a:ext uri="{FF2B5EF4-FFF2-40B4-BE49-F238E27FC236}">
                <a16:creationId xmlns:a16="http://schemas.microsoft.com/office/drawing/2014/main" id="{64090438-04BB-96B9-59BA-64A3DEEDED37}"/>
              </a:ext>
            </a:extLst>
          </p:cNvPr>
          <p:cNvSpPr txBox="1"/>
          <p:nvPr/>
        </p:nvSpPr>
        <p:spPr>
          <a:xfrm>
            <a:off x="493775" y="1332363"/>
            <a:ext cx="8085485" cy="954107"/>
          </a:xfrm>
          <a:prstGeom prst="rect">
            <a:avLst/>
          </a:prstGeom>
          <a:noFill/>
        </p:spPr>
        <p:txBody>
          <a:bodyPr wrap="square">
            <a:spAutoFit/>
          </a:bodyPr>
          <a:lstStyle/>
          <a:p>
            <a:r>
              <a:rPr lang="en-US" altLang="zh-CN" sz="1400" dirty="0">
                <a:solidFill>
                  <a:prstClr val="black"/>
                </a:solidFill>
                <a:latin typeface="微软雅黑" panose="020B0503020204020204" pitchFamily="34" charset="-122"/>
                <a:ea typeface="微软雅黑" panose="020B0503020204020204" pitchFamily="34" charset="-122"/>
              </a:rPr>
              <a:t>policy-based </a:t>
            </a:r>
            <a:r>
              <a:rPr lang="zh-CN" altLang="en-US" sz="1400" dirty="0">
                <a:solidFill>
                  <a:prstClr val="black"/>
                </a:solidFill>
                <a:latin typeface="微软雅黑" panose="020B0503020204020204" pitchFamily="34" charset="-122"/>
                <a:ea typeface="微软雅黑" panose="020B0503020204020204" pitchFamily="34" charset="-122"/>
              </a:rPr>
              <a:t>方法中的值函数是直接使用全局信息进行建模，没有考虑个体的特点。在多智能体系统是由多个个体构成时，值函数难以训练到收敛，很难推导出理想的策略，并且仅依靠局部观测值，无法判断当前奖励是由于自身的行为还是环境中其他队友的行为而获得的。</a:t>
            </a:r>
          </a:p>
          <a:p>
            <a:endParaRPr lang="zh-CN" altLang="en-US" sz="1400" dirty="0">
              <a:solidFill>
                <a:prstClr val="black"/>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5138C6DB-C3F4-4601-BEA3-4036C27776A0}"/>
              </a:ext>
            </a:extLst>
          </p:cNvPr>
          <p:cNvPicPr>
            <a:picLocks noChangeAspect="1"/>
          </p:cNvPicPr>
          <p:nvPr/>
        </p:nvPicPr>
        <p:blipFill>
          <a:blip r:embed="rId2"/>
          <a:stretch>
            <a:fillRect/>
          </a:stretch>
        </p:blipFill>
        <p:spPr>
          <a:xfrm>
            <a:off x="564740" y="2171305"/>
            <a:ext cx="6104149" cy="1577477"/>
          </a:xfrm>
          <a:prstGeom prst="rect">
            <a:avLst/>
          </a:prstGeom>
        </p:spPr>
      </p:pic>
      <p:pic>
        <p:nvPicPr>
          <p:cNvPr id="8" name="图片 7">
            <a:extLst>
              <a:ext uri="{FF2B5EF4-FFF2-40B4-BE49-F238E27FC236}">
                <a16:creationId xmlns:a16="http://schemas.microsoft.com/office/drawing/2014/main" id="{DEC53D28-7D26-A4A7-1ACF-076DA6F2B1A3}"/>
              </a:ext>
            </a:extLst>
          </p:cNvPr>
          <p:cNvPicPr>
            <a:picLocks noChangeAspect="1"/>
          </p:cNvPicPr>
          <p:nvPr/>
        </p:nvPicPr>
        <p:blipFill>
          <a:blip r:embed="rId3"/>
          <a:stretch>
            <a:fillRect/>
          </a:stretch>
        </p:blipFill>
        <p:spPr>
          <a:xfrm>
            <a:off x="859334" y="3871308"/>
            <a:ext cx="4663844" cy="708721"/>
          </a:xfrm>
          <a:prstGeom prst="rect">
            <a:avLst/>
          </a:prstGeom>
        </p:spPr>
      </p:pic>
    </p:spTree>
    <p:extLst>
      <p:ext uri="{BB962C8B-B14F-4D97-AF65-F5344CB8AC3E}">
        <p14:creationId xmlns:p14="http://schemas.microsoft.com/office/powerpoint/2010/main" val="384122999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D8287-F550-3F29-803C-F970A6A3FC14}"/>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4521A1CC-582E-FAD0-D603-88BF1384B9E1}"/>
              </a:ext>
            </a:extLst>
          </p:cNvPr>
          <p:cNvSpPr/>
          <p:nvPr/>
        </p:nvSpPr>
        <p:spPr>
          <a:xfrm>
            <a:off x="0" y="4826000"/>
            <a:ext cx="9144000" cy="317500"/>
          </a:xfrm>
          <a:prstGeom prst="rect">
            <a:avLst/>
          </a:prstGeom>
          <a:solidFill>
            <a:srgbClr val="5C5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a:endParaRPr>
          </a:p>
        </p:txBody>
      </p:sp>
      <p:sp>
        <p:nvSpPr>
          <p:cNvPr id="2" name="矩形 1">
            <a:extLst>
              <a:ext uri="{FF2B5EF4-FFF2-40B4-BE49-F238E27FC236}">
                <a16:creationId xmlns:a16="http://schemas.microsoft.com/office/drawing/2014/main" id="{1CD18ACA-7FE3-2A76-FDB2-0F3F7C5FE538}"/>
              </a:ext>
            </a:extLst>
          </p:cNvPr>
          <p:cNvSpPr/>
          <p:nvPr/>
        </p:nvSpPr>
        <p:spPr>
          <a:xfrm>
            <a:off x="228600" y="172896"/>
            <a:ext cx="2358543" cy="461665"/>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w="38100">
                  <a:noFill/>
                </a:ln>
                <a:solidFill>
                  <a:prstClr val="black">
                    <a:lumMod val="65000"/>
                    <a:lumOff val="35000"/>
                  </a:prstClr>
                </a:solidFill>
                <a:effectLst/>
                <a:uLnTx/>
                <a:uFillTx/>
                <a:latin typeface="时尚中黑简体" panose="01010104010101010101" pitchFamily="2" charset="-122"/>
                <a:ea typeface="时尚中黑简体" panose="01010104010101010101" pitchFamily="2" charset="-122"/>
                <a:cs typeface="Arial"/>
                <a:sym typeface="+mn-lt"/>
              </a:rPr>
              <a:t>HRL</a:t>
            </a:r>
          </a:p>
        </p:txBody>
      </p:sp>
      <p:sp>
        <p:nvSpPr>
          <p:cNvPr id="12" name="文本框 11">
            <a:extLst>
              <a:ext uri="{FF2B5EF4-FFF2-40B4-BE49-F238E27FC236}">
                <a16:creationId xmlns:a16="http://schemas.microsoft.com/office/drawing/2014/main" id="{C41A0DB9-B1B4-048D-8B6C-1A0B7198B013}"/>
              </a:ext>
            </a:extLst>
          </p:cNvPr>
          <p:cNvSpPr txBox="1"/>
          <p:nvPr/>
        </p:nvSpPr>
        <p:spPr>
          <a:xfrm>
            <a:off x="420623" y="792867"/>
            <a:ext cx="8085485" cy="1023742"/>
          </a:xfrm>
          <a:prstGeom prst="rect">
            <a:avLst/>
          </a:prstGeom>
          <a:noFill/>
        </p:spPr>
        <p:txBody>
          <a:bodyPr wrap="square">
            <a:spAutoFit/>
          </a:bodyPr>
          <a:lstStyle/>
          <a:p>
            <a:pPr>
              <a:lnSpc>
                <a:spcPct val="150000"/>
              </a:lnSpc>
            </a:pPr>
            <a:r>
              <a:rPr lang="zh-CN" altLang="en-US" sz="1400" dirty="0">
                <a:solidFill>
                  <a:prstClr val="black"/>
                </a:solidFill>
                <a:latin typeface="微软雅黑" panose="020B0503020204020204" pitchFamily="34" charset="-122"/>
                <a:ea typeface="微软雅黑" panose="020B0503020204020204" pitchFamily="34" charset="-122"/>
              </a:rPr>
              <a:t>分层强化学习（</a:t>
            </a:r>
            <a:r>
              <a:rPr lang="en-US" altLang="zh-CN" sz="1400" dirty="0">
                <a:solidFill>
                  <a:prstClr val="black"/>
                </a:solidFill>
                <a:latin typeface="微软雅黑" panose="020B0503020204020204" pitchFamily="34" charset="-122"/>
                <a:ea typeface="微软雅黑" panose="020B0503020204020204" pitchFamily="34" charset="-122"/>
              </a:rPr>
              <a:t>Hierarchical Reinforcement Learning, HRL</a:t>
            </a:r>
            <a:r>
              <a:rPr lang="zh-CN" altLang="en-US" sz="1400" dirty="0">
                <a:solidFill>
                  <a:prstClr val="black"/>
                </a:solidFill>
                <a:latin typeface="微软雅黑" panose="020B0503020204020204" pitchFamily="34" charset="-122"/>
                <a:ea typeface="微软雅黑" panose="020B0503020204020204" pitchFamily="34" charset="-122"/>
              </a:rPr>
              <a:t>） 是一种强化学习方法，它将复杂任务分解为更易处理的子任务，通过层次结构来简化学习过程。</a:t>
            </a:r>
            <a:r>
              <a:rPr lang="en-US" altLang="zh-CN" sz="1400" dirty="0">
                <a:solidFill>
                  <a:prstClr val="black"/>
                </a:solidFill>
                <a:latin typeface="微软雅黑" panose="020B0503020204020204" pitchFamily="34" charset="-122"/>
                <a:ea typeface="微软雅黑" panose="020B0503020204020204" pitchFamily="34" charset="-122"/>
              </a:rPr>
              <a:t>HRL </a:t>
            </a:r>
            <a:r>
              <a:rPr lang="zh-CN" altLang="en-US" sz="1400" dirty="0">
                <a:solidFill>
                  <a:prstClr val="black"/>
                </a:solidFill>
                <a:latin typeface="微软雅黑" panose="020B0503020204020204" pitchFamily="34" charset="-122"/>
                <a:ea typeface="微软雅黑" panose="020B0503020204020204" pitchFamily="34" charset="-122"/>
              </a:rPr>
              <a:t>的主要目标是应对长时间跨度和稀疏奖励的问题，并通过多层次的决策方式来提高学习效率。</a:t>
            </a:r>
          </a:p>
        </p:txBody>
      </p:sp>
      <p:sp>
        <p:nvSpPr>
          <p:cNvPr id="4" name="文本框 3">
            <a:extLst>
              <a:ext uri="{FF2B5EF4-FFF2-40B4-BE49-F238E27FC236}">
                <a16:creationId xmlns:a16="http://schemas.microsoft.com/office/drawing/2014/main" id="{0F754F4B-A4BC-2922-7586-42CBB408F109}"/>
              </a:ext>
            </a:extLst>
          </p:cNvPr>
          <p:cNvSpPr txBox="1"/>
          <p:nvPr/>
        </p:nvSpPr>
        <p:spPr>
          <a:xfrm>
            <a:off x="420622" y="1933809"/>
            <a:ext cx="7269481" cy="1023742"/>
          </a:xfrm>
          <a:prstGeom prst="rect">
            <a:avLst/>
          </a:prstGeom>
          <a:noFill/>
        </p:spPr>
        <p:txBody>
          <a:bodyPr wrap="square">
            <a:spAutoFit/>
          </a:bodyPr>
          <a:lstStyle/>
          <a:p>
            <a:pPr>
              <a:lnSpc>
                <a:spcPct val="150000"/>
              </a:lnSpc>
            </a:pPr>
            <a:r>
              <a:rPr lang="zh-CN" altLang="en-US" sz="1400" dirty="0">
                <a:solidFill>
                  <a:prstClr val="black"/>
                </a:solidFill>
                <a:latin typeface="微软雅黑" panose="020B0503020204020204" pitchFamily="34" charset="-122"/>
                <a:ea typeface="微软雅黑" panose="020B0503020204020204" pitchFamily="34" charset="-122"/>
              </a:rPr>
              <a:t>选项框架：将高级行为抽象为选项，通过定义初始集、策略和终止条件，简化策略学习。</a:t>
            </a:r>
          </a:p>
          <a:p>
            <a:pPr>
              <a:lnSpc>
                <a:spcPct val="150000"/>
              </a:lnSpc>
            </a:pPr>
            <a:r>
              <a:rPr lang="en-US" altLang="zh-CN" sz="1400" dirty="0">
                <a:solidFill>
                  <a:prstClr val="black"/>
                </a:solidFill>
                <a:latin typeface="微软雅黑" panose="020B0503020204020204" pitchFamily="34" charset="-122"/>
                <a:ea typeface="微软雅黑" panose="020B0503020204020204" pitchFamily="34" charset="-122"/>
              </a:rPr>
              <a:t>MAXQ </a:t>
            </a:r>
            <a:r>
              <a:rPr lang="zh-CN" altLang="en-US" sz="1400" dirty="0">
                <a:solidFill>
                  <a:prstClr val="black"/>
                </a:solidFill>
                <a:latin typeface="微软雅黑" panose="020B0503020204020204" pitchFamily="34" charset="-122"/>
                <a:ea typeface="微软雅黑" panose="020B0503020204020204" pitchFamily="34" charset="-122"/>
              </a:rPr>
              <a:t>分解：通过分解价值函数，将复杂任务的值函数表示为若干子任务的值函数之和。</a:t>
            </a:r>
          </a:p>
          <a:p>
            <a:pPr>
              <a:lnSpc>
                <a:spcPct val="150000"/>
              </a:lnSpc>
            </a:pPr>
            <a:r>
              <a:rPr lang="en-US" altLang="zh-CN" sz="1400" dirty="0" err="1">
                <a:solidFill>
                  <a:prstClr val="black"/>
                </a:solidFill>
                <a:latin typeface="微软雅黑" panose="020B0503020204020204" pitchFamily="34" charset="-122"/>
                <a:ea typeface="微软雅黑" panose="020B0503020204020204" pitchFamily="34" charset="-122"/>
              </a:rPr>
              <a:t>FeUdal</a:t>
            </a:r>
            <a:r>
              <a:rPr lang="en-US" altLang="zh-CN" sz="1400" dirty="0">
                <a:solidFill>
                  <a:prstClr val="black"/>
                </a:solidFill>
                <a:latin typeface="微软雅黑" panose="020B0503020204020204" pitchFamily="34" charset="-122"/>
                <a:ea typeface="微软雅黑" panose="020B0503020204020204" pitchFamily="34" charset="-122"/>
              </a:rPr>
              <a:t> Networks</a:t>
            </a:r>
            <a:r>
              <a:rPr lang="zh-CN" altLang="en-US" sz="1400" dirty="0">
                <a:solidFill>
                  <a:prstClr val="black"/>
                </a:solidFill>
                <a:latin typeface="微软雅黑" panose="020B0503020204020204" pitchFamily="34" charset="-122"/>
                <a:ea typeface="微软雅黑" panose="020B0503020204020204" pitchFamily="34" charset="-122"/>
              </a:rPr>
              <a:t>：采用管理者</a:t>
            </a:r>
            <a:r>
              <a:rPr lang="en-US" altLang="zh-CN" sz="1400" dirty="0">
                <a:solidFill>
                  <a:prstClr val="black"/>
                </a:solidFill>
                <a:latin typeface="微软雅黑" panose="020B0503020204020204" pitchFamily="34" charset="-122"/>
                <a:ea typeface="微软雅黑" panose="020B0503020204020204" pitchFamily="34" charset="-122"/>
              </a:rPr>
              <a:t>-</a:t>
            </a:r>
            <a:r>
              <a:rPr lang="zh-CN" altLang="en-US" sz="1400" dirty="0">
                <a:solidFill>
                  <a:prstClr val="black"/>
                </a:solidFill>
                <a:latin typeface="微软雅黑" panose="020B0503020204020204" pitchFamily="34" charset="-122"/>
                <a:ea typeface="微软雅黑" panose="020B0503020204020204" pitchFamily="34" charset="-122"/>
              </a:rPr>
              <a:t>工人架构，高层管理者设定目标，低层工人执行具体操作。</a:t>
            </a:r>
          </a:p>
        </p:txBody>
      </p:sp>
      <p:sp>
        <p:nvSpPr>
          <p:cNvPr id="7" name="文本框 6">
            <a:extLst>
              <a:ext uri="{FF2B5EF4-FFF2-40B4-BE49-F238E27FC236}">
                <a16:creationId xmlns:a16="http://schemas.microsoft.com/office/drawing/2014/main" id="{59A73335-C97A-E923-8406-3D9EF2AAE734}"/>
              </a:ext>
            </a:extLst>
          </p:cNvPr>
          <p:cNvSpPr txBox="1"/>
          <p:nvPr/>
        </p:nvSpPr>
        <p:spPr>
          <a:xfrm>
            <a:off x="420622" y="3593808"/>
            <a:ext cx="5175506" cy="307777"/>
          </a:xfrm>
          <a:prstGeom prst="rect">
            <a:avLst/>
          </a:prstGeom>
          <a:noFill/>
        </p:spPr>
        <p:txBody>
          <a:bodyPr wrap="square">
            <a:spAutoFit/>
          </a:bodyPr>
          <a:lstStyle/>
          <a:p>
            <a:r>
              <a:rPr lang="en-US" altLang="zh-CN" sz="1400" dirty="0">
                <a:solidFill>
                  <a:prstClr val="black"/>
                </a:solidFill>
                <a:latin typeface="微软雅黑" panose="020B0503020204020204" pitchFamily="34" charset="-122"/>
                <a:ea typeface="微软雅黑" panose="020B0503020204020204" pitchFamily="34" charset="-122"/>
              </a:rPr>
              <a:t>Option-Critic</a:t>
            </a:r>
            <a:r>
              <a:rPr lang="zh-CN" altLang="en-US" sz="1400" dirty="0">
                <a:solidFill>
                  <a:prstClr val="black"/>
                </a:solidFill>
                <a:latin typeface="微软雅黑" panose="020B0503020204020204" pitchFamily="34" charset="-122"/>
                <a:ea typeface="微软雅黑" panose="020B0503020204020204" pitchFamily="34" charset="-122"/>
              </a:rPr>
              <a:t>、</a:t>
            </a:r>
            <a:r>
              <a:rPr lang="en-US" altLang="zh-CN" sz="1400" dirty="0">
                <a:solidFill>
                  <a:prstClr val="black"/>
                </a:solidFill>
                <a:latin typeface="微软雅黑" panose="020B0503020204020204" pitchFamily="34" charset="-122"/>
                <a:ea typeface="微软雅黑" panose="020B0503020204020204" pitchFamily="34" charset="-122"/>
              </a:rPr>
              <a:t>MAXQ </a:t>
            </a:r>
            <a:r>
              <a:rPr lang="zh-CN" altLang="en-US" sz="1400" dirty="0">
                <a:solidFill>
                  <a:prstClr val="black"/>
                </a:solidFill>
                <a:latin typeface="微软雅黑" panose="020B0503020204020204" pitchFamily="34" charset="-122"/>
                <a:ea typeface="微软雅黑" panose="020B0503020204020204" pitchFamily="34" charset="-122"/>
              </a:rPr>
              <a:t>、</a:t>
            </a:r>
            <a:r>
              <a:rPr lang="en-US" altLang="zh-CN" sz="1400" dirty="0">
                <a:solidFill>
                  <a:prstClr val="black"/>
                </a:solidFill>
                <a:latin typeface="微软雅黑" panose="020B0503020204020204" pitchFamily="34" charset="-122"/>
                <a:ea typeface="微软雅黑" panose="020B0503020204020204" pitchFamily="34" charset="-122"/>
              </a:rPr>
              <a:t>Hierarchical Actor-Critic (HAC)…</a:t>
            </a:r>
          </a:p>
        </p:txBody>
      </p:sp>
    </p:spTree>
    <p:extLst>
      <p:ext uri="{BB962C8B-B14F-4D97-AF65-F5344CB8AC3E}">
        <p14:creationId xmlns:p14="http://schemas.microsoft.com/office/powerpoint/2010/main" val="172066640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bwMode="auto">
          <a:xfrm>
            <a:off x="2912091" y="1930046"/>
            <a:ext cx="4023471" cy="769441"/>
          </a:xfrm>
          <a:prstGeom prst="rect">
            <a:avLst/>
          </a:prstGeom>
        </p:spPr>
        <p:txBody>
          <a:bodyPr wrap="square">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4400" b="0" i="0" u="none" strike="noStrike" kern="1200" cap="none" spc="0" normalizeH="0" baseline="0" noProof="0" dirty="0">
                <a:ln w="19050">
                  <a:noFill/>
                </a:ln>
                <a:solidFill>
                  <a:prstClr val="black">
                    <a:lumMod val="65000"/>
                    <a:lumOff val="35000"/>
                  </a:prstClr>
                </a:solidFill>
                <a:effectLst/>
                <a:uLnTx/>
                <a:uFillTx/>
                <a:latin typeface="时尚中黑简体" panose="01010104010101010101" pitchFamily="2" charset="-122"/>
                <a:ea typeface="时尚中黑简体" panose="01010104010101010101" pitchFamily="2" charset="-122"/>
                <a:cs typeface="+mn-cs"/>
                <a:sym typeface="思源黑体 CN Normal"/>
              </a:rPr>
              <a:t>感谢大家观看</a:t>
            </a:r>
          </a:p>
        </p:txBody>
      </p:sp>
      <p:sp>
        <p:nvSpPr>
          <p:cNvPr id="12" name="文本框 11"/>
          <p:cNvSpPr txBox="1"/>
          <p:nvPr/>
        </p:nvSpPr>
        <p:spPr>
          <a:xfrm>
            <a:off x="3431018" y="1683825"/>
            <a:ext cx="2321339" cy="246221"/>
          </a:xfrm>
          <a:prstGeom prst="rect">
            <a:avLst/>
          </a:prstGeom>
        </p:spPr>
        <p:txBody>
          <a:bodyPr wrap="square">
            <a:spAutoFit/>
          </a:bodyPr>
          <a:lstStyle>
            <a:defPPr>
              <a:defRPr lang="en-US"/>
            </a:defPPr>
            <a:lvl1pPr marR="0" lvl="0" indent="0" defTabSz="914400" fontAlgn="auto">
              <a:lnSpc>
                <a:spcPct val="100000"/>
              </a:lnSpc>
              <a:spcBef>
                <a:spcPct val="0"/>
              </a:spcBef>
              <a:spcAft>
                <a:spcPct val="0"/>
              </a:spcAft>
              <a:buClrTx/>
              <a:buSzTx/>
              <a:buFontTx/>
              <a:buNone/>
              <a:defRPr kumimoji="0" sz="6000" b="0" i="0" u="none" strike="noStrike" cap="none" spc="0" normalizeH="0" baseline="0">
                <a:ln>
                  <a:noFill/>
                </a:ln>
                <a:gradFill>
                  <a:gsLst>
                    <a:gs pos="19000">
                      <a:srgbClr val="55A9FF"/>
                    </a:gs>
                    <a:gs pos="100000">
                      <a:srgbClr val="1E8EFE"/>
                    </a:gs>
                    <a:gs pos="53000">
                      <a:srgbClr val="168AFF"/>
                    </a:gs>
                  </a:gsLst>
                  <a:lin ang="18900000" scaled="1"/>
                </a:gradFill>
                <a:effectLst/>
                <a:uLnTx/>
                <a:uFillTx/>
                <a:latin typeface="汉仪雅酷黑 65W" panose="020B0604020202020204" charset="-122"/>
                <a:ea typeface="汉仪雅酷黑 65W" panose="020B0604020202020204" charset="-122"/>
              </a:defRPr>
            </a:lvl1pPr>
            <a:lvl2pPr defTabSz="914400"/>
            <a:lvl3pPr defTabSz="914400"/>
            <a:lvl4pPr defTabSz="914400"/>
            <a:lvl5pPr defTabSz="914400"/>
            <a:lvl6pPr defTabSz="914400"/>
            <a:lvl7pPr defTabSz="914400"/>
            <a:lvl8pPr defTabSz="914400"/>
            <a:lvl9pPr defTabSz="914400"/>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dirty="0">
                <a:ln w="19050">
                  <a:noFill/>
                </a:ln>
                <a:solidFill>
                  <a:prstClr val="black">
                    <a:lumMod val="65000"/>
                    <a:lumOff val="35000"/>
                  </a:prstClr>
                </a:solidFill>
                <a:effectLst/>
                <a:uLnTx/>
                <a:uFillTx/>
                <a:latin typeface="时尚中黑简体" panose="01010104010101010101" pitchFamily="2" charset="-122"/>
                <a:ea typeface="时尚中黑简体" panose="01010104010101010101" pitchFamily="2" charset="-122"/>
                <a:cs typeface="+mn-cs"/>
              </a:rPr>
              <a:t>THANK YOU FOR WATCHING</a:t>
            </a:r>
          </a:p>
        </p:txBody>
      </p:sp>
      <p:sp>
        <p:nvSpPr>
          <p:cNvPr id="2" name="椭圆 1"/>
          <p:cNvSpPr/>
          <p:nvPr/>
        </p:nvSpPr>
        <p:spPr>
          <a:xfrm rot="5400000">
            <a:off x="8782172" y="372975"/>
            <a:ext cx="145928" cy="145928"/>
          </a:xfrm>
          <a:prstGeom prst="ellipse">
            <a:avLst/>
          </a:prstGeom>
          <a:solidFill>
            <a:schemeClr val="tx1">
              <a:lumMod val="50000"/>
              <a:lumOff val="50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 name="椭圆 2"/>
          <p:cNvSpPr/>
          <p:nvPr/>
        </p:nvSpPr>
        <p:spPr>
          <a:xfrm rot="5400000">
            <a:off x="8533535" y="372975"/>
            <a:ext cx="145928" cy="145928"/>
          </a:xfrm>
          <a:prstGeom prst="ellipse">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COMMONDATA" val="eyJoZGlkIjoiMGU2ZjNlMTA1ZDAzOTM1NTk4ZDgzNjMxOTgwNTE2YWQifQ=="/>
  <p:tag name="ISLIDE.GUIDESSETTING" val="{&quot;Id&quot;:&quot;GuidesStyle_Narrow&quot;,&quot;Name&quot;:&quot;较窄&quot;,&quot;Kind&quot;:&quot;System&quot;,&quot;OldGuidesSetting&quot;:{&quot;HeaderHeight&quot;:10.0,&quot;FooterHeight&quot;:5.0,&quot;SideMargin&quot;:2.5,&quot;TopMargin&quot;:0.0,&quot;BottomMargin&quot;:0.0,&quot;IntervalMargin&quot;:1.0}}"/>
</p:tagLst>
</file>

<file path=ppt/theme/theme1.xml><?xml version="1.0" encoding="utf-8"?>
<a:theme xmlns:a="http://schemas.openxmlformats.org/drawingml/2006/main" name="第一PPT，www.1ppt.com">
  <a:themeElements>
    <a:clrScheme name="北欧">
      <a:dk1>
        <a:sysClr val="windowText" lastClr="000000"/>
      </a:dk1>
      <a:lt1>
        <a:sysClr val="window" lastClr="FFFFFF"/>
      </a:lt1>
      <a:dk2>
        <a:srgbClr val="000000"/>
      </a:dk2>
      <a:lt2>
        <a:srgbClr val="F8F8F8"/>
      </a:lt2>
      <a:accent1>
        <a:srgbClr val="262626"/>
      </a:accent1>
      <a:accent2>
        <a:srgbClr val="3F3F3F"/>
      </a:accent2>
      <a:accent3>
        <a:srgbClr val="3F3F3F"/>
      </a:accent3>
      <a:accent4>
        <a:srgbClr val="595959"/>
      </a:accent4>
      <a:accent5>
        <a:srgbClr val="5F5F5F"/>
      </a:accent5>
      <a:accent6>
        <a:srgbClr val="4D4D4D"/>
      </a:accent6>
      <a:hlink>
        <a:srgbClr val="000000"/>
      </a:hlink>
      <a:folHlink>
        <a:srgbClr val="919191"/>
      </a:folHlink>
    </a:clrScheme>
    <a:fontScheme name="1思源黑体">
      <a:majorFont>
        <a:latin typeface="Arial"/>
        <a:ea typeface="思源黑体 CN Heavy"/>
        <a:cs typeface="Arial"/>
      </a:majorFont>
      <a:minorFont>
        <a:latin typeface="思源黑体 CN Normal"/>
        <a:ea typeface="思源黑体 CN Normal"/>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思源黑体 CN Normal"/>
        <a:ea typeface="思源黑体 CN Normal"/>
        <a:cs typeface="Arial"/>
        <a:font script="Jpan" typeface="ＭＳ Ｐゴシック"/>
        <a:font script="Hang" typeface="맑은 고딕"/>
        <a:font script="Hans" typeface="思源黑体 CN Norm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Normal"/>
        <a:ea typeface="思源黑体 CN Normal"/>
        <a:cs typeface="Arial"/>
        <a:font script="Jpan" typeface="ＭＳ Ｐゴシック"/>
        <a:font script="Hang" typeface="맑은 고딕"/>
        <a:font script="Hans" typeface="思源黑体 CN Norm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思源黑体 CN Normal"/>
        <a:ea typeface="思源黑体 CN Normal"/>
        <a:cs typeface="Arial"/>
        <a:font script="Jpan" typeface="ＭＳ Ｐゴシック"/>
        <a:font script="Hang" typeface="맑은 고딕"/>
        <a:font script="Hans" typeface="思源黑体 CN Norm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Normal"/>
        <a:ea typeface="思源黑体 CN Normal"/>
        <a:cs typeface="Arial"/>
        <a:font script="Jpan" typeface="ＭＳ Ｐゴシック"/>
        <a:font script="Hang" typeface="맑은 고딕"/>
        <a:font script="Hans" typeface="思源黑体 CN Norm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3237</TotalTime>
  <Words>609</Words>
  <Application>Microsoft Office PowerPoint</Application>
  <PresentationFormat>全屏显示(16:9)</PresentationFormat>
  <Paragraphs>46</Paragraphs>
  <Slides>11</Slides>
  <Notes>0</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11</vt:i4>
      </vt:variant>
    </vt:vector>
  </HeadingPairs>
  <TitlesOfParts>
    <vt:vector size="16" baseType="lpstr">
      <vt:lpstr>时尚中黑简体</vt:lpstr>
      <vt:lpstr>微软雅黑</vt:lpstr>
      <vt:lpstr>Arial</vt: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极简商务</dc:title>
  <dc:creator>第一PPT</dc:creator>
  <cp:keywords>www.1ppt.com</cp:keywords>
  <dc:description>www.1ppt.com</dc:description>
  <cp:lastModifiedBy>哈哈哈</cp:lastModifiedBy>
  <cp:revision>38</cp:revision>
  <dcterms:created xsi:type="dcterms:W3CDTF">2022-08-30T12:58:00Z</dcterms:created>
  <dcterms:modified xsi:type="dcterms:W3CDTF">2026-03-12T08:12:32Z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3B58EDE5E9514908AB30219335FF3168</vt:lpwstr>
  </property>
  <property fmtid="{D5CDD505-2E9C-101B-9397-08002B2CF9AE}" pid="3" name="KSOProductBuildVer">
    <vt:lpwstr>2052-12.1.0.23542</vt:lpwstr>
  </property>
  <property fmtid="{D5CDD505-2E9C-101B-9397-08002B2CF9AE}" pid="4" name="KSOTemplateUUID">
    <vt:lpwstr>v1.0_mb_6d2iZvVijsLHPjusqeWHrA==</vt:lpwstr>
  </property>
</Properties>
</file>