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经典</a:t>
            </a:r>
            <a:r>
              <a:rPr lang="en-US" altLang="zh-CN"/>
              <a:t>MOE</a:t>
            </a:r>
            <a:r>
              <a:rPr lang="zh-CN" altLang="en-US"/>
              <a:t>模型</a:t>
            </a:r>
            <a:r>
              <a:rPr lang="zh-CN" altLang="en-US"/>
              <a:t>介绍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Shazeer MoE,GShard,Switch Transformer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Shazeer MoE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 sz="2220"/>
              <a:t>Outrageously Large Neural Networks: The Sparsely Gated Mixtures of Experts Layer</a:t>
            </a:r>
            <a:endParaRPr lang="en-US" altLang="zh-CN" sz="222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fontAlgn="auto">
              <a:lnSpc>
                <a:spcPct val="120000"/>
              </a:lnSpc>
            </a:pPr>
            <a:r>
              <a:rPr lang="zh-CN" altLang="en-US"/>
              <a:t>核心背景：想要大模型，但不能花太多算力。增大模型参数对模型能力很关键，但不要显著增加计算量。</a:t>
            </a:r>
            <a:endParaRPr lang="zh-CN" altLang="en-US"/>
          </a:p>
          <a:p>
            <a:pPr fontAlgn="auto">
              <a:lnSpc>
                <a:spcPct val="120000"/>
              </a:lnSpc>
            </a:pPr>
            <a:r>
              <a:rPr lang="zh-CN" altLang="en-US"/>
              <a:t>难点：</a:t>
            </a:r>
            <a:r>
              <a:rPr lang="en-US" altLang="zh-CN"/>
              <a:t>Branching</a:t>
            </a:r>
            <a:r>
              <a:rPr lang="zh-CN" altLang="en-US"/>
              <a:t>很慢，每个专家的</a:t>
            </a:r>
            <a:r>
              <a:rPr lang="en-US" altLang="zh-CN"/>
              <a:t>bsz</a:t>
            </a:r>
            <a:r>
              <a:rPr lang="zh-CN" altLang="en-US"/>
              <a:t>很小，网络带宽，数据量不够大。</a:t>
            </a:r>
            <a:endParaRPr lang="en-US" altLang="zh-CN"/>
          </a:p>
          <a:p>
            <a:pPr fontAlgn="auto">
              <a:lnSpc>
                <a:spcPct val="120000"/>
              </a:lnSpc>
            </a:pPr>
            <a:endParaRPr lang="en-US" altLang="zh-CN"/>
          </a:p>
          <a:p>
            <a:pPr fontAlgn="auto">
              <a:lnSpc>
                <a:spcPct val="120000"/>
              </a:lnSpc>
            </a:pPr>
            <a:r>
              <a:rPr lang="en-US" altLang="zh-CN"/>
              <a:t>2017</a:t>
            </a:r>
            <a:r>
              <a:rPr lang="zh-CN" altLang="en-US"/>
              <a:t>年，</a:t>
            </a:r>
            <a:r>
              <a:rPr lang="en-US" altLang="zh-CN"/>
              <a:t>Shazeer</a:t>
            </a:r>
            <a:r>
              <a:rPr lang="zh-CN" altLang="en-US"/>
              <a:t>提出了稀疏门控混合专家层（</a:t>
            </a:r>
            <a:r>
              <a:rPr lang="en-US" altLang="zh-CN"/>
              <a:t>Sparsely-Gated MoE Layer</a:t>
            </a:r>
            <a:r>
              <a:rPr lang="zh-CN" altLang="en-US"/>
              <a:t>）</a:t>
            </a:r>
            <a:endParaRPr lang="zh-CN" altLang="en-US"/>
          </a:p>
          <a:p>
            <a:pPr algn="just" fontAlgn="auto">
              <a:lnSpc>
                <a:spcPct val="120000"/>
              </a:lnSpc>
            </a:pPr>
            <a:r>
              <a:rPr lang="en-US" altLang="zh-CN"/>
              <a:t>137B</a:t>
            </a:r>
            <a:r>
              <a:rPr lang="zh-CN" altLang="en-US"/>
              <a:t>参数的</a:t>
            </a:r>
            <a:r>
              <a:rPr lang="en-US" altLang="zh-CN"/>
              <a:t>LSTM——&gt;</a:t>
            </a:r>
            <a:r>
              <a:rPr lang="zh-CN" altLang="en-US"/>
              <a:t>机器翻译</a:t>
            </a:r>
            <a:r>
              <a:rPr lang="zh-CN" altLang="en-US"/>
              <a:t>任务</a:t>
            </a:r>
            <a:endParaRPr lang="zh-CN" altLang="en-US"/>
          </a:p>
          <a:p>
            <a:pPr algn="just" fontAlgn="auto">
              <a:lnSpc>
                <a:spcPct val="120000"/>
              </a:lnSpc>
            </a:pPr>
            <a:r>
              <a:rPr lang="zh-CN" altLang="en-US"/>
              <a:t>相比于更早的样本粒度</a:t>
            </a:r>
            <a:r>
              <a:rPr lang="en-US" altLang="zh-CN"/>
              <a:t>MoE</a:t>
            </a:r>
            <a:r>
              <a:rPr lang="zh-CN" altLang="en-US"/>
              <a:t>，针对</a:t>
            </a:r>
            <a:r>
              <a:rPr lang="en-US" altLang="zh-CN"/>
              <a:t>Token</a:t>
            </a:r>
            <a:r>
              <a:rPr lang="zh-CN" altLang="en-US"/>
              <a:t>粒度</a:t>
            </a:r>
            <a:r>
              <a:rPr lang="en-US" altLang="zh-CN"/>
              <a:t>MoE</a:t>
            </a:r>
            <a:endParaRPr lang="en-US" altLang="zh-CN"/>
          </a:p>
          <a:p>
            <a:pPr algn="just" fontAlgn="auto">
              <a:lnSpc>
                <a:spcPct val="120000"/>
              </a:lnSpc>
            </a:pPr>
            <a:r>
              <a:rPr lang="zh-CN" altLang="en-US"/>
              <a:t>稀疏门控机制的奠基</a:t>
            </a:r>
            <a:r>
              <a:rPr lang="zh-CN" altLang="en-US"/>
              <a:t>之作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165" y="3566795"/>
            <a:ext cx="5810885" cy="2785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2925" y="567690"/>
            <a:ext cx="609600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MoE</a:t>
            </a:r>
            <a:r>
              <a:rPr lang="zh-CN" altLang="en-US">
                <a:sym typeface="+mn-ea"/>
              </a:rPr>
              <a:t>层包括了一个门网络和若干个专家模块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G(x)</a:t>
            </a:r>
            <a:r>
              <a:rPr lang="zh-CN" altLang="en-US">
                <a:sym typeface="+mn-ea"/>
              </a:rPr>
              <a:t>表示门网络，</a:t>
            </a:r>
            <a:r>
              <a:rPr lang="en-US" altLang="zh-CN">
                <a:sym typeface="+mn-ea"/>
              </a:rPr>
              <a:t>E(x)</a:t>
            </a:r>
            <a:r>
              <a:rPr lang="zh-CN" altLang="en-US">
                <a:sym typeface="+mn-ea"/>
              </a:rPr>
              <a:t>表示专家输出，</a:t>
            </a:r>
            <a:r>
              <a:rPr lang="en-US" altLang="zh-CN">
                <a:sym typeface="+mn-ea"/>
              </a:rPr>
              <a:t>MoE</a:t>
            </a:r>
            <a:r>
              <a:rPr lang="zh-CN" altLang="en-US">
                <a:sym typeface="+mn-ea"/>
              </a:rPr>
              <a:t>层输出</a:t>
            </a:r>
            <a:r>
              <a:rPr lang="zh-CN" altLang="en-US">
                <a:sym typeface="+mn-ea"/>
              </a:rPr>
              <a:t>为：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最简单</a:t>
            </a:r>
            <a:r>
              <a:rPr lang="zh-CN" altLang="en-US">
                <a:sym typeface="+mn-ea"/>
              </a:rPr>
              <a:t>的门网络为输入乘矩阵</a:t>
            </a:r>
            <a:r>
              <a:rPr lang="en-US" altLang="zh-CN">
                <a:sym typeface="+mn-ea"/>
              </a:rPr>
              <a:t>+softmax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稀疏性，计算资源，负载均衡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做出以下</a:t>
            </a:r>
            <a:r>
              <a:rPr lang="zh-CN" altLang="en-US">
                <a:sym typeface="+mn-ea"/>
              </a:rPr>
              <a:t>优化：</a:t>
            </a:r>
            <a:endParaRPr lang="zh-CN" altLang="en-US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>
              <a:sym typeface="+mn-ea"/>
            </a:endParaRPr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Noisy TopK Gating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k=2</a:t>
            </a:r>
            <a:r>
              <a:rPr lang="zh-CN" altLang="en-US">
                <a:sym typeface="+mn-ea"/>
              </a:rPr>
              <a:t>）：</a:t>
            </a:r>
            <a:endParaRPr lang="zh-CN" altLang="en-US"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r>
              <a:rPr lang="zh-CN" altLang="en-US">
                <a:sym typeface="+mn-ea"/>
              </a:rPr>
              <a:t>加入可学习的激活噪声</a:t>
            </a:r>
            <a:endParaRPr lang="zh-CN" altLang="en-US"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r>
              <a:rPr lang="zh-CN" altLang="en-US">
                <a:sym typeface="+mn-ea"/>
              </a:rPr>
              <a:t>（根据输入动态调整噪声大小），保证了训练初期不会快速收敛到某几个专家，在后期减</a:t>
            </a:r>
            <a:r>
              <a:rPr lang="zh-CN" altLang="en-US">
                <a:sym typeface="+mn-ea"/>
              </a:rPr>
              <a:t>噪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530" y="889000"/>
            <a:ext cx="1876425" cy="3238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790" y="1428750"/>
            <a:ext cx="2324100" cy="266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995" y="2201545"/>
            <a:ext cx="5953125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285750" indent="-285750" fontAlgn="auto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220">
                <a:sym typeface="+mn-ea"/>
              </a:rPr>
              <a:t>bsz</a:t>
            </a:r>
            <a:r>
              <a:rPr lang="zh-CN" altLang="en-US" sz="2220">
                <a:sym typeface="+mn-ea"/>
              </a:rPr>
              <a:t>缩小的问题：</a:t>
            </a:r>
            <a:r>
              <a:rPr lang="en-US" altLang="zh-CN" sz="2220">
                <a:sym typeface="+mn-ea"/>
              </a:rPr>
              <a:t>b</a:t>
            </a:r>
            <a:r>
              <a:rPr lang="zh-CN" altLang="en-US" sz="2220">
                <a:sym typeface="+mn-ea"/>
              </a:rPr>
              <a:t>个样本，每个样本</a:t>
            </a:r>
            <a:r>
              <a:rPr lang="en-US" altLang="zh-CN" sz="2220">
                <a:sym typeface="+mn-ea"/>
              </a:rPr>
              <a:t>k</a:t>
            </a:r>
            <a:r>
              <a:rPr lang="zh-CN" altLang="en-US" sz="2220">
                <a:sym typeface="+mn-ea"/>
              </a:rPr>
              <a:t>个专家，总共</a:t>
            </a:r>
            <a:r>
              <a:rPr lang="en-US" altLang="zh-CN" sz="2220">
                <a:sym typeface="+mn-ea"/>
              </a:rPr>
              <a:t>n</a:t>
            </a:r>
            <a:r>
              <a:rPr lang="zh-CN" altLang="en-US" sz="2220">
                <a:sym typeface="+mn-ea"/>
              </a:rPr>
              <a:t>个专家，平均每个专家的样本数量为：</a:t>
            </a:r>
            <a:r>
              <a:rPr lang="en-US" altLang="zh-CN" sz="2220">
                <a:sym typeface="+mn-ea"/>
              </a:rPr>
              <a:t>kb/n</a:t>
            </a:r>
            <a:r>
              <a:rPr lang="zh-CN" altLang="en-US" sz="2220">
                <a:sym typeface="+mn-ea"/>
              </a:rPr>
              <a:t>，增大</a:t>
            </a:r>
            <a:r>
              <a:rPr lang="en-US" altLang="zh-CN" sz="2220">
                <a:sym typeface="+mn-ea"/>
              </a:rPr>
              <a:t>b</a:t>
            </a:r>
            <a:r>
              <a:rPr lang="zh-CN" altLang="en-US" sz="2220">
                <a:sym typeface="+mn-ea"/>
              </a:rPr>
              <a:t>，并做数据并行，模型并行处理</a:t>
            </a:r>
            <a:endParaRPr lang="zh-CN" altLang="en-US" sz="2220">
              <a:sym typeface="+mn-ea"/>
            </a:endParaRPr>
          </a:p>
          <a:p>
            <a:pPr marL="285750" indent="-285750" fontAlgn="auto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220">
                <a:sym typeface="+mn-ea"/>
              </a:rPr>
              <a:t>网络带宽：信息在专家之间传递频繁会导致算力不能充分发挥，根据带宽限制专家数量</a:t>
            </a:r>
            <a:endParaRPr lang="zh-CN" altLang="en-US" sz="2220">
              <a:sym typeface="+mn-ea"/>
            </a:endParaRPr>
          </a:p>
          <a:p>
            <a:pPr marL="285750" indent="-285750" fontAlgn="auto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220">
                <a:sym typeface="+mn-ea"/>
              </a:rPr>
              <a:t>平衡专家负载：门网络倾向于效果好的专家，同时这种负载不均会被训练强化。</a:t>
            </a:r>
            <a:endParaRPr lang="zh-CN" altLang="en-US" sz="2220">
              <a:sym typeface="+mn-ea"/>
            </a:endParaRPr>
          </a:p>
          <a:p>
            <a:pPr marL="285750" indent="-285750" fontAlgn="auto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220">
                <a:sym typeface="+mn-ea"/>
              </a:rPr>
              <a:t>使用了软约束的方法，增加负载约束</a:t>
            </a:r>
            <a:r>
              <a:rPr lang="en-US" altLang="zh-CN" sz="2220">
                <a:sym typeface="+mn-ea"/>
              </a:rPr>
              <a:t>Loss</a:t>
            </a:r>
            <a:r>
              <a:rPr lang="zh-CN" altLang="en-US" sz="2220">
                <a:sym typeface="+mn-ea"/>
              </a:rPr>
              <a:t>鼓励专家得分均衡</a:t>
            </a:r>
            <a:endParaRPr lang="zh-CN" altLang="en-US" sz="2220">
              <a:sym typeface="+mn-ea"/>
            </a:endParaRPr>
          </a:p>
          <a:p>
            <a:endParaRPr lang="zh-CN" altLang="en-US" sz="222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4790" y="5577205"/>
            <a:ext cx="4705350" cy="6000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16395" y="5577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CV</a:t>
            </a:r>
            <a:r>
              <a:rPr lang="zh-CN" altLang="en-US"/>
              <a:t>指标准差</a:t>
            </a:r>
            <a:r>
              <a:rPr lang="en-US" altLang="zh-CN"/>
              <a:t>/</a:t>
            </a:r>
            <a:r>
              <a:rPr lang="zh-CN" altLang="en-US"/>
              <a:t>均值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GShard</a:t>
            </a:r>
            <a:r>
              <a:rPr lang="zh-CN" altLang="en-US"/>
              <a:t>：</a:t>
            </a:r>
            <a:r>
              <a:rPr lang="en-US" altLang="zh-CN"/>
              <a:t>Scaling Giant Models with Conditional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fontAlgn="auto">
              <a:lnSpc>
                <a:spcPct val="130000"/>
              </a:lnSpc>
            </a:pPr>
            <a:r>
              <a:rPr lang="zh-CN" altLang="en-US"/>
              <a:t>背景：随着</a:t>
            </a:r>
            <a:r>
              <a:rPr lang="en-US" altLang="zh-CN"/>
              <a:t>Transformer</a:t>
            </a:r>
            <a:r>
              <a:rPr lang="zh-CN" altLang="en-US"/>
              <a:t>在</a:t>
            </a:r>
            <a:r>
              <a:rPr lang="en-US" altLang="zh-CN"/>
              <a:t>NLP</a:t>
            </a:r>
            <a:r>
              <a:rPr lang="zh-CN" altLang="en-US"/>
              <a:t>的全面统治，</a:t>
            </a:r>
            <a:r>
              <a:rPr lang="en-US" altLang="zh-CN"/>
              <a:t>Google</a:t>
            </a:r>
            <a:r>
              <a:rPr lang="zh-CN" altLang="en-US"/>
              <a:t>于</a:t>
            </a:r>
            <a:r>
              <a:rPr lang="en-US" altLang="zh-CN"/>
              <a:t>2020</a:t>
            </a:r>
            <a:r>
              <a:rPr lang="zh-CN" altLang="en-US"/>
              <a:t>年推出</a:t>
            </a:r>
            <a:r>
              <a:rPr lang="en-US" altLang="zh-CN"/>
              <a:t>GShard</a:t>
            </a:r>
            <a:r>
              <a:rPr lang="zh-CN" altLang="en-US"/>
              <a:t>架构，首次将</a:t>
            </a:r>
            <a:r>
              <a:rPr lang="en-US" altLang="zh-CN"/>
              <a:t>MoE</a:t>
            </a:r>
            <a:r>
              <a:rPr lang="zh-CN" altLang="en-US"/>
              <a:t>应用于</a:t>
            </a:r>
            <a:r>
              <a:rPr lang="en-US" altLang="zh-CN"/>
              <a:t>Transformer</a:t>
            </a:r>
            <a:r>
              <a:rPr lang="zh-CN" altLang="en-US"/>
              <a:t>，构建了</a:t>
            </a:r>
            <a:r>
              <a:rPr lang="en-US" altLang="zh-CN"/>
              <a:t>600B</a:t>
            </a:r>
            <a:r>
              <a:rPr lang="zh-CN" altLang="en-US"/>
              <a:t>参数（</a:t>
            </a:r>
            <a:r>
              <a:rPr lang="en-US" altLang="zh-CN"/>
              <a:t>2048</a:t>
            </a:r>
            <a:r>
              <a:rPr lang="zh-CN" altLang="en-US"/>
              <a:t>个专家）的巨型</a:t>
            </a:r>
            <a:r>
              <a:rPr lang="zh-CN" altLang="en-US"/>
              <a:t>模型。</a:t>
            </a:r>
            <a:endParaRPr lang="zh-CN" altLang="en-US"/>
          </a:p>
          <a:p>
            <a:pPr fontAlgn="auto">
              <a:lnSpc>
                <a:spcPct val="130000"/>
              </a:lnSpc>
            </a:pPr>
            <a:endParaRPr lang="zh-CN" altLang="en-US"/>
          </a:p>
          <a:p>
            <a:pPr fontAlgn="auto">
              <a:lnSpc>
                <a:spcPct val="130000"/>
              </a:lnSpc>
            </a:pPr>
            <a:r>
              <a:rPr lang="zh-CN" altLang="en-US"/>
              <a:t>架构</a:t>
            </a:r>
            <a:r>
              <a:rPr lang="zh-CN" altLang="en-US"/>
              <a:t>创新：确定了现代</a:t>
            </a:r>
            <a:r>
              <a:rPr lang="en-US" altLang="zh-CN"/>
              <a:t>MoE Transformer</a:t>
            </a:r>
            <a:r>
              <a:rPr lang="zh-CN" altLang="en-US"/>
              <a:t>的标准</a:t>
            </a:r>
            <a:r>
              <a:rPr lang="zh-CN" altLang="en-US"/>
              <a:t>形态</a:t>
            </a:r>
            <a:endParaRPr lang="zh-CN" altLang="en-US"/>
          </a:p>
          <a:p>
            <a:pPr fontAlgn="auto">
              <a:lnSpc>
                <a:spcPct val="130000"/>
              </a:lnSpc>
            </a:pPr>
            <a:r>
              <a:rPr lang="zh-CN" altLang="en-US"/>
              <a:t>编程</a:t>
            </a:r>
            <a:r>
              <a:rPr lang="zh-CN" altLang="en-US"/>
              <a:t>抽象：设计轻量级的张量分片标注</a:t>
            </a:r>
            <a:r>
              <a:rPr lang="en-US" altLang="zh-CN"/>
              <a:t>API</a:t>
            </a:r>
            <a:r>
              <a:rPr lang="zh-CN" altLang="en-US"/>
              <a:t>，仅需少量标注可实现大模型的</a:t>
            </a:r>
            <a:r>
              <a:rPr lang="zh-CN" altLang="en-US"/>
              <a:t>并行化</a:t>
            </a:r>
            <a:endParaRPr lang="zh-CN" altLang="en-US"/>
          </a:p>
          <a:p>
            <a:pPr fontAlgn="auto">
              <a:lnSpc>
                <a:spcPct val="130000"/>
              </a:lnSpc>
            </a:pPr>
            <a:r>
              <a:rPr lang="zh-CN" altLang="en-US"/>
              <a:t>编译优化：提出单程序多数据的自动分片编译策略，使得编译时间与设备无关（所有设备运行同一个程序，处理不同的数据</a:t>
            </a:r>
            <a:r>
              <a:rPr lang="zh-CN" altLang="en-US"/>
              <a:t>分片）</a:t>
            </a:r>
            <a:endParaRPr lang="zh-CN" altLang="en-US"/>
          </a:p>
          <a:p>
            <a:pPr fontAlgn="auto">
              <a:lnSpc>
                <a:spcPct val="13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13740"/>
            <a:ext cx="10515600" cy="4351338"/>
          </a:xfrm>
        </p:spPr>
        <p:txBody>
          <a:bodyPr/>
          <a:p>
            <a:r>
              <a:rPr lang="en-US" altLang="zh-CN"/>
              <a:t>1.MoE </a:t>
            </a:r>
            <a:r>
              <a:rPr lang="en-US" altLang="zh-CN"/>
              <a:t>Transformer</a:t>
            </a:r>
            <a:endParaRPr lang="en-US" altLang="zh-CN"/>
          </a:p>
          <a:p>
            <a:r>
              <a:rPr lang="zh-CN" altLang="en-US" sz="2000"/>
              <a:t>每隔一个</a:t>
            </a:r>
            <a:r>
              <a:rPr lang="en-US" altLang="zh-CN" sz="2000"/>
              <a:t>FFN</a:t>
            </a:r>
            <a:r>
              <a:rPr lang="zh-CN" altLang="en-US" sz="2000"/>
              <a:t>层做</a:t>
            </a:r>
            <a:r>
              <a:rPr lang="en-US" altLang="zh-CN" sz="2000"/>
              <a:t>MoE</a:t>
            </a:r>
            <a:r>
              <a:rPr lang="zh-CN" altLang="en-US" sz="2000"/>
              <a:t>层，选择</a:t>
            </a:r>
            <a:r>
              <a:rPr lang="en-US" altLang="zh-CN" sz="2000"/>
              <a:t>Top2</a:t>
            </a:r>
            <a:endParaRPr lang="en-US" altLang="zh-CN" sz="2000"/>
          </a:p>
          <a:p>
            <a:r>
              <a:rPr lang="zh-CN" altLang="en-US" sz="2000"/>
              <a:t>第一个专家选择</a:t>
            </a:r>
            <a:r>
              <a:rPr lang="en-US" altLang="zh-CN" sz="2000"/>
              <a:t>gate</a:t>
            </a:r>
            <a:r>
              <a:rPr lang="zh-CN" altLang="en-US" sz="2000"/>
              <a:t>分数最高的，第二个专家根据专家分数有概率选取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0" y="2889885"/>
            <a:ext cx="5880100" cy="34905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615" y="2011680"/>
            <a:ext cx="2246630" cy="9836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35" y="3119120"/>
            <a:ext cx="4498975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600"/>
              <a:t>2.</a:t>
            </a:r>
            <a:r>
              <a:rPr lang="zh-CN" altLang="en-US" sz="3600"/>
              <a:t>负载均衡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专家容量限制：</a:t>
            </a:r>
            <a:r>
              <a:rPr lang="en-US" altLang="zh-CN"/>
              <a:t>token</a:t>
            </a:r>
            <a:r>
              <a:rPr lang="zh-CN" altLang="en-US"/>
              <a:t>阈值，超过阈值</a:t>
            </a:r>
            <a:r>
              <a:rPr lang="en-US" altLang="zh-CN"/>
              <a:t>token</a:t>
            </a:r>
            <a:r>
              <a:rPr lang="zh-CN" altLang="en-US"/>
              <a:t>直接跳过</a:t>
            </a:r>
            <a:r>
              <a:rPr lang="en-US" altLang="zh-CN"/>
              <a:t>FFN</a:t>
            </a:r>
            <a:endParaRPr lang="en-US" altLang="zh-CN"/>
          </a:p>
          <a:p>
            <a:r>
              <a:rPr lang="zh-CN" altLang="en-US"/>
              <a:t>局部分组调度：将</a:t>
            </a:r>
            <a:r>
              <a:rPr lang="en-US" altLang="zh-CN"/>
              <a:t>batch</a:t>
            </a:r>
            <a:r>
              <a:rPr lang="zh-CN" altLang="en-US"/>
              <a:t>拆分成小组</a:t>
            </a:r>
            <a:r>
              <a:rPr lang="zh-CN" altLang="en-US"/>
              <a:t>调度</a:t>
            </a:r>
            <a:endParaRPr lang="zh-CN" altLang="en-US"/>
          </a:p>
          <a:p>
            <a:r>
              <a:rPr lang="zh-CN" altLang="en-US"/>
              <a:t>辅助损失：鼓励专家</a:t>
            </a:r>
            <a:r>
              <a:rPr lang="en-US" altLang="zh-CN"/>
              <a:t>token</a:t>
            </a:r>
            <a:r>
              <a:rPr lang="zh-CN" altLang="en-US"/>
              <a:t>数一致，权重总和</a:t>
            </a:r>
            <a:r>
              <a:rPr lang="zh-CN" altLang="en-US"/>
              <a:t>一致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硬件</a:t>
            </a:r>
            <a:r>
              <a:rPr lang="zh-CN" altLang="en-US"/>
              <a:t>支持：</a:t>
            </a:r>
            <a:endParaRPr lang="zh-CN" altLang="en-US"/>
          </a:p>
          <a:p>
            <a:r>
              <a:rPr lang="zh-CN" altLang="en-US"/>
              <a:t>实现了张量自动切分的</a:t>
            </a:r>
            <a:r>
              <a:rPr lang="en-US" altLang="zh-CN"/>
              <a:t>api</a:t>
            </a:r>
            <a:r>
              <a:rPr lang="zh-CN" altLang="en-US"/>
              <a:t>（复制，划分，分片）</a:t>
            </a:r>
            <a:r>
              <a:rPr lang="en-US" altLang="zh-CN"/>
              <a:t>-&gt;</a:t>
            </a:r>
            <a:r>
              <a:rPr lang="zh-CN" altLang="en-US"/>
              <a:t>聚焦于架构设计而不是编译</a:t>
            </a:r>
            <a:r>
              <a:rPr lang="zh-CN" altLang="en-US"/>
              <a:t>问题</a:t>
            </a:r>
            <a:endParaRPr lang="zh-CN" altLang="en-US"/>
          </a:p>
          <a:p>
            <a:r>
              <a:rPr lang="zh-CN" altLang="en-US"/>
              <a:t>自动分片编译器：每台机器上只编译一次，运行同一个</a:t>
            </a:r>
            <a:r>
              <a:rPr lang="zh-CN" altLang="en-US"/>
              <a:t>程序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3555"/>
              <a:t>Switch Transformers: Scaling to Trillion Parameter Models with Simple and Efficient Sparsity</a:t>
            </a:r>
            <a:endParaRPr lang="en-US" altLang="zh-CN" sz="3555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000"/>
              <a:t>2021</a:t>
            </a:r>
            <a:r>
              <a:rPr lang="zh-CN" altLang="en-US" sz="2000"/>
              <a:t>年，</a:t>
            </a:r>
            <a:r>
              <a:rPr lang="en-US" altLang="zh-CN" sz="2000"/>
              <a:t>Switch Transformer</a:t>
            </a:r>
            <a:r>
              <a:rPr lang="zh-CN" altLang="en-US" sz="2000"/>
              <a:t>将模型规模推向了</a:t>
            </a:r>
            <a:r>
              <a:rPr lang="en-US" altLang="zh-CN" sz="2000"/>
              <a:t>1.6</a:t>
            </a:r>
            <a:r>
              <a:rPr lang="zh-CN" altLang="en-US" sz="2000"/>
              <a:t>万亿参数，主要确定了</a:t>
            </a:r>
            <a:r>
              <a:rPr lang="en-US" altLang="zh-CN" sz="2000"/>
              <a:t>MoE</a:t>
            </a:r>
            <a:r>
              <a:rPr lang="zh-CN" altLang="en-US" sz="2000"/>
              <a:t>工程的极简范式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最核心架构创新：将路由策略从</a:t>
            </a:r>
            <a:r>
              <a:rPr lang="en-US" altLang="zh-CN" sz="2000"/>
              <a:t>Top-k(k&gt;=2)</a:t>
            </a:r>
            <a:r>
              <a:rPr lang="zh-CN" altLang="en-US" sz="2000"/>
              <a:t>简化为</a:t>
            </a:r>
            <a:r>
              <a:rPr lang="en-US" altLang="zh-CN" sz="2000"/>
              <a:t>Top-1</a:t>
            </a:r>
            <a:r>
              <a:rPr lang="zh-CN" altLang="en-US" sz="2000"/>
              <a:t>路由，减少了</a:t>
            </a:r>
            <a:r>
              <a:rPr lang="en-US" altLang="zh-CN" sz="2000"/>
              <a:t>GPU</a:t>
            </a:r>
            <a:r>
              <a:rPr lang="zh-CN" altLang="en-US" sz="2000"/>
              <a:t>节点间的通信开销。</a:t>
            </a:r>
            <a:endParaRPr lang="zh-CN" altLang="en-US" sz="2000"/>
          </a:p>
          <a:p>
            <a:r>
              <a:rPr lang="zh-CN" altLang="en-US" sz="2000"/>
              <a:t>使用专家容量因子（类似</a:t>
            </a:r>
            <a:r>
              <a:rPr lang="en-US" altLang="zh-CN" sz="2000"/>
              <a:t>GShard</a:t>
            </a:r>
            <a:r>
              <a:rPr lang="zh-CN" altLang="en-US" sz="2000"/>
              <a:t>专家阈值）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8540" y="3542665"/>
            <a:ext cx="5943600" cy="2885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工业界主流</a:t>
            </a:r>
            <a:r>
              <a:rPr lang="en-US" altLang="zh-CN"/>
              <a:t>MoE</a:t>
            </a:r>
            <a:r>
              <a:rPr lang="zh-CN" altLang="en-US"/>
              <a:t>架构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5810" y="1914525"/>
            <a:ext cx="9850755" cy="39109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0" y="1418590"/>
            <a:ext cx="6485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从大专家到细粒度的小专家</a:t>
            </a:r>
            <a:r>
              <a:rPr lang="en-US" altLang="zh-CN"/>
              <a:t>-&gt;</a:t>
            </a:r>
            <a:r>
              <a:rPr lang="zh-CN" altLang="en-US"/>
              <a:t>减少</a:t>
            </a:r>
            <a:r>
              <a:rPr lang="en-US" altLang="zh-CN"/>
              <a:t>FFN</a:t>
            </a:r>
            <a:r>
              <a:rPr lang="zh-CN" altLang="en-US"/>
              <a:t>参数量但增大专家</a:t>
            </a:r>
            <a:r>
              <a:rPr lang="zh-CN" altLang="en-US"/>
              <a:t>数量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V-</a:t>
            </a:r>
            <a:r>
              <a:rPr lang="en-US" altLang="zh-CN"/>
              <a:t>MoE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将稀疏门控机制应用于视觉领域，把</a:t>
            </a:r>
            <a:r>
              <a:rPr lang="en-US" altLang="zh-CN"/>
              <a:t>ViT</a:t>
            </a:r>
            <a:r>
              <a:rPr lang="zh-CN" altLang="en-US"/>
              <a:t>视觉模型扩展到</a:t>
            </a:r>
            <a:r>
              <a:rPr lang="en-US" altLang="zh-CN"/>
              <a:t>15B</a:t>
            </a:r>
            <a:r>
              <a:rPr lang="zh-CN" altLang="en-US"/>
              <a:t>大小</a:t>
            </a:r>
            <a:endParaRPr lang="zh-CN" altLang="en-US"/>
          </a:p>
          <a:p>
            <a:r>
              <a:rPr lang="zh-CN" altLang="en-US"/>
              <a:t>包含</a:t>
            </a:r>
            <a:r>
              <a:rPr lang="en-US" altLang="zh-CN"/>
              <a:t>24</a:t>
            </a:r>
            <a:r>
              <a:rPr lang="zh-CN" altLang="en-US"/>
              <a:t>个</a:t>
            </a:r>
            <a:r>
              <a:rPr lang="en-US" altLang="zh-CN"/>
              <a:t>MoE</a:t>
            </a:r>
            <a:r>
              <a:rPr lang="zh-CN" altLang="en-US"/>
              <a:t>层，每层</a:t>
            </a:r>
            <a:r>
              <a:rPr lang="en-US" altLang="zh-CN"/>
              <a:t>32</a:t>
            </a:r>
            <a:r>
              <a:rPr lang="zh-CN" altLang="en-US"/>
              <a:t>个专家，</a:t>
            </a:r>
            <a:r>
              <a:rPr lang="en-US" altLang="zh-CN"/>
              <a:t>k=2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770" y="3076575"/>
            <a:ext cx="6810375" cy="2781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115" y="3796665"/>
            <a:ext cx="329565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8820" y="572770"/>
            <a:ext cx="10515600" cy="4351338"/>
          </a:xfrm>
        </p:spPr>
        <p:txBody>
          <a:bodyPr/>
          <a:p>
            <a:r>
              <a:rPr lang="zh-CN" altLang="en-US"/>
              <a:t>基于优先级的</a:t>
            </a:r>
            <a:r>
              <a:rPr lang="en-US" altLang="zh-CN"/>
              <a:t>Batch</a:t>
            </a:r>
            <a:r>
              <a:rPr lang="zh-CN" altLang="en-US"/>
              <a:t>路由</a:t>
            </a:r>
            <a:r>
              <a:rPr lang="zh-CN" altLang="en-US"/>
              <a:t>算法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324610"/>
            <a:ext cx="5726430" cy="5156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75450" y="18592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原始</a:t>
            </a:r>
            <a:r>
              <a:rPr lang="en-US" altLang="zh-CN"/>
              <a:t>routing</a:t>
            </a:r>
            <a:r>
              <a:rPr lang="zh-CN" altLang="en-US"/>
              <a:t>：专家容量满就丢弃</a:t>
            </a:r>
            <a:r>
              <a:rPr lang="en-US" altLang="zh-CN"/>
              <a:t>patch</a:t>
            </a:r>
            <a:r>
              <a:rPr lang="zh-CN" altLang="en-US"/>
              <a:t>，根据处理的</a:t>
            </a:r>
            <a:r>
              <a:rPr lang="zh-CN" altLang="en-US"/>
              <a:t>顺序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70700" y="400240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优先级</a:t>
            </a:r>
            <a:r>
              <a:rPr lang="en-US" altLang="zh-CN"/>
              <a:t>routing</a:t>
            </a:r>
            <a:r>
              <a:rPr lang="zh-CN" altLang="en-US"/>
              <a:t>：根据</a:t>
            </a:r>
            <a:r>
              <a:rPr lang="en-US" altLang="zh-CN"/>
              <a:t>gate</a:t>
            </a:r>
            <a:r>
              <a:rPr lang="zh-CN" altLang="en-US"/>
              <a:t>分数作为优先级，专家容量满就先丢优先级</a:t>
            </a:r>
            <a:r>
              <a:rPr lang="zh-CN" altLang="en-US"/>
              <a:t>低的</a:t>
            </a:r>
            <a:r>
              <a:rPr lang="en-US" altLang="zh-CN"/>
              <a:t>patch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896100" y="5211445"/>
            <a:ext cx="4338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motivation</a:t>
            </a:r>
            <a:r>
              <a:rPr lang="zh-CN" altLang="en-US"/>
              <a:t>：在图像中存在大量冗余且缺乏信息的背景区域（与语言模型</a:t>
            </a:r>
            <a:r>
              <a:rPr lang="zh-CN" altLang="en-US"/>
              <a:t>区别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Steer MoE——</a:t>
            </a:r>
            <a:r>
              <a:rPr lang="zh-CN" altLang="en-US"/>
              <a:t>语音</a:t>
            </a:r>
            <a:r>
              <a:rPr lang="en-US" altLang="zh-CN"/>
              <a:t>MoE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931795"/>
            <a:ext cx="5890260" cy="34969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2825" y="1537335"/>
            <a:ext cx="7299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语音处理：先将连续的声学信号通过</a:t>
            </a:r>
            <a:r>
              <a:rPr lang="en-US" altLang="zh-CN"/>
              <a:t>encoder</a:t>
            </a:r>
            <a:r>
              <a:rPr lang="zh-CN" altLang="en-US"/>
              <a:t>转化为音频</a:t>
            </a:r>
            <a:r>
              <a:rPr lang="en-US" altLang="zh-CN"/>
              <a:t>token</a:t>
            </a:r>
            <a:r>
              <a:rPr lang="zh-CN" altLang="en-US"/>
              <a:t>送入</a:t>
            </a:r>
            <a:r>
              <a:rPr lang="en-US" altLang="zh-CN"/>
              <a:t>LLM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049655" y="2096135"/>
            <a:ext cx="8240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steermoe</a:t>
            </a:r>
            <a:r>
              <a:rPr lang="zh-CN" altLang="en-US"/>
              <a:t>是为了解决多任务干扰问题。</a:t>
            </a:r>
            <a:r>
              <a:rPr lang="en-US" altLang="zh-CN"/>
              <a:t>Moe</a:t>
            </a:r>
            <a:r>
              <a:rPr lang="zh-CN" altLang="en-US"/>
              <a:t>模块在冻结的语音编码器和</a:t>
            </a:r>
            <a:r>
              <a:rPr lang="en-US" altLang="zh-CN"/>
              <a:t>LLM</a:t>
            </a:r>
            <a:r>
              <a:rPr lang="zh-CN" altLang="en-US"/>
              <a:t>中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30390" y="2992755"/>
            <a:ext cx="442277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MoE</a:t>
            </a:r>
            <a:r>
              <a:rPr lang="zh-CN" altLang="en-US"/>
              <a:t>根据输入</a:t>
            </a:r>
            <a:r>
              <a:rPr lang="en-US" altLang="zh-CN"/>
              <a:t>x</a:t>
            </a:r>
            <a:r>
              <a:rPr lang="zh-CN" altLang="en-US"/>
              <a:t>动态选择专家向量</a:t>
            </a:r>
            <a:r>
              <a:rPr lang="en-US" altLang="zh-CN"/>
              <a:t>Vec(</a:t>
            </a:r>
            <a:r>
              <a:rPr lang="zh-CN" altLang="en-US"/>
              <a:t>可学习的向量</a:t>
            </a:r>
            <a:r>
              <a:rPr lang="en-US" altLang="zh-CN"/>
              <a:t>)</a:t>
            </a:r>
            <a:r>
              <a:rPr lang="zh-CN" altLang="en-US"/>
              <a:t>叠加到输出上，可以理解为每个向量是在提示我们现在在做</a:t>
            </a:r>
            <a:r>
              <a:rPr lang="en-US" altLang="zh-CN"/>
              <a:t>ASR(</a:t>
            </a:r>
            <a:r>
              <a:rPr lang="zh-CN" altLang="en-US"/>
              <a:t>语音识别任务</a:t>
            </a:r>
            <a:r>
              <a:rPr lang="en-US" altLang="zh-CN"/>
              <a:t>)</a:t>
            </a:r>
            <a:r>
              <a:rPr lang="zh-CN" altLang="en-US"/>
              <a:t>或者</a:t>
            </a:r>
            <a:r>
              <a:rPr lang="en-US" altLang="zh-CN"/>
              <a:t>SER(</a:t>
            </a:r>
            <a:r>
              <a:rPr lang="zh-CN" altLang="en-US"/>
              <a:t>情感识别任务</a:t>
            </a:r>
            <a:r>
              <a:rPr lang="en-US" altLang="zh-CN"/>
              <a:t>)</a:t>
            </a:r>
            <a:r>
              <a:rPr lang="zh-CN" altLang="en-US"/>
              <a:t>等不同的任务来帮助编码器</a:t>
            </a:r>
            <a:r>
              <a:rPr lang="zh-CN" altLang="en-US"/>
              <a:t>编码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Uni-MoE——</a:t>
            </a:r>
            <a:r>
              <a:rPr lang="zh-CN" altLang="en-US"/>
              <a:t>统一模态</a:t>
            </a:r>
            <a:r>
              <a:rPr lang="en-US" altLang="zh-CN"/>
              <a:t>MoE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1990" y="2607945"/>
            <a:ext cx="7343775" cy="3429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80465" y="1597025"/>
            <a:ext cx="6019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核心逻辑：冻结两端的</a:t>
            </a:r>
            <a:r>
              <a:rPr lang="en-US" altLang="zh-CN"/>
              <a:t>encoder</a:t>
            </a:r>
            <a:r>
              <a:rPr lang="zh-CN" altLang="en-US"/>
              <a:t>与底座</a:t>
            </a:r>
            <a:r>
              <a:rPr lang="en-US" altLang="zh-CN"/>
              <a:t>LLM</a:t>
            </a:r>
            <a:r>
              <a:rPr lang="zh-CN" altLang="en-US"/>
              <a:t>，在中间引入混合专家系统</a:t>
            </a:r>
            <a:r>
              <a:rPr lang="en-US" altLang="zh-CN"/>
              <a:t>MoE</a:t>
            </a:r>
            <a:r>
              <a:rPr lang="zh-CN" altLang="en-US"/>
              <a:t>，为不同的模态分配不同的专家</a:t>
            </a:r>
            <a:r>
              <a:rPr lang="zh-CN" altLang="en-US"/>
              <a:t>路径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25765" y="313944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三阶段训练法：</a:t>
            </a:r>
            <a:endParaRPr lang="zh-CN" altLang="en-US" b="1"/>
          </a:p>
          <a:p>
            <a:r>
              <a:rPr lang="en-US" altLang="zh-CN" b="1"/>
              <a:t>1.</a:t>
            </a:r>
            <a:r>
              <a:rPr lang="zh-CN" altLang="en-US" b="1"/>
              <a:t>模态对齐：</a:t>
            </a:r>
            <a:r>
              <a:rPr lang="zh-CN" altLang="en-US"/>
              <a:t>只训练连接器，让</a:t>
            </a:r>
            <a:r>
              <a:rPr lang="en-US" altLang="zh-CN"/>
              <a:t>LLM</a:t>
            </a:r>
            <a:r>
              <a:rPr lang="zh-CN" altLang="en-US"/>
              <a:t>认识各</a:t>
            </a:r>
            <a:r>
              <a:rPr lang="zh-CN" altLang="en-US"/>
              <a:t>模态</a:t>
            </a:r>
            <a:endParaRPr lang="zh-CN" altLang="en-US"/>
          </a:p>
          <a:p>
            <a:r>
              <a:rPr lang="en-US" altLang="zh-CN" b="1"/>
              <a:t>2.</a:t>
            </a:r>
            <a:r>
              <a:rPr lang="zh-CN" altLang="en-US" b="1"/>
              <a:t>专家预训练：</a:t>
            </a:r>
            <a:r>
              <a:rPr lang="zh-CN" altLang="en-US"/>
              <a:t>引入</a:t>
            </a:r>
            <a:r>
              <a:rPr lang="en-US" altLang="zh-CN"/>
              <a:t>MoE</a:t>
            </a:r>
            <a:r>
              <a:rPr lang="zh-CN" altLang="en-US"/>
              <a:t>，专门训练模态专家，硬连接模态与</a:t>
            </a:r>
            <a:r>
              <a:rPr lang="zh-CN" altLang="en-US"/>
              <a:t>专家</a:t>
            </a:r>
            <a:endParaRPr lang="zh-CN" altLang="en-US"/>
          </a:p>
          <a:p>
            <a:r>
              <a:rPr lang="en-US" altLang="zh-CN" b="1"/>
              <a:t>3.</a:t>
            </a:r>
            <a:r>
              <a:rPr lang="zh-CN" altLang="en-US" b="1"/>
              <a:t>多模态指令微调：</a:t>
            </a:r>
            <a:r>
              <a:rPr lang="zh-CN" altLang="en-US"/>
              <a:t>全局微调</a:t>
            </a:r>
            <a:r>
              <a:rPr lang="en-US" altLang="zh-CN"/>
              <a:t>MoE</a:t>
            </a:r>
            <a:r>
              <a:rPr lang="zh-CN" altLang="en-US"/>
              <a:t>路由器和专家，让</a:t>
            </a:r>
            <a:r>
              <a:rPr lang="en-US" altLang="zh-CN"/>
              <a:t>router</a:t>
            </a:r>
            <a:r>
              <a:rPr lang="zh-CN" altLang="en-US"/>
              <a:t>能自己选择</a:t>
            </a:r>
            <a:r>
              <a:rPr lang="zh-CN" altLang="en-US"/>
              <a:t>模态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WPS 演示</Application>
  <PresentationFormat>宽屏</PresentationFormat>
  <Paragraphs>99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经典MOE模型介绍</vt:lpstr>
      <vt:lpstr>Shazeer MoE： Outrageously Large Neural Networks: The Sparsely Gated Mixtures of Experts Layer</vt:lpstr>
      <vt:lpstr>PowerPoint 演示文稿</vt:lpstr>
      <vt:lpstr>问题</vt:lpstr>
      <vt:lpstr>GShard：Scaling Giant Models with Conditional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王文杰</dc:creator>
  <cp:lastModifiedBy>王文杰(2022010631)</cp:lastModifiedBy>
  <cp:revision>9</cp:revision>
  <dcterms:created xsi:type="dcterms:W3CDTF">2023-08-09T12:44:00Z</dcterms:created>
  <dcterms:modified xsi:type="dcterms:W3CDTF">2026-03-19T03:44:45Z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13F09BBFCA204694A7E9F079F02E9DF4_12</vt:lpwstr>
  </property>
</Properties>
</file>