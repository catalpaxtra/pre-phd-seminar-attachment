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62" r:id="rId5"/>
    <p:sldId id="260" r:id="rId6"/>
    <p:sldId id="270" r:id="rId7"/>
    <p:sldId id="261" r:id="rId8"/>
    <p:sldId id="271" r:id="rId9"/>
    <p:sldId id="272" r:id="rId10"/>
    <p:sldId id="258" r:id="rId11"/>
    <p:sldId id="266" r:id="rId12"/>
    <p:sldId id="267" r:id="rId13"/>
    <p:sldId id="268" r:id="rId14"/>
    <p:sldId id="269" r:id="rId1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6" userDrawn="1">
          <p15:clr>
            <a:srgbClr val="A4A3A4"/>
          </p15:clr>
        </p15:guide>
        <p15:guide id="2" pos="383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36"/>
        <p:guide pos="383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1. </a:t>
            </a:r>
            <a:r>
              <a:rPr lang="zh-CN" altLang="en-US"/>
              <a:t>通过</a:t>
            </a:r>
            <a:r>
              <a:rPr lang="en-US" altLang="zh-CN"/>
              <a:t> MoE </a:t>
            </a:r>
            <a:r>
              <a:rPr lang="zh-CN" altLang="en-US"/>
              <a:t>实现条件计算的优势也带来了实际挑战，包括路由决策、专家间的负载均衡以及分布式环境中的高效实现。</a:t>
            </a:r>
            <a:endParaRPr lang="zh-CN" altLang="en-US"/>
          </a:p>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b="1">
                <a:sym typeface="+mn-ea"/>
              </a:rPr>
              <a:t>L2</a:t>
            </a:r>
            <a:r>
              <a:rPr lang="zh-CN" altLang="en-US" b="1">
                <a:sym typeface="+mn-ea"/>
              </a:rPr>
              <a:t>正则化</a:t>
            </a:r>
            <a:r>
              <a:rPr lang="en-US" altLang="zh-CN">
                <a:sym typeface="+mn-ea"/>
              </a:rPr>
              <a:t> </a:t>
            </a:r>
            <a:r>
              <a:rPr lang="zh-CN" altLang="en-US">
                <a:sym typeface="+mn-ea"/>
              </a:rPr>
              <a:t>应用</a:t>
            </a:r>
            <a:r>
              <a:rPr lang="en-US" altLang="zh-CN">
                <a:sym typeface="+mn-ea"/>
              </a:rPr>
              <a:t>L2</a:t>
            </a:r>
            <a:r>
              <a:rPr lang="zh-CN" altLang="en-US">
                <a:sym typeface="+mn-ea"/>
              </a:rPr>
              <a:t>正则化（权重衰减）有时有助于防止权重变得过大，从而可能提高稳定性</a:t>
            </a:r>
            <a:endParaRPr lang="zh-CN" altLang="en-US">
              <a:sym typeface="+mn-ea"/>
            </a:endParaRPr>
          </a:p>
          <a:p>
            <a:r>
              <a:rPr lang="zh-CN" altLang="en-US" b="1">
                <a:sym typeface="+mn-ea"/>
              </a:rPr>
              <a:t>梯度裁剪</a:t>
            </a:r>
            <a:r>
              <a:rPr lang="en-US" altLang="zh-CN">
                <a:sym typeface="+mn-ea"/>
              </a:rPr>
              <a:t> </a:t>
            </a:r>
            <a:r>
              <a:rPr lang="zh-CN" altLang="en-US">
                <a:sym typeface="+mn-ea"/>
              </a:rPr>
              <a:t>当任务损失基于路由决策突然变化，或者辅助损失施加强大压力时，大梯度可能导致较大的更新，从而使路由器学习到的策略不稳定。通过限制应用于路由器的梯度的最大范数或值，我们确保路由策略的更新更平滑</a:t>
            </a:r>
            <a:endParaRPr lang="zh-CN" altLang="en-US"/>
          </a:p>
          <a:p>
            <a:r>
              <a:rPr lang="en-US" altLang="zh-CN" b="1"/>
              <a:t>---------------------------------------------------------</a:t>
            </a:r>
            <a:endParaRPr lang="en-US" altLang="zh-CN" b="1"/>
          </a:p>
          <a:p>
            <a:r>
              <a:rPr lang="zh-CN" altLang="en-US">
                <a:sym typeface="+mn-ea"/>
              </a:rPr>
              <a:t>噪声的加入有助于打破确定性反馈循环，否则某些专家可能仅因初始化或微小的初始优势而在早期路由中占据主导地位。</a:t>
            </a:r>
            <a:endParaRPr lang="zh-CN" altLang="en-US"/>
          </a:p>
          <a:p>
            <a:r>
              <a:rPr lang="zh-CN" altLang="en-US" b="1"/>
              <a:t>较高的噪声</a:t>
            </a:r>
            <a:r>
              <a:rPr lang="en-US" altLang="zh-CN" b="1"/>
              <a:t> </a:t>
            </a:r>
            <a:r>
              <a:rPr lang="zh-CN" altLang="en-US"/>
              <a:t>起初会促进更均匀的选择，可能有助于所有专家接收到一些</a:t>
            </a:r>
            <a:r>
              <a:rPr lang="en-US" altLang="zh-CN"/>
              <a:t>tokens</a:t>
            </a:r>
            <a:r>
              <a:rPr lang="zh-CN" altLang="en-US"/>
              <a:t>并开始学习。</a:t>
            </a:r>
            <a:endParaRPr lang="zh-CN" altLang="en-US"/>
          </a:p>
          <a:p>
            <a:r>
              <a:rPr lang="zh-CN" altLang="en-US"/>
              <a:t>这种噪声在训练过程中通常会衰减（减少），使路由器随着专家专业化而变得更加确定。</a:t>
            </a:r>
            <a:endParaRPr lang="zh-CN" altLang="en-US"/>
          </a:p>
          <a:p>
            <a:r>
              <a:rPr lang="en-US" altLang="zh-CN" b="1">
                <a:sym typeface="+mn-ea"/>
              </a:rPr>
              <a:t>-------------------------------------------------------------</a:t>
            </a:r>
            <a:endParaRPr lang="zh-CN" altLang="en-US" b="1"/>
          </a:p>
          <a:p>
            <a:r>
              <a:rPr lang="zh-CN" altLang="en-US">
                <a:sym typeface="+mn-ea"/>
              </a:rPr>
              <a:t>专家混合（</a:t>
            </a:r>
            <a:r>
              <a:rPr lang="en-US" altLang="zh-CN">
                <a:sym typeface="+mn-ea"/>
              </a:rPr>
              <a:t>MoE</a:t>
            </a:r>
            <a:r>
              <a:rPr lang="zh-CN" altLang="en-US">
                <a:sym typeface="+mn-ea"/>
              </a:rPr>
              <a:t>）模型首要</a:t>
            </a:r>
            <a:r>
              <a:rPr lang="zh-CN" altLang="en-US">
                <a:sym typeface="+mn-ea"/>
              </a:rPr>
              <a:t>问题</a:t>
            </a:r>
            <a:r>
              <a:rPr lang="zh-CN" altLang="en-US">
                <a:sym typeface="+mn-ea"/>
              </a:rPr>
              <a:t>是负载均衡，此问题直接源于</a:t>
            </a:r>
            <a:r>
              <a:rPr lang="en-US" altLang="zh-CN">
                <a:sym typeface="+mn-ea"/>
              </a:rPr>
              <a:t> MoE </a:t>
            </a:r>
            <a:r>
              <a:rPr lang="zh-CN" altLang="en-US">
                <a:sym typeface="+mn-ea"/>
              </a:rPr>
              <a:t>的核心机制：由门控网络调节的条件计算。</a:t>
            </a:r>
            <a:endParaRPr lang="zh-CN" altLang="en-US"/>
          </a:p>
          <a:p>
            <a:r>
              <a:rPr lang="zh-CN" altLang="en-US">
                <a:sym typeface="+mn-ea"/>
              </a:rPr>
              <a:t>门控机制直接影响负载均衡。虽然噪声有帮助，但专门的辅助损失函数</a:t>
            </a:r>
            <a:r>
              <a:rPr lang="en-US" altLang="zh-CN">
                <a:sym typeface="+mn-ea"/>
              </a:rPr>
              <a:t> (loss function)</a:t>
            </a:r>
            <a:r>
              <a:rPr lang="zh-CN" altLang="en-US">
                <a:sym typeface="+mn-ea"/>
              </a:rPr>
              <a:t>总是必要的，以明确促使训练期间专家使用均衡。</a:t>
            </a:r>
            <a:endParaRPr lang="zh-CN" altLang="en-US">
              <a:sym typeface="+mn-ea"/>
            </a:endParaRPr>
          </a:p>
          <a:p>
            <a:r>
              <a:rPr lang="zh-CN" altLang="en-US">
                <a:sym typeface="+mn-ea"/>
              </a:rPr>
              <a:t>门控网络的设计和负载均衡策略紧密关联。</a:t>
            </a:r>
            <a:r>
              <a:rPr lang="zh-CN" altLang="en-US">
                <a:sym typeface="+mn-ea"/>
              </a:rPr>
              <a:t>门控网络决定哪个专家处理每个输入令牌，理想情况下，希望</a:t>
            </a:r>
            <a:r>
              <a:rPr lang="en-US" altLang="zh-CN">
                <a:sym typeface="+mn-ea"/>
              </a:rPr>
              <a:t>token</a:t>
            </a:r>
            <a:r>
              <a:rPr lang="zh-CN" altLang="en-US">
                <a:sym typeface="+mn-ea"/>
              </a:rPr>
              <a:t>在训练批次过程中大致均匀地分配到层内所有可用专家。</a:t>
            </a:r>
            <a:endParaRPr lang="zh-CN" altLang="en-US"/>
          </a:p>
          <a:p>
            <a:endParaRPr lang="zh-CN" altLang="en-US"/>
          </a:p>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b="1"/>
              <a:t>必要性：</a:t>
            </a:r>
            <a:r>
              <a:rPr lang="zh-CN" altLang="en-US"/>
              <a:t>无辅助损失，路由器的学习仅由最小化任务驱动。这会形成正反馈循环，导致那些最初在某些输入上表现稍好的专家获得更多令牌，使它们能进一步专业化并吸引更多令牌，最终导致严重不平衡。</a:t>
            </a:r>
            <a:endParaRPr lang="zh-CN" altLang="en-US">
              <a:sym typeface="+mn-ea"/>
            </a:endParaRPr>
          </a:p>
          <a:p>
            <a:pPr marL="0" lvl="1"/>
            <a:r>
              <a:rPr lang="en-US" altLang="zh-CN">
                <a:sym typeface="+mn-ea"/>
              </a:rPr>
              <a:t>----------------------------------------------------------</a:t>
            </a:r>
            <a:endParaRPr lang="zh-CN" altLang="en-US"/>
          </a:p>
          <a:p>
            <a:pPr marL="0" lvl="1"/>
            <a:r>
              <a:rPr lang="zh-CN" altLang="en-US">
                <a:sym typeface="+mn-ea"/>
              </a:rPr>
              <a:t>【对路由器输出概率之前的原始分数（</a:t>
            </a:r>
            <a:r>
              <a:rPr lang="en-US" altLang="zh-CN">
                <a:sym typeface="+mn-ea"/>
              </a:rPr>
              <a:t>logits</a:t>
            </a:r>
            <a:r>
              <a:rPr lang="zh-CN" altLang="en-US">
                <a:sym typeface="+mn-ea"/>
              </a:rPr>
              <a:t>）干预】</a:t>
            </a:r>
            <a:endParaRPr lang="zh-CN" altLang="en-US">
              <a:sym typeface="+mn-ea"/>
            </a:endParaRPr>
          </a:p>
          <a:p>
            <a:pPr marL="0" lvl="1"/>
            <a:r>
              <a:rPr lang="zh-CN" altLang="en-US">
                <a:sym typeface="+mn-ea"/>
              </a:rPr>
              <a:t>路由器</a:t>
            </a:r>
            <a:r>
              <a:rPr lang="en-US" altLang="zh-CN">
                <a:sym typeface="+mn-ea"/>
              </a:rPr>
              <a:t> Logit </a:t>
            </a:r>
            <a:r>
              <a:rPr lang="zh-CN" altLang="en-US">
                <a:sym typeface="+mn-ea"/>
              </a:rPr>
              <a:t>正则化（</a:t>
            </a:r>
            <a:r>
              <a:rPr lang="en-US" altLang="zh-CN">
                <a:sym typeface="+mn-ea"/>
              </a:rPr>
              <a:t>Z-loss</a:t>
            </a:r>
            <a:r>
              <a:rPr lang="zh-CN" altLang="en-US">
                <a:sym typeface="+mn-ea"/>
              </a:rPr>
              <a:t>）：防止路由器在训练早期将所有令牌分配给一个或少数几个专家，通过惩罚进入</a:t>
            </a:r>
            <a:r>
              <a:rPr lang="en-US" altLang="zh-CN">
                <a:sym typeface="+mn-ea"/>
              </a:rPr>
              <a:t>MoE </a:t>
            </a:r>
            <a:r>
              <a:rPr lang="zh-CN" altLang="en-US">
                <a:sym typeface="+mn-ea"/>
              </a:rPr>
              <a:t>模型的大</a:t>
            </a:r>
            <a:r>
              <a:rPr lang="en-US" altLang="zh-CN">
                <a:sym typeface="+mn-ea"/>
              </a:rPr>
              <a:t> logits </a:t>
            </a:r>
            <a:r>
              <a:rPr lang="zh-CN" altLang="en-US">
                <a:sym typeface="+mn-ea"/>
              </a:rPr>
              <a:t>值，</a:t>
            </a:r>
            <a:r>
              <a:rPr lang="zh-CN" altLang="en-US">
                <a:sym typeface="+mn-ea"/>
              </a:rPr>
              <a:t>平滑概率分布</a:t>
            </a:r>
            <a:endParaRPr lang="zh-CN" altLang="en-US">
              <a:sym typeface="+mn-ea"/>
            </a:endParaRPr>
          </a:p>
          <a:p>
            <a:pPr marL="0" lvl="1"/>
            <a:r>
              <a:rPr lang="zh-CN" altLang="en-US" strike="sngStrike">
                <a:sym typeface="+mn-ea"/>
              </a:rPr>
              <a:t>如果</a:t>
            </a:r>
            <a:r>
              <a:rPr lang="en-US" altLang="zh-CN" strike="sngStrike">
                <a:sym typeface="+mn-ea"/>
              </a:rPr>
              <a:t> logits </a:t>
            </a:r>
            <a:r>
              <a:rPr lang="zh-CN" altLang="en-US" strike="sngStrike">
                <a:sym typeface="+mn-ea"/>
              </a:rPr>
              <a:t>太大，在</a:t>
            </a:r>
            <a:r>
              <a:rPr lang="en-US" altLang="zh-CN" strike="sngStrike">
                <a:sym typeface="+mn-ea"/>
              </a:rPr>
              <a:t> softmax </a:t>
            </a:r>
            <a:r>
              <a:rPr lang="zh-CN" altLang="en-US" strike="sngStrike">
                <a:sym typeface="+mn-ea"/>
              </a:rPr>
              <a:t>计算过程中可能会导致数值不稳定，影响模型的训练效果，甚至可能导致数值溢出。</a:t>
            </a:r>
            <a:endParaRPr lang="zh-CN" altLang="en-US" strike="sngStrike"/>
          </a:p>
          <a:p>
            <a:pPr marL="0" lvl="1"/>
            <a:r>
              <a:rPr lang="zh-CN" altLang="en-US" strike="sngStrike">
                <a:sym typeface="+mn-ea"/>
              </a:rPr>
              <a:t>第</a:t>
            </a:r>
            <a:r>
              <a:rPr lang="en-US" altLang="zh-CN" strike="sngStrike">
                <a:sym typeface="+mn-ea"/>
              </a:rPr>
              <a:t> i</a:t>
            </a:r>
            <a:r>
              <a:rPr lang="zh-CN" altLang="en-US" strike="sngStrike">
                <a:sym typeface="+mn-ea"/>
              </a:rPr>
              <a:t>个</a:t>
            </a:r>
            <a:r>
              <a:rPr lang="en-US" altLang="zh-CN" strike="sngStrike">
                <a:sym typeface="+mn-ea"/>
              </a:rPr>
              <a:t> token </a:t>
            </a:r>
            <a:r>
              <a:rPr lang="zh-CN" altLang="en-US" strike="sngStrike">
                <a:sym typeface="+mn-ea"/>
              </a:rPr>
              <a:t>给第</a:t>
            </a:r>
            <a:r>
              <a:rPr lang="en-US" altLang="zh-CN" strike="sngStrike">
                <a:sym typeface="+mn-ea"/>
              </a:rPr>
              <a:t>j</a:t>
            </a:r>
            <a:r>
              <a:rPr lang="zh-CN" altLang="en-US" strike="sngStrike">
                <a:sym typeface="+mn-ea"/>
              </a:rPr>
              <a:t>个专家的原始分数，对所有的专家求和，取对数，做平方，对批次中所有的</a:t>
            </a:r>
            <a:r>
              <a:rPr lang="en-US" altLang="zh-CN" strike="sngStrike">
                <a:sym typeface="+mn-ea"/>
              </a:rPr>
              <a:t> token </a:t>
            </a:r>
            <a:r>
              <a:rPr lang="zh-CN" altLang="en-US" strike="sngStrike">
                <a:sym typeface="+mn-ea"/>
              </a:rPr>
              <a:t>求和，取平均</a:t>
            </a:r>
            <a:endParaRPr lang="zh-CN" altLang="en-US" strike="sngStrike"/>
          </a:p>
          <a:p>
            <a:pPr marL="0" lvl="1"/>
            <a:r>
              <a:rPr lang="zh-CN" altLang="en-US" strike="sngStrike">
                <a:sym typeface="+mn-ea"/>
              </a:rPr>
              <a:t>（</a:t>
            </a:r>
            <a:r>
              <a:rPr lang="en-US" altLang="zh-CN" strike="sngStrike">
                <a:sym typeface="+mn-ea"/>
              </a:rPr>
              <a:t>N·T </a:t>
            </a:r>
            <a:r>
              <a:rPr lang="zh-CN" altLang="en-US" strike="sngStrike">
                <a:sym typeface="+mn-ea"/>
              </a:rPr>
              <a:t>代表一个批次中总的</a:t>
            </a:r>
            <a:r>
              <a:rPr lang="en-US" altLang="zh-CN" strike="sngStrike">
                <a:sym typeface="+mn-ea"/>
              </a:rPr>
              <a:t> token </a:t>
            </a:r>
            <a:r>
              <a:rPr lang="zh-CN" altLang="en-US" strike="sngStrike">
                <a:sym typeface="+mn-ea"/>
              </a:rPr>
              <a:t>数量</a:t>
            </a:r>
            <a:r>
              <a:rPr lang="en-US" altLang="zh-CN" strike="sngStrike">
                <a:sym typeface="+mn-ea"/>
              </a:rPr>
              <a:t> </a:t>
            </a:r>
            <a:r>
              <a:rPr lang="zh-CN" altLang="en-US" strike="sngStrike">
                <a:sym typeface="+mn-ea"/>
              </a:rPr>
              <a:t>，平均化操作，使得损失值不受批次大小的影响）</a:t>
            </a:r>
            <a:endParaRPr lang="zh-CN" altLang="en-US" strike="sngStrike"/>
          </a:p>
          <a:p>
            <a:pPr marL="0" lvl="1"/>
            <a:r>
              <a:rPr lang="zh-CN" altLang="en-US" strike="sngStrike">
                <a:sym typeface="+mn-ea"/>
              </a:rPr>
              <a:t>乘以一个小的权重系数</a:t>
            </a:r>
            <a:r>
              <a:rPr lang="en-US" altLang="zh-CN" strike="sngStrike">
                <a:sym typeface="+mn-ea"/>
              </a:rPr>
              <a:t>\lameda</a:t>
            </a:r>
            <a:r>
              <a:rPr lang="zh-CN" altLang="en-US" strike="sngStrike">
                <a:sym typeface="+mn-ea"/>
              </a:rPr>
              <a:t>（通常设为</a:t>
            </a:r>
            <a:r>
              <a:rPr lang="en-US" altLang="zh-CN" strike="sngStrike">
                <a:sym typeface="+mn-ea"/>
              </a:rPr>
              <a:t> 0.001</a:t>
            </a:r>
            <a:r>
              <a:rPr lang="zh-CN" altLang="en-US" strike="sngStrike">
                <a:sym typeface="+mn-ea"/>
              </a:rPr>
              <a:t>），确保</a:t>
            </a:r>
            <a:r>
              <a:rPr lang="en-US" altLang="zh-CN" strike="sngStrike">
                <a:sym typeface="+mn-ea"/>
              </a:rPr>
              <a:t> Z-loss </a:t>
            </a:r>
            <a:r>
              <a:rPr lang="zh-CN" altLang="en-US" strike="sngStrike">
                <a:sym typeface="+mn-ea"/>
              </a:rPr>
              <a:t>不会对模型的主损失产生过大的影响，但仍然能帮助模型</a:t>
            </a:r>
            <a:r>
              <a:rPr lang="zh-CN" altLang="en-US" b="1" strike="sngStrike">
                <a:sym typeface="+mn-ea"/>
              </a:rPr>
              <a:t>维持数值稳定性</a:t>
            </a:r>
            <a:endParaRPr lang="zh-CN" altLang="en-US" strike="sngStrike">
              <a:sym typeface="+mn-ea"/>
            </a:endParaRPr>
          </a:p>
          <a:p>
            <a:pPr marL="0" lvl="1"/>
            <a:r>
              <a:rPr lang="en-US" altLang="zh-CN">
                <a:sym typeface="+mn-ea"/>
              </a:rPr>
              <a:t>---------------------------------------------------------</a:t>
            </a:r>
            <a:endParaRPr lang="zh-CN" altLang="en-US"/>
          </a:p>
          <a:p>
            <a:r>
              <a:rPr lang="zh-CN" altLang="en-US"/>
              <a:t>【在路由器输出概率之后进行干预】</a:t>
            </a:r>
            <a:endParaRPr lang="zh-CN" altLang="en-US"/>
          </a:p>
          <a:p>
            <a:pPr marL="0" lvl="1"/>
            <a:r>
              <a:rPr lang="zh-CN" altLang="en-US">
                <a:sym typeface="+mn-ea"/>
              </a:rPr>
              <a:t>负载均衡损失</a:t>
            </a:r>
            <a:r>
              <a:rPr lang="en-US" altLang="zh-CN">
                <a:sym typeface="+mn-ea"/>
              </a:rPr>
              <a:t> </a:t>
            </a:r>
            <a:r>
              <a:rPr lang="en-US" altLang="zh-CN">
                <a:sym typeface="+mn-ea"/>
              </a:rPr>
              <a:t>(</a:t>
            </a:r>
            <a:r>
              <a:rPr lang="en-US" altLang="zh-CN">
                <a:latin typeface="Arial" panose="020B0604020202020204" pitchFamily="34" charset="0"/>
                <a:ea typeface="黑体" panose="02010609060101010101" charset="-122"/>
                <a:cs typeface="Arial" panose="020B0604020202020204" pitchFamily="34" charset="0"/>
                <a:sym typeface="+mn-ea"/>
              </a:rPr>
              <a:t>Load Balancing Loss</a:t>
            </a:r>
            <a:r>
              <a:rPr lang="en-US" altLang="zh-CN">
                <a:sym typeface="+mn-ea"/>
              </a:rPr>
              <a:t>)</a:t>
            </a:r>
            <a:r>
              <a:rPr lang="zh-CN" altLang="en-US">
                <a:sym typeface="+mn-ea"/>
              </a:rPr>
              <a:t>：使得路由器</a:t>
            </a:r>
            <a:r>
              <a:rPr lang="zh-CN" altLang="en-US"/>
              <a:t>更均匀地分配令牌，通过惩罚路由器将分配频率</a:t>
            </a:r>
            <a:r>
              <a:rPr lang="en-US" altLang="zh-CN"/>
              <a:t>f_i</a:t>
            </a:r>
            <a:r>
              <a:rPr lang="zh-CN" altLang="en-US"/>
              <a:t>和概率</a:t>
            </a:r>
            <a:r>
              <a:rPr lang="en-US" altLang="zh-CN"/>
              <a:t>P_i</a:t>
            </a:r>
            <a:r>
              <a:rPr lang="zh-CN" altLang="en-US"/>
              <a:t>集中到少数专家身上</a:t>
            </a:r>
            <a:endParaRPr lang="zh-CN" altLang="en-US"/>
          </a:p>
          <a:p>
            <a:pPr marL="0" lvl="1"/>
            <a:r>
              <a:rPr lang="zh-CN" altLang="en-US">
                <a:sym typeface="+mn-ea"/>
              </a:rPr>
              <a:t>路由概率方差损失</a:t>
            </a:r>
            <a:r>
              <a:rPr lang="en-US" altLang="zh-CN">
                <a:sym typeface="+mn-ea"/>
              </a:rPr>
              <a:t> (Coefficient of Variation)</a:t>
            </a:r>
            <a:r>
              <a:rPr lang="zh-CN" altLang="en-US">
                <a:sym typeface="+mn-ea"/>
              </a:rPr>
              <a:t>：</a:t>
            </a:r>
            <a:r>
              <a:rPr lang="zh-CN" altLang="en-US">
                <a:sym typeface="+mn-ea"/>
              </a:rPr>
              <a:t>使得路由器平均地为</a:t>
            </a:r>
            <a:r>
              <a:rPr lang="zh-CN" altLang="en-US">
                <a:sym typeface="+mn-ea"/>
              </a:rPr>
              <a:t>所有专家输出相似的概率，通过惩罚</a:t>
            </a:r>
            <a:r>
              <a:rPr lang="en-US" altLang="zh-CN">
                <a:sym typeface="+mn-ea"/>
              </a:rPr>
              <a:t>P_i</a:t>
            </a:r>
            <a:r>
              <a:rPr lang="zh-CN" altLang="en-US">
                <a:sym typeface="+mn-ea"/>
              </a:rPr>
              <a:t>，使得每个专家的平均概率（路由器在批次中所有令牌上分配给专家</a:t>
            </a:r>
            <a:r>
              <a:rPr lang="en-US" altLang="zh-CN">
                <a:sym typeface="+mn-ea"/>
              </a:rPr>
              <a:t> i </a:t>
            </a:r>
            <a:r>
              <a:rPr lang="zh-CN" altLang="en-US">
                <a:sym typeface="+mn-ea"/>
              </a:rPr>
              <a:t>的平均概率</a:t>
            </a:r>
            <a:r>
              <a:rPr lang="zh-CN" altLang="en-US">
                <a:sym typeface="+mn-ea"/>
              </a:rPr>
              <a:t>）</a:t>
            </a:r>
            <a:r>
              <a:rPr lang="zh-CN" altLang="en-US">
                <a:sym typeface="+mn-ea"/>
              </a:rPr>
              <a:t>接近</a:t>
            </a:r>
            <a:r>
              <a:rPr lang="en-US" altLang="zh-CN">
                <a:sym typeface="+mn-ea"/>
              </a:rPr>
              <a:t>1/N</a:t>
            </a:r>
            <a:endParaRPr lang="en-US" altLang="zh-CN">
              <a:sym typeface="+mn-ea"/>
            </a:endParaRPr>
          </a:p>
          <a:p>
            <a:pPr marL="0" lvl="1"/>
            <a:endParaRPr lang="zh-CN" altLang="en-US">
              <a:sym typeface="+mn-ea"/>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接下来是介绍</a:t>
            </a:r>
            <a:r>
              <a:rPr lang="en-US" altLang="zh-CN"/>
              <a:t>token </a:t>
            </a:r>
            <a:r>
              <a:rPr lang="en-US" altLang="zh-CN"/>
              <a:t>dropping</a:t>
            </a:r>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先讲一个概念</a:t>
            </a:r>
            <a:r>
              <a:rPr lang="en-US" altLang="zh-CN"/>
              <a:t> </a:t>
            </a:r>
            <a:r>
              <a:rPr lang="zh-CN" altLang="en-US"/>
              <a:t>叫</a:t>
            </a:r>
            <a:r>
              <a:rPr lang="en-US" altLang="zh-CN"/>
              <a:t> </a:t>
            </a:r>
            <a:r>
              <a:rPr lang="zh-CN" altLang="en-US"/>
              <a:t>专家容量</a:t>
            </a:r>
            <a:r>
              <a:rPr lang="en-US" altLang="zh-CN"/>
              <a:t> </a:t>
            </a:r>
            <a:endParaRPr lang="en-US" altLang="zh-CN"/>
          </a:p>
          <a:p>
            <a:r>
              <a:rPr lang="zh-CN" altLang="en-US"/>
              <a:t>这种固定容量对于在设备之间维持可预测的计算负载和内存使用是必不可少的，尤其是在专家跨不同处理器并行化的大规模分布式设置中。</a:t>
            </a:r>
            <a:endParaRPr lang="zh-CN" altLang="en-US"/>
          </a:p>
          <a:p>
            <a:r>
              <a:rPr lang="zh-CN" altLang="en-US"/>
              <a:t>然而，由门控网络驱动的路由机制并不</a:t>
            </a:r>
            <a:r>
              <a:rPr lang="zh-CN" altLang="en-US"/>
              <a:t>一定保证分配给任何单个专家的令牌数量会严格遵守这个容量</a:t>
            </a:r>
            <a:r>
              <a:rPr lang="en-US" altLang="zh-CN"/>
              <a:t> </a:t>
            </a:r>
            <a:r>
              <a:rPr lang="zh-CN" altLang="en-US"/>
              <a:t>，会出现某些专家被分配的令牌数量超过其指定容量，就会产生丢弃</a:t>
            </a:r>
            <a:r>
              <a:rPr lang="zh-CN" altLang="en-US"/>
              <a:t>令牌，这些令牌相当于没有经过当前</a:t>
            </a:r>
            <a:r>
              <a:rPr lang="en-US" altLang="zh-CN"/>
              <a:t>MOE</a:t>
            </a:r>
            <a:r>
              <a:rPr lang="zh-CN" altLang="en-US"/>
              <a:t>层的处理</a:t>
            </a:r>
            <a:endParaRPr lang="zh-CN" altLang="en-US"/>
          </a:p>
          <a:p>
            <a:r>
              <a:rPr lang="en-US" altLang="zh-CN">
                <a:sym typeface="+mn-ea"/>
              </a:rPr>
              <a:t>-------------------------------------</a:t>
            </a:r>
            <a:endParaRPr lang="zh-CN" altLang="en-US"/>
          </a:p>
          <a:p>
            <a:r>
              <a:rPr lang="zh-CN" altLang="en-US" b="1">
                <a:latin typeface="Arial" panose="020B0604020202020204" pitchFamily="34" charset="0"/>
                <a:ea typeface="微软雅黑" panose="020B0503020204020204" charset="-122"/>
                <a:cs typeface="Arial" panose="020B0604020202020204" pitchFamily="34" charset="0"/>
                <a:sym typeface="+mn-ea"/>
              </a:rPr>
              <a:t>【预防过度丢弃的策略】</a:t>
            </a:r>
            <a:endParaRPr lang="zh-CN" altLang="en-US" b="1">
              <a:latin typeface="Arial" panose="020B0604020202020204" pitchFamily="34" charset="0"/>
              <a:ea typeface="微软雅黑" panose="020B0503020204020204" charset="-122"/>
              <a:cs typeface="Arial" panose="020B0604020202020204" pitchFamily="34" charset="0"/>
              <a:sym typeface="+mn-ea"/>
            </a:endParaRPr>
          </a:p>
          <a:p>
            <a:r>
              <a:rPr lang="zh-CN" altLang="en-US" b="1"/>
              <a:t>专家容量</a:t>
            </a:r>
            <a:r>
              <a:rPr lang="en-US" altLang="zh-CN"/>
              <a:t> </a:t>
            </a:r>
            <a:r>
              <a:rPr lang="zh-CN" altLang="en-US"/>
              <a:t>是一个重要的超参数</a:t>
            </a:r>
            <a:r>
              <a:rPr lang="en-US" altLang="zh-CN"/>
              <a:t> (hyperparameter)</a:t>
            </a:r>
            <a:r>
              <a:rPr lang="zh-CN" altLang="en-US"/>
              <a:t>。它需要足够大以容纳路由过程中固有的合理程度的不均衡性，但又不能太大，以至于在专家未充分利用时导致过度计算浪费</a:t>
            </a:r>
            <a:endParaRPr lang="zh-CN" altLang="en-US"/>
          </a:p>
          <a:p>
            <a:r>
              <a:rPr lang="en-US" altLang="zh-CN"/>
              <a:t>N</a:t>
            </a:r>
            <a:r>
              <a:rPr lang="zh-CN" altLang="en-US"/>
              <a:t>是一个批次的</a:t>
            </a:r>
            <a:r>
              <a:rPr lang="en-US" altLang="zh-CN"/>
              <a:t>token</a:t>
            </a:r>
            <a:r>
              <a:rPr lang="zh-CN" altLang="en-US"/>
              <a:t>数量。</a:t>
            </a:r>
            <a:r>
              <a:rPr lang="en-US" altLang="zh-CN"/>
              <a:t>E </a:t>
            </a:r>
            <a:r>
              <a:rPr lang="zh-CN" altLang="en-US"/>
              <a:t>是本地可用的专家数量。</a:t>
            </a:r>
            <a:r>
              <a:rPr lang="zh-CN" altLang="en-US"/>
              <a:t>容量因子的常见取值范围是</a:t>
            </a:r>
            <a:r>
              <a:rPr lang="en-US" altLang="zh-CN"/>
              <a:t> 1.0 </a:t>
            </a:r>
            <a:r>
              <a:rPr lang="zh-CN" altLang="en-US"/>
              <a:t>到</a:t>
            </a:r>
            <a:r>
              <a:rPr lang="en-US" altLang="zh-CN"/>
              <a:t> 2.0</a:t>
            </a:r>
            <a:endParaRPr lang="en-US" altLang="zh-CN"/>
          </a:p>
          <a:p>
            <a:r>
              <a:rPr lang="zh-CN" altLang="en-US" b="1"/>
              <a:t>负载均衡损失</a:t>
            </a:r>
            <a:r>
              <a:rPr lang="en-US" altLang="zh-CN"/>
              <a:t> </a:t>
            </a:r>
            <a:r>
              <a:rPr lang="zh-CN" altLang="en-US"/>
              <a:t>鼓励路由器均匀分配令牌的主要机制，从而减少导致令牌丢弃的情况</a:t>
            </a:r>
            <a:endParaRPr lang="zh-CN" altLang="en-US"/>
          </a:p>
          <a:p>
            <a:r>
              <a:rPr lang="zh-CN" altLang="en-US"/>
              <a:t>像前面提到的</a:t>
            </a:r>
            <a:r>
              <a:rPr lang="en-US" altLang="zh-CN"/>
              <a:t>vMOE</a:t>
            </a:r>
            <a:r>
              <a:rPr lang="zh-CN" altLang="en-US"/>
              <a:t>的优先级路由</a:t>
            </a:r>
            <a:r>
              <a:rPr lang="zh-CN" altLang="en-US"/>
              <a:t>算法</a:t>
            </a:r>
            <a:endParaRPr lang="zh-CN" altLang="en-US"/>
          </a:p>
          <a:p>
            <a:r>
              <a:rPr lang="en-US" altLang="zh-CN">
                <a:sym typeface="+mn-ea"/>
              </a:rPr>
              <a:t>-------------------------------------</a:t>
            </a:r>
            <a:endParaRPr lang="en-US" altLang="zh-CN">
              <a:sym typeface="+mn-ea"/>
            </a:endParaRPr>
          </a:p>
          <a:p>
            <a:r>
              <a:rPr lang="zh-CN" altLang="en-US"/>
              <a:t>训练期间，有必要监控每个</a:t>
            </a:r>
            <a:r>
              <a:rPr lang="en-US" altLang="zh-CN"/>
              <a:t> MoE </a:t>
            </a:r>
            <a:r>
              <a:rPr lang="zh-CN" altLang="en-US"/>
              <a:t>层或整个模型平均的丢弃令牌百分比</a:t>
            </a:r>
            <a:endParaRPr lang="zh-CN" altLang="en-US"/>
          </a:p>
          <a:p>
            <a:r>
              <a:rPr lang="zh-CN" altLang="en-US"/>
              <a:t>持续的高丢弃率，通常表明专家容量不足（容量因子过低）、负载均衡效果不佳，或者</a:t>
            </a:r>
            <a:r>
              <a:rPr lang="zh-CN" altLang="en-US"/>
              <a:t>是数据分布可能存在问题</a:t>
            </a:r>
            <a:endParaRPr lang="zh-CN" altLang="en-US"/>
          </a:p>
          <a:p>
            <a:r>
              <a:rPr lang="zh-CN" altLang="en-US"/>
              <a:t>丢弃率突然飙升，可能</a:t>
            </a:r>
            <a:r>
              <a:rPr lang="zh-CN" altLang="en-US"/>
              <a:t>表示着训练不稳定或数据特征发生变化，路由器难以适应</a:t>
            </a:r>
            <a:endParaRPr lang="zh-CN" altLang="en-US"/>
          </a:p>
          <a:p>
            <a:r>
              <a:rPr lang="en-US" altLang="zh-CN">
                <a:sym typeface="+mn-ea"/>
              </a:rPr>
              <a:t>-------------------------------------</a:t>
            </a:r>
            <a:endParaRPr lang="en-US" altLang="zh-CN">
              <a:sym typeface="+mn-ea"/>
            </a:endParaRPr>
          </a:p>
          <a:p>
            <a:r>
              <a:rPr lang="zh-CN" altLang="en-US"/>
              <a:t>攻击者</a:t>
            </a:r>
            <a:r>
              <a:rPr lang="en-US" altLang="zh-CN"/>
              <a:t> </a:t>
            </a:r>
            <a:r>
              <a:rPr lang="zh-CN" altLang="en-US"/>
              <a:t>可以将自己的数据与受害者数据放在同一批次中，造成目标专家缓冲区溢出，从而降低模型响应质量，实施拒绝服务</a:t>
            </a:r>
            <a:r>
              <a:rPr lang="zh-CN" altLang="en-US"/>
              <a:t>攻击</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sym typeface="+mn-ea"/>
              </a:rPr>
              <a:t>AdamW </a:t>
            </a:r>
            <a:r>
              <a:rPr lang="zh-CN" altLang="en-US">
                <a:sym typeface="+mn-ea"/>
              </a:rPr>
              <a:t>优化器仍然是一个常用且通常有效的选择。</a:t>
            </a:r>
            <a:endParaRPr lang="zh-CN" altLang="en-US"/>
          </a:p>
          <a:p>
            <a:r>
              <a:rPr lang="zh-CN" altLang="en-US">
                <a:sym typeface="+mn-ea"/>
              </a:rPr>
              <a:t>学习率是</a:t>
            </a:r>
            <a:r>
              <a:rPr lang="en-US" altLang="zh-CN">
                <a:sym typeface="+mn-ea"/>
              </a:rPr>
              <a:t>MOE</a:t>
            </a:r>
            <a:r>
              <a:rPr lang="zh-CN" altLang="en-US">
                <a:sym typeface="+mn-ea"/>
              </a:rPr>
              <a:t>训练的稳定性最重要的超参数：需要设置</a:t>
            </a:r>
            <a:r>
              <a:rPr lang="zh-CN" altLang="en-US">
                <a:sym typeface="+mn-ea"/>
              </a:rPr>
              <a:t>门控网络的学习率与专家的学习率</a:t>
            </a:r>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基于前面讨论的内容，我们知道每个令牌在计算上只激活</a:t>
            </a:r>
            <a:r>
              <a:rPr lang="en-US" altLang="zh-CN">
                <a:sym typeface="+mn-ea"/>
              </a:rPr>
              <a:t>k</a:t>
            </a:r>
            <a:r>
              <a:rPr lang="zh-CN" altLang="en-US">
                <a:sym typeface="+mn-ea"/>
              </a:rPr>
              <a:t>个专家，但在实际实现中，尤其是在训练期间，通常需要所有个专家参数</a:t>
            </a:r>
            <a:r>
              <a:rPr lang="zh-CN" altLang="en-US" b="1">
                <a:sym typeface="+mn-ea"/>
              </a:rPr>
              <a:t>都可访问</a:t>
            </a:r>
            <a:r>
              <a:rPr lang="zh-CN" altLang="en-US">
                <a:sym typeface="+mn-ea"/>
              </a:rPr>
              <a:t>。这是因为批次中不同的令牌（可能在不同设备上处理）可能需要不同的专家。</a:t>
            </a:r>
            <a:endParaRPr lang="zh-CN" altLang="en-US">
              <a:sym typeface="+mn-ea"/>
            </a:endParaRPr>
          </a:p>
          <a:p>
            <a:r>
              <a:rPr lang="zh-CN" altLang="en-US">
                <a:sym typeface="+mn-ea"/>
              </a:rPr>
              <a:t>在大规模的实际应用中往往需要扩展专家混合模型，而</a:t>
            </a:r>
            <a:r>
              <a:rPr lang="en-US" altLang="zh-CN">
                <a:sym typeface="+mn-ea"/>
              </a:rPr>
              <a:t>MoE </a:t>
            </a:r>
            <a:r>
              <a:rPr lang="zh-CN" altLang="en-US">
                <a:sym typeface="+mn-ea"/>
              </a:rPr>
              <a:t>模型庞大的体量与稀疏激活模式，与密集型架构相比，带来特殊困难。</a:t>
            </a:r>
            <a:endParaRPr lang="zh-CN" altLang="en-US">
              <a:sym typeface="+mn-ea"/>
            </a:endParaRPr>
          </a:p>
          <a:p>
            <a:r>
              <a:rPr lang="zh-CN" altLang="en-US">
                <a:sym typeface="+mn-ea"/>
              </a:rPr>
              <a:t>因此</a:t>
            </a:r>
            <a:r>
              <a:rPr lang="zh-CN" altLang="en-US" b="1">
                <a:sym typeface="+mn-ea"/>
              </a:rPr>
              <a:t>标准数据并行化方法</a:t>
            </a:r>
            <a:r>
              <a:rPr lang="zh-CN" altLang="en-US">
                <a:sym typeface="+mn-ea"/>
              </a:rPr>
              <a:t>无法单独胜任。这需要复杂的分布式训练策略（例如，专家并行）来有效管理内存。</a:t>
            </a:r>
            <a:endParaRPr lang="zh-CN" altLang="en-US">
              <a:sym typeface="+mn-ea"/>
            </a:endParaRPr>
          </a:p>
          <a:p>
            <a:r>
              <a:rPr lang="zh-CN" altLang="en-US">
                <a:sym typeface="+mn-ea"/>
              </a:rPr>
              <a:t>所以这部分介绍一下</a:t>
            </a:r>
            <a:r>
              <a:rPr lang="en-US" altLang="zh-CN">
                <a:sym typeface="+mn-ea"/>
              </a:rPr>
              <a:t>MOE</a:t>
            </a:r>
            <a:r>
              <a:rPr lang="zh-CN" altLang="en-US">
                <a:sym typeface="+mn-ea"/>
              </a:rPr>
              <a:t>的分布式训练策略</a:t>
            </a:r>
            <a:endParaRPr lang="zh-CN" altLang="en-US">
              <a:sym typeface="+mn-ea"/>
            </a:endParaRPr>
          </a:p>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标准数据并行（</a:t>
            </a:r>
            <a:r>
              <a:rPr lang="en-US" altLang="zh-CN"/>
              <a:t>DP</a:t>
            </a:r>
            <a:r>
              <a:rPr lang="zh-CN" altLang="en-US"/>
              <a:t>）中，每个工作节点都保存模型的完整副本，但当专家数量增加到几十甚至几百个时，这种做法很快变得不切实际。</a:t>
            </a:r>
            <a:endParaRPr lang="zh-CN" altLang="en-US"/>
          </a:p>
          <a:p>
            <a:r>
              <a:rPr lang="zh-CN" altLang="en-US"/>
              <a:t>每个专家本身可能是一个拥有数百万参数的多层感知器（</a:t>
            </a:r>
            <a:r>
              <a:rPr lang="en-US" altLang="zh-CN"/>
              <a:t>MLP</a:t>
            </a:r>
            <a:r>
              <a:rPr lang="zh-CN" altLang="en-US"/>
              <a:t>）。</a:t>
            </a:r>
            <a:r>
              <a:rPr lang="zh-CN" altLang="en-US" b="1"/>
              <a:t>在每个设备上存储所有专家会导致过高的内存消耗。</a:t>
            </a:r>
            <a:endParaRPr lang="zh-CN" altLang="en-US" b="1"/>
          </a:p>
          <a:p>
            <a:r>
              <a:rPr lang="zh-CN" altLang="en-US" b="1"/>
              <a:t>专家并行是扩展</a:t>
            </a:r>
            <a:r>
              <a:rPr lang="en-US" altLang="zh-CN" b="1"/>
              <a:t>MoE</a:t>
            </a:r>
            <a:r>
              <a:rPr lang="zh-CN" altLang="en-US" b="1"/>
              <a:t>模型的一种基础技术。它在设备间划分专家，通过减少每个设备的内存需求来实现庞大的模型尺寸</a:t>
            </a:r>
            <a:r>
              <a:rPr lang="zh-CN" b="1"/>
              <a:t>。</a:t>
            </a:r>
            <a:endParaRPr lang="zh-CN" b="1"/>
          </a:p>
          <a:p>
            <a:r>
              <a:rPr lang="en-US" altLang="zh-CN"/>
              <a:t>--------------------------------------------------------</a:t>
            </a:r>
            <a:endParaRPr lang="en-US" altLang="zh-CN"/>
          </a:p>
          <a:p>
            <a:r>
              <a:rPr lang="zh-CN" altLang="en-US"/>
              <a:t>【</a:t>
            </a:r>
            <a:r>
              <a:rPr lang="en-US" altLang="zh-CN"/>
              <a:t>all-to-all</a:t>
            </a:r>
            <a:r>
              <a:rPr lang="zh-CN" altLang="en-US"/>
              <a:t>】</a:t>
            </a:r>
            <a:endParaRPr lang="en-US" altLang="zh-CN"/>
          </a:p>
          <a:p>
            <a:r>
              <a:rPr lang="zh-CN" altLang="en-US">
                <a:sym typeface="+mn-ea"/>
              </a:rPr>
              <a:t>在专家并行中，专家被分散在不同的</a:t>
            </a:r>
            <a:r>
              <a:rPr lang="en-US" altLang="zh-CN">
                <a:sym typeface="+mn-ea"/>
              </a:rPr>
              <a:t>GPU</a:t>
            </a:r>
            <a:r>
              <a:rPr lang="zh-CN" altLang="en-US">
                <a:sym typeface="+mn-ea"/>
              </a:rPr>
              <a:t>上。但输入数据一开始是均匀分配给各个</a:t>
            </a:r>
            <a:r>
              <a:rPr lang="en-US" altLang="zh-CN">
                <a:sym typeface="+mn-ea"/>
              </a:rPr>
              <a:t>GPU</a:t>
            </a:r>
            <a:r>
              <a:rPr lang="zh-CN" altLang="en-US">
                <a:sym typeface="+mn-ea"/>
              </a:rPr>
              <a:t>的。这就产生了一个矛盾：数据在</a:t>
            </a:r>
            <a:r>
              <a:rPr lang="en-US" altLang="zh-CN">
                <a:sym typeface="+mn-ea"/>
              </a:rPr>
              <a:t>GPU A</a:t>
            </a:r>
            <a:r>
              <a:rPr lang="zh-CN" altLang="en-US">
                <a:sym typeface="+mn-ea"/>
              </a:rPr>
              <a:t>上，但数据要去的专家在</a:t>
            </a:r>
            <a:r>
              <a:rPr lang="en-US" altLang="zh-CN">
                <a:sym typeface="+mn-ea"/>
              </a:rPr>
              <a:t>GPU B</a:t>
            </a:r>
            <a:r>
              <a:rPr lang="zh-CN" altLang="en-US">
                <a:sym typeface="+mn-ea"/>
              </a:rPr>
              <a:t>上。</a:t>
            </a:r>
            <a:endParaRPr lang="zh-CN" altLang="en-US">
              <a:sym typeface="+mn-ea"/>
            </a:endParaRPr>
          </a:p>
          <a:p>
            <a:r>
              <a:rPr lang="zh-CN" altLang="en-US">
                <a:sym typeface="+mn-ea"/>
              </a:rPr>
              <a:t>进行必要的数据交换，将令牌从其当前处理设备路由到包含由门控网络选择的专家所在的设备</a:t>
            </a:r>
            <a:endParaRPr lang="zh-CN" altLang="en-US">
              <a:sym typeface="+mn-ea"/>
            </a:endParaRPr>
          </a:p>
          <a:p>
            <a:r>
              <a:rPr lang="en-US" altLang="zh-CN">
                <a:sym typeface="+mn-ea"/>
              </a:rPr>
              <a:t>MoE</a:t>
            </a:r>
            <a:r>
              <a:rPr lang="zh-CN" altLang="en-US">
                <a:sym typeface="+mn-ea"/>
              </a:rPr>
              <a:t>训练，尤其是在使用专家并行时，引入了一种要求更高的通信模式：</a:t>
            </a:r>
            <a:r>
              <a:rPr lang="en-US" altLang="zh-CN">
                <a:sym typeface="+mn-ea"/>
              </a:rPr>
              <a:t>All-to-All</a:t>
            </a:r>
            <a:r>
              <a:rPr lang="zh-CN" altLang="en-US">
                <a:sym typeface="+mn-ea"/>
              </a:rPr>
              <a:t>。进行必要的数据交换，将令牌从其当前处理设备路由到包含由门控网络选择的专家所在的设备</a:t>
            </a:r>
            <a:endParaRPr lang="zh-CN" altLang="en-US"/>
          </a:p>
          <a:p>
            <a:r>
              <a:rPr lang="en-US" altLang="zh-CN">
                <a:sym typeface="+mn-ea"/>
              </a:rPr>
              <a:t>--------------------------------------------------------</a:t>
            </a:r>
            <a:endParaRPr lang="zh-CN" altLang="en-US"/>
          </a:p>
          <a:p>
            <a:r>
              <a:rPr lang="zh-CN" altLang="en-US"/>
              <a:t>在专家并行下，处理一批令牌的操作顺序包含以下步骤：</a:t>
            </a:r>
            <a:endParaRPr lang="en-US" altLang="zh-CN"/>
          </a:p>
          <a:p>
            <a:r>
              <a:rPr lang="zh-CN" altLang="en-US" b="1"/>
              <a:t>本地门控：</a:t>
            </a:r>
            <a:r>
              <a:rPr lang="en-US" altLang="zh-CN" b="1"/>
              <a:t> </a:t>
            </a:r>
            <a:r>
              <a:rPr lang="en-US" altLang="zh-CN"/>
              <a:t>MoE</a:t>
            </a:r>
            <a:r>
              <a:rPr lang="zh-CN" altLang="en-US"/>
              <a:t>层的门控网络，处理其本地部分的输入令牌。门控网络通常相对较小，一般会在所有设备上复制（类似于数据并行）。它计算其本地令牌的专家分配。</a:t>
            </a:r>
            <a:endParaRPr lang="zh-CN" altLang="en-US"/>
          </a:p>
          <a:p>
            <a:r>
              <a:rPr lang="en-US" altLang="zh-CN">
                <a:sym typeface="+mn-ea"/>
              </a:rPr>
              <a:t>--------------------------------------------------------</a:t>
            </a:r>
            <a:endParaRPr lang="zh-CN" altLang="en-US" b="1"/>
          </a:p>
          <a:p>
            <a:r>
              <a:rPr lang="zh-CN" altLang="en-US" b="1"/>
              <a:t>令牌路由：</a:t>
            </a:r>
            <a:r>
              <a:rPr lang="en-US" altLang="zh-CN" b="1"/>
              <a:t> </a:t>
            </a:r>
            <a:r>
              <a:rPr lang="zh-CN" altLang="en-US"/>
              <a:t>这是</a:t>
            </a:r>
            <a:r>
              <a:rPr lang="en-US" altLang="zh-CN"/>
              <a:t>EP</a:t>
            </a:r>
            <a:r>
              <a:rPr lang="zh-CN" altLang="en-US"/>
              <a:t>中具有代表性的通信步骤。根据门控决定，每个设备确定其本地令牌中哪些需要由其他设备上的专家处理。使用</a:t>
            </a:r>
            <a:r>
              <a:rPr lang="en-US" altLang="zh-CN"/>
              <a:t>All-to-All</a:t>
            </a:r>
            <a:r>
              <a:rPr lang="zh-CN" altLang="en-US"/>
              <a:t>通信原语在设备间交换令牌。设备</a:t>
            </a:r>
            <a:r>
              <a:rPr lang="en-US" altLang="zh-CN"/>
              <a:t>i</a:t>
            </a:r>
            <a:r>
              <a:rPr lang="zh-CN" altLang="en-US"/>
              <a:t>将其分配给设备</a:t>
            </a:r>
            <a:r>
              <a:rPr lang="en-US" altLang="zh-CN"/>
              <a:t>k</a:t>
            </a:r>
            <a:r>
              <a:rPr lang="zh-CN" altLang="en-US"/>
              <a:t>上专家的令牌直接发送给设备</a:t>
            </a:r>
            <a:r>
              <a:rPr lang="en-US" altLang="zh-CN"/>
              <a:t>k</a:t>
            </a:r>
            <a:endParaRPr lang="en-US" altLang="zh-CN"/>
          </a:p>
          <a:p>
            <a:r>
              <a:rPr lang="en-US" altLang="zh-CN">
                <a:sym typeface="+mn-ea"/>
              </a:rPr>
              <a:t>--------------------------------------------------------</a:t>
            </a:r>
            <a:endParaRPr lang="en-US" altLang="zh-CN"/>
          </a:p>
          <a:p>
            <a:r>
              <a:rPr lang="zh-CN" altLang="en-US" b="1"/>
              <a:t>并行专家计算：</a:t>
            </a:r>
            <a:r>
              <a:rPr lang="en-US" altLang="zh-CN"/>
              <a:t> </a:t>
            </a:r>
            <a:r>
              <a:rPr lang="zh-CN" altLang="en-US"/>
              <a:t>令牌到达正确的设备后，每个设备使用其本地的专家子集计算所接收令牌的输出。由于每个设备只持有</a:t>
            </a:r>
            <a:r>
              <a:rPr lang="en-US" altLang="zh-CN"/>
              <a:t>N/D</a:t>
            </a:r>
            <a:r>
              <a:rPr lang="zh-CN" altLang="en-US"/>
              <a:t>个专家，内存占用量显著减少。这种计算在</a:t>
            </a:r>
            <a:r>
              <a:rPr lang="en-US" altLang="zh-CN"/>
              <a:t>EP</a:t>
            </a:r>
            <a:r>
              <a:rPr lang="zh-CN" altLang="en-US"/>
              <a:t>组的所有设备上并行进行。</a:t>
            </a:r>
            <a:endParaRPr lang="zh-CN" altLang="en-US"/>
          </a:p>
          <a:p>
            <a:r>
              <a:rPr lang="en-US" altLang="zh-CN">
                <a:sym typeface="+mn-ea"/>
              </a:rPr>
              <a:t>--------------------------------------------------------</a:t>
            </a:r>
            <a:endParaRPr lang="zh-CN" altLang="en-US" b="1"/>
          </a:p>
          <a:p>
            <a:r>
              <a:rPr lang="zh-CN" altLang="en-US" b="1"/>
              <a:t>结果收集：</a:t>
            </a:r>
            <a:r>
              <a:rPr lang="en-US" altLang="zh-CN" b="1"/>
              <a:t> </a:t>
            </a:r>
            <a:r>
              <a:rPr lang="zh-CN" altLang="en-US"/>
              <a:t>专家计算完成后，处理过的令牌表示必须返回其原始设备，以保持后续层的序列完整性。另一个</a:t>
            </a:r>
            <a:r>
              <a:rPr lang="en-US" altLang="zh-CN"/>
              <a:t>All-to-All</a:t>
            </a:r>
            <a:r>
              <a:rPr lang="zh-CN" altLang="en-US"/>
              <a:t>通信步骤会收集这些结果，确保每个设备收到与它在步骤</a:t>
            </a:r>
            <a:r>
              <a:rPr lang="en-US" altLang="zh-CN"/>
              <a:t>1</a:t>
            </a:r>
            <a:r>
              <a:rPr lang="zh-CN" altLang="en-US"/>
              <a:t>中最初处理的令牌相对应的输出。</a:t>
            </a:r>
            <a:endParaRPr lang="zh-CN" altLang="en-US"/>
          </a:p>
          <a:p>
            <a:r>
              <a:rPr lang="en-US" altLang="zh-CN">
                <a:sym typeface="+mn-ea"/>
              </a:rPr>
              <a:t>--------------------------------------------------------</a:t>
            </a:r>
            <a:endParaRPr lang="zh-CN" altLang="en-US"/>
          </a:p>
          <a:p>
            <a:r>
              <a:rPr lang="zh-CN" altLang="en-US"/>
              <a:t>在实际应用中：考虑专家放置</a:t>
            </a:r>
            <a:r>
              <a:rPr lang="zh-CN" altLang="en-US">
                <a:sym typeface="+mn-ea"/>
              </a:rPr>
              <a:t>网络拓扑结构</a:t>
            </a:r>
            <a:endParaRPr lang="zh-CN" altLang="en-US">
              <a:sym typeface="+mn-ea"/>
            </a:endParaRPr>
          </a:p>
          <a:p>
            <a:r>
              <a:rPr lang="zh-CN" altLang="en-US">
                <a:sym typeface="+mn-ea"/>
              </a:rPr>
              <a:t>与其他并行方式的配合：</a:t>
            </a:r>
            <a:r>
              <a:rPr lang="zh-CN" altLang="en-US">
                <a:sym typeface="+mn-ea"/>
              </a:rPr>
              <a:t>专家并行解决了内存限制问题，但没有将整体数据处理吞吐量扩展到存放专家的设备的处理能力</a:t>
            </a:r>
            <a:endParaRPr lang="zh-CN" altLang="en-US">
              <a:sym typeface="+mn-ea"/>
            </a:endParaRPr>
          </a:p>
          <a:p>
            <a:r>
              <a:rPr lang="zh-CN" altLang="en-US"/>
              <a:t>实现高效的</a:t>
            </a:r>
            <a:r>
              <a:rPr lang="en-US" altLang="zh-CN"/>
              <a:t>All-to-All</a:t>
            </a:r>
            <a:r>
              <a:rPr lang="zh-CN" altLang="en-US"/>
              <a:t>通信和管理分布式状态需要专门的库</a:t>
            </a:r>
            <a:r>
              <a:rPr lang="en-US" altLang="zh-CN"/>
              <a:t>DeepS</a:t>
            </a:r>
            <a:r>
              <a:rPr lang="en-US" altLang="zh-CN"/>
              <a:t>peed</a:t>
            </a:r>
            <a:endParaRPr lang="en-US" altLang="zh-CN"/>
          </a:p>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b="1">
                <a:sym typeface="+mn-ea"/>
              </a:rPr>
              <a:t>【</a:t>
            </a:r>
            <a:r>
              <a:rPr lang="zh-CN" altLang="en-US">
                <a:sym typeface="+mn-ea"/>
              </a:rPr>
              <a:t>通信模式：</a:t>
            </a:r>
            <a:r>
              <a:rPr lang="en-US" altLang="zh-CN">
                <a:sym typeface="+mn-ea"/>
              </a:rPr>
              <a:t>All-Reduce vs All-to-All </a:t>
            </a:r>
            <a:r>
              <a:rPr lang="zh-CN" altLang="en-US" b="1">
                <a:sym typeface="+mn-ea"/>
              </a:rPr>
              <a:t>】</a:t>
            </a:r>
            <a:endParaRPr lang="zh-CN" altLang="en-US" b="1">
              <a:sym typeface="+mn-ea"/>
            </a:endParaRPr>
          </a:p>
          <a:p>
            <a:r>
              <a:rPr lang="zh-CN" altLang="en-US" b="1">
                <a:sym typeface="+mn-ea"/>
              </a:rPr>
              <a:t>标准数据并行</a:t>
            </a:r>
            <a:r>
              <a:rPr lang="zh-CN" altLang="en-US">
                <a:sym typeface="+mn-ea"/>
              </a:rPr>
              <a:t>通常依赖于</a:t>
            </a:r>
            <a:r>
              <a:rPr lang="en-US" altLang="zh-CN" b="1">
                <a:sym typeface="+mn-ea"/>
              </a:rPr>
              <a:t>All-Reduce</a:t>
            </a:r>
            <a:r>
              <a:rPr lang="zh-CN" altLang="en-US">
                <a:sym typeface="+mn-ea"/>
              </a:rPr>
              <a:t>操作来同步设备间的梯度。每个设备计算其局部批次的梯度，这些梯度在更新模型参数之前会在所有设备上进行平均，然后每个设备用这个平均梯度更新自己手上的模型副本</a:t>
            </a:r>
            <a:endParaRPr lang="zh-CN" altLang="en-US">
              <a:sym typeface="+mn-ea"/>
            </a:endParaRPr>
          </a:p>
          <a:p>
            <a:r>
              <a:rPr lang="zh-CN" altLang="en-US">
                <a:sym typeface="+mn-ea"/>
              </a:rPr>
              <a:t>与</a:t>
            </a:r>
            <a:r>
              <a:rPr lang="en-US" altLang="zh-CN">
                <a:sym typeface="+mn-ea"/>
              </a:rPr>
              <a:t>All-Reduce</a:t>
            </a:r>
            <a:r>
              <a:rPr lang="zh-CN" altLang="en-US">
                <a:sym typeface="+mn-ea"/>
              </a:rPr>
              <a:t>不同，其通信量与模型参数大小相关，而</a:t>
            </a:r>
            <a:r>
              <a:rPr lang="en-US" altLang="zh-CN">
                <a:sym typeface="+mn-ea"/>
              </a:rPr>
              <a:t>All-to-All</a:t>
            </a:r>
            <a:r>
              <a:rPr lang="zh-CN" altLang="en-US">
                <a:sym typeface="+mn-ea"/>
              </a:rPr>
              <a:t>的通信量取决于批次大小和令牌分配，因此是数据依赖型的</a:t>
            </a:r>
            <a:endParaRPr lang="zh-CN" altLang="en-US"/>
          </a:p>
          <a:p>
            <a:r>
              <a:rPr lang="en-US" altLang="zh-CN">
                <a:sym typeface="+mn-ea"/>
              </a:rPr>
              <a:t>All-to-All</a:t>
            </a:r>
            <a:r>
              <a:rPr lang="zh-CN" altLang="en-US">
                <a:sym typeface="+mn-ea"/>
              </a:rPr>
              <a:t>操作通常是大型</a:t>
            </a:r>
            <a:r>
              <a:rPr lang="en-US" altLang="zh-CN">
                <a:sym typeface="+mn-ea"/>
              </a:rPr>
              <a:t>MoE</a:t>
            </a:r>
            <a:r>
              <a:rPr lang="zh-CN" altLang="en-US">
                <a:sym typeface="+mn-ea"/>
              </a:rPr>
              <a:t>训练中的主要通信瓶颈</a:t>
            </a:r>
            <a:endParaRPr lang="zh-CN" altLang="en-US"/>
          </a:p>
          <a:p>
            <a:r>
              <a:rPr lang="en-US" altLang="zh-CN"/>
              <a:t>----------------------------------------------------------</a:t>
            </a:r>
            <a:endParaRPr lang="en-US" altLang="zh-CN"/>
          </a:p>
          <a:p>
            <a:r>
              <a:rPr lang="en-US" altLang="zh-CN"/>
              <a:t>MoE</a:t>
            </a:r>
            <a:r>
              <a:rPr lang="zh-CN" altLang="en-US"/>
              <a:t>层内部的负载均衡问题，旨在确保专家得到相对均匀的利用，以促进专业化和效率。</a:t>
            </a:r>
            <a:endParaRPr lang="zh-CN" altLang="en-US"/>
          </a:p>
          <a:p>
            <a:r>
              <a:rPr lang="zh-CN" altLang="en-US"/>
              <a:t>在分布式环境中，这个问题又增加了一个维度：</a:t>
            </a:r>
            <a:r>
              <a:rPr lang="zh-CN" altLang="en-US" b="1"/>
              <a:t>确保分配给每个设备的总计算负载是均衡的。</a:t>
            </a:r>
            <a:endParaRPr lang="zh-CN" altLang="en-US" b="1"/>
          </a:p>
          <a:p>
            <a:r>
              <a:rPr lang="zh-CN" altLang="en-US" b="1"/>
              <a:t>这种设备间的负载不均衡会导致硬件利用率不足，因为速度更快的设备必须等待最慢的设备</a:t>
            </a:r>
            <a:r>
              <a:rPr lang="en-US" altLang="zh-CN" b="1"/>
              <a:t> </a:t>
            </a:r>
            <a:r>
              <a:rPr lang="zh-CN" altLang="en-US" b="1"/>
              <a:t>完成每一步的计算或通信。这直接影响了整体训练吞吐量</a:t>
            </a:r>
            <a:endParaRPr lang="zh-CN" altLang="en-US" b="1"/>
          </a:p>
          <a:p>
            <a:r>
              <a:rPr lang="en-US" altLang="zh-CN">
                <a:sym typeface="+mn-ea"/>
              </a:rPr>
              <a:t>----------------------------------------------------------</a:t>
            </a:r>
            <a:endParaRPr lang="zh-CN" altLang="en-US" b="1"/>
          </a:p>
          <a:p>
            <a:r>
              <a:rPr lang="zh-CN" altLang="en-US"/>
              <a:t>虽然将专家分布在不同设备上有助于减轻存储专家参数</a:t>
            </a:r>
            <a:r>
              <a:rPr lang="en-US" altLang="zh-CN"/>
              <a:t> (parameter)</a:t>
            </a:r>
            <a:r>
              <a:rPr lang="zh-CN" altLang="en-US"/>
              <a:t>的内存负担，但仍存在重要的内存问题：</a:t>
            </a:r>
            <a:endParaRPr lang="zh-CN" altLang="en-US"/>
          </a:p>
          <a:p>
            <a:pPr marL="171450" indent="-171450">
              <a:buFont typeface="Arial" panose="020B0604020202020204" pitchFamily="34" charset="0"/>
              <a:buChar char="•"/>
            </a:pPr>
            <a:r>
              <a:rPr lang="en-US" altLang="zh-CN"/>
              <a:t>All-to-All</a:t>
            </a:r>
            <a:r>
              <a:rPr lang="zh-CN" altLang="en-US"/>
              <a:t>通信需要在每个设备上大量的缓冲空间</a:t>
            </a:r>
            <a:endParaRPr lang="zh-CN" altLang="en-US"/>
          </a:p>
          <a:p>
            <a:pPr marL="171450" indent="-171450">
              <a:buFont typeface="Arial" panose="020B0604020202020204" pitchFamily="34" charset="0"/>
              <a:buChar char="•"/>
            </a:pPr>
            <a:r>
              <a:rPr lang="zh-CN" altLang="en-US"/>
              <a:t>路由器</a:t>
            </a:r>
            <a:r>
              <a:rPr lang="zh-CN" altLang="en-US"/>
              <a:t>的计算和梯度可能会在设备间复制</a:t>
            </a:r>
            <a:endParaRPr lang="zh-CN" altLang="en-US"/>
          </a:p>
          <a:p>
            <a:pPr marL="171450" indent="-171450">
              <a:buFont typeface="Arial" panose="020B0604020202020204" pitchFamily="34" charset="0"/>
              <a:buChar char="•"/>
            </a:pPr>
            <a:r>
              <a:rPr lang="zh-CN" altLang="en-US"/>
              <a:t>存储优化器状态</a:t>
            </a:r>
            <a:endParaRPr lang="zh-CN" altLang="en-US"/>
          </a:p>
          <a:p>
            <a:endParaRPr lang="zh-CN" altLang="en-US">
              <a:sym typeface="+mn-ea"/>
            </a:endParaRPr>
          </a:p>
          <a:p>
            <a:endParaRPr lang="zh-CN" altLang="en-US"/>
          </a:p>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由微软开发的一个开源深度学习优化库，支持更大规模的模型和提供更多的优化策略和工具。</a:t>
            </a:r>
            <a:endParaRPr lang="zh-CN" altLang="en-US"/>
          </a:p>
          <a:p>
            <a:r>
              <a:rPr lang="zh-CN" altLang="en-US"/>
              <a:t>它的核心思想</a:t>
            </a:r>
            <a:r>
              <a:rPr lang="zh-CN" altLang="en-US"/>
              <a:t>是。。。</a:t>
            </a:r>
            <a:endParaRPr lang="zh-CN" altLang="en-US"/>
          </a:p>
          <a:p>
            <a:r>
              <a:rPr lang="zh-CN" altLang="en-US" b="1">
                <a:sym typeface="+mn-ea"/>
              </a:rPr>
              <a:t>这里的</a:t>
            </a:r>
            <a:r>
              <a:rPr lang="en-US" altLang="zh-CN" b="1">
                <a:sym typeface="+mn-ea"/>
              </a:rPr>
              <a:t>“</a:t>
            </a:r>
            <a:r>
              <a:rPr lang="zh-CN" altLang="en-US" b="1">
                <a:sym typeface="+mn-ea"/>
              </a:rPr>
              <a:t>参数</a:t>
            </a:r>
            <a:r>
              <a:rPr lang="en-US" altLang="zh-CN" b="1">
                <a:sym typeface="+mn-ea"/>
              </a:rPr>
              <a:t>”</a:t>
            </a:r>
            <a:r>
              <a:rPr lang="zh-CN" altLang="en-US" b="1">
                <a:sym typeface="+mn-ea"/>
              </a:rPr>
              <a:t>，不仅指的是模型参数，还指</a:t>
            </a:r>
            <a:r>
              <a:rPr lang="zh-CN" altLang="en-US" b="1">
                <a:sym typeface="+mn-ea"/>
              </a:rPr>
              <a:t>优化器、梯度等</a:t>
            </a:r>
            <a:endParaRPr lang="zh-CN" altLang="en-US" b="1">
              <a:sym typeface="+mn-ea"/>
            </a:endParaRPr>
          </a:p>
          <a:p>
            <a:r>
              <a:rPr lang="zh-CN" altLang="en-US"/>
              <a:t>越多的参数挪到</a:t>
            </a:r>
            <a:r>
              <a:rPr lang="en-US" altLang="zh-CN"/>
              <a:t>CPU</a:t>
            </a:r>
            <a:r>
              <a:rPr lang="zh-CN" altLang="en-US"/>
              <a:t>上，</a:t>
            </a:r>
            <a:r>
              <a:rPr lang="en-US" altLang="zh-CN"/>
              <a:t>GPU</a:t>
            </a:r>
            <a:r>
              <a:rPr lang="zh-CN" altLang="en-US"/>
              <a:t>的负担就越小；但随之的代价就是，更为频繁的</a:t>
            </a:r>
            <a:r>
              <a:rPr lang="en-US" altLang="zh-CN"/>
              <a:t>CPU</a:t>
            </a:r>
            <a:r>
              <a:rPr lang="zh-CN" altLang="en-US"/>
              <a:t>，</a:t>
            </a:r>
            <a:r>
              <a:rPr lang="en-US" altLang="zh-CN"/>
              <a:t>GPU</a:t>
            </a:r>
            <a:r>
              <a:rPr lang="zh-CN" altLang="en-US"/>
              <a:t>交互，极大增加了训练推理的时间开销。</a:t>
            </a:r>
            <a:endParaRPr lang="zh-CN" altLang="en-US"/>
          </a:p>
          <a:p>
            <a:r>
              <a:rPr lang="en-US" altLang="zh-CN">
                <a:sym typeface="+mn-ea"/>
              </a:rPr>
              <a:t>--------------------------------------------------------</a:t>
            </a:r>
            <a:endParaRPr lang="zh-CN" altLang="en-US"/>
          </a:p>
          <a:p>
            <a:r>
              <a:rPr lang="zh-CN" altLang="en-US"/>
              <a:t>因此，</a:t>
            </a:r>
            <a:r>
              <a:rPr lang="en-US" altLang="zh-CN"/>
              <a:t>DeepSpeed</a:t>
            </a:r>
            <a:r>
              <a:rPr lang="zh-CN" altLang="en-US"/>
              <a:t>使用的一个核心要义是，</a:t>
            </a:r>
            <a:r>
              <a:rPr lang="zh-CN" altLang="en-US" b="1"/>
              <a:t>时间开销和显存占用的权衡</a:t>
            </a:r>
            <a:r>
              <a:rPr lang="zh-CN" altLang="en-US"/>
              <a:t>。</a:t>
            </a:r>
            <a:endParaRPr lang="zh-CN" altLang="en-US"/>
          </a:p>
          <a:p>
            <a:r>
              <a:rPr lang="en-US" altLang="zh-CN"/>
              <a:t>DeepSpeed</a:t>
            </a:r>
            <a:r>
              <a:rPr lang="zh-CN" altLang="en-US"/>
              <a:t>引入了</a:t>
            </a:r>
            <a:r>
              <a:rPr lang="en-US" altLang="zh-CN" b="1"/>
              <a:t>ZeRO</a:t>
            </a:r>
            <a:r>
              <a:rPr lang="zh-CN" altLang="en-US" b="1"/>
              <a:t>（</a:t>
            </a:r>
            <a:r>
              <a:rPr lang="en-US" altLang="zh-CN" b="1"/>
              <a:t>Zero Redundancy Optimizer</a:t>
            </a:r>
            <a:r>
              <a:rPr lang="zh-CN" altLang="en-US" b="1"/>
              <a:t>）技术</a:t>
            </a:r>
            <a:r>
              <a:rPr lang="zh-CN" altLang="en-US"/>
              <a:t>，通过将优化器的状态、梯度和参数在分布式环境中进行分割，减少冗余的内存占用。</a:t>
            </a:r>
            <a:endParaRPr lang="zh-CN" altLang="en-US"/>
          </a:p>
          <a:p>
            <a:r>
              <a:rPr lang="en-US" altLang="zh-CN" b="1">
                <a:latin typeface="Arial" panose="020B0604020202020204" pitchFamily="34" charset="0"/>
                <a:ea typeface="微软雅黑" panose="020B0503020204020204" charset="-122"/>
                <a:cs typeface="Arial" panose="020B0604020202020204" pitchFamily="34" charset="0"/>
                <a:sym typeface="+mn-ea"/>
              </a:rPr>
              <a:t>ZeRO-Offload</a:t>
            </a:r>
            <a:r>
              <a:rPr lang="en-US" altLang="zh-CN">
                <a:latin typeface="Arial" panose="020B0604020202020204" pitchFamily="34" charset="0"/>
                <a:ea typeface="微软雅黑" panose="020B0503020204020204" charset="-122"/>
                <a:cs typeface="Arial" panose="020B0604020202020204" pitchFamily="34" charset="0"/>
                <a:sym typeface="+mn-ea"/>
              </a:rPr>
              <a:t> </a:t>
            </a:r>
            <a:r>
              <a:rPr lang="zh-CN" altLang="en-US"/>
              <a:t>将</a:t>
            </a:r>
            <a:r>
              <a:rPr lang="en-US" altLang="zh-CN"/>
              <a:t>forward</a:t>
            </a:r>
            <a:r>
              <a:rPr lang="zh-CN" altLang="en-US"/>
              <a:t>中间结果保存到内存、硬盘等缓存中，</a:t>
            </a:r>
            <a:r>
              <a:rPr lang="zh-CN" altLang="en-US">
                <a:sym typeface="+mn-ea"/>
              </a:rPr>
              <a:t>通过</a:t>
            </a:r>
            <a:r>
              <a:rPr lang="en-US" altLang="zh-CN">
                <a:sym typeface="+mn-ea"/>
              </a:rPr>
              <a:t>CPU</a:t>
            </a:r>
            <a:r>
              <a:rPr lang="zh-CN" altLang="en-US">
                <a:sym typeface="+mn-ea"/>
              </a:rPr>
              <a:t>去计算一部分</a:t>
            </a:r>
            <a:r>
              <a:rPr lang="zh-CN" altLang="en-US"/>
              <a:t>，进一步降低显存占用</a:t>
            </a:r>
            <a:endParaRPr lang="zh-CN" altLang="en-US"/>
          </a:p>
          <a:p>
            <a:r>
              <a:rPr lang="en-US" altLang="zh-CN">
                <a:sym typeface="+mn-ea"/>
              </a:rPr>
              <a:t>--------------------------------------------------------</a:t>
            </a:r>
            <a:endParaRPr lang="zh-CN" altLang="en-US"/>
          </a:p>
          <a:p>
            <a:r>
              <a:rPr lang="zh-CN" altLang="en-US" b="1"/>
              <a:t>混合精度训练</a:t>
            </a:r>
            <a:r>
              <a:rPr lang="en-US" altLang="zh-CN"/>
              <a:t> </a:t>
            </a:r>
            <a:r>
              <a:rPr lang="zh-CN" altLang="en-US"/>
              <a:t>这种方法可以在保持模型性能的同时，减少内存占用和计算时间，降低能耗。由于</a:t>
            </a:r>
            <a:r>
              <a:rPr lang="en-US" altLang="zh-CN"/>
              <a:t>FP16</a:t>
            </a:r>
            <a:r>
              <a:rPr lang="zh-CN" altLang="en-US"/>
              <a:t>的精度较低，训练过程中可能会出现梯度消失和模型不稳定的问题。因此，需要使用一些技术来解决这些问题，例如动态精度缩放和混合精度优化器。</a:t>
            </a:r>
            <a:endParaRPr lang="zh-CN" altLang="en-US"/>
          </a:p>
          <a:p>
            <a:r>
              <a:rPr lang="en-US" altLang="zh-CN">
                <a:sym typeface="+mn-ea"/>
              </a:rPr>
              <a:t>--------------------------------------------------------</a:t>
            </a:r>
            <a:endParaRPr lang="zh-CN" altLang="en-US"/>
          </a:p>
          <a:p>
            <a:pPr indent="0">
              <a:buNone/>
            </a:pPr>
            <a:r>
              <a:rPr lang="en-US" altLang="zh-CN"/>
              <a:t>1. </a:t>
            </a:r>
            <a:r>
              <a:rPr lang="zh-CN" altLang="en-US"/>
              <a:t>存储一份</a:t>
            </a:r>
            <a:r>
              <a:rPr lang="en-US" altLang="zh-CN"/>
              <a:t>fp32</a:t>
            </a:r>
            <a:r>
              <a:rPr lang="zh-CN" altLang="en-US"/>
              <a:t>的</a:t>
            </a:r>
            <a:r>
              <a:rPr lang="en-US" altLang="zh-CN"/>
              <a:t>parameter</a:t>
            </a:r>
            <a:r>
              <a:rPr lang="zh-CN" altLang="en-US"/>
              <a:t>，</a:t>
            </a:r>
            <a:r>
              <a:rPr lang="en-US" altLang="zh-CN"/>
              <a:t>momentum</a:t>
            </a:r>
            <a:r>
              <a:rPr lang="zh-CN" altLang="en-US"/>
              <a:t>和</a:t>
            </a:r>
            <a:r>
              <a:rPr lang="en-US" altLang="zh-CN"/>
              <a:t>variance</a:t>
            </a:r>
            <a:r>
              <a:rPr lang="zh-CN" altLang="en-US"/>
              <a:t>（统称</a:t>
            </a:r>
            <a:r>
              <a:rPr lang="en-US" altLang="zh-CN"/>
              <a:t>model states</a:t>
            </a:r>
            <a:r>
              <a:rPr lang="zh-CN" altLang="en-US"/>
              <a:t>）</a:t>
            </a:r>
            <a:endParaRPr lang="zh-CN" altLang="en-US"/>
          </a:p>
          <a:p>
            <a:pPr indent="0">
              <a:buNone/>
            </a:pPr>
            <a:r>
              <a:rPr lang="en-US" altLang="zh-CN">
                <a:sym typeface="+mn-ea"/>
              </a:rPr>
              <a:t>--------------------------------------------------------</a:t>
            </a:r>
            <a:endParaRPr lang="zh-CN" altLang="en-US"/>
          </a:p>
          <a:p>
            <a:pPr indent="0">
              <a:buNone/>
            </a:pPr>
            <a:r>
              <a:rPr lang="en-US" altLang="zh-CN"/>
              <a:t>2. </a:t>
            </a:r>
            <a:r>
              <a:rPr lang="zh-CN" altLang="en-US"/>
              <a:t>在</a:t>
            </a:r>
            <a:r>
              <a:rPr lang="en-US" altLang="zh-CN"/>
              <a:t>forward</a:t>
            </a:r>
            <a:r>
              <a:rPr lang="zh-CN" altLang="en-US"/>
              <a:t>开始之前，额外开辟一块存储空间，将</a:t>
            </a:r>
            <a:r>
              <a:rPr lang="en-US" altLang="zh-CN"/>
              <a:t>fp32 parameter</a:t>
            </a:r>
            <a:r>
              <a:rPr lang="zh-CN" altLang="en-US"/>
              <a:t>减半到</a:t>
            </a:r>
            <a:r>
              <a:rPr lang="en-US" altLang="zh-CN"/>
              <a:t>fp16 parameter</a:t>
            </a:r>
            <a:r>
              <a:rPr lang="zh-CN" altLang="en-US"/>
              <a:t>。</a:t>
            </a:r>
            <a:endParaRPr lang="zh-CN" altLang="en-US"/>
          </a:p>
          <a:p>
            <a:pPr indent="0">
              <a:buNone/>
            </a:pPr>
            <a:r>
              <a:rPr lang="en-US" altLang="zh-CN">
                <a:sym typeface="+mn-ea"/>
              </a:rPr>
              <a:t>--------------------------------------------------------</a:t>
            </a:r>
            <a:endParaRPr lang="zh-CN" altLang="en-US"/>
          </a:p>
          <a:p>
            <a:pPr indent="0">
              <a:buNone/>
            </a:pPr>
            <a:r>
              <a:rPr lang="en-US" altLang="zh-CN"/>
              <a:t>3. </a:t>
            </a:r>
            <a:r>
              <a:rPr lang="zh-CN" altLang="en-US"/>
              <a:t>正常做</a:t>
            </a:r>
            <a:r>
              <a:rPr lang="en-US" altLang="zh-CN"/>
              <a:t>forward</a:t>
            </a:r>
            <a:r>
              <a:rPr lang="zh-CN" altLang="en-US"/>
              <a:t>和</a:t>
            </a:r>
            <a:r>
              <a:rPr lang="en-US" altLang="zh-CN"/>
              <a:t>backward</a:t>
            </a:r>
            <a:r>
              <a:rPr lang="zh-CN" altLang="en-US"/>
              <a:t>，在此之间产生的</a:t>
            </a:r>
            <a:r>
              <a:rPr lang="en-US" altLang="zh-CN"/>
              <a:t>activation</a:t>
            </a:r>
            <a:r>
              <a:rPr lang="zh-CN" altLang="en-US"/>
              <a:t>和</a:t>
            </a:r>
            <a:r>
              <a:rPr lang="en-US" altLang="zh-CN"/>
              <a:t>gradients</a:t>
            </a:r>
            <a:r>
              <a:rPr lang="zh-CN" altLang="en-US"/>
              <a:t>，都用</a:t>
            </a:r>
            <a:r>
              <a:rPr lang="en-US" altLang="zh-CN"/>
              <a:t>fp16</a:t>
            </a:r>
            <a:r>
              <a:rPr lang="zh-CN" altLang="en-US"/>
              <a:t>进行存储。</a:t>
            </a:r>
            <a:endParaRPr lang="zh-CN" altLang="en-US"/>
          </a:p>
          <a:p>
            <a:pPr indent="0">
              <a:buNone/>
            </a:pPr>
            <a:r>
              <a:rPr lang="en-US" altLang="zh-CN">
                <a:sym typeface="+mn-ea"/>
              </a:rPr>
              <a:t>--------------------------------------------------------</a:t>
            </a:r>
            <a:endParaRPr lang="zh-CN" altLang="en-US"/>
          </a:p>
          <a:p>
            <a:pPr indent="0">
              <a:buNone/>
            </a:pPr>
            <a:r>
              <a:rPr lang="en-US" altLang="zh-CN"/>
              <a:t>4. </a:t>
            </a:r>
            <a:r>
              <a:rPr lang="zh-CN" altLang="en-US"/>
              <a:t>用</a:t>
            </a:r>
            <a:r>
              <a:rPr lang="en-US" altLang="zh-CN"/>
              <a:t>fp16 gradients</a:t>
            </a:r>
            <a:r>
              <a:rPr lang="zh-CN" altLang="en-US"/>
              <a:t>去更新</a:t>
            </a:r>
            <a:r>
              <a:rPr lang="en-US" altLang="zh-CN"/>
              <a:t>fp32</a:t>
            </a:r>
            <a:r>
              <a:rPr lang="zh-CN" altLang="en-US"/>
              <a:t>下的</a:t>
            </a:r>
            <a:r>
              <a:rPr lang="en-US" altLang="zh-CN"/>
              <a:t>model states</a:t>
            </a:r>
            <a:r>
              <a:rPr lang="zh-CN" altLang="en-US"/>
              <a:t>。</a:t>
            </a:r>
            <a:endParaRPr lang="zh-CN" altLang="en-US"/>
          </a:p>
          <a:p>
            <a:pPr indent="0">
              <a:buNone/>
            </a:pPr>
            <a:r>
              <a:rPr lang="en-US" altLang="zh-CN">
                <a:sym typeface="+mn-ea"/>
              </a:rPr>
              <a:t>--------------------------------------------------------</a:t>
            </a:r>
            <a:endParaRPr lang="zh-CN" altLang="en-US"/>
          </a:p>
          <a:p>
            <a:pPr indent="0">
              <a:buNone/>
            </a:pPr>
            <a:r>
              <a:rPr lang="en-US" altLang="zh-CN"/>
              <a:t>5. </a:t>
            </a:r>
            <a:r>
              <a:rPr lang="zh-CN" altLang="en-US"/>
              <a:t>当模型收敛后，</a:t>
            </a:r>
            <a:r>
              <a:rPr lang="en-US" altLang="zh-CN"/>
              <a:t>fp32</a:t>
            </a:r>
            <a:r>
              <a:rPr lang="zh-CN" altLang="en-US"/>
              <a:t>的</a:t>
            </a:r>
            <a:r>
              <a:rPr lang="en-US" altLang="zh-CN"/>
              <a:t>parameter</a:t>
            </a:r>
            <a:r>
              <a:rPr lang="zh-CN" altLang="en-US"/>
              <a:t>就是最终的参数输出</a:t>
            </a:r>
            <a:endParaRPr lang="zh-CN" altLang="en-US"/>
          </a:p>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sym typeface="+mn-ea"/>
              </a:rPr>
              <a:t>DeepSpeed</a:t>
            </a:r>
            <a:r>
              <a:rPr lang="zh-CN" altLang="en-US">
                <a:sym typeface="+mn-ea"/>
              </a:rPr>
              <a:t>支持多种并行化方法。这些方法可以灵活组合，以适应不同规模和复杂度的深度学习模型，从而显著提高训练速度和可扩展性</a:t>
            </a:r>
            <a:endParaRPr lang="zh-CN" altLang="en-US"/>
          </a:p>
          <a:p>
            <a:pPr marL="0" lvl="1"/>
            <a:r>
              <a:rPr lang="zh-CN" altLang="en-US">
                <a:latin typeface="Arial" panose="020B0604020202020204" pitchFamily="34" charset="0"/>
                <a:ea typeface="微软雅黑" panose="020B0503020204020204" charset="-122"/>
                <a:cs typeface="Arial" panose="020B0604020202020204" pitchFamily="34" charset="0"/>
                <a:sym typeface="+mn-ea"/>
              </a:rPr>
              <a:t>流水线并行：</a:t>
            </a:r>
            <a:r>
              <a:rPr lang="zh-CN" altLang="en-US" b="1">
                <a:latin typeface="Arial" panose="020B0604020202020204" pitchFamily="34" charset="0"/>
                <a:ea typeface="微软雅黑" panose="020B0503020204020204" charset="-122"/>
                <a:cs typeface="Arial" panose="020B0604020202020204" pitchFamily="34" charset="0"/>
                <a:sym typeface="+mn-ea"/>
              </a:rPr>
              <a:t>将模型的层（而非数据或专家本身）划分为顺序阶段，并将每个阶段分配给一组不同的处理设备</a:t>
            </a:r>
            <a:endParaRPr lang="zh-CN" altLang="en-US" b="1">
              <a:latin typeface="Arial" panose="020B0604020202020204" pitchFamily="34" charset="0"/>
              <a:ea typeface="微软雅黑" panose="020B0503020204020204" charset="-122"/>
              <a:cs typeface="Arial" panose="020B0604020202020204" pitchFamily="34" charset="0"/>
              <a:sym typeface="+mn-ea"/>
            </a:endParaRPr>
          </a:p>
          <a:p>
            <a:pPr marL="0" lvl="1"/>
            <a:r>
              <a:rPr lang="zh-CN" altLang="en-US" b="1">
                <a:latin typeface="Arial" panose="020B0604020202020204" pitchFamily="34" charset="0"/>
                <a:ea typeface="微软雅黑" panose="020B0503020204020204" charset="-122"/>
                <a:cs typeface="Arial" panose="020B0604020202020204" pitchFamily="34" charset="0"/>
                <a:sym typeface="+mn-ea"/>
              </a:rPr>
              <a:t>数据并行：</a:t>
            </a:r>
            <a:r>
              <a:rPr lang="zh-CN" altLang="en-US" b="1">
                <a:solidFill>
                  <a:schemeClr val="tx1"/>
                </a:solidFill>
                <a:latin typeface="Arial" panose="020B0604020202020204" pitchFamily="34" charset="0"/>
                <a:ea typeface="微软雅黑" panose="020B0503020204020204" charset="-122"/>
                <a:cs typeface="Arial" panose="020B0604020202020204" pitchFamily="34" charset="0"/>
                <a:sym typeface="+mn-ea"/>
              </a:rPr>
              <a:t>在每个流水线阶段内，分配给该阶段的层被复制到多个</a:t>
            </a:r>
            <a:r>
              <a:rPr lang="en-US" altLang="zh-CN" b="1">
                <a:solidFill>
                  <a:schemeClr val="tx1"/>
                </a:solidFill>
                <a:latin typeface="Arial" panose="020B0604020202020204" pitchFamily="34" charset="0"/>
                <a:ea typeface="微软雅黑" panose="020B0503020204020204" charset="-122"/>
                <a:cs typeface="Arial" panose="020B0604020202020204" pitchFamily="34" charset="0"/>
                <a:sym typeface="+mn-ea"/>
              </a:rPr>
              <a:t> GPU</a:t>
            </a:r>
            <a:endParaRPr lang="zh-CN" altLang="en-US"/>
          </a:p>
          <a:p>
            <a:r>
              <a:rPr lang="zh-CN" altLang="en-US"/>
              <a:t>对于真正大型的</a:t>
            </a:r>
            <a:r>
              <a:rPr lang="en-US" altLang="zh-CN"/>
              <a:t> MoE </a:t>
            </a:r>
            <a:r>
              <a:rPr lang="zh-CN" altLang="en-US"/>
              <a:t>模型，流水线并行与数据并行和专家并行结合使用时最有效。</a:t>
            </a:r>
            <a:endParaRPr lang="zh-CN" altLang="en-US"/>
          </a:p>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2.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2.xml"/><Relationship Id="rId4" Type="http://schemas.openxmlformats.org/officeDocument/2006/relationships/tags" Target="../tags/tag68.xml"/><Relationship Id="rId3" Type="http://schemas.openxmlformats.org/officeDocument/2006/relationships/image" Target="../media/image1.jpeg"/><Relationship Id="rId2" Type="http://schemas.openxmlformats.org/officeDocument/2006/relationships/tags" Target="../tags/tag67.xml"/><Relationship Id="rId1" Type="http://schemas.openxmlformats.org/officeDocument/2006/relationships/tags" Target="../tags/tag66.xml"/></Relationships>
</file>

<file path=ppt/slides/_rels/slide3.xml.rels><?xml version="1.0" encoding="UTF-8" standalone="yes"?>
<Relationships xmlns="http://schemas.openxmlformats.org/package/2006/relationships"><Relationship Id="rId9" Type="http://schemas.openxmlformats.org/officeDocument/2006/relationships/tags" Target="../tags/tag71.xml"/><Relationship Id="rId8" Type="http://schemas.openxmlformats.org/officeDocument/2006/relationships/image" Target="../media/image6.png"/><Relationship Id="rId7" Type="http://schemas.openxmlformats.org/officeDocument/2006/relationships/image" Target="../media/image5.png"/><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3" Type="http://schemas.openxmlformats.org/officeDocument/2006/relationships/tags" Target="../tags/tag70.xml"/><Relationship Id="rId2" Type="http://schemas.openxmlformats.org/officeDocument/2006/relationships/tags" Target="../tags/tag69.xml"/><Relationship Id="rId11" Type="http://schemas.openxmlformats.org/officeDocument/2006/relationships/notesSlide" Target="../notesSlides/notesSlide3.xml"/><Relationship Id="rId10" Type="http://schemas.openxmlformats.org/officeDocument/2006/relationships/slideLayout" Target="../slideLayouts/slideLayout2.xml"/><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2.xml"/><Relationship Id="rId4" Type="http://schemas.openxmlformats.org/officeDocument/2006/relationships/tags" Target="../tags/tag74.xml"/><Relationship Id="rId3" Type="http://schemas.openxmlformats.org/officeDocument/2006/relationships/image" Target="../media/image1.jpeg"/><Relationship Id="rId2" Type="http://schemas.openxmlformats.org/officeDocument/2006/relationships/tags" Target="../tags/tag73.xml"/><Relationship Id="rId1" Type="http://schemas.openxmlformats.org/officeDocument/2006/relationships/tags" Target="../tags/tag72.xml"/></Relationships>
</file>

<file path=ppt/slides/_rels/slide5.xml.rels><?xml version="1.0" encoding="UTF-8" standalone="yes"?>
<Relationships xmlns="http://schemas.openxmlformats.org/package/2006/relationships"><Relationship Id="rId9" Type="http://schemas.openxmlformats.org/officeDocument/2006/relationships/tags" Target="../tags/tag80.xml"/><Relationship Id="rId8" Type="http://schemas.openxmlformats.org/officeDocument/2006/relationships/tags" Target="../tags/tag79.xml"/><Relationship Id="rId7" Type="http://schemas.openxmlformats.org/officeDocument/2006/relationships/image" Target="../media/image9.png"/><Relationship Id="rId6" Type="http://schemas.openxmlformats.org/officeDocument/2006/relationships/tags" Target="../tags/tag78.xml"/><Relationship Id="rId5" Type="http://schemas.openxmlformats.org/officeDocument/2006/relationships/image" Target="../media/image8.png"/><Relationship Id="rId4" Type="http://schemas.openxmlformats.org/officeDocument/2006/relationships/tags" Target="../tags/tag77.xml"/><Relationship Id="rId3" Type="http://schemas.openxmlformats.org/officeDocument/2006/relationships/image" Target="../media/image7.jpeg"/><Relationship Id="rId2" Type="http://schemas.openxmlformats.org/officeDocument/2006/relationships/tags" Target="../tags/tag76.xml"/><Relationship Id="rId17" Type="http://schemas.openxmlformats.org/officeDocument/2006/relationships/notesSlide" Target="../notesSlides/notesSlide5.xml"/><Relationship Id="rId16" Type="http://schemas.openxmlformats.org/officeDocument/2006/relationships/slideLayout" Target="../slideLayouts/slideLayout2.xml"/><Relationship Id="rId15" Type="http://schemas.openxmlformats.org/officeDocument/2006/relationships/tags" Target="../tags/tag84.xml"/><Relationship Id="rId14" Type="http://schemas.openxmlformats.org/officeDocument/2006/relationships/image" Target="../media/image11.png"/><Relationship Id="rId13" Type="http://schemas.openxmlformats.org/officeDocument/2006/relationships/tags" Target="../tags/tag83.xml"/><Relationship Id="rId12" Type="http://schemas.openxmlformats.org/officeDocument/2006/relationships/tags" Target="../tags/tag82.xml"/><Relationship Id="rId11" Type="http://schemas.openxmlformats.org/officeDocument/2006/relationships/tags" Target="../tags/tag81.xml"/><Relationship Id="rId10" Type="http://schemas.openxmlformats.org/officeDocument/2006/relationships/image" Target="../media/image10.png"/><Relationship Id="rId1" Type="http://schemas.openxmlformats.org/officeDocument/2006/relationships/tags" Target="../tags/tag75.xml"/></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2.xml"/><Relationship Id="rId4" Type="http://schemas.openxmlformats.org/officeDocument/2006/relationships/tags" Target="../tags/tag87.xml"/><Relationship Id="rId3" Type="http://schemas.openxmlformats.org/officeDocument/2006/relationships/image" Target="../media/image1.jpeg"/><Relationship Id="rId2" Type="http://schemas.openxmlformats.org/officeDocument/2006/relationships/tags" Target="../tags/tag86.xml"/><Relationship Id="rId1" Type="http://schemas.openxmlformats.org/officeDocument/2006/relationships/tags" Target="../tags/tag85.xml"/></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2.xml"/><Relationship Id="rId3" Type="http://schemas.openxmlformats.org/officeDocument/2006/relationships/tags" Target="../tags/tag90.xml"/><Relationship Id="rId2" Type="http://schemas.openxmlformats.org/officeDocument/2006/relationships/tags" Target="../tags/tag89.xml"/><Relationship Id="rId1" Type="http://schemas.openxmlformats.org/officeDocument/2006/relationships/tags" Target="../tags/tag88.xml"/></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2.xml"/><Relationship Id="rId5" Type="http://schemas.openxmlformats.org/officeDocument/2006/relationships/tags" Target="../tags/tag93.xml"/><Relationship Id="rId4" Type="http://schemas.openxmlformats.org/officeDocument/2006/relationships/tags" Target="../tags/tag92.xml"/><Relationship Id="rId3" Type="http://schemas.openxmlformats.org/officeDocument/2006/relationships/tags" Target="../tags/tag91.xml"/><Relationship Id="rId2" Type="http://schemas.openxmlformats.org/officeDocument/2006/relationships/image" Target="../media/image13.png"/><Relationship Id="rId1" Type="http://schemas.openxmlformats.org/officeDocument/2006/relationships/image" Target="../media/image12.pn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2.xml"/><Relationship Id="rId4" Type="http://schemas.openxmlformats.org/officeDocument/2006/relationships/tags" Target="../tags/tag97.xml"/><Relationship Id="rId3" Type="http://schemas.openxmlformats.org/officeDocument/2006/relationships/tags" Target="../tags/tag96.xml"/><Relationship Id="rId2" Type="http://schemas.openxmlformats.org/officeDocument/2006/relationships/tags" Target="../tags/tag95.xml"/><Relationship Id="rId1" Type="http://schemas.openxmlformats.org/officeDocument/2006/relationships/tags" Target="../tags/tag94.xml"/></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2.xml"/><Relationship Id="rId4" Type="http://schemas.openxmlformats.org/officeDocument/2006/relationships/tags" Target="../tags/tag100.xml"/><Relationship Id="rId3" Type="http://schemas.openxmlformats.org/officeDocument/2006/relationships/tags" Target="../tags/tag99.xml"/><Relationship Id="rId2" Type="http://schemas.openxmlformats.org/officeDocument/2006/relationships/image" Target="../media/image14.png"/><Relationship Id="rId1" Type="http://schemas.openxmlformats.org/officeDocument/2006/relationships/tags" Target="../tags/tag98.xml"/></Relationships>
</file>

<file path=ppt/slides/_rels/slide11.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slideLayout" Target="../slideLayouts/slideLayout2.xml"/><Relationship Id="rId5" Type="http://schemas.openxmlformats.org/officeDocument/2006/relationships/tags" Target="../tags/tag103.xml"/><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tags" Target="../tags/tag102.xml"/><Relationship Id="rId1" Type="http://schemas.openxmlformats.org/officeDocument/2006/relationships/tags" Target="../tags/tag10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5.xml"/><Relationship Id="rId1" Type="http://schemas.openxmlformats.org/officeDocument/2006/relationships/tags" Target="../tags/tag10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608400" y="557600"/>
            <a:ext cx="10969200" cy="705600"/>
          </a:xfrm>
        </p:spPr>
        <p:txBody>
          <a:bodyPr/>
          <a:p>
            <a:r>
              <a:rPr lang="en-US" altLang="zh-CN"/>
              <a:t>MOE</a:t>
            </a:r>
            <a:r>
              <a:rPr lang="zh-CN" altLang="en-US"/>
              <a:t>汇报</a:t>
            </a:r>
            <a:r>
              <a:rPr lang="zh-CN" altLang="en-US"/>
              <a:t>框架</a:t>
            </a:r>
            <a:endParaRPr lang="zh-CN" altLang="en-US"/>
          </a:p>
        </p:txBody>
      </p:sp>
      <p:sp>
        <p:nvSpPr>
          <p:cNvPr id="3" name="内容占位符 2"/>
          <p:cNvSpPr>
            <a:spLocks noGrp="1"/>
          </p:cNvSpPr>
          <p:nvPr>
            <p:ph idx="1"/>
            <p:custDataLst>
              <p:tags r:id="rId2"/>
            </p:custDataLst>
          </p:nvPr>
        </p:nvSpPr>
        <p:spPr>
          <a:xfrm>
            <a:off x="1274445" y="1649095"/>
            <a:ext cx="9788525" cy="4600575"/>
          </a:xfrm>
        </p:spPr>
        <p:txBody>
          <a:bodyPr>
            <a:noAutofit/>
          </a:bodyPr>
          <a:p>
            <a:pPr lvl="0">
              <a:lnSpc>
                <a:spcPct val="150000"/>
              </a:lnSpc>
            </a:pPr>
            <a:r>
              <a:rPr lang="en-US" altLang="zh-CN" sz="1800" b="1">
                <a:solidFill>
                  <a:schemeClr val="tx1"/>
                </a:solidFill>
                <a:sym typeface="+mn-ea"/>
              </a:rPr>
              <a:t>MOE</a:t>
            </a:r>
            <a:r>
              <a:rPr lang="zh-CN" altLang="en-US" sz="1800" b="1">
                <a:solidFill>
                  <a:schemeClr val="tx1"/>
                </a:solidFill>
                <a:sym typeface="+mn-ea"/>
              </a:rPr>
              <a:t>稳定训练与优化策略</a:t>
            </a:r>
            <a:endParaRPr lang="zh-CN" altLang="en-US" sz="1800" b="1">
              <a:solidFill>
                <a:schemeClr val="tx1"/>
              </a:solidFill>
            </a:endParaRPr>
          </a:p>
          <a:p>
            <a:pPr lvl="1">
              <a:lnSpc>
                <a:spcPct val="150000"/>
              </a:lnSpc>
            </a:pPr>
            <a:r>
              <a:rPr lang="zh-CN" altLang="en-US" sz="1800">
                <a:solidFill>
                  <a:schemeClr val="tx1"/>
                </a:solidFill>
                <a:latin typeface="Arial" panose="020B0604020202020204" pitchFamily="34" charset="0"/>
                <a:ea typeface="微软雅黑" panose="020B0503020204020204" charset="-122"/>
                <a:cs typeface="Arial" panose="020B0604020202020204" pitchFamily="34" charset="0"/>
              </a:rPr>
              <a:t>负载均衡损失</a:t>
            </a:r>
            <a:r>
              <a:rPr lang="en-US" altLang="zh-CN" sz="1800">
                <a:solidFill>
                  <a:schemeClr val="tx1"/>
                </a:solidFill>
                <a:latin typeface="Arial" panose="020B0604020202020204" pitchFamily="34" charset="0"/>
                <a:ea typeface="微软雅黑" panose="020B0503020204020204" charset="-122"/>
                <a:cs typeface="Arial" panose="020B0604020202020204" pitchFamily="34" charset="0"/>
              </a:rPr>
              <a:t>Load Balancing Loss</a:t>
            </a:r>
            <a:endParaRPr lang="en-US" altLang="zh-CN" sz="1800">
              <a:solidFill>
                <a:schemeClr val="tx1"/>
              </a:solidFill>
              <a:latin typeface="Arial" panose="020B0604020202020204" pitchFamily="34" charset="0"/>
              <a:ea typeface="微软雅黑" panose="020B0503020204020204" charset="-122"/>
              <a:cs typeface="Arial" panose="020B0604020202020204" pitchFamily="34" charset="0"/>
            </a:endParaRPr>
          </a:p>
          <a:p>
            <a:pPr lvl="1">
              <a:lnSpc>
                <a:spcPct val="150000"/>
              </a:lnSpc>
            </a:pPr>
            <a:r>
              <a:rPr lang="zh-CN" altLang="en-US" sz="1800">
                <a:solidFill>
                  <a:schemeClr val="tx1"/>
                </a:solidFill>
                <a:latin typeface="Arial" panose="020B0604020202020204" pitchFamily="34" charset="0"/>
                <a:ea typeface="微软雅黑" panose="020B0503020204020204" charset="-122"/>
                <a:cs typeface="Arial" panose="020B0604020202020204" pitchFamily="34" charset="0"/>
              </a:rPr>
              <a:t>专家容量</a:t>
            </a:r>
            <a:r>
              <a:rPr lang="en-US" altLang="zh-CN" sz="1800">
                <a:solidFill>
                  <a:schemeClr val="tx1"/>
                </a:solidFill>
                <a:latin typeface="Arial" panose="020B0604020202020204" pitchFamily="34" charset="0"/>
                <a:ea typeface="微软雅黑" panose="020B0503020204020204" charset="-122"/>
                <a:cs typeface="Arial" panose="020B0604020202020204" pitchFamily="34" charset="0"/>
              </a:rPr>
              <a:t>Expert Capacity</a:t>
            </a:r>
            <a:endParaRPr lang="en-US" altLang="zh-CN" sz="1800">
              <a:solidFill>
                <a:schemeClr val="tx1"/>
              </a:solidFill>
              <a:latin typeface="Arial" panose="020B0604020202020204" pitchFamily="34" charset="0"/>
              <a:ea typeface="微软雅黑" panose="020B0503020204020204" charset="-122"/>
              <a:cs typeface="Arial" panose="020B0604020202020204" pitchFamily="34" charset="0"/>
            </a:endParaRPr>
          </a:p>
          <a:p>
            <a:pPr lvl="1">
              <a:lnSpc>
                <a:spcPct val="150000"/>
              </a:lnSpc>
            </a:pPr>
            <a:r>
              <a:rPr lang="zh-CN" altLang="en-US" sz="1800">
                <a:solidFill>
                  <a:schemeClr val="tx1"/>
                </a:solidFill>
                <a:latin typeface="Arial" panose="020B0604020202020204" pitchFamily="34" charset="0"/>
                <a:ea typeface="微软雅黑" panose="020B0503020204020204" charset="-122"/>
                <a:cs typeface="Arial" panose="020B0604020202020204" pitchFamily="34" charset="0"/>
              </a:rPr>
              <a:t>丢弃令牌</a:t>
            </a:r>
            <a:r>
              <a:rPr lang="en-US" altLang="zh-CN" sz="1800">
                <a:solidFill>
                  <a:schemeClr val="tx1"/>
                </a:solidFill>
                <a:latin typeface="Arial" panose="020B0604020202020204" pitchFamily="34" charset="0"/>
                <a:ea typeface="微软雅黑" panose="020B0503020204020204" charset="-122"/>
                <a:cs typeface="Arial" panose="020B0604020202020204" pitchFamily="34" charset="0"/>
              </a:rPr>
              <a:t>Token Dropping</a:t>
            </a:r>
            <a:endParaRPr lang="en-US" altLang="zh-CN" sz="1800">
              <a:solidFill>
                <a:schemeClr val="tx1"/>
              </a:solidFill>
              <a:latin typeface="Arial" panose="020B0604020202020204" pitchFamily="34" charset="0"/>
              <a:ea typeface="微软雅黑" panose="020B0503020204020204" charset="-122"/>
              <a:cs typeface="Arial" panose="020B0604020202020204" pitchFamily="34" charset="0"/>
            </a:endParaRPr>
          </a:p>
          <a:p>
            <a:pPr lvl="1">
              <a:lnSpc>
                <a:spcPct val="150000"/>
              </a:lnSpc>
            </a:pPr>
            <a:r>
              <a:rPr lang="en-US" altLang="zh-CN" sz="1800">
                <a:solidFill>
                  <a:schemeClr val="tx1"/>
                </a:solidFill>
                <a:latin typeface="Arial" panose="020B0604020202020204" pitchFamily="34" charset="0"/>
                <a:ea typeface="微软雅黑" panose="020B0503020204020204" charset="-122"/>
                <a:cs typeface="Arial" panose="020B0604020202020204" pitchFamily="34" charset="0"/>
              </a:rPr>
              <a:t>...</a:t>
            </a:r>
            <a:endParaRPr lang="zh-CN" altLang="en-US" sz="1800">
              <a:solidFill>
                <a:schemeClr val="tx1"/>
              </a:solidFill>
              <a:latin typeface="Arial" panose="020B0604020202020204" pitchFamily="34" charset="0"/>
              <a:ea typeface="微软雅黑" panose="020B0503020204020204" charset="-122"/>
              <a:cs typeface="Arial" panose="020B0604020202020204" pitchFamily="34" charset="0"/>
            </a:endParaRPr>
          </a:p>
          <a:p>
            <a:pPr>
              <a:lnSpc>
                <a:spcPct val="150000"/>
              </a:lnSpc>
            </a:pPr>
            <a:r>
              <a:rPr lang="en-US" altLang="zh-CN" sz="1800" b="1">
                <a:solidFill>
                  <a:schemeClr val="tx1"/>
                </a:solidFill>
                <a:latin typeface="Arial" panose="020B0604020202020204" pitchFamily="34" charset="0"/>
                <a:ea typeface="微软雅黑" panose="020B0503020204020204" charset="-122"/>
                <a:cs typeface="Arial" panose="020B0604020202020204" pitchFamily="34" charset="0"/>
              </a:rPr>
              <a:t>MOE</a:t>
            </a:r>
            <a:r>
              <a:rPr lang="zh-CN" altLang="en-US" sz="1800" b="1">
                <a:solidFill>
                  <a:schemeClr val="tx1"/>
                </a:solidFill>
                <a:latin typeface="Arial" panose="020B0604020202020204" pitchFamily="34" charset="0"/>
                <a:ea typeface="微软雅黑" panose="020B0503020204020204" charset="-122"/>
                <a:cs typeface="Arial" panose="020B0604020202020204" pitchFamily="34" charset="0"/>
              </a:rPr>
              <a:t>分布式训练与扩展策略</a:t>
            </a:r>
            <a:endParaRPr lang="zh-CN" altLang="en-US" sz="1800" b="1">
              <a:solidFill>
                <a:schemeClr val="tx1"/>
              </a:solidFill>
              <a:latin typeface="Arial" panose="020B0604020202020204" pitchFamily="34" charset="0"/>
              <a:ea typeface="微软雅黑" panose="020B0503020204020204" charset="-122"/>
              <a:cs typeface="Arial" panose="020B0604020202020204" pitchFamily="34" charset="0"/>
            </a:endParaRPr>
          </a:p>
          <a:p>
            <a:pPr lvl="1">
              <a:lnSpc>
                <a:spcPct val="150000"/>
              </a:lnSpc>
            </a:pPr>
            <a:r>
              <a:rPr lang="zh-CN" altLang="en-US" sz="1800">
                <a:solidFill>
                  <a:schemeClr val="tx1"/>
                </a:solidFill>
                <a:latin typeface="Arial" panose="020B0604020202020204" pitchFamily="34" charset="0"/>
                <a:ea typeface="微软雅黑" panose="020B0503020204020204" charset="-122"/>
                <a:cs typeface="Arial" panose="020B0604020202020204" pitchFamily="34" charset="0"/>
              </a:rPr>
              <a:t>专家并行</a:t>
            </a:r>
            <a:r>
              <a:rPr lang="en-US" altLang="zh-CN" sz="1800">
                <a:solidFill>
                  <a:schemeClr val="tx1"/>
                </a:solidFill>
                <a:latin typeface="Arial" panose="020B0604020202020204" pitchFamily="34" charset="0"/>
                <a:ea typeface="微软雅黑" panose="020B0503020204020204" charset="-122"/>
                <a:cs typeface="Arial" panose="020B0604020202020204" pitchFamily="34" charset="0"/>
              </a:rPr>
              <a:t>Expert Parallelism</a:t>
            </a:r>
            <a:endParaRPr lang="en-US" altLang="zh-CN" sz="1800">
              <a:solidFill>
                <a:schemeClr val="tx1"/>
              </a:solidFill>
              <a:latin typeface="Arial" panose="020B0604020202020204" pitchFamily="34" charset="0"/>
              <a:ea typeface="微软雅黑" panose="020B0503020204020204" charset="-122"/>
              <a:cs typeface="Arial" panose="020B0604020202020204" pitchFamily="34" charset="0"/>
            </a:endParaRPr>
          </a:p>
          <a:p>
            <a:pPr lvl="1">
              <a:lnSpc>
                <a:spcPct val="150000"/>
              </a:lnSpc>
            </a:pPr>
            <a:r>
              <a:rPr lang="en-US" altLang="zh-CN" sz="1800">
                <a:solidFill>
                  <a:schemeClr val="tx1"/>
                </a:solidFill>
                <a:latin typeface="Arial" panose="020B0604020202020204" pitchFamily="34" charset="0"/>
                <a:ea typeface="微软雅黑" panose="020B0503020204020204" charset="-122"/>
                <a:cs typeface="Arial" panose="020B0604020202020204" pitchFamily="34" charset="0"/>
              </a:rPr>
              <a:t>DeepSpeed MOE</a:t>
            </a:r>
            <a:endParaRPr lang="en-US" altLang="zh-CN" sz="1800">
              <a:solidFill>
                <a:schemeClr val="tx1"/>
              </a:solidFill>
              <a:latin typeface="Arial" panose="020B0604020202020204" pitchFamily="34" charset="0"/>
              <a:ea typeface="微软雅黑" panose="020B0503020204020204" charset="-122"/>
              <a:cs typeface="Arial" panose="020B0604020202020204" pitchFamily="34" charset="0"/>
              <a:sym typeface="+mn-ea"/>
            </a:endParaRPr>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MOE</a:t>
            </a:r>
            <a:r>
              <a:rPr lang="zh-CN" altLang="en-US"/>
              <a:t>稳定训练</a:t>
            </a:r>
            <a:r>
              <a:rPr lang="zh-CN" altLang="en-US"/>
              <a:t>与优化</a:t>
            </a:r>
            <a:r>
              <a:rPr lang="zh-CN" altLang="en-US"/>
              <a:t>策略</a:t>
            </a:r>
            <a:endParaRPr lang="zh-CN" altLang="en-US"/>
          </a:p>
        </p:txBody>
      </p:sp>
      <p:sp>
        <p:nvSpPr>
          <p:cNvPr id="3" name="内容占位符 2"/>
          <p:cNvSpPr>
            <a:spLocks noGrp="1"/>
          </p:cNvSpPr>
          <p:nvPr>
            <p:ph idx="1"/>
            <p:custDataLst>
              <p:tags r:id="rId2"/>
            </p:custDataLst>
          </p:nvPr>
        </p:nvSpPr>
        <p:spPr>
          <a:xfrm>
            <a:off x="608330" y="1800860"/>
            <a:ext cx="10968990" cy="2915285"/>
          </a:xfrm>
        </p:spPr>
        <p:txBody>
          <a:bodyPr/>
          <a:p>
            <a:pPr lvl="0">
              <a:lnSpc>
                <a:spcPct val="150000"/>
              </a:lnSpc>
            </a:pPr>
            <a:r>
              <a:rPr lang="zh-CN" altLang="en-US">
                <a:solidFill>
                  <a:schemeClr val="tx1"/>
                </a:solidFill>
                <a:latin typeface="Arial" panose="020B0604020202020204" pitchFamily="34" charset="0"/>
                <a:ea typeface="微软雅黑" panose="020B0503020204020204" charset="-122"/>
                <a:cs typeface="Arial" panose="020B0604020202020204" pitchFamily="34" charset="0"/>
                <a:sym typeface="+mn-ea"/>
              </a:rPr>
              <a:t>路由器</a:t>
            </a:r>
            <a:r>
              <a:rPr lang="zh-CN" altLang="en-US" b="1">
                <a:solidFill>
                  <a:schemeClr val="tx1"/>
                </a:solidFill>
                <a:latin typeface="Arial" panose="020B0604020202020204" pitchFamily="34" charset="0"/>
                <a:ea typeface="微软雅黑" panose="020B0503020204020204" charset="-122"/>
                <a:cs typeface="Arial" panose="020B0604020202020204" pitchFamily="34" charset="0"/>
                <a:sym typeface="+mn-ea"/>
              </a:rPr>
              <a:t>参数</a:t>
            </a:r>
            <a:r>
              <a:rPr lang="zh-CN" altLang="en-US">
                <a:solidFill>
                  <a:schemeClr val="tx1"/>
                </a:solidFill>
                <a:latin typeface="Arial" panose="020B0604020202020204" pitchFamily="34" charset="0"/>
                <a:ea typeface="微软雅黑" panose="020B0503020204020204" charset="-122"/>
                <a:cs typeface="Arial" panose="020B0604020202020204" pitchFamily="34" charset="0"/>
                <a:sym typeface="+mn-ea"/>
              </a:rPr>
              <a:t>正则化</a:t>
            </a:r>
            <a:r>
              <a:rPr lang="en-US" altLang="zh-CN">
                <a:solidFill>
                  <a:schemeClr val="tx1"/>
                </a:solidFill>
                <a:latin typeface="Arial" panose="020B0604020202020204" pitchFamily="34" charset="0"/>
                <a:ea typeface="微软雅黑" panose="020B0503020204020204" charset="-122"/>
                <a:cs typeface="Arial" panose="020B0604020202020204" pitchFamily="34" charset="0"/>
                <a:sym typeface="+mn-ea"/>
              </a:rPr>
              <a:t>(</a:t>
            </a:r>
            <a:r>
              <a:rPr lang="en-US" altLang="zh-CN">
                <a:solidFill>
                  <a:schemeClr val="tx1"/>
                </a:solidFill>
                <a:latin typeface="Arial" panose="020B0604020202020204" pitchFamily="34" charset="0"/>
                <a:ea typeface="微软雅黑" panose="020B0503020204020204" charset="-122"/>
                <a:cs typeface="Arial" panose="020B0604020202020204" pitchFamily="34" charset="0"/>
                <a:sym typeface="+mn-ea"/>
              </a:rPr>
              <a:t>L2</a:t>
            </a:r>
            <a:r>
              <a:rPr lang="en-US" altLang="zh-CN">
                <a:solidFill>
                  <a:schemeClr val="tx1"/>
                </a:solidFill>
                <a:latin typeface="Arial" panose="020B0604020202020204" pitchFamily="34" charset="0"/>
                <a:ea typeface="微软雅黑" panose="020B0503020204020204" charset="-122"/>
                <a:cs typeface="Arial" panose="020B0604020202020204" pitchFamily="34" charset="0"/>
                <a:sym typeface="+mn-ea"/>
              </a:rPr>
              <a:t>)</a:t>
            </a:r>
            <a:r>
              <a:rPr lang="zh-CN" altLang="en-US">
                <a:solidFill>
                  <a:schemeClr val="tx1"/>
                </a:solidFill>
                <a:latin typeface="Arial" panose="020B0604020202020204" pitchFamily="34" charset="0"/>
                <a:ea typeface="微软雅黑" panose="020B0503020204020204" charset="-122"/>
                <a:cs typeface="Arial" panose="020B0604020202020204" pitchFamily="34" charset="0"/>
                <a:sym typeface="+mn-ea"/>
              </a:rPr>
              <a:t>：权重衰减</a:t>
            </a:r>
            <a:r>
              <a:rPr lang="en-US" altLang="zh-CN">
                <a:solidFill>
                  <a:schemeClr val="tx1"/>
                </a:solidFill>
                <a:latin typeface="Arial" panose="020B0604020202020204" pitchFamily="34" charset="0"/>
                <a:ea typeface="微软雅黑" panose="020B0503020204020204" charset="-122"/>
                <a:cs typeface="Arial" panose="020B0604020202020204" pitchFamily="34" charset="0"/>
                <a:sym typeface="+mn-ea"/>
              </a:rPr>
              <a:t>&amp; </a:t>
            </a:r>
            <a:r>
              <a:rPr lang="zh-CN" altLang="en-US">
                <a:solidFill>
                  <a:schemeClr val="tx1"/>
                </a:solidFill>
                <a:latin typeface="Arial" panose="020B0604020202020204" pitchFamily="34" charset="0"/>
                <a:ea typeface="微软雅黑" panose="020B0503020204020204" charset="-122"/>
                <a:cs typeface="Arial" panose="020B0604020202020204" pitchFamily="34" charset="0"/>
                <a:sym typeface="+mn-ea"/>
              </a:rPr>
              <a:t>梯度裁剪</a:t>
            </a:r>
            <a:endParaRPr lang="zh-CN" altLang="en-US">
              <a:solidFill>
                <a:schemeClr val="tx1"/>
              </a:solidFill>
              <a:latin typeface="Arial" panose="020B0604020202020204" pitchFamily="34" charset="0"/>
              <a:ea typeface="微软雅黑" panose="020B0503020204020204" charset="-122"/>
              <a:cs typeface="Arial" panose="020B0604020202020204" pitchFamily="34" charset="0"/>
            </a:endParaRPr>
          </a:p>
          <a:p>
            <a:pPr lvl="0">
              <a:lnSpc>
                <a:spcPct val="150000"/>
              </a:lnSpc>
            </a:pPr>
            <a:r>
              <a:rPr lang="zh-CN" altLang="en-US">
                <a:solidFill>
                  <a:schemeClr val="tx1"/>
                </a:solidFill>
                <a:latin typeface="Arial" panose="020B0604020202020204" pitchFamily="34" charset="0"/>
                <a:ea typeface="微软雅黑" panose="020B0503020204020204" charset="-122"/>
                <a:cs typeface="Arial" panose="020B0604020202020204" pitchFamily="34" charset="0"/>
                <a:sym typeface="+mn-ea"/>
              </a:rPr>
              <a:t>带</a:t>
            </a:r>
            <a:r>
              <a:rPr lang="zh-CN" altLang="en-US" b="1">
                <a:solidFill>
                  <a:schemeClr val="tx1"/>
                </a:solidFill>
                <a:latin typeface="Arial" panose="020B0604020202020204" pitchFamily="34" charset="0"/>
                <a:ea typeface="微软雅黑" panose="020B0503020204020204" charset="-122"/>
                <a:cs typeface="Arial" panose="020B0604020202020204" pitchFamily="34" charset="0"/>
                <a:sym typeface="+mn-ea"/>
              </a:rPr>
              <a:t>噪声</a:t>
            </a:r>
            <a:r>
              <a:rPr lang="zh-CN" altLang="en-US">
                <a:solidFill>
                  <a:schemeClr val="tx1"/>
                </a:solidFill>
                <a:latin typeface="Arial" panose="020B0604020202020204" pitchFamily="34" charset="0"/>
                <a:ea typeface="微软雅黑" panose="020B0503020204020204" charset="-122"/>
                <a:cs typeface="Arial" panose="020B0604020202020204" pitchFamily="34" charset="0"/>
                <a:sym typeface="+mn-ea"/>
              </a:rPr>
              <a:t>的</a:t>
            </a:r>
            <a:r>
              <a:rPr lang="en-US" altLang="zh-CN">
                <a:solidFill>
                  <a:schemeClr val="tx1"/>
                </a:solidFill>
                <a:latin typeface="Arial" panose="020B0604020202020204" pitchFamily="34" charset="0"/>
                <a:ea typeface="微软雅黑" panose="020B0503020204020204" charset="-122"/>
                <a:cs typeface="Arial" panose="020B0604020202020204" pitchFamily="34" charset="0"/>
                <a:sym typeface="+mn-ea"/>
              </a:rPr>
              <a:t>top-k</a:t>
            </a:r>
            <a:r>
              <a:rPr lang="zh-CN" altLang="en-US">
                <a:solidFill>
                  <a:schemeClr val="tx1"/>
                </a:solidFill>
                <a:latin typeface="Arial" panose="020B0604020202020204" pitchFamily="34" charset="0"/>
                <a:ea typeface="微软雅黑" panose="020B0503020204020204" charset="-122"/>
                <a:cs typeface="Arial" panose="020B0604020202020204" pitchFamily="34" charset="0"/>
                <a:sym typeface="+mn-ea"/>
              </a:rPr>
              <a:t>门控（仅在训练期间）</a:t>
            </a:r>
            <a:endParaRPr lang="zh-CN" altLang="en-US">
              <a:solidFill>
                <a:schemeClr val="tx1"/>
              </a:solidFill>
              <a:latin typeface="Arial" panose="020B0604020202020204" pitchFamily="34" charset="0"/>
              <a:ea typeface="微软雅黑" panose="020B0503020204020204" charset="-122"/>
              <a:cs typeface="Arial" panose="020B0604020202020204" pitchFamily="34" charset="0"/>
            </a:endParaRPr>
          </a:p>
          <a:p>
            <a:pPr>
              <a:lnSpc>
                <a:spcPct val="150000"/>
              </a:lnSpc>
            </a:pPr>
            <a:r>
              <a:rPr lang="zh-CN" altLang="en-US" sz="1800" b="1">
                <a:solidFill>
                  <a:schemeClr val="tx1"/>
                </a:solidFill>
                <a:latin typeface="Arial" panose="020B0604020202020204" pitchFamily="34" charset="0"/>
                <a:ea typeface="微软雅黑" panose="020B0503020204020204" charset="-122"/>
                <a:cs typeface="Arial" panose="020B0604020202020204" pitchFamily="34" charset="0"/>
                <a:sym typeface="+mn-ea"/>
              </a:rPr>
              <a:t>辅助</a:t>
            </a:r>
            <a:r>
              <a:rPr lang="zh-CN" altLang="en-US" sz="1800">
                <a:solidFill>
                  <a:schemeClr val="tx1"/>
                </a:solidFill>
                <a:latin typeface="Arial" panose="020B0604020202020204" pitchFamily="34" charset="0"/>
                <a:ea typeface="微软雅黑" panose="020B0503020204020204" charset="-122"/>
                <a:cs typeface="Arial" panose="020B0604020202020204" pitchFamily="34" charset="0"/>
                <a:sym typeface="+mn-ea"/>
              </a:rPr>
              <a:t>损失函数</a:t>
            </a:r>
            <a:r>
              <a:rPr lang="en-US" altLang="zh-CN" sz="1800">
                <a:solidFill>
                  <a:schemeClr val="tx1"/>
                </a:solidFill>
                <a:latin typeface="Arial" panose="020B0604020202020204" pitchFamily="34" charset="0"/>
                <a:ea typeface="微软雅黑" panose="020B0503020204020204" charset="-122"/>
                <a:cs typeface="Arial" panose="020B0604020202020204" pitchFamily="34" charset="0"/>
                <a:sym typeface="+mn-ea"/>
              </a:rPr>
              <a:t>(</a:t>
            </a:r>
            <a:r>
              <a:rPr lang="en-US" altLang="zh-CN">
                <a:solidFill>
                  <a:schemeClr val="tx1"/>
                </a:solidFill>
                <a:latin typeface="Arial" panose="020B0604020202020204" pitchFamily="34" charset="0"/>
                <a:ea typeface="微软雅黑" panose="020B0503020204020204" charset="-122"/>
                <a:cs typeface="Arial" panose="020B0604020202020204" pitchFamily="34" charset="0"/>
                <a:sym typeface="+mn-ea"/>
              </a:rPr>
              <a:t>Auxiliary loss</a:t>
            </a:r>
            <a:r>
              <a:rPr lang="en-US" altLang="zh-CN" sz="1800">
                <a:solidFill>
                  <a:schemeClr val="tx1"/>
                </a:solidFill>
                <a:latin typeface="Arial" panose="020B0604020202020204" pitchFamily="34" charset="0"/>
                <a:ea typeface="微软雅黑" panose="020B0503020204020204" charset="-122"/>
                <a:cs typeface="Arial" panose="020B0604020202020204" pitchFamily="34" charset="0"/>
                <a:sym typeface="+mn-ea"/>
              </a:rPr>
              <a:t>)</a:t>
            </a:r>
            <a:endParaRPr lang="en-US" altLang="zh-CN" sz="1800">
              <a:solidFill>
                <a:schemeClr val="tx1"/>
              </a:solidFill>
              <a:latin typeface="Arial" panose="020B0604020202020204" pitchFamily="34" charset="0"/>
              <a:ea typeface="微软雅黑" panose="020B0503020204020204" charset="-122"/>
              <a:cs typeface="Arial" panose="020B0604020202020204" pitchFamily="34" charset="0"/>
              <a:sym typeface="+mn-ea"/>
            </a:endParaRPr>
          </a:p>
          <a:p>
            <a:pPr lvl="0">
              <a:lnSpc>
                <a:spcPct val="150000"/>
              </a:lnSpc>
            </a:pPr>
            <a:r>
              <a:rPr lang="zh-CN" altLang="en-US" sz="1800">
                <a:solidFill>
                  <a:schemeClr val="tx1"/>
                </a:solidFill>
                <a:latin typeface="Arial" panose="020B0604020202020204" pitchFamily="34" charset="0"/>
                <a:ea typeface="微软雅黑" panose="020B0503020204020204" charset="-122"/>
                <a:cs typeface="Arial" panose="020B0604020202020204" pitchFamily="34" charset="0"/>
                <a:sym typeface="+mn-ea"/>
              </a:rPr>
              <a:t>预防过度丢弃令牌</a:t>
            </a:r>
            <a:r>
              <a:rPr lang="en-US" altLang="zh-CN" sz="1800">
                <a:solidFill>
                  <a:schemeClr val="tx1"/>
                </a:solidFill>
                <a:latin typeface="Arial" panose="020B0604020202020204" pitchFamily="34" charset="0"/>
                <a:ea typeface="微软雅黑" panose="020B0503020204020204" charset="-122"/>
                <a:cs typeface="Arial" panose="020B0604020202020204" pitchFamily="34" charset="0"/>
                <a:sym typeface="+mn-ea"/>
              </a:rPr>
              <a:t>(</a:t>
            </a:r>
            <a:r>
              <a:rPr lang="en-US" altLang="zh-CN">
                <a:solidFill>
                  <a:schemeClr val="tx1"/>
                </a:solidFill>
                <a:latin typeface="Arial" panose="020B0604020202020204" pitchFamily="34" charset="0"/>
                <a:ea typeface="微软雅黑" panose="020B0503020204020204" charset="-122"/>
                <a:cs typeface="Arial" panose="020B0604020202020204" pitchFamily="34" charset="0"/>
                <a:sym typeface="+mn-ea"/>
              </a:rPr>
              <a:t>Token dropping)</a:t>
            </a:r>
            <a:endParaRPr lang="en-US" altLang="zh-CN">
              <a:solidFill>
                <a:schemeClr val="tx1"/>
              </a:solidFill>
              <a:latin typeface="Arial" panose="020B0604020202020204" pitchFamily="34" charset="0"/>
              <a:ea typeface="微软雅黑" panose="020B0503020204020204" charset="-122"/>
              <a:cs typeface="Arial" panose="020B0604020202020204" pitchFamily="34" charset="0"/>
              <a:sym typeface="+mn-ea"/>
            </a:endParaRPr>
          </a:p>
          <a:p>
            <a:pPr lvl="0">
              <a:lnSpc>
                <a:spcPct val="150000"/>
              </a:lnSpc>
            </a:pPr>
            <a:r>
              <a:rPr lang="zh-CN" altLang="en-US" sz="1800">
                <a:solidFill>
                  <a:schemeClr val="tx1"/>
                </a:solidFill>
                <a:latin typeface="Arial" panose="020B0604020202020204" pitchFamily="34" charset="0"/>
                <a:ea typeface="微软雅黑" panose="020B0503020204020204" charset="-122"/>
                <a:cs typeface="Arial" panose="020B0604020202020204" pitchFamily="34" charset="0"/>
                <a:sym typeface="+mn-ea"/>
              </a:rPr>
              <a:t>优化器选择与超参数</a:t>
            </a:r>
            <a:endParaRPr lang="zh-CN" altLang="en-US" sz="1800">
              <a:solidFill>
                <a:schemeClr val="tx1"/>
              </a:solidFill>
              <a:latin typeface="Arial" panose="020B0604020202020204" pitchFamily="34" charset="0"/>
              <a:ea typeface="微软雅黑" panose="020B0503020204020204" charset="-122"/>
              <a:cs typeface="Arial" panose="020B0604020202020204" pitchFamily="34" charset="0"/>
              <a:sym typeface="+mn-ea"/>
            </a:endParaRPr>
          </a:p>
        </p:txBody>
      </p:sp>
      <p:pic>
        <p:nvPicPr>
          <p:cNvPr id="10" name="图片 9"/>
          <p:cNvPicPr/>
          <p:nvPr/>
        </p:nvPicPr>
        <p:blipFill>
          <a:blip r:embed="rId3"/>
          <a:srcRect l="10147"/>
          <a:stretch>
            <a:fillRect/>
          </a:stretch>
        </p:blipFill>
        <p:spPr>
          <a:xfrm>
            <a:off x="7661910" y="1289685"/>
            <a:ext cx="3915410" cy="5128895"/>
          </a:xfrm>
          <a:prstGeom prst="rect">
            <a:avLst/>
          </a:prstGeom>
        </p:spPr>
      </p:pic>
      <p:cxnSp>
        <p:nvCxnSpPr>
          <p:cNvPr id="7" name="直接箭头连接符 6"/>
          <p:cNvCxnSpPr/>
          <p:nvPr/>
        </p:nvCxnSpPr>
        <p:spPr>
          <a:xfrm>
            <a:off x="6024245" y="2162175"/>
            <a:ext cx="2733675" cy="28575"/>
          </a:xfrm>
          <a:prstGeom prst="straightConnector1">
            <a:avLst/>
          </a:prstGeom>
          <a:ln w="19050">
            <a:solidFill>
              <a:srgbClr val="C00000"/>
            </a:solidFill>
            <a:tailEnd type="arrow"/>
          </a:ln>
        </p:spPr>
        <p:style>
          <a:lnRef idx="2">
            <a:schemeClr val="accent1"/>
          </a:lnRef>
          <a:fillRef idx="0">
            <a:srgbClr val="FFFFFF"/>
          </a:fillRef>
          <a:effectRef idx="0">
            <a:srgbClr val="FFFFFF"/>
          </a:effectRef>
          <a:fontRef idx="minor">
            <a:schemeClr val="tx1"/>
          </a:fontRef>
        </p:style>
      </p:cxnSp>
      <p:cxnSp>
        <p:nvCxnSpPr>
          <p:cNvPr id="8" name="直接箭头连接符 7"/>
          <p:cNvCxnSpPr/>
          <p:nvPr/>
        </p:nvCxnSpPr>
        <p:spPr>
          <a:xfrm>
            <a:off x="5052060" y="2645410"/>
            <a:ext cx="4077335" cy="488315"/>
          </a:xfrm>
          <a:prstGeom prst="straightConnector1">
            <a:avLst/>
          </a:prstGeom>
          <a:ln w="19050">
            <a:solidFill>
              <a:srgbClr val="C00000"/>
            </a:solidFill>
            <a:tailEnd type="arrow"/>
          </a:ln>
        </p:spPr>
        <p:style>
          <a:lnRef idx="2">
            <a:schemeClr val="accent1"/>
          </a:lnRef>
          <a:fillRef idx="0">
            <a:srgbClr val="FFFFFF"/>
          </a:fillRef>
          <a:effectRef idx="0">
            <a:srgbClr val="FFFFFF"/>
          </a:effectRef>
          <a:fontRef idx="minor">
            <a:schemeClr val="tx1"/>
          </a:fontRef>
        </p:style>
      </p:cxnSp>
      <p:cxnSp>
        <p:nvCxnSpPr>
          <p:cNvPr id="9" name="直接箭头连接符 8"/>
          <p:cNvCxnSpPr/>
          <p:nvPr/>
        </p:nvCxnSpPr>
        <p:spPr>
          <a:xfrm>
            <a:off x="4732020" y="3191510"/>
            <a:ext cx="3054350" cy="399415"/>
          </a:xfrm>
          <a:prstGeom prst="straightConnector1">
            <a:avLst/>
          </a:prstGeom>
          <a:ln w="19050">
            <a:solidFill>
              <a:srgbClr val="C00000"/>
            </a:solidFill>
            <a:tailEnd type="arrow"/>
          </a:ln>
        </p:spPr>
        <p:style>
          <a:lnRef idx="2">
            <a:schemeClr val="accent1"/>
          </a:lnRef>
          <a:fillRef idx="0">
            <a:srgbClr val="FFFFFF"/>
          </a:fillRef>
          <a:effectRef idx="0">
            <a:srgbClr val="FFFFFF"/>
          </a:effectRef>
          <a:fontRef idx="minor">
            <a:schemeClr val="tx1"/>
          </a:fontRef>
        </p:style>
      </p:cxnSp>
      <p:cxnSp>
        <p:nvCxnSpPr>
          <p:cNvPr id="13" name="直接箭头连接符 12"/>
          <p:cNvCxnSpPr/>
          <p:nvPr/>
        </p:nvCxnSpPr>
        <p:spPr>
          <a:xfrm>
            <a:off x="5176520" y="3736340"/>
            <a:ext cx="2760345" cy="602615"/>
          </a:xfrm>
          <a:prstGeom prst="straightConnector1">
            <a:avLst/>
          </a:prstGeom>
          <a:ln w="19050">
            <a:solidFill>
              <a:srgbClr val="C00000"/>
            </a:solidFill>
            <a:tailEnd type="arrow"/>
          </a:ln>
        </p:spPr>
        <p:style>
          <a:lnRef idx="2">
            <a:schemeClr val="accent1"/>
          </a:lnRef>
          <a:fillRef idx="0">
            <a:srgbClr val="FFFFFF"/>
          </a:fillRef>
          <a:effectRef idx="0">
            <a:srgbClr val="FFFFFF"/>
          </a:effectRef>
          <a:fontRef idx="minor">
            <a:schemeClr val="tx1"/>
          </a:fontRef>
        </p:style>
      </p:cxnSp>
      <p:sp>
        <p:nvSpPr>
          <p:cNvPr id="4" name="文本框 3"/>
          <p:cNvSpPr txBox="1"/>
          <p:nvPr/>
        </p:nvSpPr>
        <p:spPr>
          <a:xfrm>
            <a:off x="695325" y="6505575"/>
            <a:ext cx="3333750" cy="245110"/>
          </a:xfrm>
          <a:prstGeom prst="rect">
            <a:avLst/>
          </a:prstGeom>
          <a:noFill/>
        </p:spPr>
        <p:txBody>
          <a:bodyPr wrap="square" rtlCol="0">
            <a:spAutoFit/>
          </a:bodyPr>
          <a:p>
            <a:r>
              <a:rPr lang="zh-CN" altLang="en-US" sz="1000"/>
              <a:t>参考链接：</a:t>
            </a:r>
            <a:r>
              <a:rPr lang="en-US" altLang="zh-CN" sz="1000"/>
              <a:t>https://zhuanlan.zhihu.com/p/81886457827</a:t>
            </a:r>
            <a:endParaRPr lang="en-US" altLang="zh-CN" sz="1000"/>
          </a:p>
        </p:txBody>
      </p:sp>
    </p:spTree>
    <p:custDataLst>
      <p:tags r:id="rId4"/>
    </p:custData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 name="图片 9"/>
          <p:cNvPicPr/>
          <p:nvPr/>
        </p:nvPicPr>
        <p:blipFill>
          <a:blip r:embed="rId1"/>
          <a:srcRect l="10147"/>
          <a:stretch>
            <a:fillRect/>
          </a:stretch>
        </p:blipFill>
        <p:spPr>
          <a:xfrm>
            <a:off x="8079740" y="1304290"/>
            <a:ext cx="3915410" cy="4977765"/>
          </a:xfrm>
          <a:prstGeom prst="rect">
            <a:avLst/>
          </a:prstGeom>
        </p:spPr>
      </p:pic>
      <p:sp>
        <p:nvSpPr>
          <p:cNvPr id="2" name="标题 1"/>
          <p:cNvSpPr>
            <a:spLocks noGrp="1"/>
          </p:cNvSpPr>
          <p:nvPr>
            <p:ph type="title"/>
            <p:custDataLst>
              <p:tags r:id="rId2"/>
            </p:custDataLst>
          </p:nvPr>
        </p:nvSpPr>
        <p:spPr>
          <a:xfrm>
            <a:off x="608330" y="462280"/>
            <a:ext cx="7470775" cy="705485"/>
          </a:xfrm>
        </p:spPr>
        <p:txBody>
          <a:bodyPr/>
          <a:p>
            <a:r>
              <a:rPr lang="en-US" altLang="zh-CN" sz="3200">
                <a:solidFill>
                  <a:schemeClr val="tx1"/>
                </a:solidFill>
              </a:rPr>
              <a:t>MOE</a:t>
            </a:r>
            <a:r>
              <a:rPr lang="zh-CN" altLang="en-US" sz="3200">
                <a:solidFill>
                  <a:schemeClr val="tx1"/>
                </a:solidFill>
              </a:rPr>
              <a:t>的负载均衡</a:t>
            </a:r>
            <a:r>
              <a:rPr lang="en-US" altLang="zh-CN" sz="3200">
                <a:solidFill>
                  <a:schemeClr val="tx1"/>
                </a:solidFill>
              </a:rPr>
              <a:t>(</a:t>
            </a:r>
            <a:r>
              <a:rPr lang="en-US" altLang="zh-CN" sz="3200">
                <a:solidFill>
                  <a:schemeClr val="tx1"/>
                </a:solidFill>
                <a:latin typeface="Arial" panose="020B0604020202020204" pitchFamily="34" charset="0"/>
                <a:ea typeface="黑体" panose="02010609060101010101" charset="-122"/>
                <a:cs typeface="Arial" panose="020B0604020202020204" pitchFamily="34" charset="0"/>
                <a:sym typeface="+mn-ea"/>
              </a:rPr>
              <a:t>Load Balancing</a:t>
            </a:r>
            <a:r>
              <a:rPr lang="en-US" altLang="zh-CN" sz="3200">
                <a:solidFill>
                  <a:schemeClr val="tx1"/>
                </a:solidFill>
              </a:rPr>
              <a:t>)</a:t>
            </a:r>
            <a:endParaRPr lang="en-US" altLang="zh-CN" sz="3200">
              <a:solidFill>
                <a:schemeClr val="tx1"/>
              </a:solidFill>
            </a:endParaRPr>
          </a:p>
        </p:txBody>
      </p:sp>
      <p:sp>
        <p:nvSpPr>
          <p:cNvPr id="3" name="内容占位符 2"/>
          <p:cNvSpPr>
            <a:spLocks noGrp="1"/>
          </p:cNvSpPr>
          <p:nvPr>
            <p:ph idx="1"/>
            <p:custDataLst>
              <p:tags r:id="rId3"/>
            </p:custDataLst>
          </p:nvPr>
        </p:nvSpPr>
        <p:spPr>
          <a:xfrm>
            <a:off x="488315" y="1304290"/>
            <a:ext cx="7590790" cy="5177790"/>
          </a:xfrm>
        </p:spPr>
        <p:txBody>
          <a:bodyPr>
            <a:normAutofit fontScale="90000"/>
          </a:bodyPr>
          <a:p>
            <a:pPr>
              <a:lnSpc>
                <a:spcPct val="150000"/>
              </a:lnSpc>
            </a:pPr>
            <a:r>
              <a:rPr lang="zh-CN" altLang="en-US" sz="1600" b="1">
                <a:solidFill>
                  <a:schemeClr val="tx1"/>
                </a:solidFill>
              </a:rPr>
              <a:t>负载不均衡</a:t>
            </a:r>
            <a:endParaRPr lang="zh-CN" altLang="en-US" sz="1600" b="1">
              <a:solidFill>
                <a:schemeClr val="tx1"/>
              </a:solidFill>
            </a:endParaRPr>
          </a:p>
          <a:p>
            <a:pPr lvl="1">
              <a:lnSpc>
                <a:spcPct val="150000"/>
              </a:lnSpc>
            </a:pPr>
            <a:r>
              <a:rPr lang="zh-CN" altLang="en-US" sz="1600">
                <a:solidFill>
                  <a:schemeClr val="tx1"/>
                </a:solidFill>
              </a:rPr>
              <a:t>路由器未均匀将</a:t>
            </a:r>
            <a:r>
              <a:rPr lang="en-US" altLang="zh-CN" sz="1600">
                <a:solidFill>
                  <a:schemeClr val="tx1"/>
                </a:solidFill>
              </a:rPr>
              <a:t>token</a:t>
            </a:r>
            <a:r>
              <a:rPr lang="zh-CN" altLang="en-US" sz="1600">
                <a:solidFill>
                  <a:schemeClr val="tx1"/>
                </a:solidFill>
              </a:rPr>
              <a:t>分配给所有专家，存在部分专家未被充分使用的情况</a:t>
            </a:r>
            <a:endParaRPr lang="zh-CN" altLang="en-US" sz="1600">
              <a:solidFill>
                <a:schemeClr val="tx1"/>
              </a:solidFill>
            </a:endParaRPr>
          </a:p>
          <a:p>
            <a:pPr lvl="0">
              <a:lnSpc>
                <a:spcPct val="150000"/>
              </a:lnSpc>
            </a:pPr>
            <a:r>
              <a:rPr lang="zh-CN" altLang="en-US" sz="1600" b="1">
                <a:solidFill>
                  <a:schemeClr val="tx1"/>
                </a:solidFill>
              </a:rPr>
              <a:t>负载不均衡的结果</a:t>
            </a:r>
            <a:endParaRPr lang="zh-CN" altLang="en-US" sz="1600" b="1">
              <a:solidFill>
                <a:schemeClr val="tx1"/>
              </a:solidFill>
            </a:endParaRPr>
          </a:p>
          <a:p>
            <a:pPr lvl="1">
              <a:lnSpc>
                <a:spcPct val="150000"/>
              </a:lnSpc>
            </a:pPr>
            <a:r>
              <a:rPr lang="zh-CN" altLang="en-US" sz="1600">
                <a:solidFill>
                  <a:schemeClr val="tx1"/>
                </a:solidFill>
              </a:rPr>
              <a:t>计算效率低；参数浪费；训练不稳定；专家专业化程度低</a:t>
            </a:r>
            <a:endParaRPr lang="zh-CN" altLang="en-US" sz="1600">
              <a:solidFill>
                <a:schemeClr val="tx1"/>
              </a:solidFill>
            </a:endParaRPr>
          </a:p>
          <a:p>
            <a:pPr lvl="0">
              <a:lnSpc>
                <a:spcPct val="150000"/>
              </a:lnSpc>
            </a:pPr>
            <a:r>
              <a:rPr lang="zh-CN" altLang="en-US" sz="1600" b="1">
                <a:solidFill>
                  <a:schemeClr val="tx1"/>
                </a:solidFill>
              </a:rPr>
              <a:t>负载不均衡的原因</a:t>
            </a:r>
            <a:endParaRPr lang="zh-CN" altLang="en-US" sz="1600" b="1">
              <a:solidFill>
                <a:schemeClr val="tx1"/>
              </a:solidFill>
            </a:endParaRPr>
          </a:p>
          <a:p>
            <a:pPr lvl="1">
              <a:lnSpc>
                <a:spcPct val="150000"/>
              </a:lnSpc>
            </a:pPr>
            <a:r>
              <a:rPr lang="zh-CN" altLang="en-US" sz="1600">
                <a:solidFill>
                  <a:schemeClr val="tx1"/>
                </a:solidFill>
              </a:rPr>
              <a:t>初始化随机权重；训练数据分布；缺乏鼓励平衡的机制</a:t>
            </a:r>
            <a:endParaRPr lang="zh-CN" altLang="en-US" sz="1600">
              <a:solidFill>
                <a:schemeClr val="tx1"/>
              </a:solidFill>
            </a:endParaRPr>
          </a:p>
          <a:p>
            <a:pPr>
              <a:lnSpc>
                <a:spcPct val="150000"/>
              </a:lnSpc>
            </a:pPr>
            <a:r>
              <a:rPr lang="zh-CN" altLang="en-US" sz="1600" b="1">
                <a:solidFill>
                  <a:schemeClr val="tx1"/>
                </a:solidFill>
              </a:rPr>
              <a:t>辅助损失函数</a:t>
            </a:r>
            <a:endParaRPr lang="zh-CN" altLang="en-US" sz="1600" b="1">
              <a:solidFill>
                <a:schemeClr val="tx1"/>
              </a:solidFill>
            </a:endParaRPr>
          </a:p>
          <a:p>
            <a:pPr lvl="1">
              <a:lnSpc>
                <a:spcPct val="150000"/>
              </a:lnSpc>
            </a:pPr>
            <a:r>
              <a:rPr lang="zh-CN" altLang="en-US" sz="1600">
                <a:solidFill>
                  <a:schemeClr val="tx1"/>
                </a:solidFill>
              </a:rPr>
              <a:t>必要性</a:t>
            </a:r>
            <a:endParaRPr lang="zh-CN" altLang="en-US" sz="1600">
              <a:solidFill>
                <a:schemeClr val="tx1"/>
              </a:solidFill>
            </a:endParaRPr>
          </a:p>
          <a:p>
            <a:pPr lvl="1">
              <a:lnSpc>
                <a:spcPct val="150000"/>
              </a:lnSpc>
            </a:pPr>
            <a:r>
              <a:rPr lang="zh-CN" altLang="en-US" sz="1600">
                <a:solidFill>
                  <a:schemeClr val="tx1"/>
                </a:solidFill>
              </a:rPr>
              <a:t>路由</a:t>
            </a:r>
            <a:r>
              <a:rPr lang="en-US" altLang="zh-CN" sz="1600">
                <a:solidFill>
                  <a:schemeClr val="tx1"/>
                </a:solidFill>
              </a:rPr>
              <a:t>logit</a:t>
            </a:r>
            <a:r>
              <a:rPr lang="zh-CN" altLang="en-US" sz="1600">
                <a:solidFill>
                  <a:schemeClr val="tx1"/>
                </a:solidFill>
              </a:rPr>
              <a:t>正则化</a:t>
            </a:r>
            <a:r>
              <a:rPr lang="en-US" altLang="zh-CN" sz="1600">
                <a:solidFill>
                  <a:schemeClr val="tx1"/>
                </a:solidFill>
              </a:rPr>
              <a:t> (Z-loss)</a:t>
            </a:r>
            <a:endParaRPr lang="zh-CN" altLang="en-US" sz="1600">
              <a:solidFill>
                <a:schemeClr val="tx1"/>
              </a:solidFill>
            </a:endParaRPr>
          </a:p>
          <a:p>
            <a:pPr lvl="1">
              <a:lnSpc>
                <a:spcPct val="150000"/>
              </a:lnSpc>
            </a:pPr>
            <a:r>
              <a:rPr lang="zh-CN" altLang="en-US" sz="1600">
                <a:solidFill>
                  <a:schemeClr val="tx1"/>
                </a:solidFill>
              </a:rPr>
              <a:t>负载均衡损失</a:t>
            </a:r>
            <a:r>
              <a:rPr lang="en-US" altLang="zh-CN" sz="1600">
                <a:solidFill>
                  <a:schemeClr val="tx1"/>
                </a:solidFill>
              </a:rPr>
              <a:t> </a:t>
            </a:r>
            <a:r>
              <a:rPr lang="en-US" altLang="zh-CN" sz="1600">
                <a:solidFill>
                  <a:schemeClr val="tx1"/>
                </a:solidFill>
                <a:sym typeface="+mn-ea"/>
              </a:rPr>
              <a:t>(</a:t>
            </a:r>
            <a:r>
              <a:rPr lang="en-US" altLang="zh-CN" sz="1600">
                <a:solidFill>
                  <a:schemeClr val="tx1"/>
                </a:solidFill>
                <a:latin typeface="Arial" panose="020B0604020202020204" pitchFamily="34" charset="0"/>
                <a:ea typeface="黑体" panose="02010609060101010101" charset="-122"/>
                <a:cs typeface="Arial" panose="020B0604020202020204" pitchFamily="34" charset="0"/>
                <a:sym typeface="+mn-ea"/>
              </a:rPr>
              <a:t>Load Balancing Loss</a:t>
            </a:r>
            <a:r>
              <a:rPr lang="en-US" altLang="zh-CN" sz="1600">
                <a:solidFill>
                  <a:schemeClr val="tx1"/>
                </a:solidFill>
                <a:sym typeface="+mn-ea"/>
              </a:rPr>
              <a:t>)</a:t>
            </a:r>
            <a:endParaRPr lang="en-US" altLang="zh-CN" sz="1600">
              <a:solidFill>
                <a:schemeClr val="tx1"/>
              </a:solidFill>
              <a:sym typeface="+mn-ea"/>
            </a:endParaRPr>
          </a:p>
          <a:p>
            <a:pPr lvl="1">
              <a:lnSpc>
                <a:spcPct val="150000"/>
              </a:lnSpc>
            </a:pPr>
            <a:r>
              <a:rPr lang="zh-CN" altLang="en-US" sz="1600">
                <a:solidFill>
                  <a:schemeClr val="tx1"/>
                </a:solidFill>
              </a:rPr>
              <a:t>路由概率方差损失</a:t>
            </a:r>
            <a:r>
              <a:rPr lang="en-US" altLang="zh-CN" sz="1600">
                <a:solidFill>
                  <a:schemeClr val="tx1"/>
                </a:solidFill>
              </a:rPr>
              <a:t> (Coefficient of Variation)</a:t>
            </a:r>
            <a:endParaRPr lang="en-US" altLang="zh-CN" sz="1600">
              <a:solidFill>
                <a:schemeClr val="tx1"/>
              </a:solidFill>
            </a:endParaRPr>
          </a:p>
        </p:txBody>
      </p:sp>
      <p:pic>
        <p:nvPicPr>
          <p:cNvPr id="5" name="图片 4"/>
          <p:cNvPicPr>
            <a:picLocks noChangeAspect="1"/>
          </p:cNvPicPr>
          <p:nvPr/>
        </p:nvPicPr>
        <p:blipFill>
          <a:blip r:embed="rId4"/>
          <a:srcRect l="1895" t="11943" r="-1433" b="11280"/>
          <a:stretch>
            <a:fillRect/>
          </a:stretch>
        </p:blipFill>
        <p:spPr>
          <a:xfrm>
            <a:off x="1202690" y="5959475"/>
            <a:ext cx="1124585" cy="422910"/>
          </a:xfrm>
          <a:prstGeom prst="rect">
            <a:avLst/>
          </a:prstGeom>
        </p:spPr>
      </p:pic>
      <p:pic>
        <p:nvPicPr>
          <p:cNvPr id="6" name="图片 5"/>
          <p:cNvPicPr>
            <a:picLocks noChangeAspect="1"/>
          </p:cNvPicPr>
          <p:nvPr/>
        </p:nvPicPr>
        <p:blipFill>
          <a:blip r:embed="rId5"/>
          <a:srcRect l="1080" t="6999" r="1590" b="9397"/>
          <a:stretch>
            <a:fillRect/>
          </a:stretch>
        </p:blipFill>
        <p:spPr>
          <a:xfrm>
            <a:off x="2570480" y="5959475"/>
            <a:ext cx="1732280" cy="467995"/>
          </a:xfrm>
          <a:prstGeom prst="rect">
            <a:avLst/>
          </a:prstGeom>
        </p:spPr>
      </p:pic>
      <p:pic>
        <p:nvPicPr>
          <p:cNvPr id="7" name="图片 6"/>
          <p:cNvPicPr>
            <a:picLocks noChangeAspect="1"/>
          </p:cNvPicPr>
          <p:nvPr/>
        </p:nvPicPr>
        <p:blipFill>
          <a:blip r:embed="rId6"/>
          <a:stretch>
            <a:fillRect/>
          </a:stretch>
        </p:blipFill>
        <p:spPr>
          <a:xfrm>
            <a:off x="3502025" y="4537075"/>
            <a:ext cx="3005455" cy="653415"/>
          </a:xfrm>
          <a:prstGeom prst="rect">
            <a:avLst/>
          </a:prstGeom>
        </p:spPr>
      </p:pic>
      <p:pic>
        <p:nvPicPr>
          <p:cNvPr id="4" name="图片 3"/>
          <p:cNvPicPr>
            <a:picLocks noChangeAspect="1"/>
          </p:cNvPicPr>
          <p:nvPr/>
        </p:nvPicPr>
        <p:blipFill>
          <a:blip r:embed="rId7"/>
          <a:srcRect t="7551" b="8185"/>
          <a:stretch>
            <a:fillRect/>
          </a:stretch>
        </p:blipFill>
        <p:spPr>
          <a:xfrm>
            <a:off x="4909185" y="5111115"/>
            <a:ext cx="1337945" cy="524510"/>
          </a:xfrm>
          <a:prstGeom prst="rect">
            <a:avLst/>
          </a:prstGeom>
        </p:spPr>
      </p:pic>
      <p:pic>
        <p:nvPicPr>
          <p:cNvPr id="9" name="图片 8"/>
          <p:cNvPicPr>
            <a:picLocks noChangeAspect="1"/>
          </p:cNvPicPr>
          <p:nvPr/>
        </p:nvPicPr>
        <p:blipFill>
          <a:blip r:embed="rId8"/>
          <a:srcRect t="26805"/>
          <a:stretch>
            <a:fillRect/>
          </a:stretch>
        </p:blipFill>
        <p:spPr>
          <a:xfrm>
            <a:off x="2199640" y="3985260"/>
            <a:ext cx="2251710" cy="292100"/>
          </a:xfrm>
          <a:prstGeom prst="rect">
            <a:avLst/>
          </a:prstGeom>
        </p:spPr>
      </p:pic>
      <p:sp>
        <p:nvSpPr>
          <p:cNvPr id="11" name="矩形 10"/>
          <p:cNvSpPr/>
          <p:nvPr/>
        </p:nvSpPr>
        <p:spPr>
          <a:xfrm>
            <a:off x="9297670" y="2468245"/>
            <a:ext cx="1116965" cy="259080"/>
          </a:xfrm>
          <a:prstGeom prst="rect">
            <a:avLst/>
          </a:prstGeom>
          <a:solidFill>
            <a:srgbClr val="C00000"/>
          </a:solidFill>
          <a:ln w="28575">
            <a:solidFill>
              <a:srgbClr val="C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400"/>
              <a:t>Logit</a:t>
            </a:r>
            <a:r>
              <a:rPr lang="zh-CN" altLang="en-US" sz="1400"/>
              <a:t>正则化</a:t>
            </a:r>
            <a:endParaRPr lang="zh-CN" altLang="en-US" sz="1400"/>
          </a:p>
        </p:txBody>
      </p:sp>
      <p:sp>
        <p:nvSpPr>
          <p:cNvPr id="12" name="矩形 11"/>
          <p:cNvSpPr/>
          <p:nvPr/>
        </p:nvSpPr>
        <p:spPr>
          <a:xfrm>
            <a:off x="9344025" y="3431540"/>
            <a:ext cx="937260" cy="259080"/>
          </a:xfrm>
          <a:prstGeom prst="rect">
            <a:avLst/>
          </a:prstGeom>
          <a:solidFill>
            <a:srgbClr val="C00000"/>
          </a:solidFill>
          <a:ln w="28575">
            <a:solidFill>
              <a:srgbClr val="C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t>概率</a:t>
            </a:r>
            <a:r>
              <a:rPr lang="zh-CN" altLang="en-US" sz="1400"/>
              <a:t>方差</a:t>
            </a:r>
            <a:endParaRPr lang="zh-CN" altLang="en-US" sz="1400"/>
          </a:p>
        </p:txBody>
      </p:sp>
      <p:sp>
        <p:nvSpPr>
          <p:cNvPr id="13" name="矩形 12"/>
          <p:cNvSpPr/>
          <p:nvPr/>
        </p:nvSpPr>
        <p:spPr>
          <a:xfrm>
            <a:off x="9344025" y="4036695"/>
            <a:ext cx="937260" cy="259080"/>
          </a:xfrm>
          <a:prstGeom prst="rect">
            <a:avLst/>
          </a:prstGeom>
          <a:solidFill>
            <a:srgbClr val="C00000"/>
          </a:solidFill>
          <a:ln w="28575">
            <a:solidFill>
              <a:srgbClr val="C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t>负载</a:t>
            </a:r>
            <a:r>
              <a:rPr lang="zh-CN" altLang="en-US" sz="1400"/>
              <a:t>均衡</a:t>
            </a:r>
            <a:endParaRPr lang="zh-CN" altLang="en-US" sz="1400"/>
          </a:p>
        </p:txBody>
      </p:sp>
    </p:spTree>
    <p:custDataLst>
      <p:tags r:id="rId9"/>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1" grpId="1" animBg="1"/>
      <p:bldP spid="12" grpId="0" bldLvl="0" animBg="1"/>
      <p:bldP spid="12" grpId="1" animBg="1"/>
      <p:bldP spid="13" grpId="0" bldLvl="0" animBg="1"/>
      <p:bldP spid="13"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MOE</a:t>
            </a:r>
            <a:r>
              <a:rPr lang="zh-CN" altLang="en-US"/>
              <a:t>稳定训练</a:t>
            </a:r>
            <a:r>
              <a:rPr lang="zh-CN" altLang="en-US"/>
              <a:t>与优化</a:t>
            </a:r>
            <a:r>
              <a:rPr lang="zh-CN" altLang="en-US"/>
              <a:t>策略</a:t>
            </a:r>
            <a:endParaRPr lang="zh-CN" altLang="en-US"/>
          </a:p>
        </p:txBody>
      </p:sp>
      <p:sp>
        <p:nvSpPr>
          <p:cNvPr id="3" name="内容占位符 2"/>
          <p:cNvSpPr>
            <a:spLocks noGrp="1"/>
          </p:cNvSpPr>
          <p:nvPr>
            <p:ph idx="1"/>
            <p:custDataLst>
              <p:tags r:id="rId2"/>
            </p:custDataLst>
          </p:nvPr>
        </p:nvSpPr>
        <p:spPr>
          <a:xfrm>
            <a:off x="608330" y="1800860"/>
            <a:ext cx="10968990" cy="2915285"/>
          </a:xfrm>
        </p:spPr>
        <p:txBody>
          <a:bodyPr>
            <a:noAutofit/>
          </a:bodyPr>
          <a:p>
            <a:pPr lvl="0">
              <a:lnSpc>
                <a:spcPct val="150000"/>
              </a:lnSpc>
            </a:pPr>
            <a:r>
              <a:rPr lang="zh-CN" altLang="en-US">
                <a:solidFill>
                  <a:schemeClr val="tx1"/>
                </a:solidFill>
                <a:latin typeface="Arial" panose="020B0604020202020204" pitchFamily="34" charset="0"/>
                <a:ea typeface="微软雅黑" panose="020B0503020204020204" charset="-122"/>
                <a:cs typeface="Arial" panose="020B0604020202020204" pitchFamily="34" charset="0"/>
                <a:sym typeface="+mn-ea"/>
              </a:rPr>
              <a:t>路由器</a:t>
            </a:r>
            <a:r>
              <a:rPr lang="zh-CN" altLang="en-US" b="1">
                <a:solidFill>
                  <a:schemeClr val="tx1"/>
                </a:solidFill>
                <a:latin typeface="Arial" panose="020B0604020202020204" pitchFamily="34" charset="0"/>
                <a:ea typeface="微软雅黑" panose="020B0503020204020204" charset="-122"/>
                <a:cs typeface="Arial" panose="020B0604020202020204" pitchFamily="34" charset="0"/>
                <a:sym typeface="+mn-ea"/>
              </a:rPr>
              <a:t>参数</a:t>
            </a:r>
            <a:r>
              <a:rPr lang="zh-CN" altLang="en-US">
                <a:solidFill>
                  <a:schemeClr val="tx1"/>
                </a:solidFill>
                <a:latin typeface="Arial" panose="020B0604020202020204" pitchFamily="34" charset="0"/>
                <a:ea typeface="微软雅黑" panose="020B0503020204020204" charset="-122"/>
                <a:cs typeface="Arial" panose="020B0604020202020204" pitchFamily="34" charset="0"/>
                <a:sym typeface="+mn-ea"/>
              </a:rPr>
              <a:t>正则化</a:t>
            </a:r>
            <a:r>
              <a:rPr lang="en-US" altLang="zh-CN">
                <a:solidFill>
                  <a:schemeClr val="tx1"/>
                </a:solidFill>
                <a:latin typeface="Arial" panose="020B0604020202020204" pitchFamily="34" charset="0"/>
                <a:ea typeface="微软雅黑" panose="020B0503020204020204" charset="-122"/>
                <a:cs typeface="Arial" panose="020B0604020202020204" pitchFamily="34" charset="0"/>
                <a:sym typeface="+mn-ea"/>
              </a:rPr>
              <a:t>(L2)</a:t>
            </a:r>
            <a:r>
              <a:rPr lang="zh-CN" altLang="en-US">
                <a:solidFill>
                  <a:schemeClr val="tx1"/>
                </a:solidFill>
                <a:latin typeface="Arial" panose="020B0604020202020204" pitchFamily="34" charset="0"/>
                <a:ea typeface="微软雅黑" panose="020B0503020204020204" charset="-122"/>
                <a:cs typeface="Arial" panose="020B0604020202020204" pitchFamily="34" charset="0"/>
                <a:sym typeface="+mn-ea"/>
              </a:rPr>
              <a:t>：权重衰减</a:t>
            </a:r>
            <a:r>
              <a:rPr lang="en-US" altLang="zh-CN">
                <a:solidFill>
                  <a:schemeClr val="tx1"/>
                </a:solidFill>
                <a:latin typeface="Arial" panose="020B0604020202020204" pitchFamily="34" charset="0"/>
                <a:ea typeface="微软雅黑" panose="020B0503020204020204" charset="-122"/>
                <a:cs typeface="Arial" panose="020B0604020202020204" pitchFamily="34" charset="0"/>
                <a:sym typeface="+mn-ea"/>
              </a:rPr>
              <a:t>&amp; </a:t>
            </a:r>
            <a:r>
              <a:rPr lang="zh-CN" altLang="en-US">
                <a:solidFill>
                  <a:schemeClr val="tx1"/>
                </a:solidFill>
                <a:latin typeface="Arial" panose="020B0604020202020204" pitchFamily="34" charset="0"/>
                <a:ea typeface="微软雅黑" panose="020B0503020204020204" charset="-122"/>
                <a:cs typeface="Arial" panose="020B0604020202020204" pitchFamily="34" charset="0"/>
                <a:sym typeface="+mn-ea"/>
              </a:rPr>
              <a:t>梯度裁剪</a:t>
            </a:r>
            <a:endParaRPr lang="zh-CN" altLang="en-US">
              <a:solidFill>
                <a:schemeClr val="tx1"/>
              </a:solidFill>
              <a:latin typeface="Arial" panose="020B0604020202020204" pitchFamily="34" charset="0"/>
              <a:ea typeface="微软雅黑" panose="020B0503020204020204" charset="-122"/>
              <a:cs typeface="Arial" panose="020B0604020202020204" pitchFamily="34" charset="0"/>
            </a:endParaRPr>
          </a:p>
          <a:p>
            <a:pPr lvl="0">
              <a:lnSpc>
                <a:spcPct val="150000"/>
              </a:lnSpc>
            </a:pPr>
            <a:r>
              <a:rPr lang="zh-CN" altLang="en-US">
                <a:solidFill>
                  <a:schemeClr val="tx1"/>
                </a:solidFill>
                <a:latin typeface="Arial" panose="020B0604020202020204" pitchFamily="34" charset="0"/>
                <a:ea typeface="微软雅黑" panose="020B0503020204020204" charset="-122"/>
                <a:cs typeface="Arial" panose="020B0604020202020204" pitchFamily="34" charset="0"/>
                <a:sym typeface="+mn-ea"/>
              </a:rPr>
              <a:t>带</a:t>
            </a:r>
            <a:r>
              <a:rPr lang="zh-CN" altLang="en-US" b="1">
                <a:solidFill>
                  <a:schemeClr val="tx1"/>
                </a:solidFill>
                <a:latin typeface="Arial" panose="020B0604020202020204" pitchFamily="34" charset="0"/>
                <a:ea typeface="微软雅黑" panose="020B0503020204020204" charset="-122"/>
                <a:cs typeface="Arial" panose="020B0604020202020204" pitchFamily="34" charset="0"/>
                <a:sym typeface="+mn-ea"/>
              </a:rPr>
              <a:t>噪声</a:t>
            </a:r>
            <a:r>
              <a:rPr lang="zh-CN" altLang="en-US">
                <a:solidFill>
                  <a:schemeClr val="tx1"/>
                </a:solidFill>
                <a:latin typeface="Arial" panose="020B0604020202020204" pitchFamily="34" charset="0"/>
                <a:ea typeface="微软雅黑" panose="020B0503020204020204" charset="-122"/>
                <a:cs typeface="Arial" panose="020B0604020202020204" pitchFamily="34" charset="0"/>
                <a:sym typeface="+mn-ea"/>
              </a:rPr>
              <a:t>的</a:t>
            </a:r>
            <a:r>
              <a:rPr lang="en-US" altLang="zh-CN">
                <a:solidFill>
                  <a:schemeClr val="tx1"/>
                </a:solidFill>
                <a:latin typeface="Arial" panose="020B0604020202020204" pitchFamily="34" charset="0"/>
                <a:ea typeface="微软雅黑" panose="020B0503020204020204" charset="-122"/>
                <a:cs typeface="Arial" panose="020B0604020202020204" pitchFamily="34" charset="0"/>
                <a:sym typeface="+mn-ea"/>
              </a:rPr>
              <a:t>top-k</a:t>
            </a:r>
            <a:r>
              <a:rPr lang="zh-CN" altLang="en-US">
                <a:solidFill>
                  <a:schemeClr val="tx1"/>
                </a:solidFill>
                <a:latin typeface="Arial" panose="020B0604020202020204" pitchFamily="34" charset="0"/>
                <a:ea typeface="微软雅黑" panose="020B0503020204020204" charset="-122"/>
                <a:cs typeface="Arial" panose="020B0604020202020204" pitchFamily="34" charset="0"/>
                <a:sym typeface="+mn-ea"/>
              </a:rPr>
              <a:t>门控（仅在训练期间）</a:t>
            </a:r>
            <a:endParaRPr lang="zh-CN" altLang="en-US">
              <a:solidFill>
                <a:schemeClr val="tx1"/>
              </a:solidFill>
              <a:latin typeface="Arial" panose="020B0604020202020204" pitchFamily="34" charset="0"/>
              <a:ea typeface="微软雅黑" panose="020B0503020204020204" charset="-122"/>
              <a:cs typeface="Arial" panose="020B0604020202020204" pitchFamily="34" charset="0"/>
            </a:endParaRPr>
          </a:p>
          <a:p>
            <a:pPr>
              <a:lnSpc>
                <a:spcPct val="150000"/>
              </a:lnSpc>
            </a:pPr>
            <a:r>
              <a:rPr lang="zh-CN" altLang="en-US" b="1">
                <a:solidFill>
                  <a:schemeClr val="tx1"/>
                </a:solidFill>
                <a:latin typeface="Arial" panose="020B0604020202020204" pitchFamily="34" charset="0"/>
                <a:ea typeface="微软雅黑" panose="020B0503020204020204" charset="-122"/>
                <a:cs typeface="Arial" panose="020B0604020202020204" pitchFamily="34" charset="0"/>
                <a:sym typeface="+mn-ea"/>
              </a:rPr>
              <a:t>辅助</a:t>
            </a:r>
            <a:r>
              <a:rPr lang="zh-CN" altLang="en-US">
                <a:solidFill>
                  <a:schemeClr val="tx1"/>
                </a:solidFill>
                <a:latin typeface="Arial" panose="020B0604020202020204" pitchFamily="34" charset="0"/>
                <a:ea typeface="微软雅黑" panose="020B0503020204020204" charset="-122"/>
                <a:cs typeface="Arial" panose="020B0604020202020204" pitchFamily="34" charset="0"/>
                <a:sym typeface="+mn-ea"/>
              </a:rPr>
              <a:t>损失函数</a:t>
            </a:r>
            <a:r>
              <a:rPr lang="en-US" altLang="zh-CN">
                <a:solidFill>
                  <a:schemeClr val="tx1"/>
                </a:solidFill>
                <a:latin typeface="Arial" panose="020B0604020202020204" pitchFamily="34" charset="0"/>
                <a:ea typeface="微软雅黑" panose="020B0503020204020204" charset="-122"/>
                <a:cs typeface="Arial" panose="020B0604020202020204" pitchFamily="34" charset="0"/>
                <a:sym typeface="+mn-ea"/>
              </a:rPr>
              <a:t>(Auxiliary loss)</a:t>
            </a:r>
            <a:endParaRPr lang="en-US" altLang="zh-CN">
              <a:solidFill>
                <a:schemeClr val="tx1"/>
              </a:solidFill>
              <a:latin typeface="Arial" panose="020B0604020202020204" pitchFamily="34" charset="0"/>
              <a:ea typeface="微软雅黑" panose="020B0503020204020204" charset="-122"/>
              <a:cs typeface="Arial" panose="020B0604020202020204" pitchFamily="34" charset="0"/>
              <a:sym typeface="+mn-ea"/>
            </a:endParaRPr>
          </a:p>
          <a:p>
            <a:pPr lvl="0">
              <a:lnSpc>
                <a:spcPct val="150000"/>
              </a:lnSpc>
            </a:pPr>
            <a:r>
              <a:rPr lang="zh-CN" altLang="en-US">
                <a:solidFill>
                  <a:schemeClr val="tx1"/>
                </a:solidFill>
                <a:latin typeface="Arial" panose="020B0604020202020204" pitchFamily="34" charset="0"/>
                <a:ea typeface="微软雅黑" panose="020B0503020204020204" charset="-122"/>
                <a:cs typeface="Arial" panose="020B0604020202020204" pitchFamily="34" charset="0"/>
                <a:sym typeface="+mn-ea"/>
              </a:rPr>
              <a:t>预防过度丢弃令牌</a:t>
            </a:r>
            <a:r>
              <a:rPr lang="en-US" altLang="zh-CN">
                <a:solidFill>
                  <a:schemeClr val="tx1"/>
                </a:solidFill>
                <a:latin typeface="Arial" panose="020B0604020202020204" pitchFamily="34" charset="0"/>
                <a:ea typeface="微软雅黑" panose="020B0503020204020204" charset="-122"/>
                <a:cs typeface="Arial" panose="020B0604020202020204" pitchFamily="34" charset="0"/>
                <a:sym typeface="+mn-ea"/>
              </a:rPr>
              <a:t>(Token dropping)</a:t>
            </a:r>
            <a:endParaRPr lang="en-US" altLang="zh-CN">
              <a:solidFill>
                <a:schemeClr val="tx1"/>
              </a:solidFill>
              <a:latin typeface="Arial" panose="020B0604020202020204" pitchFamily="34" charset="0"/>
              <a:ea typeface="微软雅黑" panose="020B0503020204020204" charset="-122"/>
              <a:cs typeface="Arial" panose="020B0604020202020204" pitchFamily="34" charset="0"/>
              <a:sym typeface="+mn-ea"/>
            </a:endParaRPr>
          </a:p>
          <a:p>
            <a:pPr lvl="0">
              <a:lnSpc>
                <a:spcPct val="150000"/>
              </a:lnSpc>
            </a:pPr>
            <a:r>
              <a:rPr lang="zh-CN" altLang="en-US">
                <a:solidFill>
                  <a:schemeClr val="tx1"/>
                </a:solidFill>
                <a:latin typeface="Arial" panose="020B0604020202020204" pitchFamily="34" charset="0"/>
                <a:ea typeface="微软雅黑" panose="020B0503020204020204" charset="-122"/>
                <a:cs typeface="Arial" panose="020B0604020202020204" pitchFamily="34" charset="0"/>
                <a:sym typeface="+mn-ea"/>
              </a:rPr>
              <a:t>优化器选择与超参数</a:t>
            </a:r>
            <a:endParaRPr lang="zh-CN" altLang="en-US">
              <a:solidFill>
                <a:schemeClr val="tx1"/>
              </a:solidFill>
              <a:latin typeface="Arial" panose="020B0604020202020204" pitchFamily="34" charset="0"/>
              <a:ea typeface="微软雅黑" panose="020B0503020204020204" charset="-122"/>
              <a:cs typeface="Arial" panose="020B0604020202020204" pitchFamily="34" charset="0"/>
              <a:sym typeface="+mn-ea"/>
            </a:endParaRPr>
          </a:p>
          <a:p>
            <a:pPr lvl="1">
              <a:lnSpc>
                <a:spcPct val="150000"/>
              </a:lnSpc>
            </a:pPr>
            <a:r>
              <a:rPr lang="en-US" altLang="zh-CN" sz="1800">
                <a:solidFill>
                  <a:schemeClr val="tx1"/>
                </a:solidFill>
                <a:sym typeface="+mn-ea"/>
              </a:rPr>
              <a:t>AdamW </a:t>
            </a:r>
            <a:r>
              <a:rPr lang="zh-CN" altLang="en-US" sz="1800">
                <a:solidFill>
                  <a:schemeClr val="tx1"/>
                </a:solidFill>
                <a:sym typeface="+mn-ea"/>
              </a:rPr>
              <a:t>优化器</a:t>
            </a:r>
            <a:endParaRPr lang="zh-CN" altLang="en-US" sz="1800">
              <a:solidFill>
                <a:schemeClr val="tx1"/>
              </a:solidFill>
              <a:sym typeface="+mn-ea"/>
            </a:endParaRPr>
          </a:p>
          <a:p>
            <a:pPr lvl="1">
              <a:lnSpc>
                <a:spcPct val="150000"/>
              </a:lnSpc>
            </a:pPr>
            <a:r>
              <a:rPr lang="zh-CN" altLang="en-US" sz="1800">
                <a:solidFill>
                  <a:schemeClr val="tx1"/>
                </a:solidFill>
                <a:latin typeface="Arial" panose="020B0604020202020204" pitchFamily="34" charset="0"/>
                <a:ea typeface="微软雅黑" panose="020B0503020204020204" charset="-122"/>
                <a:cs typeface="Arial" panose="020B0604020202020204" pitchFamily="34" charset="0"/>
                <a:sym typeface="+mn-ea"/>
              </a:rPr>
              <a:t>学习率设置</a:t>
            </a:r>
            <a:r>
              <a:rPr lang="en-US" altLang="zh-CN" sz="1800">
                <a:solidFill>
                  <a:schemeClr val="tx1"/>
                </a:solidFill>
                <a:latin typeface="Arial" panose="020B0604020202020204" pitchFamily="34" charset="0"/>
                <a:ea typeface="微软雅黑" panose="020B0503020204020204" charset="-122"/>
                <a:cs typeface="Arial" panose="020B0604020202020204" pitchFamily="34" charset="0"/>
                <a:sym typeface="+mn-ea"/>
              </a:rPr>
              <a:t> &amp; </a:t>
            </a:r>
            <a:r>
              <a:rPr lang="zh-CN" altLang="en-US" sz="1800">
                <a:solidFill>
                  <a:schemeClr val="tx1"/>
                </a:solidFill>
                <a:latin typeface="Arial" panose="020B0604020202020204" pitchFamily="34" charset="0"/>
                <a:ea typeface="微软雅黑" panose="020B0503020204020204" charset="-122"/>
                <a:cs typeface="Arial" panose="020B0604020202020204" pitchFamily="34" charset="0"/>
                <a:sym typeface="+mn-ea"/>
              </a:rPr>
              <a:t>学习率调度</a:t>
            </a:r>
            <a:endParaRPr lang="zh-CN" altLang="en-US" sz="1800">
              <a:solidFill>
                <a:schemeClr val="tx1"/>
              </a:solidFill>
              <a:latin typeface="Arial" panose="020B0604020202020204" pitchFamily="34" charset="0"/>
              <a:ea typeface="微软雅黑" panose="020B0503020204020204" charset="-122"/>
              <a:cs typeface="Arial" panose="020B0604020202020204" pitchFamily="34" charset="0"/>
              <a:sym typeface="+mn-ea"/>
            </a:endParaRPr>
          </a:p>
          <a:p>
            <a:pPr lvl="0">
              <a:lnSpc>
                <a:spcPct val="150000"/>
              </a:lnSpc>
            </a:pPr>
            <a:endParaRPr lang="zh-CN" altLang="en-US" sz="1800">
              <a:solidFill>
                <a:schemeClr val="tx1"/>
              </a:solidFill>
              <a:latin typeface="Arial" panose="020B0604020202020204" pitchFamily="34" charset="0"/>
              <a:ea typeface="微软雅黑" panose="020B0503020204020204" charset="-122"/>
              <a:cs typeface="Arial" panose="020B0604020202020204" pitchFamily="34" charset="0"/>
              <a:sym typeface="+mn-ea"/>
            </a:endParaRPr>
          </a:p>
        </p:txBody>
      </p:sp>
      <p:pic>
        <p:nvPicPr>
          <p:cNvPr id="10" name="图片 9"/>
          <p:cNvPicPr/>
          <p:nvPr/>
        </p:nvPicPr>
        <p:blipFill>
          <a:blip r:embed="rId3"/>
          <a:srcRect l="10147"/>
          <a:stretch>
            <a:fillRect/>
          </a:stretch>
        </p:blipFill>
        <p:spPr>
          <a:xfrm>
            <a:off x="7661910" y="1289685"/>
            <a:ext cx="3915410" cy="5128895"/>
          </a:xfrm>
          <a:prstGeom prst="rect">
            <a:avLst/>
          </a:prstGeom>
        </p:spPr>
      </p:pic>
      <p:cxnSp>
        <p:nvCxnSpPr>
          <p:cNvPr id="7" name="直接箭头连接符 6"/>
          <p:cNvCxnSpPr/>
          <p:nvPr/>
        </p:nvCxnSpPr>
        <p:spPr>
          <a:xfrm>
            <a:off x="6024245" y="2162175"/>
            <a:ext cx="2733675" cy="28575"/>
          </a:xfrm>
          <a:prstGeom prst="straightConnector1">
            <a:avLst/>
          </a:prstGeom>
          <a:ln w="19050">
            <a:solidFill>
              <a:srgbClr val="C00000"/>
            </a:solidFill>
            <a:tailEnd type="arrow"/>
          </a:ln>
        </p:spPr>
        <p:style>
          <a:lnRef idx="2">
            <a:schemeClr val="accent1"/>
          </a:lnRef>
          <a:fillRef idx="0">
            <a:srgbClr val="FFFFFF"/>
          </a:fillRef>
          <a:effectRef idx="0">
            <a:srgbClr val="FFFFFF"/>
          </a:effectRef>
          <a:fontRef idx="minor">
            <a:schemeClr val="tx1"/>
          </a:fontRef>
        </p:style>
      </p:cxnSp>
      <p:cxnSp>
        <p:nvCxnSpPr>
          <p:cNvPr id="8" name="直接箭头连接符 7"/>
          <p:cNvCxnSpPr/>
          <p:nvPr/>
        </p:nvCxnSpPr>
        <p:spPr>
          <a:xfrm>
            <a:off x="5052060" y="2645410"/>
            <a:ext cx="4077335" cy="488315"/>
          </a:xfrm>
          <a:prstGeom prst="straightConnector1">
            <a:avLst/>
          </a:prstGeom>
          <a:ln w="19050">
            <a:solidFill>
              <a:srgbClr val="C00000"/>
            </a:solidFill>
            <a:tailEnd type="arrow"/>
          </a:ln>
        </p:spPr>
        <p:style>
          <a:lnRef idx="2">
            <a:schemeClr val="accent1"/>
          </a:lnRef>
          <a:fillRef idx="0">
            <a:srgbClr val="FFFFFF"/>
          </a:fillRef>
          <a:effectRef idx="0">
            <a:srgbClr val="FFFFFF"/>
          </a:effectRef>
          <a:fontRef idx="minor">
            <a:schemeClr val="tx1"/>
          </a:fontRef>
        </p:style>
      </p:cxnSp>
      <p:cxnSp>
        <p:nvCxnSpPr>
          <p:cNvPr id="9" name="直接箭头连接符 8"/>
          <p:cNvCxnSpPr/>
          <p:nvPr/>
        </p:nvCxnSpPr>
        <p:spPr>
          <a:xfrm>
            <a:off x="4732020" y="3191510"/>
            <a:ext cx="3054350" cy="399415"/>
          </a:xfrm>
          <a:prstGeom prst="straightConnector1">
            <a:avLst/>
          </a:prstGeom>
          <a:ln w="19050">
            <a:solidFill>
              <a:srgbClr val="C00000"/>
            </a:solidFill>
            <a:tailEnd type="arrow"/>
          </a:ln>
        </p:spPr>
        <p:style>
          <a:lnRef idx="2">
            <a:schemeClr val="accent1"/>
          </a:lnRef>
          <a:fillRef idx="0">
            <a:srgbClr val="FFFFFF"/>
          </a:fillRef>
          <a:effectRef idx="0">
            <a:srgbClr val="FFFFFF"/>
          </a:effectRef>
          <a:fontRef idx="minor">
            <a:schemeClr val="tx1"/>
          </a:fontRef>
        </p:style>
      </p:cxnSp>
      <p:cxnSp>
        <p:nvCxnSpPr>
          <p:cNvPr id="13" name="直接箭头连接符 12"/>
          <p:cNvCxnSpPr/>
          <p:nvPr/>
        </p:nvCxnSpPr>
        <p:spPr>
          <a:xfrm>
            <a:off x="5176520" y="3736340"/>
            <a:ext cx="2760345" cy="602615"/>
          </a:xfrm>
          <a:prstGeom prst="straightConnector1">
            <a:avLst/>
          </a:prstGeom>
          <a:ln w="19050">
            <a:solidFill>
              <a:srgbClr val="C00000"/>
            </a:solidFill>
            <a:tailEnd type="arrow"/>
          </a:ln>
        </p:spPr>
        <p:style>
          <a:lnRef idx="2">
            <a:schemeClr val="accent1"/>
          </a:lnRef>
          <a:fillRef idx="0">
            <a:srgbClr val="FFFFFF"/>
          </a:fillRef>
          <a:effectRef idx="0">
            <a:srgbClr val="FFFFFF"/>
          </a:effectRef>
          <a:fontRef idx="minor">
            <a:schemeClr val="tx1"/>
          </a:fontRef>
        </p:style>
      </p:cxnSp>
      <p:sp>
        <p:nvSpPr>
          <p:cNvPr id="4" name="文本框 3"/>
          <p:cNvSpPr txBox="1"/>
          <p:nvPr/>
        </p:nvSpPr>
        <p:spPr>
          <a:xfrm>
            <a:off x="695325" y="6505575"/>
            <a:ext cx="3333750" cy="245110"/>
          </a:xfrm>
          <a:prstGeom prst="rect">
            <a:avLst/>
          </a:prstGeom>
          <a:noFill/>
        </p:spPr>
        <p:txBody>
          <a:bodyPr wrap="square" rtlCol="0">
            <a:spAutoFit/>
          </a:bodyPr>
          <a:p>
            <a:r>
              <a:rPr lang="zh-CN" altLang="en-US" sz="1000"/>
              <a:t>参考链接：</a:t>
            </a:r>
            <a:r>
              <a:rPr lang="en-US" altLang="zh-CN" sz="1000"/>
              <a:t>https://zhuanlan.zhihu.com/p/81886457827</a:t>
            </a:r>
            <a:endParaRPr lang="en-US" altLang="zh-CN" sz="1000"/>
          </a:p>
        </p:txBody>
      </p:sp>
    </p:spTree>
    <p:custDataLst>
      <p:tags r:id="rId4"/>
    </p:custData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608400" y="391865"/>
            <a:ext cx="10969200" cy="705600"/>
          </a:xfrm>
        </p:spPr>
        <p:txBody>
          <a:bodyPr/>
          <a:p>
            <a:r>
              <a:rPr lang="zh-CN" altLang="en-US"/>
              <a:t>丢弃令牌</a:t>
            </a:r>
            <a:r>
              <a:rPr lang="en-US" altLang="zh-CN"/>
              <a:t>(Token Dropping)</a:t>
            </a:r>
            <a:endParaRPr lang="en-US" altLang="zh-CN"/>
          </a:p>
        </p:txBody>
      </p:sp>
      <p:sp>
        <p:nvSpPr>
          <p:cNvPr id="3" name="内容占位符 2"/>
          <p:cNvSpPr>
            <a:spLocks noGrp="1"/>
          </p:cNvSpPr>
          <p:nvPr>
            <p:ph idx="1"/>
            <p:custDataLst>
              <p:tags r:id="rId2"/>
            </p:custDataLst>
          </p:nvPr>
        </p:nvSpPr>
        <p:spPr>
          <a:xfrm>
            <a:off x="608330" y="1847850"/>
            <a:ext cx="7666990" cy="4334510"/>
          </a:xfrm>
        </p:spPr>
        <p:txBody>
          <a:bodyPr>
            <a:noAutofit/>
          </a:bodyPr>
          <a:p>
            <a:pPr>
              <a:lnSpc>
                <a:spcPct val="140000"/>
              </a:lnSpc>
              <a:spcAft>
                <a:spcPts val="0"/>
              </a:spcAft>
            </a:pPr>
            <a:r>
              <a:rPr lang="zh-CN" altLang="en-US" sz="1600">
                <a:solidFill>
                  <a:schemeClr val="tx1"/>
                </a:solidFill>
                <a:latin typeface="Arial" panose="020B0604020202020204" pitchFamily="34" charset="0"/>
                <a:ea typeface="微软雅黑" panose="020B0503020204020204" charset="-122"/>
                <a:cs typeface="Arial" panose="020B0604020202020204" pitchFamily="34" charset="0"/>
                <a:sym typeface="+mn-ea"/>
              </a:rPr>
              <a:t>丢弃令牌：分配给已达到容量上线的专家的</a:t>
            </a:r>
            <a:r>
              <a:rPr lang="en-US" altLang="zh-CN" sz="1600">
                <a:solidFill>
                  <a:schemeClr val="tx1"/>
                </a:solidFill>
                <a:latin typeface="Arial" panose="020B0604020202020204" pitchFamily="34" charset="0"/>
                <a:ea typeface="微软雅黑" panose="020B0503020204020204" charset="-122"/>
                <a:cs typeface="Arial" panose="020B0604020202020204" pitchFamily="34" charset="0"/>
                <a:sym typeface="+mn-ea"/>
              </a:rPr>
              <a:t>token</a:t>
            </a:r>
            <a:endParaRPr lang="en-US" altLang="zh-CN" sz="1600">
              <a:solidFill>
                <a:schemeClr val="tx1"/>
              </a:solidFill>
              <a:latin typeface="Arial" panose="020B0604020202020204" pitchFamily="34" charset="0"/>
              <a:ea typeface="微软雅黑" panose="020B0503020204020204" charset="-122"/>
              <a:cs typeface="Arial" panose="020B0604020202020204" pitchFamily="34" charset="0"/>
              <a:sym typeface="+mn-ea"/>
            </a:endParaRPr>
          </a:p>
          <a:p>
            <a:pPr>
              <a:lnSpc>
                <a:spcPct val="140000"/>
              </a:lnSpc>
              <a:spcAft>
                <a:spcPts val="0"/>
              </a:spcAft>
            </a:pPr>
            <a:r>
              <a:rPr lang="zh-CN" altLang="en-US" sz="1600" b="1">
                <a:solidFill>
                  <a:schemeClr val="tx1"/>
                </a:solidFill>
                <a:latin typeface="Arial" panose="020B0604020202020204" pitchFamily="34" charset="0"/>
                <a:ea typeface="微软雅黑" panose="020B0503020204020204" charset="-122"/>
                <a:cs typeface="Arial" panose="020B0604020202020204" pitchFamily="34" charset="0"/>
                <a:sym typeface="+mn-ea"/>
              </a:rPr>
              <a:t>丢弃令牌的影响</a:t>
            </a:r>
            <a:endParaRPr lang="zh-CN" altLang="en-US" sz="1600" b="1">
              <a:solidFill>
                <a:schemeClr val="tx1"/>
              </a:solidFill>
              <a:latin typeface="Arial" panose="020B0604020202020204" pitchFamily="34" charset="0"/>
              <a:ea typeface="微软雅黑" panose="020B0503020204020204" charset="-122"/>
              <a:cs typeface="Arial" panose="020B0604020202020204" pitchFamily="34" charset="0"/>
              <a:sym typeface="+mn-ea"/>
            </a:endParaRPr>
          </a:p>
          <a:p>
            <a:pPr lvl="1">
              <a:lnSpc>
                <a:spcPct val="140000"/>
              </a:lnSpc>
              <a:spcAft>
                <a:spcPts val="0"/>
              </a:spcAft>
            </a:pPr>
            <a:r>
              <a:rPr lang="zh-CN" altLang="en-US">
                <a:solidFill>
                  <a:schemeClr val="tx1"/>
                </a:solidFill>
                <a:latin typeface="Arial" panose="020B0604020202020204" pitchFamily="34" charset="0"/>
                <a:ea typeface="微软雅黑" panose="020B0503020204020204" charset="-122"/>
                <a:cs typeface="Arial" panose="020B0604020202020204" pitchFamily="34" charset="0"/>
                <a:sym typeface="+mn-ea"/>
              </a:rPr>
              <a:t>专业化能力受损：</a:t>
            </a:r>
            <a:r>
              <a:rPr lang="en-US" altLang="zh-CN">
                <a:solidFill>
                  <a:schemeClr val="tx1"/>
                </a:solidFill>
                <a:latin typeface="Arial" panose="020B0604020202020204" pitchFamily="34" charset="0"/>
                <a:ea typeface="微软雅黑" panose="020B0503020204020204" charset="-122"/>
                <a:cs typeface="Arial" panose="020B0604020202020204" pitchFamily="34" charset="0"/>
                <a:sym typeface="+mn-ea"/>
              </a:rPr>
              <a:t>token</a:t>
            </a:r>
            <a:r>
              <a:rPr lang="zh-CN" altLang="en-US">
                <a:solidFill>
                  <a:schemeClr val="tx1"/>
                </a:solidFill>
                <a:latin typeface="Arial" panose="020B0604020202020204" pitchFamily="34" charset="0"/>
                <a:ea typeface="微软雅黑" panose="020B0503020204020204" charset="-122"/>
                <a:cs typeface="Arial" panose="020B0604020202020204" pitchFamily="34" charset="0"/>
                <a:sym typeface="+mn-ea"/>
              </a:rPr>
              <a:t>错过了由专业专家处理的潜在益处，可能降低模型质量。</a:t>
            </a:r>
            <a:endParaRPr lang="zh-CN" altLang="en-US">
              <a:solidFill>
                <a:schemeClr val="tx1"/>
              </a:solidFill>
              <a:latin typeface="Arial" panose="020B0604020202020204" pitchFamily="34" charset="0"/>
              <a:ea typeface="微软雅黑" panose="020B0503020204020204" charset="-122"/>
              <a:cs typeface="Arial" panose="020B0604020202020204" pitchFamily="34" charset="0"/>
              <a:sym typeface="+mn-ea"/>
            </a:endParaRPr>
          </a:p>
          <a:p>
            <a:pPr lvl="1">
              <a:lnSpc>
                <a:spcPct val="140000"/>
              </a:lnSpc>
              <a:spcAft>
                <a:spcPts val="0"/>
              </a:spcAft>
            </a:pPr>
            <a:r>
              <a:rPr lang="zh-CN" altLang="en-US">
                <a:solidFill>
                  <a:schemeClr val="tx1"/>
                </a:solidFill>
                <a:latin typeface="Arial" panose="020B0604020202020204" pitchFamily="34" charset="0"/>
                <a:ea typeface="微软雅黑" panose="020B0503020204020204" charset="-122"/>
                <a:cs typeface="Arial" panose="020B0604020202020204" pitchFamily="34" charset="0"/>
                <a:sym typeface="+mn-ea"/>
              </a:rPr>
              <a:t>学习信号减弱：不会提供梯度信号来更新分配给它的专家权重</a:t>
            </a:r>
            <a:endParaRPr lang="en-US" altLang="zh-CN">
              <a:solidFill>
                <a:schemeClr val="tx1"/>
              </a:solidFill>
              <a:latin typeface="Arial" panose="020B0604020202020204" pitchFamily="34" charset="0"/>
              <a:ea typeface="微软雅黑" panose="020B0503020204020204" charset="-122"/>
              <a:cs typeface="Arial" panose="020B0604020202020204" pitchFamily="34" charset="0"/>
              <a:sym typeface="+mn-ea"/>
            </a:endParaRPr>
          </a:p>
          <a:p>
            <a:pPr lvl="1">
              <a:lnSpc>
                <a:spcPct val="140000"/>
              </a:lnSpc>
              <a:spcAft>
                <a:spcPts val="0"/>
              </a:spcAft>
            </a:pPr>
            <a:r>
              <a:rPr lang="zh-CN" altLang="en-US">
                <a:solidFill>
                  <a:schemeClr val="tx1"/>
                </a:solidFill>
                <a:latin typeface="Arial" panose="020B0604020202020204" pitchFamily="34" charset="0"/>
                <a:ea typeface="微软雅黑" panose="020B0503020204020204" charset="-122"/>
                <a:cs typeface="Arial" panose="020B0604020202020204" pitchFamily="34" charset="0"/>
                <a:sym typeface="+mn-ea"/>
              </a:rPr>
              <a:t>负载不均衡的迹象：丢弃令牌的百分比很高</a:t>
            </a:r>
            <a:endParaRPr lang="zh-CN" altLang="en-US">
              <a:solidFill>
                <a:schemeClr val="tx1"/>
              </a:solidFill>
              <a:latin typeface="Arial" panose="020B0604020202020204" pitchFamily="34" charset="0"/>
              <a:ea typeface="微软雅黑" panose="020B0503020204020204" charset="-122"/>
              <a:cs typeface="Arial" panose="020B0604020202020204" pitchFamily="34" charset="0"/>
              <a:sym typeface="+mn-ea"/>
            </a:endParaRPr>
          </a:p>
          <a:p>
            <a:pPr lvl="0">
              <a:lnSpc>
                <a:spcPct val="140000"/>
              </a:lnSpc>
              <a:spcAft>
                <a:spcPts val="0"/>
              </a:spcAft>
            </a:pPr>
            <a:r>
              <a:rPr lang="zh-CN" altLang="en-US" sz="1600" b="1">
                <a:solidFill>
                  <a:schemeClr val="tx1"/>
                </a:solidFill>
                <a:latin typeface="Arial" panose="020B0604020202020204" pitchFamily="34" charset="0"/>
                <a:ea typeface="微软雅黑" panose="020B0503020204020204" charset="-122"/>
                <a:cs typeface="Arial" panose="020B0604020202020204" pitchFamily="34" charset="0"/>
                <a:sym typeface="+mn-ea"/>
              </a:rPr>
              <a:t>预防过度丢弃的策略</a:t>
            </a:r>
            <a:endParaRPr lang="zh-CN" altLang="en-US" sz="1600" b="1">
              <a:solidFill>
                <a:schemeClr val="tx1"/>
              </a:solidFill>
              <a:latin typeface="Arial" panose="020B0604020202020204" pitchFamily="34" charset="0"/>
              <a:ea typeface="微软雅黑" panose="020B0503020204020204" charset="-122"/>
              <a:cs typeface="Arial" panose="020B0604020202020204" pitchFamily="34" charset="0"/>
              <a:sym typeface="+mn-ea"/>
            </a:endParaRPr>
          </a:p>
          <a:p>
            <a:pPr lvl="1">
              <a:lnSpc>
                <a:spcPct val="140000"/>
              </a:lnSpc>
              <a:spcAft>
                <a:spcPts val="0"/>
              </a:spcAft>
            </a:pPr>
            <a:r>
              <a:rPr lang="zh-CN" altLang="en-US">
                <a:solidFill>
                  <a:schemeClr val="tx1"/>
                </a:solidFill>
                <a:latin typeface="Arial" panose="020B0604020202020204" pitchFamily="34" charset="0"/>
                <a:ea typeface="微软雅黑" panose="020B0503020204020204" charset="-122"/>
                <a:cs typeface="Arial" panose="020B0604020202020204" pitchFamily="34" charset="0"/>
                <a:sym typeface="+mn-ea"/>
              </a:rPr>
              <a:t>设置合理的专家容量</a:t>
            </a:r>
            <a:endParaRPr lang="zh-CN" altLang="en-US">
              <a:solidFill>
                <a:schemeClr val="tx1"/>
              </a:solidFill>
              <a:latin typeface="Arial" panose="020B0604020202020204" pitchFamily="34" charset="0"/>
              <a:ea typeface="微软雅黑" panose="020B0503020204020204" charset="-122"/>
              <a:cs typeface="Arial" panose="020B0604020202020204" pitchFamily="34" charset="0"/>
              <a:sym typeface="+mn-ea"/>
            </a:endParaRPr>
          </a:p>
          <a:p>
            <a:pPr lvl="1">
              <a:lnSpc>
                <a:spcPct val="140000"/>
              </a:lnSpc>
              <a:spcAft>
                <a:spcPts val="0"/>
              </a:spcAft>
            </a:pPr>
            <a:r>
              <a:rPr lang="zh-CN" altLang="en-US">
                <a:solidFill>
                  <a:schemeClr val="tx1"/>
                </a:solidFill>
                <a:latin typeface="Arial" panose="020B0604020202020204" pitchFamily="34" charset="0"/>
                <a:ea typeface="微软雅黑" panose="020B0503020204020204" charset="-122"/>
                <a:cs typeface="Arial" panose="020B0604020202020204" pitchFamily="34" charset="0"/>
                <a:sym typeface="+mn-ea"/>
              </a:rPr>
              <a:t>负载均衡损失</a:t>
            </a:r>
            <a:endParaRPr lang="zh-CN" altLang="en-US">
              <a:solidFill>
                <a:schemeClr val="tx1"/>
              </a:solidFill>
              <a:latin typeface="Arial" panose="020B0604020202020204" pitchFamily="34" charset="0"/>
              <a:ea typeface="微软雅黑" panose="020B0503020204020204" charset="-122"/>
              <a:cs typeface="Arial" panose="020B0604020202020204" pitchFamily="34" charset="0"/>
              <a:sym typeface="+mn-ea"/>
            </a:endParaRPr>
          </a:p>
          <a:p>
            <a:pPr lvl="0">
              <a:lnSpc>
                <a:spcPct val="140000"/>
              </a:lnSpc>
              <a:spcAft>
                <a:spcPts val="0"/>
              </a:spcAft>
            </a:pPr>
            <a:r>
              <a:rPr lang="zh-CN" altLang="en-US" sz="1600">
                <a:solidFill>
                  <a:schemeClr val="tx1"/>
                </a:solidFill>
                <a:latin typeface="Arial" panose="020B0604020202020204" pitchFamily="34" charset="0"/>
                <a:ea typeface="微软雅黑" panose="020B0503020204020204" charset="-122"/>
                <a:cs typeface="Arial" panose="020B0604020202020204" pitchFamily="34" charset="0"/>
                <a:sym typeface="+mn-ea"/>
              </a:rPr>
              <a:t>监控丢弃令牌：</a:t>
            </a:r>
            <a:r>
              <a:rPr lang="zh-CN" altLang="en-US" sz="1600">
                <a:solidFill>
                  <a:schemeClr val="tx1"/>
                </a:solidFill>
                <a:sym typeface="+mn-ea"/>
              </a:rPr>
              <a:t>监控每个</a:t>
            </a:r>
            <a:r>
              <a:rPr lang="en-US" altLang="zh-CN" sz="1600">
                <a:solidFill>
                  <a:schemeClr val="tx1"/>
                </a:solidFill>
                <a:sym typeface="+mn-ea"/>
              </a:rPr>
              <a:t> MoE </a:t>
            </a:r>
            <a:r>
              <a:rPr lang="zh-CN" altLang="en-US" sz="1600">
                <a:solidFill>
                  <a:schemeClr val="tx1"/>
                </a:solidFill>
                <a:sym typeface="+mn-ea"/>
              </a:rPr>
              <a:t>层或整个模型平均的丢弃令牌百分比</a:t>
            </a:r>
            <a:endParaRPr lang="zh-CN" altLang="en-US" sz="1600">
              <a:solidFill>
                <a:schemeClr val="tx1"/>
              </a:solidFill>
              <a:sym typeface="+mn-ea"/>
            </a:endParaRPr>
          </a:p>
          <a:p>
            <a:pPr lvl="0">
              <a:lnSpc>
                <a:spcPct val="140000"/>
              </a:lnSpc>
              <a:spcAft>
                <a:spcPts val="0"/>
              </a:spcAft>
            </a:pPr>
            <a:r>
              <a:rPr lang="zh-CN" altLang="en-US" sz="1600">
                <a:solidFill>
                  <a:schemeClr val="tx1"/>
                </a:solidFill>
                <a:latin typeface="Arial" panose="020B0604020202020204" pitchFamily="34" charset="0"/>
                <a:ea typeface="微软雅黑" panose="020B0503020204020204" charset="-122"/>
                <a:cs typeface="Arial" panose="020B0604020202020204" pitchFamily="34" charset="0"/>
                <a:sym typeface="+mn-ea"/>
              </a:rPr>
              <a:t>丢弃令牌的安全性</a:t>
            </a:r>
            <a:endParaRPr lang="zh-CN" altLang="en-US" sz="1600">
              <a:solidFill>
                <a:schemeClr val="tx1"/>
              </a:solidFill>
              <a:latin typeface="Arial" panose="020B0604020202020204" pitchFamily="34" charset="0"/>
              <a:ea typeface="微软雅黑" panose="020B0503020204020204" charset="-122"/>
              <a:cs typeface="Arial" panose="020B0604020202020204" pitchFamily="34" charset="0"/>
              <a:sym typeface="+mn-ea"/>
            </a:endParaRPr>
          </a:p>
        </p:txBody>
      </p:sp>
      <p:pic>
        <p:nvPicPr>
          <p:cNvPr id="5" name="图片 4"/>
          <p:cNvPicPr/>
          <p:nvPr/>
        </p:nvPicPr>
        <p:blipFill>
          <a:blip r:embed="rId3"/>
          <a:stretch>
            <a:fillRect/>
          </a:stretch>
        </p:blipFill>
        <p:spPr>
          <a:xfrm>
            <a:off x="8618855" y="1456690"/>
            <a:ext cx="3397250" cy="2140585"/>
          </a:xfrm>
          <a:prstGeom prst="rect">
            <a:avLst/>
          </a:prstGeom>
        </p:spPr>
      </p:pic>
      <p:pic>
        <p:nvPicPr>
          <p:cNvPr id="6" name="图片 5"/>
          <p:cNvPicPr>
            <a:picLocks noChangeAspect="1"/>
          </p:cNvPicPr>
          <p:nvPr>
            <p:custDataLst>
              <p:tags r:id="rId4"/>
            </p:custDataLst>
          </p:nvPr>
        </p:nvPicPr>
        <p:blipFill>
          <a:blip r:embed="rId5"/>
          <a:srcRect l="3945" t="1934" r="2770" b="9945"/>
          <a:stretch>
            <a:fillRect/>
          </a:stretch>
        </p:blipFill>
        <p:spPr>
          <a:xfrm>
            <a:off x="10091420" y="3956685"/>
            <a:ext cx="1557020" cy="320675"/>
          </a:xfrm>
          <a:prstGeom prst="rect">
            <a:avLst/>
          </a:prstGeom>
        </p:spPr>
      </p:pic>
      <p:pic>
        <p:nvPicPr>
          <p:cNvPr id="7" name="图片 6"/>
          <p:cNvPicPr>
            <a:picLocks noChangeAspect="1"/>
          </p:cNvPicPr>
          <p:nvPr>
            <p:custDataLst>
              <p:tags r:id="rId6"/>
            </p:custDataLst>
          </p:nvPr>
        </p:nvPicPr>
        <p:blipFill>
          <a:blip r:embed="rId7"/>
          <a:stretch>
            <a:fillRect/>
          </a:stretch>
        </p:blipFill>
        <p:spPr>
          <a:xfrm>
            <a:off x="9454515" y="4769485"/>
            <a:ext cx="2287270" cy="313055"/>
          </a:xfrm>
          <a:prstGeom prst="rect">
            <a:avLst/>
          </a:prstGeom>
        </p:spPr>
      </p:pic>
      <p:sp>
        <p:nvSpPr>
          <p:cNvPr id="9" name="文本框 8"/>
          <p:cNvSpPr txBox="1"/>
          <p:nvPr>
            <p:custDataLst>
              <p:tags r:id="rId8"/>
            </p:custDataLst>
          </p:nvPr>
        </p:nvSpPr>
        <p:spPr>
          <a:xfrm>
            <a:off x="8669020" y="4342765"/>
            <a:ext cx="3307715" cy="312420"/>
          </a:xfrm>
          <a:prstGeom prst="rect">
            <a:avLst/>
          </a:prstGeom>
          <a:noFill/>
        </p:spPr>
        <p:txBody>
          <a:bodyPr wrap="square" rtlCol="0">
            <a:noAutofit/>
          </a:bodyPr>
          <a:p>
            <a:r>
              <a:rPr lang="zh-CN" altLang="en-US" sz="1600"/>
              <a:t>成功路由并由专家处理的</a:t>
            </a:r>
            <a:r>
              <a:rPr lang="en-US" altLang="zh-CN" sz="1600"/>
              <a:t>token</a:t>
            </a:r>
            <a:r>
              <a:rPr lang="zh-CN" altLang="en-US" sz="1600"/>
              <a:t>：</a:t>
            </a:r>
            <a:endParaRPr lang="zh-CN" altLang="en-US" sz="1600"/>
          </a:p>
        </p:txBody>
      </p:sp>
      <p:pic>
        <p:nvPicPr>
          <p:cNvPr id="11" name="图片 10"/>
          <p:cNvPicPr>
            <a:picLocks noChangeAspect="1"/>
          </p:cNvPicPr>
          <p:nvPr>
            <p:custDataLst>
              <p:tags r:id="rId9"/>
            </p:custDataLst>
          </p:nvPr>
        </p:nvPicPr>
        <p:blipFill>
          <a:blip r:embed="rId10"/>
          <a:stretch>
            <a:fillRect/>
          </a:stretch>
        </p:blipFill>
        <p:spPr>
          <a:xfrm>
            <a:off x="10188575" y="5196205"/>
            <a:ext cx="1362710" cy="313690"/>
          </a:xfrm>
          <a:prstGeom prst="rect">
            <a:avLst/>
          </a:prstGeom>
        </p:spPr>
      </p:pic>
      <p:sp>
        <p:nvSpPr>
          <p:cNvPr id="12" name="文本框 11"/>
          <p:cNvSpPr txBox="1"/>
          <p:nvPr>
            <p:custDataLst>
              <p:tags r:id="rId11"/>
            </p:custDataLst>
          </p:nvPr>
        </p:nvSpPr>
        <p:spPr>
          <a:xfrm>
            <a:off x="8669020" y="5196205"/>
            <a:ext cx="1762125" cy="312420"/>
          </a:xfrm>
          <a:prstGeom prst="rect">
            <a:avLst/>
          </a:prstGeom>
          <a:noFill/>
        </p:spPr>
        <p:txBody>
          <a:bodyPr wrap="square" rtlCol="0">
            <a:noAutofit/>
          </a:bodyPr>
          <a:p>
            <a:r>
              <a:rPr lang="zh-CN" altLang="en-US" sz="1600"/>
              <a:t>被丢弃的</a:t>
            </a:r>
            <a:r>
              <a:rPr lang="en-US" altLang="zh-CN" sz="1600"/>
              <a:t>token</a:t>
            </a:r>
            <a:r>
              <a:rPr lang="zh-CN" altLang="en-US" sz="1600"/>
              <a:t>：</a:t>
            </a:r>
            <a:endParaRPr lang="zh-CN" altLang="en-US" sz="1600"/>
          </a:p>
        </p:txBody>
      </p:sp>
      <p:sp>
        <p:nvSpPr>
          <p:cNvPr id="13" name="文本框 12"/>
          <p:cNvSpPr txBox="1"/>
          <p:nvPr>
            <p:custDataLst>
              <p:tags r:id="rId12"/>
            </p:custDataLst>
          </p:nvPr>
        </p:nvSpPr>
        <p:spPr>
          <a:xfrm>
            <a:off x="8669020" y="3956685"/>
            <a:ext cx="1579880" cy="312420"/>
          </a:xfrm>
          <a:prstGeom prst="rect">
            <a:avLst/>
          </a:prstGeom>
          <a:noFill/>
        </p:spPr>
        <p:txBody>
          <a:bodyPr wrap="square" rtlCol="0">
            <a:noAutofit/>
          </a:bodyPr>
          <a:p>
            <a:r>
              <a:rPr lang="zh-CN" altLang="en-US" sz="1600"/>
              <a:t>一个</a:t>
            </a:r>
            <a:r>
              <a:rPr lang="en-US" altLang="zh-CN" sz="1600"/>
              <a:t>MOE</a:t>
            </a:r>
            <a:r>
              <a:rPr lang="zh-CN" altLang="en-US" sz="1600"/>
              <a:t>层：</a:t>
            </a:r>
            <a:endParaRPr lang="zh-CN" altLang="en-US" sz="1600"/>
          </a:p>
        </p:txBody>
      </p:sp>
      <p:sp>
        <p:nvSpPr>
          <p:cNvPr id="14" name="矩形 13"/>
          <p:cNvSpPr/>
          <p:nvPr>
            <p:custDataLst>
              <p:tags r:id="rId13"/>
            </p:custDataLst>
          </p:nvPr>
        </p:nvSpPr>
        <p:spPr>
          <a:xfrm>
            <a:off x="8618855" y="3846830"/>
            <a:ext cx="3281680" cy="1726565"/>
          </a:xfrm>
          <a:prstGeom prst="rect">
            <a:avLst/>
          </a:prstGeom>
          <a:noFill/>
          <a:ln w="19050">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6" name="图片 15"/>
          <p:cNvPicPr>
            <a:picLocks noChangeAspect="1"/>
          </p:cNvPicPr>
          <p:nvPr/>
        </p:nvPicPr>
        <p:blipFill>
          <a:blip r:embed="rId14"/>
          <a:srcRect l="64" t="16365" r="-836" b="16064"/>
          <a:stretch>
            <a:fillRect/>
          </a:stretch>
        </p:blipFill>
        <p:spPr>
          <a:xfrm>
            <a:off x="3585210" y="4274185"/>
            <a:ext cx="1989455" cy="427355"/>
          </a:xfrm>
          <a:prstGeom prst="rect">
            <a:avLst/>
          </a:prstGeom>
        </p:spPr>
      </p:pic>
      <p:sp>
        <p:nvSpPr>
          <p:cNvPr id="17" name="文本框 16"/>
          <p:cNvSpPr txBox="1"/>
          <p:nvPr/>
        </p:nvSpPr>
        <p:spPr>
          <a:xfrm>
            <a:off x="564515" y="1548765"/>
            <a:ext cx="7487285" cy="337185"/>
          </a:xfrm>
          <a:prstGeom prst="rect">
            <a:avLst/>
          </a:prstGeom>
          <a:noFill/>
        </p:spPr>
        <p:txBody>
          <a:bodyPr wrap="square" rtlCol="0" anchor="t">
            <a:spAutoFit/>
          </a:bodyPr>
          <a:p>
            <a:pPr marL="285750" indent="-285750">
              <a:buFont typeface="Wingdings" panose="05000000000000000000" charset="0"/>
              <a:buChar char="l"/>
            </a:pPr>
            <a:r>
              <a:rPr lang="zh-CN" altLang="en-US" sz="1600">
                <a:latin typeface="Arial" panose="020B0604020202020204" pitchFamily="34" charset="0"/>
                <a:ea typeface="微软雅黑" panose="020B0503020204020204" charset="-122"/>
                <a:cs typeface="Arial" panose="020B0604020202020204" pitchFamily="34" charset="0"/>
                <a:sym typeface="+mn-ea"/>
              </a:rPr>
              <a:t>专家容量</a:t>
            </a:r>
            <a:r>
              <a:rPr lang="en-US" altLang="zh-CN" sz="1600">
                <a:latin typeface="Arial" panose="020B0604020202020204" pitchFamily="34" charset="0"/>
                <a:ea typeface="微软雅黑" panose="020B0503020204020204" charset="-122"/>
                <a:cs typeface="Arial" panose="020B0604020202020204" pitchFamily="34" charset="0"/>
                <a:sym typeface="+mn-ea"/>
              </a:rPr>
              <a:t> (Expert Capacity)</a:t>
            </a:r>
            <a:r>
              <a:rPr lang="zh-CN" altLang="en-US" sz="1600">
                <a:latin typeface="Arial" panose="020B0604020202020204" pitchFamily="34" charset="0"/>
                <a:ea typeface="微软雅黑" panose="020B0503020204020204" charset="-122"/>
                <a:cs typeface="Arial" panose="020B0604020202020204" pitchFamily="34" charset="0"/>
                <a:sym typeface="+mn-ea"/>
              </a:rPr>
              <a:t>：为每个专家分配的一个可以处理最大</a:t>
            </a:r>
            <a:r>
              <a:rPr lang="en-US" altLang="zh-CN" sz="1600">
                <a:latin typeface="Arial" panose="020B0604020202020204" pitchFamily="34" charset="0"/>
                <a:ea typeface="微软雅黑" panose="020B0503020204020204" charset="-122"/>
                <a:cs typeface="Arial" panose="020B0604020202020204" pitchFamily="34" charset="0"/>
                <a:sym typeface="+mn-ea"/>
              </a:rPr>
              <a:t>token</a:t>
            </a:r>
            <a:r>
              <a:rPr lang="zh-CN" altLang="en-US" sz="1600">
                <a:latin typeface="Arial" panose="020B0604020202020204" pitchFamily="34" charset="0"/>
                <a:ea typeface="微软雅黑" panose="020B0503020204020204" charset="-122"/>
                <a:cs typeface="Arial" panose="020B0604020202020204" pitchFamily="34" charset="0"/>
                <a:sym typeface="+mn-ea"/>
              </a:rPr>
              <a:t>数量</a:t>
            </a:r>
            <a:endParaRPr lang="zh-CN" altLang="en-US" sz="1600">
              <a:latin typeface="Arial" panose="020B0604020202020204" pitchFamily="34" charset="0"/>
              <a:ea typeface="微软雅黑" panose="020B0503020204020204" charset="-122"/>
              <a:cs typeface="Arial" panose="020B0604020202020204" pitchFamily="34" charset="0"/>
              <a:sym typeface="+mn-ea"/>
            </a:endParaRPr>
          </a:p>
        </p:txBody>
      </p:sp>
      <p:sp>
        <p:nvSpPr>
          <p:cNvPr id="4" name="文本框 3"/>
          <p:cNvSpPr txBox="1"/>
          <p:nvPr/>
        </p:nvSpPr>
        <p:spPr>
          <a:xfrm>
            <a:off x="695325" y="6505575"/>
            <a:ext cx="3333750" cy="245110"/>
          </a:xfrm>
          <a:prstGeom prst="rect">
            <a:avLst/>
          </a:prstGeom>
          <a:noFill/>
        </p:spPr>
        <p:txBody>
          <a:bodyPr wrap="square" rtlCol="0">
            <a:spAutoFit/>
          </a:bodyPr>
          <a:p>
            <a:r>
              <a:rPr lang="zh-CN" altLang="en-US" sz="1000"/>
              <a:t>参考链接：</a:t>
            </a:r>
            <a:r>
              <a:rPr lang="en-US" altLang="zh-CN" sz="1000"/>
              <a:t>https://zhuanlan.zhihu.com/p/81886457827</a:t>
            </a:r>
            <a:endParaRPr lang="en-US" altLang="zh-CN" sz="1000"/>
          </a:p>
        </p:txBody>
      </p:sp>
    </p:spTree>
    <p:custDataLst>
      <p:tags r:id="rId15"/>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P spid="13" grpId="0"/>
      <p:bldP spid="14" grpId="0" bldLvl="0" animBg="1"/>
      <p:bldP spid="9" grpId="1"/>
      <p:bldP spid="12" grpId="1"/>
      <p:bldP spid="13" grpId="1"/>
      <p:bldP spid="14"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MOE</a:t>
            </a:r>
            <a:r>
              <a:rPr lang="zh-CN" altLang="en-US"/>
              <a:t>稳定训练</a:t>
            </a:r>
            <a:r>
              <a:rPr lang="zh-CN" altLang="en-US"/>
              <a:t>与优化</a:t>
            </a:r>
            <a:r>
              <a:rPr lang="zh-CN" altLang="en-US"/>
              <a:t>策略</a:t>
            </a:r>
            <a:endParaRPr lang="zh-CN" altLang="en-US"/>
          </a:p>
        </p:txBody>
      </p:sp>
      <p:sp>
        <p:nvSpPr>
          <p:cNvPr id="3" name="内容占位符 2"/>
          <p:cNvSpPr>
            <a:spLocks noGrp="1"/>
          </p:cNvSpPr>
          <p:nvPr>
            <p:ph idx="1"/>
            <p:custDataLst>
              <p:tags r:id="rId2"/>
            </p:custDataLst>
          </p:nvPr>
        </p:nvSpPr>
        <p:spPr>
          <a:xfrm>
            <a:off x="608330" y="1800860"/>
            <a:ext cx="10968990" cy="2915285"/>
          </a:xfrm>
        </p:spPr>
        <p:txBody>
          <a:bodyPr>
            <a:noAutofit/>
          </a:bodyPr>
          <a:p>
            <a:pPr lvl="0">
              <a:lnSpc>
                <a:spcPct val="150000"/>
              </a:lnSpc>
            </a:pPr>
            <a:r>
              <a:rPr lang="zh-CN" altLang="en-US">
                <a:solidFill>
                  <a:schemeClr val="tx1"/>
                </a:solidFill>
                <a:latin typeface="Arial" panose="020B0604020202020204" pitchFamily="34" charset="0"/>
                <a:ea typeface="微软雅黑" panose="020B0503020204020204" charset="-122"/>
                <a:cs typeface="Arial" panose="020B0604020202020204" pitchFamily="34" charset="0"/>
                <a:sym typeface="+mn-ea"/>
              </a:rPr>
              <a:t>路由器</a:t>
            </a:r>
            <a:r>
              <a:rPr lang="zh-CN" altLang="en-US" b="1">
                <a:solidFill>
                  <a:schemeClr val="tx1"/>
                </a:solidFill>
                <a:latin typeface="Arial" panose="020B0604020202020204" pitchFamily="34" charset="0"/>
                <a:ea typeface="微软雅黑" panose="020B0503020204020204" charset="-122"/>
                <a:cs typeface="Arial" panose="020B0604020202020204" pitchFamily="34" charset="0"/>
                <a:sym typeface="+mn-ea"/>
              </a:rPr>
              <a:t>参数</a:t>
            </a:r>
            <a:r>
              <a:rPr lang="zh-CN" altLang="en-US">
                <a:solidFill>
                  <a:schemeClr val="tx1"/>
                </a:solidFill>
                <a:latin typeface="Arial" panose="020B0604020202020204" pitchFamily="34" charset="0"/>
                <a:ea typeface="微软雅黑" panose="020B0503020204020204" charset="-122"/>
                <a:cs typeface="Arial" panose="020B0604020202020204" pitchFamily="34" charset="0"/>
                <a:sym typeface="+mn-ea"/>
              </a:rPr>
              <a:t>正则化</a:t>
            </a:r>
            <a:r>
              <a:rPr lang="en-US" altLang="zh-CN">
                <a:solidFill>
                  <a:schemeClr val="tx1"/>
                </a:solidFill>
                <a:latin typeface="Arial" panose="020B0604020202020204" pitchFamily="34" charset="0"/>
                <a:ea typeface="微软雅黑" panose="020B0503020204020204" charset="-122"/>
                <a:cs typeface="Arial" panose="020B0604020202020204" pitchFamily="34" charset="0"/>
                <a:sym typeface="+mn-ea"/>
              </a:rPr>
              <a:t>(L2)</a:t>
            </a:r>
            <a:r>
              <a:rPr lang="zh-CN" altLang="en-US">
                <a:solidFill>
                  <a:schemeClr val="tx1"/>
                </a:solidFill>
                <a:latin typeface="Arial" panose="020B0604020202020204" pitchFamily="34" charset="0"/>
                <a:ea typeface="微软雅黑" panose="020B0503020204020204" charset="-122"/>
                <a:cs typeface="Arial" panose="020B0604020202020204" pitchFamily="34" charset="0"/>
                <a:sym typeface="+mn-ea"/>
              </a:rPr>
              <a:t>：权重衰减</a:t>
            </a:r>
            <a:r>
              <a:rPr lang="en-US" altLang="zh-CN">
                <a:solidFill>
                  <a:schemeClr val="tx1"/>
                </a:solidFill>
                <a:latin typeface="Arial" panose="020B0604020202020204" pitchFamily="34" charset="0"/>
                <a:ea typeface="微软雅黑" panose="020B0503020204020204" charset="-122"/>
                <a:cs typeface="Arial" panose="020B0604020202020204" pitchFamily="34" charset="0"/>
                <a:sym typeface="+mn-ea"/>
              </a:rPr>
              <a:t>&amp; </a:t>
            </a:r>
            <a:r>
              <a:rPr lang="zh-CN" altLang="en-US">
                <a:solidFill>
                  <a:schemeClr val="tx1"/>
                </a:solidFill>
                <a:latin typeface="Arial" panose="020B0604020202020204" pitchFamily="34" charset="0"/>
                <a:ea typeface="微软雅黑" panose="020B0503020204020204" charset="-122"/>
                <a:cs typeface="Arial" panose="020B0604020202020204" pitchFamily="34" charset="0"/>
                <a:sym typeface="+mn-ea"/>
              </a:rPr>
              <a:t>梯度裁剪</a:t>
            </a:r>
            <a:endParaRPr lang="zh-CN" altLang="en-US">
              <a:solidFill>
                <a:schemeClr val="tx1"/>
              </a:solidFill>
              <a:latin typeface="Arial" panose="020B0604020202020204" pitchFamily="34" charset="0"/>
              <a:ea typeface="微软雅黑" panose="020B0503020204020204" charset="-122"/>
              <a:cs typeface="Arial" panose="020B0604020202020204" pitchFamily="34" charset="0"/>
            </a:endParaRPr>
          </a:p>
          <a:p>
            <a:pPr lvl="0">
              <a:lnSpc>
                <a:spcPct val="150000"/>
              </a:lnSpc>
            </a:pPr>
            <a:r>
              <a:rPr lang="zh-CN" altLang="en-US">
                <a:solidFill>
                  <a:schemeClr val="tx1"/>
                </a:solidFill>
                <a:latin typeface="Arial" panose="020B0604020202020204" pitchFamily="34" charset="0"/>
                <a:ea typeface="微软雅黑" panose="020B0503020204020204" charset="-122"/>
                <a:cs typeface="Arial" panose="020B0604020202020204" pitchFamily="34" charset="0"/>
                <a:sym typeface="+mn-ea"/>
              </a:rPr>
              <a:t>带</a:t>
            </a:r>
            <a:r>
              <a:rPr lang="zh-CN" altLang="en-US" b="1">
                <a:solidFill>
                  <a:schemeClr val="tx1"/>
                </a:solidFill>
                <a:latin typeface="Arial" panose="020B0604020202020204" pitchFamily="34" charset="0"/>
                <a:ea typeface="微软雅黑" panose="020B0503020204020204" charset="-122"/>
                <a:cs typeface="Arial" panose="020B0604020202020204" pitchFamily="34" charset="0"/>
                <a:sym typeface="+mn-ea"/>
              </a:rPr>
              <a:t>噪声</a:t>
            </a:r>
            <a:r>
              <a:rPr lang="zh-CN" altLang="en-US">
                <a:solidFill>
                  <a:schemeClr val="tx1"/>
                </a:solidFill>
                <a:latin typeface="Arial" panose="020B0604020202020204" pitchFamily="34" charset="0"/>
                <a:ea typeface="微软雅黑" panose="020B0503020204020204" charset="-122"/>
                <a:cs typeface="Arial" panose="020B0604020202020204" pitchFamily="34" charset="0"/>
                <a:sym typeface="+mn-ea"/>
              </a:rPr>
              <a:t>的</a:t>
            </a:r>
            <a:r>
              <a:rPr lang="en-US" altLang="zh-CN">
                <a:solidFill>
                  <a:schemeClr val="tx1"/>
                </a:solidFill>
                <a:latin typeface="Arial" panose="020B0604020202020204" pitchFamily="34" charset="0"/>
                <a:ea typeface="微软雅黑" panose="020B0503020204020204" charset="-122"/>
                <a:cs typeface="Arial" panose="020B0604020202020204" pitchFamily="34" charset="0"/>
                <a:sym typeface="+mn-ea"/>
              </a:rPr>
              <a:t>top-k</a:t>
            </a:r>
            <a:r>
              <a:rPr lang="zh-CN" altLang="en-US">
                <a:solidFill>
                  <a:schemeClr val="tx1"/>
                </a:solidFill>
                <a:latin typeface="Arial" panose="020B0604020202020204" pitchFamily="34" charset="0"/>
                <a:ea typeface="微软雅黑" panose="020B0503020204020204" charset="-122"/>
                <a:cs typeface="Arial" panose="020B0604020202020204" pitchFamily="34" charset="0"/>
                <a:sym typeface="+mn-ea"/>
              </a:rPr>
              <a:t>门控（仅在训练期间）</a:t>
            </a:r>
            <a:endParaRPr lang="zh-CN" altLang="en-US">
              <a:solidFill>
                <a:schemeClr val="tx1"/>
              </a:solidFill>
              <a:latin typeface="Arial" panose="020B0604020202020204" pitchFamily="34" charset="0"/>
              <a:ea typeface="微软雅黑" panose="020B0503020204020204" charset="-122"/>
              <a:cs typeface="Arial" panose="020B0604020202020204" pitchFamily="34" charset="0"/>
            </a:endParaRPr>
          </a:p>
          <a:p>
            <a:pPr>
              <a:lnSpc>
                <a:spcPct val="150000"/>
              </a:lnSpc>
            </a:pPr>
            <a:r>
              <a:rPr lang="zh-CN" altLang="en-US" b="1">
                <a:solidFill>
                  <a:schemeClr val="tx1"/>
                </a:solidFill>
                <a:latin typeface="Arial" panose="020B0604020202020204" pitchFamily="34" charset="0"/>
                <a:ea typeface="微软雅黑" panose="020B0503020204020204" charset="-122"/>
                <a:cs typeface="Arial" panose="020B0604020202020204" pitchFamily="34" charset="0"/>
                <a:sym typeface="+mn-ea"/>
              </a:rPr>
              <a:t>辅助</a:t>
            </a:r>
            <a:r>
              <a:rPr lang="zh-CN" altLang="en-US">
                <a:solidFill>
                  <a:schemeClr val="tx1"/>
                </a:solidFill>
                <a:latin typeface="Arial" panose="020B0604020202020204" pitchFamily="34" charset="0"/>
                <a:ea typeface="微软雅黑" panose="020B0503020204020204" charset="-122"/>
                <a:cs typeface="Arial" panose="020B0604020202020204" pitchFamily="34" charset="0"/>
                <a:sym typeface="+mn-ea"/>
              </a:rPr>
              <a:t>损失函数</a:t>
            </a:r>
            <a:r>
              <a:rPr lang="en-US" altLang="zh-CN">
                <a:solidFill>
                  <a:schemeClr val="tx1"/>
                </a:solidFill>
                <a:latin typeface="Arial" panose="020B0604020202020204" pitchFamily="34" charset="0"/>
                <a:ea typeface="微软雅黑" panose="020B0503020204020204" charset="-122"/>
                <a:cs typeface="Arial" panose="020B0604020202020204" pitchFamily="34" charset="0"/>
                <a:sym typeface="+mn-ea"/>
              </a:rPr>
              <a:t>(Auxiliary loss)</a:t>
            </a:r>
            <a:endParaRPr lang="en-US" altLang="zh-CN">
              <a:solidFill>
                <a:schemeClr val="tx1"/>
              </a:solidFill>
              <a:latin typeface="Arial" panose="020B0604020202020204" pitchFamily="34" charset="0"/>
              <a:ea typeface="微软雅黑" panose="020B0503020204020204" charset="-122"/>
              <a:cs typeface="Arial" panose="020B0604020202020204" pitchFamily="34" charset="0"/>
              <a:sym typeface="+mn-ea"/>
            </a:endParaRPr>
          </a:p>
          <a:p>
            <a:pPr lvl="0">
              <a:lnSpc>
                <a:spcPct val="150000"/>
              </a:lnSpc>
            </a:pPr>
            <a:r>
              <a:rPr lang="zh-CN" altLang="en-US">
                <a:solidFill>
                  <a:schemeClr val="tx1"/>
                </a:solidFill>
                <a:latin typeface="Arial" panose="020B0604020202020204" pitchFamily="34" charset="0"/>
                <a:ea typeface="微软雅黑" panose="020B0503020204020204" charset="-122"/>
                <a:cs typeface="Arial" panose="020B0604020202020204" pitchFamily="34" charset="0"/>
                <a:sym typeface="+mn-ea"/>
              </a:rPr>
              <a:t>预防过度丢弃令牌</a:t>
            </a:r>
            <a:r>
              <a:rPr lang="en-US" altLang="zh-CN">
                <a:solidFill>
                  <a:schemeClr val="tx1"/>
                </a:solidFill>
                <a:latin typeface="Arial" panose="020B0604020202020204" pitchFamily="34" charset="0"/>
                <a:ea typeface="微软雅黑" panose="020B0503020204020204" charset="-122"/>
                <a:cs typeface="Arial" panose="020B0604020202020204" pitchFamily="34" charset="0"/>
                <a:sym typeface="+mn-ea"/>
              </a:rPr>
              <a:t>(Token dropping)</a:t>
            </a:r>
            <a:endParaRPr lang="en-US" altLang="zh-CN">
              <a:solidFill>
                <a:schemeClr val="tx1"/>
              </a:solidFill>
              <a:latin typeface="Arial" panose="020B0604020202020204" pitchFamily="34" charset="0"/>
              <a:ea typeface="微软雅黑" panose="020B0503020204020204" charset="-122"/>
              <a:cs typeface="Arial" panose="020B0604020202020204" pitchFamily="34" charset="0"/>
              <a:sym typeface="+mn-ea"/>
            </a:endParaRPr>
          </a:p>
          <a:p>
            <a:pPr lvl="0">
              <a:lnSpc>
                <a:spcPct val="150000"/>
              </a:lnSpc>
            </a:pPr>
            <a:r>
              <a:rPr lang="zh-CN" altLang="en-US">
                <a:solidFill>
                  <a:schemeClr val="tx1"/>
                </a:solidFill>
                <a:latin typeface="Arial" panose="020B0604020202020204" pitchFamily="34" charset="0"/>
                <a:ea typeface="微软雅黑" panose="020B0503020204020204" charset="-122"/>
                <a:cs typeface="Arial" panose="020B0604020202020204" pitchFamily="34" charset="0"/>
                <a:sym typeface="+mn-ea"/>
              </a:rPr>
              <a:t>优化器选择与超参数</a:t>
            </a:r>
            <a:endParaRPr lang="zh-CN" altLang="en-US">
              <a:solidFill>
                <a:schemeClr val="tx1"/>
              </a:solidFill>
              <a:latin typeface="Arial" panose="020B0604020202020204" pitchFamily="34" charset="0"/>
              <a:ea typeface="微软雅黑" panose="020B0503020204020204" charset="-122"/>
              <a:cs typeface="Arial" panose="020B0604020202020204" pitchFamily="34" charset="0"/>
              <a:sym typeface="+mn-ea"/>
            </a:endParaRPr>
          </a:p>
          <a:p>
            <a:pPr lvl="1">
              <a:lnSpc>
                <a:spcPct val="150000"/>
              </a:lnSpc>
            </a:pPr>
            <a:r>
              <a:rPr lang="en-US" altLang="zh-CN" sz="1800">
                <a:solidFill>
                  <a:schemeClr val="tx1"/>
                </a:solidFill>
                <a:sym typeface="+mn-ea"/>
              </a:rPr>
              <a:t>AdamW </a:t>
            </a:r>
            <a:r>
              <a:rPr lang="zh-CN" altLang="en-US" sz="1800">
                <a:solidFill>
                  <a:schemeClr val="tx1"/>
                </a:solidFill>
                <a:sym typeface="+mn-ea"/>
              </a:rPr>
              <a:t>优化器</a:t>
            </a:r>
            <a:endParaRPr lang="zh-CN" altLang="en-US" sz="1800">
              <a:solidFill>
                <a:schemeClr val="tx1"/>
              </a:solidFill>
              <a:sym typeface="+mn-ea"/>
            </a:endParaRPr>
          </a:p>
          <a:p>
            <a:pPr lvl="1">
              <a:lnSpc>
                <a:spcPct val="150000"/>
              </a:lnSpc>
            </a:pPr>
            <a:r>
              <a:rPr lang="zh-CN" altLang="en-US" sz="1800">
                <a:solidFill>
                  <a:schemeClr val="tx1"/>
                </a:solidFill>
                <a:latin typeface="Arial" panose="020B0604020202020204" pitchFamily="34" charset="0"/>
                <a:ea typeface="微软雅黑" panose="020B0503020204020204" charset="-122"/>
                <a:cs typeface="Arial" panose="020B0604020202020204" pitchFamily="34" charset="0"/>
                <a:sym typeface="+mn-ea"/>
              </a:rPr>
              <a:t>学习率设置</a:t>
            </a:r>
            <a:r>
              <a:rPr lang="en-US" altLang="zh-CN" sz="1800">
                <a:solidFill>
                  <a:schemeClr val="tx1"/>
                </a:solidFill>
                <a:latin typeface="Arial" panose="020B0604020202020204" pitchFamily="34" charset="0"/>
                <a:ea typeface="微软雅黑" panose="020B0503020204020204" charset="-122"/>
                <a:cs typeface="Arial" panose="020B0604020202020204" pitchFamily="34" charset="0"/>
                <a:sym typeface="+mn-ea"/>
              </a:rPr>
              <a:t> &amp; </a:t>
            </a:r>
            <a:r>
              <a:rPr lang="zh-CN" altLang="en-US" sz="1800">
                <a:solidFill>
                  <a:schemeClr val="tx1"/>
                </a:solidFill>
                <a:latin typeface="Arial" panose="020B0604020202020204" pitchFamily="34" charset="0"/>
                <a:ea typeface="微软雅黑" panose="020B0503020204020204" charset="-122"/>
                <a:cs typeface="Arial" panose="020B0604020202020204" pitchFamily="34" charset="0"/>
                <a:sym typeface="+mn-ea"/>
              </a:rPr>
              <a:t>学习率调度</a:t>
            </a:r>
            <a:endParaRPr lang="zh-CN" altLang="en-US" sz="1800">
              <a:solidFill>
                <a:schemeClr val="tx1"/>
              </a:solidFill>
              <a:latin typeface="Arial" panose="020B0604020202020204" pitchFamily="34" charset="0"/>
              <a:ea typeface="微软雅黑" panose="020B0503020204020204" charset="-122"/>
              <a:cs typeface="Arial" panose="020B0604020202020204" pitchFamily="34" charset="0"/>
              <a:sym typeface="+mn-ea"/>
            </a:endParaRPr>
          </a:p>
          <a:p>
            <a:pPr lvl="0">
              <a:lnSpc>
                <a:spcPct val="150000"/>
              </a:lnSpc>
            </a:pPr>
            <a:endParaRPr lang="zh-CN" altLang="en-US" sz="1800">
              <a:solidFill>
                <a:schemeClr val="tx1"/>
              </a:solidFill>
              <a:latin typeface="Arial" panose="020B0604020202020204" pitchFamily="34" charset="0"/>
              <a:ea typeface="微软雅黑" panose="020B0503020204020204" charset="-122"/>
              <a:cs typeface="Arial" panose="020B0604020202020204" pitchFamily="34" charset="0"/>
              <a:sym typeface="+mn-ea"/>
            </a:endParaRPr>
          </a:p>
        </p:txBody>
      </p:sp>
      <p:pic>
        <p:nvPicPr>
          <p:cNvPr id="10" name="图片 9"/>
          <p:cNvPicPr/>
          <p:nvPr/>
        </p:nvPicPr>
        <p:blipFill>
          <a:blip r:embed="rId3"/>
          <a:srcRect l="10147"/>
          <a:stretch>
            <a:fillRect/>
          </a:stretch>
        </p:blipFill>
        <p:spPr>
          <a:xfrm>
            <a:off x="7661910" y="1289685"/>
            <a:ext cx="3915410" cy="5128895"/>
          </a:xfrm>
          <a:prstGeom prst="rect">
            <a:avLst/>
          </a:prstGeom>
        </p:spPr>
      </p:pic>
      <p:cxnSp>
        <p:nvCxnSpPr>
          <p:cNvPr id="7" name="直接箭头连接符 6"/>
          <p:cNvCxnSpPr/>
          <p:nvPr/>
        </p:nvCxnSpPr>
        <p:spPr>
          <a:xfrm>
            <a:off x="6024245" y="2162175"/>
            <a:ext cx="2733675" cy="28575"/>
          </a:xfrm>
          <a:prstGeom prst="straightConnector1">
            <a:avLst/>
          </a:prstGeom>
          <a:ln w="19050">
            <a:solidFill>
              <a:srgbClr val="C00000"/>
            </a:solidFill>
            <a:tailEnd type="arrow"/>
          </a:ln>
        </p:spPr>
        <p:style>
          <a:lnRef idx="2">
            <a:schemeClr val="accent1"/>
          </a:lnRef>
          <a:fillRef idx="0">
            <a:srgbClr val="FFFFFF"/>
          </a:fillRef>
          <a:effectRef idx="0">
            <a:srgbClr val="FFFFFF"/>
          </a:effectRef>
          <a:fontRef idx="minor">
            <a:schemeClr val="tx1"/>
          </a:fontRef>
        </p:style>
      </p:cxnSp>
      <p:cxnSp>
        <p:nvCxnSpPr>
          <p:cNvPr id="8" name="直接箭头连接符 7"/>
          <p:cNvCxnSpPr/>
          <p:nvPr/>
        </p:nvCxnSpPr>
        <p:spPr>
          <a:xfrm>
            <a:off x="5052060" y="2645410"/>
            <a:ext cx="4077335" cy="488315"/>
          </a:xfrm>
          <a:prstGeom prst="straightConnector1">
            <a:avLst/>
          </a:prstGeom>
          <a:ln w="19050">
            <a:solidFill>
              <a:srgbClr val="C00000"/>
            </a:solidFill>
            <a:tailEnd type="arrow"/>
          </a:ln>
        </p:spPr>
        <p:style>
          <a:lnRef idx="2">
            <a:schemeClr val="accent1"/>
          </a:lnRef>
          <a:fillRef idx="0">
            <a:srgbClr val="FFFFFF"/>
          </a:fillRef>
          <a:effectRef idx="0">
            <a:srgbClr val="FFFFFF"/>
          </a:effectRef>
          <a:fontRef idx="minor">
            <a:schemeClr val="tx1"/>
          </a:fontRef>
        </p:style>
      </p:cxnSp>
      <p:cxnSp>
        <p:nvCxnSpPr>
          <p:cNvPr id="9" name="直接箭头连接符 8"/>
          <p:cNvCxnSpPr/>
          <p:nvPr/>
        </p:nvCxnSpPr>
        <p:spPr>
          <a:xfrm>
            <a:off x="4732020" y="3191510"/>
            <a:ext cx="3054350" cy="399415"/>
          </a:xfrm>
          <a:prstGeom prst="straightConnector1">
            <a:avLst/>
          </a:prstGeom>
          <a:ln w="19050">
            <a:solidFill>
              <a:srgbClr val="C00000"/>
            </a:solidFill>
            <a:tailEnd type="arrow"/>
          </a:ln>
        </p:spPr>
        <p:style>
          <a:lnRef idx="2">
            <a:schemeClr val="accent1"/>
          </a:lnRef>
          <a:fillRef idx="0">
            <a:srgbClr val="FFFFFF"/>
          </a:fillRef>
          <a:effectRef idx="0">
            <a:srgbClr val="FFFFFF"/>
          </a:effectRef>
          <a:fontRef idx="minor">
            <a:schemeClr val="tx1"/>
          </a:fontRef>
        </p:style>
      </p:cxnSp>
      <p:cxnSp>
        <p:nvCxnSpPr>
          <p:cNvPr id="13" name="直接箭头连接符 12"/>
          <p:cNvCxnSpPr/>
          <p:nvPr/>
        </p:nvCxnSpPr>
        <p:spPr>
          <a:xfrm>
            <a:off x="5176520" y="3736340"/>
            <a:ext cx="2760345" cy="602615"/>
          </a:xfrm>
          <a:prstGeom prst="straightConnector1">
            <a:avLst/>
          </a:prstGeom>
          <a:ln w="19050">
            <a:solidFill>
              <a:srgbClr val="C00000"/>
            </a:solidFill>
            <a:tailEnd type="arrow"/>
          </a:ln>
        </p:spPr>
        <p:style>
          <a:lnRef idx="2">
            <a:schemeClr val="accent1"/>
          </a:lnRef>
          <a:fillRef idx="0">
            <a:srgbClr val="FFFFFF"/>
          </a:fillRef>
          <a:effectRef idx="0">
            <a:srgbClr val="FFFFFF"/>
          </a:effectRef>
          <a:fontRef idx="minor">
            <a:schemeClr val="tx1"/>
          </a:fontRef>
        </p:style>
      </p:cxnSp>
      <p:sp>
        <p:nvSpPr>
          <p:cNvPr id="4" name="文本框 3"/>
          <p:cNvSpPr txBox="1"/>
          <p:nvPr/>
        </p:nvSpPr>
        <p:spPr>
          <a:xfrm>
            <a:off x="695325" y="6505575"/>
            <a:ext cx="3333750" cy="245110"/>
          </a:xfrm>
          <a:prstGeom prst="rect">
            <a:avLst/>
          </a:prstGeom>
          <a:noFill/>
        </p:spPr>
        <p:txBody>
          <a:bodyPr wrap="square" rtlCol="0">
            <a:spAutoFit/>
          </a:bodyPr>
          <a:p>
            <a:r>
              <a:rPr lang="zh-CN" altLang="en-US" sz="1000"/>
              <a:t>参考链接：</a:t>
            </a:r>
            <a:r>
              <a:rPr lang="en-US" altLang="zh-CN" sz="1000"/>
              <a:t>https://zhuanlan.zhihu.com/p/81886457827</a:t>
            </a:r>
            <a:endParaRPr lang="en-US" altLang="zh-CN" sz="1000"/>
          </a:p>
        </p:txBody>
      </p:sp>
    </p:spTree>
    <p:custDataLst>
      <p:tags r:id="rId4"/>
    </p:custData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solidFill>
                  <a:schemeClr val="tx1"/>
                </a:solidFill>
                <a:latin typeface="Arial" panose="020B0604020202020204" pitchFamily="34" charset="0"/>
                <a:ea typeface="微软雅黑" panose="020B0503020204020204" charset="-122"/>
                <a:cs typeface="Arial" panose="020B0604020202020204" pitchFamily="34" charset="0"/>
                <a:sym typeface="+mn-ea"/>
              </a:rPr>
              <a:t>MOE</a:t>
            </a:r>
            <a:r>
              <a:rPr lang="zh-CN" altLang="en-US">
                <a:solidFill>
                  <a:schemeClr val="tx1"/>
                </a:solidFill>
                <a:latin typeface="Arial" panose="020B0604020202020204" pitchFamily="34" charset="0"/>
                <a:ea typeface="微软雅黑" panose="020B0503020204020204" charset="-122"/>
                <a:cs typeface="Arial" panose="020B0604020202020204" pitchFamily="34" charset="0"/>
                <a:sym typeface="+mn-ea"/>
              </a:rPr>
              <a:t>分布式训练与扩展策略</a:t>
            </a:r>
            <a:endParaRPr lang="zh-CN" altLang="en-US"/>
          </a:p>
        </p:txBody>
      </p:sp>
      <p:sp>
        <p:nvSpPr>
          <p:cNvPr id="3" name="内容占位符 2"/>
          <p:cNvSpPr>
            <a:spLocks noGrp="1"/>
          </p:cNvSpPr>
          <p:nvPr>
            <p:ph idx="1"/>
            <p:custDataLst>
              <p:tags r:id="rId2"/>
            </p:custDataLst>
          </p:nvPr>
        </p:nvSpPr>
        <p:spPr/>
        <p:txBody>
          <a:bodyPr>
            <a:normAutofit/>
          </a:bodyPr>
          <a:p>
            <a:pPr>
              <a:lnSpc>
                <a:spcPct val="150000"/>
              </a:lnSpc>
              <a:spcAft>
                <a:spcPts val="0"/>
              </a:spcAft>
            </a:pPr>
            <a:r>
              <a:rPr lang="zh-CN" altLang="en-US" sz="1800" b="1">
                <a:solidFill>
                  <a:schemeClr val="tx1"/>
                </a:solidFill>
                <a:sym typeface="+mn-ea"/>
              </a:rPr>
              <a:t>专家并行</a:t>
            </a:r>
            <a:r>
              <a:rPr lang="en-US" altLang="zh-CN" sz="1800" b="1">
                <a:solidFill>
                  <a:schemeClr val="tx1"/>
                </a:solidFill>
                <a:sym typeface="+mn-ea"/>
              </a:rPr>
              <a:t> (Expert Parallelism)</a:t>
            </a:r>
            <a:endParaRPr lang="en-US" altLang="zh-CN" sz="1800" b="1">
              <a:solidFill>
                <a:schemeClr val="tx1"/>
              </a:solidFill>
            </a:endParaRPr>
          </a:p>
          <a:p>
            <a:pPr>
              <a:lnSpc>
                <a:spcPct val="150000"/>
              </a:lnSpc>
              <a:spcAft>
                <a:spcPts val="0"/>
              </a:spcAft>
            </a:pPr>
            <a:r>
              <a:rPr lang="zh-CN" altLang="en-US" sz="1800" b="1">
                <a:solidFill>
                  <a:schemeClr val="tx1"/>
                </a:solidFill>
                <a:sym typeface="+mn-ea"/>
              </a:rPr>
              <a:t>分布式</a:t>
            </a:r>
            <a:r>
              <a:rPr lang="en-US" altLang="zh-CN" sz="1800" b="1">
                <a:solidFill>
                  <a:schemeClr val="tx1"/>
                </a:solidFill>
                <a:sym typeface="+mn-ea"/>
              </a:rPr>
              <a:t>MoE</a:t>
            </a:r>
            <a:r>
              <a:rPr lang="zh-CN" altLang="en-US" sz="1800" b="1">
                <a:solidFill>
                  <a:schemeClr val="tx1"/>
                </a:solidFill>
                <a:sym typeface="+mn-ea"/>
              </a:rPr>
              <a:t>训练中的难点</a:t>
            </a:r>
            <a:endParaRPr lang="zh-CN" altLang="en-US" sz="1800" b="1">
              <a:solidFill>
                <a:schemeClr val="tx1"/>
              </a:solidFill>
              <a:sym typeface="+mn-ea"/>
            </a:endParaRPr>
          </a:p>
          <a:p>
            <a:pPr lvl="1">
              <a:lnSpc>
                <a:spcPct val="150000"/>
              </a:lnSpc>
              <a:spcAft>
                <a:spcPts val="0"/>
              </a:spcAft>
            </a:pPr>
            <a:r>
              <a:rPr lang="en-US" altLang="zh-CN" sz="1800">
                <a:solidFill>
                  <a:schemeClr val="tx1"/>
                </a:solidFill>
                <a:sym typeface="+mn-ea"/>
              </a:rPr>
              <a:t>All-to-All</a:t>
            </a:r>
            <a:r>
              <a:rPr lang="zh-CN" altLang="en-US" sz="1800">
                <a:solidFill>
                  <a:schemeClr val="tx1"/>
                </a:solidFill>
                <a:sym typeface="+mn-ea"/>
              </a:rPr>
              <a:t>通信开销</a:t>
            </a:r>
            <a:endParaRPr lang="zh-CN" altLang="en-US" sz="1800">
              <a:solidFill>
                <a:schemeClr val="tx1"/>
              </a:solidFill>
              <a:sym typeface="+mn-ea"/>
            </a:endParaRPr>
          </a:p>
          <a:p>
            <a:pPr lvl="2">
              <a:lnSpc>
                <a:spcPct val="150000"/>
              </a:lnSpc>
              <a:spcAft>
                <a:spcPts val="0"/>
              </a:spcAft>
            </a:pPr>
            <a:r>
              <a:rPr lang="en-US" altLang="zh-CN" sz="1800">
                <a:solidFill>
                  <a:schemeClr val="tx1"/>
                </a:solidFill>
                <a:sym typeface="+mn-ea"/>
              </a:rPr>
              <a:t>vs All-Reduce</a:t>
            </a:r>
            <a:endParaRPr lang="zh-CN" altLang="en-US" sz="1800">
              <a:solidFill>
                <a:schemeClr val="tx1"/>
              </a:solidFill>
              <a:sym typeface="+mn-ea"/>
            </a:endParaRPr>
          </a:p>
          <a:p>
            <a:pPr lvl="2">
              <a:lnSpc>
                <a:spcPct val="150000"/>
              </a:lnSpc>
              <a:spcAft>
                <a:spcPts val="0"/>
              </a:spcAft>
            </a:pPr>
            <a:r>
              <a:rPr lang="zh-CN" altLang="en-US" sz="1800">
                <a:solidFill>
                  <a:schemeClr val="tx1"/>
                </a:solidFill>
                <a:sym typeface="+mn-ea"/>
              </a:rPr>
              <a:t>带宽密集；延迟敏感；依赖网络拓扑</a:t>
            </a:r>
            <a:endParaRPr lang="zh-CN" altLang="en-US" sz="1800">
              <a:solidFill>
                <a:schemeClr val="tx1"/>
              </a:solidFill>
              <a:sym typeface="+mn-ea"/>
            </a:endParaRPr>
          </a:p>
          <a:p>
            <a:pPr lvl="1">
              <a:lnSpc>
                <a:spcPct val="150000"/>
              </a:lnSpc>
              <a:spcAft>
                <a:spcPts val="0"/>
              </a:spcAft>
            </a:pPr>
            <a:r>
              <a:rPr lang="zh-CN" altLang="en-US" sz="1800">
                <a:solidFill>
                  <a:schemeClr val="tx1"/>
                </a:solidFill>
                <a:sym typeface="+mn-ea"/>
              </a:rPr>
              <a:t>设备间负载不均衡</a:t>
            </a:r>
            <a:endParaRPr lang="zh-CN" altLang="en-US" sz="1800">
              <a:solidFill>
                <a:schemeClr val="tx1"/>
              </a:solidFill>
              <a:sym typeface="+mn-ea"/>
            </a:endParaRPr>
          </a:p>
          <a:p>
            <a:pPr lvl="1">
              <a:lnSpc>
                <a:spcPct val="150000"/>
              </a:lnSpc>
              <a:spcAft>
                <a:spcPts val="0"/>
              </a:spcAft>
            </a:pPr>
            <a:r>
              <a:rPr lang="zh-CN" altLang="en-US" sz="1800">
                <a:solidFill>
                  <a:schemeClr val="tx1"/>
                </a:solidFill>
                <a:sym typeface="+mn-ea"/>
              </a:rPr>
              <a:t>内存限制与管理</a:t>
            </a:r>
            <a:endParaRPr lang="zh-CN" altLang="en-US" sz="1800">
              <a:solidFill>
                <a:schemeClr val="tx1"/>
              </a:solidFill>
              <a:sym typeface="+mn-ea"/>
            </a:endParaRPr>
          </a:p>
          <a:p>
            <a:pPr lvl="1">
              <a:lnSpc>
                <a:spcPct val="150000"/>
              </a:lnSpc>
              <a:spcAft>
                <a:spcPts val="0"/>
              </a:spcAft>
            </a:pPr>
            <a:r>
              <a:rPr lang="zh-CN" altLang="en-US" sz="1800">
                <a:solidFill>
                  <a:schemeClr val="tx1"/>
                </a:solidFill>
                <a:sym typeface="+mn-ea"/>
              </a:rPr>
              <a:t>调试与实现复杂性</a:t>
            </a:r>
            <a:endParaRPr lang="zh-CN" altLang="en-US" sz="1800">
              <a:solidFill>
                <a:schemeClr val="tx1"/>
              </a:solidFill>
              <a:sym typeface="+mn-ea"/>
            </a:endParaRPr>
          </a:p>
          <a:p>
            <a:pPr lvl="0">
              <a:lnSpc>
                <a:spcPct val="150000"/>
              </a:lnSpc>
              <a:spcAft>
                <a:spcPts val="0"/>
              </a:spcAft>
            </a:pPr>
            <a:r>
              <a:rPr lang="zh-CN" altLang="en-US" sz="1800" b="1">
                <a:solidFill>
                  <a:schemeClr val="tx1"/>
                </a:solidFill>
                <a:sym typeface="+mn-ea"/>
              </a:rPr>
              <a:t>分布式</a:t>
            </a:r>
            <a:r>
              <a:rPr lang="en-US" altLang="zh-CN" sz="1800" b="1">
                <a:solidFill>
                  <a:schemeClr val="tx1"/>
                </a:solidFill>
                <a:sym typeface="+mn-ea"/>
              </a:rPr>
              <a:t>MOE</a:t>
            </a:r>
            <a:r>
              <a:rPr lang="zh-CN" altLang="en-US" sz="1800" b="1">
                <a:solidFill>
                  <a:schemeClr val="tx1"/>
                </a:solidFill>
                <a:sym typeface="+mn-ea"/>
              </a:rPr>
              <a:t>框架：</a:t>
            </a:r>
            <a:r>
              <a:rPr lang="en-US" altLang="zh-CN" sz="1800" b="1">
                <a:solidFill>
                  <a:schemeClr val="tx1"/>
                </a:solidFill>
                <a:sym typeface="+mn-ea"/>
              </a:rPr>
              <a:t>DeepSpeed MOE</a:t>
            </a:r>
            <a:endParaRPr lang="en-US" altLang="zh-CN" sz="1800" b="1">
              <a:solidFill>
                <a:schemeClr val="tx1"/>
              </a:solidFill>
            </a:endParaRPr>
          </a:p>
          <a:p>
            <a:pPr marL="0" lvl="0" indent="0">
              <a:lnSpc>
                <a:spcPct val="150000"/>
              </a:lnSpc>
              <a:spcAft>
                <a:spcPts val="0"/>
              </a:spcAft>
              <a:buNone/>
            </a:pPr>
            <a:endParaRPr lang="zh-CN" altLang="en-US" sz="1800">
              <a:solidFill>
                <a:schemeClr val="tx1"/>
              </a:solidFill>
              <a:sym typeface="+mn-ea"/>
            </a:endParaRPr>
          </a:p>
          <a:p>
            <a:pPr>
              <a:lnSpc>
                <a:spcPct val="150000"/>
              </a:lnSpc>
              <a:spcAft>
                <a:spcPts val="0"/>
              </a:spcAft>
            </a:pPr>
            <a:endParaRPr lang="en-US" altLang="zh-CN" sz="1800" b="1">
              <a:solidFill>
                <a:schemeClr val="tx1"/>
              </a:solidFill>
            </a:endParaRPr>
          </a:p>
          <a:p>
            <a:pPr marL="0" indent="0">
              <a:lnSpc>
                <a:spcPct val="150000"/>
              </a:lnSpc>
              <a:spcAft>
                <a:spcPts val="0"/>
              </a:spcAft>
              <a:buNone/>
            </a:pPr>
            <a:endParaRPr lang="en-US" altLang="zh-CN" sz="1800" b="1">
              <a:solidFill>
                <a:schemeClr val="tx1"/>
              </a:solidFill>
            </a:endParaRPr>
          </a:p>
        </p:txBody>
      </p:sp>
    </p:spTree>
    <p:custDataLst>
      <p:tags r:id="rId3"/>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6936105" y="506095"/>
            <a:ext cx="5137785" cy="5599430"/>
          </a:xfrm>
          <a:prstGeom prst="rect">
            <a:avLst/>
          </a:prstGeom>
        </p:spPr>
      </p:pic>
      <p:pic>
        <p:nvPicPr>
          <p:cNvPr id="5" name="图片 4"/>
          <p:cNvPicPr>
            <a:picLocks noChangeAspect="1"/>
          </p:cNvPicPr>
          <p:nvPr/>
        </p:nvPicPr>
        <p:blipFill>
          <a:blip r:embed="rId2"/>
          <a:stretch>
            <a:fillRect/>
          </a:stretch>
        </p:blipFill>
        <p:spPr>
          <a:xfrm>
            <a:off x="6936105" y="6105525"/>
            <a:ext cx="5138420" cy="328295"/>
          </a:xfrm>
          <a:prstGeom prst="rect">
            <a:avLst/>
          </a:prstGeom>
        </p:spPr>
      </p:pic>
      <p:sp>
        <p:nvSpPr>
          <p:cNvPr id="2" name="标题 1"/>
          <p:cNvSpPr>
            <a:spLocks noGrp="1"/>
          </p:cNvSpPr>
          <p:nvPr>
            <p:ph type="title"/>
            <p:custDataLst>
              <p:tags r:id="rId3"/>
            </p:custDataLst>
          </p:nvPr>
        </p:nvSpPr>
        <p:spPr>
          <a:xfrm>
            <a:off x="506730" y="319405"/>
            <a:ext cx="7503795" cy="705485"/>
          </a:xfrm>
        </p:spPr>
        <p:txBody>
          <a:bodyPr/>
          <a:p>
            <a:r>
              <a:rPr lang="zh-CN" altLang="en-US">
                <a:solidFill>
                  <a:schemeClr val="tx1"/>
                </a:solidFill>
              </a:rPr>
              <a:t>专家并行</a:t>
            </a:r>
            <a:r>
              <a:rPr lang="en-US" altLang="zh-CN">
                <a:solidFill>
                  <a:schemeClr val="tx1"/>
                </a:solidFill>
              </a:rPr>
              <a:t> (</a:t>
            </a:r>
            <a:r>
              <a:rPr lang="en-US" altLang="zh-CN">
                <a:solidFill>
                  <a:schemeClr val="tx1"/>
                </a:solidFill>
                <a:sym typeface="+mn-ea"/>
              </a:rPr>
              <a:t>Expert Parallelism</a:t>
            </a:r>
            <a:r>
              <a:rPr lang="en-US" altLang="zh-CN">
                <a:solidFill>
                  <a:schemeClr val="tx1"/>
                </a:solidFill>
              </a:rPr>
              <a:t>)</a:t>
            </a:r>
            <a:endParaRPr lang="en-US" altLang="zh-CN">
              <a:solidFill>
                <a:schemeClr val="tx1"/>
              </a:solidFill>
            </a:endParaRPr>
          </a:p>
        </p:txBody>
      </p:sp>
      <p:sp>
        <p:nvSpPr>
          <p:cNvPr id="3" name="内容占位符 2"/>
          <p:cNvSpPr>
            <a:spLocks noGrp="1"/>
          </p:cNvSpPr>
          <p:nvPr>
            <p:ph idx="1"/>
            <p:custDataLst>
              <p:tags r:id="rId4"/>
            </p:custDataLst>
          </p:nvPr>
        </p:nvSpPr>
        <p:spPr>
          <a:xfrm>
            <a:off x="506730" y="1150620"/>
            <a:ext cx="8624570" cy="5330190"/>
          </a:xfrm>
        </p:spPr>
        <p:txBody>
          <a:bodyPr>
            <a:noAutofit/>
          </a:bodyPr>
          <a:p>
            <a:pPr lvl="0">
              <a:lnSpc>
                <a:spcPct val="150000"/>
              </a:lnSpc>
              <a:spcAft>
                <a:spcPts val="0"/>
              </a:spcAft>
            </a:pPr>
            <a:r>
              <a:rPr lang="zh-CN" altLang="en-US" sz="1600" b="1">
                <a:solidFill>
                  <a:schemeClr val="tx1"/>
                </a:solidFill>
              </a:rPr>
              <a:t>定义</a:t>
            </a:r>
            <a:endParaRPr lang="zh-CN" altLang="en-US" sz="1600" b="1">
              <a:solidFill>
                <a:schemeClr val="tx1"/>
              </a:solidFill>
            </a:endParaRPr>
          </a:p>
          <a:p>
            <a:pPr lvl="1">
              <a:lnSpc>
                <a:spcPct val="150000"/>
              </a:lnSpc>
              <a:spcAft>
                <a:spcPts val="0"/>
              </a:spcAft>
            </a:pPr>
            <a:r>
              <a:rPr lang="zh-CN" altLang="en-US">
                <a:solidFill>
                  <a:schemeClr val="tx1"/>
                </a:solidFill>
              </a:rPr>
              <a:t>将</a:t>
            </a:r>
            <a:r>
              <a:rPr lang="en-US" altLang="zh-CN">
                <a:solidFill>
                  <a:schemeClr val="tx1"/>
                </a:solidFill>
              </a:rPr>
              <a:t>MoE</a:t>
            </a:r>
            <a:r>
              <a:rPr lang="zh-CN" altLang="en-US">
                <a:solidFill>
                  <a:schemeClr val="tx1"/>
                </a:solidFill>
              </a:rPr>
              <a:t>层中的各个专家分散到不同处理单元上</a:t>
            </a:r>
            <a:endParaRPr lang="zh-CN" altLang="en-US">
              <a:solidFill>
                <a:schemeClr val="tx1"/>
              </a:solidFill>
            </a:endParaRPr>
          </a:p>
          <a:p>
            <a:pPr lvl="1">
              <a:lnSpc>
                <a:spcPct val="150000"/>
              </a:lnSpc>
              <a:spcAft>
                <a:spcPts val="0"/>
              </a:spcAft>
            </a:pPr>
            <a:r>
              <a:rPr lang="zh-CN" altLang="en-US">
                <a:solidFill>
                  <a:schemeClr val="tx1"/>
                </a:solidFill>
              </a:rPr>
              <a:t>解决内存需求</a:t>
            </a:r>
            <a:endParaRPr lang="zh-CN" altLang="en-US">
              <a:solidFill>
                <a:schemeClr val="tx1"/>
              </a:solidFill>
            </a:endParaRPr>
          </a:p>
          <a:p>
            <a:pPr lvl="0">
              <a:lnSpc>
                <a:spcPct val="150000"/>
              </a:lnSpc>
              <a:spcAft>
                <a:spcPts val="0"/>
              </a:spcAft>
            </a:pPr>
            <a:r>
              <a:rPr lang="zh-CN" altLang="en-US" sz="1600" b="1">
                <a:solidFill>
                  <a:schemeClr val="tx1"/>
                </a:solidFill>
              </a:rPr>
              <a:t>工作机制</a:t>
            </a:r>
            <a:endParaRPr lang="zh-CN" altLang="en-US" sz="1600" b="1">
              <a:solidFill>
                <a:schemeClr val="tx1"/>
              </a:solidFill>
            </a:endParaRPr>
          </a:p>
          <a:p>
            <a:pPr marL="800100" lvl="1" indent="-342900">
              <a:lnSpc>
                <a:spcPct val="150000"/>
              </a:lnSpc>
              <a:spcAft>
                <a:spcPts val="0"/>
              </a:spcAft>
              <a:buFont typeface="+mj-lt"/>
              <a:buAutoNum type="arabicPeriod"/>
            </a:pPr>
            <a:r>
              <a:rPr lang="zh-CN" altLang="en-US">
                <a:solidFill>
                  <a:schemeClr val="tx1"/>
                </a:solidFill>
              </a:rPr>
              <a:t>本地门控</a:t>
            </a:r>
            <a:endParaRPr lang="en-US" altLang="zh-CN">
              <a:solidFill>
                <a:schemeClr val="tx1"/>
              </a:solidFill>
            </a:endParaRPr>
          </a:p>
          <a:p>
            <a:pPr marL="800100" lvl="1" indent="-342900">
              <a:lnSpc>
                <a:spcPct val="150000"/>
              </a:lnSpc>
              <a:spcAft>
                <a:spcPts val="0"/>
              </a:spcAft>
              <a:buFont typeface="+mj-lt"/>
              <a:buAutoNum type="arabicPeriod"/>
            </a:pPr>
            <a:r>
              <a:rPr lang="zh-CN" altLang="en-US">
                <a:solidFill>
                  <a:schemeClr val="tx1"/>
                </a:solidFill>
              </a:rPr>
              <a:t>令牌路由（</a:t>
            </a:r>
            <a:r>
              <a:rPr lang="en-US" altLang="zh-CN">
                <a:solidFill>
                  <a:schemeClr val="tx1"/>
                </a:solidFill>
                <a:sym typeface="+mn-ea"/>
              </a:rPr>
              <a:t>All-to-All</a:t>
            </a:r>
            <a:r>
              <a:rPr lang="zh-CN" altLang="en-US">
                <a:solidFill>
                  <a:schemeClr val="tx1"/>
                </a:solidFill>
                <a:sym typeface="+mn-ea"/>
              </a:rPr>
              <a:t>发送</a:t>
            </a:r>
            <a:r>
              <a:rPr lang="zh-CN" altLang="en-US">
                <a:solidFill>
                  <a:schemeClr val="tx1"/>
                </a:solidFill>
              </a:rPr>
              <a:t>）</a:t>
            </a:r>
            <a:endParaRPr lang="en-US" altLang="zh-CN">
              <a:solidFill>
                <a:schemeClr val="tx1"/>
              </a:solidFill>
            </a:endParaRPr>
          </a:p>
          <a:p>
            <a:pPr marL="800100" lvl="1" indent="-342900">
              <a:lnSpc>
                <a:spcPct val="150000"/>
              </a:lnSpc>
              <a:spcAft>
                <a:spcPts val="0"/>
              </a:spcAft>
              <a:buFont typeface="+mj-lt"/>
              <a:buAutoNum type="arabicPeriod"/>
            </a:pPr>
            <a:r>
              <a:rPr lang="zh-CN" altLang="en-US">
                <a:solidFill>
                  <a:schemeClr val="tx1"/>
                </a:solidFill>
              </a:rPr>
              <a:t>并行专家计算</a:t>
            </a:r>
            <a:endParaRPr lang="zh-CN" altLang="en-US">
              <a:solidFill>
                <a:schemeClr val="tx1"/>
              </a:solidFill>
            </a:endParaRPr>
          </a:p>
          <a:p>
            <a:pPr marL="800100" lvl="1" indent="-342900">
              <a:lnSpc>
                <a:spcPct val="150000"/>
              </a:lnSpc>
              <a:spcAft>
                <a:spcPts val="0"/>
              </a:spcAft>
              <a:buFont typeface="+mj-lt"/>
              <a:buAutoNum type="arabicPeriod"/>
            </a:pPr>
            <a:r>
              <a:rPr lang="zh-CN" altLang="en-US">
                <a:solidFill>
                  <a:schemeClr val="tx1"/>
                </a:solidFill>
              </a:rPr>
              <a:t>结果收集（</a:t>
            </a:r>
            <a:r>
              <a:rPr lang="en-US" altLang="zh-CN">
                <a:solidFill>
                  <a:schemeClr val="tx1"/>
                </a:solidFill>
                <a:sym typeface="+mn-ea"/>
              </a:rPr>
              <a:t>All-to-All</a:t>
            </a:r>
            <a:r>
              <a:rPr lang="zh-CN" altLang="en-US">
                <a:solidFill>
                  <a:schemeClr val="tx1"/>
                </a:solidFill>
              </a:rPr>
              <a:t>接收）</a:t>
            </a:r>
            <a:endParaRPr lang="zh-CN" altLang="en-US">
              <a:solidFill>
                <a:schemeClr val="tx1"/>
              </a:solidFill>
            </a:endParaRPr>
          </a:p>
          <a:p>
            <a:pPr lvl="0">
              <a:lnSpc>
                <a:spcPct val="150000"/>
              </a:lnSpc>
              <a:spcAft>
                <a:spcPts val="0"/>
              </a:spcAft>
            </a:pPr>
            <a:r>
              <a:rPr lang="zh-CN" altLang="en-US" sz="1600" b="1">
                <a:solidFill>
                  <a:schemeClr val="tx1"/>
                </a:solidFill>
              </a:rPr>
              <a:t>优点</a:t>
            </a:r>
            <a:r>
              <a:rPr lang="zh-CN" altLang="en-US" sz="1600">
                <a:solidFill>
                  <a:schemeClr val="tx1"/>
                </a:solidFill>
              </a:rPr>
              <a:t>：内存效率高</a:t>
            </a:r>
            <a:endParaRPr lang="zh-CN" altLang="en-US" sz="1600">
              <a:solidFill>
                <a:schemeClr val="tx1"/>
              </a:solidFill>
            </a:endParaRPr>
          </a:p>
          <a:p>
            <a:pPr lvl="0">
              <a:lnSpc>
                <a:spcPct val="150000"/>
              </a:lnSpc>
              <a:spcAft>
                <a:spcPts val="0"/>
              </a:spcAft>
            </a:pPr>
            <a:r>
              <a:rPr lang="zh-CN" altLang="en-US" sz="1600" b="1">
                <a:solidFill>
                  <a:schemeClr val="tx1"/>
                </a:solidFill>
              </a:rPr>
              <a:t>代价</a:t>
            </a:r>
            <a:r>
              <a:rPr lang="zh-CN" altLang="en-US" sz="1600">
                <a:solidFill>
                  <a:schemeClr val="tx1"/>
                </a:solidFill>
              </a:rPr>
              <a:t>：增加通信开销</a:t>
            </a:r>
            <a:endParaRPr lang="zh-CN" altLang="en-US" sz="1600">
              <a:solidFill>
                <a:schemeClr val="tx1"/>
              </a:solidFill>
            </a:endParaRPr>
          </a:p>
          <a:p>
            <a:pPr lvl="0">
              <a:lnSpc>
                <a:spcPct val="150000"/>
              </a:lnSpc>
              <a:spcAft>
                <a:spcPts val="0"/>
              </a:spcAft>
            </a:pPr>
            <a:r>
              <a:rPr lang="zh-CN" altLang="en-US" sz="1600" b="1">
                <a:solidFill>
                  <a:schemeClr val="tx1"/>
                </a:solidFill>
                <a:sym typeface="+mn-ea"/>
              </a:rPr>
              <a:t>实际应用</a:t>
            </a:r>
            <a:endParaRPr lang="zh-CN" altLang="en-US" sz="1600">
              <a:solidFill>
                <a:schemeClr val="tx1"/>
              </a:solidFill>
              <a:sym typeface="+mn-ea"/>
            </a:endParaRPr>
          </a:p>
          <a:p>
            <a:pPr lvl="1">
              <a:lnSpc>
                <a:spcPct val="150000"/>
              </a:lnSpc>
              <a:spcAft>
                <a:spcPts val="0"/>
              </a:spcAft>
            </a:pPr>
            <a:r>
              <a:rPr lang="zh-CN" altLang="en-US">
                <a:solidFill>
                  <a:schemeClr val="tx1"/>
                </a:solidFill>
                <a:sym typeface="+mn-ea"/>
              </a:rPr>
              <a:t>考虑专家放置</a:t>
            </a:r>
            <a:r>
              <a:rPr lang="zh-CN" altLang="en-US">
                <a:solidFill>
                  <a:schemeClr val="tx1"/>
                </a:solidFill>
                <a:sym typeface="+mn-ea"/>
              </a:rPr>
              <a:t>网络拓扑结构</a:t>
            </a:r>
            <a:endParaRPr lang="zh-CN" altLang="en-US">
              <a:solidFill>
                <a:schemeClr val="tx1"/>
              </a:solidFill>
              <a:sym typeface="+mn-ea"/>
            </a:endParaRPr>
          </a:p>
          <a:p>
            <a:pPr lvl="1">
              <a:lnSpc>
                <a:spcPct val="150000"/>
              </a:lnSpc>
              <a:spcAft>
                <a:spcPts val="0"/>
              </a:spcAft>
            </a:pPr>
            <a:r>
              <a:rPr lang="zh-CN" altLang="en-US">
                <a:solidFill>
                  <a:schemeClr val="tx1"/>
                </a:solidFill>
                <a:sym typeface="+mn-ea"/>
              </a:rPr>
              <a:t>与其他并行方式</a:t>
            </a:r>
            <a:r>
              <a:rPr lang="en-US" altLang="zh-CN">
                <a:solidFill>
                  <a:schemeClr val="tx1"/>
                </a:solidFill>
                <a:sym typeface="+mn-ea"/>
              </a:rPr>
              <a:t>(</a:t>
            </a:r>
            <a:r>
              <a:rPr lang="zh-CN" altLang="en-US">
                <a:solidFill>
                  <a:schemeClr val="tx1"/>
                </a:solidFill>
                <a:sym typeface="+mn-ea"/>
              </a:rPr>
              <a:t>比如</a:t>
            </a:r>
            <a:r>
              <a:rPr lang="zh-CN" altLang="en-US">
                <a:solidFill>
                  <a:schemeClr val="tx1"/>
                </a:solidFill>
                <a:sym typeface="+mn-ea"/>
              </a:rPr>
              <a:t>数据并行、流水线</a:t>
            </a:r>
            <a:r>
              <a:rPr lang="zh-CN" altLang="en-US">
                <a:solidFill>
                  <a:schemeClr val="tx1"/>
                </a:solidFill>
                <a:sym typeface="+mn-ea"/>
              </a:rPr>
              <a:t>并行等</a:t>
            </a:r>
            <a:r>
              <a:rPr lang="en-US" altLang="zh-CN">
                <a:solidFill>
                  <a:schemeClr val="tx1"/>
                </a:solidFill>
                <a:sym typeface="+mn-ea"/>
              </a:rPr>
              <a:t>)</a:t>
            </a:r>
            <a:r>
              <a:rPr lang="zh-CN" altLang="en-US">
                <a:solidFill>
                  <a:schemeClr val="tx1"/>
                </a:solidFill>
                <a:sym typeface="+mn-ea"/>
              </a:rPr>
              <a:t>的配合</a:t>
            </a:r>
            <a:endParaRPr lang="zh-CN" altLang="en-US">
              <a:solidFill>
                <a:schemeClr val="tx1"/>
              </a:solidFill>
              <a:sym typeface="+mn-ea"/>
            </a:endParaRPr>
          </a:p>
          <a:p>
            <a:pPr lvl="1">
              <a:lnSpc>
                <a:spcPct val="150000"/>
              </a:lnSpc>
              <a:spcAft>
                <a:spcPts val="0"/>
              </a:spcAft>
            </a:pPr>
            <a:r>
              <a:rPr lang="zh-CN" altLang="en-US">
                <a:solidFill>
                  <a:schemeClr val="tx1"/>
                </a:solidFill>
                <a:sym typeface="+mn-ea"/>
              </a:rPr>
              <a:t>实现高效的</a:t>
            </a:r>
            <a:r>
              <a:rPr lang="en-US" altLang="zh-CN">
                <a:solidFill>
                  <a:schemeClr val="tx1"/>
                </a:solidFill>
                <a:sym typeface="+mn-ea"/>
              </a:rPr>
              <a:t>All-to-All</a:t>
            </a:r>
            <a:r>
              <a:rPr lang="zh-CN" altLang="en-US">
                <a:solidFill>
                  <a:schemeClr val="tx1"/>
                </a:solidFill>
                <a:sym typeface="+mn-ea"/>
              </a:rPr>
              <a:t>通信和管理分布式状态需要专门的库</a:t>
            </a:r>
            <a:r>
              <a:rPr lang="en-US" altLang="zh-CN">
                <a:solidFill>
                  <a:schemeClr val="tx1"/>
                </a:solidFill>
                <a:sym typeface="+mn-ea"/>
              </a:rPr>
              <a:t>——DeepSpeed</a:t>
            </a:r>
            <a:endParaRPr lang="zh-CN" altLang="en-US">
              <a:solidFill>
                <a:schemeClr val="tx1"/>
              </a:solidFill>
            </a:endParaRPr>
          </a:p>
          <a:p>
            <a:pPr marL="0" lvl="0" indent="0">
              <a:lnSpc>
                <a:spcPct val="150000"/>
              </a:lnSpc>
              <a:spcAft>
                <a:spcPts val="0"/>
              </a:spcAft>
              <a:buNone/>
            </a:pPr>
            <a:endParaRPr lang="zh-CN" altLang="en-US">
              <a:solidFill>
                <a:schemeClr val="tx1"/>
              </a:solidFill>
            </a:endParaRPr>
          </a:p>
        </p:txBody>
      </p:sp>
      <p:sp>
        <p:nvSpPr>
          <p:cNvPr id="6" name="文本框 5"/>
          <p:cNvSpPr txBox="1"/>
          <p:nvPr/>
        </p:nvSpPr>
        <p:spPr>
          <a:xfrm>
            <a:off x="555625" y="6569075"/>
            <a:ext cx="8045450" cy="245110"/>
          </a:xfrm>
          <a:prstGeom prst="rect">
            <a:avLst/>
          </a:prstGeom>
          <a:noFill/>
        </p:spPr>
        <p:txBody>
          <a:bodyPr wrap="square" rtlCol="0">
            <a:spAutoFit/>
          </a:bodyPr>
          <a:p>
            <a:r>
              <a:rPr lang="zh-CN" altLang="en-US" sz="1000"/>
              <a:t>参考链接：</a:t>
            </a:r>
            <a:r>
              <a:rPr lang="en-US" altLang="zh-CN" sz="1000"/>
              <a:t>https://apxml.com/zh/courses/mixture-of-experts/chapter-4-scaling-moe-distributed-training/frameworks-distributed-moe</a:t>
            </a:r>
            <a:endParaRPr lang="en-US" altLang="zh-CN" sz="1000"/>
          </a:p>
        </p:txBody>
      </p:sp>
    </p:spTree>
    <p:custDataLst>
      <p:tags r:id="rId5"/>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solidFill>
                  <a:schemeClr val="tx1"/>
                </a:solidFill>
                <a:latin typeface="Arial" panose="020B0604020202020204" pitchFamily="34" charset="0"/>
                <a:ea typeface="微软雅黑" panose="020B0503020204020204" charset="-122"/>
                <a:cs typeface="Arial" panose="020B0604020202020204" pitchFamily="34" charset="0"/>
                <a:sym typeface="+mn-ea"/>
              </a:rPr>
              <a:t>MOE</a:t>
            </a:r>
            <a:r>
              <a:rPr lang="zh-CN" altLang="en-US">
                <a:solidFill>
                  <a:schemeClr val="tx1"/>
                </a:solidFill>
                <a:latin typeface="Arial" panose="020B0604020202020204" pitchFamily="34" charset="0"/>
                <a:ea typeface="微软雅黑" panose="020B0503020204020204" charset="-122"/>
                <a:cs typeface="Arial" panose="020B0604020202020204" pitchFamily="34" charset="0"/>
                <a:sym typeface="+mn-ea"/>
              </a:rPr>
              <a:t>分布式训练与扩展策略</a:t>
            </a:r>
            <a:endParaRPr lang="zh-CN" altLang="en-US"/>
          </a:p>
        </p:txBody>
      </p:sp>
      <p:sp>
        <p:nvSpPr>
          <p:cNvPr id="3" name="内容占位符 2"/>
          <p:cNvSpPr>
            <a:spLocks noGrp="1"/>
          </p:cNvSpPr>
          <p:nvPr>
            <p:ph idx="1"/>
            <p:custDataLst>
              <p:tags r:id="rId2"/>
            </p:custDataLst>
          </p:nvPr>
        </p:nvSpPr>
        <p:spPr>
          <a:xfrm>
            <a:off x="608330" y="1490345"/>
            <a:ext cx="3796030" cy="4759325"/>
          </a:xfrm>
        </p:spPr>
        <p:txBody>
          <a:bodyPr>
            <a:normAutofit lnSpcReduction="10000"/>
          </a:bodyPr>
          <a:p>
            <a:pPr>
              <a:lnSpc>
                <a:spcPct val="150000"/>
              </a:lnSpc>
              <a:spcAft>
                <a:spcPts val="0"/>
              </a:spcAft>
            </a:pPr>
            <a:r>
              <a:rPr lang="zh-CN" altLang="en-US" sz="1800" b="1">
                <a:solidFill>
                  <a:schemeClr val="tx1"/>
                </a:solidFill>
                <a:sym typeface="+mn-ea"/>
              </a:rPr>
              <a:t>专家并行</a:t>
            </a:r>
            <a:r>
              <a:rPr lang="en-US" altLang="zh-CN" sz="1800" b="1">
                <a:solidFill>
                  <a:schemeClr val="tx1"/>
                </a:solidFill>
                <a:sym typeface="+mn-ea"/>
              </a:rPr>
              <a:t> (Expert Parallelism)</a:t>
            </a:r>
            <a:endParaRPr lang="en-US" altLang="zh-CN" sz="1800" b="1">
              <a:solidFill>
                <a:schemeClr val="tx1"/>
              </a:solidFill>
            </a:endParaRPr>
          </a:p>
          <a:p>
            <a:pPr>
              <a:lnSpc>
                <a:spcPct val="150000"/>
              </a:lnSpc>
              <a:spcAft>
                <a:spcPts val="0"/>
              </a:spcAft>
            </a:pPr>
            <a:r>
              <a:rPr lang="zh-CN" altLang="en-US" sz="1800" b="1">
                <a:solidFill>
                  <a:schemeClr val="tx1"/>
                </a:solidFill>
                <a:sym typeface="+mn-ea"/>
              </a:rPr>
              <a:t>分布式</a:t>
            </a:r>
            <a:r>
              <a:rPr lang="en-US" altLang="zh-CN" sz="1800" b="1">
                <a:solidFill>
                  <a:schemeClr val="tx1"/>
                </a:solidFill>
                <a:sym typeface="+mn-ea"/>
              </a:rPr>
              <a:t>MoE</a:t>
            </a:r>
            <a:r>
              <a:rPr lang="zh-CN" altLang="en-US" sz="1800" b="1">
                <a:solidFill>
                  <a:schemeClr val="tx1"/>
                </a:solidFill>
                <a:sym typeface="+mn-ea"/>
              </a:rPr>
              <a:t>训练中的难点</a:t>
            </a:r>
            <a:endParaRPr lang="zh-CN" altLang="en-US" sz="1800" b="1">
              <a:solidFill>
                <a:schemeClr val="tx1"/>
              </a:solidFill>
              <a:sym typeface="+mn-ea"/>
            </a:endParaRPr>
          </a:p>
          <a:p>
            <a:pPr lvl="1">
              <a:lnSpc>
                <a:spcPct val="150000"/>
              </a:lnSpc>
              <a:spcAft>
                <a:spcPts val="0"/>
              </a:spcAft>
            </a:pPr>
            <a:r>
              <a:rPr lang="en-US" altLang="zh-CN" sz="1800">
                <a:solidFill>
                  <a:schemeClr val="tx1"/>
                </a:solidFill>
                <a:sym typeface="+mn-ea"/>
              </a:rPr>
              <a:t>All-to-All</a:t>
            </a:r>
            <a:r>
              <a:rPr lang="zh-CN" altLang="en-US" sz="1800">
                <a:solidFill>
                  <a:schemeClr val="tx1"/>
                </a:solidFill>
                <a:sym typeface="+mn-ea"/>
              </a:rPr>
              <a:t>通信开销</a:t>
            </a:r>
            <a:endParaRPr lang="zh-CN" altLang="en-US" sz="1800">
              <a:solidFill>
                <a:schemeClr val="tx1"/>
              </a:solidFill>
              <a:sym typeface="+mn-ea"/>
            </a:endParaRPr>
          </a:p>
          <a:p>
            <a:pPr lvl="2">
              <a:lnSpc>
                <a:spcPct val="150000"/>
              </a:lnSpc>
              <a:spcAft>
                <a:spcPts val="0"/>
              </a:spcAft>
            </a:pPr>
            <a:r>
              <a:rPr lang="en-US" altLang="zh-CN" sz="1800">
                <a:solidFill>
                  <a:schemeClr val="tx1"/>
                </a:solidFill>
                <a:sym typeface="+mn-ea"/>
              </a:rPr>
              <a:t>vs All-Reduce</a:t>
            </a:r>
            <a:endParaRPr lang="zh-CN" altLang="en-US" sz="1800">
              <a:solidFill>
                <a:schemeClr val="tx1"/>
              </a:solidFill>
              <a:sym typeface="+mn-ea"/>
            </a:endParaRPr>
          </a:p>
          <a:p>
            <a:pPr lvl="2">
              <a:lnSpc>
                <a:spcPct val="150000"/>
              </a:lnSpc>
              <a:spcAft>
                <a:spcPts val="0"/>
              </a:spcAft>
            </a:pPr>
            <a:r>
              <a:rPr lang="zh-CN" altLang="en-US" sz="1800">
                <a:solidFill>
                  <a:schemeClr val="tx1"/>
                </a:solidFill>
                <a:sym typeface="+mn-ea"/>
              </a:rPr>
              <a:t>带宽密集；延迟敏感；依赖网络拓扑</a:t>
            </a:r>
            <a:endParaRPr lang="zh-CN" altLang="en-US" sz="1800">
              <a:solidFill>
                <a:schemeClr val="tx1"/>
              </a:solidFill>
              <a:sym typeface="+mn-ea"/>
            </a:endParaRPr>
          </a:p>
          <a:p>
            <a:pPr lvl="1">
              <a:lnSpc>
                <a:spcPct val="150000"/>
              </a:lnSpc>
              <a:spcAft>
                <a:spcPts val="0"/>
              </a:spcAft>
            </a:pPr>
            <a:r>
              <a:rPr lang="zh-CN" altLang="en-US" sz="1800">
                <a:solidFill>
                  <a:schemeClr val="tx1"/>
                </a:solidFill>
                <a:sym typeface="+mn-ea"/>
              </a:rPr>
              <a:t>设备间负载不均衡</a:t>
            </a:r>
            <a:endParaRPr lang="zh-CN" altLang="en-US" sz="1800">
              <a:solidFill>
                <a:schemeClr val="tx1"/>
              </a:solidFill>
              <a:sym typeface="+mn-ea"/>
            </a:endParaRPr>
          </a:p>
          <a:p>
            <a:pPr lvl="1">
              <a:lnSpc>
                <a:spcPct val="150000"/>
              </a:lnSpc>
              <a:spcAft>
                <a:spcPts val="0"/>
              </a:spcAft>
            </a:pPr>
            <a:r>
              <a:rPr lang="zh-CN" altLang="en-US" sz="1800">
                <a:solidFill>
                  <a:schemeClr val="tx1"/>
                </a:solidFill>
                <a:sym typeface="+mn-ea"/>
              </a:rPr>
              <a:t>内存限制与管理</a:t>
            </a:r>
            <a:endParaRPr lang="zh-CN" altLang="en-US" sz="1800">
              <a:solidFill>
                <a:schemeClr val="tx1"/>
              </a:solidFill>
              <a:sym typeface="+mn-ea"/>
            </a:endParaRPr>
          </a:p>
          <a:p>
            <a:pPr lvl="1">
              <a:lnSpc>
                <a:spcPct val="150000"/>
              </a:lnSpc>
              <a:spcAft>
                <a:spcPts val="0"/>
              </a:spcAft>
            </a:pPr>
            <a:r>
              <a:rPr lang="zh-CN" altLang="en-US" sz="1800">
                <a:solidFill>
                  <a:schemeClr val="tx1"/>
                </a:solidFill>
                <a:sym typeface="+mn-ea"/>
              </a:rPr>
              <a:t>调试与实现复杂性</a:t>
            </a:r>
            <a:endParaRPr lang="zh-CN" altLang="en-US" sz="1800">
              <a:solidFill>
                <a:schemeClr val="tx1"/>
              </a:solidFill>
              <a:sym typeface="+mn-ea"/>
            </a:endParaRPr>
          </a:p>
          <a:p>
            <a:pPr lvl="0">
              <a:lnSpc>
                <a:spcPct val="150000"/>
              </a:lnSpc>
              <a:spcAft>
                <a:spcPts val="0"/>
              </a:spcAft>
            </a:pPr>
            <a:r>
              <a:rPr lang="zh-CN" altLang="en-US" sz="1800" b="1">
                <a:solidFill>
                  <a:schemeClr val="tx1"/>
                </a:solidFill>
                <a:sym typeface="+mn-ea"/>
              </a:rPr>
              <a:t>分布式</a:t>
            </a:r>
            <a:r>
              <a:rPr lang="en-US" altLang="zh-CN" sz="1800" b="1">
                <a:solidFill>
                  <a:schemeClr val="tx1"/>
                </a:solidFill>
                <a:sym typeface="+mn-ea"/>
              </a:rPr>
              <a:t>MOE</a:t>
            </a:r>
            <a:r>
              <a:rPr lang="zh-CN" altLang="en-US" sz="1800" b="1">
                <a:solidFill>
                  <a:schemeClr val="tx1"/>
                </a:solidFill>
                <a:sym typeface="+mn-ea"/>
              </a:rPr>
              <a:t>框架</a:t>
            </a:r>
            <a:endParaRPr lang="zh-CN" altLang="en-US" sz="1800" b="1">
              <a:solidFill>
                <a:schemeClr val="tx1"/>
              </a:solidFill>
              <a:sym typeface="+mn-ea"/>
            </a:endParaRPr>
          </a:p>
          <a:p>
            <a:pPr lvl="1">
              <a:lnSpc>
                <a:spcPct val="150000"/>
              </a:lnSpc>
              <a:spcAft>
                <a:spcPts val="0"/>
              </a:spcAft>
            </a:pPr>
            <a:r>
              <a:rPr lang="en-US" altLang="zh-CN" sz="1800">
                <a:solidFill>
                  <a:schemeClr val="tx1"/>
                </a:solidFill>
                <a:sym typeface="+mn-ea"/>
              </a:rPr>
              <a:t>DeepSpeed MOE</a:t>
            </a:r>
            <a:endParaRPr lang="zh-CN" altLang="en-US" sz="1800">
              <a:solidFill>
                <a:schemeClr val="tx1"/>
              </a:solidFill>
              <a:sym typeface="+mn-ea"/>
            </a:endParaRPr>
          </a:p>
          <a:p>
            <a:pPr>
              <a:lnSpc>
                <a:spcPct val="150000"/>
              </a:lnSpc>
              <a:spcAft>
                <a:spcPts val="0"/>
              </a:spcAft>
            </a:pPr>
            <a:endParaRPr lang="en-US" altLang="zh-CN" sz="1800" b="1">
              <a:solidFill>
                <a:schemeClr val="tx1"/>
              </a:solidFill>
            </a:endParaRPr>
          </a:p>
          <a:p>
            <a:pPr marL="0" indent="0">
              <a:lnSpc>
                <a:spcPct val="150000"/>
              </a:lnSpc>
              <a:spcAft>
                <a:spcPts val="0"/>
              </a:spcAft>
              <a:buNone/>
            </a:pPr>
            <a:endParaRPr lang="en-US" altLang="zh-CN" sz="1800" b="1">
              <a:solidFill>
                <a:schemeClr val="tx1"/>
              </a:solidFill>
            </a:endParaRPr>
          </a:p>
        </p:txBody>
      </p:sp>
      <p:graphicFrame>
        <p:nvGraphicFramePr>
          <p:cNvPr id="5" name="表格 4"/>
          <p:cNvGraphicFramePr/>
          <p:nvPr>
            <p:custDataLst>
              <p:tags r:id="rId3"/>
            </p:custDataLst>
          </p:nvPr>
        </p:nvGraphicFramePr>
        <p:xfrm>
          <a:off x="4761230" y="1743710"/>
          <a:ext cx="6960235" cy="3953510"/>
        </p:xfrm>
        <a:graphic>
          <a:graphicData uri="http://schemas.openxmlformats.org/drawingml/2006/table">
            <a:tbl>
              <a:tblPr firstRow="1" bandRow="1">
                <a:tableStyleId>{5C22544A-7EE6-4342-B048-85BDC9FD1C3A}</a:tableStyleId>
              </a:tblPr>
              <a:tblGrid>
                <a:gridCol w="1505585"/>
                <a:gridCol w="2896235"/>
                <a:gridCol w="2558415"/>
              </a:tblGrid>
              <a:tr h="636270">
                <a:tc>
                  <a:txBody>
                    <a:bodyPr/>
                    <a:p>
                      <a:pPr algn="ctr">
                        <a:lnSpc>
                          <a:spcPct val="120000"/>
                        </a:lnSpc>
                      </a:pPr>
                      <a:r>
                        <a:rPr lang="zh-CN" altLang="en-US" sz="1400" b="1" i="0" spc="130">
                          <a:solidFill>
                            <a:schemeClr val="bg1"/>
                          </a:solidFill>
                          <a:latin typeface="Arial" panose="020B0604020202020204" pitchFamily="34" charset="0"/>
                          <a:ea typeface="微软雅黑" panose="020B0503020204020204" charset="-122"/>
                        </a:rPr>
                        <a:t>维度</a:t>
                      </a:r>
                      <a:endParaRPr lang="zh-CN" altLang="en-US" sz="1400" b="1" i="0" spc="130">
                        <a:solidFill>
                          <a:schemeClr val="bg1"/>
                        </a:solidFill>
                        <a:latin typeface="Arial" panose="020B0604020202020204" pitchFamily="34" charset="0"/>
                        <a:ea typeface="微软雅黑" panose="020B0503020204020204" charset="-122"/>
                      </a:endParaRPr>
                    </a:p>
                  </a:txBody>
                  <a:tcPr marL="254000" marR="254000" marT="177800" marB="177800" anchor="ctr" anchorCtr="0"/>
                </a:tc>
                <a:tc>
                  <a:txBody>
                    <a:bodyPr/>
                    <a:p>
                      <a:pPr algn="ctr">
                        <a:lnSpc>
                          <a:spcPct val="120000"/>
                        </a:lnSpc>
                      </a:pPr>
                      <a:r>
                        <a:rPr lang="zh-CN" altLang="en-US" sz="1400" b="1" i="0">
                          <a:solidFill>
                            <a:schemeClr val="bg1"/>
                          </a:solidFill>
                          <a:latin typeface="Arial" panose="020B0604020202020204" pitchFamily="34" charset="0"/>
                          <a:ea typeface="微软雅黑" panose="020B0503020204020204" charset="-122"/>
                          <a:cs typeface="Arial" panose="020B0604020202020204" pitchFamily="34" charset="0"/>
                        </a:rPr>
                        <a:t>标准数据并行 </a:t>
                      </a:r>
                      <a:r>
                        <a:rPr lang="en-US" altLang="zh-CN" sz="1400" b="1" i="0">
                          <a:solidFill>
                            <a:schemeClr val="bg1"/>
                          </a:solidFill>
                          <a:latin typeface="Arial" panose="020B0604020202020204" pitchFamily="34" charset="0"/>
                          <a:ea typeface="微软雅黑" panose="020B0503020204020204" charset="-122"/>
                          <a:cs typeface="Arial" panose="020B0604020202020204" pitchFamily="34" charset="0"/>
                        </a:rPr>
                        <a:t>(All-Reduce)</a:t>
                      </a:r>
                      <a:endParaRPr lang="en-US" altLang="zh-CN" sz="1400" b="1" i="0">
                        <a:solidFill>
                          <a:schemeClr val="bg1"/>
                        </a:solidFill>
                        <a:latin typeface="Arial" panose="020B0604020202020204" pitchFamily="34" charset="0"/>
                        <a:ea typeface="微软雅黑" panose="020B0503020204020204" charset="-122"/>
                        <a:cs typeface="Arial" panose="020B0604020202020204" pitchFamily="34" charset="0"/>
                      </a:endParaRPr>
                    </a:p>
                  </a:txBody>
                  <a:tcPr marL="254000" marR="254000" marT="177800" marB="177800" anchor="ctr" anchorCtr="0"/>
                </a:tc>
                <a:tc>
                  <a:txBody>
                    <a:bodyPr/>
                    <a:p>
                      <a:pPr algn="ctr">
                        <a:lnSpc>
                          <a:spcPct val="120000"/>
                        </a:lnSpc>
                      </a:pPr>
                      <a:r>
                        <a:rPr lang="en-US" altLang="zh-CN" sz="1400" b="1" i="0">
                          <a:solidFill>
                            <a:schemeClr val="bg1"/>
                          </a:solidFill>
                          <a:latin typeface="Arial" panose="020B0604020202020204" pitchFamily="34" charset="0"/>
                          <a:ea typeface="微软雅黑" panose="020B0503020204020204" charset="-122"/>
                          <a:cs typeface="Arial" panose="020B0604020202020204" pitchFamily="34" charset="0"/>
                        </a:rPr>
                        <a:t>MoE</a:t>
                      </a:r>
                      <a:r>
                        <a:rPr lang="zh-CN" altLang="en-US" sz="1400" b="1" i="0">
                          <a:solidFill>
                            <a:schemeClr val="bg1"/>
                          </a:solidFill>
                          <a:latin typeface="Arial" panose="020B0604020202020204" pitchFamily="34" charset="0"/>
                          <a:ea typeface="微软雅黑" panose="020B0503020204020204" charset="-122"/>
                          <a:cs typeface="Arial" panose="020B0604020202020204" pitchFamily="34" charset="0"/>
                        </a:rPr>
                        <a:t>专家并行 </a:t>
                      </a:r>
                      <a:r>
                        <a:rPr lang="en-US" altLang="zh-CN" sz="1400" b="1" i="0">
                          <a:solidFill>
                            <a:schemeClr val="bg1"/>
                          </a:solidFill>
                          <a:latin typeface="Arial" panose="020B0604020202020204" pitchFamily="34" charset="0"/>
                          <a:ea typeface="微软雅黑" panose="020B0503020204020204" charset="-122"/>
                          <a:cs typeface="Arial" panose="020B0604020202020204" pitchFamily="34" charset="0"/>
                        </a:rPr>
                        <a:t>(All-to-All)</a:t>
                      </a:r>
                      <a:endParaRPr lang="en-US" altLang="zh-CN" sz="1400" b="1" i="0">
                        <a:solidFill>
                          <a:schemeClr val="bg1"/>
                        </a:solidFill>
                        <a:latin typeface="Arial" panose="020B0604020202020204" pitchFamily="34" charset="0"/>
                        <a:ea typeface="微软雅黑" panose="020B0503020204020204" charset="-122"/>
                        <a:cs typeface="Arial" panose="020B0604020202020204" pitchFamily="34" charset="0"/>
                      </a:endParaRPr>
                    </a:p>
                  </a:txBody>
                  <a:tcPr marL="254000" marR="254000" marT="177800" marB="177800" anchor="ctr" anchorCtr="0"/>
                </a:tc>
              </a:tr>
              <a:tr h="635635">
                <a:tc>
                  <a:txBody>
                    <a:bodyPr/>
                    <a:p>
                      <a:pPr algn="ctr">
                        <a:lnSpc>
                          <a:spcPct val="120000"/>
                        </a:lnSpc>
                      </a:pPr>
                      <a:r>
                        <a:rPr lang="zh-CN" altLang="en-US" sz="1400" b="1" i="0" spc="130">
                          <a:solidFill>
                            <a:srgbClr val="0F1115"/>
                          </a:solidFill>
                          <a:latin typeface="Arial" panose="020B0604020202020204" pitchFamily="34" charset="0"/>
                          <a:ea typeface="微软雅黑" panose="020B0503020204020204" charset="-122"/>
                        </a:rPr>
                        <a:t>通信内容</a:t>
                      </a:r>
                      <a:endParaRPr lang="zh-CN" altLang="en-US" sz="1400" b="1" i="0" spc="130">
                        <a:solidFill>
                          <a:srgbClr val="0F1115"/>
                        </a:solidFill>
                        <a:latin typeface="Arial" panose="020B0604020202020204" pitchFamily="34" charset="0"/>
                        <a:ea typeface="微软雅黑" panose="020B0503020204020204" charset="-122"/>
                      </a:endParaRPr>
                    </a:p>
                  </a:txBody>
                  <a:tcPr marL="254000" marR="254000" marT="177800" marB="177800" anchor="ctr" anchorCtr="0"/>
                </a:tc>
                <a:tc>
                  <a:txBody>
                    <a:bodyPr/>
                    <a:p>
                      <a:pPr algn="ctr">
                        <a:lnSpc>
                          <a:spcPct val="120000"/>
                        </a:lnSpc>
                      </a:pPr>
                      <a:r>
                        <a:rPr lang="zh-CN" altLang="en-US" sz="1400" b="0" i="0">
                          <a:solidFill>
                            <a:srgbClr val="0F1115"/>
                          </a:solidFill>
                          <a:latin typeface="Arial" panose="020B0604020202020204" pitchFamily="34" charset="0"/>
                          <a:ea typeface="微软雅黑" panose="020B0503020204020204" charset="-122"/>
                        </a:rPr>
                        <a:t>梯度（模型的更新量）</a:t>
                      </a:r>
                      <a:endParaRPr lang="zh-CN" altLang="en-US" sz="1400" b="0" i="0">
                        <a:solidFill>
                          <a:srgbClr val="0F1115"/>
                        </a:solidFill>
                        <a:latin typeface="Arial" panose="020B0604020202020204" pitchFamily="34" charset="0"/>
                        <a:ea typeface="微软雅黑" panose="020B0503020204020204" charset="-122"/>
                      </a:endParaRPr>
                    </a:p>
                  </a:txBody>
                  <a:tcPr marL="254000" marR="254000" marT="177800" marB="177800" anchor="ctr" anchorCtr="0"/>
                </a:tc>
                <a:tc>
                  <a:txBody>
                    <a:bodyPr/>
                    <a:p>
                      <a:pPr algn="ctr">
                        <a:lnSpc>
                          <a:spcPct val="120000"/>
                        </a:lnSpc>
                      </a:pPr>
                      <a:r>
                        <a:rPr lang="zh-CN" altLang="en-US" sz="1400" b="0" i="0">
                          <a:solidFill>
                            <a:srgbClr val="0F1115"/>
                          </a:solidFill>
                          <a:latin typeface="Arial" panose="020B0604020202020204" pitchFamily="34" charset="0"/>
                          <a:ea typeface="微软雅黑" panose="020B0503020204020204" charset="-122"/>
                          <a:cs typeface="Arial" panose="020B0604020202020204" pitchFamily="34" charset="0"/>
                        </a:rPr>
                        <a:t>激活值 </a:t>
                      </a:r>
                      <a:r>
                        <a:rPr lang="en-US" altLang="zh-CN" sz="1400" b="0" i="0">
                          <a:solidFill>
                            <a:srgbClr val="0F1115"/>
                          </a:solidFill>
                          <a:latin typeface="Arial" panose="020B0604020202020204" pitchFamily="34" charset="0"/>
                          <a:ea typeface="微软雅黑" panose="020B0503020204020204" charset="-122"/>
                          <a:cs typeface="Arial" panose="020B0604020202020204" pitchFamily="34" charset="0"/>
                        </a:rPr>
                        <a:t>/ Token</a:t>
                      </a:r>
                      <a:r>
                        <a:rPr lang="zh-CN" altLang="en-US" sz="1400" b="0" i="0">
                          <a:solidFill>
                            <a:srgbClr val="0F1115"/>
                          </a:solidFill>
                          <a:latin typeface="Arial" panose="020B0604020202020204" pitchFamily="34" charset="0"/>
                          <a:ea typeface="微软雅黑" panose="020B0503020204020204" charset="-122"/>
                          <a:cs typeface="Arial" panose="020B0604020202020204" pitchFamily="34" charset="0"/>
                        </a:rPr>
                        <a:t>（数据本身）</a:t>
                      </a:r>
                      <a:endParaRPr lang="zh-CN" altLang="en-US" sz="1400" b="0" i="0">
                        <a:solidFill>
                          <a:srgbClr val="0F1115"/>
                        </a:solidFill>
                        <a:latin typeface="Arial" panose="020B0604020202020204" pitchFamily="34" charset="0"/>
                        <a:ea typeface="微软雅黑" panose="020B0503020204020204" charset="-122"/>
                        <a:cs typeface="Arial" panose="020B0604020202020204" pitchFamily="34" charset="0"/>
                      </a:endParaRPr>
                    </a:p>
                  </a:txBody>
                  <a:tcPr marL="254000" marR="254000" marT="177800" marB="177800" anchor="ctr" anchorCtr="0"/>
                </a:tc>
              </a:tr>
              <a:tr h="893445">
                <a:tc>
                  <a:txBody>
                    <a:bodyPr/>
                    <a:p>
                      <a:pPr algn="ctr">
                        <a:lnSpc>
                          <a:spcPct val="120000"/>
                        </a:lnSpc>
                      </a:pPr>
                      <a:r>
                        <a:rPr lang="zh-CN" altLang="en-US" sz="1400" b="1" i="0" spc="130">
                          <a:solidFill>
                            <a:srgbClr val="0F1115"/>
                          </a:solidFill>
                          <a:latin typeface="Arial" panose="020B0604020202020204" pitchFamily="34" charset="0"/>
                          <a:ea typeface="微软雅黑" panose="020B0503020204020204" charset="-122"/>
                        </a:rPr>
                        <a:t>数据流向</a:t>
                      </a:r>
                      <a:endParaRPr lang="zh-CN" altLang="en-US" sz="1400" b="1" i="0" spc="130">
                        <a:solidFill>
                          <a:srgbClr val="0F1115"/>
                        </a:solidFill>
                        <a:latin typeface="Arial" panose="020B0604020202020204" pitchFamily="34" charset="0"/>
                        <a:ea typeface="微软雅黑" panose="020B0503020204020204" charset="-122"/>
                      </a:endParaRPr>
                    </a:p>
                  </a:txBody>
                  <a:tcPr marL="254000" marR="254000" marT="177800" marB="177800" anchor="ctr" anchorCtr="0"/>
                </a:tc>
                <a:tc>
                  <a:txBody>
                    <a:bodyPr/>
                    <a:p>
                      <a:pPr algn="ctr">
                        <a:lnSpc>
                          <a:spcPct val="120000"/>
                        </a:lnSpc>
                      </a:pPr>
                      <a:r>
                        <a:rPr lang="zh-CN" altLang="en-US" sz="1400" b="0" i="0">
                          <a:solidFill>
                            <a:srgbClr val="0F1115"/>
                          </a:solidFill>
                          <a:latin typeface="Arial" panose="020B0604020202020204" pitchFamily="34" charset="0"/>
                          <a:ea typeface="微软雅黑" panose="020B0503020204020204" charset="-122"/>
                        </a:rPr>
                        <a:t>多对多规约</a:t>
                      </a:r>
                      <a:endParaRPr lang="zh-CN" altLang="en-US" sz="1400" b="0" i="0">
                        <a:solidFill>
                          <a:srgbClr val="0F1115"/>
                        </a:solidFill>
                        <a:latin typeface="Arial" panose="020B0604020202020204" pitchFamily="34" charset="0"/>
                        <a:ea typeface="微软雅黑" panose="020B0503020204020204" charset="-122"/>
                      </a:endParaRPr>
                    </a:p>
                    <a:p>
                      <a:pPr algn="ctr">
                        <a:lnSpc>
                          <a:spcPct val="120000"/>
                        </a:lnSpc>
                      </a:pPr>
                      <a:r>
                        <a:rPr lang="zh-CN" altLang="en-US" sz="1400" b="0" i="0">
                          <a:solidFill>
                            <a:srgbClr val="0F1115"/>
                          </a:solidFill>
                          <a:latin typeface="Arial" panose="020B0604020202020204" pitchFamily="34" charset="0"/>
                          <a:ea typeface="微软雅黑" panose="020B0503020204020204" charset="-122"/>
                        </a:rPr>
                        <a:t>（大家的数据汇聚成一份）</a:t>
                      </a:r>
                      <a:endParaRPr lang="zh-CN" altLang="en-US" sz="1400" b="0" i="0">
                        <a:solidFill>
                          <a:srgbClr val="0F1115"/>
                        </a:solidFill>
                        <a:latin typeface="Arial" panose="020B0604020202020204" pitchFamily="34" charset="0"/>
                        <a:ea typeface="微软雅黑" panose="020B0503020204020204" charset="-122"/>
                      </a:endParaRPr>
                    </a:p>
                  </a:txBody>
                  <a:tcPr marL="254000" marR="254000" marT="177800" marB="177800" anchor="ctr" anchorCtr="0"/>
                </a:tc>
                <a:tc>
                  <a:txBody>
                    <a:bodyPr/>
                    <a:p>
                      <a:pPr algn="ctr">
                        <a:lnSpc>
                          <a:spcPct val="120000"/>
                        </a:lnSpc>
                      </a:pPr>
                      <a:r>
                        <a:rPr lang="zh-CN" altLang="en-US" sz="1400" b="0" i="0">
                          <a:solidFill>
                            <a:srgbClr val="0F1115"/>
                          </a:solidFill>
                          <a:latin typeface="Arial" panose="020B0604020202020204" pitchFamily="34" charset="0"/>
                          <a:ea typeface="微软雅黑" panose="020B0503020204020204" charset="-122"/>
                        </a:rPr>
                        <a:t>多对多置换</a:t>
                      </a:r>
                      <a:endParaRPr lang="zh-CN" altLang="en-US" sz="1400" b="0" i="0">
                        <a:solidFill>
                          <a:srgbClr val="0F1115"/>
                        </a:solidFill>
                        <a:latin typeface="Arial" panose="020B0604020202020204" pitchFamily="34" charset="0"/>
                        <a:ea typeface="微软雅黑" panose="020B0503020204020204" charset="-122"/>
                      </a:endParaRPr>
                    </a:p>
                    <a:p>
                      <a:pPr algn="ctr">
                        <a:lnSpc>
                          <a:spcPct val="120000"/>
                        </a:lnSpc>
                      </a:pPr>
                      <a:r>
                        <a:rPr lang="zh-CN" altLang="en-US" sz="1400" b="0" i="0">
                          <a:solidFill>
                            <a:srgbClr val="0F1115"/>
                          </a:solidFill>
                          <a:latin typeface="Arial" panose="020B0604020202020204" pitchFamily="34" charset="0"/>
                          <a:ea typeface="微软雅黑" panose="020B0503020204020204" charset="-122"/>
                        </a:rPr>
                        <a:t>（你的给我，我的给你）</a:t>
                      </a:r>
                      <a:endParaRPr lang="zh-CN" altLang="en-US" sz="1400" b="0" i="0">
                        <a:solidFill>
                          <a:srgbClr val="0F1115"/>
                        </a:solidFill>
                        <a:latin typeface="Arial" panose="020B0604020202020204" pitchFamily="34" charset="0"/>
                        <a:ea typeface="微软雅黑" panose="020B0503020204020204" charset="-122"/>
                      </a:endParaRPr>
                    </a:p>
                  </a:txBody>
                  <a:tcPr marL="254000" marR="254000" marT="177800" marB="177800" anchor="ctr" anchorCtr="0"/>
                </a:tc>
              </a:tr>
              <a:tr h="894080">
                <a:tc>
                  <a:txBody>
                    <a:bodyPr/>
                    <a:p>
                      <a:pPr algn="ctr">
                        <a:lnSpc>
                          <a:spcPct val="120000"/>
                        </a:lnSpc>
                      </a:pPr>
                      <a:r>
                        <a:rPr lang="zh-CN" altLang="en-US" sz="1400" b="1" i="0" spc="130">
                          <a:solidFill>
                            <a:srgbClr val="0F1115"/>
                          </a:solidFill>
                          <a:latin typeface="Arial" panose="020B0604020202020204" pitchFamily="34" charset="0"/>
                          <a:ea typeface="微软雅黑" panose="020B0503020204020204" charset="-122"/>
                        </a:rPr>
                        <a:t>数据量特征</a:t>
                      </a:r>
                      <a:endParaRPr lang="zh-CN" altLang="en-US" sz="1400" b="1" i="0" spc="130">
                        <a:solidFill>
                          <a:srgbClr val="0F1115"/>
                        </a:solidFill>
                        <a:latin typeface="Arial" panose="020B0604020202020204" pitchFamily="34" charset="0"/>
                        <a:ea typeface="微软雅黑" panose="020B0503020204020204" charset="-122"/>
                      </a:endParaRPr>
                    </a:p>
                  </a:txBody>
                  <a:tcPr marL="254000" marR="254000" marT="177800" marB="177800" anchor="ctr" anchorCtr="0"/>
                </a:tc>
                <a:tc>
                  <a:txBody>
                    <a:bodyPr/>
                    <a:p>
                      <a:pPr algn="ctr">
                        <a:lnSpc>
                          <a:spcPct val="120000"/>
                        </a:lnSpc>
                      </a:pPr>
                      <a:r>
                        <a:rPr lang="zh-CN" altLang="en-US" sz="1400" b="0" i="0">
                          <a:solidFill>
                            <a:srgbClr val="0F1115"/>
                          </a:solidFill>
                          <a:latin typeface="Arial" panose="020B0604020202020204" pitchFamily="34" charset="0"/>
                          <a:ea typeface="微软雅黑" panose="020B0503020204020204" charset="-122"/>
                        </a:rPr>
                        <a:t>恒定</a:t>
                      </a:r>
                      <a:endParaRPr lang="zh-CN" altLang="en-US" sz="1400" b="0" i="0">
                        <a:solidFill>
                          <a:srgbClr val="0F1115"/>
                        </a:solidFill>
                        <a:latin typeface="Arial" panose="020B0604020202020204" pitchFamily="34" charset="0"/>
                        <a:ea typeface="微软雅黑" panose="020B0503020204020204" charset="-122"/>
                      </a:endParaRPr>
                    </a:p>
                    <a:p>
                      <a:pPr algn="ctr">
                        <a:lnSpc>
                          <a:spcPct val="120000"/>
                        </a:lnSpc>
                      </a:pPr>
                      <a:r>
                        <a:rPr lang="zh-CN" altLang="en-US" sz="1400" b="0" i="0">
                          <a:solidFill>
                            <a:srgbClr val="0F1115"/>
                          </a:solidFill>
                          <a:latin typeface="Arial" panose="020B0604020202020204" pitchFamily="34" charset="0"/>
                          <a:ea typeface="微软雅黑" panose="020B0503020204020204" charset="-122"/>
                        </a:rPr>
                        <a:t>（取决于模型参数数量）</a:t>
                      </a:r>
                      <a:endParaRPr lang="zh-CN" altLang="en-US" sz="1400" b="0" i="0">
                        <a:solidFill>
                          <a:srgbClr val="0F1115"/>
                        </a:solidFill>
                        <a:latin typeface="Arial" panose="020B0604020202020204" pitchFamily="34" charset="0"/>
                        <a:ea typeface="微软雅黑" panose="020B0503020204020204" charset="-122"/>
                      </a:endParaRPr>
                    </a:p>
                  </a:txBody>
                  <a:tcPr marL="254000" marR="254000" marT="177800" marB="177800" anchor="ctr" anchorCtr="0"/>
                </a:tc>
                <a:tc>
                  <a:txBody>
                    <a:bodyPr/>
                    <a:p>
                      <a:pPr algn="ctr">
                        <a:lnSpc>
                          <a:spcPct val="120000"/>
                        </a:lnSpc>
                      </a:pPr>
                      <a:r>
                        <a:rPr lang="zh-CN" altLang="en-US" sz="1400" b="0" i="0">
                          <a:solidFill>
                            <a:srgbClr val="0F1115"/>
                          </a:solidFill>
                          <a:latin typeface="Arial" panose="020B0604020202020204" pitchFamily="34" charset="0"/>
                          <a:ea typeface="微软雅黑" panose="020B0503020204020204" charset="-122"/>
                        </a:rPr>
                        <a:t>动态变化</a:t>
                      </a:r>
                      <a:endParaRPr lang="zh-CN" altLang="en-US" sz="1400" b="0" i="0">
                        <a:solidFill>
                          <a:srgbClr val="0F1115"/>
                        </a:solidFill>
                        <a:latin typeface="Arial" panose="020B0604020202020204" pitchFamily="34" charset="0"/>
                        <a:ea typeface="微软雅黑" panose="020B0503020204020204" charset="-122"/>
                      </a:endParaRPr>
                    </a:p>
                    <a:p>
                      <a:pPr algn="ctr">
                        <a:lnSpc>
                          <a:spcPct val="120000"/>
                        </a:lnSpc>
                      </a:pPr>
                      <a:r>
                        <a:rPr lang="zh-CN" altLang="en-US" sz="1400" b="0" i="0">
                          <a:solidFill>
                            <a:srgbClr val="0F1115"/>
                          </a:solidFill>
                          <a:latin typeface="Arial" panose="020B0604020202020204" pitchFamily="34" charset="0"/>
                          <a:ea typeface="微软雅黑" panose="020B0503020204020204" charset="-122"/>
                        </a:rPr>
                        <a:t>（取决于路由结果）</a:t>
                      </a:r>
                      <a:endParaRPr lang="zh-CN" altLang="en-US" sz="1400" b="0" i="0">
                        <a:solidFill>
                          <a:srgbClr val="0F1115"/>
                        </a:solidFill>
                        <a:latin typeface="Arial" panose="020B0604020202020204" pitchFamily="34" charset="0"/>
                        <a:ea typeface="微软雅黑" panose="020B0503020204020204" charset="-122"/>
                      </a:endParaRPr>
                    </a:p>
                  </a:txBody>
                  <a:tcPr marL="254000" marR="254000" marT="177800" marB="177800" anchor="ctr" anchorCtr="0"/>
                </a:tc>
              </a:tr>
              <a:tr h="894080">
                <a:tc>
                  <a:txBody>
                    <a:bodyPr/>
                    <a:p>
                      <a:pPr algn="ctr">
                        <a:lnSpc>
                          <a:spcPct val="120000"/>
                        </a:lnSpc>
                      </a:pPr>
                      <a:r>
                        <a:rPr lang="zh-CN" altLang="en-US" sz="1400" b="1" i="0" spc="130">
                          <a:solidFill>
                            <a:srgbClr val="0F1115"/>
                          </a:solidFill>
                          <a:latin typeface="Arial" panose="020B0604020202020204" pitchFamily="34" charset="0"/>
                          <a:ea typeface="微软雅黑" panose="020B0503020204020204" charset="-122"/>
                        </a:rPr>
                        <a:t>通信压力</a:t>
                      </a:r>
                      <a:endParaRPr lang="zh-CN" altLang="en-US" sz="1400" b="1" i="0" spc="130">
                        <a:solidFill>
                          <a:srgbClr val="0F1115"/>
                        </a:solidFill>
                        <a:latin typeface="Arial" panose="020B0604020202020204" pitchFamily="34" charset="0"/>
                        <a:ea typeface="微软雅黑" panose="020B0503020204020204" charset="-122"/>
                      </a:endParaRPr>
                    </a:p>
                  </a:txBody>
                  <a:tcPr marL="254000" marR="254000" marT="177800" marB="177800" anchor="ctr" anchorCtr="0"/>
                </a:tc>
                <a:tc>
                  <a:txBody>
                    <a:bodyPr/>
                    <a:p>
                      <a:pPr algn="ctr">
                        <a:lnSpc>
                          <a:spcPct val="120000"/>
                        </a:lnSpc>
                      </a:pPr>
                      <a:r>
                        <a:rPr lang="zh-CN" altLang="en-US" sz="1400" b="0" i="0">
                          <a:solidFill>
                            <a:srgbClr val="0F1115"/>
                          </a:solidFill>
                          <a:latin typeface="Arial" panose="020B0604020202020204" pitchFamily="34" charset="0"/>
                          <a:ea typeface="微软雅黑" panose="020B0503020204020204" charset="-122"/>
                        </a:rPr>
                        <a:t>在训练迭代结束时的同步阶段</a:t>
                      </a:r>
                      <a:endParaRPr lang="zh-CN" altLang="en-US" sz="1400" b="0" i="0">
                        <a:solidFill>
                          <a:srgbClr val="0F1115"/>
                        </a:solidFill>
                        <a:latin typeface="Arial" panose="020B0604020202020204" pitchFamily="34" charset="0"/>
                        <a:ea typeface="微软雅黑" panose="020B0503020204020204" charset="-122"/>
                      </a:endParaRPr>
                    </a:p>
                  </a:txBody>
                  <a:tcPr marL="254000" marR="254000" marT="177800" marB="177800" anchor="ctr" anchorCtr="0"/>
                </a:tc>
                <a:tc>
                  <a:txBody>
                    <a:bodyPr/>
                    <a:p>
                      <a:pPr algn="ctr">
                        <a:lnSpc>
                          <a:spcPct val="120000"/>
                        </a:lnSpc>
                      </a:pPr>
                      <a:r>
                        <a:rPr lang="zh-CN" altLang="en-US" sz="1400" b="0" i="0">
                          <a:solidFill>
                            <a:srgbClr val="0F1115"/>
                          </a:solidFill>
                          <a:latin typeface="Arial" panose="020B0604020202020204" pitchFamily="34" charset="0"/>
                          <a:ea typeface="微软雅黑" panose="020B0503020204020204" charset="-122"/>
                          <a:cs typeface="Arial" panose="020B0604020202020204" pitchFamily="34" charset="0"/>
                        </a:rPr>
                        <a:t>在每个</a:t>
                      </a:r>
                      <a:r>
                        <a:rPr lang="en-US" altLang="zh-CN" sz="1400" b="0" i="0">
                          <a:solidFill>
                            <a:srgbClr val="0F1115"/>
                          </a:solidFill>
                          <a:latin typeface="Arial" panose="020B0604020202020204" pitchFamily="34" charset="0"/>
                          <a:ea typeface="微软雅黑" panose="020B0503020204020204" charset="-122"/>
                          <a:cs typeface="Arial" panose="020B0604020202020204" pitchFamily="34" charset="0"/>
                        </a:rPr>
                        <a:t>MoE</a:t>
                      </a:r>
                      <a:r>
                        <a:rPr lang="zh-CN" altLang="en-US" sz="1400" b="0" i="0">
                          <a:solidFill>
                            <a:srgbClr val="0F1115"/>
                          </a:solidFill>
                          <a:latin typeface="Arial" panose="020B0604020202020204" pitchFamily="34" charset="0"/>
                          <a:ea typeface="微软雅黑" panose="020B0503020204020204" charset="-122"/>
                          <a:cs typeface="Arial" panose="020B0604020202020204" pitchFamily="34" charset="0"/>
                        </a:rPr>
                        <a:t>层的前后</a:t>
                      </a:r>
                      <a:endParaRPr lang="zh-CN" altLang="en-US" sz="1400" b="0" i="0">
                        <a:solidFill>
                          <a:srgbClr val="0F1115"/>
                        </a:solidFill>
                        <a:latin typeface="Arial" panose="020B0604020202020204" pitchFamily="34" charset="0"/>
                        <a:ea typeface="微软雅黑" panose="020B0503020204020204" charset="-122"/>
                        <a:cs typeface="Arial" panose="020B0604020202020204" pitchFamily="34" charset="0"/>
                      </a:endParaRPr>
                    </a:p>
                    <a:p>
                      <a:pPr algn="ctr">
                        <a:lnSpc>
                          <a:spcPct val="120000"/>
                        </a:lnSpc>
                      </a:pPr>
                      <a:r>
                        <a:rPr lang="zh-CN" altLang="en-US" sz="1400" b="0" i="0">
                          <a:solidFill>
                            <a:srgbClr val="0F1115"/>
                          </a:solidFill>
                          <a:latin typeface="Arial" panose="020B0604020202020204" pitchFamily="34" charset="0"/>
                          <a:ea typeface="微软雅黑" panose="020B0503020204020204" charset="-122"/>
                          <a:cs typeface="Arial" panose="020B0604020202020204" pitchFamily="34" charset="0"/>
                        </a:rPr>
                        <a:t>（每层都要通信一次）</a:t>
                      </a:r>
                      <a:endParaRPr lang="zh-CN" altLang="en-US" sz="1400" b="0" i="0">
                        <a:solidFill>
                          <a:srgbClr val="0F1115"/>
                        </a:solidFill>
                        <a:latin typeface="Arial" panose="020B0604020202020204" pitchFamily="34" charset="0"/>
                        <a:ea typeface="微软雅黑" panose="020B0503020204020204" charset="-122"/>
                        <a:cs typeface="Arial" panose="020B0604020202020204" pitchFamily="34" charset="0"/>
                      </a:endParaRPr>
                    </a:p>
                  </a:txBody>
                  <a:tcPr marL="254000" marR="254000" marT="177800" marB="177800" anchor="ctr" anchorCtr="0"/>
                </a:tc>
              </a:tr>
            </a:tbl>
          </a:graphicData>
        </a:graphic>
      </p:graphicFrame>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608400" y="454730"/>
            <a:ext cx="10969200" cy="705600"/>
          </a:xfrm>
        </p:spPr>
        <p:txBody>
          <a:bodyPr/>
          <a:p>
            <a:r>
              <a:rPr lang="zh-CN" altLang="en-US">
                <a:solidFill>
                  <a:schemeClr val="tx1"/>
                </a:solidFill>
                <a:latin typeface="Arial" panose="020B0604020202020204" pitchFamily="34" charset="0"/>
                <a:ea typeface="微软雅黑" panose="020B0503020204020204" charset="-122"/>
                <a:cs typeface="Arial" panose="020B0604020202020204" pitchFamily="34" charset="0"/>
                <a:sym typeface="+mn-ea"/>
              </a:rPr>
              <a:t>分布式</a:t>
            </a:r>
            <a:r>
              <a:rPr lang="en-US" altLang="zh-CN">
                <a:solidFill>
                  <a:schemeClr val="tx1"/>
                </a:solidFill>
                <a:latin typeface="Arial" panose="020B0604020202020204" pitchFamily="34" charset="0"/>
                <a:ea typeface="微软雅黑" panose="020B0503020204020204" charset="-122"/>
                <a:cs typeface="Arial" panose="020B0604020202020204" pitchFamily="34" charset="0"/>
                <a:sym typeface="+mn-ea"/>
              </a:rPr>
              <a:t>MOE</a:t>
            </a:r>
            <a:r>
              <a:rPr lang="zh-CN" altLang="en-US">
                <a:solidFill>
                  <a:schemeClr val="tx1"/>
                </a:solidFill>
                <a:latin typeface="Arial" panose="020B0604020202020204" pitchFamily="34" charset="0"/>
                <a:ea typeface="微软雅黑" panose="020B0503020204020204" charset="-122"/>
                <a:cs typeface="Arial" panose="020B0604020202020204" pitchFamily="34" charset="0"/>
                <a:sym typeface="+mn-ea"/>
              </a:rPr>
              <a:t>框架：</a:t>
            </a:r>
            <a:r>
              <a:rPr lang="en-US" altLang="zh-CN">
                <a:solidFill>
                  <a:schemeClr val="tx1"/>
                </a:solidFill>
                <a:latin typeface="Arial" panose="020B0604020202020204" pitchFamily="34" charset="0"/>
                <a:ea typeface="微软雅黑" panose="020B0503020204020204" charset="-122"/>
                <a:cs typeface="Arial" panose="020B0604020202020204" pitchFamily="34" charset="0"/>
                <a:sym typeface="+mn-ea"/>
              </a:rPr>
              <a:t>DeepSpeed MOE</a:t>
            </a:r>
            <a:endParaRPr lang="zh-CN" altLang="en-US">
              <a:latin typeface="Arial" panose="020B0604020202020204" pitchFamily="34" charset="0"/>
              <a:ea typeface="微软雅黑" panose="020B0503020204020204" charset="-122"/>
              <a:cs typeface="Arial" panose="020B0604020202020204" pitchFamily="34" charset="0"/>
            </a:endParaRPr>
          </a:p>
        </p:txBody>
      </p:sp>
      <p:sp>
        <p:nvSpPr>
          <p:cNvPr id="4" name="文本框 3"/>
          <p:cNvSpPr txBox="1"/>
          <p:nvPr/>
        </p:nvSpPr>
        <p:spPr>
          <a:xfrm>
            <a:off x="684530" y="6550025"/>
            <a:ext cx="6299200" cy="245110"/>
          </a:xfrm>
          <a:prstGeom prst="rect">
            <a:avLst/>
          </a:prstGeom>
          <a:noFill/>
        </p:spPr>
        <p:txBody>
          <a:bodyPr wrap="square" rtlCol="0">
            <a:spAutoFit/>
          </a:bodyPr>
          <a:p>
            <a:pPr marL="0" lvl="2"/>
            <a:r>
              <a:rPr lang="zh-CN" altLang="en-US" sz="1000">
                <a:sym typeface="+mn-ea"/>
              </a:rPr>
              <a:t>参考链接：</a:t>
            </a:r>
            <a:r>
              <a:rPr lang="en-US" altLang="zh-CN" sz="1000">
                <a:latin typeface="Arial" panose="020B0604020202020204" pitchFamily="34" charset="0"/>
                <a:ea typeface="微软雅黑" panose="020B0503020204020204" charset="-122"/>
                <a:cs typeface="Arial" panose="020B0604020202020204" pitchFamily="34" charset="0"/>
                <a:sym typeface="+mn-ea"/>
              </a:rPr>
              <a:t>https://blog.csdn.net/zwqjoy/article/details/130732601</a:t>
            </a:r>
            <a:endParaRPr lang="en-US" altLang="zh-CN" sz="1000">
              <a:solidFill>
                <a:schemeClr val="tx1"/>
              </a:solidFill>
              <a:latin typeface="Arial" panose="020B0604020202020204" pitchFamily="34" charset="0"/>
              <a:ea typeface="微软雅黑" panose="020B0503020204020204" charset="-122"/>
              <a:cs typeface="Arial" panose="020B0604020202020204" pitchFamily="34" charset="0"/>
              <a:sym typeface="+mn-ea"/>
            </a:endParaRPr>
          </a:p>
        </p:txBody>
      </p:sp>
      <p:pic>
        <p:nvPicPr>
          <p:cNvPr id="8" name="图片 7"/>
          <p:cNvPicPr>
            <a:picLocks noChangeAspect="1"/>
          </p:cNvPicPr>
          <p:nvPr/>
        </p:nvPicPr>
        <p:blipFill>
          <a:blip r:embed="rId2"/>
          <a:stretch>
            <a:fillRect/>
          </a:stretch>
        </p:blipFill>
        <p:spPr>
          <a:xfrm>
            <a:off x="7833995" y="3502025"/>
            <a:ext cx="4239895" cy="3293110"/>
          </a:xfrm>
          <a:prstGeom prst="rect">
            <a:avLst/>
          </a:prstGeom>
        </p:spPr>
      </p:pic>
      <p:sp>
        <p:nvSpPr>
          <p:cNvPr id="3" name="内容占位符 2"/>
          <p:cNvSpPr>
            <a:spLocks noGrp="1"/>
          </p:cNvSpPr>
          <p:nvPr>
            <p:ph idx="1"/>
            <p:custDataLst>
              <p:tags r:id="rId3"/>
            </p:custDataLst>
          </p:nvPr>
        </p:nvSpPr>
        <p:spPr>
          <a:xfrm>
            <a:off x="608330" y="1343025"/>
            <a:ext cx="9608185" cy="4480560"/>
          </a:xfrm>
        </p:spPr>
        <p:txBody>
          <a:bodyPr>
            <a:noAutofit/>
          </a:bodyPr>
          <a:p>
            <a:pPr>
              <a:lnSpc>
                <a:spcPct val="170000"/>
              </a:lnSpc>
              <a:spcAft>
                <a:spcPts val="0"/>
              </a:spcAft>
            </a:pPr>
            <a:r>
              <a:rPr lang="zh-CN" altLang="en-US" sz="1600" b="1">
                <a:solidFill>
                  <a:schemeClr val="tx1"/>
                </a:solidFill>
                <a:latin typeface="Arial" panose="020B0604020202020204" pitchFamily="34" charset="0"/>
                <a:ea typeface="微软雅黑" panose="020B0503020204020204" charset="-122"/>
                <a:cs typeface="Arial" panose="020B0604020202020204" pitchFamily="34" charset="0"/>
              </a:rPr>
              <a:t>核心思想</a:t>
            </a:r>
            <a:endParaRPr lang="zh-CN" altLang="en-US" sz="1600" b="1">
              <a:solidFill>
                <a:schemeClr val="tx1"/>
              </a:solidFill>
              <a:latin typeface="Arial" panose="020B0604020202020204" pitchFamily="34" charset="0"/>
              <a:ea typeface="微软雅黑" panose="020B0503020204020204" charset="-122"/>
              <a:cs typeface="Arial" panose="020B0604020202020204" pitchFamily="34" charset="0"/>
            </a:endParaRPr>
          </a:p>
          <a:p>
            <a:pPr lvl="1">
              <a:lnSpc>
                <a:spcPct val="170000"/>
              </a:lnSpc>
              <a:spcAft>
                <a:spcPts val="0"/>
              </a:spcAft>
            </a:pPr>
            <a:r>
              <a:rPr lang="zh-CN" altLang="en-US" sz="1600">
                <a:solidFill>
                  <a:schemeClr val="tx1"/>
                </a:solidFill>
                <a:latin typeface="Arial" panose="020B0604020202020204" pitchFamily="34" charset="0"/>
                <a:ea typeface="微软雅黑" panose="020B0503020204020204" charset="-122"/>
                <a:cs typeface="Arial" panose="020B0604020202020204" pitchFamily="34" charset="0"/>
              </a:rPr>
              <a:t>将当前时刻，训练模型用不到的参数，缓存到</a:t>
            </a:r>
            <a:r>
              <a:rPr lang="en-US" altLang="zh-CN" sz="1600">
                <a:solidFill>
                  <a:schemeClr val="tx1"/>
                </a:solidFill>
                <a:latin typeface="Arial" panose="020B0604020202020204" pitchFamily="34" charset="0"/>
                <a:ea typeface="微软雅黑" panose="020B0503020204020204" charset="-122"/>
                <a:cs typeface="Arial" panose="020B0604020202020204" pitchFamily="34" charset="0"/>
              </a:rPr>
              <a:t>CPU</a:t>
            </a:r>
            <a:r>
              <a:rPr lang="zh-CN" altLang="en-US" sz="1600">
                <a:solidFill>
                  <a:schemeClr val="tx1"/>
                </a:solidFill>
                <a:latin typeface="Arial" panose="020B0604020202020204" pitchFamily="34" charset="0"/>
                <a:ea typeface="微软雅黑" panose="020B0503020204020204" charset="-122"/>
                <a:cs typeface="Arial" panose="020B0604020202020204" pitchFamily="34" charset="0"/>
              </a:rPr>
              <a:t>中。需要时，再从</a:t>
            </a:r>
            <a:r>
              <a:rPr lang="en-US" altLang="zh-CN" sz="1600">
                <a:solidFill>
                  <a:schemeClr val="tx1"/>
                </a:solidFill>
                <a:latin typeface="Arial" panose="020B0604020202020204" pitchFamily="34" charset="0"/>
                <a:ea typeface="微软雅黑" panose="020B0503020204020204" charset="-122"/>
                <a:cs typeface="Arial" panose="020B0604020202020204" pitchFamily="34" charset="0"/>
              </a:rPr>
              <a:t>CPU</a:t>
            </a:r>
            <a:r>
              <a:rPr lang="zh-CN" altLang="en-US" sz="1600">
                <a:solidFill>
                  <a:schemeClr val="tx1"/>
                </a:solidFill>
                <a:latin typeface="Arial" panose="020B0604020202020204" pitchFamily="34" charset="0"/>
                <a:ea typeface="微软雅黑" panose="020B0503020204020204" charset="-122"/>
                <a:cs typeface="Arial" panose="020B0604020202020204" pitchFamily="34" charset="0"/>
              </a:rPr>
              <a:t>挪到</a:t>
            </a:r>
            <a:r>
              <a:rPr lang="en-US" altLang="zh-CN" sz="1600">
                <a:solidFill>
                  <a:schemeClr val="tx1"/>
                </a:solidFill>
                <a:latin typeface="Arial" panose="020B0604020202020204" pitchFamily="34" charset="0"/>
                <a:ea typeface="微软雅黑" panose="020B0503020204020204" charset="-122"/>
                <a:cs typeface="Arial" panose="020B0604020202020204" pitchFamily="34" charset="0"/>
              </a:rPr>
              <a:t>GPU</a:t>
            </a:r>
            <a:r>
              <a:rPr lang="zh-CN" altLang="en-US" sz="1600">
                <a:solidFill>
                  <a:schemeClr val="tx1"/>
                </a:solidFill>
                <a:latin typeface="Arial" panose="020B0604020202020204" pitchFamily="34" charset="0"/>
                <a:ea typeface="微软雅黑" panose="020B0503020204020204" charset="-122"/>
                <a:cs typeface="Arial" panose="020B0604020202020204" pitchFamily="34" charset="0"/>
              </a:rPr>
              <a:t>。</a:t>
            </a:r>
            <a:endParaRPr lang="zh-CN" altLang="en-US" sz="1600">
              <a:solidFill>
                <a:schemeClr val="tx1"/>
              </a:solidFill>
              <a:latin typeface="Arial" panose="020B0604020202020204" pitchFamily="34" charset="0"/>
              <a:ea typeface="微软雅黑" panose="020B0503020204020204" charset="-122"/>
              <a:cs typeface="Arial" panose="020B0604020202020204" pitchFamily="34" charset="0"/>
            </a:endParaRPr>
          </a:p>
          <a:p>
            <a:pPr lvl="0">
              <a:lnSpc>
                <a:spcPct val="170000"/>
              </a:lnSpc>
              <a:spcAft>
                <a:spcPts val="0"/>
              </a:spcAft>
            </a:pPr>
            <a:r>
              <a:rPr lang="zh-CN" altLang="en-US" sz="1600" b="1">
                <a:solidFill>
                  <a:schemeClr val="tx1"/>
                </a:solidFill>
                <a:latin typeface="Arial" panose="020B0604020202020204" pitchFamily="34" charset="0"/>
                <a:ea typeface="微软雅黑" panose="020B0503020204020204" charset="-122"/>
                <a:cs typeface="Arial" panose="020B0604020202020204" pitchFamily="34" charset="0"/>
                <a:sym typeface="+mn-ea"/>
              </a:rPr>
              <a:t>时间开销和显存占用的权衡</a:t>
            </a:r>
            <a:endParaRPr lang="zh-CN" altLang="en-US" sz="1600" b="1">
              <a:solidFill>
                <a:schemeClr val="tx1"/>
              </a:solidFill>
              <a:latin typeface="Arial" panose="020B0604020202020204" pitchFamily="34" charset="0"/>
              <a:ea typeface="微软雅黑" panose="020B0503020204020204" charset="-122"/>
              <a:cs typeface="Arial" panose="020B0604020202020204" pitchFamily="34" charset="0"/>
              <a:sym typeface="+mn-ea"/>
            </a:endParaRPr>
          </a:p>
          <a:p>
            <a:pPr lvl="1">
              <a:lnSpc>
                <a:spcPct val="170000"/>
              </a:lnSpc>
              <a:spcAft>
                <a:spcPts val="0"/>
              </a:spcAft>
            </a:pPr>
            <a:r>
              <a:rPr lang="zh-CN" altLang="en-US" sz="1600">
                <a:solidFill>
                  <a:schemeClr val="tx1"/>
                </a:solidFill>
                <a:latin typeface="Arial" panose="020B0604020202020204" pitchFamily="34" charset="0"/>
                <a:ea typeface="微软雅黑" panose="020B0503020204020204" charset="-122"/>
                <a:cs typeface="Arial" panose="020B0604020202020204" pitchFamily="34" charset="0"/>
                <a:sym typeface="+mn-ea"/>
              </a:rPr>
              <a:t>零冗余优化器</a:t>
            </a:r>
            <a:r>
              <a:rPr lang="zh-CN" altLang="en-US" sz="1600">
                <a:solidFill>
                  <a:schemeClr val="tx1"/>
                </a:solidFill>
                <a:latin typeface="Arial" panose="020B0604020202020204" pitchFamily="34" charset="0"/>
                <a:ea typeface="微软雅黑" panose="020B0503020204020204" charset="-122"/>
                <a:cs typeface="Arial" panose="020B0604020202020204" pitchFamily="34" charset="0"/>
                <a:sym typeface="+mn-ea"/>
              </a:rPr>
              <a:t>技术</a:t>
            </a:r>
            <a:r>
              <a:rPr lang="zh-CN" altLang="en-US" sz="1600">
                <a:solidFill>
                  <a:schemeClr val="tx1"/>
                </a:solidFill>
                <a:latin typeface="Arial" panose="020B0604020202020204" pitchFamily="34" charset="0"/>
                <a:ea typeface="微软雅黑" panose="020B0503020204020204" charset="-122"/>
                <a:cs typeface="Arial" panose="020B0604020202020204" pitchFamily="34" charset="0"/>
                <a:sym typeface="+mn-ea"/>
              </a:rPr>
              <a:t>（</a:t>
            </a:r>
            <a:r>
              <a:rPr lang="en-US" altLang="zh-CN" sz="1600">
                <a:solidFill>
                  <a:schemeClr val="tx1"/>
                </a:solidFill>
                <a:latin typeface="Arial" panose="020B0604020202020204" pitchFamily="34" charset="0"/>
                <a:ea typeface="微软雅黑" panose="020B0503020204020204" charset="-122"/>
                <a:cs typeface="Arial" panose="020B0604020202020204" pitchFamily="34" charset="0"/>
                <a:sym typeface="+mn-ea"/>
              </a:rPr>
              <a:t>Zero Redundancy Optimizer</a:t>
            </a:r>
            <a:r>
              <a:rPr lang="zh-CN" altLang="en-US" sz="1600">
                <a:solidFill>
                  <a:schemeClr val="tx1"/>
                </a:solidFill>
                <a:latin typeface="Arial" panose="020B0604020202020204" pitchFamily="34" charset="0"/>
                <a:ea typeface="微软雅黑" panose="020B0503020204020204" charset="-122"/>
                <a:cs typeface="Arial" panose="020B0604020202020204" pitchFamily="34" charset="0"/>
                <a:sym typeface="+mn-ea"/>
              </a:rPr>
              <a:t>，</a:t>
            </a:r>
            <a:r>
              <a:rPr lang="en-US" altLang="zh-CN" sz="1600">
                <a:solidFill>
                  <a:schemeClr val="tx1"/>
                </a:solidFill>
                <a:latin typeface="Arial" panose="020B0604020202020204" pitchFamily="34" charset="0"/>
                <a:ea typeface="微软雅黑" panose="020B0503020204020204" charset="-122"/>
                <a:cs typeface="Arial" panose="020B0604020202020204" pitchFamily="34" charset="0"/>
                <a:sym typeface="+mn-ea"/>
              </a:rPr>
              <a:t>ZeRO</a:t>
            </a:r>
            <a:r>
              <a:rPr lang="zh-CN" altLang="en-US" sz="1600">
                <a:solidFill>
                  <a:schemeClr val="tx1"/>
                </a:solidFill>
                <a:latin typeface="Arial" panose="020B0604020202020204" pitchFamily="34" charset="0"/>
                <a:ea typeface="微软雅黑" panose="020B0503020204020204" charset="-122"/>
                <a:cs typeface="Arial" panose="020B0604020202020204" pitchFamily="34" charset="0"/>
                <a:sym typeface="+mn-ea"/>
              </a:rPr>
              <a:t>）</a:t>
            </a:r>
            <a:endParaRPr lang="zh-CN" altLang="en-US" sz="1600">
              <a:solidFill>
                <a:schemeClr val="tx1"/>
              </a:solidFill>
              <a:latin typeface="Arial" panose="020B0604020202020204" pitchFamily="34" charset="0"/>
              <a:ea typeface="微软雅黑" panose="020B0503020204020204" charset="-122"/>
              <a:cs typeface="Arial" panose="020B0604020202020204" pitchFamily="34" charset="0"/>
              <a:sym typeface="+mn-ea"/>
            </a:endParaRPr>
          </a:p>
          <a:p>
            <a:pPr lvl="2">
              <a:lnSpc>
                <a:spcPct val="170000"/>
              </a:lnSpc>
              <a:spcAft>
                <a:spcPts val="0"/>
              </a:spcAft>
            </a:pPr>
            <a:r>
              <a:rPr lang="en-US" altLang="zh-CN" sz="1600">
                <a:solidFill>
                  <a:schemeClr val="tx1"/>
                </a:solidFill>
                <a:latin typeface="Arial" panose="020B0604020202020204" pitchFamily="34" charset="0"/>
                <a:ea typeface="微软雅黑" panose="020B0503020204020204" charset="-122"/>
                <a:cs typeface="Arial" panose="020B0604020202020204" pitchFamily="34" charset="0"/>
                <a:sym typeface="+mn-ea"/>
              </a:rPr>
              <a:t>ZeRO Stage1</a:t>
            </a:r>
            <a:r>
              <a:rPr lang="zh-CN" altLang="en-US" sz="1600">
                <a:solidFill>
                  <a:schemeClr val="tx1"/>
                </a:solidFill>
                <a:latin typeface="Arial" panose="020B0604020202020204" pitchFamily="34" charset="0"/>
                <a:ea typeface="微软雅黑" panose="020B0503020204020204" charset="-122"/>
                <a:cs typeface="Arial" panose="020B0604020202020204" pitchFamily="34" charset="0"/>
                <a:sym typeface="+mn-ea"/>
              </a:rPr>
              <a:t>：只对</a:t>
            </a:r>
            <a:r>
              <a:rPr lang="zh-CN" altLang="en-US" sz="1600">
                <a:solidFill>
                  <a:schemeClr val="tx1"/>
                </a:solidFill>
                <a:latin typeface="Arial" panose="020B0604020202020204" pitchFamily="34" charset="0"/>
                <a:ea typeface="微软雅黑" panose="020B0503020204020204" charset="-122"/>
                <a:cs typeface="Arial" panose="020B0604020202020204" pitchFamily="34" charset="0"/>
                <a:sym typeface="+mn-ea"/>
              </a:rPr>
              <a:t>优化器</a:t>
            </a:r>
            <a:r>
              <a:rPr lang="zh-CN" altLang="en-US" sz="1600">
                <a:solidFill>
                  <a:schemeClr val="tx1"/>
                </a:solidFill>
                <a:latin typeface="Arial" panose="020B0604020202020204" pitchFamily="34" charset="0"/>
                <a:ea typeface="微软雅黑" panose="020B0503020204020204" charset="-122"/>
                <a:cs typeface="Arial" panose="020B0604020202020204" pitchFamily="34" charset="0"/>
                <a:sym typeface="+mn-ea"/>
              </a:rPr>
              <a:t>进行切片后分布式保存</a:t>
            </a:r>
            <a:endParaRPr lang="zh-CN" altLang="en-US" sz="1600">
              <a:solidFill>
                <a:schemeClr val="tx1"/>
              </a:solidFill>
              <a:latin typeface="Arial" panose="020B0604020202020204" pitchFamily="34" charset="0"/>
              <a:ea typeface="微软雅黑" panose="020B0503020204020204" charset="-122"/>
              <a:cs typeface="Arial" panose="020B0604020202020204" pitchFamily="34" charset="0"/>
              <a:sym typeface="+mn-ea"/>
            </a:endParaRPr>
          </a:p>
          <a:p>
            <a:pPr lvl="2">
              <a:lnSpc>
                <a:spcPct val="170000"/>
              </a:lnSpc>
              <a:spcAft>
                <a:spcPts val="0"/>
              </a:spcAft>
            </a:pPr>
            <a:r>
              <a:rPr lang="en-US" altLang="zh-CN" sz="1600">
                <a:solidFill>
                  <a:schemeClr val="tx1"/>
                </a:solidFill>
                <a:latin typeface="Arial" panose="020B0604020202020204" pitchFamily="34" charset="0"/>
                <a:ea typeface="微软雅黑" panose="020B0503020204020204" charset="-122"/>
                <a:cs typeface="Arial" panose="020B0604020202020204" pitchFamily="34" charset="0"/>
                <a:sym typeface="+mn-ea"/>
              </a:rPr>
              <a:t>ZeRO </a:t>
            </a:r>
            <a:r>
              <a:rPr lang="en-US" altLang="zh-CN" sz="1600">
                <a:solidFill>
                  <a:schemeClr val="tx1"/>
                </a:solidFill>
                <a:latin typeface="Arial" panose="020B0604020202020204" pitchFamily="34" charset="0"/>
                <a:ea typeface="微软雅黑" panose="020B0503020204020204" charset="-122"/>
                <a:cs typeface="Arial" panose="020B0604020202020204" pitchFamily="34" charset="0"/>
                <a:sym typeface="+mn-ea"/>
              </a:rPr>
              <a:t>S</a:t>
            </a:r>
            <a:r>
              <a:rPr lang="en-US" altLang="zh-CN" sz="1600">
                <a:solidFill>
                  <a:schemeClr val="tx1"/>
                </a:solidFill>
                <a:latin typeface="Arial" panose="020B0604020202020204" pitchFamily="34" charset="0"/>
                <a:ea typeface="微软雅黑" panose="020B0503020204020204" charset="-122"/>
                <a:cs typeface="Arial" panose="020B0604020202020204" pitchFamily="34" charset="0"/>
                <a:sym typeface="+mn-ea"/>
              </a:rPr>
              <a:t>tage2</a:t>
            </a:r>
            <a:r>
              <a:rPr lang="zh-CN" altLang="en-US" sz="1600">
                <a:solidFill>
                  <a:schemeClr val="tx1"/>
                </a:solidFill>
                <a:latin typeface="Arial" panose="020B0604020202020204" pitchFamily="34" charset="0"/>
                <a:ea typeface="微软雅黑" panose="020B0503020204020204" charset="-122"/>
                <a:cs typeface="Arial" panose="020B0604020202020204" pitchFamily="34" charset="0"/>
                <a:sym typeface="+mn-ea"/>
              </a:rPr>
              <a:t>：对</a:t>
            </a:r>
            <a:r>
              <a:rPr lang="zh-CN" altLang="en-US" sz="1600">
                <a:solidFill>
                  <a:schemeClr val="tx1"/>
                </a:solidFill>
                <a:latin typeface="Arial" panose="020B0604020202020204" pitchFamily="34" charset="0"/>
                <a:ea typeface="微软雅黑" panose="020B0503020204020204" charset="-122"/>
                <a:cs typeface="Arial" panose="020B0604020202020204" pitchFamily="34" charset="0"/>
                <a:sym typeface="+mn-ea"/>
              </a:rPr>
              <a:t>优化器</a:t>
            </a:r>
            <a:r>
              <a:rPr lang="zh-CN" altLang="en-US" sz="1600">
                <a:solidFill>
                  <a:schemeClr val="tx1"/>
                </a:solidFill>
                <a:latin typeface="Arial" panose="020B0604020202020204" pitchFamily="34" charset="0"/>
                <a:ea typeface="微软雅黑" panose="020B0503020204020204" charset="-122"/>
                <a:cs typeface="Arial" panose="020B0604020202020204" pitchFamily="34" charset="0"/>
                <a:sym typeface="+mn-ea"/>
              </a:rPr>
              <a:t>和梯度进行切片后分布式保存</a:t>
            </a:r>
            <a:endParaRPr lang="zh-CN" altLang="en-US" sz="1600">
              <a:solidFill>
                <a:schemeClr val="tx1"/>
              </a:solidFill>
              <a:latin typeface="Arial" panose="020B0604020202020204" pitchFamily="34" charset="0"/>
              <a:ea typeface="微软雅黑" panose="020B0503020204020204" charset="-122"/>
              <a:cs typeface="Arial" panose="020B0604020202020204" pitchFamily="34" charset="0"/>
              <a:sym typeface="+mn-ea"/>
            </a:endParaRPr>
          </a:p>
          <a:p>
            <a:pPr lvl="2">
              <a:lnSpc>
                <a:spcPct val="170000"/>
              </a:lnSpc>
              <a:spcAft>
                <a:spcPts val="0"/>
              </a:spcAft>
            </a:pPr>
            <a:r>
              <a:rPr lang="en-US" altLang="zh-CN" sz="1600">
                <a:solidFill>
                  <a:schemeClr val="tx1"/>
                </a:solidFill>
                <a:latin typeface="Arial" panose="020B0604020202020204" pitchFamily="34" charset="0"/>
                <a:ea typeface="微软雅黑" panose="020B0503020204020204" charset="-122"/>
                <a:cs typeface="Arial" panose="020B0604020202020204" pitchFamily="34" charset="0"/>
                <a:sym typeface="+mn-ea"/>
              </a:rPr>
              <a:t>ZeRO </a:t>
            </a:r>
            <a:r>
              <a:rPr lang="en-US" altLang="zh-CN" sz="1600">
                <a:solidFill>
                  <a:schemeClr val="tx1"/>
                </a:solidFill>
                <a:latin typeface="Arial" panose="020B0604020202020204" pitchFamily="34" charset="0"/>
                <a:ea typeface="微软雅黑" panose="020B0503020204020204" charset="-122"/>
                <a:cs typeface="Arial" panose="020B0604020202020204" pitchFamily="34" charset="0"/>
                <a:sym typeface="+mn-ea"/>
              </a:rPr>
              <a:t>S</a:t>
            </a:r>
            <a:r>
              <a:rPr lang="en-US" altLang="zh-CN" sz="1600">
                <a:solidFill>
                  <a:schemeClr val="tx1"/>
                </a:solidFill>
                <a:latin typeface="Arial" panose="020B0604020202020204" pitchFamily="34" charset="0"/>
                <a:ea typeface="微软雅黑" panose="020B0503020204020204" charset="-122"/>
                <a:cs typeface="Arial" panose="020B0604020202020204" pitchFamily="34" charset="0"/>
                <a:sym typeface="+mn-ea"/>
              </a:rPr>
              <a:t>tage3</a:t>
            </a:r>
            <a:r>
              <a:rPr lang="zh-CN" altLang="en-US" sz="1600">
                <a:solidFill>
                  <a:schemeClr val="tx1"/>
                </a:solidFill>
                <a:latin typeface="Arial" panose="020B0604020202020204" pitchFamily="34" charset="0"/>
                <a:ea typeface="微软雅黑" panose="020B0503020204020204" charset="-122"/>
                <a:cs typeface="Arial" panose="020B0604020202020204" pitchFamily="34" charset="0"/>
                <a:sym typeface="+mn-ea"/>
              </a:rPr>
              <a:t>：对优化器、梯度和模型参数进行切片后分布式保存</a:t>
            </a:r>
            <a:endParaRPr lang="zh-CN" altLang="en-US" sz="1600">
              <a:solidFill>
                <a:schemeClr val="tx1"/>
              </a:solidFill>
              <a:latin typeface="Arial" panose="020B0604020202020204" pitchFamily="34" charset="0"/>
              <a:ea typeface="微软雅黑" panose="020B0503020204020204" charset="-122"/>
              <a:cs typeface="Arial" panose="020B0604020202020204" pitchFamily="34" charset="0"/>
              <a:sym typeface="+mn-ea"/>
            </a:endParaRPr>
          </a:p>
          <a:p>
            <a:pPr lvl="2">
              <a:lnSpc>
                <a:spcPct val="170000"/>
              </a:lnSpc>
              <a:spcAft>
                <a:spcPts val="0"/>
              </a:spcAft>
            </a:pPr>
            <a:r>
              <a:rPr lang="en-US" altLang="zh-CN" sz="1600">
                <a:solidFill>
                  <a:schemeClr val="tx1"/>
                </a:solidFill>
                <a:latin typeface="Arial" panose="020B0604020202020204" pitchFamily="34" charset="0"/>
                <a:ea typeface="微软雅黑" panose="020B0503020204020204" charset="-122"/>
                <a:cs typeface="Arial" panose="020B0604020202020204" pitchFamily="34" charset="0"/>
                <a:sym typeface="+mn-ea"/>
              </a:rPr>
              <a:t>ZeRO-Offload</a:t>
            </a:r>
            <a:r>
              <a:rPr lang="zh-CN" altLang="en-US" sz="1600">
                <a:solidFill>
                  <a:schemeClr val="tx1"/>
                </a:solidFill>
                <a:latin typeface="Arial" panose="020B0604020202020204" pitchFamily="34" charset="0"/>
                <a:ea typeface="微软雅黑" panose="020B0503020204020204" charset="-122"/>
                <a:cs typeface="Arial" panose="020B0604020202020204" pitchFamily="34" charset="0"/>
                <a:sym typeface="+mn-ea"/>
              </a:rPr>
              <a:t>：利用</a:t>
            </a:r>
            <a:r>
              <a:rPr lang="en-US" altLang="zh-CN" sz="1600">
                <a:solidFill>
                  <a:schemeClr val="tx1"/>
                </a:solidFill>
                <a:latin typeface="Arial" panose="020B0604020202020204" pitchFamily="34" charset="0"/>
                <a:ea typeface="微软雅黑" panose="020B0503020204020204" charset="-122"/>
                <a:cs typeface="Arial" panose="020B0604020202020204" pitchFamily="34" charset="0"/>
                <a:sym typeface="+mn-ea"/>
              </a:rPr>
              <a:t>CPU</a:t>
            </a:r>
            <a:r>
              <a:rPr lang="zh-CN" altLang="en-US" sz="1600">
                <a:solidFill>
                  <a:schemeClr val="tx1"/>
                </a:solidFill>
                <a:latin typeface="Arial" panose="020B0604020202020204" pitchFamily="34" charset="0"/>
                <a:ea typeface="微软雅黑" panose="020B0503020204020204" charset="-122"/>
                <a:cs typeface="Arial" panose="020B0604020202020204" pitchFamily="34" charset="0"/>
                <a:sym typeface="+mn-ea"/>
              </a:rPr>
              <a:t>的计算和内存资源来执行优化器</a:t>
            </a:r>
            <a:endParaRPr lang="zh-CN" altLang="en-US" sz="1600">
              <a:solidFill>
                <a:schemeClr val="tx1"/>
              </a:solidFill>
              <a:latin typeface="Arial" panose="020B0604020202020204" pitchFamily="34" charset="0"/>
              <a:ea typeface="微软雅黑" panose="020B0503020204020204" charset="-122"/>
              <a:cs typeface="Arial" panose="020B0604020202020204" pitchFamily="34" charset="0"/>
              <a:sym typeface="+mn-ea"/>
            </a:endParaRPr>
          </a:p>
          <a:p>
            <a:pPr lvl="1">
              <a:lnSpc>
                <a:spcPct val="170000"/>
              </a:lnSpc>
              <a:spcAft>
                <a:spcPts val="0"/>
              </a:spcAft>
            </a:pPr>
            <a:r>
              <a:rPr lang="zh-CN" altLang="en-US" sz="1600">
                <a:solidFill>
                  <a:schemeClr val="tx1"/>
                </a:solidFill>
                <a:latin typeface="Arial" panose="020B0604020202020204" pitchFamily="34" charset="0"/>
                <a:ea typeface="微软雅黑" panose="020B0503020204020204" charset="-122"/>
                <a:cs typeface="Arial" panose="020B0604020202020204" pitchFamily="34" charset="0"/>
                <a:sym typeface="+mn-ea"/>
              </a:rPr>
              <a:t>混合精度训练</a:t>
            </a:r>
            <a:endParaRPr lang="zh-CN" altLang="en-US" sz="1600">
              <a:solidFill>
                <a:schemeClr val="tx1"/>
              </a:solidFill>
              <a:latin typeface="Arial" panose="020B0604020202020204" pitchFamily="34" charset="0"/>
              <a:ea typeface="微软雅黑" panose="020B0503020204020204" charset="-122"/>
              <a:cs typeface="Arial" panose="020B0604020202020204" pitchFamily="34" charset="0"/>
              <a:sym typeface="+mn-ea"/>
            </a:endParaRPr>
          </a:p>
          <a:p>
            <a:pPr lvl="2">
              <a:lnSpc>
                <a:spcPct val="170000"/>
              </a:lnSpc>
              <a:spcAft>
                <a:spcPts val="0"/>
              </a:spcAft>
            </a:pPr>
            <a:r>
              <a:rPr lang="zh-CN" altLang="en-US" sz="1600">
                <a:solidFill>
                  <a:schemeClr val="tx1"/>
                </a:solidFill>
                <a:latin typeface="Arial" panose="020B0604020202020204" pitchFamily="34" charset="0"/>
                <a:ea typeface="微软雅黑" panose="020B0503020204020204" charset="-122"/>
                <a:cs typeface="Arial" panose="020B0604020202020204" pitchFamily="34" charset="0"/>
                <a:sym typeface="+mn-ea"/>
              </a:rPr>
              <a:t>同时使用单精度（</a:t>
            </a:r>
            <a:r>
              <a:rPr lang="en-US" altLang="zh-CN" sz="1600">
                <a:solidFill>
                  <a:schemeClr val="tx1"/>
                </a:solidFill>
                <a:latin typeface="Arial" panose="020B0604020202020204" pitchFamily="34" charset="0"/>
                <a:ea typeface="微软雅黑" panose="020B0503020204020204" charset="-122"/>
                <a:cs typeface="Arial" panose="020B0604020202020204" pitchFamily="34" charset="0"/>
                <a:sym typeface="+mn-ea"/>
              </a:rPr>
              <a:t>FP32</a:t>
            </a:r>
            <a:r>
              <a:rPr lang="zh-CN" altLang="en-US" sz="1600">
                <a:solidFill>
                  <a:schemeClr val="tx1"/>
                </a:solidFill>
                <a:latin typeface="Arial" panose="020B0604020202020204" pitchFamily="34" charset="0"/>
                <a:ea typeface="微软雅黑" panose="020B0503020204020204" charset="-122"/>
                <a:cs typeface="Arial" panose="020B0604020202020204" pitchFamily="34" charset="0"/>
                <a:sym typeface="+mn-ea"/>
              </a:rPr>
              <a:t>）和半精度（</a:t>
            </a:r>
            <a:r>
              <a:rPr lang="en-US" altLang="zh-CN" sz="1600">
                <a:solidFill>
                  <a:schemeClr val="tx1"/>
                </a:solidFill>
                <a:latin typeface="Arial" panose="020B0604020202020204" pitchFamily="34" charset="0"/>
                <a:ea typeface="微软雅黑" panose="020B0503020204020204" charset="-122"/>
                <a:cs typeface="Arial" panose="020B0604020202020204" pitchFamily="34" charset="0"/>
                <a:sym typeface="+mn-ea"/>
              </a:rPr>
              <a:t>FP16</a:t>
            </a:r>
            <a:r>
              <a:rPr lang="zh-CN" altLang="en-US" sz="1600">
                <a:solidFill>
                  <a:schemeClr val="tx1"/>
                </a:solidFill>
                <a:latin typeface="Arial" panose="020B0604020202020204" pitchFamily="34" charset="0"/>
                <a:ea typeface="微软雅黑" panose="020B0503020204020204" charset="-122"/>
                <a:cs typeface="Arial" panose="020B0604020202020204" pitchFamily="34" charset="0"/>
                <a:sym typeface="+mn-ea"/>
              </a:rPr>
              <a:t>）浮点数</a:t>
            </a:r>
            <a:endParaRPr lang="zh-CN" altLang="en-US" sz="1600">
              <a:solidFill>
                <a:schemeClr val="tx1"/>
              </a:solidFill>
              <a:latin typeface="Arial" panose="020B0604020202020204" pitchFamily="34" charset="0"/>
              <a:ea typeface="微软雅黑" panose="020B0503020204020204" charset="-122"/>
              <a:cs typeface="Arial" panose="020B0604020202020204" pitchFamily="34" charset="0"/>
              <a:sym typeface="+mn-ea"/>
            </a:endParaRPr>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608400" y="470605"/>
            <a:ext cx="10969200" cy="705600"/>
          </a:xfrm>
        </p:spPr>
        <p:txBody>
          <a:bodyPr/>
          <a:p>
            <a:r>
              <a:rPr lang="zh-CN" altLang="en-US">
                <a:solidFill>
                  <a:schemeClr val="tx1"/>
                </a:solidFill>
                <a:latin typeface="Arial" panose="020B0604020202020204" pitchFamily="34" charset="0"/>
                <a:ea typeface="微软雅黑" panose="020B0503020204020204" charset="-122"/>
                <a:cs typeface="Arial" panose="020B0604020202020204" pitchFamily="34" charset="0"/>
                <a:sym typeface="+mn-ea"/>
              </a:rPr>
              <a:t>分布式</a:t>
            </a:r>
            <a:r>
              <a:rPr lang="en-US" altLang="zh-CN">
                <a:solidFill>
                  <a:schemeClr val="tx1"/>
                </a:solidFill>
                <a:latin typeface="Arial" panose="020B0604020202020204" pitchFamily="34" charset="0"/>
                <a:ea typeface="微软雅黑" panose="020B0503020204020204" charset="-122"/>
                <a:cs typeface="Arial" panose="020B0604020202020204" pitchFamily="34" charset="0"/>
                <a:sym typeface="+mn-ea"/>
              </a:rPr>
              <a:t>MOE</a:t>
            </a:r>
            <a:r>
              <a:rPr lang="zh-CN" altLang="en-US">
                <a:solidFill>
                  <a:schemeClr val="tx1"/>
                </a:solidFill>
                <a:latin typeface="Arial" panose="020B0604020202020204" pitchFamily="34" charset="0"/>
                <a:ea typeface="微软雅黑" panose="020B0503020204020204" charset="-122"/>
                <a:cs typeface="Arial" panose="020B0604020202020204" pitchFamily="34" charset="0"/>
                <a:sym typeface="+mn-ea"/>
              </a:rPr>
              <a:t>框架：</a:t>
            </a:r>
            <a:r>
              <a:rPr lang="en-US" altLang="zh-CN">
                <a:solidFill>
                  <a:schemeClr val="tx1"/>
                </a:solidFill>
                <a:latin typeface="Arial" panose="020B0604020202020204" pitchFamily="34" charset="0"/>
                <a:ea typeface="微软雅黑" panose="020B0503020204020204" charset="-122"/>
                <a:cs typeface="Arial" panose="020B0604020202020204" pitchFamily="34" charset="0"/>
                <a:sym typeface="+mn-ea"/>
              </a:rPr>
              <a:t>DeepSpeed MOE</a:t>
            </a:r>
            <a:endParaRPr lang="zh-CN" altLang="en-US"/>
          </a:p>
        </p:txBody>
      </p:sp>
      <p:sp>
        <p:nvSpPr>
          <p:cNvPr id="3" name="内容占位符 2"/>
          <p:cNvSpPr>
            <a:spLocks noGrp="1"/>
          </p:cNvSpPr>
          <p:nvPr>
            <p:ph idx="1"/>
            <p:custDataLst>
              <p:tags r:id="rId2"/>
            </p:custDataLst>
          </p:nvPr>
        </p:nvSpPr>
        <p:spPr>
          <a:xfrm>
            <a:off x="608330" y="1490345"/>
            <a:ext cx="6877050" cy="4759325"/>
          </a:xfrm>
        </p:spPr>
        <p:txBody>
          <a:bodyPr/>
          <a:p>
            <a:pPr lvl="0">
              <a:lnSpc>
                <a:spcPct val="150000"/>
              </a:lnSpc>
              <a:spcAft>
                <a:spcPct val="0"/>
              </a:spcAft>
            </a:pPr>
            <a:r>
              <a:rPr lang="zh-CN" altLang="en-US" sz="1600" b="1">
                <a:solidFill>
                  <a:schemeClr val="tx1"/>
                </a:solidFill>
                <a:latin typeface="Arial" panose="020B0604020202020204" pitchFamily="34" charset="0"/>
                <a:ea typeface="微软雅黑" panose="020B0503020204020204" charset="-122"/>
                <a:cs typeface="Arial" panose="020B0604020202020204" pitchFamily="34" charset="0"/>
                <a:sym typeface="+mn-ea"/>
              </a:rPr>
              <a:t>并行化策略</a:t>
            </a:r>
            <a:endParaRPr lang="zh-CN" altLang="en-US" sz="1600" b="1">
              <a:solidFill>
                <a:schemeClr val="tx1"/>
              </a:solidFill>
              <a:latin typeface="Arial" panose="020B0604020202020204" pitchFamily="34" charset="0"/>
              <a:ea typeface="微软雅黑" panose="020B0503020204020204" charset="-122"/>
              <a:cs typeface="Arial" panose="020B0604020202020204" pitchFamily="34" charset="0"/>
              <a:sym typeface="+mn-ea"/>
            </a:endParaRPr>
          </a:p>
          <a:p>
            <a:pPr lvl="1">
              <a:lnSpc>
                <a:spcPct val="150000"/>
              </a:lnSpc>
              <a:spcAft>
                <a:spcPct val="0"/>
              </a:spcAft>
            </a:pPr>
            <a:r>
              <a:rPr lang="zh-CN" altLang="en-US">
                <a:solidFill>
                  <a:schemeClr val="tx1"/>
                </a:solidFill>
                <a:latin typeface="Arial" panose="020B0604020202020204" pitchFamily="34" charset="0"/>
                <a:ea typeface="微软雅黑" panose="020B0503020204020204" charset="-122"/>
                <a:cs typeface="Arial" panose="020B0604020202020204" pitchFamily="34" charset="0"/>
                <a:sym typeface="+mn-ea"/>
              </a:rPr>
              <a:t>流水线并行</a:t>
            </a:r>
            <a:endParaRPr lang="zh-CN" altLang="en-US">
              <a:solidFill>
                <a:schemeClr val="tx1"/>
              </a:solidFill>
              <a:latin typeface="Arial" panose="020B0604020202020204" pitchFamily="34" charset="0"/>
              <a:ea typeface="微软雅黑" panose="020B0503020204020204" charset="-122"/>
              <a:cs typeface="Arial" panose="020B0604020202020204" pitchFamily="34" charset="0"/>
              <a:sym typeface="+mn-ea"/>
            </a:endParaRPr>
          </a:p>
          <a:p>
            <a:pPr lvl="2">
              <a:lnSpc>
                <a:spcPct val="150000"/>
              </a:lnSpc>
              <a:spcAft>
                <a:spcPct val="0"/>
              </a:spcAft>
            </a:pPr>
            <a:r>
              <a:rPr lang="zh-CN" altLang="en-US">
                <a:solidFill>
                  <a:schemeClr val="tx1"/>
                </a:solidFill>
                <a:sym typeface="+mn-ea"/>
              </a:rPr>
              <a:t>按层切分，模型的不同层放在不同设备</a:t>
            </a:r>
            <a:endParaRPr lang="zh-CN" altLang="en-US">
              <a:solidFill>
                <a:schemeClr val="tx1"/>
              </a:solidFill>
              <a:sym typeface="+mn-ea"/>
            </a:endParaRPr>
          </a:p>
          <a:p>
            <a:pPr lvl="1">
              <a:lnSpc>
                <a:spcPct val="150000"/>
              </a:lnSpc>
              <a:spcAft>
                <a:spcPct val="0"/>
              </a:spcAft>
            </a:pPr>
            <a:r>
              <a:rPr lang="zh-CN" altLang="en-US">
                <a:solidFill>
                  <a:schemeClr val="tx1"/>
                </a:solidFill>
                <a:latin typeface="Arial" panose="020B0604020202020204" pitchFamily="34" charset="0"/>
                <a:ea typeface="微软雅黑" panose="020B0503020204020204" charset="-122"/>
                <a:cs typeface="Arial" panose="020B0604020202020204" pitchFamily="34" charset="0"/>
                <a:sym typeface="+mn-ea"/>
              </a:rPr>
              <a:t>数据并行</a:t>
            </a:r>
            <a:endParaRPr lang="zh-CN" altLang="en-US">
              <a:solidFill>
                <a:schemeClr val="tx1"/>
              </a:solidFill>
              <a:latin typeface="Arial" panose="020B0604020202020204" pitchFamily="34" charset="0"/>
              <a:ea typeface="微软雅黑" panose="020B0503020204020204" charset="-122"/>
              <a:cs typeface="Arial" panose="020B0604020202020204" pitchFamily="34" charset="0"/>
              <a:sym typeface="+mn-ea"/>
            </a:endParaRPr>
          </a:p>
          <a:p>
            <a:pPr lvl="2">
              <a:lnSpc>
                <a:spcPct val="150000"/>
              </a:lnSpc>
              <a:spcAft>
                <a:spcPct val="0"/>
              </a:spcAft>
            </a:pPr>
            <a:r>
              <a:rPr lang="zh-CN" altLang="en-US">
                <a:solidFill>
                  <a:schemeClr val="tx1"/>
                </a:solidFill>
                <a:latin typeface="Arial" panose="020B0604020202020204" pitchFamily="34" charset="0"/>
                <a:ea typeface="微软雅黑" panose="020B0503020204020204" charset="-122"/>
                <a:cs typeface="Arial" panose="020B0604020202020204" pitchFamily="34" charset="0"/>
                <a:sym typeface="+mn-ea"/>
              </a:rPr>
              <a:t>复制模型，</a:t>
            </a:r>
            <a:r>
              <a:rPr lang="zh-CN" altLang="en-US">
                <a:solidFill>
                  <a:schemeClr val="tx1"/>
                </a:solidFill>
                <a:latin typeface="Arial" panose="020B0604020202020204" pitchFamily="34" charset="0"/>
                <a:ea typeface="微软雅黑" panose="020B0503020204020204" charset="-122"/>
                <a:cs typeface="Arial" panose="020B0604020202020204" pitchFamily="34" charset="0"/>
                <a:sym typeface="+mn-ea"/>
              </a:rPr>
              <a:t>分配给该阶段的层被复制到多个</a:t>
            </a:r>
            <a:r>
              <a:rPr lang="en-US" altLang="zh-CN">
                <a:solidFill>
                  <a:schemeClr val="tx1"/>
                </a:solidFill>
                <a:latin typeface="Arial" panose="020B0604020202020204" pitchFamily="34" charset="0"/>
                <a:ea typeface="微软雅黑" panose="020B0503020204020204" charset="-122"/>
                <a:cs typeface="Arial" panose="020B0604020202020204" pitchFamily="34" charset="0"/>
                <a:sym typeface="+mn-ea"/>
              </a:rPr>
              <a:t>GPU</a:t>
            </a:r>
            <a:endParaRPr lang="en-US" altLang="zh-CN">
              <a:solidFill>
                <a:schemeClr val="tx1"/>
              </a:solidFill>
              <a:latin typeface="Arial" panose="020B0604020202020204" pitchFamily="34" charset="0"/>
              <a:ea typeface="微软雅黑" panose="020B0503020204020204" charset="-122"/>
              <a:cs typeface="Arial" panose="020B0604020202020204" pitchFamily="34" charset="0"/>
              <a:sym typeface="+mn-ea"/>
            </a:endParaRPr>
          </a:p>
          <a:p>
            <a:pPr lvl="1">
              <a:lnSpc>
                <a:spcPct val="150000"/>
              </a:lnSpc>
              <a:spcAft>
                <a:spcPct val="0"/>
              </a:spcAft>
            </a:pPr>
            <a:r>
              <a:rPr lang="zh-CN" altLang="en-US">
                <a:solidFill>
                  <a:schemeClr val="tx1"/>
                </a:solidFill>
                <a:latin typeface="Arial" panose="020B0604020202020204" pitchFamily="34" charset="0"/>
                <a:ea typeface="微软雅黑" panose="020B0503020204020204" charset="-122"/>
                <a:cs typeface="Arial" panose="020B0604020202020204" pitchFamily="34" charset="0"/>
                <a:sym typeface="+mn-ea"/>
              </a:rPr>
              <a:t>专家并行</a:t>
            </a:r>
            <a:endParaRPr lang="zh-CN" altLang="en-US">
              <a:solidFill>
                <a:schemeClr val="tx1"/>
              </a:solidFill>
              <a:latin typeface="Arial" panose="020B0604020202020204" pitchFamily="34" charset="0"/>
              <a:ea typeface="微软雅黑" panose="020B0503020204020204" charset="-122"/>
              <a:cs typeface="Arial" panose="020B0604020202020204" pitchFamily="34" charset="0"/>
              <a:sym typeface="+mn-ea"/>
            </a:endParaRPr>
          </a:p>
          <a:p>
            <a:pPr lvl="2">
              <a:lnSpc>
                <a:spcPct val="150000"/>
              </a:lnSpc>
              <a:spcAft>
                <a:spcPct val="0"/>
              </a:spcAft>
            </a:pPr>
            <a:r>
              <a:rPr lang="zh-CN" altLang="en-US">
                <a:solidFill>
                  <a:schemeClr val="tx1"/>
                </a:solidFill>
                <a:latin typeface="Arial" panose="020B0604020202020204" pitchFamily="34" charset="0"/>
                <a:ea typeface="微软雅黑" panose="020B0503020204020204" charset="-122"/>
                <a:cs typeface="Arial" panose="020B0604020202020204" pitchFamily="34" charset="0"/>
                <a:sym typeface="+mn-ea"/>
              </a:rPr>
              <a:t>将</a:t>
            </a:r>
            <a:r>
              <a:rPr lang="en-US" altLang="zh-CN">
                <a:solidFill>
                  <a:schemeClr val="tx1"/>
                </a:solidFill>
                <a:latin typeface="Arial" panose="020B0604020202020204" pitchFamily="34" charset="0"/>
                <a:ea typeface="微软雅黑" panose="020B0503020204020204" charset="-122"/>
                <a:cs typeface="Arial" panose="020B0604020202020204" pitchFamily="34" charset="0"/>
                <a:sym typeface="+mn-ea"/>
              </a:rPr>
              <a:t>MOE</a:t>
            </a:r>
            <a:r>
              <a:rPr lang="zh-CN" altLang="en-US">
                <a:solidFill>
                  <a:schemeClr val="tx1"/>
                </a:solidFill>
                <a:latin typeface="Arial" panose="020B0604020202020204" pitchFamily="34" charset="0"/>
                <a:ea typeface="微软雅黑" panose="020B0503020204020204" charset="-122"/>
                <a:cs typeface="Arial" panose="020B0604020202020204" pitchFamily="34" charset="0"/>
                <a:sym typeface="+mn-ea"/>
              </a:rPr>
              <a:t>层中的各个专家分布在该阶段的数据并行副本上</a:t>
            </a:r>
            <a:endParaRPr lang="zh-CN" altLang="en-US">
              <a:solidFill>
                <a:schemeClr val="tx1"/>
              </a:solidFill>
              <a:latin typeface="Arial" panose="020B0604020202020204" pitchFamily="34" charset="0"/>
              <a:ea typeface="微软雅黑" panose="020B0503020204020204" charset="-122"/>
              <a:cs typeface="Arial" panose="020B0604020202020204" pitchFamily="34" charset="0"/>
              <a:sym typeface="+mn-ea"/>
            </a:endParaRPr>
          </a:p>
          <a:p>
            <a:pPr marL="0" indent="0">
              <a:lnSpc>
                <a:spcPct val="150000"/>
              </a:lnSpc>
              <a:buNone/>
            </a:pPr>
            <a:endParaRPr lang="zh-CN" altLang="en-US">
              <a:solidFill>
                <a:schemeClr val="tx1"/>
              </a:solidFill>
              <a:latin typeface="Arial" panose="020B0604020202020204" pitchFamily="34" charset="0"/>
              <a:ea typeface="微软雅黑" panose="020B0503020204020204" charset="-122"/>
              <a:cs typeface="Arial" panose="020B0604020202020204" pitchFamily="34" charset="0"/>
              <a:sym typeface="+mn-ea"/>
            </a:endParaRPr>
          </a:p>
        </p:txBody>
      </p:sp>
      <p:pic>
        <p:nvPicPr>
          <p:cNvPr id="5" name="图片 4"/>
          <p:cNvPicPr>
            <a:picLocks noChangeAspect="1"/>
          </p:cNvPicPr>
          <p:nvPr/>
        </p:nvPicPr>
        <p:blipFill>
          <a:blip r:embed="rId3"/>
          <a:srcRect l="1570" t="-11"/>
          <a:stretch>
            <a:fillRect/>
          </a:stretch>
        </p:blipFill>
        <p:spPr>
          <a:xfrm>
            <a:off x="7607935" y="1313815"/>
            <a:ext cx="4300220" cy="5544185"/>
          </a:xfrm>
          <a:prstGeom prst="rect">
            <a:avLst/>
          </a:prstGeom>
        </p:spPr>
      </p:pic>
      <p:pic>
        <p:nvPicPr>
          <p:cNvPr id="6" name="图片 5"/>
          <p:cNvPicPr>
            <a:picLocks noChangeAspect="1"/>
          </p:cNvPicPr>
          <p:nvPr/>
        </p:nvPicPr>
        <p:blipFill>
          <a:blip r:embed="rId4"/>
          <a:srcRect l="476" t="4083" r="1270" b="-1333"/>
          <a:stretch>
            <a:fillRect/>
          </a:stretch>
        </p:blipFill>
        <p:spPr>
          <a:xfrm>
            <a:off x="3971290" y="4546600"/>
            <a:ext cx="3636645" cy="914400"/>
          </a:xfrm>
          <a:prstGeom prst="rect">
            <a:avLst/>
          </a:prstGeom>
        </p:spPr>
      </p:pic>
      <p:sp>
        <p:nvSpPr>
          <p:cNvPr id="7" name="文本框 6"/>
          <p:cNvSpPr txBox="1"/>
          <p:nvPr/>
        </p:nvSpPr>
        <p:spPr>
          <a:xfrm>
            <a:off x="608330" y="6607175"/>
            <a:ext cx="6765290" cy="229870"/>
          </a:xfrm>
          <a:prstGeom prst="rect">
            <a:avLst/>
          </a:prstGeom>
          <a:noFill/>
        </p:spPr>
        <p:txBody>
          <a:bodyPr wrap="square" rtlCol="0">
            <a:spAutoFit/>
          </a:bodyPr>
          <a:p>
            <a:r>
              <a:rPr lang="zh-CN" altLang="en-US" sz="900"/>
              <a:t>参考链接：</a:t>
            </a:r>
            <a:r>
              <a:rPr lang="en-US" altLang="zh-CN" sz="900"/>
              <a:t>https://apxml.com/zh/courses/mixture-of-experts/chapter-4-scaling-moe-distributed-training/pipeline-parallelism-moe</a:t>
            </a:r>
            <a:endParaRPr lang="en-US" altLang="zh-CN" sz="900"/>
          </a:p>
        </p:txBody>
      </p:sp>
      <p:sp>
        <p:nvSpPr>
          <p:cNvPr id="4" name="文本框 3"/>
          <p:cNvSpPr txBox="1"/>
          <p:nvPr/>
        </p:nvSpPr>
        <p:spPr>
          <a:xfrm>
            <a:off x="1864995" y="6967855"/>
            <a:ext cx="4064000" cy="368300"/>
          </a:xfrm>
          <a:prstGeom prst="rect">
            <a:avLst/>
          </a:prstGeom>
          <a:noFill/>
        </p:spPr>
        <p:txBody>
          <a:bodyPr wrap="square" rtlCol="0">
            <a:spAutoFit/>
          </a:bodyPr>
          <a:p>
            <a:endParaRPr lang="zh-CN" altLang="en-US"/>
          </a:p>
        </p:txBody>
      </p:sp>
    </p:spTree>
    <p:custDataLst>
      <p:tags r:id="rId5"/>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4493260" y="3018790"/>
            <a:ext cx="3345180" cy="705485"/>
          </a:xfrm>
        </p:spPr>
        <p:txBody>
          <a:bodyPr>
            <a:noAutofit/>
          </a:bodyPr>
          <a:p>
            <a:r>
              <a:rPr lang="zh-CN" altLang="en-US" sz="4800"/>
              <a:t>谢谢大家！</a:t>
            </a:r>
            <a:endParaRPr lang="zh-CN" altLang="en-US" sz="4800"/>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5.xml><?xml version="1.0" encoding="utf-8"?>
<p:tagLst xmlns:p="http://schemas.openxmlformats.org/presentationml/2006/main">
  <p:tag name="KSO_WM_BEAUTIFY_FLAG" val="#wm#"/>
  <p:tag name="KSO_WM_TEMPLATE_CATEGORY" val="custom"/>
  <p:tag name="KSO_WM_TEMPLATE_INDEX" val="20205081"/>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8.xml><?xml version="1.0" encoding="utf-8"?>
<p:tagLst xmlns:p="http://schemas.openxmlformats.org/presentationml/2006/main">
  <p:tag name="KSO_WM_BEAUTIFY_FLAG" val="#wm#"/>
  <p:tag name="KSO_WM_TEMPLATE_CATEGORY" val="custom"/>
  <p:tag name="KSO_WM_TEMPLATE_INDEX" val="20205081"/>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BEAUTIFY_FLAG" val="#wm#"/>
  <p:tag name="KSO_WM_TEMPLATE_CATEGORY" val="custom"/>
  <p:tag name="KSO_WM_TEMPLATE_INDEX" val="20205081"/>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4.xml><?xml version="1.0" encoding="utf-8"?>
<p:tagLst xmlns:p="http://schemas.openxmlformats.org/presentationml/2006/main">
  <p:tag name="KSO_WM_BEAUTIFY_FLAG" val="#wm#"/>
  <p:tag name="KSO_WM_TEMPLATE_CATEGORY" val="custom"/>
  <p:tag name="KSO_WM_TEMPLATE_INDEX" val="20205081"/>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7.xml><?xml version="1.0" encoding="utf-8"?>
<p:tagLst xmlns:p="http://schemas.openxmlformats.org/presentationml/2006/main">
  <p:tag name="KSO_WM_UNIT_PLACING_PICTURE_USER_VIEWPORT" val="{&quot;height&quot;:596,&quot;width&quot;:2894}"/>
</p:tagLst>
</file>

<file path=ppt/tags/tag78.xml><?xml version="1.0" encoding="utf-8"?>
<p:tagLst xmlns:p="http://schemas.openxmlformats.org/presentationml/2006/main">
  <p:tag name="KSO_WM_UNIT_PLACING_PICTURE_USER_VIEWPORT" val="{&quot;height&quot;:581,&quot;width&quot;:4246}"/>
</p:tagLst>
</file>

<file path=ppt/tags/tag79.xml><?xml version="1.0" encoding="utf-8"?>
<p:tagLst xmlns:p="http://schemas.openxmlformats.org/presentationml/2006/main">
  <p:tag name="KSO_WM_UNIT_PLACING_PICTURE_USER_VIEWPORT" val="{&quot;height&quot;:580,&quot;width&quot;:5547}"/>
</p:tagLst>
</file>

<file path=ppt/tags/tag80.xml><?xml version="1.0" encoding="utf-8"?>
<p:tagLst xmlns:p="http://schemas.openxmlformats.org/presentationml/2006/main">
  <p:tag name="KSO_WM_UNIT_PLACING_PICTURE_USER_VIEWPORT" val="{&quot;height&quot;:582,&quot;width&quot;:2529}"/>
</p:tagLst>
</file>

<file path=ppt/tags/tag81.xml><?xml version="1.0" encoding="utf-8"?>
<p:tagLst xmlns:p="http://schemas.openxmlformats.org/presentationml/2006/main">
  <p:tag name="KSO_WM_UNIT_PLACING_PICTURE_USER_VIEWPORT" val="{&quot;height&quot;:580,&quot;width&quot;:3005}"/>
</p:tagLst>
</file>

<file path=ppt/tags/tag82.xml><?xml version="1.0" encoding="utf-8"?>
<p:tagLst xmlns:p="http://schemas.openxmlformats.org/presentationml/2006/main">
  <p:tag name="KSO_WM_UNIT_PLACING_PICTURE_USER_VIEWPORT" val="{&quot;height&quot;:580,&quot;width&quot;:2494}"/>
</p:tagLst>
</file>

<file path=ppt/tags/tag83.xml><?xml version="1.0" encoding="utf-8"?>
<p:tagLst xmlns:p="http://schemas.openxmlformats.org/presentationml/2006/main">
  <p:tag name="KSO_WM_UNIT_PLACING_PICTURE_USER_VIEWPORT" val="{&quot;height&quot;:2603,&quot;width&quot;:9774}"/>
</p:tagLst>
</file>

<file path=ppt/tags/tag84.xml><?xml version="1.0" encoding="utf-8"?>
<p:tagLst xmlns:p="http://schemas.openxmlformats.org/presentationml/2006/main">
  <p:tag name="KSO_WM_BEAUTIFY_FLAG" val="#wm#"/>
  <p:tag name="KSO_WM_TEMPLATE_CATEGORY" val="custom"/>
  <p:tag name="KSO_WM_TEMPLATE_INDEX" val="20205081"/>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7.xml><?xml version="1.0" encoding="utf-8"?>
<p:tagLst xmlns:p="http://schemas.openxmlformats.org/presentationml/2006/main">
  <p:tag name="KSO_WM_BEAUTIFY_FLAG" val="#wm#"/>
  <p:tag name="KSO_WM_TEMPLATE_CATEGORY" val="custom"/>
  <p:tag name="KSO_WM_TEMPLATE_INDEX" val="20205081"/>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0.xml><?xml version="1.0" encoding="utf-8"?>
<p:tagLst xmlns:p="http://schemas.openxmlformats.org/presentationml/2006/main">
  <p:tag name="KSO_WM_BEAUTIFY_FLAG" val="#wm#"/>
  <p:tag name="KSO_WM_TEMPLATE_CATEGORY" val="custom"/>
  <p:tag name="KSO_WM_TEMPLATE_INDEX" val="20205081"/>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3.xml><?xml version="1.0" encoding="utf-8"?>
<p:tagLst xmlns:p="http://schemas.openxmlformats.org/presentationml/2006/main">
  <p:tag name="KSO_WM_BEAUTIFY_FLAG" val="#wm#"/>
  <p:tag name="KSO_WM_TEMPLATE_CATEGORY" val="custom"/>
  <p:tag name="KSO_WM_TEMPLATE_INDEX" val="20205081"/>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TABLE_ENDDRAG_ORIGIN_RECT" val="571*311"/>
  <p:tag name="TABLE_ENDDRAG_RECT" val="226*144*571*311"/>
</p:tagLst>
</file>

<file path=ppt/tags/tag97.xml><?xml version="1.0" encoding="utf-8"?>
<p:tagLst xmlns:p="http://schemas.openxmlformats.org/presentationml/2006/main">
  <p:tag name="KSO_WM_BEAUTIFY_FLAG" val="#wm#"/>
  <p:tag name="KSO_WM_TEMPLATE_CATEGORY" val="custom"/>
  <p:tag name="KSO_WM_TEMPLATE_INDEX" val="20205081"/>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0.xml><?xml version="1.0" encoding="utf-8"?>
<p:tagLst xmlns:p="http://schemas.openxmlformats.org/presentationml/2006/main">
  <p:tag name="KSO_WM_BEAUTIFY_FLAG" val="#wm#"/>
  <p:tag name="KSO_WM_TEMPLATE_CATEGORY" val="custom"/>
  <p:tag name="KSO_WM_TEMPLATE_INDEX" val="20205081"/>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3.xml><?xml version="1.0" encoding="utf-8"?>
<p:tagLst xmlns:p="http://schemas.openxmlformats.org/presentationml/2006/main">
  <p:tag name="KSO_WM_BEAUTIFY_FLAG" val="#wm#"/>
  <p:tag name="KSO_WM_TEMPLATE_CATEGORY" val="custom"/>
  <p:tag name="KSO_WM_TEMPLATE_INDEX" val="20205081"/>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5.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2536</Words>
  <Application>WPS 演示</Application>
  <PresentationFormat>宽屏</PresentationFormat>
  <Paragraphs>205</Paragraphs>
  <Slides>12</Slides>
  <Notes>4</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12</vt:i4>
      </vt:variant>
    </vt:vector>
  </HeadingPairs>
  <TitlesOfParts>
    <vt:vector size="21" baseType="lpstr">
      <vt:lpstr>Arial</vt:lpstr>
      <vt:lpstr>宋体</vt:lpstr>
      <vt:lpstr>Wingdings</vt:lpstr>
      <vt:lpstr>Wingdings</vt:lpstr>
      <vt:lpstr>微软雅黑</vt:lpstr>
      <vt:lpstr>黑体</vt:lpstr>
      <vt:lpstr>Arial Unicode MS</vt:lpstr>
      <vt:lpstr>Calibri</vt:lpstr>
      <vt:lpstr>WPS</vt:lpstr>
      <vt:lpstr>MOE汇报框架</vt:lpstr>
      <vt:lpstr>MOE稳定训练与优化策略</vt:lpstr>
      <vt:lpstr>MOE的负载均衡(Load Balancing)</vt:lpstr>
      <vt:lpstr>MOE稳定训练与优化策略</vt:lpstr>
      <vt:lpstr>丢弃令牌(Token Dropping)</vt:lpstr>
      <vt:lpstr>MOE稳定训练与优化策略</vt:lpstr>
      <vt:lpstr>MOE分布式训练与扩展策略</vt:lpstr>
      <vt:lpstr>专家并行 (Expert Parallelism)</vt:lpstr>
      <vt:lpstr>MOE分布式训练与扩展策略</vt:lpstr>
      <vt:lpstr>分布式MOE框架：DeepSpeed MOE</vt:lpstr>
      <vt:lpstr>分布式MOE框架：DeepSpeed MOE</vt:lpstr>
      <vt:lpstr>谢谢大家！</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陈依扬</cp:lastModifiedBy>
  <cp:revision>182</cp:revision>
  <dcterms:created xsi:type="dcterms:W3CDTF">2019-06-19T02:08:00Z</dcterms:created>
  <dcterms:modified xsi:type="dcterms:W3CDTF">2026-03-19T09:25:18Z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325943AFA098410890323CD0C82C76C8_13</vt:lpwstr>
  </property>
</Properties>
</file>