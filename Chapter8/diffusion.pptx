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3" r:id="rId4"/>
    <p:sldMasterId id="2147483685" r:id="rId5"/>
  </p:sldMasterIdLst>
  <p:notesMasterIdLst>
    <p:notesMasterId r:id="rId7"/>
  </p:notesMasterIdLst>
  <p:handoutMasterIdLst>
    <p:handoutMasterId r:id="rId69"/>
  </p:handoutMasterIdLst>
  <p:sldIdLst>
    <p:sldId id="285" r:id="rId6"/>
    <p:sldId id="257" r:id="rId8"/>
    <p:sldId id="258" r:id="rId9"/>
    <p:sldId id="259" r:id="rId10"/>
    <p:sldId id="260" r:id="rId11"/>
    <p:sldId id="261" r:id="rId12"/>
    <p:sldId id="262" r:id="rId13"/>
    <p:sldId id="263" r:id="rId14"/>
    <p:sldId id="273" r:id="rId15"/>
    <p:sldId id="283" r:id="rId16"/>
    <p:sldId id="284" r:id="rId17"/>
    <p:sldId id="296" r:id="rId18"/>
    <p:sldId id="297" r:id="rId19"/>
    <p:sldId id="298" r:id="rId20"/>
    <p:sldId id="299" r:id="rId21"/>
    <p:sldId id="300" r:id="rId22"/>
    <p:sldId id="301" r:id="rId23"/>
    <p:sldId id="302" r:id="rId24"/>
    <p:sldId id="303" r:id="rId25"/>
    <p:sldId id="304" r:id="rId26"/>
    <p:sldId id="305" r:id="rId27"/>
    <p:sldId id="306" r:id="rId28"/>
    <p:sldId id="307" r:id="rId29"/>
    <p:sldId id="308" r:id="rId30"/>
    <p:sldId id="309" r:id="rId31"/>
    <p:sldId id="310" r:id="rId32"/>
    <p:sldId id="311" r:id="rId33"/>
    <p:sldId id="312" r:id="rId34"/>
    <p:sldId id="313" r:id="rId35"/>
    <p:sldId id="314" r:id="rId36"/>
    <p:sldId id="315" r:id="rId37"/>
    <p:sldId id="316" r:id="rId38"/>
    <p:sldId id="317" r:id="rId39"/>
    <p:sldId id="318" r:id="rId40"/>
    <p:sldId id="319" r:id="rId41"/>
    <p:sldId id="320" r:id="rId42"/>
    <p:sldId id="321" r:id="rId43"/>
    <p:sldId id="322" r:id="rId44"/>
    <p:sldId id="323" r:id="rId45"/>
    <p:sldId id="324" r:id="rId46"/>
    <p:sldId id="325" r:id="rId47"/>
    <p:sldId id="326" r:id="rId48"/>
    <p:sldId id="327" r:id="rId49"/>
    <p:sldId id="328" r:id="rId50"/>
    <p:sldId id="329" r:id="rId51"/>
    <p:sldId id="330" r:id="rId52"/>
    <p:sldId id="331" r:id="rId53"/>
    <p:sldId id="332" r:id="rId54"/>
    <p:sldId id="333" r:id="rId55"/>
    <p:sldId id="334" r:id="rId56"/>
    <p:sldId id="335" r:id="rId57"/>
    <p:sldId id="336" r:id="rId58"/>
    <p:sldId id="337" r:id="rId59"/>
    <p:sldId id="338" r:id="rId60"/>
    <p:sldId id="339" r:id="rId61"/>
    <p:sldId id="340" r:id="rId62"/>
    <p:sldId id="341" r:id="rId63"/>
    <p:sldId id="342" r:id="rId64"/>
    <p:sldId id="343" r:id="rId65"/>
    <p:sldId id="344" r:id="rId66"/>
    <p:sldId id="345" r:id="rId67"/>
    <p:sldId id="346" r:id="rId68"/>
  </p:sldIdLst>
  <p:sldSz cx="12192000" cy="6858000"/>
  <p:notesSz cx="7103745" cy="1023429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8"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刘 文杰" initials="刘" lastIdx="0" clrIdx="0"/>
  <p:cmAuthor id="2" name="灿聪 代" initials="灿代" lastIdx="0"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B2B2B2"/>
    <a:srgbClr val="202020"/>
    <a:srgbClr val="323232"/>
    <a:srgbClr val="CC3300"/>
    <a:srgbClr val="CC0000"/>
    <a:srgbClr val="FF3300"/>
    <a:srgbClr val="990000"/>
    <a:srgbClr val="FF8D41"/>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480" autoAdjust="0"/>
    <p:restoredTop sz="86395"/>
  </p:normalViewPr>
  <p:slideViewPr>
    <p:cSldViewPr snapToGrid="0" showGuides="1">
      <p:cViewPr varScale="1">
        <p:scale>
          <a:sx n="110" d="100"/>
          <a:sy n="110" d="100"/>
        </p:scale>
        <p:origin x="1312" y="168"/>
      </p:cViewPr>
      <p:guideLst>
        <p:guide orient="horz" pos="2158"/>
        <p:guide pos="3840"/>
      </p:guideLst>
    </p:cSldViewPr>
  </p:slideViewPr>
  <p:outlineViewPr>
    <p:cViewPr>
      <p:scale>
        <a:sx n="33" d="100"/>
        <a:sy n="33" d="100"/>
      </p:scale>
      <p:origin x="0" y="0"/>
    </p:cViewPr>
  </p:outlin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3.xml"/><Relationship Id="rId8" Type="http://schemas.openxmlformats.org/officeDocument/2006/relationships/slide" Target="slides/slide2.xml"/><Relationship Id="rId73" Type="http://schemas.openxmlformats.org/officeDocument/2006/relationships/commentAuthors" Target="commentAuthors.xml"/><Relationship Id="rId72" Type="http://schemas.openxmlformats.org/officeDocument/2006/relationships/tableStyles" Target="tableStyles.xml"/><Relationship Id="rId71" Type="http://schemas.openxmlformats.org/officeDocument/2006/relationships/viewProps" Target="viewProps.xml"/><Relationship Id="rId70" Type="http://schemas.openxmlformats.org/officeDocument/2006/relationships/presProps" Target="presProps.xml"/><Relationship Id="rId7" Type="http://schemas.openxmlformats.org/officeDocument/2006/relationships/notesMaster" Target="notesMasters/notesMaster1.xml"/><Relationship Id="rId69" Type="http://schemas.openxmlformats.org/officeDocument/2006/relationships/handoutMaster" Target="handoutMasters/handoutMaster1.xml"/><Relationship Id="rId68" Type="http://schemas.openxmlformats.org/officeDocument/2006/relationships/slide" Target="slides/slide62.xml"/><Relationship Id="rId67" Type="http://schemas.openxmlformats.org/officeDocument/2006/relationships/slide" Target="slides/slide61.xml"/><Relationship Id="rId66" Type="http://schemas.openxmlformats.org/officeDocument/2006/relationships/slide" Target="slides/slide60.xml"/><Relationship Id="rId65" Type="http://schemas.openxmlformats.org/officeDocument/2006/relationships/slide" Target="slides/slide59.xml"/><Relationship Id="rId64" Type="http://schemas.openxmlformats.org/officeDocument/2006/relationships/slide" Target="slides/slide58.xml"/><Relationship Id="rId63" Type="http://schemas.openxmlformats.org/officeDocument/2006/relationships/slide" Target="slides/slide57.xml"/><Relationship Id="rId62" Type="http://schemas.openxmlformats.org/officeDocument/2006/relationships/slide" Target="slides/slide56.xml"/><Relationship Id="rId61" Type="http://schemas.openxmlformats.org/officeDocument/2006/relationships/slide" Target="slides/slide55.xml"/><Relationship Id="rId60" Type="http://schemas.openxmlformats.org/officeDocument/2006/relationships/slide" Target="slides/slide54.xml"/><Relationship Id="rId6" Type="http://schemas.openxmlformats.org/officeDocument/2006/relationships/slide" Target="slides/slide1.xml"/><Relationship Id="rId59" Type="http://schemas.openxmlformats.org/officeDocument/2006/relationships/slide" Target="slides/slide53.xml"/><Relationship Id="rId58" Type="http://schemas.openxmlformats.org/officeDocument/2006/relationships/slide" Target="slides/slide52.xml"/><Relationship Id="rId57" Type="http://schemas.openxmlformats.org/officeDocument/2006/relationships/slide" Target="slides/slide51.xml"/><Relationship Id="rId56" Type="http://schemas.openxmlformats.org/officeDocument/2006/relationships/slide" Target="slides/slide50.xml"/><Relationship Id="rId55" Type="http://schemas.openxmlformats.org/officeDocument/2006/relationships/slide" Target="slides/slide49.xml"/><Relationship Id="rId54" Type="http://schemas.openxmlformats.org/officeDocument/2006/relationships/slide" Target="slides/slide48.xml"/><Relationship Id="rId53" Type="http://schemas.openxmlformats.org/officeDocument/2006/relationships/slide" Target="slides/slide47.xml"/><Relationship Id="rId52" Type="http://schemas.openxmlformats.org/officeDocument/2006/relationships/slide" Target="slides/slide46.xml"/><Relationship Id="rId51" Type="http://schemas.openxmlformats.org/officeDocument/2006/relationships/slide" Target="slides/slide45.xml"/><Relationship Id="rId50" Type="http://schemas.openxmlformats.org/officeDocument/2006/relationships/slide" Target="slides/slide44.xml"/><Relationship Id="rId5" Type="http://schemas.openxmlformats.org/officeDocument/2006/relationships/slideMaster" Target="slideMasters/slideMaster4.xml"/><Relationship Id="rId49" Type="http://schemas.openxmlformats.org/officeDocument/2006/relationships/slide" Target="slides/slide43.xml"/><Relationship Id="rId48" Type="http://schemas.openxmlformats.org/officeDocument/2006/relationships/slide" Target="slides/slide42.xml"/><Relationship Id="rId47" Type="http://schemas.openxmlformats.org/officeDocument/2006/relationships/slide" Target="slides/slide41.xml"/><Relationship Id="rId46" Type="http://schemas.openxmlformats.org/officeDocument/2006/relationships/slide" Target="slides/slide40.xml"/><Relationship Id="rId45" Type="http://schemas.openxmlformats.org/officeDocument/2006/relationships/slide" Target="slides/slide39.xml"/><Relationship Id="rId44" Type="http://schemas.openxmlformats.org/officeDocument/2006/relationships/slide" Target="slides/slide38.xml"/><Relationship Id="rId43" Type="http://schemas.openxmlformats.org/officeDocument/2006/relationships/slide" Target="slides/slide37.xml"/><Relationship Id="rId42" Type="http://schemas.openxmlformats.org/officeDocument/2006/relationships/slide" Target="slides/slide36.xml"/><Relationship Id="rId41" Type="http://schemas.openxmlformats.org/officeDocument/2006/relationships/slide" Target="slides/slide35.xml"/><Relationship Id="rId40" Type="http://schemas.openxmlformats.org/officeDocument/2006/relationships/slide" Target="slides/slide34.xml"/><Relationship Id="rId4" Type="http://schemas.openxmlformats.org/officeDocument/2006/relationships/slideMaster" Target="slideMasters/slideMaster3.xml"/><Relationship Id="rId39" Type="http://schemas.openxmlformats.org/officeDocument/2006/relationships/slide" Target="slides/slide33.xml"/><Relationship Id="rId38" Type="http://schemas.openxmlformats.org/officeDocument/2006/relationships/slide" Target="slides/slide32.xml"/><Relationship Id="rId37" Type="http://schemas.openxmlformats.org/officeDocument/2006/relationships/slide" Target="slides/slide31.xml"/><Relationship Id="rId36" Type="http://schemas.openxmlformats.org/officeDocument/2006/relationships/slide" Target="slides/slide30.xml"/><Relationship Id="rId35" Type="http://schemas.openxmlformats.org/officeDocument/2006/relationships/slide" Target="slides/slide29.xml"/><Relationship Id="rId34" Type="http://schemas.openxmlformats.org/officeDocument/2006/relationships/slide" Target="slides/slide28.xml"/><Relationship Id="rId33" Type="http://schemas.openxmlformats.org/officeDocument/2006/relationships/slide" Target="slides/slide27.xml"/><Relationship Id="rId32" Type="http://schemas.openxmlformats.org/officeDocument/2006/relationships/slide" Target="slides/slide26.xml"/><Relationship Id="rId31" Type="http://schemas.openxmlformats.org/officeDocument/2006/relationships/slide" Target="slides/slide25.xml"/><Relationship Id="rId30" Type="http://schemas.openxmlformats.org/officeDocument/2006/relationships/slide" Target="slides/slide24.xml"/><Relationship Id="rId3" Type="http://schemas.openxmlformats.org/officeDocument/2006/relationships/slideMaster" Target="slideMasters/slideMaster2.xml"/><Relationship Id="rId29" Type="http://schemas.openxmlformats.org/officeDocument/2006/relationships/slide" Target="slides/slide23.xml"/><Relationship Id="rId28" Type="http://schemas.openxmlformats.org/officeDocument/2006/relationships/slide" Target="slides/slide22.xml"/><Relationship Id="rId27" Type="http://schemas.openxmlformats.org/officeDocument/2006/relationships/slide" Target="slides/slide21.xml"/><Relationship Id="rId26" Type="http://schemas.openxmlformats.org/officeDocument/2006/relationships/slide" Target="slides/slide20.xml"/><Relationship Id="rId25" Type="http://schemas.openxmlformats.org/officeDocument/2006/relationships/slide" Target="slides/slide19.xml"/><Relationship Id="rId24" Type="http://schemas.openxmlformats.org/officeDocument/2006/relationships/slide" Target="slides/slide18.xml"/><Relationship Id="rId23" Type="http://schemas.openxmlformats.org/officeDocument/2006/relationships/slide" Target="slides/slide17.xml"/><Relationship Id="rId22" Type="http://schemas.openxmlformats.org/officeDocument/2006/relationships/slide" Target="slides/slide16.xml"/><Relationship Id="rId21" Type="http://schemas.openxmlformats.org/officeDocument/2006/relationships/slide" Target="slides/slide15.xml"/><Relationship Id="rId20" Type="http://schemas.openxmlformats.org/officeDocument/2006/relationships/slide" Target="slides/slide14.xml"/><Relationship Id="rId2" Type="http://schemas.openxmlformats.org/officeDocument/2006/relationships/theme" Target="theme/theme1.xml"/><Relationship Id="rId19" Type="http://schemas.openxmlformats.org/officeDocument/2006/relationships/slide" Target="slides/slide13.xml"/><Relationship Id="rId18" Type="http://schemas.openxmlformats.org/officeDocument/2006/relationships/slide" Target="slides/slide12.xml"/><Relationship Id="rId17" Type="http://schemas.openxmlformats.org/officeDocument/2006/relationships/slide" Target="slides/slide11.xml"/><Relationship Id="rId16" Type="http://schemas.openxmlformats.org/officeDocument/2006/relationships/slide" Target="slides/slide10.xml"/><Relationship Id="rId15" Type="http://schemas.openxmlformats.org/officeDocument/2006/relationships/slide" Target="slides/slide9.xml"/><Relationship Id="rId14" Type="http://schemas.openxmlformats.org/officeDocument/2006/relationships/slide" Target="slides/slide8.xml"/><Relationship Id="rId13" Type="http://schemas.openxmlformats.org/officeDocument/2006/relationships/slide" Target="slides/slide7.xml"/><Relationship Id="rId12" Type="http://schemas.openxmlformats.org/officeDocument/2006/relationships/slide" Target="slides/slide6.xml"/><Relationship Id="rId11" Type="http://schemas.openxmlformats.org/officeDocument/2006/relationships/slide" Target="slides/slide5.xml"/><Relationship Id="rId10" Type="http://schemas.openxmlformats.org/officeDocument/2006/relationships/slide" Target="slides/slide4.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zhida.zhihu.com/search?content_id=235000490&amp;content_type=Article&amp;match_order=1&amp;q=%E7%A5%9E%E7%BB%8F%E7%BD%91%E7%BB%9C%E6%A8%A1%E5%9E%8B&amp;zhida_source=entity" TargetMode="External"/><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4" Type="http://schemas.openxmlformats.org/officeDocument/2006/relationships/hyperlink" Target="https://zhida.zhihu.com/search?content_id=235000490&amp;content_type=Article&amp;match_order=1&amp;q=%E6%89%A9%E6%95%A3%E8%BF%87%E7%A8%8B&amp;zhida_source=entity" TargetMode="External"/><Relationship Id="rId3" Type="http://schemas.openxmlformats.org/officeDocument/2006/relationships/hyperlink" Target="https://zhida.zhihu.com/search?content_id=235000490&amp;content_type=Article&amp;match_order=1&amp;q=%E5%A7%BF%E6%80%81%E4%BC%B0%E8%AE%A1&amp;zhida_source=entity" TargetMode="External"/><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zhida.zhihu.com/search?content_id=235000490&amp;content_type=Article&amp;match_order=1&amp;q=%E8%BF%87%E6%8B%9F%E5%90%88&amp;zhida_source=entity" TargetMode="External"/><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4" Type="http://schemas.openxmlformats.org/officeDocument/2006/relationships/hyperlink" Target="https://zhida.zhihu.com/search?content_id=235000490&amp;content_type=Article&amp;match_order=1&amp;q=%E7%89%B9%E5%BE%81%E7%BC%96%E7%A0%81&amp;zhida_source=entity" TargetMode="External"/><Relationship Id="rId3" Type="http://schemas.openxmlformats.org/officeDocument/2006/relationships/hyperlink" Target="https://zhida.zhihu.com/search?content_id=235000490&amp;content_type=Article&amp;match_order=1&amp;q=%E7%A9%BA%E9%97%B4%E7%89%B9%E5%BE%81&amp;zhida_source=entity" TargetMode="External"/><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3" Type="http://schemas.openxmlformats.org/officeDocument/2006/relationships/hyperlink" Target="https://zhida.zhihu.com/search?content_id=235000490&amp;content_type=Article&amp;match_order=1&amp;q=%E6%97%B6%E9%97%B4%E6%AD%A5%E9%95%BF&amp;zhida_source=entity" TargetMode="External"/><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r>
              <a:rPr lang="zh-CN" altLang="en-US" dirty="0"/>
              <a:t>大家好，今天将由我们给大家介绍讲述</a:t>
            </a:r>
            <a:r>
              <a:rPr lang="en-US" altLang="zh-CN" dirty="0"/>
              <a:t>diffusion</a:t>
            </a:r>
            <a:r>
              <a:rPr lang="zh-CN" altLang="en-US" dirty="0"/>
              <a:t>专题的具体学习内容。</a:t>
            </a:r>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这次专题的</a:t>
            </a:r>
            <a:r>
              <a:rPr lang="en-US" altLang="zh-CN" dirty="0"/>
              <a:t>outline</a:t>
            </a:r>
            <a:r>
              <a:rPr lang="zh-CN" altLang="en-US" dirty="0"/>
              <a:t>大概是，先介绍 DDPM 的基本概念、图像生成任务背景，以及 DDPM 的整体架构和具体算法，理解扩散模型的基础；之后会继续介绍扩散模型的延伸内容，包括 参数高效方法、高效采样与推理、模型结构、可控生成，以及扩散模型的应用场景。</a:t>
            </a:r>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在最近的几年里，以</a:t>
            </a:r>
            <a:r>
              <a:rPr lang="en-US" altLang="zh-CN" dirty="0"/>
              <a:t>Stable Diffusion</a:t>
            </a:r>
            <a:r>
              <a:rPr lang="zh-CN" altLang="en-US" dirty="0"/>
              <a:t>为代表的图像生成是人工智能最火热的方向之一。而</a:t>
            </a:r>
            <a:r>
              <a:rPr lang="en-US" altLang="zh-CN" dirty="0"/>
              <a:t>Stable Diffusion</a:t>
            </a:r>
            <a:r>
              <a:rPr lang="zh-CN" altLang="en-US" dirty="0"/>
              <a:t>中最核心的“</a:t>
            </a:r>
            <a:r>
              <a:rPr lang="en-US" altLang="zh-CN" dirty="0"/>
              <a:t>Diffusion</a:t>
            </a:r>
            <a:r>
              <a:rPr lang="zh-CN" altLang="en-US" dirty="0"/>
              <a:t>”就是扩散模型。</a:t>
            </a:r>
            <a:r>
              <a:rPr lang="en-US" altLang="zh-CN" dirty="0"/>
              <a:t>Denoising Diffusion Probabilistic Models</a:t>
            </a:r>
            <a:r>
              <a:rPr lang="zh-CN" altLang="en-US" dirty="0"/>
              <a:t>，负责生成图像的模型。</a:t>
            </a:r>
            <a:endParaRPr lang="zh-CN" altLang="en-US" dirty="0"/>
          </a:p>
          <a:p>
            <a:endParaRPr lang="zh-CN" altLang="en-US" dirty="0"/>
          </a:p>
          <a:p>
            <a:r>
              <a:rPr lang="zh-CN" altLang="en-US" dirty="0"/>
              <a:t>想要理解</a:t>
            </a:r>
            <a:r>
              <a:rPr lang="en-US" altLang="zh-CN" dirty="0"/>
              <a:t>Stable Diffusion </a:t>
            </a:r>
            <a:r>
              <a:rPr lang="zh-CN" altLang="en-US" dirty="0"/>
              <a:t>的原理，就一定绕不开扩散模型的学习。因此，我们会先介绍讲解最基础的去噪扩散概率模型。</a:t>
            </a:r>
            <a:endParaRPr lang="zh-CN" altLang="en-US" dirty="0"/>
          </a:p>
          <a:p>
            <a:endParaRPr lang="zh-CN" altLang="en-US" dirty="0"/>
          </a:p>
          <a:p>
            <a:r>
              <a:rPr lang="zh-CN" altLang="en-US" dirty="0"/>
              <a:t>它是在</a:t>
            </a:r>
            <a:r>
              <a:rPr lang="en-US" altLang="zh-CN" dirty="0"/>
              <a:t>2020</a:t>
            </a:r>
            <a:r>
              <a:rPr lang="zh-CN" altLang="en-US" dirty="0"/>
              <a:t>年由加州伯克利大学提出的经典模型，核心思想很直观：先把一张真实图片逐步加噪，直到变成几乎纯随机噪声；然后再训练一个模型，学习怎样把噪声一步一步去掉，最终还原出清晰图像。 也就是说，DDPM 把复杂的“直接生成图像”问题，转化成了一个更容易学习的“逐步去噪”问题。后面我们会详细展开它的两个关键过程，也就是正向加噪过程和反向去噪过程。</a:t>
            </a:r>
            <a:endParaRPr lang="zh-CN" altLang="en-US" dirty="0"/>
          </a:p>
          <a:p>
            <a:endParaRPr lang="zh-CN" altLang="en-US" dirty="0"/>
          </a:p>
          <a:p>
            <a:r>
              <a:rPr lang="zh-CN" altLang="en-US" dirty="0"/>
              <a:t>右边展示的人脸和大量小图，也对应了早期扩散模型比较经典的应用场景——无论是人脸生成，还是更一般的自然图像生成，扩散模型都表现出了很强的生成质量和稳定性。接下来，我会从图像生成前言介绍，扩散模型 整体架构、具体算法等部分，系统介绍 DDPM 是怎么工作的。</a:t>
            </a:r>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r>
              <a:rPr lang="zh-CN" altLang="en-US" sz="1000" dirty="0"/>
              <a:t>在认识扩散模型之前，我们先退一步，回顾一般的神经网络模型是怎么生成图像的。显然，为了生成丰富的图像，一个图像生成程序要根据随机数来生成图像。通常，这种随机数是一个满足标准正态分布的随机向量。这样，每次要生成新图像时，只需要从标准正态分布里随机生成一个向量并输入给程序就行了。</a:t>
            </a:r>
            <a:endParaRPr lang="zh-CN" altLang="en-US" sz="1000" dirty="0"/>
          </a:p>
          <a:p>
            <a:endParaRPr lang="zh-CN" altLang="en-US" sz="1000" dirty="0"/>
          </a:p>
          <a:p>
            <a:r>
              <a:rPr lang="zh-CN" altLang="en-US" sz="1000" dirty="0"/>
              <a:t>而在图像生成中，负责生成图像的是一个神经网络模型。神经网络需要从数据中学习。对于图像生成任务，神经网络的训练数据一般是一些同类型的图片。比如一个绘制人脸的神经网络会用人脸照片来训练。也就是说，神经网络会学习如何把一个向量映射成一张图片，并确保这个图片和训练集的图片是一类图片。</a:t>
            </a:r>
            <a:endParaRPr lang="zh-CN" altLang="en-US" sz="1000" dirty="0"/>
          </a:p>
          <a:p>
            <a:endParaRPr lang="zh-CN" altLang="en-US" sz="1000" dirty="0"/>
          </a:p>
          <a:p>
            <a:r>
              <a:rPr lang="zh-CN" altLang="en-US" sz="1000" dirty="0"/>
              <a:t>可是，相比其他任务，图像生成任务对神经网络来说更加困难一点——图像生成任务缺乏有效的指导。在其他任务中，训练集本身会给出一个「标准答案」，指导AI的输出向标准答案靠拢。比如对于图像分类任务，训练集会给出每一幅图像的类别；对于人脸验证任务，训练集会给出两张人脸照片是不是同一个人；对于目标检测任务，训练集会给出目标的具体位置。然而，图像生成任务是没有标准答案的。图像生成数据集里只有一些同类型图片，却没有指导模型如何画得更好的信息。</a:t>
            </a:r>
            <a:endParaRPr lang="zh-CN" altLang="en-US" sz="1000"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为了解决这一问题，研究者们设计了一些用于生成图像的网络架构。这些架构中比较代表的就是生成对抗模型（GAN）和变分自编码器（VAE）。</a:t>
            </a:r>
            <a:endParaRPr lang="zh-CN" altLang="en-US" dirty="0"/>
          </a:p>
          <a:p>
            <a:endParaRPr lang="zh-CN" altLang="en-US" dirty="0"/>
          </a:p>
          <a:p>
            <a:r>
              <a:rPr lang="zh-CN" altLang="en-US" dirty="0"/>
              <a:t>GAN的想法就是，既然不知道一幅图片好不好，就干脆再训练一个神经网络，用于辨别某图片是不是和训练集里的图片长得一样。生成图像的神经网络叫做生成器，鉴定图像的神经网络叫做判别器。两个网络互相对抗，共同进步。</a:t>
            </a:r>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而VAE则使用了逆向思维：学习向量生成图像很困难，那就再同时学习怎么用图像生成向量。这样，把某图像变成向量，再用该向量生成图像，就应该得到一幅和原图像一模一样的图像。每一个向量的绘画结果有了一个标准答案，可以用一般的优化方法来指导网络的训练了。VAE中，把图像变成向量的网络叫做编码器，把向量转换回图像的网络叫做解码器。其中，解码器就是负责生成图像的模型。</a:t>
            </a:r>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一直以来，GAN的生成效果较好，但训练起来比VAE麻烦很多。有没有和GAN一样强大，训练起来又方便的生成网络架构呢？扩散模型正是满足这些要求的生成网络架构。</a:t>
            </a:r>
            <a:endParaRPr lang="zh-CN" altLang="en-US" dirty="0"/>
          </a:p>
          <a:p>
            <a:endParaRPr lang="zh-CN" altLang="en-US" dirty="0"/>
          </a:p>
          <a:p>
            <a:r>
              <a:rPr lang="zh-CN" altLang="en-US" dirty="0"/>
              <a:t>扩散模型是一种特殊的VAE，其灵感来自于热力学：一个分布可以通过不断地添加噪声变成另一个分布。放到图像生成任务里，就是来自训练集的图像可以通过不断添加噪声变成符合标准正态分布的图像。从这个角度出发，我们可以对VAE做以下修改：1）不再训练一个可学习的编码器，而是把编码过程固定成不断添加噪声的过程；2）不再把图像压缩成更短的向量，而是自始至终都对一个等大的图像做操作。解码器依然是一个可学习的神经网络，它的目的也同样是实现编码的逆操作。不过，既然现在编码过程变成了加噪，那么解码器就应该负责去噪。而对于神经网络来说，去噪任务学习起来会更加有效。因此，扩散模型既不会涉及GAN中复杂的对抗训练，又比VAE更强大一点。</a:t>
            </a:r>
            <a:endParaRPr lang="zh-CN" altLang="en-US" dirty="0"/>
          </a:p>
          <a:p>
            <a:endParaRPr lang="zh-CN" altLang="en-US" dirty="0"/>
          </a:p>
          <a:p>
            <a:r>
              <a:rPr lang="zh-CN" altLang="en-US" dirty="0"/>
              <a:t>具体来说，扩散模型由正向过程和反向过程这两部分组成，对应VAE中的编码和解码。在正向过程中，输入</a:t>
            </a:r>
            <a:r>
              <a:rPr lang="en-US" altLang="zh-CN" dirty="0"/>
              <a:t> x0 </a:t>
            </a:r>
            <a:r>
              <a:rPr lang="zh-CN" altLang="en-US" dirty="0"/>
              <a:t>会不断混入高斯噪声。经过</a:t>
            </a:r>
            <a:r>
              <a:rPr lang="en-US" altLang="zh-CN" dirty="0"/>
              <a:t> T </a:t>
            </a:r>
            <a:r>
              <a:rPr lang="zh-CN" altLang="en-US" dirty="0"/>
              <a:t>次加噪声操作后，图像</a:t>
            </a:r>
            <a:r>
              <a:rPr lang="en-US" altLang="zh-CN" dirty="0"/>
              <a:t> xT </a:t>
            </a:r>
            <a:r>
              <a:rPr lang="zh-CN" altLang="en-US" dirty="0"/>
              <a:t>会变成一幅符合标准正态分布的纯噪声图像。而在反向过程中，我们希望训练出一个神经网络，该网络能够学会</a:t>
            </a:r>
            <a:r>
              <a:rPr lang="en-US" altLang="zh-CN" dirty="0"/>
              <a:t> T </a:t>
            </a:r>
            <a:r>
              <a:rPr lang="zh-CN" altLang="en-US" dirty="0"/>
              <a:t>个去噪声操作，把</a:t>
            </a:r>
            <a:r>
              <a:rPr lang="en-US" altLang="zh-CN" dirty="0"/>
              <a:t>XT </a:t>
            </a:r>
            <a:r>
              <a:rPr lang="zh-CN" altLang="en-US" dirty="0"/>
              <a:t>还原回</a:t>
            </a:r>
            <a:r>
              <a:rPr lang="en-US" altLang="zh-CN" dirty="0"/>
              <a:t> x0 </a:t>
            </a:r>
            <a:r>
              <a:rPr lang="zh-CN" altLang="en-US" dirty="0"/>
              <a:t>。网络的学习目标是让</a:t>
            </a:r>
            <a:r>
              <a:rPr lang="en-US" altLang="zh-CN" dirty="0"/>
              <a:t> T </a:t>
            </a:r>
            <a:r>
              <a:rPr lang="zh-CN" altLang="en-US" dirty="0"/>
              <a:t>个去噪声操作正好能抵消掉对应的加噪声操作。训练完毕后，只需要从标准正态分布里随机采样出一个噪声，再利用反向过程里的神经网络把该噪声恢复成一幅图像，就能够生成一幅图片了。</a:t>
            </a:r>
            <a:endParaRPr lang="zh-CN" altLang="en-US" dirty="0"/>
          </a:p>
          <a:p>
            <a:endParaRPr lang="zh-CN" altLang="en-US" dirty="0"/>
          </a:p>
          <a:p>
            <a:r>
              <a:rPr lang="zh-CN" altLang="en-US" dirty="0"/>
              <a:t>高斯噪声，就是一幅各处颜色值都满足高斯分布（正态分布）的噪声图像。</a:t>
            </a:r>
            <a:endParaRPr lang="zh-CN" altLang="en-US" dirty="0"/>
          </a:p>
          <a:p>
            <a:endParaRPr lang="zh-CN" altLang="en-US" dirty="0"/>
          </a:p>
          <a:p>
            <a:r>
              <a:rPr lang="zh-CN" altLang="en-US" dirty="0"/>
              <a:t>总结一下，图像生成网络会学习如何把一个向量映射成一幅图像。设计网络架构时，最重要的是设计学习目标，让网络生成的图像和给定数据集里的图像相似。VAE的做法是使用两个网络，一个学习把图像编码成向量，另一个学习把向量解码回图像，它们的目标是让复原图像和原图像尽可能相似。学习完毕后，解码器就是图像生成网络。扩散模型是一种更具体的VAE。它把编码过程固定为加噪声，并让解码器学习怎么样消除之前添加的每一步噪声。</a:t>
            </a:r>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mc:AlternateContent xmlns:mc="http://schemas.openxmlformats.org/markup-compatibility/2006">
        <mc:Choice xmlns:a14="http://schemas.microsoft.com/office/drawing/2010/main" Requires="a14">
          <p:sp>
            <p:nvSpPr>
              <p:cNvPr id="3" name="文本占位符 2"/>
              <p:cNvSpPr>
                <a:spLocks noGrp="1"/>
              </p:cNvSpPr>
              <p:nvPr>
                <p:ph type="body" idx="3"/>
              </p:nvPr>
            </p:nvSpPr>
            <p:spPr/>
            <p:txBody>
              <a:bodyPr/>
              <a:lstStyle/>
              <a:p>
                <a:r>
                  <a:rPr lang="zh-CN" altLang="en-US" dirty="0"/>
                  <a:t>上一节中，我们只是大概了解扩散模型的整体思想。这一节，我们来引入一些数学表示，来看一看扩散模型的训练算法和采样算法具体是什么。</a:t>
                </a:r>
                <a:endParaRPr lang="zh-CN" altLang="en-US" dirty="0"/>
              </a:p>
              <a:p>
                <a:endParaRPr lang="zh-CN" altLang="en-US" dirty="0"/>
              </a:p>
              <a:p>
                <a:r>
                  <a:rPr lang="zh-CN" altLang="en-US" dirty="0"/>
                  <a:t>这一页我们先介绍 DDPM 的具体算法中的正向过程。所谓正向过程，其实就是一个逐步向原始图像中加入高斯噪声的过程。按照 </a:t>
                </a:r>
                <a:r>
                  <a:rPr lang="en-US" altLang="zh-CN" dirty="0"/>
                  <a:t>DDPM </a:t>
                </a:r>
                <a:r>
                  <a:rPr lang="zh-CN" altLang="en-US" dirty="0"/>
                  <a:t>中的定义，这个过程满足马尔可夫链，也就是说，第 𝑡</a:t>
                </a:r>
                <a:r>
                  <a:rPr lang="en-US" altLang="zh-CN" dirty="0"/>
                  <a:t> </a:t>
                </a:r>
                <a:r>
                  <a:rPr lang="zh-CN" altLang="en-US" dirty="0"/>
                  <a:t>时刻的状态 </a:t>
                </a:r>
                <a:r>
                  <a:rPr lang="en-US" altLang="zh-CN" dirty="0"/>
                  <a:t>xt</a:t>
                </a:r>
                <a:r>
                  <a:rPr lang="zh-CN" altLang="en-US" dirty="0"/>
                  <a:t>，只和前一时刻 xt−1有关，而与更早的状态没有直接关系。对应地，整条加噪路径可以写成所有条件概率的连乘。</a:t>
                </a:r>
                <a:endParaRPr lang="zh-CN" altLang="en-US" dirty="0"/>
              </a:p>
              <a:p>
                <a:endParaRPr lang="zh-CN" altLang="en-US" dirty="0"/>
              </a:p>
              <a:p>
                <a:r>
                  <a:rPr lang="zh-CN" altLang="en-US" dirty="0"/>
                  <a:t>接着看</a:t>
                </a:r>
                <a14:m>
                  <m:oMath xmlns:m="http://schemas.openxmlformats.org/officeDocument/2006/math">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𝑞</m:t>
                    </m:r>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m:t>
                    </m:r>
                    <m:sSub>
                      <m:sSubPr>
                        <m:ctrlP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ctrlPr>
                      </m:sSubPr>
                      <m:e>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𝑥</m:t>
                        </m:r>
                      </m:e>
                      <m:sub>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𝑡</m:t>
                        </m:r>
                      </m:sub>
                    </m:sSub>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m:t>
                    </m:r>
                    <m:sSub>
                      <m:sSubPr>
                        <m:ctrlP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ctrlPr>
                      </m:sSubPr>
                      <m:e>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𝑥</m:t>
                        </m:r>
                      </m:e>
                      <m:sub>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𝑡</m:t>
                        </m:r>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m:t>
                        </m:r>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1</m:t>
                        </m:r>
                      </m:sub>
                    </m:sSub>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m:t>
                    </m:r>
                  </m:oMath>
                </a14:m>
                <a:r>
                  <a:rPr lang="zh-CN" altLang="en-US" dirty="0"/>
                  <a:t>，表示从上一步到这一步是怎么加噪的。这里加入的是一个服从高斯分布的随机噪声，均值部分是 </a:t>
                </a:r>
                <a14:m>
                  <m:oMath xmlns:m="http://schemas.openxmlformats.org/officeDocument/2006/math">
                    <m:rad>
                      <m:radPr>
                        <m:degHide m:val="on"/>
                        <m:ctrlP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ctrlPr>
                      </m:radPr>
                      <m:deg/>
                      <m:e>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1</m:t>
                        </m:r>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m:t>
                        </m:r>
                        <m:sSub>
                          <m:sSubPr>
                            <m:ctrlP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ctrlPr>
                          </m:sSubPr>
                          <m:e>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𝛽</m:t>
                            </m:r>
                          </m:e>
                          <m:sub>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𝑡</m:t>
                            </m:r>
                          </m:sub>
                        </m:sSub>
                      </m:e>
                    </m:rad>
                    <m:sSub>
                      <m:sSubPr>
                        <m:ctrlP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ctrlPr>
                      </m:sSubPr>
                      <m:e>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𝑥</m:t>
                        </m:r>
                      </m:e>
                      <m:sub>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𝑡</m:t>
                        </m:r>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m:t>
                        </m:r>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1</m:t>
                        </m:r>
                      </m:sub>
                    </m:sSub>
                  </m:oMath>
                </a14:m>
                <a:r>
                  <a:rPr lang="zh-CN" altLang="en-US" dirty="0"/>
                  <a:t>，方差由 </a:t>
                </a:r>
                <a14:m>
                  <m:oMath xmlns:m="http://schemas.openxmlformats.org/officeDocument/2006/math">
                    <m:sSub>
                      <m:sSubPr>
                        <m:ctrlP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ctrlPr>
                      </m:sSubPr>
                      <m:e>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𝛽</m:t>
                        </m:r>
                      </m:e>
                      <m:sub>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𝑡</m:t>
                        </m:r>
                      </m:sub>
                    </m:sSub>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𝐼</m:t>
                    </m:r>
                  </m:oMath>
                </a14:m>
                <a:r>
                  <a:rPr lang="en-US" altLang="zh-CN" dirty="0"/>
                  <a:t> </a:t>
                </a:r>
                <a:r>
                  <a:rPr lang="zh-CN" altLang="en-US" dirty="0"/>
                  <a:t>控制。可以把它直观理解为：每走一步，都保留一部分原图信息，同时再混入一点新的噪声。而且 PPT 里也写到，βt是逐步增大的，也就是随着时间推进，噪声会越来越强，图像会越来越模糊，最后接近纯噪声。</a:t>
                </a:r>
                <a:endParaRPr lang="zh-CN" altLang="en-US" dirty="0"/>
              </a:p>
              <a:p>
                <a:endParaRPr lang="zh-CN" altLang="en-US" dirty="0"/>
              </a:p>
              <a:p>
                <a:r>
                  <a:rPr lang="zh-CN" altLang="en-US" dirty="0"/>
                  <a:t>接着进一步定义了 </a:t>
                </a:r>
                <a14:m>
                  <m:oMath xmlns:m="http://schemas.openxmlformats.org/officeDocument/2006/math">
                    <m:sSub>
                      <m:sSubPr>
                        <m:ctrlP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ctrlPr>
                      </m:sSubPr>
                      <m:e>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𝛼</m:t>
                        </m:r>
                      </m:e>
                      <m:sub>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𝑡</m:t>
                        </m:r>
                      </m:sub>
                    </m:sSub>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m:t>
                    </m:r>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1</m:t>
                    </m:r>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m:t>
                    </m:r>
                    <m:sSub>
                      <m:sSubPr>
                        <m:ctrlP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ctrlPr>
                      </m:sSubPr>
                      <m:e>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𝛽</m:t>
                        </m:r>
                      </m:e>
                      <m:sub>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𝑡</m:t>
                        </m:r>
                      </m:sub>
                    </m:sSub>
                  </m:oMath>
                </a14:m>
                <a:r>
                  <a:rPr lang="zh-CN" altLang="en-US" dirty="0"/>
                  <a:t>，以及累乘形式的 </a:t>
                </a:r>
                <a14:m>
                  <m:oMath xmlns:m="http://schemas.openxmlformats.org/officeDocument/2006/math">
                    <m:sSub>
                      <m:sSubPr>
                        <m:ctrlPr>
                          <a:rPr lang="en-US" altLang="zh-CN" i="1" dirty="0">
                            <a:latin typeface="Cambria Math" panose="02040503050406030204" pitchFamily="18" charset="0"/>
                            <a:ea typeface="微软雅黑" charset="-122"/>
                            <a:cs typeface="DejaVu Math TeX Gyre" panose="02000503000000000000" charset="0"/>
                          </a:rPr>
                        </m:ctrlPr>
                      </m:sSubPr>
                      <m:e>
                        <m:acc>
                          <m:accPr>
                            <m:chr m:val="̅"/>
                            <m:ctrlPr>
                              <a:rPr lang="en-US" altLang="zh-CN" i="1" dirty="0">
                                <a:latin typeface="Cambria Math" panose="02040503050406030204" pitchFamily="18" charset="0"/>
                                <a:ea typeface="微软雅黑" charset="-122"/>
                                <a:cs typeface="DejaVu Math TeX Gyre" panose="02000503000000000000" charset="0"/>
                              </a:rPr>
                            </m:ctrlPr>
                          </m:accPr>
                          <m:e>
                            <m:r>
                              <a:rPr lang="en-US" altLang="zh-CN" i="1" dirty="0">
                                <a:latin typeface="Cambria Math" panose="02040503050406030204" pitchFamily="18" charset="0"/>
                                <a:ea typeface="微软雅黑" charset="-122"/>
                                <a:cs typeface="DejaVu Math TeX Gyre" panose="02000503000000000000" charset="0"/>
                              </a:rPr>
                              <m:t>𝛼</m:t>
                            </m:r>
                          </m:e>
                        </m:acc>
                      </m:e>
                      <m:sub>
                        <m:r>
                          <a:rPr lang="en-US" altLang="zh-CN" i="1" dirty="0">
                            <a:latin typeface="Cambria Math" panose="02040503050406030204" pitchFamily="18" charset="0"/>
                            <a:ea typeface="微软雅黑" charset="-122"/>
                            <a:cs typeface="DejaVu Math TeX Gyre" panose="02000503000000000000" charset="0"/>
                          </a:rPr>
                          <m:t>𝑡</m:t>
                        </m:r>
                      </m:sub>
                    </m:sSub>
                  </m:oMath>
                </a14:m>
                <a:r>
                  <a:rPr lang="zh-CN" altLang="en-US" dirty="0"/>
                  <a:t>。这样做的好处是，我们就可以把多步加噪过程合并成一个闭式表达，也就是直接从原始图像 </a:t>
                </a:r>
                <a:r>
                  <a:rPr lang="en-US" altLang="zh-CN" dirty="0"/>
                  <a:t>x0 </a:t>
                </a:r>
                <a:r>
                  <a:rPr lang="zh-CN" altLang="en-US" dirty="0"/>
                  <a:t>推到任意时刻 </a:t>
                </a:r>
                <a:r>
                  <a:rPr lang="en-US" altLang="zh-CN" dirty="0"/>
                  <a:t>xt </a:t>
                </a:r>
                <a:r>
                  <a:rPr lang="zh-CN" altLang="en-US" dirty="0"/>
                  <a:t>。这个结果非常重要，因为它说明：在训练时，我们不一定真的一步一步加噪，而是可以直接根据公式，在任意时刻一次性采样出带噪图像。这会让训练更加高效。</a:t>
                </a:r>
                <a:endParaRPr lang="zh-CN" altLang="en-US" dirty="0"/>
              </a:p>
              <a:p>
                <a:endParaRPr lang="zh-CN" altLang="en-US" dirty="0"/>
              </a:p>
              <a:p>
                <a:r>
                  <a:rPr lang="zh-CN" altLang="en-US" dirty="0"/>
                  <a:t>总结来讲：正向过程是一个参数固定、逐步加噪、最终把真实图像变成纯噪声的过程。</a:t>
                </a:r>
                <a:endParaRPr lang="zh-CN" altLang="en-US" dirty="0"/>
              </a:p>
              <a:p>
                <a:endParaRPr lang="zh-CN" altLang="en-US" dirty="0"/>
              </a:p>
              <a:p>
                <a:endParaRPr lang="zh-CN" altLang="en-US" dirty="0"/>
              </a:p>
              <a:p>
                <a:endParaRPr lang="zh-CN" altLang="en-US" dirty="0"/>
              </a:p>
              <a:p>
                <a:r>
                  <a:rPr lang="en-US" altLang="zh-CN" dirty="0"/>
                  <a:t>qx1</a:t>
                </a:r>
                <a:r>
                  <a:rPr lang="zh-CN" altLang="en-US" dirty="0"/>
                  <a:t>表示从原始图像</a:t>
                </a:r>
                <a:r>
                  <a:rPr lang="en-US" altLang="zh-CN" dirty="0"/>
                  <a:t>x0</a:t>
                </a:r>
                <a:r>
                  <a:rPr lang="zh-CN" altLang="en-US" dirty="0"/>
                  <a:t>开始，经过</a:t>
                </a:r>
                <a:r>
                  <a:rPr lang="en-US" altLang="zh-CN" dirty="0"/>
                  <a:t>t</a:t>
                </a:r>
                <a:r>
                  <a:rPr lang="zh-CN" altLang="en-US" dirty="0"/>
                  <a:t>步加噪过程后得到噪声图像</a:t>
                </a:r>
                <a:r>
                  <a:rPr lang="en-US" altLang="zh-CN" dirty="0"/>
                  <a:t>xt</a:t>
                </a:r>
                <a:r>
                  <a:rPr lang="zh-CN" altLang="en-US" dirty="0"/>
                  <a:t>的概率分布。</a:t>
                </a:r>
                <a:endParaRPr lang="zh-CN" altLang="en-US" dirty="0"/>
              </a:p>
              <a:p>
                <a:r>
                  <a:rPr lang="zh-CN" altLang="en-US" dirty="0"/>
                  <a:t>每一步</a:t>
                </a:r>
                <a:r>
                  <a:rPr lang="en-US" altLang="zh-CN" dirty="0"/>
                  <a:t>qx1</a:t>
                </a:r>
                <a:r>
                  <a:rPr lang="zh-CN" altLang="en-US" dirty="0"/>
                  <a:t>表示在第</a:t>
                </a:r>
                <a:r>
                  <a:rPr lang="en-US" altLang="zh-CN" dirty="0"/>
                  <a:t>t</a:t>
                </a:r>
                <a:r>
                  <a:rPr lang="zh-CN" altLang="en-US" dirty="0"/>
                  <a:t>步，给定前一步的图像</a:t>
                </a:r>
                <a:r>
                  <a:rPr lang="en-US" altLang="zh-CN" dirty="0"/>
                  <a:t>xt-1</a:t>
                </a:r>
                <a:r>
                  <a:rPr lang="zh-CN" altLang="en-US" dirty="0"/>
                  <a:t>，得到当前图像</a:t>
                </a:r>
                <a:r>
                  <a:rPr lang="en-US" altLang="zh-CN" dirty="0"/>
                  <a:t>xt</a:t>
                </a:r>
                <a:r>
                  <a:rPr lang="zh-CN" altLang="en-US" dirty="0"/>
                  <a:t>的条件概率分布，这是一个高斯分布，其均值为</a:t>
                </a:r>
                <a14:m>
                  <m:oMath xmlns:m="http://schemas.openxmlformats.org/officeDocument/2006/math">
                    <m:rad>
                      <m:radPr>
                        <m:degHide m:val="on"/>
                        <m:ctrlP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ctrlPr>
                      </m:radPr>
                      <m:deg/>
                      <m:e>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1</m:t>
                        </m:r>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m:t>
                        </m:r>
                        <m:sSub>
                          <m:sSubPr>
                            <m:ctrlP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ctrlPr>
                          </m:sSubPr>
                          <m:e>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𝛽</m:t>
                            </m:r>
                          </m:e>
                          <m:sub>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𝑡</m:t>
                            </m:r>
                          </m:sub>
                        </m:sSub>
                      </m:e>
                    </m:rad>
                    <m:sSub>
                      <m:sSubPr>
                        <m:ctrlP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ctrlPr>
                      </m:sSubPr>
                      <m:e>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𝑥</m:t>
                        </m:r>
                      </m:e>
                      <m:sub>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𝑡</m:t>
                        </m:r>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m:t>
                        </m:r>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1</m:t>
                        </m:r>
                      </m:sub>
                    </m:sSub>
                  </m:oMath>
                </a14:m>
                <a:r>
                  <a:rPr lang="zh-CN" altLang="en-US" dirty="0">
                    <a:ln w="19050">
                      <a:noFill/>
                    </a:ln>
                    <a:solidFill>
                      <a:schemeClr val="tx1"/>
                    </a:solidFill>
                    <a:latin typeface="DejaVu Math TeX Gyre" panose="02000503000000000000" charset="0"/>
                    <a:ea typeface="微软雅黑" charset="-122"/>
                    <a:cs typeface="DejaVu Math TeX Gyre" panose="02000503000000000000" charset="0"/>
                  </a:rPr>
                  <a:t>。方差为</a:t>
                </a:r>
                <a:r>
                  <a:rPr lang="en-US" altLang="zh-CN" dirty="0">
                    <a:ln w="19050">
                      <a:noFill/>
                    </a:ln>
                    <a:solidFill>
                      <a:schemeClr val="tx1"/>
                    </a:solidFill>
                    <a:latin typeface="DejaVu Math TeX Gyre" panose="02000503000000000000" charset="0"/>
                    <a:ea typeface="微软雅黑" charset="-122"/>
                    <a:cs typeface="DejaVu Math TeX Gyre" panose="02000503000000000000" charset="0"/>
                  </a:rPr>
                  <a:t>beita t</a:t>
                </a:r>
                <a:r>
                  <a:rPr lang="zh-CN" altLang="en-US" dirty="0">
                    <a:ln w="19050">
                      <a:noFill/>
                    </a:ln>
                    <a:solidFill>
                      <a:schemeClr val="tx1"/>
                    </a:solidFill>
                    <a:latin typeface="DejaVu Math TeX Gyre" panose="02000503000000000000" charset="0"/>
                    <a:ea typeface="微软雅黑" charset="-122"/>
                    <a:cs typeface="DejaVu Math TeX Gyre" panose="02000503000000000000" charset="0"/>
                  </a:rPr>
                  <a:t>。</a:t>
                </a:r>
                <a:r>
                  <a:rPr lang="en-US" altLang="zh-CN" dirty="0">
                    <a:ln w="19050">
                      <a:noFill/>
                    </a:ln>
                    <a:solidFill>
                      <a:schemeClr val="tx1"/>
                    </a:solidFill>
                    <a:latin typeface="DejaVu Math TeX Gyre" panose="02000503000000000000" charset="0"/>
                    <a:ea typeface="微软雅黑" charset="-122"/>
                    <a:cs typeface="DejaVu Math TeX Gyre" panose="02000503000000000000" charset="0"/>
                  </a:rPr>
                  <a:t>beita t</a:t>
                </a:r>
                <a:r>
                  <a:rPr lang="zh-CN" altLang="en-US" dirty="0">
                    <a:ln w="19050">
                      <a:noFill/>
                    </a:ln>
                    <a:solidFill>
                      <a:schemeClr val="tx1"/>
                    </a:solidFill>
                    <a:latin typeface="DejaVu Math TeX Gyre" panose="02000503000000000000" charset="0"/>
                    <a:ea typeface="微软雅黑" charset="-122"/>
                    <a:cs typeface="DejaVu Math TeX Gyre" panose="02000503000000000000" charset="0"/>
                  </a:rPr>
                  <a:t>是一个预定的噪声方差系数，</a:t>
                </a:r>
                <a:r>
                  <a:rPr lang="en-US" altLang="zh-CN" dirty="0">
                    <a:ln w="19050">
                      <a:noFill/>
                    </a:ln>
                    <a:solidFill>
                      <a:schemeClr val="tx1"/>
                    </a:solidFill>
                    <a:latin typeface="DejaVu Math TeX Gyre" panose="02000503000000000000" charset="0"/>
                    <a:ea typeface="微软雅黑" charset="-122"/>
                    <a:cs typeface="DejaVu Math TeX Gyre" panose="02000503000000000000" charset="0"/>
                  </a:rPr>
                  <a:t>I </a:t>
                </a:r>
                <a:r>
                  <a:rPr lang="zh-CN" altLang="en-US" dirty="0">
                    <a:ln w="19050">
                      <a:noFill/>
                    </a:ln>
                    <a:solidFill>
                      <a:schemeClr val="tx1"/>
                    </a:solidFill>
                    <a:latin typeface="DejaVu Math TeX Gyre" panose="02000503000000000000" charset="0"/>
                    <a:ea typeface="微软雅黑" charset="-122"/>
                    <a:cs typeface="DejaVu Math TeX Gyre" panose="02000503000000000000" charset="0"/>
                  </a:rPr>
                  <a:t>是单位矩阵。</a:t>
                </a:r>
                <a:endParaRPr lang="zh-CN" altLang="en-US" dirty="0">
                  <a:ln w="19050">
                    <a:noFill/>
                  </a:ln>
                  <a:solidFill>
                    <a:schemeClr val="tx1"/>
                  </a:solidFill>
                  <a:latin typeface="DejaVu Math TeX Gyre" panose="02000503000000000000" charset="0"/>
                  <a:ea typeface="微软雅黑" charset="-122"/>
                  <a:cs typeface="DejaVu Math TeX Gyre" panose="02000503000000000000" charset="0"/>
                </a:endParaRPr>
              </a:p>
              <a:p>
                <a:endParaRPr lang="zh-CN" altLang="en-US" dirty="0">
                  <a:ln w="19050">
                    <a:noFill/>
                  </a:ln>
                  <a:solidFill>
                    <a:schemeClr val="tx1"/>
                  </a:solidFill>
                  <a:latin typeface="DejaVu Math TeX Gyre" panose="02000503000000000000" charset="0"/>
                  <a:ea typeface="微软雅黑" charset="-122"/>
                  <a:cs typeface="DejaVu Math TeX Gyre" panose="02000503000000000000" charset="0"/>
                </a:endParaRPr>
              </a:p>
              <a:p>
                <a:r>
                  <a:rPr lang="zh-CN" altLang="en-US" dirty="0">
                    <a:ln w="19050">
                      <a:noFill/>
                    </a:ln>
                    <a:solidFill>
                      <a:schemeClr val="tx1"/>
                    </a:solidFill>
                    <a:latin typeface="DejaVu Math TeX Gyre" panose="02000503000000000000" charset="0"/>
                    <a:ea typeface="微软雅黑" charset="-122"/>
                    <a:cs typeface="DejaVu Math TeX Gyre" panose="02000503000000000000" charset="0"/>
                  </a:rPr>
                  <a:t>其中不同</a:t>
                </a:r>
                <a:r>
                  <a:rPr lang="en-US" altLang="zh-CN" dirty="0">
                    <a:ln w="19050">
                      <a:noFill/>
                    </a:ln>
                    <a:solidFill>
                      <a:schemeClr val="tx1"/>
                    </a:solidFill>
                    <a:latin typeface="DejaVu Math TeX Gyre" panose="02000503000000000000" charset="0"/>
                    <a:ea typeface="微软雅黑" charset="-122"/>
                    <a:cs typeface="DejaVu Math TeX Gyre" panose="02000503000000000000" charset="0"/>
                  </a:rPr>
                  <a:t>t </a:t>
                </a:r>
                <a:r>
                  <a:rPr lang="zh-CN" altLang="en-US" dirty="0">
                    <a:ln w="19050">
                      <a:noFill/>
                    </a:ln>
                    <a:solidFill>
                      <a:schemeClr val="tx1"/>
                    </a:solidFill>
                    <a:latin typeface="DejaVu Math TeX Gyre" panose="02000503000000000000" charset="0"/>
                    <a:ea typeface="微软雅黑" charset="-122"/>
                    <a:cs typeface="DejaVu Math TeX Gyre" panose="02000503000000000000" charset="0"/>
                  </a:rPr>
                  <a:t>的</a:t>
                </a:r>
                <a:r>
                  <a:rPr lang="en-US" altLang="zh-CN" dirty="0">
                    <a:ln w="19050">
                      <a:noFill/>
                    </a:ln>
                    <a:solidFill>
                      <a:schemeClr val="tx1"/>
                    </a:solidFill>
                    <a:latin typeface="DejaVu Math TeX Gyre" panose="02000503000000000000" charset="0"/>
                    <a:ea typeface="微软雅黑" charset="-122"/>
                    <a:cs typeface="DejaVu Math TeX Gyre" panose="02000503000000000000" charset="0"/>
                  </a:rPr>
                  <a:t>beita t </a:t>
                </a:r>
                <a:r>
                  <a:rPr lang="zh-CN" altLang="en-US" dirty="0">
                    <a:ln w="19050">
                      <a:noFill/>
                    </a:ln>
                    <a:solidFill>
                      <a:schemeClr val="tx1"/>
                    </a:solidFill>
                    <a:latin typeface="DejaVu Math TeX Gyre" panose="02000503000000000000" charset="0"/>
                    <a:ea typeface="微软雅黑" charset="-122"/>
                    <a:cs typeface="DejaVu Math TeX Gyre" panose="02000503000000000000" charset="0"/>
                  </a:rPr>
                  <a:t>是预先定义好的，由时间</a:t>
                </a:r>
                <a:r>
                  <a:rPr lang="en-US" altLang="zh-CN" dirty="0">
                    <a:ln w="19050">
                      <a:noFill/>
                    </a:ln>
                    <a:solidFill>
                      <a:schemeClr val="tx1"/>
                    </a:solidFill>
                    <a:latin typeface="DejaVu Math TeX Gyre" panose="02000503000000000000" charset="0"/>
                    <a:ea typeface="微软雅黑" charset="-122"/>
                    <a:cs typeface="DejaVu Math TeX Gyre" panose="02000503000000000000" charset="0"/>
                  </a:rPr>
                  <a:t>1</a:t>
                </a:r>
                <a:r>
                  <a:rPr lang="zh-CN" altLang="en-US" dirty="0">
                    <a:ln w="19050">
                      <a:noFill/>
                    </a:ln>
                    <a:solidFill>
                      <a:schemeClr val="tx1"/>
                    </a:solidFill>
                    <a:latin typeface="DejaVu Math TeX Gyre" panose="02000503000000000000" charset="0"/>
                    <a:ea typeface="微软雅黑" charset="-122"/>
                    <a:cs typeface="DejaVu Math TeX Gyre" panose="02000503000000000000" charset="0"/>
                  </a:rPr>
                  <a:t>～</a:t>
                </a:r>
                <a:r>
                  <a:rPr lang="en-US" altLang="zh-CN" dirty="0">
                    <a:ln w="19050">
                      <a:noFill/>
                    </a:ln>
                    <a:solidFill>
                      <a:schemeClr val="tx1"/>
                    </a:solidFill>
                    <a:latin typeface="DejaVu Math TeX Gyre" panose="02000503000000000000" charset="0"/>
                    <a:ea typeface="微软雅黑" charset="-122"/>
                    <a:cs typeface="DejaVu Math TeX Gyre" panose="02000503000000000000" charset="0"/>
                  </a:rPr>
                  <a:t>T</a:t>
                </a:r>
                <a:r>
                  <a:rPr lang="zh-CN" altLang="en-US" dirty="0">
                    <a:ln w="19050">
                      <a:noFill/>
                    </a:ln>
                    <a:solidFill>
                      <a:schemeClr val="tx1"/>
                    </a:solidFill>
                    <a:latin typeface="DejaVu Math TeX Gyre" panose="02000503000000000000" charset="0"/>
                    <a:ea typeface="微软雅黑" charset="-122"/>
                    <a:cs typeface="DejaVu Math TeX Gyre" panose="02000503000000000000" charset="0"/>
                  </a:rPr>
                  <a:t>逐渐的递增。并满足</a:t>
                </a:r>
                <a14:m>
                  <m:oMath xmlns:m="http://schemas.openxmlformats.org/officeDocument/2006/math">
                    <m:sSub>
                      <m:sSubPr>
                        <m:ctrlP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ctrlPr>
                      </m:sSubPr>
                      <m:e>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𝛽</m:t>
                        </m:r>
                      </m:e>
                      <m:sub>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1</m:t>
                        </m:r>
                      </m:sub>
                    </m:sSub>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&lt;</m:t>
                    </m:r>
                    <m:sSub>
                      <m:sSubPr>
                        <m:ctrlP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ctrlPr>
                      </m:sSubPr>
                      <m:e>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𝛽</m:t>
                        </m:r>
                      </m:e>
                      <m:sub>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2</m:t>
                        </m:r>
                      </m:sub>
                    </m:sSub>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&lt;...&lt;</m:t>
                    </m:r>
                    <m:sSub>
                      <m:sSubPr>
                        <m:ctrlP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ctrlPr>
                      </m:sSubPr>
                      <m:e>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𝛽</m:t>
                        </m:r>
                      </m:e>
                      <m:sub>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𝑇</m:t>
                        </m:r>
                      </m:sub>
                    </m:sSub>
                  </m:oMath>
                </a14:m>
                <a:r>
                  <a:rPr lang="zh-CN" altLang="en-US" dirty="0">
                    <a:ln w="19050">
                      <a:noFill/>
                    </a:ln>
                    <a:solidFill>
                      <a:schemeClr val="tx1"/>
                    </a:solidFill>
                    <a:latin typeface="DejaVu Math TeX Gyre" panose="02000503000000000000" charset="0"/>
                    <a:ea typeface="微软雅黑" charset="-122"/>
                    <a:cs typeface="DejaVu Math TeX Gyre" panose="02000503000000000000" charset="0"/>
                  </a:rPr>
                  <a:t>。</a:t>
                </a:r>
                <a:endParaRPr lang="zh-CN" altLang="en-US" dirty="0">
                  <a:ln w="19050">
                    <a:noFill/>
                  </a:ln>
                  <a:solidFill>
                    <a:schemeClr val="tx1"/>
                  </a:solidFill>
                  <a:latin typeface="DejaVu Math TeX Gyre" panose="02000503000000000000" charset="0"/>
                  <a:ea typeface="微软雅黑" charset="-122"/>
                  <a:cs typeface="DejaVu Math TeX Gyre" panose="02000503000000000000" charset="0"/>
                </a:endParaRPr>
              </a:p>
              <a:p>
                <a:endParaRPr lang="zh-CN" altLang="en-US" dirty="0">
                  <a:ln w="19050">
                    <a:noFill/>
                  </a:ln>
                  <a:solidFill>
                    <a:schemeClr val="tx1"/>
                  </a:solidFill>
                  <a:latin typeface="DejaVu Math TeX Gyre" panose="02000503000000000000" charset="0"/>
                  <a:ea typeface="微软雅黑" charset="-122"/>
                  <a:cs typeface="DejaVu Math TeX Gyre" panose="02000503000000000000" charset="0"/>
                </a:endParaRPr>
              </a:p>
              <a:p>
                <a:r>
                  <a:rPr lang="zh-CN" altLang="en-US" dirty="0">
                    <a:ln w="19050">
                      <a:noFill/>
                    </a:ln>
                    <a:solidFill>
                      <a:schemeClr val="tx1"/>
                    </a:solidFill>
                    <a:latin typeface="DejaVu Math TeX Gyre" panose="02000503000000000000" charset="0"/>
                    <a:ea typeface="微软雅黑" charset="-122"/>
                    <a:cs typeface="DejaVu Math TeX Gyre" panose="02000503000000000000" charset="0"/>
                  </a:rPr>
                  <a:t>根据以上公式，可以通过重参数化采样得到</a:t>
                </a:r>
                <a:r>
                  <a:rPr lang="en-US" altLang="zh-CN" dirty="0">
                    <a:ln w="19050">
                      <a:noFill/>
                    </a:ln>
                    <a:solidFill>
                      <a:schemeClr val="tx1"/>
                    </a:solidFill>
                    <a:latin typeface="DejaVu Math TeX Gyre" panose="02000503000000000000" charset="0"/>
                    <a:ea typeface="微软雅黑" charset="-122"/>
                    <a:cs typeface="DejaVu Math TeX Gyre" panose="02000503000000000000" charset="0"/>
                  </a:rPr>
                  <a:t>xt</a:t>
                </a:r>
                <a:r>
                  <a:rPr lang="zh-CN" altLang="en-US" dirty="0">
                    <a:ln w="19050">
                      <a:noFill/>
                    </a:ln>
                    <a:solidFill>
                      <a:schemeClr val="tx1"/>
                    </a:solidFill>
                    <a:latin typeface="DejaVu Math TeX Gyre" panose="02000503000000000000" charset="0"/>
                    <a:ea typeface="微软雅黑" charset="-122"/>
                    <a:cs typeface="DejaVu Math TeX Gyre" panose="02000503000000000000" charset="0"/>
                  </a:rPr>
                  <a:t>。</a:t>
                </a:r>
                <a:endParaRPr lang="zh-CN" altLang="en-US" dirty="0">
                  <a:ln w="19050">
                    <a:noFill/>
                  </a:ln>
                  <a:solidFill>
                    <a:schemeClr val="tx1"/>
                  </a:solidFill>
                  <a:latin typeface="DejaVu Math TeX Gyre" panose="02000503000000000000" charset="0"/>
                  <a:ea typeface="微软雅黑" charset="-122"/>
                  <a:cs typeface="DejaVu Math TeX Gyre" panose="02000503000000000000" charset="0"/>
                </a:endParaRPr>
              </a:p>
              <a:p>
                <a:endParaRPr lang="zh-CN" altLang="en-US" dirty="0">
                  <a:ln w="19050">
                    <a:noFill/>
                  </a:ln>
                  <a:solidFill>
                    <a:schemeClr val="tx1"/>
                  </a:solidFill>
                  <a:latin typeface="DejaVu Math TeX Gyre" panose="02000503000000000000" charset="0"/>
                  <a:ea typeface="微软雅黑" charset="-122"/>
                  <a:cs typeface="DejaVu Math TeX Gyre" panose="02000503000000000000" charset="0"/>
                </a:endParaRPr>
              </a:p>
              <a:p>
                <a:r>
                  <a:rPr lang="zh-CN" altLang="en-US" dirty="0">
                    <a:ln w="19050">
                      <a:noFill/>
                    </a:ln>
                    <a:solidFill>
                      <a:schemeClr val="tx1"/>
                    </a:solidFill>
                    <a:latin typeface="DejaVu Math TeX Gyre" panose="02000503000000000000" charset="0"/>
                    <a:ea typeface="微软雅黑" charset="-122"/>
                    <a:cs typeface="DejaVu Math TeX Gyre" panose="02000503000000000000" charset="0"/>
                  </a:rPr>
                  <a:t>有</a:t>
                </a:r>
                <a14:m>
                  <m:oMath xmlns:m="http://schemas.openxmlformats.org/officeDocument/2006/math">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𝜖</m:t>
                    </m:r>
                  </m:oMath>
                </a14:m>
                <a:r>
                  <a:rPr lang="zh-CN" altLang="en-US" i="1" dirty="0">
                    <a:ln w="19050">
                      <a:noFill/>
                    </a:ln>
                    <a:solidFill>
                      <a:schemeClr val="tx1"/>
                    </a:solidFill>
                    <a:latin typeface="DejaVu Math TeX Gyre" panose="02000503000000000000" charset="0"/>
                    <a:ea typeface="微软雅黑" charset="-122"/>
                    <a:cs typeface="DejaVu Math TeX Gyre" panose="02000503000000000000" charset="0"/>
                  </a:rPr>
                  <a:t>和</a:t>
                </a:r>
                <a14:m>
                  <m:oMath xmlns:m="http://schemas.openxmlformats.org/officeDocument/2006/math">
                    <m:sSub>
                      <m:sSubPr>
                        <m:ctrlP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ctrlPr>
                      </m:sSubPr>
                      <m:e>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𝛼</m:t>
                        </m:r>
                      </m:e>
                      <m:sub>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𝑡</m:t>
                        </m:r>
                      </m:sub>
                    </m:sSub>
                  </m:oMath>
                </a14:m>
                <a:r>
                  <a:rPr lang="zh-CN" altLang="en-US" i="1" dirty="0">
                    <a:ln w="19050">
                      <a:noFill/>
                    </a:ln>
                    <a:solidFill>
                      <a:schemeClr val="tx1"/>
                    </a:solidFill>
                    <a:latin typeface="DejaVu Math TeX Gyre" panose="02000503000000000000" charset="0"/>
                    <a:ea typeface="微软雅黑" charset="-122"/>
                    <a:cs typeface="DejaVu Math TeX Gyre" panose="02000503000000000000" charset="0"/>
                  </a:rPr>
                  <a:t>后，接着定义</a:t>
                </a:r>
                <a14:m>
                  <m:oMath xmlns:m="http://schemas.openxmlformats.org/officeDocument/2006/math">
                    <m:sSub>
                      <m:sSubPr>
                        <m:ctrlP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ctrlPr>
                      </m:sSubPr>
                      <m:e>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𝛼</m:t>
                        </m:r>
                      </m:e>
                      <m:sub>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𝑡</m:t>
                        </m:r>
                      </m:sub>
                    </m:sSub>
                  </m:oMath>
                </a14:m>
                <a:r>
                  <a:rPr lang="zh-CN" altLang="en-US" dirty="0">
                    <a:ln w="19050">
                      <a:noFill/>
                    </a:ln>
                    <a:solidFill>
                      <a:schemeClr val="tx1"/>
                    </a:solidFill>
                    <a:latin typeface="DejaVu Math TeX Gyre" panose="02000503000000000000" charset="0"/>
                    <a:ea typeface="微软雅黑" charset="-122"/>
                    <a:cs typeface="DejaVu Math TeX Gyre" panose="02000503000000000000" charset="0"/>
                  </a:rPr>
                  <a:t>。经过推导就可以得出</a:t>
                </a:r>
                <a:r>
                  <a:rPr lang="en-US" altLang="zh-CN" dirty="0">
                    <a:ln w="19050">
                      <a:noFill/>
                    </a:ln>
                    <a:solidFill>
                      <a:schemeClr val="tx1"/>
                    </a:solidFill>
                    <a:latin typeface="DejaVu Math TeX Gyre" panose="02000503000000000000" charset="0"/>
                    <a:ea typeface="微软雅黑" charset="-122"/>
                    <a:cs typeface="DejaVu Math TeX Gyre" panose="02000503000000000000" charset="0"/>
                  </a:rPr>
                  <a:t>xt</a:t>
                </a:r>
                <a:r>
                  <a:rPr lang="zh-CN" altLang="en-US" dirty="0">
                    <a:ln w="19050">
                      <a:noFill/>
                    </a:ln>
                    <a:solidFill>
                      <a:schemeClr val="tx1"/>
                    </a:solidFill>
                    <a:latin typeface="DejaVu Math TeX Gyre" panose="02000503000000000000" charset="0"/>
                    <a:ea typeface="微软雅黑" charset="-122"/>
                    <a:cs typeface="DejaVu Math TeX Gyre" panose="02000503000000000000" charset="0"/>
                  </a:rPr>
                  <a:t>和</a:t>
                </a:r>
                <a:r>
                  <a:rPr lang="en-US" altLang="zh-CN" dirty="0">
                    <a:ln w="19050">
                      <a:noFill/>
                    </a:ln>
                    <a:solidFill>
                      <a:schemeClr val="tx1"/>
                    </a:solidFill>
                    <a:latin typeface="DejaVu Math TeX Gyre" panose="02000503000000000000" charset="0"/>
                    <a:ea typeface="微软雅黑" charset="-122"/>
                    <a:cs typeface="DejaVu Math TeX Gyre" panose="02000503000000000000" charset="0"/>
                  </a:rPr>
                  <a:t>x0</a:t>
                </a:r>
                <a:r>
                  <a:rPr lang="zh-CN" altLang="en-US" dirty="0">
                    <a:ln w="19050">
                      <a:noFill/>
                    </a:ln>
                    <a:solidFill>
                      <a:schemeClr val="tx1"/>
                    </a:solidFill>
                    <a:latin typeface="DejaVu Math TeX Gyre" panose="02000503000000000000" charset="0"/>
                    <a:ea typeface="微软雅黑" charset="-122"/>
                    <a:cs typeface="DejaVu Math TeX Gyre" panose="02000503000000000000" charset="0"/>
                  </a:rPr>
                  <a:t>的关系。</a:t>
                </a:r>
                <a:endParaRPr lang="zh-CN" altLang="en-US" dirty="0">
                  <a:ln w="19050">
                    <a:noFill/>
                  </a:ln>
                  <a:solidFill>
                    <a:schemeClr val="tx1"/>
                  </a:solidFill>
                  <a:latin typeface="DejaVu Math TeX Gyre" panose="02000503000000000000" charset="0"/>
                  <a:ea typeface="微软雅黑" charset="-122"/>
                  <a:cs typeface="DejaVu Math TeX Gyre" panose="02000503000000000000" charset="0"/>
                </a:endParaRPr>
              </a:p>
              <a:p>
                <a:endParaRPr lang="zh-CN" altLang="en-US" dirty="0">
                  <a:ln w="19050">
                    <a:noFill/>
                  </a:ln>
                  <a:solidFill>
                    <a:schemeClr val="tx1"/>
                  </a:solidFill>
                  <a:latin typeface="DejaVu Math TeX Gyre" panose="02000503000000000000" charset="0"/>
                  <a:ea typeface="微软雅黑" charset="-122"/>
                  <a:cs typeface="DejaVu Math TeX Gyre" panose="02000503000000000000" charset="0"/>
                </a:endParaRPr>
              </a:p>
            </p:txBody>
          </p:sp>
        </mc:Choice>
        <mc:Fallback>
          <p:sp>
            <p:nvSpPr>
              <p:cNvPr id="3" name="文本占位符 2"/>
              <p:cNvSpPr>
                <a:spLocks noRot="1" noChangeAspect="1" noMove="1" noResize="1" noEditPoints="1" noAdjustHandles="1" noChangeArrowheads="1" noChangeShapeType="1" noTextEdit="1"/>
              </p:cNvSpPr>
              <p:nvPr>
                <p:ph type="body" idx="3"/>
              </p:nvPr>
            </p:nvSpPr>
            <p:spPr>
              <a:blipFill rotWithShape="1">
                <a:blip r:embed="rId3"/>
                <a:stretch>
                  <a:fillRect t="-8" r="-827" b="-70063"/>
                </a:stretch>
              </a:blipFill>
            </p:spPr>
            <p:txBody>
              <a:bodyPr/>
              <a:lstStyle/>
              <a:p>
                <a:r>
                  <a:rPr lang="zh-CN" altLang="en-US">
                    <a:noFill/>
                  </a:rPr>
                  <a:t> </a:t>
                </a:r>
              </a:p>
            </p:txBody>
          </p:sp>
        </mc:Fallback>
      </mc:AlternateContent>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mc:AlternateContent xmlns:mc="http://schemas.openxmlformats.org/markup-compatibility/2006">
        <mc:Choice xmlns:a14="http://schemas.microsoft.com/office/drawing/2010/main" Requires="a14">
          <p:sp>
            <p:nvSpPr>
              <p:cNvPr id="3" name="文本占位符 2"/>
              <p:cNvSpPr>
                <a:spLocks noGrp="1"/>
              </p:cNvSpPr>
              <p:nvPr>
                <p:ph type="body" idx="3"/>
              </p:nvPr>
            </p:nvSpPr>
            <p:spPr/>
            <p:txBody>
              <a:bodyPr/>
              <a:lstStyle/>
              <a:p>
                <a:r>
                  <a:rPr lang="zh-CN" altLang="en-US" dirty="0"/>
                  <a:t>我们接着介绍 DDPM 的反向过程。如果说正向过程是不断往图像里加噪声，那么反向过程就是要把这个过程反过来，也就是从一张接近纯噪声的图像开始，一步一步去掉噪声，最终恢复出清晰图像。在整个 DDPM 里，真正需要模型学习的，其实就是这个反向去噪过程。</a:t>
                </a:r>
                <a:endParaRPr lang="zh-CN" altLang="en-US" dirty="0"/>
              </a:p>
              <a:p>
                <a:endParaRPr lang="zh-CN" altLang="en-US" dirty="0"/>
              </a:p>
              <a:p>
                <a:r>
                  <a:rPr lang="zh-CN" altLang="en-US" dirty="0"/>
                  <a:t>从公式上看，理想情况下我们希望得到真实的反向分布，也就是 </a:t>
                </a:r>
                <a14:m>
                  <m:oMath xmlns:m="http://schemas.openxmlformats.org/officeDocument/2006/math">
                    <m:r>
                      <a:rPr lang="en-US" altLang="zh-CN" i="1" dirty="0">
                        <a:latin typeface="Cambria Math" panose="02040503050406030204" pitchFamily="18" charset="0"/>
                        <a:ea typeface="微软雅黑" charset="-122"/>
                        <a:cs typeface="DejaVu Math TeX Gyre" panose="02000503000000000000" charset="0"/>
                      </a:rPr>
                      <m:t>𝑞</m:t>
                    </m:r>
                    <m:r>
                      <a:rPr lang="en-US" altLang="zh-CN" i="1" dirty="0">
                        <a:latin typeface="Cambria Math" panose="02040503050406030204" pitchFamily="18" charset="0"/>
                        <a:ea typeface="微软雅黑" charset="-122"/>
                        <a:cs typeface="DejaVu Math TeX Gyre" panose="02000503000000000000" charset="0"/>
                      </a:rPr>
                      <m:t>(</m:t>
                    </m:r>
                    <m:sSub>
                      <m:sSubPr>
                        <m:ctrlPr>
                          <a:rPr lang="en-US" altLang="zh-CN" i="1" dirty="0">
                            <a:latin typeface="Cambria Math" panose="02040503050406030204" pitchFamily="18" charset="0"/>
                            <a:ea typeface="微软雅黑" charset="-122"/>
                            <a:cs typeface="DejaVu Math TeX Gyre" panose="02000503000000000000" charset="0"/>
                          </a:rPr>
                        </m:ctrlPr>
                      </m:sSubPr>
                      <m:e>
                        <m:r>
                          <a:rPr lang="en-US" altLang="zh-CN" i="1" dirty="0">
                            <a:latin typeface="Cambria Math" panose="02040503050406030204" pitchFamily="18" charset="0"/>
                            <a:ea typeface="微软雅黑" charset="-122"/>
                            <a:cs typeface="DejaVu Math TeX Gyre" panose="02000503000000000000" charset="0"/>
                          </a:rPr>
                          <m:t>𝑥</m:t>
                        </m:r>
                      </m:e>
                      <m:sub>
                        <m:r>
                          <a:rPr lang="en-US" altLang="zh-CN" i="1" dirty="0">
                            <a:latin typeface="Cambria Math" panose="02040503050406030204" pitchFamily="18" charset="0"/>
                            <a:ea typeface="微软雅黑" charset="-122"/>
                            <a:cs typeface="DejaVu Math TeX Gyre" panose="02000503000000000000" charset="0"/>
                          </a:rPr>
                          <m:t>𝑡</m:t>
                        </m:r>
                        <m:r>
                          <a:rPr lang="en-US" altLang="zh-CN" i="1" dirty="0">
                            <a:latin typeface="Cambria Math" panose="02040503050406030204" pitchFamily="18" charset="0"/>
                            <a:ea typeface="微软雅黑" charset="-122"/>
                            <a:cs typeface="DejaVu Math TeX Gyre" panose="02000503000000000000" charset="0"/>
                          </a:rPr>
                          <m:t>−</m:t>
                        </m:r>
                        <m:r>
                          <a:rPr lang="en-US" altLang="zh-CN" i="1" dirty="0">
                            <a:latin typeface="Cambria Math" panose="02040503050406030204" pitchFamily="18" charset="0"/>
                            <a:ea typeface="微软雅黑" charset="-122"/>
                            <a:cs typeface="DejaVu Math TeX Gyre" panose="02000503000000000000" charset="0"/>
                          </a:rPr>
                          <m:t>1</m:t>
                        </m:r>
                      </m:sub>
                    </m:sSub>
                    <m:r>
                      <a:rPr lang="en-US" altLang="zh-CN" i="1" dirty="0">
                        <a:latin typeface="Cambria Math" panose="02040503050406030204" pitchFamily="18" charset="0"/>
                        <a:ea typeface="微软雅黑" charset="-122"/>
                        <a:cs typeface="DejaVu Math TeX Gyre" panose="02000503000000000000" charset="0"/>
                      </a:rPr>
                      <m:t>|</m:t>
                    </m:r>
                    <m:sSub>
                      <m:sSubPr>
                        <m:ctrlPr>
                          <a:rPr lang="en-US" altLang="zh-CN" i="1" dirty="0">
                            <a:latin typeface="Cambria Math" panose="02040503050406030204" pitchFamily="18" charset="0"/>
                            <a:ea typeface="微软雅黑" charset="-122"/>
                            <a:cs typeface="DejaVu Math TeX Gyre" panose="02000503000000000000" charset="0"/>
                          </a:rPr>
                        </m:ctrlPr>
                      </m:sSubPr>
                      <m:e>
                        <m:r>
                          <a:rPr lang="en-US" altLang="zh-CN" i="1" dirty="0">
                            <a:latin typeface="Cambria Math" panose="02040503050406030204" pitchFamily="18" charset="0"/>
                            <a:ea typeface="微软雅黑" charset="-122"/>
                            <a:cs typeface="DejaVu Math TeX Gyre" panose="02000503000000000000" charset="0"/>
                          </a:rPr>
                          <m:t>𝑥</m:t>
                        </m:r>
                      </m:e>
                      <m:sub>
                        <m:r>
                          <a:rPr lang="en-US" altLang="zh-CN" i="1" dirty="0">
                            <a:latin typeface="Cambria Math" panose="02040503050406030204" pitchFamily="18" charset="0"/>
                            <a:ea typeface="微软雅黑" charset="-122"/>
                            <a:cs typeface="DejaVu Math TeX Gyre" panose="02000503000000000000" charset="0"/>
                          </a:rPr>
                          <m:t>𝑡</m:t>
                        </m:r>
                      </m:sub>
                    </m:sSub>
                    <m:r>
                      <a:rPr lang="en-US" altLang="zh-CN" i="1" dirty="0">
                        <a:latin typeface="Cambria Math" panose="02040503050406030204" pitchFamily="18" charset="0"/>
                        <a:ea typeface="微软雅黑" charset="-122"/>
                        <a:cs typeface="DejaVu Math TeX Gyre" panose="02000503000000000000" charset="0"/>
                      </a:rPr>
                      <m:t>)</m:t>
                    </m:r>
                  </m:oMath>
                </a14:m>
                <a:r>
                  <a:rPr lang="zh-CN" altLang="en-US" dirty="0"/>
                  <a:t>。但这个分布直接求解是比较困难的，所以这里引入了一个参数化模型 </a:t>
                </a:r>
                <a14:m>
                  <m:oMath xmlns:m="http://schemas.openxmlformats.org/officeDocument/2006/math">
                    <m:sSub>
                      <m:sSubPr>
                        <m:ctrlPr>
                          <a:rPr lang="en-US" altLang="zh-CN" i="1" dirty="0">
                            <a:latin typeface="Cambria Math" panose="02040503050406030204" pitchFamily="18" charset="0"/>
                            <a:ea typeface="微软雅黑" charset="-122"/>
                            <a:cs typeface="DejaVu Math TeX Gyre" panose="02000503000000000000" charset="0"/>
                          </a:rPr>
                        </m:ctrlPr>
                      </m:sSubPr>
                      <m:e>
                        <m:r>
                          <a:rPr lang="en-US" altLang="zh-CN" i="1" dirty="0">
                            <a:latin typeface="Cambria Math" panose="02040503050406030204" pitchFamily="18" charset="0"/>
                            <a:ea typeface="微软雅黑" charset="-122"/>
                            <a:cs typeface="DejaVu Math TeX Gyre" panose="02000503000000000000" charset="0"/>
                          </a:rPr>
                          <m:t>𝑝</m:t>
                        </m:r>
                      </m:e>
                      <m:sub>
                        <m:r>
                          <a:rPr lang="en-US" altLang="zh-CN" i="1" dirty="0">
                            <a:latin typeface="Cambria Math" panose="02040503050406030204" pitchFamily="18" charset="0"/>
                            <a:ea typeface="微软雅黑" charset="-122"/>
                            <a:cs typeface="DejaVu Math TeX Gyre" panose="02000503000000000000" charset="0"/>
                          </a:rPr>
                          <m:t>𝜃</m:t>
                        </m:r>
                      </m:sub>
                    </m:sSub>
                    <m:r>
                      <a:rPr lang="en-US" altLang="zh-CN" i="1" dirty="0">
                        <a:latin typeface="Cambria Math" panose="02040503050406030204" pitchFamily="18" charset="0"/>
                        <a:ea typeface="微软雅黑" charset="-122"/>
                        <a:cs typeface="DejaVu Math TeX Gyre" panose="02000503000000000000" charset="0"/>
                      </a:rPr>
                      <m:t>(</m:t>
                    </m:r>
                    <m:sSub>
                      <m:sSubPr>
                        <m:ctrlPr>
                          <a:rPr lang="en-US" altLang="zh-CN" i="1" dirty="0">
                            <a:latin typeface="Cambria Math" panose="02040503050406030204" pitchFamily="18" charset="0"/>
                            <a:ea typeface="微软雅黑" charset="-122"/>
                            <a:cs typeface="DejaVu Math TeX Gyre" panose="02000503000000000000" charset="0"/>
                          </a:rPr>
                        </m:ctrlPr>
                      </m:sSubPr>
                      <m:e>
                        <m:r>
                          <a:rPr lang="en-US" altLang="zh-CN" i="1" dirty="0">
                            <a:latin typeface="Cambria Math" panose="02040503050406030204" pitchFamily="18" charset="0"/>
                            <a:ea typeface="微软雅黑" charset="-122"/>
                            <a:cs typeface="DejaVu Math TeX Gyre" panose="02000503000000000000" charset="0"/>
                          </a:rPr>
                          <m:t>𝑥</m:t>
                        </m:r>
                      </m:e>
                      <m:sub>
                        <m:r>
                          <a:rPr lang="en-US" altLang="zh-CN" i="1" dirty="0">
                            <a:latin typeface="Cambria Math" panose="02040503050406030204" pitchFamily="18" charset="0"/>
                            <a:ea typeface="微软雅黑" charset="-122"/>
                            <a:cs typeface="DejaVu Math TeX Gyre" panose="02000503000000000000" charset="0"/>
                          </a:rPr>
                          <m:t>𝑡</m:t>
                        </m:r>
                        <m:r>
                          <a:rPr lang="en-US" altLang="zh-CN" i="1" dirty="0">
                            <a:latin typeface="Cambria Math" panose="02040503050406030204" pitchFamily="18" charset="0"/>
                            <a:ea typeface="微软雅黑" charset="-122"/>
                            <a:cs typeface="DejaVu Math TeX Gyre" panose="02000503000000000000" charset="0"/>
                          </a:rPr>
                          <m:t>−</m:t>
                        </m:r>
                        <m:r>
                          <a:rPr lang="en-US" altLang="zh-CN" i="1" dirty="0">
                            <a:latin typeface="Cambria Math" panose="02040503050406030204" pitchFamily="18" charset="0"/>
                            <a:ea typeface="微软雅黑" charset="-122"/>
                            <a:cs typeface="DejaVu Math TeX Gyre" panose="02000503000000000000" charset="0"/>
                          </a:rPr>
                          <m:t>1</m:t>
                        </m:r>
                      </m:sub>
                    </m:sSub>
                    <m:r>
                      <a:rPr lang="en-US" altLang="zh-CN" i="1" dirty="0">
                        <a:latin typeface="Cambria Math" panose="02040503050406030204" pitchFamily="18" charset="0"/>
                        <a:ea typeface="微软雅黑" charset="-122"/>
                        <a:cs typeface="DejaVu Math TeX Gyre" panose="02000503000000000000" charset="0"/>
                      </a:rPr>
                      <m:t>|</m:t>
                    </m:r>
                    <m:sSub>
                      <m:sSubPr>
                        <m:ctrlPr>
                          <a:rPr lang="en-US" altLang="zh-CN" i="1" dirty="0">
                            <a:latin typeface="Cambria Math" panose="02040503050406030204" pitchFamily="18" charset="0"/>
                            <a:ea typeface="微软雅黑" charset="-122"/>
                            <a:cs typeface="DejaVu Math TeX Gyre" panose="02000503000000000000" charset="0"/>
                          </a:rPr>
                        </m:ctrlPr>
                      </m:sSubPr>
                      <m:e>
                        <m:r>
                          <a:rPr lang="en-US" altLang="zh-CN" i="1" dirty="0">
                            <a:latin typeface="Cambria Math" panose="02040503050406030204" pitchFamily="18" charset="0"/>
                            <a:ea typeface="微软雅黑" charset="-122"/>
                            <a:cs typeface="DejaVu Math TeX Gyre" panose="02000503000000000000" charset="0"/>
                          </a:rPr>
                          <m:t>𝑥</m:t>
                        </m:r>
                      </m:e>
                      <m:sub>
                        <m:r>
                          <a:rPr lang="en-US" altLang="zh-CN" i="1" dirty="0">
                            <a:latin typeface="Cambria Math" panose="02040503050406030204" pitchFamily="18" charset="0"/>
                            <a:ea typeface="微软雅黑" charset="-122"/>
                            <a:cs typeface="DejaVu Math TeX Gyre" panose="02000503000000000000" charset="0"/>
                          </a:rPr>
                          <m:t>𝑡</m:t>
                        </m:r>
                      </m:sub>
                    </m:sSub>
                    <m:r>
                      <a:rPr lang="en-US" altLang="zh-CN" i="1" dirty="0">
                        <a:latin typeface="Cambria Math" panose="02040503050406030204" pitchFamily="18" charset="0"/>
                        <a:ea typeface="微软雅黑" charset="-122"/>
                        <a:cs typeface="DejaVu Math TeX Gyre" panose="02000503000000000000" charset="0"/>
                      </a:rPr>
                      <m:t>)</m:t>
                    </m:r>
                  </m:oMath>
                </a14:m>
                <a:r>
                  <a:rPr lang="zh-CN" altLang="en-US" dirty="0"/>
                  <a:t>来对它进行拟合。也就是说，让神经网络去学习：给定当前时刻的带噪图像 </a:t>
                </a:r>
                <a:r>
                  <a:rPr lang="en-US" altLang="zh-CN" dirty="0"/>
                  <a:t>xt</a:t>
                </a:r>
                <a:r>
                  <a:rPr lang="zh-CN" altLang="en-US" dirty="0"/>
                  <a:t>，下一步更干净的图像</a:t>
                </a:r>
                <a:r>
                  <a:rPr lang="en-US" altLang="zh-CN" dirty="0"/>
                  <a:t>xt-1</a:t>
                </a:r>
                <a:r>
                  <a:rPr lang="zh-CN" altLang="en-US" dirty="0"/>
                  <a:t>应该长什么样。</a:t>
                </a:r>
                <a:endParaRPr lang="zh-CN" altLang="en-US" dirty="0"/>
              </a:p>
              <a:p>
                <a:endParaRPr lang="zh-CN" altLang="en-US" dirty="0"/>
              </a:p>
              <a:p>
                <a:r>
                  <a:rPr lang="zh-CN" altLang="en-US" dirty="0"/>
                  <a:t>接下来比较关键的是下面这个均值公式。这里说明，模型最终并不一定要直接预测</a:t>
                </a:r>
                <a:r>
                  <a:rPr lang="en-US" altLang="zh-CN" dirty="0"/>
                  <a:t>xt-1</a:t>
                </a:r>
                <a:r>
                  <a:rPr lang="zh-CN" altLang="en-US" dirty="0"/>
                  <a:t>，而是可以转换成去预测噪声项</a:t>
                </a:r>
                <a14:m>
                  <m:oMath xmlns:m="http://schemas.openxmlformats.org/officeDocument/2006/math">
                    <m:sSub>
                      <m:sSubPr>
                        <m:ctrlP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ctrlPr>
                      </m:sSubPr>
                      <m:e>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𝜖</m:t>
                        </m:r>
                      </m:e>
                      <m:sub>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𝜃</m:t>
                        </m:r>
                      </m:sub>
                    </m:sSub>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m:t>
                    </m:r>
                    <m:sSub>
                      <m:sSubPr>
                        <m:ctrlP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ctrlPr>
                      </m:sSubPr>
                      <m:e>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𝑥</m:t>
                        </m:r>
                      </m:e>
                      <m:sub>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𝑡</m:t>
                        </m:r>
                      </m:sub>
                    </m:sSub>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m:t>
                    </m:r>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𝑡</m:t>
                    </m:r>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m:t>
                    </m:r>
                  </m:oMath>
                </a14:m>
                <a:r>
                  <a:rPr lang="zh-CN" altLang="en-US" dirty="0"/>
                  <a:t>。因为在时刻</a:t>
                </a:r>
                <a:r>
                  <a:rPr lang="en-US" altLang="zh-CN" dirty="0"/>
                  <a:t> </a:t>
                </a:r>
                <a:r>
                  <a:rPr lang="zh-CN" altLang="en-US" dirty="0"/>
                  <a:t>t 和当前输入 </a:t>
                </a:r>
                <a:r>
                  <a:rPr lang="en-US" altLang="zh-CN" dirty="0"/>
                  <a:t>xt </a:t>
                </a:r>
                <a:r>
                  <a:rPr lang="zh-CN" altLang="en-US" dirty="0"/>
                  <a:t>已知的情况下，只要能估计出当前图像里包含了多少噪声，就可以反推出这一时刻对应的均值 μθ，进而完成一步去噪。也就是说，复杂的“生成图像”问题，被转化成了一个更容易优化的“预测噪声”问题。这也是 DDPM 训练稳定、效果好的一个重要原因。</a:t>
                </a:r>
                <a:endParaRPr lang="zh-CN" altLang="en-US" dirty="0"/>
              </a:p>
              <a:p>
                <a:endParaRPr lang="zh-CN" altLang="en-US" dirty="0"/>
              </a:p>
              <a:p>
                <a:r>
                  <a:rPr lang="zh-CN" altLang="en-US" dirty="0"/>
                  <a:t>反向过程本质上是在学习一个逐步去噪的高斯过程，而模型训练的重点就是预测每一步的噪声。</a:t>
                </a:r>
                <a:endParaRPr lang="zh-CN" altLang="en-US" dirty="0"/>
              </a:p>
              <a:p>
                <a:endParaRPr lang="zh-CN" altLang="en-US" dirty="0"/>
              </a:p>
              <a:p>
                <a:endParaRPr lang="zh-CN" altLang="en-US" dirty="0"/>
              </a:p>
              <a:p>
                <a:endParaRPr lang="zh-CN" altLang="en-US" dirty="0"/>
              </a:p>
              <a:p>
                <a:endParaRPr lang="zh-CN" altLang="en-US" dirty="0"/>
              </a:p>
              <a:p>
                <a:endParaRPr lang="zh-CN" altLang="en-US" dirty="0"/>
              </a:p>
              <a:p>
                <a:endParaRPr lang="zh-CN" altLang="en-US" dirty="0"/>
              </a:p>
              <a:p>
                <a:endParaRPr lang="zh-CN" altLang="en-US" dirty="0"/>
              </a:p>
              <a:p>
                <a:endParaRPr lang="zh-CN" altLang="en-US" dirty="0"/>
              </a:p>
              <a:p>
                <a:endParaRPr lang="zh-CN" altLang="en-US" dirty="0"/>
              </a:p>
              <a:p>
                <a:r>
                  <a:rPr lang="zh-CN" altLang="en-US" dirty="0"/>
                  <a:t>逆向过程是去噪的过程，如果得到逆向过程</a:t>
                </a:r>
                <a14:m>
                  <m:oMath xmlns:m="http://schemas.openxmlformats.org/officeDocument/2006/math">
                    <m:r>
                      <a:rPr lang="en-US" altLang="zh-CN" i="1" dirty="0">
                        <a:latin typeface="Cambria Math" panose="02040503050406030204" pitchFamily="18" charset="0"/>
                        <a:ea typeface="微软雅黑" charset="-122"/>
                        <a:cs typeface="DejaVu Math TeX Gyre" panose="02000503000000000000" charset="0"/>
                      </a:rPr>
                      <m:t>𝑞</m:t>
                    </m:r>
                    <m:r>
                      <a:rPr lang="en-US" altLang="zh-CN" i="1" dirty="0">
                        <a:latin typeface="Cambria Math" panose="02040503050406030204" pitchFamily="18" charset="0"/>
                        <a:ea typeface="微软雅黑" charset="-122"/>
                        <a:cs typeface="DejaVu Math TeX Gyre" panose="02000503000000000000" charset="0"/>
                      </a:rPr>
                      <m:t>(</m:t>
                    </m:r>
                    <m:sSub>
                      <m:sSubPr>
                        <m:ctrlPr>
                          <a:rPr lang="en-US" altLang="zh-CN" i="1" dirty="0">
                            <a:latin typeface="Cambria Math" panose="02040503050406030204" pitchFamily="18" charset="0"/>
                            <a:ea typeface="微软雅黑" charset="-122"/>
                            <a:cs typeface="DejaVu Math TeX Gyre" panose="02000503000000000000" charset="0"/>
                          </a:rPr>
                        </m:ctrlPr>
                      </m:sSubPr>
                      <m:e>
                        <m:r>
                          <a:rPr lang="en-US" altLang="zh-CN" i="1" dirty="0">
                            <a:latin typeface="Cambria Math" panose="02040503050406030204" pitchFamily="18" charset="0"/>
                            <a:ea typeface="微软雅黑" charset="-122"/>
                            <a:cs typeface="DejaVu Math TeX Gyre" panose="02000503000000000000" charset="0"/>
                          </a:rPr>
                          <m:t>𝑥</m:t>
                        </m:r>
                      </m:e>
                      <m:sub>
                        <m:r>
                          <a:rPr lang="en-US" altLang="zh-CN" i="1" dirty="0">
                            <a:latin typeface="Cambria Math" panose="02040503050406030204" pitchFamily="18" charset="0"/>
                            <a:ea typeface="微软雅黑" charset="-122"/>
                            <a:cs typeface="DejaVu Math TeX Gyre" panose="02000503000000000000" charset="0"/>
                          </a:rPr>
                          <m:t>𝑡</m:t>
                        </m:r>
                        <m:r>
                          <a:rPr lang="en-US" altLang="zh-CN" i="1" dirty="0">
                            <a:latin typeface="Cambria Math" panose="02040503050406030204" pitchFamily="18" charset="0"/>
                            <a:ea typeface="微软雅黑" charset="-122"/>
                            <a:cs typeface="DejaVu Math TeX Gyre" panose="02000503000000000000" charset="0"/>
                          </a:rPr>
                          <m:t>−</m:t>
                        </m:r>
                        <m:r>
                          <a:rPr lang="en-US" altLang="zh-CN" i="1" dirty="0">
                            <a:latin typeface="Cambria Math" panose="02040503050406030204" pitchFamily="18" charset="0"/>
                            <a:ea typeface="微软雅黑" charset="-122"/>
                            <a:cs typeface="DejaVu Math TeX Gyre" panose="02000503000000000000" charset="0"/>
                          </a:rPr>
                          <m:t>1</m:t>
                        </m:r>
                      </m:sub>
                    </m:sSub>
                    <m:r>
                      <a:rPr lang="en-US" altLang="zh-CN" i="1" dirty="0">
                        <a:latin typeface="Cambria Math" panose="02040503050406030204" pitchFamily="18" charset="0"/>
                        <a:ea typeface="微软雅黑" charset="-122"/>
                        <a:cs typeface="DejaVu Math TeX Gyre" panose="02000503000000000000" charset="0"/>
                      </a:rPr>
                      <m:t>|</m:t>
                    </m:r>
                    <m:sSub>
                      <m:sSubPr>
                        <m:ctrlPr>
                          <a:rPr lang="en-US" altLang="zh-CN" i="1" dirty="0">
                            <a:latin typeface="Cambria Math" panose="02040503050406030204" pitchFamily="18" charset="0"/>
                            <a:ea typeface="微软雅黑" charset="-122"/>
                            <a:cs typeface="DejaVu Math TeX Gyre" panose="02000503000000000000" charset="0"/>
                          </a:rPr>
                        </m:ctrlPr>
                      </m:sSubPr>
                      <m:e>
                        <m:r>
                          <a:rPr lang="en-US" altLang="zh-CN" i="1" dirty="0">
                            <a:latin typeface="Cambria Math" panose="02040503050406030204" pitchFamily="18" charset="0"/>
                            <a:ea typeface="微软雅黑" charset="-122"/>
                            <a:cs typeface="DejaVu Math TeX Gyre" panose="02000503000000000000" charset="0"/>
                          </a:rPr>
                          <m:t>𝑥</m:t>
                        </m:r>
                      </m:e>
                      <m:sub>
                        <m:r>
                          <a:rPr lang="en-US" altLang="zh-CN" i="1" dirty="0">
                            <a:latin typeface="Cambria Math" panose="02040503050406030204" pitchFamily="18" charset="0"/>
                            <a:ea typeface="微软雅黑" charset="-122"/>
                            <a:cs typeface="DejaVu Math TeX Gyre" panose="02000503000000000000" charset="0"/>
                          </a:rPr>
                          <m:t>𝑡</m:t>
                        </m:r>
                      </m:sub>
                    </m:sSub>
                    <m:r>
                      <a:rPr lang="en-US" altLang="zh-CN" i="1" dirty="0">
                        <a:latin typeface="Cambria Math" panose="02040503050406030204" pitchFamily="18" charset="0"/>
                        <a:ea typeface="微软雅黑" charset="-122"/>
                        <a:cs typeface="DejaVu Math TeX Gyre" panose="02000503000000000000" charset="0"/>
                      </a:rPr>
                      <m:t>)</m:t>
                    </m:r>
                  </m:oMath>
                </a14:m>
                <a:r>
                  <a:rPr lang="zh-CN" altLang="en-US" dirty="0">
                    <a:latin typeface="DejaVu Math TeX Gyre" panose="02000503000000000000" charset="0"/>
                    <a:ea typeface="微软雅黑" charset="-122"/>
                    <a:cs typeface="DejaVu Math TeX Gyre" panose="02000503000000000000" charset="0"/>
                  </a:rPr>
                  <a:t>，就可以通过随机噪声</a:t>
                </a:r>
                <a:r>
                  <a:rPr lang="en-US" altLang="zh-CN" dirty="0">
                    <a:latin typeface="DejaVu Math TeX Gyre" panose="02000503000000000000" charset="0"/>
                    <a:ea typeface="微软雅黑" charset="-122"/>
                    <a:cs typeface="DejaVu Math TeX Gyre" panose="02000503000000000000" charset="0"/>
                  </a:rPr>
                  <a:t>xt</a:t>
                </a:r>
                <a:r>
                  <a:rPr lang="zh-CN" altLang="en-US" dirty="0">
                    <a:latin typeface="DejaVu Math TeX Gyre" panose="02000503000000000000" charset="0"/>
                    <a:ea typeface="微软雅黑" charset="-122"/>
                    <a:cs typeface="DejaVu Math TeX Gyre" panose="02000503000000000000" charset="0"/>
                  </a:rPr>
                  <a:t>逐步还原出一张图像。</a:t>
                </a:r>
                <a:r>
                  <a:rPr lang="en-US" altLang="zh-CN" dirty="0">
                    <a:latin typeface="DejaVu Math TeX Gyre" panose="02000503000000000000" charset="0"/>
                    <a:ea typeface="微软雅黑" charset="-122"/>
                    <a:cs typeface="DejaVu Math TeX Gyre" panose="02000503000000000000" charset="0"/>
                  </a:rPr>
                  <a:t>DDPM</a:t>
                </a:r>
                <a:r>
                  <a:rPr lang="zh-CN" altLang="en-US" dirty="0">
                    <a:latin typeface="DejaVu Math TeX Gyre" panose="02000503000000000000" charset="0"/>
                    <a:ea typeface="微软雅黑" charset="-122"/>
                    <a:cs typeface="DejaVu Math TeX Gyre" panose="02000503000000000000" charset="0"/>
                  </a:rPr>
                  <a:t>就使用了网络</a:t>
                </a:r>
                <a14:m>
                  <m:oMath xmlns:m="http://schemas.openxmlformats.org/officeDocument/2006/math">
                    <m:sSub>
                      <m:sSubPr>
                        <m:ctrlPr>
                          <a:rPr lang="en-US" altLang="zh-CN" i="1" dirty="0">
                            <a:latin typeface="Cambria Math" panose="02040503050406030204" pitchFamily="18" charset="0"/>
                            <a:ea typeface="微软雅黑" charset="-122"/>
                            <a:cs typeface="DejaVu Math TeX Gyre" panose="02000503000000000000" charset="0"/>
                          </a:rPr>
                        </m:ctrlPr>
                      </m:sSubPr>
                      <m:e>
                        <m:r>
                          <a:rPr lang="en-US" altLang="zh-CN" i="1" dirty="0">
                            <a:latin typeface="Cambria Math" panose="02040503050406030204" pitchFamily="18" charset="0"/>
                            <a:ea typeface="微软雅黑" charset="-122"/>
                            <a:cs typeface="DejaVu Math TeX Gyre" panose="02000503000000000000" charset="0"/>
                          </a:rPr>
                          <m:t>𝑝</m:t>
                        </m:r>
                      </m:e>
                      <m:sub>
                        <m:r>
                          <a:rPr lang="en-US" altLang="zh-CN" i="1" dirty="0">
                            <a:latin typeface="Cambria Math" panose="02040503050406030204" pitchFamily="18" charset="0"/>
                            <a:ea typeface="微软雅黑" charset="-122"/>
                            <a:cs typeface="DejaVu Math TeX Gyre" panose="02000503000000000000" charset="0"/>
                          </a:rPr>
                          <m:t>𝜃</m:t>
                        </m:r>
                      </m:sub>
                    </m:sSub>
                    <m:r>
                      <a:rPr lang="en-US" altLang="zh-CN" i="1" dirty="0">
                        <a:latin typeface="Cambria Math" panose="02040503050406030204" pitchFamily="18" charset="0"/>
                        <a:ea typeface="微软雅黑" charset="-122"/>
                        <a:cs typeface="DejaVu Math TeX Gyre" panose="02000503000000000000" charset="0"/>
                      </a:rPr>
                      <m:t>(</m:t>
                    </m:r>
                    <m:sSub>
                      <m:sSubPr>
                        <m:ctrlPr>
                          <a:rPr lang="en-US" altLang="zh-CN" i="1" dirty="0">
                            <a:latin typeface="Cambria Math" panose="02040503050406030204" pitchFamily="18" charset="0"/>
                            <a:ea typeface="微软雅黑" charset="-122"/>
                            <a:cs typeface="DejaVu Math TeX Gyre" panose="02000503000000000000" charset="0"/>
                          </a:rPr>
                        </m:ctrlPr>
                      </m:sSubPr>
                      <m:e>
                        <m:r>
                          <a:rPr lang="en-US" altLang="zh-CN" i="1" dirty="0">
                            <a:latin typeface="Cambria Math" panose="02040503050406030204" pitchFamily="18" charset="0"/>
                            <a:ea typeface="微软雅黑" charset="-122"/>
                            <a:cs typeface="DejaVu Math TeX Gyre" panose="02000503000000000000" charset="0"/>
                          </a:rPr>
                          <m:t>𝑥</m:t>
                        </m:r>
                      </m:e>
                      <m:sub>
                        <m:r>
                          <a:rPr lang="en-US" altLang="zh-CN" i="1" dirty="0">
                            <a:latin typeface="Cambria Math" panose="02040503050406030204" pitchFamily="18" charset="0"/>
                            <a:ea typeface="微软雅黑" charset="-122"/>
                            <a:cs typeface="DejaVu Math TeX Gyre" panose="02000503000000000000" charset="0"/>
                          </a:rPr>
                          <m:t>𝑡</m:t>
                        </m:r>
                        <m:r>
                          <a:rPr lang="en-US" altLang="zh-CN" i="1" dirty="0">
                            <a:latin typeface="Cambria Math" panose="02040503050406030204" pitchFamily="18" charset="0"/>
                            <a:ea typeface="微软雅黑" charset="-122"/>
                            <a:cs typeface="DejaVu Math TeX Gyre" panose="02000503000000000000" charset="0"/>
                          </a:rPr>
                          <m:t>−</m:t>
                        </m:r>
                        <m:r>
                          <a:rPr lang="en-US" altLang="zh-CN" i="1" dirty="0">
                            <a:latin typeface="Cambria Math" panose="02040503050406030204" pitchFamily="18" charset="0"/>
                            <a:ea typeface="微软雅黑" charset="-122"/>
                            <a:cs typeface="DejaVu Math TeX Gyre" panose="02000503000000000000" charset="0"/>
                          </a:rPr>
                          <m:t>1</m:t>
                        </m:r>
                      </m:sub>
                    </m:sSub>
                    <m:r>
                      <a:rPr lang="en-US" altLang="zh-CN" i="1" dirty="0">
                        <a:latin typeface="Cambria Math" panose="02040503050406030204" pitchFamily="18" charset="0"/>
                        <a:ea typeface="微软雅黑" charset="-122"/>
                        <a:cs typeface="DejaVu Math TeX Gyre" panose="02000503000000000000" charset="0"/>
                      </a:rPr>
                      <m:t>|</m:t>
                    </m:r>
                    <m:sSub>
                      <m:sSubPr>
                        <m:ctrlPr>
                          <a:rPr lang="en-US" altLang="zh-CN" i="1" dirty="0">
                            <a:latin typeface="Cambria Math" panose="02040503050406030204" pitchFamily="18" charset="0"/>
                            <a:ea typeface="微软雅黑" charset="-122"/>
                            <a:cs typeface="DejaVu Math TeX Gyre" panose="02000503000000000000" charset="0"/>
                          </a:rPr>
                        </m:ctrlPr>
                      </m:sSubPr>
                      <m:e>
                        <m:r>
                          <a:rPr lang="en-US" altLang="zh-CN" i="1" dirty="0">
                            <a:latin typeface="Cambria Math" panose="02040503050406030204" pitchFamily="18" charset="0"/>
                            <a:ea typeface="微软雅黑" charset="-122"/>
                            <a:cs typeface="DejaVu Math TeX Gyre" panose="02000503000000000000" charset="0"/>
                          </a:rPr>
                          <m:t>𝑥</m:t>
                        </m:r>
                      </m:e>
                      <m:sub>
                        <m:r>
                          <a:rPr lang="en-US" altLang="zh-CN" i="1" dirty="0">
                            <a:latin typeface="Cambria Math" panose="02040503050406030204" pitchFamily="18" charset="0"/>
                            <a:ea typeface="微软雅黑" charset="-122"/>
                            <a:cs typeface="DejaVu Math TeX Gyre" panose="02000503000000000000" charset="0"/>
                          </a:rPr>
                          <m:t>𝑡</m:t>
                        </m:r>
                      </m:sub>
                    </m:sSub>
                    <m:r>
                      <a:rPr lang="en-US" altLang="zh-CN" i="1" dirty="0">
                        <a:latin typeface="Cambria Math" panose="02040503050406030204" pitchFamily="18" charset="0"/>
                        <a:ea typeface="微软雅黑" charset="-122"/>
                        <a:cs typeface="DejaVu Math TeX Gyre" panose="02000503000000000000" charset="0"/>
                      </a:rPr>
                      <m:t>)</m:t>
                    </m:r>
                  </m:oMath>
                </a14:m>
                <a:r>
                  <a:rPr lang="zh-CN" altLang="en-US" dirty="0">
                    <a:latin typeface="DejaVu Math TeX Gyre" panose="02000503000000000000" charset="0"/>
                    <a:ea typeface="微软雅黑" charset="-122"/>
                    <a:cs typeface="DejaVu Math TeX Gyre" panose="02000503000000000000" charset="0"/>
                    <a:sym typeface="+mn-ea"/>
                  </a:rPr>
                  <a:t>拟合反向过程。</a:t>
                </a:r>
                <a:endParaRPr lang="zh-CN" altLang="en-US" dirty="0">
                  <a:latin typeface="DejaVu Math TeX Gyre" panose="02000503000000000000" charset="0"/>
                  <a:ea typeface="微软雅黑" charset="-122"/>
                  <a:cs typeface="DejaVu Math TeX Gyre" panose="02000503000000000000" charset="0"/>
                  <a:sym typeface="+mn-ea"/>
                </a:endParaRPr>
              </a:p>
              <a:p>
                <a:endParaRPr lang="zh-CN" altLang="en-US" dirty="0">
                  <a:latin typeface="DejaVu Math TeX Gyre" panose="02000503000000000000" charset="0"/>
                  <a:ea typeface="微软雅黑" charset="-122"/>
                  <a:cs typeface="DejaVu Math TeX Gyre" panose="02000503000000000000" charset="0"/>
                  <a:sym typeface="+mn-ea"/>
                </a:endParaRPr>
              </a:p>
              <a:p>
                <a:r>
                  <a:rPr lang="zh-CN" altLang="en-US" dirty="0">
                    <a:latin typeface="DejaVu Math TeX Gyre" panose="02000503000000000000" charset="0"/>
                    <a:ea typeface="微软雅黑" charset="-122"/>
                    <a:cs typeface="DejaVu Math TeX Gyre" panose="02000503000000000000" charset="0"/>
                    <a:sym typeface="+mn-ea"/>
                  </a:rPr>
                  <a:t>由</a:t>
                </a:r>
                <a:endParaRPr lang="zh-CN" altLang="en-US" dirty="0">
                  <a:latin typeface="DejaVu Math TeX Gyre" panose="02000503000000000000" charset="0"/>
                  <a:ea typeface="微软雅黑" charset="-122"/>
                  <a:cs typeface="DejaVu Math TeX Gyre" panose="02000503000000000000" charset="0"/>
                </a:endParaRPr>
              </a:p>
              <a:p>
                <a14:m>
                  <m:oMathPara xmlns:m="http://schemas.openxmlformats.org/officeDocument/2006/math">
                    <m:oMathParaPr>
                      <m:jc m:val="centerGroup"/>
                    </m:oMathParaPr>
                    <m:oMath xmlns:m="http://schemas.openxmlformats.org/officeDocument/2006/math">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𝑞</m:t>
                      </m:r>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m:t>
                      </m:r>
                      <m:sSub>
                        <m:sSubPr>
                          <m:ctrlP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ctrlPr>
                        </m:sSubPr>
                        <m:e>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𝑥</m:t>
                          </m:r>
                        </m:e>
                        <m:sub>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𝑡</m:t>
                          </m:r>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m:t>
                          </m:r>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1</m:t>
                          </m:r>
                        </m:sub>
                      </m:sSub>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m:t>
                      </m:r>
                      <m:sSub>
                        <m:sSubPr>
                          <m:ctrlP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ctrlPr>
                        </m:sSubPr>
                        <m:e>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𝑥</m:t>
                          </m:r>
                        </m:e>
                        <m:sub>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𝑡</m:t>
                          </m:r>
                        </m:sub>
                      </m:sSub>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m:t>
                      </m:r>
                      <m:sSub>
                        <m:sSubPr>
                          <m:ctrlP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ctrlPr>
                        </m:sSubPr>
                        <m:e>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𝑥</m:t>
                          </m:r>
                        </m:e>
                        <m:sub>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0</m:t>
                          </m:r>
                        </m:sub>
                      </m:sSub>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m:t>
                      </m:r>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𝑁</m:t>
                      </m:r>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m:t>
                      </m:r>
                      <m:sSub>
                        <m:sSubPr>
                          <m:ctrlP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ctrlPr>
                        </m:sSubPr>
                        <m:e>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𝑥</m:t>
                          </m:r>
                        </m:e>
                        <m:sub>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𝑡</m:t>
                          </m:r>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m:t>
                          </m:r>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1</m:t>
                          </m:r>
                        </m:sub>
                      </m:sSub>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m:t>
                      </m:r>
                      <m:sSub>
                        <m:sSubPr>
                          <m:ctrlP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ctrlPr>
                        </m:sSubPr>
                        <m:e>
                          <m:acc>
                            <m:accPr>
                              <m:chr m:val="̃"/>
                              <m:ctrlP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ctrlPr>
                            </m:accPr>
                            <m:e>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𝜇</m:t>
                              </m:r>
                            </m:e>
                          </m:acc>
                        </m:e>
                        <m:sub>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𝑡</m:t>
                          </m:r>
                        </m:sub>
                      </m:sSub>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m:t>
                      </m:r>
                      <m:sSub>
                        <m:sSubPr>
                          <m:ctrlP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ctrlPr>
                        </m:sSubPr>
                        <m:e>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𝑥</m:t>
                          </m:r>
                        </m:e>
                        <m:sub>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𝑡</m:t>
                          </m:r>
                        </m:sub>
                      </m:sSub>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m:t>
                      </m:r>
                      <m:sSub>
                        <m:sSubPr>
                          <m:ctrlP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ctrlPr>
                        </m:sSubPr>
                        <m:e>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𝑥</m:t>
                          </m:r>
                        </m:e>
                        <m:sub>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0</m:t>
                          </m:r>
                        </m:sub>
                      </m:sSub>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m:t>
                      </m:r>
                      <m:sSub>
                        <m:sSubPr>
                          <m:ctrlP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ctrlPr>
                        </m:sSubPr>
                        <m:e>
                          <m:acc>
                            <m:accPr>
                              <m:chr m:val="̃"/>
                              <m:ctrlP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ctrlPr>
                            </m:accPr>
                            <m:e>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𝛽</m:t>
                              </m:r>
                            </m:e>
                          </m:acc>
                        </m:e>
                        <m:sub>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𝑡</m:t>
                          </m:r>
                        </m:sub>
                      </m:sSub>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𝐼</m:t>
                      </m:r>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m:t>
                      </m:r>
                    </m:oMath>
                  </m:oMathPara>
                </a14:m>
                <a:endParaRPr lang="en-US" altLang="zh-CN" i="1" dirty="0">
                  <a:ln w="19050">
                    <a:noFill/>
                  </a:ln>
                  <a:solidFill>
                    <a:schemeClr val="tx1"/>
                  </a:solidFill>
                  <a:latin typeface="DejaVu Math TeX Gyre" panose="02000503000000000000" charset="0"/>
                  <a:ea typeface="微软雅黑" charset="-122"/>
                  <a:cs typeface="DejaVu Math TeX Gyre" panose="02000503000000000000" charset="0"/>
                </a:endParaRPr>
              </a:p>
              <a:p>
                <a:r>
                  <a:rPr lang="zh-CN" altLang="en-US" dirty="0">
                    <a:latin typeface="DejaVu Math TeX Gyre" panose="02000503000000000000" charset="0"/>
                    <a:ea typeface="微软雅黑" charset="-122"/>
                    <a:cs typeface="DejaVu Math TeX Gyre" panose="02000503000000000000" charset="0"/>
                  </a:rPr>
                  <a:t>推导出</a:t>
                </a:r>
                <a:endParaRPr lang="zh-CN" altLang="en-US" dirty="0">
                  <a:latin typeface="DejaVu Math TeX Gyre" panose="02000503000000000000" charset="0"/>
                  <a:ea typeface="微软雅黑" charset="-122"/>
                  <a:cs typeface="DejaVu Math TeX Gyre" panose="02000503000000000000" charset="0"/>
                </a:endParaRPr>
              </a:p>
              <a:p>
                <a14:m>
                  <m:oMathPara xmlns:m="http://schemas.openxmlformats.org/officeDocument/2006/math">
                    <m:oMathParaPr>
                      <m:jc m:val="centerGroup"/>
                    </m:oMathParaPr>
                    <m:oMath xmlns:m="http://schemas.openxmlformats.org/officeDocument/2006/math">
                      <m:sSub>
                        <m:sSubPr>
                          <m:ctrlP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ctrlPr>
                        </m:sSubPr>
                        <m:e>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𝑝</m:t>
                          </m:r>
                        </m:e>
                        <m:sub>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𝜃</m:t>
                          </m:r>
                        </m:sub>
                      </m:sSub>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m:t>
                      </m:r>
                      <m:sSub>
                        <m:sSubPr>
                          <m:ctrlP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ctrlPr>
                        </m:sSubPr>
                        <m:e>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𝑥</m:t>
                          </m:r>
                        </m:e>
                        <m:sub>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𝑡</m:t>
                          </m:r>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m:t>
                          </m:r>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1</m:t>
                          </m:r>
                        </m:sub>
                      </m:sSub>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m:t>
                      </m:r>
                      <m:sSub>
                        <m:sSubPr>
                          <m:ctrlP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ctrlPr>
                        </m:sSubPr>
                        <m:e>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𝑥</m:t>
                          </m:r>
                        </m:e>
                        <m:sub>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𝑡</m:t>
                          </m:r>
                        </m:sub>
                      </m:sSub>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m:t>
                      </m:r>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𝑁</m:t>
                      </m:r>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m:t>
                      </m:r>
                      <m:sSub>
                        <m:sSubPr>
                          <m:ctrlP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ctrlPr>
                        </m:sSubPr>
                        <m:e>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𝑥</m:t>
                          </m:r>
                        </m:e>
                        <m:sub>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𝑡</m:t>
                          </m:r>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m:t>
                          </m:r>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1</m:t>
                          </m:r>
                        </m:sub>
                      </m:sSub>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m:t>
                      </m:r>
                      <m:sSub>
                        <m:sSubPr>
                          <m:ctrlP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ctrlPr>
                        </m:sSubPr>
                        <m:e>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𝜇</m:t>
                          </m:r>
                        </m:e>
                        <m:sub>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𝜃</m:t>
                          </m:r>
                        </m:sub>
                      </m:sSub>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m:t>
                      </m:r>
                      <m:sSub>
                        <m:sSubPr>
                          <m:ctrlP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ctrlPr>
                        </m:sSubPr>
                        <m:e>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𝑥</m:t>
                          </m:r>
                        </m:e>
                        <m:sub>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𝑡</m:t>
                          </m:r>
                        </m:sub>
                      </m:sSub>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m:t>
                      </m:r>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𝑡</m:t>
                      </m:r>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m:t>
                      </m:r>
                      <m:nary>
                        <m:naryPr>
                          <m:chr m:val="∑"/>
                          <m:limLoc m:val="undOvr"/>
                          <m:supHide m:val="on"/>
                          <m:ctrlP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ctrlPr>
                        </m:naryPr>
                        <m:sub>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𝜃</m:t>
                          </m:r>
                        </m:sub>
                        <m:sup/>
                        <m:e>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m:t>
                          </m:r>
                          <m:sSub>
                            <m:sSubPr>
                              <m:ctrlP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ctrlPr>
                            </m:sSubPr>
                            <m:e>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𝑥</m:t>
                              </m:r>
                            </m:e>
                            <m:sub>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𝑡</m:t>
                              </m:r>
                            </m:sub>
                          </m:sSub>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m:t>
                          </m:r>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𝑡</m:t>
                          </m:r>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m:t>
                          </m:r>
                        </m:e>
                      </m:nary>
                      <m:r>
                        <a:rPr lang="en-US" altLang="zh-CN" i="1" dirty="0">
                          <a:ln w="19050">
                            <a:noFill/>
                          </a:ln>
                          <a:solidFill>
                            <a:schemeClr val="tx1"/>
                          </a:solidFill>
                          <a:latin typeface="Cambria Math" panose="02040503050406030204" pitchFamily="18" charset="0"/>
                          <a:ea typeface="微软雅黑" charset="-122"/>
                          <a:cs typeface="DejaVu Math TeX Gyre" panose="02000503000000000000" charset="0"/>
                        </a:rPr>
                        <m:t>)</m:t>
                      </m:r>
                    </m:oMath>
                  </m:oMathPara>
                </a14:m>
                <a:endParaRPr lang="en-US" altLang="zh-CN" i="1" dirty="0">
                  <a:ln w="19050">
                    <a:noFill/>
                  </a:ln>
                  <a:solidFill>
                    <a:schemeClr val="tx1"/>
                  </a:solidFill>
                  <a:latin typeface="DejaVu Math TeX Gyre" panose="02000503000000000000" charset="0"/>
                  <a:ea typeface="微软雅黑" charset="-122"/>
                  <a:cs typeface="DejaVu Math TeX Gyre" panose="02000503000000000000" charset="0"/>
                </a:endParaRPr>
              </a:p>
              <a:p>
                <a:endParaRPr lang="zh-CN" altLang="en-US" dirty="0">
                  <a:latin typeface="DejaVu Math TeX Gyre" panose="02000503000000000000" charset="0"/>
                  <a:ea typeface="微软雅黑" charset="-122"/>
                  <a:cs typeface="DejaVu Math TeX Gyre" panose="02000503000000000000" charset="0"/>
                </a:endParaRPr>
              </a:p>
              <a:p>
                <a:r>
                  <a:rPr lang="en-US" altLang="zh-CN" dirty="0">
                    <a:latin typeface="DejaVu Math TeX Gyre" panose="02000503000000000000" charset="0"/>
                    <a:ea typeface="微软雅黑" charset="-122"/>
                    <a:cs typeface="DejaVu Math TeX Gyre" panose="02000503000000000000" charset="0"/>
                  </a:rPr>
                  <a:t>DDPM</a:t>
                </a:r>
                <a:r>
                  <a:rPr lang="zh-CN" altLang="en-US" dirty="0">
                    <a:latin typeface="DejaVu Math TeX Gyre" panose="02000503000000000000" charset="0"/>
                    <a:ea typeface="微软雅黑" charset="-122"/>
                    <a:cs typeface="DejaVu Math TeX Gyre" panose="02000503000000000000" charset="0"/>
                  </a:rPr>
                  <a:t>中通过神经网络（通常是 U-Net）拟合噪声预测模型，从而间接得到均值，以计算</a:t>
                </a:r>
                <a:r>
                  <a:rPr lang="en-US" altLang="zh-CN" dirty="0">
                    <a:latin typeface="DejaVu Math TeX Gyre" panose="02000503000000000000" charset="0"/>
                    <a:ea typeface="微软雅黑" charset="-122"/>
                    <a:cs typeface="DejaVu Math TeX Gyre" panose="02000503000000000000" charset="0"/>
                  </a:rPr>
                  <a:t>xt-1</a:t>
                </a:r>
                <a:r>
                  <a:rPr lang="zh-CN" altLang="en-US" dirty="0">
                    <a:latin typeface="DejaVu Math TeX Gyre" panose="02000503000000000000" charset="0"/>
                    <a:ea typeface="微软雅黑" charset="-122"/>
                    <a:cs typeface="DejaVu Math TeX Gyre" panose="02000503000000000000" charset="0"/>
                  </a:rPr>
                  <a:t>。</a:t>
                </a:r>
                <a:endParaRPr lang="zh-CN" altLang="en-US" dirty="0">
                  <a:latin typeface="DejaVu Math TeX Gyre" panose="02000503000000000000" charset="0"/>
                  <a:ea typeface="微软雅黑" charset="-122"/>
                  <a:cs typeface="DejaVu Math TeX Gyre" panose="02000503000000000000" charset="0"/>
                </a:endParaRPr>
              </a:p>
              <a:p>
                <a:r>
                  <a:rPr lang="zh-CN" altLang="en-US" dirty="0">
                    <a:latin typeface="DejaVu Math TeX Gyre" panose="02000503000000000000" charset="0"/>
                    <a:ea typeface="微软雅黑" charset="-122"/>
                    <a:cs typeface="DejaVu Math TeX Gyre" panose="02000503000000000000" charset="0"/>
                  </a:rPr>
                  <a:t>方差通常是固定的，并未直接通过神经网络拟合，而是由扩散过程的参数决定。</a:t>
                </a:r>
                <a:endParaRPr lang="zh-CN" altLang="en-US" dirty="0">
                  <a:latin typeface="DejaVu Math TeX Gyre" panose="02000503000000000000" charset="0"/>
                  <a:ea typeface="微软雅黑" charset="-122"/>
                  <a:cs typeface="DejaVu Math TeX Gyre" panose="02000503000000000000" charset="0"/>
                </a:endParaRPr>
              </a:p>
              <a:p>
                <a:endParaRPr lang="zh-CN" altLang="en-US" dirty="0">
                  <a:latin typeface="DejaVu Math TeX Gyre" panose="02000503000000000000" charset="0"/>
                  <a:ea typeface="微软雅黑" charset="-122"/>
                  <a:cs typeface="DejaVu Math TeX Gyre" panose="02000503000000000000" charset="0"/>
                </a:endParaRPr>
              </a:p>
              <a:p>
                <a:r>
                  <a:rPr lang="zh-CN" altLang="en-US" dirty="0">
                    <a:latin typeface="DejaVu Math TeX Gyre" panose="02000503000000000000" charset="0"/>
                    <a:ea typeface="微软雅黑" charset="-122"/>
                    <a:cs typeface="DejaVu Math TeX Gyre" panose="02000503000000000000" charset="0"/>
                  </a:rPr>
                  <a:t>而由于</a:t>
                </a:r>
                <a:r>
                  <a:rPr lang="en-US" altLang="zh-CN" dirty="0">
                    <a:latin typeface="DejaVu Math TeX Gyre" panose="02000503000000000000" charset="0"/>
                    <a:ea typeface="微软雅黑" charset="-122"/>
                    <a:cs typeface="DejaVu Math TeX Gyre" panose="02000503000000000000" charset="0"/>
                  </a:rPr>
                  <a:t>t </a:t>
                </a:r>
                <a:r>
                  <a:rPr lang="zh-CN" altLang="en-US" dirty="0">
                    <a:latin typeface="DejaVu Math TeX Gyre" panose="02000503000000000000" charset="0"/>
                    <a:ea typeface="微软雅黑" charset="-122"/>
                    <a:cs typeface="DejaVu Math TeX Gyre" panose="02000503000000000000" charset="0"/>
                  </a:rPr>
                  <a:t>和</a:t>
                </a:r>
                <a:r>
                  <a:rPr lang="en-US" altLang="zh-CN" dirty="0">
                    <a:latin typeface="DejaVu Math TeX Gyre" panose="02000503000000000000" charset="0"/>
                    <a:ea typeface="微软雅黑" charset="-122"/>
                    <a:cs typeface="DejaVu Math TeX Gyre" panose="02000503000000000000" charset="0"/>
                  </a:rPr>
                  <a:t> xt </a:t>
                </a:r>
                <a:r>
                  <a:rPr lang="zh-CN" altLang="en-US" dirty="0">
                    <a:latin typeface="DejaVu Math TeX Gyre" panose="02000503000000000000" charset="0"/>
                    <a:ea typeface="微软雅黑" charset="-122"/>
                    <a:cs typeface="DejaVu Math TeX Gyre" panose="02000503000000000000" charset="0"/>
                  </a:rPr>
                  <a:t>已知，就只需使用网络拟合噪声预测模型。</a:t>
                </a:r>
                <a:endParaRPr lang="zh-CN" altLang="en-US" dirty="0">
                  <a:latin typeface="DejaVu Math TeX Gyre" panose="02000503000000000000" charset="0"/>
                  <a:ea typeface="微软雅黑" charset="-122"/>
                  <a:cs typeface="DejaVu Math TeX Gyre" panose="02000503000000000000" charset="0"/>
                </a:endParaRPr>
              </a:p>
              <a:p>
                <a:endParaRPr lang="zh-CN" altLang="en-US" dirty="0">
                  <a:latin typeface="DejaVu Math TeX Gyre" panose="02000503000000000000" charset="0"/>
                  <a:ea typeface="微软雅黑" charset="-122"/>
                  <a:cs typeface="DejaVu Math TeX Gyre" panose="02000503000000000000" charset="0"/>
                </a:endParaRPr>
              </a:p>
            </p:txBody>
          </p:sp>
        </mc:Choice>
        <mc:Fallback>
          <p:sp>
            <p:nvSpPr>
              <p:cNvPr id="3" name="文本占位符 2"/>
              <p:cNvSpPr>
                <a:spLocks noRot="1" noChangeAspect="1" noMove="1" noResize="1" noEditPoints="1" noAdjustHandles="1" noChangeArrowheads="1" noChangeShapeType="1" noTextEdit="1"/>
              </p:cNvSpPr>
              <p:nvPr>
                <p:ph type="body" idx="3"/>
              </p:nvPr>
            </p:nvSpPr>
            <p:spPr>
              <a:blipFill rotWithShape="1">
                <a:blip r:embed="rId3"/>
                <a:stretch>
                  <a:fillRect t="-8" b="-98164"/>
                </a:stretch>
              </a:blipFill>
            </p:spPr>
            <p:txBody>
              <a:bodyPr/>
              <a:lstStyle/>
              <a:p>
                <a:r>
                  <a:rPr lang="zh-CN" altLang="en-US">
                    <a:noFill/>
                  </a:rPr>
                  <a:t> </a:t>
                </a:r>
              </a:p>
            </p:txBody>
          </p:sp>
        </mc:Fallback>
      </mc:AlternateContent>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前面已经讲过，在反向过程中，模型的核心任务不是直接生成一张完整图片，而是预测当前带噪图像中所包含的噪声。所以</a:t>
            </a:r>
            <a:r>
              <a:rPr lang="zh-CN" altLang="en-US" dirty="0">
                <a:sym typeface="+mn-ea"/>
              </a:rPr>
              <a:t>关于 DDPM 的训练算法，核心也就是模型到底是怎么学会去噪的。</a:t>
            </a:r>
            <a:endParaRPr lang="zh-CN" altLang="en-US" dirty="0">
              <a:sym typeface="+mn-ea"/>
            </a:endParaRPr>
          </a:p>
          <a:p>
            <a:endParaRPr lang="zh-CN" altLang="en-US" dirty="0">
              <a:sym typeface="+mn-ea"/>
            </a:endParaRPr>
          </a:p>
          <a:p>
            <a:r>
              <a:rPr lang="zh-CN" altLang="en-US" dirty="0"/>
              <a:t>首先看算法的前几步。每一轮训练开始时，先从真实数据分布里采样一张原始图像 </a:t>
            </a:r>
            <a:r>
              <a:rPr lang="en-US" altLang="zh-CN" dirty="0"/>
              <a:t>x0</a:t>
            </a:r>
            <a:r>
              <a:rPr lang="zh-CN" altLang="en-US" dirty="0"/>
              <a:t>；然后再从 </a:t>
            </a:r>
            <a:r>
              <a:rPr lang="en-US" altLang="zh-CN" dirty="0"/>
              <a:t>1</a:t>
            </a:r>
            <a:r>
              <a:rPr lang="zh-CN" altLang="en-US" dirty="0"/>
              <a:t> 到 </a:t>
            </a:r>
            <a:r>
              <a:rPr lang="en-US" altLang="zh-CN" dirty="0"/>
              <a:t>T</a:t>
            </a:r>
            <a:r>
              <a:rPr lang="zh-CN" altLang="en-US" dirty="0"/>
              <a:t> 中随机采样一个时间步</a:t>
            </a:r>
            <a:r>
              <a:rPr lang="en-US" altLang="zh-CN" dirty="0"/>
              <a:t>t</a:t>
            </a:r>
            <a:r>
              <a:rPr lang="zh-CN" altLang="en-US" dirty="0"/>
              <a:t>；接着再采样一份标准高斯噪声 ϵ。这里“随机选时间步”很重要，因为它意味着模型训练时会接触到不同噪声强度下的图像，从而学会在各个阶段都能完成去噪，而不是只适应某一个固定阶段。</a:t>
            </a:r>
            <a:endParaRPr lang="zh-CN" altLang="en-US" dirty="0"/>
          </a:p>
          <a:p>
            <a:endParaRPr lang="zh-CN" altLang="en-US" dirty="0"/>
          </a:p>
          <a:p>
            <a:r>
              <a:rPr lang="zh-CN" altLang="en-US" dirty="0"/>
              <a:t>根据正向过程推导出的公式，可以直接构造出时刻 t 的带噪样本。也就是：把原图和随机噪声按一定比例混合，生成一个训练输入。有了这个输入之后，模型ϵθ</a:t>
            </a:r>
            <a:r>
              <a:rPr lang="en-US" altLang="zh-CN" dirty="0"/>
              <a:t> </a:t>
            </a:r>
            <a:r>
              <a:rPr lang="zh-CN" altLang="en-US" dirty="0"/>
              <a:t>的任务就是去预测那份真正加进去的噪声 ϵ。</a:t>
            </a:r>
            <a:endParaRPr lang="zh-CN" altLang="en-US" dirty="0"/>
          </a:p>
          <a:p>
            <a:endParaRPr lang="zh-CN" altLang="en-US" dirty="0"/>
          </a:p>
          <a:p>
            <a:r>
              <a:rPr lang="zh-CN" altLang="en-US" dirty="0"/>
              <a:t>随后计算损失函数。这里使用的是一个 L2 损失，也就是比较“真实噪声”和“模型预测噪声”之间的差距。差距越小，说明模型越准确地识别出了图像中的噪声成分，也就意味着它越有能力在反向过程中一步步把噪声去掉。最后，通过梯度下降不断更新网络参数，重复这个过程，直到模型收敛。</a:t>
            </a:r>
            <a:endParaRPr lang="zh-CN" altLang="en-US" dirty="0"/>
          </a:p>
          <a:p>
            <a:endParaRPr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扩散模型训练阶段的目标是让模型学会在不同时间步下准确预测噪声；而到了采样阶段，就思考把这个能力使用起来，实现模型从随机噪声一步一步还原出有意义的图像。</a:t>
            </a:r>
            <a:endParaRPr lang="zh-CN" altLang="en-US" dirty="0"/>
          </a:p>
          <a:p>
            <a:endParaRPr lang="zh-CN" altLang="en-US" dirty="0"/>
          </a:p>
          <a:p>
            <a:r>
              <a:rPr lang="zh-CN" altLang="en-US" dirty="0"/>
              <a:t>具体来看，算法的第一步，是先初始化一个xT，它服从标准高斯分布，也就是一张纯噪声图像。这意味着扩散模型的生成并不是像传统方法那样从某种明确结构开始，而是直接从完全随机的噪声出发。接下来，从 t=T 一直到 t=1，不断循环执行去噪操作。</a:t>
            </a:r>
            <a:endParaRPr lang="zh-CN" altLang="en-US" dirty="0"/>
          </a:p>
          <a:p>
            <a:endParaRPr lang="zh-CN" altLang="en-US" dirty="0"/>
          </a:p>
          <a:p>
            <a:r>
              <a:rPr lang="zh-CN" altLang="en-US" dirty="0"/>
              <a:t>在每一个时间步里，模型都会根据当前的 xt</a:t>
            </a:r>
            <a:r>
              <a:rPr lang="en-US" altLang="zh-CN" dirty="0"/>
              <a:t> </a:t>
            </a:r>
            <a:r>
              <a:rPr lang="zh-CN" altLang="en-US" dirty="0"/>
              <a:t>和时间步 t，利用神经网络 ϵθ</a:t>
            </a:r>
            <a:r>
              <a:rPr lang="en-US" altLang="zh-CN" dirty="0"/>
              <a:t> </a:t>
            </a:r>
            <a:r>
              <a:rPr lang="zh-CN" altLang="en-US" dirty="0"/>
              <a:t>来估计当前图像中的噪声成分。然后代入下面这个更新公式，计算出下一步更干净的</a:t>
            </a:r>
            <a:r>
              <a:rPr lang="en-US" altLang="zh-CN" dirty="0"/>
              <a:t> </a:t>
            </a:r>
            <a:r>
              <a:rPr lang="zh-CN" altLang="en-US" dirty="0"/>
              <a:t>xt−1。这个公式的核心含义就是：先减去模型预测出来的噪声，再按照当前步骤的参数进行缩放和调整。 如果当前不是最后一步，也就是 </a:t>
            </a:r>
            <a:endParaRPr lang="zh-CN" altLang="en-US" dirty="0"/>
          </a:p>
          <a:p>
            <a:r>
              <a:rPr lang="zh-CN" altLang="en-US" dirty="0"/>
              <a:t>t&gt;1时，</a:t>
            </a:r>
            <a:r>
              <a:rPr lang="zh-CN" altLang="en-US" dirty="0">
                <a:sym typeface="+mn-ea"/>
              </a:rPr>
              <a:t>为了保证整个采样过程仍然符合概率生成模型的随机性，</a:t>
            </a:r>
            <a:r>
              <a:rPr lang="zh-CN" altLang="en-US" dirty="0"/>
              <a:t>还会额外加入一个随机噪声项 z，而到了最后一步 t=1 时，就不再加这个噪声了，这样才能得到最终清晰稳定的输出。</a:t>
            </a:r>
            <a:endParaRPr lang="zh-CN" altLang="en-US" dirty="0"/>
          </a:p>
          <a:p>
            <a:endParaRPr lang="zh-CN" altLang="en-US" dirty="0"/>
          </a:p>
          <a:p>
            <a:r>
              <a:rPr lang="zh-CN" altLang="en-US" dirty="0"/>
              <a:t>所以从整体上看，采样过程其实就是把训练阶段学到的“预测噪声”能力，反复执行很多次。每执行一步，图像里的噪声就少一点，结构就更清晰一点，最终得到的x0就是生成结果，即生成图像。</a:t>
            </a:r>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dirty="0">
                <a:solidFill>
                  <a:schemeClr val="tx1">
                    <a:lumMod val="65000"/>
                    <a:lumOff val="35000"/>
                  </a:schemeClr>
                </a:solidFill>
                <a:latin typeface="微软雅黑" charset="-122"/>
                <a:ea typeface="微软雅黑" charset="-122"/>
              </a:rPr>
              <a:t>参数有效方法这一部分我首先讲一下</a:t>
            </a:r>
            <a:r>
              <a:rPr lang="en-US" altLang="zh-CN" sz="1200" dirty="0">
                <a:solidFill>
                  <a:schemeClr val="tx1">
                    <a:lumMod val="65000"/>
                    <a:lumOff val="35000"/>
                  </a:schemeClr>
                </a:solidFill>
                <a:latin typeface="微软雅黑" charset="-122"/>
                <a:ea typeface="微软雅黑" charset="-122"/>
              </a:rPr>
              <a:t>ControlNet</a:t>
            </a:r>
            <a:r>
              <a:rPr lang="zh-CN" altLang="en-US" sz="1200" dirty="0">
                <a:solidFill>
                  <a:schemeClr val="tx1">
                    <a:lumMod val="65000"/>
                    <a:lumOff val="35000"/>
                  </a:schemeClr>
                </a:solidFill>
                <a:latin typeface="微软雅黑" charset="-122"/>
                <a:ea typeface="微软雅黑" charset="-122"/>
              </a:rPr>
              <a:t>这个网络结构，如图左所示，</a:t>
            </a:r>
            <a:r>
              <a:rPr lang="en-US" altLang="zh-CN" sz="1200" dirty="0">
                <a:solidFill>
                  <a:schemeClr val="tx1">
                    <a:lumMod val="65000"/>
                    <a:lumOff val="35000"/>
                  </a:schemeClr>
                </a:solidFill>
                <a:latin typeface="微软雅黑" charset="-122"/>
                <a:ea typeface="微软雅黑" charset="-122"/>
              </a:rPr>
              <a:t>ControlNet</a:t>
            </a:r>
            <a:r>
              <a:rPr lang="zh-CN" altLang="en-US" sz="1200" dirty="0">
                <a:solidFill>
                  <a:schemeClr val="tx1">
                    <a:lumMod val="65000"/>
                    <a:lumOff val="35000"/>
                  </a:schemeClr>
                </a:solidFill>
                <a:latin typeface="微软雅黑" charset="-122"/>
                <a:ea typeface="微软雅黑" charset="-122"/>
              </a:rPr>
              <a:t>是一种辅助式的</a:t>
            </a:r>
            <a:r>
              <a:rPr lang="zh-CN" altLang="en-US" sz="1200" dirty="0">
                <a:solidFill>
                  <a:schemeClr val="tx1">
                    <a:lumMod val="65000"/>
                    <a:lumOff val="35000"/>
                  </a:schemeClr>
                </a:solidFill>
                <a:latin typeface="微软雅黑" charset="-122"/>
                <a:ea typeface="微软雅黑" charset="-122"/>
                <a:hlinkClick r:id="rId3"/>
              </a:rPr>
              <a:t>神经网络模型</a:t>
            </a:r>
            <a:r>
              <a:rPr lang="zh-CN" altLang="en-US" sz="1200" dirty="0">
                <a:solidFill>
                  <a:schemeClr val="tx1">
                    <a:lumMod val="65000"/>
                    <a:lumOff val="35000"/>
                  </a:schemeClr>
                </a:solidFill>
                <a:latin typeface="微软雅黑" charset="-122"/>
                <a:ea typeface="微软雅黑" charset="-122"/>
              </a:rPr>
              <a:t>结构，通过在</a:t>
            </a:r>
            <a:r>
              <a:rPr lang="en-US" altLang="zh-CN" sz="1200" dirty="0">
                <a:solidFill>
                  <a:schemeClr val="tx1">
                    <a:lumMod val="65000"/>
                    <a:lumOff val="35000"/>
                  </a:schemeClr>
                </a:solidFill>
                <a:latin typeface="微软雅黑" charset="-122"/>
                <a:ea typeface="微软雅黑" charset="-122"/>
              </a:rPr>
              <a:t>Stable Diffusion</a:t>
            </a:r>
            <a:r>
              <a:rPr lang="zh-CN" altLang="en-US" sz="1200" dirty="0">
                <a:solidFill>
                  <a:schemeClr val="tx1">
                    <a:lumMod val="65000"/>
                    <a:lumOff val="35000"/>
                  </a:schemeClr>
                </a:solidFill>
                <a:latin typeface="微软雅黑" charset="-122"/>
                <a:ea typeface="微软雅黑" charset="-122"/>
              </a:rPr>
              <a:t>等生成式模型中添加辅助模块，从而引入额外条件来控制</a:t>
            </a:r>
            <a:r>
              <a:rPr lang="en-US" altLang="zh-CN" sz="1200" dirty="0">
                <a:solidFill>
                  <a:schemeClr val="tx1">
                    <a:lumMod val="65000"/>
                    <a:lumOff val="35000"/>
                  </a:schemeClr>
                </a:solidFill>
                <a:latin typeface="微软雅黑" charset="-122"/>
                <a:ea typeface="微软雅黑" charset="-122"/>
              </a:rPr>
              <a:t>AIGC</a:t>
            </a:r>
            <a:r>
              <a:rPr lang="zh-CN" altLang="en-US" sz="1200" dirty="0">
                <a:solidFill>
                  <a:schemeClr val="tx1">
                    <a:lumMod val="65000"/>
                    <a:lumOff val="35000"/>
                  </a:schemeClr>
                </a:solidFill>
                <a:latin typeface="微软雅黑" charset="-122"/>
                <a:ea typeface="微软雅黑" charset="-122"/>
              </a:rPr>
              <a:t>的生成过程，它为扩散模型提供一种额外的约束条件，引导</a:t>
            </a:r>
            <a:r>
              <a:rPr lang="en-US" altLang="zh-CN" sz="1200" dirty="0">
                <a:solidFill>
                  <a:schemeClr val="tx1">
                    <a:lumMod val="65000"/>
                    <a:lumOff val="35000"/>
                  </a:schemeClr>
                </a:solidFill>
                <a:latin typeface="微软雅黑" charset="-122"/>
                <a:ea typeface="微软雅黑" charset="-122"/>
              </a:rPr>
              <a:t>AIGC</a:t>
            </a:r>
            <a:r>
              <a:rPr lang="zh-CN" altLang="en-US" sz="1200" dirty="0">
                <a:solidFill>
                  <a:schemeClr val="tx1">
                    <a:lumMod val="65000"/>
                    <a:lumOff val="35000"/>
                  </a:schemeClr>
                </a:solidFill>
                <a:latin typeface="微软雅黑" charset="-122"/>
                <a:ea typeface="微软雅黑" charset="-122"/>
              </a:rPr>
              <a:t>大模型按照我们期望的构图、姿态或结构来生成图像，减少图像生成的随机性。</a:t>
            </a:r>
            <a:endParaRPr lang="zh-CN" altLang="en-US" sz="1200" dirty="0">
              <a:solidFill>
                <a:schemeClr val="tx1">
                  <a:lumMod val="65000"/>
                  <a:lumOff val="35000"/>
                </a:schemeClr>
              </a:solidFill>
              <a:latin typeface="微软雅黑" charset="-122"/>
              <a:ea typeface="微软雅黑" charset="-122"/>
            </a:endParaRPr>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dirty="0">
              <a:solidFill>
                <a:schemeClr val="tx1">
                  <a:lumMod val="65000"/>
                  <a:lumOff val="35000"/>
                </a:schemeClr>
              </a:solidFill>
              <a:latin typeface="微软雅黑" charset="-122"/>
              <a:ea typeface="微软雅黑" charset="-122"/>
            </a:endParaRPr>
          </a:p>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285750" indent="-285750">
              <a:lnSpc>
                <a:spcPct val="150000"/>
              </a:lnSpc>
              <a:buFont typeface="Arial" panose="020B0604020202090204" pitchFamily="34" charset="0"/>
              <a:buChar char="•"/>
            </a:pPr>
            <a:r>
              <a:rPr lang="zh-CN" altLang="en-US" b="0" i="0" dirty="0">
                <a:solidFill>
                  <a:srgbClr val="191B1F"/>
                </a:solidFill>
                <a:effectLst/>
                <a:latin typeface="-apple-system"/>
              </a:rPr>
              <a:t>在以</a:t>
            </a:r>
            <a:r>
              <a:rPr lang="en-US" altLang="zh-CN" b="0" i="0" dirty="0">
                <a:solidFill>
                  <a:srgbClr val="191B1F"/>
                </a:solidFill>
                <a:effectLst/>
                <a:latin typeface="-apple-system"/>
              </a:rPr>
              <a:t>Stable Diffusion</a:t>
            </a:r>
            <a:r>
              <a:rPr lang="zh-CN" altLang="en-US" b="0" i="0" dirty="0">
                <a:solidFill>
                  <a:srgbClr val="191B1F"/>
                </a:solidFill>
                <a:effectLst/>
                <a:latin typeface="-apple-system"/>
              </a:rPr>
              <a:t>和</a:t>
            </a:r>
            <a:r>
              <a:rPr lang="en-US" altLang="zh-CN" b="0" i="0" dirty="0">
                <a:solidFill>
                  <a:srgbClr val="191B1F"/>
                </a:solidFill>
                <a:effectLst/>
                <a:latin typeface="-apple-system"/>
              </a:rPr>
              <a:t>FLUX.1</a:t>
            </a:r>
            <a:r>
              <a:rPr lang="zh-CN" altLang="en-US" b="0" i="0" dirty="0">
                <a:solidFill>
                  <a:srgbClr val="191B1F"/>
                </a:solidFill>
                <a:effectLst/>
                <a:latin typeface="-apple-system"/>
              </a:rPr>
              <a:t>为核心的</a:t>
            </a:r>
            <a:r>
              <a:rPr lang="en-US" altLang="zh-CN" b="0" i="0" dirty="0">
                <a:solidFill>
                  <a:srgbClr val="191B1F"/>
                </a:solidFill>
                <a:effectLst/>
                <a:latin typeface="-apple-system"/>
              </a:rPr>
              <a:t>AIGC</a:t>
            </a:r>
            <a:r>
              <a:rPr lang="zh-CN" altLang="en-US" b="0" i="0" dirty="0">
                <a:solidFill>
                  <a:srgbClr val="191B1F"/>
                </a:solidFill>
                <a:effectLst/>
                <a:latin typeface="-apple-system"/>
              </a:rPr>
              <a:t>图像生成过程中，想要</a:t>
            </a:r>
            <a:r>
              <a:rPr lang="en-US" altLang="zh-CN" b="0" i="0" dirty="0">
                <a:solidFill>
                  <a:srgbClr val="191B1F"/>
                </a:solidFill>
                <a:effectLst/>
                <a:latin typeface="-apple-system"/>
              </a:rPr>
              <a:t>ControlNet</a:t>
            </a:r>
            <a:r>
              <a:rPr lang="zh-CN" altLang="en-US" b="0" i="0" dirty="0">
                <a:solidFill>
                  <a:srgbClr val="191B1F"/>
                </a:solidFill>
                <a:effectLst/>
                <a:latin typeface="-apple-system"/>
              </a:rPr>
              <a:t>起作用，首先我们需要输入一张参考图，通过</a:t>
            </a:r>
            <a:r>
              <a:rPr lang="zh-CN" altLang="en-US" b="1" i="0" dirty="0">
                <a:solidFill>
                  <a:srgbClr val="191B1F"/>
                </a:solidFill>
                <a:effectLst/>
                <a:latin typeface="-apple-system"/>
              </a:rPr>
              <a:t>预处理器 </a:t>
            </a:r>
            <a:r>
              <a:rPr lang="en-US" altLang="zh-CN" b="1" i="0" dirty="0">
                <a:solidFill>
                  <a:srgbClr val="191B1F"/>
                </a:solidFill>
                <a:effectLst/>
                <a:latin typeface="-apple-system"/>
              </a:rPr>
              <a:t>(Preprocessor)</a:t>
            </a:r>
            <a:r>
              <a:rPr lang="zh-CN" altLang="en-US" b="0" i="0" dirty="0">
                <a:solidFill>
                  <a:srgbClr val="191B1F"/>
                </a:solidFill>
                <a:effectLst/>
                <a:latin typeface="-apple-system"/>
              </a:rPr>
              <a:t>对输入参考图按一定的模式进行预处理，通常是使用传统的计算机视觉算法（如边缘检测、人体</a:t>
            </a:r>
            <a:r>
              <a:rPr lang="zh-CN" altLang="en-US" b="0" i="0" u="none" strike="noStrike" dirty="0">
                <a:solidFill>
                  <a:srgbClr val="09408E"/>
                </a:solidFill>
                <a:effectLst/>
                <a:latin typeface="-apple-system"/>
                <a:hlinkClick r:id="rId3"/>
              </a:rPr>
              <a:t>姿态估计</a:t>
            </a:r>
            <a:r>
              <a:rPr lang="zh-CN" altLang="en-US" b="0" i="0" dirty="0">
                <a:solidFill>
                  <a:srgbClr val="191B1F"/>
                </a:solidFill>
                <a:effectLst/>
                <a:latin typeface="-apple-system"/>
              </a:rPr>
              <a:t>、深度估计等）来从输入参考图中提取出纯粹的控制信息，也就是常说的</a:t>
            </a:r>
            <a:r>
              <a:rPr lang="zh-CN" altLang="en-US" b="1" i="0" dirty="0">
                <a:solidFill>
                  <a:srgbClr val="191B1F"/>
                </a:solidFill>
                <a:effectLst/>
                <a:latin typeface="-apple-system"/>
              </a:rPr>
              <a:t>条件图像</a:t>
            </a:r>
            <a:r>
              <a:rPr lang="en-US" altLang="zh-CN" b="1" i="0" dirty="0">
                <a:solidFill>
                  <a:srgbClr val="191B1F"/>
                </a:solidFill>
                <a:effectLst/>
                <a:latin typeface="-apple-system"/>
              </a:rPr>
              <a:t>(Conditioning Image)</a:t>
            </a:r>
            <a:r>
              <a:rPr lang="zh-CN" altLang="en-US" b="0" i="0" dirty="0">
                <a:solidFill>
                  <a:srgbClr val="191B1F"/>
                </a:solidFill>
                <a:effectLst/>
                <a:latin typeface="-apple-system"/>
              </a:rPr>
              <a:t>。接着条件图像信息通过</a:t>
            </a:r>
            <a:r>
              <a:rPr lang="en-US" altLang="zh-CN" b="0" i="0" dirty="0">
                <a:solidFill>
                  <a:srgbClr val="191B1F"/>
                </a:solidFill>
                <a:effectLst/>
                <a:latin typeface="-apple-system"/>
              </a:rPr>
              <a:t>ControlNet</a:t>
            </a:r>
            <a:r>
              <a:rPr lang="zh-CN" altLang="en-US" b="0" i="0" dirty="0">
                <a:solidFill>
                  <a:srgbClr val="191B1F"/>
                </a:solidFill>
                <a:effectLst/>
                <a:latin typeface="-apple-system"/>
              </a:rPr>
              <a:t>再注入到</a:t>
            </a:r>
            <a:r>
              <a:rPr lang="en-US" altLang="zh-CN" b="0" i="0" dirty="0">
                <a:solidFill>
                  <a:srgbClr val="191B1F"/>
                </a:solidFill>
                <a:effectLst/>
                <a:latin typeface="-apple-system"/>
              </a:rPr>
              <a:t>Stable Diffusion</a:t>
            </a:r>
            <a:r>
              <a:rPr lang="zh-CN" altLang="en-US" b="0" i="0" dirty="0">
                <a:solidFill>
                  <a:srgbClr val="191B1F"/>
                </a:solidFill>
                <a:effectLst/>
                <a:latin typeface="-apple-system"/>
              </a:rPr>
              <a:t>和</a:t>
            </a:r>
            <a:r>
              <a:rPr lang="en-US" altLang="zh-CN" b="0" i="0" dirty="0">
                <a:solidFill>
                  <a:srgbClr val="191B1F"/>
                </a:solidFill>
                <a:effectLst/>
                <a:latin typeface="-apple-system"/>
              </a:rPr>
              <a:t>FLUX.1</a:t>
            </a:r>
            <a:r>
              <a:rPr lang="zh-CN" altLang="en-US" b="0" i="0" dirty="0">
                <a:solidFill>
                  <a:srgbClr val="191B1F"/>
                </a:solidFill>
                <a:effectLst/>
                <a:latin typeface="-apple-system"/>
              </a:rPr>
              <a:t>中，再加上原本就直接注入到</a:t>
            </a:r>
            <a:r>
              <a:rPr lang="en-US" altLang="zh-CN" b="0" i="0" dirty="0">
                <a:solidFill>
                  <a:srgbClr val="191B1F"/>
                </a:solidFill>
                <a:effectLst/>
                <a:latin typeface="-apple-system"/>
              </a:rPr>
              <a:t>Stable Diffusion</a:t>
            </a:r>
            <a:r>
              <a:rPr lang="zh-CN" altLang="en-US" b="0" i="0" dirty="0">
                <a:solidFill>
                  <a:srgbClr val="191B1F"/>
                </a:solidFill>
                <a:effectLst/>
                <a:latin typeface="-apple-system"/>
              </a:rPr>
              <a:t>和</a:t>
            </a:r>
            <a:r>
              <a:rPr lang="en-US" altLang="zh-CN" b="0" i="0" dirty="0">
                <a:solidFill>
                  <a:srgbClr val="191B1F"/>
                </a:solidFill>
                <a:effectLst/>
                <a:latin typeface="-apple-system"/>
              </a:rPr>
              <a:t>FLUX.1</a:t>
            </a:r>
            <a:r>
              <a:rPr lang="zh-CN" altLang="en-US" b="0" i="0" dirty="0">
                <a:solidFill>
                  <a:srgbClr val="191B1F"/>
                </a:solidFill>
                <a:effectLst/>
                <a:latin typeface="-apple-system"/>
              </a:rPr>
              <a:t>中的文本信息和图像信息（可选，进行图生图任务），综合作用进行</a:t>
            </a:r>
            <a:r>
              <a:rPr lang="zh-CN" altLang="en-US" b="0" i="0" u="none" strike="noStrike" dirty="0">
                <a:solidFill>
                  <a:srgbClr val="09408E"/>
                </a:solidFill>
                <a:effectLst/>
                <a:latin typeface="-apple-system"/>
                <a:hlinkClick r:id="rId4"/>
              </a:rPr>
              <a:t>扩散过程</a:t>
            </a:r>
            <a:r>
              <a:rPr lang="zh-CN" altLang="en-US" b="0" i="0" dirty="0">
                <a:solidFill>
                  <a:srgbClr val="191B1F"/>
                </a:solidFill>
                <a:effectLst/>
                <a:latin typeface="-apple-system"/>
              </a:rPr>
              <a:t>，最终生成受条件信息控制的图像。</a:t>
            </a:r>
            <a:endParaRPr lang="en-US" altLang="zh-CN" sz="1200" dirty="0">
              <a:solidFill>
                <a:schemeClr val="tx1">
                  <a:lumMod val="65000"/>
                  <a:lumOff val="35000"/>
                </a:schemeClr>
              </a:solidFill>
              <a:latin typeface="微软雅黑" charset="-122"/>
              <a:ea typeface="微软雅黑" charset="-122"/>
            </a:endParaRPr>
          </a:p>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t>关于</a:t>
            </a:r>
            <a:r>
              <a:rPr lang="en-US" altLang="zh-CN" b="0" i="0" dirty="0">
                <a:solidFill>
                  <a:srgbClr val="191B1F"/>
                </a:solidFill>
                <a:effectLst/>
                <a:latin typeface="-apple-system"/>
              </a:rPr>
              <a:t>ControlNet</a:t>
            </a:r>
            <a:r>
              <a:rPr lang="zh-CN" altLang="en-US" b="0" i="0" dirty="0">
                <a:solidFill>
                  <a:srgbClr val="191B1F"/>
                </a:solidFill>
                <a:effectLst/>
                <a:latin typeface="-apple-system"/>
              </a:rPr>
              <a:t>的各个结构的原理。</a:t>
            </a:r>
            <a:r>
              <a:rPr lang="zh-CN" altLang="en-US" b="1" i="0" dirty="0">
                <a:solidFill>
                  <a:srgbClr val="191B1F"/>
                </a:solidFill>
                <a:effectLst/>
                <a:latin typeface="-apple-system"/>
              </a:rPr>
              <a:t>这里先从</a:t>
            </a:r>
            <a:r>
              <a:rPr lang="en-US" altLang="zh-CN" b="1" i="0" dirty="0">
                <a:solidFill>
                  <a:srgbClr val="191B1F"/>
                </a:solidFill>
                <a:effectLst/>
                <a:latin typeface="-apple-system"/>
              </a:rPr>
              <a:t>ControlNet</a:t>
            </a:r>
            <a:r>
              <a:rPr lang="zh-CN" altLang="en-US" b="1" i="0" dirty="0">
                <a:solidFill>
                  <a:srgbClr val="191B1F"/>
                </a:solidFill>
                <a:effectLst/>
                <a:latin typeface="-apple-system"/>
              </a:rPr>
              <a:t>模型的最小单元开始讲起</a:t>
            </a:r>
            <a:r>
              <a:rPr lang="zh-CN" altLang="en-US" b="0" i="0" dirty="0">
                <a:solidFill>
                  <a:srgbClr val="191B1F"/>
                </a:solidFill>
                <a:effectLst/>
                <a:latin typeface="-apple-system"/>
              </a:rPr>
              <a:t>，图上是</a:t>
            </a:r>
            <a:r>
              <a:rPr lang="en-US" altLang="zh-CN" b="0" i="0" dirty="0">
                <a:solidFill>
                  <a:srgbClr val="191B1F"/>
                </a:solidFill>
                <a:effectLst/>
                <a:latin typeface="-apple-system"/>
              </a:rPr>
              <a:t>ControlNet</a:t>
            </a:r>
            <a:r>
              <a:rPr lang="zh-CN" altLang="en-US" b="0" i="0" dirty="0">
                <a:solidFill>
                  <a:srgbClr val="191B1F"/>
                </a:solidFill>
                <a:effectLst/>
                <a:latin typeface="-apple-system"/>
              </a:rPr>
              <a:t>模型的最小单元，可以看到，</a:t>
            </a:r>
            <a:r>
              <a:rPr lang="zh-CN" altLang="en-US" b="1" i="0" dirty="0">
                <a:solidFill>
                  <a:srgbClr val="191B1F"/>
                </a:solidFill>
                <a:effectLst/>
                <a:latin typeface="-apple-system"/>
              </a:rPr>
              <a:t>在使用</a:t>
            </a:r>
            <a:r>
              <a:rPr lang="en-US" altLang="zh-CN" b="1" i="0" dirty="0">
                <a:solidFill>
                  <a:srgbClr val="191B1F"/>
                </a:solidFill>
                <a:effectLst/>
                <a:latin typeface="-apple-system"/>
              </a:rPr>
              <a:t>ControlNet</a:t>
            </a:r>
            <a:r>
              <a:rPr lang="zh-CN" altLang="en-US" b="1" i="0" dirty="0">
                <a:solidFill>
                  <a:srgbClr val="191B1F"/>
                </a:solidFill>
                <a:effectLst/>
                <a:latin typeface="-apple-system"/>
              </a:rPr>
              <a:t>模型之后，预训练模型的权重被复制出两个相同的部分，分别是“锁定”副本（</a:t>
            </a:r>
            <a:r>
              <a:rPr lang="en-US" altLang="zh-CN" b="1" i="0" dirty="0">
                <a:solidFill>
                  <a:srgbClr val="191B1F"/>
                </a:solidFill>
                <a:effectLst/>
                <a:latin typeface="-apple-system"/>
              </a:rPr>
              <a:t>locked</a:t>
            </a:r>
            <a:r>
              <a:rPr lang="zh-CN" altLang="en-US" b="1" i="0" dirty="0">
                <a:solidFill>
                  <a:srgbClr val="191B1F"/>
                </a:solidFill>
                <a:effectLst/>
                <a:latin typeface="-apple-system"/>
              </a:rPr>
              <a:t>）权重和“可训练”副本（</a:t>
            </a:r>
            <a:r>
              <a:rPr lang="en-US" altLang="zh-CN" b="1" i="0" dirty="0">
                <a:solidFill>
                  <a:srgbClr val="191B1F"/>
                </a:solidFill>
                <a:effectLst/>
                <a:latin typeface="-apple-system"/>
              </a:rPr>
              <a:t>trainable copy</a:t>
            </a:r>
            <a:r>
              <a:rPr lang="zh-CN" altLang="en-US" b="1" i="0" dirty="0">
                <a:solidFill>
                  <a:srgbClr val="191B1F"/>
                </a:solidFill>
                <a:effectLst/>
                <a:latin typeface="-apple-system"/>
              </a:rPr>
              <a:t>）权重</a:t>
            </a:r>
            <a:r>
              <a:rPr lang="zh-CN" altLang="en-US" b="0" i="0" dirty="0">
                <a:solidFill>
                  <a:srgbClr val="191B1F"/>
                </a:solidFill>
                <a:effectLst/>
                <a:latin typeface="-apple-system"/>
              </a:rPr>
              <a:t>。</a:t>
            </a:r>
            <a:r>
              <a:rPr lang="zh-CN" altLang="en-US" b="1" i="0" dirty="0">
                <a:solidFill>
                  <a:srgbClr val="191B1F"/>
                </a:solidFill>
                <a:effectLst/>
                <a:latin typeface="-apple-system"/>
              </a:rPr>
              <a:t>首先不管是训练阶段还是推理阶段，</a:t>
            </a:r>
            <a:r>
              <a:rPr lang="en-US" altLang="zh-CN" b="1" i="0" dirty="0">
                <a:solidFill>
                  <a:srgbClr val="191B1F"/>
                </a:solidFill>
                <a:effectLst/>
                <a:latin typeface="-apple-system"/>
              </a:rPr>
              <a:t>ControlNet</a:t>
            </a:r>
            <a:r>
              <a:rPr lang="zh-CN" altLang="en-US" b="1" i="0" dirty="0">
                <a:solidFill>
                  <a:srgbClr val="191B1F"/>
                </a:solidFill>
                <a:effectLst/>
                <a:latin typeface="-apple-system"/>
              </a:rPr>
              <a:t>都在“可训练”副本上输入控制条件 </a:t>
            </a:r>
            <a:r>
              <a:rPr lang="zh-CN" altLang="en-US" b="0" i="0" dirty="0">
                <a:solidFill>
                  <a:srgbClr val="191B1F"/>
                </a:solidFill>
                <a:effectLst/>
                <a:latin typeface="-apple-system"/>
              </a:rPr>
              <a:t> ，然后将“可训练”副本输出结果和原来预训练模型的“锁定”副本输出结果</a:t>
            </a:r>
            <a:r>
              <a:rPr lang="zh-CN" altLang="en-US" b="1" i="0" dirty="0">
                <a:solidFill>
                  <a:srgbClr val="191B1F"/>
                </a:solidFill>
                <a:effectLst/>
                <a:latin typeface="-apple-system"/>
              </a:rPr>
              <a:t>相加（</a:t>
            </a:r>
            <a:r>
              <a:rPr lang="en-US" altLang="zh-CN" b="1" i="0" dirty="0">
                <a:solidFill>
                  <a:srgbClr val="191B1F"/>
                </a:solidFill>
                <a:effectLst/>
                <a:latin typeface="-apple-system"/>
              </a:rPr>
              <a:t>add</a:t>
            </a:r>
            <a:r>
              <a:rPr lang="zh-CN" altLang="en-US" b="1" i="0" dirty="0">
                <a:solidFill>
                  <a:srgbClr val="191B1F"/>
                </a:solidFill>
                <a:effectLst/>
                <a:latin typeface="-apple-system"/>
              </a:rPr>
              <a:t>）</a:t>
            </a:r>
            <a:r>
              <a:rPr lang="zh-CN" altLang="en-US" b="0" i="0" dirty="0">
                <a:solidFill>
                  <a:srgbClr val="191B1F"/>
                </a:solidFill>
                <a:effectLst/>
                <a:latin typeface="-apple-system"/>
              </a:rPr>
              <a:t>获得最终的输出结果。在训练阶段，</a:t>
            </a:r>
            <a:r>
              <a:rPr lang="zh-CN" altLang="en-US" b="1" i="0" dirty="0">
                <a:solidFill>
                  <a:srgbClr val="191B1F"/>
                </a:solidFill>
                <a:effectLst/>
                <a:latin typeface="-apple-system"/>
              </a:rPr>
              <a:t>其中“锁定”副本中冻结参数，权重保持不变，保留了预训练模型原本的能力</a:t>
            </a:r>
            <a:r>
              <a:rPr lang="zh-CN" altLang="en-US" b="0" i="0" dirty="0">
                <a:solidFill>
                  <a:srgbClr val="191B1F"/>
                </a:solidFill>
                <a:effectLst/>
                <a:latin typeface="-apple-system"/>
              </a:rPr>
              <a:t>；与此同时，</a:t>
            </a:r>
            <a:r>
              <a:rPr lang="zh-CN" altLang="en-US" b="1" i="0" dirty="0">
                <a:solidFill>
                  <a:srgbClr val="191B1F"/>
                </a:solidFill>
                <a:effectLst/>
                <a:latin typeface="-apple-system"/>
              </a:rPr>
              <a:t>使用新数据对“可训练”副本进行微调训练，学习数据中的控制条件信息</a:t>
            </a:r>
            <a:r>
              <a:rPr lang="zh-CN" altLang="en-US" b="0" i="0" dirty="0">
                <a:solidFill>
                  <a:srgbClr val="191B1F"/>
                </a:solidFill>
                <a:effectLst/>
                <a:latin typeface="-apple-system"/>
              </a:rPr>
              <a:t>。因为有预训练模型作为预训练权重，</a:t>
            </a:r>
            <a:r>
              <a:rPr lang="zh-CN" altLang="en-US" b="1" i="0" dirty="0">
                <a:solidFill>
                  <a:srgbClr val="191B1F"/>
                </a:solidFill>
                <a:effectLst/>
                <a:latin typeface="-apple-system"/>
              </a:rPr>
              <a:t>复制“可训练”副本而不是直接训练原始权重还能避免数据集较小时的</a:t>
            </a:r>
            <a:r>
              <a:rPr lang="zh-CN" altLang="en-US" b="1" i="0" u="none" strike="noStrike" dirty="0">
                <a:solidFill>
                  <a:srgbClr val="09408E"/>
                </a:solidFill>
                <a:effectLst/>
                <a:latin typeface="-apple-system"/>
                <a:hlinkClick r:id="rId3"/>
              </a:rPr>
              <a:t>过拟合</a:t>
            </a:r>
            <a:r>
              <a:rPr lang="zh-CN" altLang="en-US" b="0" i="0" dirty="0">
                <a:solidFill>
                  <a:srgbClr val="191B1F"/>
                </a:solidFill>
                <a:effectLst/>
                <a:latin typeface="-apple-system"/>
              </a:rPr>
              <a:t>，所以使用常规规模数据集（几</a:t>
            </a:r>
            <a:r>
              <a:rPr lang="en-US" altLang="zh-CN" b="0" i="0" dirty="0">
                <a:solidFill>
                  <a:srgbClr val="191B1F"/>
                </a:solidFill>
                <a:effectLst/>
                <a:latin typeface="-apple-system"/>
              </a:rPr>
              <a:t>K-</a:t>
            </a:r>
            <a:r>
              <a:rPr lang="zh-CN" altLang="en-US" b="0" i="0" dirty="0">
                <a:solidFill>
                  <a:srgbClr val="191B1F"/>
                </a:solidFill>
                <a:effectLst/>
                <a:latin typeface="-apple-system"/>
              </a:rPr>
              <a:t>几</a:t>
            </a:r>
            <a:r>
              <a:rPr lang="en-US" altLang="zh-CN" b="0" i="0" dirty="0">
                <a:solidFill>
                  <a:srgbClr val="191B1F"/>
                </a:solidFill>
                <a:effectLst/>
                <a:latin typeface="-apple-system"/>
              </a:rPr>
              <a:t>M</a:t>
            </a:r>
            <a:r>
              <a:rPr lang="zh-CN" altLang="en-US" b="0" i="0" dirty="0">
                <a:solidFill>
                  <a:srgbClr val="191B1F"/>
                </a:solidFill>
                <a:effectLst/>
                <a:latin typeface="-apple-system"/>
              </a:rPr>
              <a:t>级别）就能对控制条件进行学习训练，同时不会破坏预训练模型原本的能力（从数十亿张图像中学习到的大型模型的能力）。</a:t>
            </a:r>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b="1" i="0" dirty="0">
                <a:solidFill>
                  <a:srgbClr val="191B1F"/>
                </a:solidFill>
                <a:effectLst/>
                <a:latin typeface="-apple-system"/>
              </a:rPr>
              <a:t>此外，</a:t>
            </a:r>
            <a:r>
              <a:rPr lang="en-US" altLang="zh-CN" b="1" i="0" dirty="0">
                <a:solidFill>
                  <a:srgbClr val="191B1F"/>
                </a:solidFill>
                <a:effectLst/>
                <a:latin typeface="-apple-system"/>
              </a:rPr>
              <a:t>ControlNet</a:t>
            </a:r>
            <a:r>
              <a:rPr lang="zh-CN" altLang="en-US" b="1" i="0" dirty="0">
                <a:solidFill>
                  <a:srgbClr val="191B1F"/>
                </a:solidFill>
                <a:effectLst/>
                <a:latin typeface="-apple-system"/>
              </a:rPr>
              <a:t>模型的最小单元结构中有两个</a:t>
            </a:r>
            <a:r>
              <a:rPr lang="en-US" altLang="zh-CN" b="1" i="0" dirty="0">
                <a:solidFill>
                  <a:srgbClr val="191B1F"/>
                </a:solidFill>
                <a:effectLst/>
                <a:latin typeface="-apple-system"/>
              </a:rPr>
              <a:t>zero convolution</a:t>
            </a:r>
            <a:r>
              <a:rPr lang="zh-CN" altLang="en-US" b="1" i="0" dirty="0">
                <a:solidFill>
                  <a:srgbClr val="191B1F"/>
                </a:solidFill>
                <a:effectLst/>
                <a:latin typeface="-apple-system"/>
              </a:rPr>
              <a:t>模块，它们是</a:t>
            </a:r>
            <a:r>
              <a:rPr lang="en-US" altLang="zh-CN" b="1" i="0" dirty="0">
                <a:solidFill>
                  <a:srgbClr val="191B1F"/>
                </a:solidFill>
                <a:effectLst/>
                <a:latin typeface="-apple-system"/>
              </a:rPr>
              <a:t>1×1</a:t>
            </a:r>
            <a:r>
              <a:rPr lang="zh-CN" altLang="en-US" b="1" i="0" dirty="0">
                <a:solidFill>
                  <a:srgbClr val="191B1F"/>
                </a:solidFill>
                <a:effectLst/>
                <a:latin typeface="-apple-system"/>
              </a:rPr>
              <a:t>卷积，并且在微调训练时权重和偏置都初始化为零（</a:t>
            </a:r>
            <a:r>
              <a:rPr lang="en-US" altLang="zh-CN" b="1" i="0" dirty="0">
                <a:solidFill>
                  <a:srgbClr val="191B1F"/>
                </a:solidFill>
                <a:effectLst/>
                <a:latin typeface="-apple-system"/>
              </a:rPr>
              <a:t>zero</a:t>
            </a:r>
            <a:r>
              <a:rPr lang="zh-CN" altLang="en-US" b="1" i="0" dirty="0">
                <a:solidFill>
                  <a:srgbClr val="191B1F"/>
                </a:solidFill>
                <a:effectLst/>
                <a:latin typeface="-apple-system"/>
              </a:rPr>
              <a:t>初始化）</a:t>
            </a:r>
            <a:r>
              <a:rPr lang="zh-CN" altLang="en-US" b="0" i="0" dirty="0">
                <a:solidFill>
                  <a:srgbClr val="191B1F"/>
                </a:solidFill>
                <a:effectLst/>
                <a:latin typeface="-apple-system"/>
              </a:rPr>
              <a:t>。这样一来，在我们开始训练</a:t>
            </a:r>
            <a:r>
              <a:rPr lang="en-US" altLang="zh-CN" b="0" i="0" dirty="0">
                <a:solidFill>
                  <a:srgbClr val="191B1F"/>
                </a:solidFill>
                <a:effectLst/>
                <a:latin typeface="-apple-system"/>
              </a:rPr>
              <a:t>ControlNet</a:t>
            </a:r>
            <a:r>
              <a:rPr lang="zh-CN" altLang="en-US" b="0" i="0" dirty="0">
                <a:solidFill>
                  <a:srgbClr val="191B1F"/>
                </a:solidFill>
                <a:effectLst/>
                <a:latin typeface="-apple-system"/>
              </a:rPr>
              <a:t>之前，所有</a:t>
            </a:r>
            <a:r>
              <a:rPr lang="en-US" altLang="zh-CN" b="0" i="0" dirty="0">
                <a:solidFill>
                  <a:srgbClr val="191B1F"/>
                </a:solidFill>
                <a:effectLst/>
                <a:latin typeface="-apple-system"/>
              </a:rPr>
              <a:t>zero convolution</a:t>
            </a:r>
            <a:r>
              <a:rPr lang="zh-CN" altLang="en-US" b="0" i="0" dirty="0">
                <a:solidFill>
                  <a:srgbClr val="191B1F"/>
                </a:solidFill>
                <a:effectLst/>
                <a:latin typeface="-apple-system"/>
              </a:rPr>
              <a:t>模块的输出都为零，使得</a:t>
            </a:r>
            <a:r>
              <a:rPr lang="en-US" altLang="zh-CN" b="0" i="0" dirty="0">
                <a:solidFill>
                  <a:srgbClr val="191B1F"/>
                </a:solidFill>
                <a:effectLst/>
                <a:latin typeface="-apple-system"/>
              </a:rPr>
              <a:t>ControlNet</a:t>
            </a:r>
            <a:r>
              <a:rPr lang="zh-CN" altLang="en-US" b="0" i="0" dirty="0">
                <a:solidFill>
                  <a:srgbClr val="191B1F"/>
                </a:solidFill>
                <a:effectLst/>
                <a:latin typeface="-apple-system"/>
              </a:rPr>
              <a:t>完完全全就在原有</a:t>
            </a:r>
            <a:r>
              <a:rPr lang="en-US" altLang="zh-CN" b="0" i="0" dirty="0">
                <a:solidFill>
                  <a:srgbClr val="191B1F"/>
                </a:solidFill>
                <a:effectLst/>
                <a:latin typeface="-apple-system"/>
              </a:rPr>
              <a:t>Stable Diffusion/FLUX.1</a:t>
            </a:r>
            <a:r>
              <a:rPr lang="zh-CN" altLang="en-US" b="0" i="0" dirty="0">
                <a:solidFill>
                  <a:srgbClr val="191B1F"/>
                </a:solidFill>
                <a:effectLst/>
                <a:latin typeface="-apple-system"/>
              </a:rPr>
              <a:t>底模型的能力上进行微调训练，这样可以尽量避免训练加入的初始噪声对</a:t>
            </a:r>
            <a:r>
              <a:rPr lang="en-US" altLang="zh-CN" b="0" i="0" dirty="0">
                <a:solidFill>
                  <a:srgbClr val="191B1F"/>
                </a:solidFill>
                <a:effectLst/>
                <a:latin typeface="-apple-system"/>
              </a:rPr>
              <a:t>ControlNet“</a:t>
            </a:r>
            <a:r>
              <a:rPr lang="zh-CN" altLang="en-US" b="0" i="0" dirty="0">
                <a:solidFill>
                  <a:srgbClr val="191B1F"/>
                </a:solidFill>
                <a:effectLst/>
                <a:latin typeface="-apple-system"/>
              </a:rPr>
              <a:t>可训练”副本权重的破坏，保证了不会产生大的能力偏差。</a:t>
            </a:r>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b="0" i="0" dirty="0">
                <a:solidFill>
                  <a:srgbClr val="191B1F"/>
                </a:solidFill>
                <a:effectLst/>
                <a:latin typeface="-apple-system"/>
              </a:rPr>
              <a:t>这里可能会有一个疑惑，如果</a:t>
            </a:r>
            <a:r>
              <a:rPr lang="en-US" altLang="zh-CN" b="0" i="0" dirty="0">
                <a:solidFill>
                  <a:srgbClr val="191B1F"/>
                </a:solidFill>
                <a:effectLst/>
                <a:latin typeface="-apple-system"/>
              </a:rPr>
              <a:t>zero convolution</a:t>
            </a:r>
            <a:r>
              <a:rPr lang="zh-CN" altLang="en-US" b="0" i="0" dirty="0">
                <a:solidFill>
                  <a:srgbClr val="191B1F"/>
                </a:solidFill>
                <a:effectLst/>
                <a:latin typeface="-apple-system"/>
              </a:rPr>
              <a:t>模块的初始权重为零，那么梯度也为零，</a:t>
            </a:r>
            <a:r>
              <a:rPr lang="en-US" altLang="zh-CN" b="0" i="0" dirty="0">
                <a:solidFill>
                  <a:srgbClr val="191B1F"/>
                </a:solidFill>
                <a:effectLst/>
                <a:latin typeface="-apple-system"/>
              </a:rPr>
              <a:t>ControlNet</a:t>
            </a:r>
            <a:r>
              <a:rPr lang="zh-CN" altLang="en-US" b="0" i="0" dirty="0">
                <a:solidFill>
                  <a:srgbClr val="191B1F"/>
                </a:solidFill>
                <a:effectLst/>
                <a:latin typeface="-apple-system"/>
              </a:rPr>
              <a:t>模型将不会学到任何东西。</a:t>
            </a:r>
            <a:r>
              <a:rPr lang="zh-CN" altLang="en-US" b="1" i="0" dirty="0">
                <a:solidFill>
                  <a:srgbClr val="191B1F"/>
                </a:solidFill>
                <a:effectLst/>
                <a:latin typeface="-apple-system"/>
              </a:rPr>
              <a:t>那么为什么“</a:t>
            </a:r>
            <a:r>
              <a:rPr lang="en-US" altLang="zh-CN" b="1" i="0" dirty="0">
                <a:solidFill>
                  <a:srgbClr val="191B1F"/>
                </a:solidFill>
                <a:effectLst/>
                <a:latin typeface="-apple-system"/>
              </a:rPr>
              <a:t>zero convolution</a:t>
            </a:r>
            <a:r>
              <a:rPr lang="zh-CN" altLang="en-US" b="1" i="0" dirty="0">
                <a:solidFill>
                  <a:srgbClr val="191B1F"/>
                </a:solidFill>
                <a:effectLst/>
                <a:latin typeface="-apple-system"/>
              </a:rPr>
              <a:t>模块”有效呢？</a:t>
            </a:r>
            <a:r>
              <a:rPr lang="zh-CN" altLang="en-US" b="0" i="0" dirty="0">
                <a:solidFill>
                  <a:srgbClr val="191B1F"/>
                </a:solidFill>
                <a:effectLst/>
                <a:latin typeface="-apple-system"/>
              </a:rPr>
              <a:t>可以假设</a:t>
            </a:r>
            <a:r>
              <a:rPr lang="en-US" altLang="zh-CN" b="0" i="0" dirty="0">
                <a:solidFill>
                  <a:srgbClr val="191B1F"/>
                </a:solidFill>
                <a:effectLst/>
                <a:latin typeface="-apple-system"/>
              </a:rPr>
              <a:t>ControlNet</a:t>
            </a:r>
            <a:r>
              <a:rPr lang="zh-CN" altLang="en-US" b="0" i="0" dirty="0">
                <a:solidFill>
                  <a:srgbClr val="191B1F"/>
                </a:solidFill>
                <a:effectLst/>
                <a:latin typeface="-apple-system"/>
              </a:rPr>
              <a:t>的初始权重为：</a:t>
            </a:r>
            <a:r>
              <a:rPr lang="en-US" altLang="zh-CN" b="0" i="0" dirty="0">
                <a:solidFill>
                  <a:srgbClr val="191B1F"/>
                </a:solidFill>
                <a:effectLst/>
                <a:latin typeface="-apple-system"/>
              </a:rPr>
              <a:t>y=</a:t>
            </a:r>
            <a:r>
              <a:rPr lang="en-US" altLang="zh-CN" b="0" i="0" dirty="0" err="1">
                <a:solidFill>
                  <a:srgbClr val="191B1F"/>
                </a:solidFill>
                <a:effectLst/>
                <a:latin typeface="-apple-system"/>
              </a:rPr>
              <a:t>wx+b</a:t>
            </a:r>
            <a:r>
              <a:rPr lang="zh-CN" altLang="en-US" b="0" i="0" dirty="0">
                <a:solidFill>
                  <a:srgbClr val="191B1F"/>
                </a:solidFill>
                <a:effectLst/>
                <a:latin typeface="-apple-system"/>
              </a:rPr>
              <a:t>，然后我们就可以得到对应的梯度求导，如果此时</a:t>
            </a:r>
            <a:r>
              <a:rPr lang="en-US" altLang="zh-CN" b="0" i="0" dirty="0">
                <a:solidFill>
                  <a:srgbClr val="191B1F"/>
                </a:solidFill>
                <a:effectLst/>
                <a:latin typeface="-apple-system"/>
              </a:rPr>
              <a:t>w=0</a:t>
            </a:r>
            <a:r>
              <a:rPr lang="zh-CN" altLang="en-US" b="0" i="0" dirty="0">
                <a:solidFill>
                  <a:srgbClr val="191B1F"/>
                </a:solidFill>
                <a:effectLst/>
                <a:latin typeface="-apple-system"/>
              </a:rPr>
              <a:t> 并且</a:t>
            </a:r>
            <a:r>
              <a:rPr lang="en-US" altLang="zh-CN" b="0" i="0" dirty="0">
                <a:solidFill>
                  <a:srgbClr val="191B1F"/>
                </a:solidFill>
                <a:effectLst/>
                <a:latin typeface="-apple-system"/>
              </a:rPr>
              <a:t>x</a:t>
            </a:r>
            <a:r>
              <a:rPr lang="zh-CN" altLang="en-US" b="0" i="0" dirty="0">
                <a:solidFill>
                  <a:srgbClr val="191B1F"/>
                </a:solidFill>
                <a:effectLst/>
                <a:latin typeface="-apple-system"/>
              </a:rPr>
              <a:t>不等于</a:t>
            </a:r>
            <a:r>
              <a:rPr lang="en-US" altLang="zh-CN" b="0" i="0" dirty="0">
                <a:solidFill>
                  <a:srgbClr val="191B1F"/>
                </a:solidFill>
                <a:effectLst/>
                <a:latin typeface="-apple-system"/>
              </a:rPr>
              <a:t>0, </a:t>
            </a:r>
            <a:r>
              <a:rPr lang="zh-CN" altLang="en-US" b="0" i="0" dirty="0">
                <a:solidFill>
                  <a:srgbClr val="191B1F"/>
                </a:solidFill>
                <a:effectLst/>
                <a:latin typeface="-apple-system"/>
              </a:rPr>
              <a:t>然后我们就可以得到：</a:t>
            </a:r>
            <a:r>
              <a:rPr lang="en-US" altLang="zh-CN" b="0" i="0" dirty="0">
                <a:solidFill>
                  <a:srgbClr val="191B1F"/>
                </a:solidFill>
                <a:effectLst/>
                <a:latin typeface="-apple-system"/>
              </a:rPr>
              <a:t>y</a:t>
            </a:r>
            <a:r>
              <a:rPr lang="zh-CN" altLang="en-US" b="0" i="0" dirty="0">
                <a:solidFill>
                  <a:srgbClr val="191B1F"/>
                </a:solidFill>
                <a:effectLst/>
                <a:latin typeface="-apple-system"/>
              </a:rPr>
              <a:t>对</a:t>
            </a:r>
            <a:r>
              <a:rPr lang="en-US" altLang="zh-CN" b="0" i="0" dirty="0">
                <a:solidFill>
                  <a:srgbClr val="191B1F"/>
                </a:solidFill>
                <a:effectLst/>
                <a:latin typeface="-apple-system"/>
              </a:rPr>
              <a:t>w</a:t>
            </a:r>
            <a:r>
              <a:rPr lang="zh-CN" altLang="en-US" b="0" i="0" dirty="0">
                <a:solidFill>
                  <a:srgbClr val="191B1F"/>
                </a:solidFill>
                <a:effectLst/>
                <a:latin typeface="-apple-system"/>
              </a:rPr>
              <a:t>的偏导不等于</a:t>
            </a:r>
            <a:r>
              <a:rPr lang="en-US" altLang="zh-CN" b="0" i="0" dirty="0">
                <a:solidFill>
                  <a:srgbClr val="191B1F"/>
                </a:solidFill>
                <a:effectLst/>
                <a:latin typeface="-apple-system"/>
              </a:rPr>
              <a:t>0</a:t>
            </a:r>
            <a:r>
              <a:rPr lang="zh-CN" altLang="en-US" b="0" i="0" dirty="0">
                <a:solidFill>
                  <a:srgbClr val="191B1F"/>
                </a:solidFill>
                <a:effectLst/>
                <a:latin typeface="-apple-system"/>
              </a:rPr>
              <a:t>，</a:t>
            </a:r>
            <a:r>
              <a:rPr lang="en-US" altLang="zh-CN" b="0" i="0" dirty="0">
                <a:solidFill>
                  <a:srgbClr val="191B1F"/>
                </a:solidFill>
                <a:effectLst/>
                <a:latin typeface="-apple-system"/>
              </a:rPr>
              <a:t>y</a:t>
            </a:r>
            <a:r>
              <a:rPr lang="zh-CN" altLang="en-US" b="0" i="0" dirty="0">
                <a:solidFill>
                  <a:srgbClr val="191B1F"/>
                </a:solidFill>
                <a:effectLst/>
                <a:latin typeface="-apple-system"/>
              </a:rPr>
              <a:t>对</a:t>
            </a:r>
            <a:r>
              <a:rPr lang="en-US" altLang="zh-CN" b="0" i="0" dirty="0">
                <a:solidFill>
                  <a:srgbClr val="191B1F"/>
                </a:solidFill>
                <a:effectLst/>
                <a:latin typeface="-apple-system"/>
              </a:rPr>
              <a:t>x</a:t>
            </a:r>
            <a:r>
              <a:rPr lang="zh-CN" altLang="en-US" b="0" i="0" dirty="0">
                <a:solidFill>
                  <a:srgbClr val="191B1F"/>
                </a:solidFill>
                <a:effectLst/>
                <a:latin typeface="-apple-system"/>
              </a:rPr>
              <a:t>的偏导等于</a:t>
            </a:r>
            <a:r>
              <a:rPr lang="en-US" altLang="zh-CN" b="0" i="0" dirty="0">
                <a:solidFill>
                  <a:srgbClr val="191B1F"/>
                </a:solidFill>
                <a:effectLst/>
                <a:latin typeface="-apple-system"/>
              </a:rPr>
              <a:t>0</a:t>
            </a:r>
            <a:r>
              <a:rPr lang="zh-CN" altLang="en-US" b="0" i="0" dirty="0">
                <a:solidFill>
                  <a:srgbClr val="191B1F"/>
                </a:solidFill>
                <a:effectLst/>
                <a:latin typeface="-apple-system"/>
              </a:rPr>
              <a:t>，</a:t>
            </a:r>
            <a:r>
              <a:rPr lang="en-US" altLang="zh-CN" b="0" i="0" dirty="0">
                <a:solidFill>
                  <a:srgbClr val="191B1F"/>
                </a:solidFill>
                <a:effectLst/>
                <a:latin typeface="-apple-system"/>
              </a:rPr>
              <a:t>y</a:t>
            </a:r>
            <a:r>
              <a:rPr lang="zh-CN" altLang="en-US" b="0" i="0" dirty="0">
                <a:solidFill>
                  <a:srgbClr val="191B1F"/>
                </a:solidFill>
                <a:effectLst/>
                <a:latin typeface="-apple-system"/>
              </a:rPr>
              <a:t>对</a:t>
            </a:r>
            <a:r>
              <a:rPr lang="en-US" altLang="zh-CN" b="0" i="0" dirty="0">
                <a:solidFill>
                  <a:srgbClr val="191B1F"/>
                </a:solidFill>
                <a:effectLst/>
                <a:latin typeface="-apple-system"/>
              </a:rPr>
              <a:t>b</a:t>
            </a:r>
            <a:r>
              <a:rPr lang="zh-CN" altLang="en-US" b="0" i="0" dirty="0">
                <a:solidFill>
                  <a:srgbClr val="191B1F"/>
                </a:solidFill>
                <a:effectLst/>
                <a:latin typeface="-apple-system"/>
              </a:rPr>
              <a:t>的偏导不等于</a:t>
            </a:r>
            <a:r>
              <a:rPr lang="en-US" altLang="zh-CN" b="0" i="0" dirty="0">
                <a:solidFill>
                  <a:srgbClr val="191B1F"/>
                </a:solidFill>
                <a:effectLst/>
                <a:latin typeface="-apple-system"/>
              </a:rPr>
              <a:t>0</a:t>
            </a:r>
            <a:r>
              <a:rPr lang="zh-CN" altLang="en-US" b="0" i="0" dirty="0">
                <a:solidFill>
                  <a:srgbClr val="191B1F"/>
                </a:solidFill>
                <a:effectLst/>
                <a:latin typeface="-apple-system"/>
              </a:rPr>
              <a:t>；经过一次梯度下降后，只要</a:t>
            </a:r>
            <a:r>
              <a:rPr lang="en-US" altLang="zh-CN" b="0" i="0" dirty="0">
                <a:solidFill>
                  <a:srgbClr val="191B1F"/>
                </a:solidFill>
                <a:effectLst/>
                <a:latin typeface="-apple-system"/>
              </a:rPr>
              <a:t>x</a:t>
            </a:r>
            <a:r>
              <a:rPr lang="zh-CN" altLang="en-US" b="0" i="0" dirty="0">
                <a:solidFill>
                  <a:srgbClr val="191B1F"/>
                </a:solidFill>
                <a:effectLst/>
                <a:latin typeface="-apple-system"/>
              </a:rPr>
              <a:t>不等于</a:t>
            </a:r>
            <a:r>
              <a:rPr lang="en-US" altLang="zh-CN" b="0" i="0" dirty="0">
                <a:solidFill>
                  <a:srgbClr val="191B1F"/>
                </a:solidFill>
                <a:effectLst/>
                <a:latin typeface="-apple-system"/>
              </a:rPr>
              <a:t>0</a:t>
            </a:r>
            <a:r>
              <a:rPr lang="zh-CN" altLang="en-US" b="0" i="0" dirty="0">
                <a:solidFill>
                  <a:srgbClr val="191B1F"/>
                </a:solidFill>
                <a:effectLst/>
                <a:latin typeface="-apple-system"/>
              </a:rPr>
              <a:t>，那么将使 </a:t>
            </a:r>
            <a:r>
              <a:rPr lang="en-US" altLang="zh-CN" b="0" i="0" dirty="0">
                <a:solidFill>
                  <a:srgbClr val="191B1F"/>
                </a:solidFill>
                <a:effectLst/>
                <a:latin typeface="-apple-system"/>
              </a:rPr>
              <a:t>w</a:t>
            </a:r>
            <a:r>
              <a:rPr lang="zh-CN" altLang="en-US" b="0" i="0" dirty="0">
                <a:solidFill>
                  <a:srgbClr val="191B1F"/>
                </a:solidFill>
                <a:effectLst/>
                <a:latin typeface="-apple-system"/>
              </a:rPr>
              <a:t>变成非零值，</a:t>
            </a:r>
            <a:r>
              <a:rPr lang="zh-CN" altLang="en-US" b="1" i="0" dirty="0">
                <a:solidFill>
                  <a:srgbClr val="191B1F"/>
                </a:solidFill>
                <a:effectLst/>
                <a:latin typeface="-apple-system"/>
              </a:rPr>
              <a:t>这样就能让</a:t>
            </a:r>
            <a:r>
              <a:rPr lang="en-US" altLang="zh-CN" b="1" i="0" dirty="0">
                <a:solidFill>
                  <a:srgbClr val="191B1F"/>
                </a:solidFill>
                <a:effectLst/>
                <a:latin typeface="-apple-system"/>
              </a:rPr>
              <a:t>zero convolution</a:t>
            </a:r>
            <a:r>
              <a:rPr lang="zh-CN" altLang="en-US" b="1" i="0" dirty="0">
                <a:solidFill>
                  <a:srgbClr val="191B1F"/>
                </a:solidFill>
                <a:effectLst/>
                <a:latin typeface="-apple-system"/>
              </a:rPr>
              <a:t>模块逐渐成为具有非零权重的卷积层，并不断优化参数权重。</a:t>
            </a:r>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b="0" i="0" dirty="0">
                <a:solidFill>
                  <a:srgbClr val="191B1F"/>
                </a:solidFill>
                <a:effectLst/>
                <a:latin typeface="-apple-system"/>
              </a:rPr>
              <a:t>在理解了</a:t>
            </a:r>
            <a:r>
              <a:rPr lang="en-US" altLang="zh-CN" b="0" i="0" dirty="0">
                <a:solidFill>
                  <a:srgbClr val="191B1F"/>
                </a:solidFill>
                <a:effectLst/>
                <a:latin typeface="-apple-system"/>
              </a:rPr>
              <a:t>zero convolution</a:t>
            </a:r>
            <a:r>
              <a:rPr lang="zh-CN" altLang="en-US" b="0" i="0" dirty="0">
                <a:solidFill>
                  <a:srgbClr val="191B1F"/>
                </a:solidFill>
                <a:effectLst/>
                <a:latin typeface="-apple-system"/>
              </a:rPr>
              <a:t>模块的训练过程后，我们再对</a:t>
            </a:r>
            <a:r>
              <a:rPr lang="en-US" altLang="zh-CN" b="0" i="0" dirty="0">
                <a:solidFill>
                  <a:srgbClr val="191B1F"/>
                </a:solidFill>
                <a:effectLst/>
                <a:latin typeface="-apple-system"/>
              </a:rPr>
              <a:t>ControlNet</a:t>
            </a:r>
            <a:r>
              <a:rPr lang="zh-CN" altLang="en-US" b="0" i="0" dirty="0">
                <a:solidFill>
                  <a:srgbClr val="191B1F"/>
                </a:solidFill>
                <a:effectLst/>
                <a:latin typeface="-apple-system"/>
              </a:rPr>
              <a:t>整体训练过程进行拆解理解。在我们不使用</a:t>
            </a:r>
            <a:r>
              <a:rPr lang="en-US" altLang="zh-CN" b="0" i="0" dirty="0">
                <a:solidFill>
                  <a:srgbClr val="191B1F"/>
                </a:solidFill>
                <a:effectLst/>
                <a:latin typeface="-apple-system"/>
              </a:rPr>
              <a:t>ControlNet</a:t>
            </a:r>
            <a:r>
              <a:rPr lang="zh-CN" altLang="en-US" b="0" i="0" dirty="0">
                <a:solidFill>
                  <a:srgbClr val="191B1F"/>
                </a:solidFill>
                <a:effectLst/>
                <a:latin typeface="-apple-system"/>
              </a:rPr>
              <a:t>模型时，可以</a:t>
            </a:r>
            <a:r>
              <a:rPr lang="zh-CN" altLang="en-US" b="1" i="0" dirty="0">
                <a:solidFill>
                  <a:srgbClr val="191B1F"/>
                </a:solidFill>
                <a:effectLst/>
                <a:latin typeface="-apple-system"/>
              </a:rPr>
              <a:t>将</a:t>
            </a:r>
            <a:r>
              <a:rPr lang="en-US" altLang="zh-CN" b="1" i="0" dirty="0">
                <a:solidFill>
                  <a:srgbClr val="191B1F"/>
                </a:solidFill>
                <a:effectLst/>
                <a:latin typeface="-apple-system"/>
              </a:rPr>
              <a:t>Stable Diffusion</a:t>
            </a:r>
            <a:r>
              <a:rPr lang="zh-CN" altLang="en-US" b="1" i="0" dirty="0">
                <a:solidFill>
                  <a:srgbClr val="191B1F"/>
                </a:solidFill>
                <a:effectLst/>
                <a:latin typeface="-apple-system"/>
              </a:rPr>
              <a:t>等扩散模型的图像生成过程表达为图中公式</a:t>
            </a:r>
            <a:r>
              <a:rPr lang="en-US" altLang="zh-CN" b="1" i="0" dirty="0">
                <a:solidFill>
                  <a:srgbClr val="191B1F"/>
                </a:solidFill>
                <a:effectLst/>
                <a:latin typeface="-apple-system"/>
              </a:rPr>
              <a:t>1</a:t>
            </a:r>
            <a:r>
              <a:rPr lang="zh-CN" altLang="en-US" b="1" i="0" dirty="0">
                <a:solidFill>
                  <a:srgbClr val="191B1F"/>
                </a:solidFill>
                <a:effectLst/>
                <a:latin typeface="-apple-system"/>
              </a:rPr>
              <a:t>所示</a:t>
            </a:r>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b="0" i="0" dirty="0">
                <a:solidFill>
                  <a:srgbClr val="191B1F"/>
                </a:solidFill>
                <a:effectLst/>
                <a:latin typeface="-apple-system"/>
              </a:rPr>
              <a:t>接着，我们在此基础上假设将训练的所有参数锁定在</a:t>
            </a:r>
            <a:r>
              <a:rPr lang="en-US" altLang="zh-CN" b="0" i="0" dirty="0">
                <a:solidFill>
                  <a:srgbClr val="191B1F"/>
                </a:solidFill>
                <a:effectLst/>
                <a:latin typeface="-apple-system"/>
              </a:rPr>
              <a:t>Θ</a:t>
            </a:r>
            <a:r>
              <a:rPr lang="zh-CN" altLang="en-US" b="0" i="0" dirty="0">
                <a:solidFill>
                  <a:srgbClr val="191B1F"/>
                </a:solidFill>
                <a:effectLst/>
                <a:latin typeface="-apple-system"/>
              </a:rPr>
              <a:t>中，然后将其复制为可训练的副本</a:t>
            </a:r>
            <a:r>
              <a:rPr lang="en-US" altLang="zh-CN" b="0" i="0" dirty="0" err="1">
                <a:solidFill>
                  <a:srgbClr val="191B1F"/>
                </a:solidFill>
                <a:effectLst/>
                <a:latin typeface="-apple-system"/>
              </a:rPr>
              <a:t>Θc</a:t>
            </a:r>
            <a:r>
              <a:rPr lang="zh-CN" altLang="en-US" b="0" i="0" dirty="0">
                <a:solidFill>
                  <a:srgbClr val="191B1F"/>
                </a:solidFill>
                <a:effectLst/>
                <a:latin typeface="-apple-system"/>
              </a:rPr>
              <a:t>  。复制的</a:t>
            </a:r>
            <a:r>
              <a:rPr lang="en-US" altLang="zh-CN" b="0" i="0" dirty="0" err="1">
                <a:solidFill>
                  <a:srgbClr val="191B1F"/>
                </a:solidFill>
                <a:effectLst/>
                <a:latin typeface="-apple-system"/>
              </a:rPr>
              <a:t>Θc</a:t>
            </a:r>
            <a:r>
              <a:rPr lang="zh-CN" altLang="en-US" b="0" i="0" dirty="0">
                <a:solidFill>
                  <a:srgbClr val="191B1F"/>
                </a:solidFill>
                <a:effectLst/>
                <a:latin typeface="-apple-system"/>
              </a:rPr>
              <a:t>使用额外控制条件信息</a:t>
            </a:r>
            <a:r>
              <a:rPr lang="en-US" altLang="zh-CN" b="0" i="0" dirty="0">
                <a:solidFill>
                  <a:srgbClr val="191B1F"/>
                </a:solidFill>
                <a:effectLst/>
                <a:latin typeface="-apple-system"/>
              </a:rPr>
              <a:t>c</a:t>
            </a:r>
            <a:r>
              <a:rPr lang="zh-CN" altLang="en-US" b="0" i="0" dirty="0">
                <a:solidFill>
                  <a:srgbClr val="191B1F"/>
                </a:solidFill>
                <a:effectLst/>
                <a:latin typeface="-apple-system"/>
              </a:rPr>
              <a:t>进行训练。因此在使用</a:t>
            </a:r>
            <a:r>
              <a:rPr lang="en-US" altLang="zh-CN" b="0" i="0" dirty="0">
                <a:solidFill>
                  <a:srgbClr val="191B1F"/>
                </a:solidFill>
                <a:effectLst/>
                <a:latin typeface="-apple-system"/>
              </a:rPr>
              <a:t>ControlNet</a:t>
            </a:r>
            <a:r>
              <a:rPr lang="zh-CN" altLang="en-US" b="0" i="0" dirty="0">
                <a:solidFill>
                  <a:srgbClr val="191B1F"/>
                </a:solidFill>
                <a:effectLst/>
                <a:latin typeface="-apple-system"/>
              </a:rPr>
              <a:t>之后，</a:t>
            </a:r>
            <a:r>
              <a:rPr lang="zh-CN" altLang="en-US" b="1" i="0" dirty="0">
                <a:solidFill>
                  <a:srgbClr val="191B1F"/>
                </a:solidFill>
                <a:effectLst/>
                <a:latin typeface="-apple-system"/>
              </a:rPr>
              <a:t>扩散模型 </a:t>
            </a:r>
            <a:r>
              <a:rPr lang="en-US" altLang="zh-CN" b="1" i="0" dirty="0">
                <a:solidFill>
                  <a:srgbClr val="191B1F"/>
                </a:solidFill>
                <a:effectLst/>
                <a:latin typeface="-apple-system"/>
              </a:rPr>
              <a:t>+ ControlNet</a:t>
            </a:r>
            <a:r>
              <a:rPr lang="zh-CN" altLang="en-US" b="1" i="0" dirty="0">
                <a:solidFill>
                  <a:srgbClr val="191B1F"/>
                </a:solidFill>
                <a:effectLst/>
                <a:latin typeface="-apple-system"/>
              </a:rPr>
              <a:t>模型整体的图像生成表达式转化成为如图公式</a:t>
            </a:r>
            <a:r>
              <a:rPr lang="en-US" altLang="zh-CN" b="1" i="0" dirty="0">
                <a:solidFill>
                  <a:srgbClr val="191B1F"/>
                </a:solidFill>
                <a:effectLst/>
                <a:latin typeface="-apple-system"/>
              </a:rPr>
              <a:t>2</a:t>
            </a:r>
            <a:r>
              <a:rPr lang="zh-CN" altLang="en-US" b="1" i="0" dirty="0">
                <a:solidFill>
                  <a:srgbClr val="191B1F"/>
                </a:solidFill>
                <a:effectLst/>
                <a:latin typeface="-apple-system"/>
              </a:rPr>
              <a:t>所示，</a:t>
            </a:r>
            <a:r>
              <a:rPr lang="zh-CN" altLang="en-US" b="0" i="0" dirty="0">
                <a:solidFill>
                  <a:srgbClr val="191B1F"/>
                </a:solidFill>
                <a:effectLst/>
                <a:latin typeface="-apple-system"/>
              </a:rPr>
              <a:t>其中</a:t>
            </a:r>
            <a:r>
              <a:rPr lang="en-US" altLang="zh-CN" b="0" i="0" dirty="0">
                <a:solidFill>
                  <a:srgbClr val="191B1F"/>
                </a:solidFill>
                <a:effectLst/>
                <a:latin typeface="-apple-system"/>
              </a:rPr>
              <a:t>Z</a:t>
            </a:r>
            <a:r>
              <a:rPr lang="zh-CN" altLang="en-US" b="0" i="0" dirty="0">
                <a:solidFill>
                  <a:srgbClr val="191B1F"/>
                </a:solidFill>
                <a:effectLst/>
                <a:latin typeface="-apple-system"/>
              </a:rPr>
              <a:t>代表了</a:t>
            </a:r>
            <a:r>
              <a:rPr lang="en-US" altLang="zh-CN" b="0" i="0" dirty="0">
                <a:solidFill>
                  <a:srgbClr val="191B1F"/>
                </a:solidFill>
                <a:effectLst/>
                <a:latin typeface="-apple-system"/>
              </a:rPr>
              <a:t>zero convolution</a:t>
            </a:r>
            <a:r>
              <a:rPr lang="zh-CN" altLang="en-US" b="0" i="0" dirty="0">
                <a:solidFill>
                  <a:srgbClr val="191B1F"/>
                </a:solidFill>
                <a:effectLst/>
                <a:latin typeface="-apple-system"/>
              </a:rPr>
              <a:t>模块，</a:t>
            </a:r>
            <a:r>
              <a:rPr lang="zh-CN" altLang="en-US" b="0" i="0" dirty="0">
                <a:solidFill>
                  <a:srgbClr val="303030"/>
                </a:solidFill>
                <a:effectLst/>
                <a:latin typeface="Google Sans Text"/>
              </a:rPr>
              <a:t>这是一个</a:t>
            </a:r>
            <a:r>
              <a:rPr lang="en-US" altLang="zh-CN" b="0" i="0" dirty="0">
                <a:solidFill>
                  <a:srgbClr val="303030"/>
                </a:solidFill>
                <a:effectLst/>
                <a:latin typeface="Google Sans Text"/>
              </a:rPr>
              <a:t>1×1</a:t>
            </a:r>
            <a:r>
              <a:rPr lang="zh-CN" altLang="en-US" b="0" i="0" dirty="0">
                <a:solidFill>
                  <a:srgbClr val="303030"/>
                </a:solidFill>
                <a:effectLst/>
                <a:latin typeface="Google Sans Text"/>
              </a:rPr>
              <a:t>的卷积层，在训练初始化时其权重和偏置全为零；</a:t>
            </a:r>
            <a:r>
              <a:rPr lang="zh-CN" altLang="en-US" b="0" i="0" dirty="0">
                <a:solidFill>
                  <a:srgbClr val="191B1F"/>
                </a:solidFill>
                <a:effectLst/>
                <a:latin typeface="-apple-system"/>
              </a:rPr>
              <a:t> </a:t>
            </a:r>
            <a:r>
              <a:rPr lang="el-GR" altLang="zh-CN" b="0" i="0" dirty="0">
                <a:solidFill>
                  <a:srgbClr val="303030"/>
                </a:solidFill>
                <a:effectLst/>
                <a:latin typeface="KaTeX_Main"/>
              </a:rPr>
              <a:t>Θ</a:t>
            </a:r>
            <a:r>
              <a:rPr lang="en-US" altLang="zh-CN" b="0" i="1" dirty="0">
                <a:solidFill>
                  <a:srgbClr val="303030"/>
                </a:solidFill>
                <a:effectLst/>
                <a:latin typeface="KaTeX_Math"/>
              </a:rPr>
              <a:t>z</a:t>
            </a:r>
            <a:r>
              <a:rPr lang="en-US" altLang="zh-CN" b="0" i="0" dirty="0">
                <a:solidFill>
                  <a:srgbClr val="303030"/>
                </a:solidFill>
                <a:effectLst/>
                <a:latin typeface="KaTeX_Main"/>
              </a:rPr>
              <a:t>1​</a:t>
            </a:r>
            <a:r>
              <a:rPr lang="zh-CN" altLang="en-US" b="0" i="0" dirty="0">
                <a:solidFill>
                  <a:srgbClr val="191B1F"/>
                </a:solidFill>
                <a:effectLst/>
                <a:latin typeface="-apple-system"/>
              </a:rPr>
              <a:t> 和</a:t>
            </a:r>
            <a:r>
              <a:rPr lang="el-GR" altLang="zh-CN" b="0" i="0" dirty="0">
                <a:solidFill>
                  <a:srgbClr val="303030"/>
                </a:solidFill>
                <a:effectLst/>
                <a:latin typeface="KaTeX_Main"/>
              </a:rPr>
              <a:t>Θ</a:t>
            </a:r>
            <a:r>
              <a:rPr lang="en-US" altLang="zh-CN" b="0" i="1" dirty="0">
                <a:solidFill>
                  <a:srgbClr val="303030"/>
                </a:solidFill>
                <a:effectLst/>
                <a:latin typeface="KaTeX_Math"/>
              </a:rPr>
              <a:t>z</a:t>
            </a:r>
            <a:r>
              <a:rPr lang="en-US" altLang="zh-CN" b="0" i="0" dirty="0">
                <a:solidFill>
                  <a:srgbClr val="303030"/>
                </a:solidFill>
                <a:effectLst/>
                <a:latin typeface="KaTeX_Main"/>
              </a:rPr>
              <a:t>2</a:t>
            </a:r>
            <a:r>
              <a:rPr lang="zh-CN" altLang="en-US" b="0" i="0" dirty="0">
                <a:solidFill>
                  <a:srgbClr val="191B1F"/>
                </a:solidFill>
                <a:effectLst/>
                <a:latin typeface="-apple-system"/>
              </a:rPr>
              <a:t>代表了</a:t>
            </a:r>
            <a:r>
              <a:rPr lang="en-US" altLang="zh-CN" b="0" i="0" dirty="0">
                <a:solidFill>
                  <a:srgbClr val="303030"/>
                </a:solidFill>
                <a:effectLst/>
                <a:latin typeface="Google Sans Text"/>
              </a:rPr>
              <a:t>ControlNet</a:t>
            </a:r>
            <a:r>
              <a:rPr lang="zh-CN" altLang="en-US" b="0" i="0" dirty="0">
                <a:solidFill>
                  <a:srgbClr val="303030"/>
                </a:solidFill>
                <a:effectLst/>
                <a:latin typeface="Google Sans Text"/>
              </a:rPr>
              <a:t>结构中</a:t>
            </a:r>
            <a:r>
              <a:rPr lang="zh-CN" altLang="en-US" b="1" i="0" dirty="0">
                <a:solidFill>
                  <a:srgbClr val="303030"/>
                </a:solidFill>
                <a:effectLst/>
                <a:latin typeface="Google Sans Text"/>
              </a:rPr>
              <a:t>前置和后置的两个</a:t>
            </a:r>
            <a:r>
              <a:rPr lang="en-US" altLang="zh-CN" b="0" i="0" dirty="0">
                <a:solidFill>
                  <a:srgbClr val="191B1F"/>
                </a:solidFill>
                <a:effectLst/>
                <a:latin typeface="-apple-system"/>
              </a:rPr>
              <a:t>zero convolution</a:t>
            </a:r>
            <a:r>
              <a:rPr lang="zh-CN" altLang="en-US" b="0" i="0" dirty="0">
                <a:solidFill>
                  <a:srgbClr val="191B1F"/>
                </a:solidFill>
                <a:effectLst/>
                <a:latin typeface="-apple-system"/>
              </a:rPr>
              <a:t>层的参数权重；</a:t>
            </a:r>
            <a:r>
              <a:rPr lang="en-US" altLang="zh-CN" b="0" i="0" dirty="0" err="1">
                <a:solidFill>
                  <a:srgbClr val="303030"/>
                </a:solidFill>
                <a:effectLst/>
                <a:latin typeface="KaTeX_Main"/>
              </a:rPr>
              <a:t>Θ</a:t>
            </a:r>
            <a:r>
              <a:rPr lang="en-US" altLang="zh-CN" b="0" i="1" dirty="0" err="1">
                <a:solidFill>
                  <a:srgbClr val="303030"/>
                </a:solidFill>
                <a:effectLst/>
                <a:latin typeface="KaTeX_Math"/>
              </a:rPr>
              <a:t>c</a:t>
            </a:r>
            <a:r>
              <a:rPr lang="zh-CN" altLang="en-US" b="0" i="0" dirty="0">
                <a:solidFill>
                  <a:srgbClr val="303030"/>
                </a:solidFill>
                <a:effectLst/>
                <a:latin typeface="KaTeX_Main"/>
              </a:rPr>
              <a:t>​</a:t>
            </a:r>
            <a:r>
              <a:rPr lang="zh-CN" altLang="en-US" b="0" i="0" dirty="0">
                <a:solidFill>
                  <a:srgbClr val="303030"/>
                </a:solidFill>
                <a:effectLst/>
                <a:latin typeface="Google Sans Text"/>
              </a:rPr>
              <a:t>代表</a:t>
            </a:r>
            <a:r>
              <a:rPr lang="zh-CN" altLang="en-US" b="1" i="0" dirty="0">
                <a:solidFill>
                  <a:srgbClr val="303030"/>
                </a:solidFill>
                <a:effectLst/>
                <a:latin typeface="Google Sans Text"/>
              </a:rPr>
              <a:t>被复制出来的“可训练”副本参数</a:t>
            </a:r>
            <a:r>
              <a:rPr lang="zh-CN" altLang="en-US" b="0" i="0" dirty="0">
                <a:solidFill>
                  <a:srgbClr val="303030"/>
                </a:solidFill>
                <a:effectLst/>
                <a:latin typeface="Google Sans Text"/>
              </a:rPr>
              <a:t>，也就是</a:t>
            </a:r>
            <a:r>
              <a:rPr lang="en-US" altLang="zh-CN" b="0" i="0" dirty="0">
                <a:solidFill>
                  <a:srgbClr val="303030"/>
                </a:solidFill>
                <a:effectLst/>
                <a:latin typeface="Google Sans Text"/>
              </a:rPr>
              <a:t>ControlNet</a:t>
            </a:r>
            <a:r>
              <a:rPr lang="zh-CN" altLang="en-US" b="0" i="0" dirty="0">
                <a:solidFill>
                  <a:srgbClr val="303030"/>
                </a:solidFill>
                <a:effectLst/>
                <a:latin typeface="Google Sans Text"/>
              </a:rPr>
              <a:t>特有的参数权重。它使用额外的控制条件 </a:t>
            </a:r>
            <a:r>
              <a:rPr lang="en-US" altLang="zh-CN" b="0" i="1" dirty="0">
                <a:solidFill>
                  <a:srgbClr val="303030"/>
                </a:solidFill>
                <a:effectLst/>
                <a:latin typeface="KaTeX_Math"/>
              </a:rPr>
              <a:t>c</a:t>
            </a:r>
            <a:r>
              <a:rPr lang="zh-CN" altLang="en-US" b="0" i="0" dirty="0">
                <a:solidFill>
                  <a:srgbClr val="303030"/>
                </a:solidFill>
                <a:effectLst/>
                <a:latin typeface="Google Sans Text"/>
              </a:rPr>
              <a:t> 进行专门的微调训练；</a:t>
            </a:r>
            <a:r>
              <a:rPr lang="en-US" altLang="zh-CN" b="0" i="1" dirty="0">
                <a:solidFill>
                  <a:srgbClr val="303030"/>
                </a:solidFill>
                <a:effectLst/>
                <a:latin typeface="KaTeX_Math"/>
              </a:rPr>
              <a:t>c</a:t>
            </a:r>
            <a:r>
              <a:rPr lang="zh-CN" altLang="en-US" b="0" i="0" dirty="0">
                <a:solidFill>
                  <a:srgbClr val="303030"/>
                </a:solidFill>
                <a:effectLst/>
                <a:latin typeface="Google Sans Text"/>
              </a:rPr>
              <a:t>：代表</a:t>
            </a:r>
            <a:r>
              <a:rPr lang="zh-CN" altLang="en-US" b="1" i="0" dirty="0">
                <a:solidFill>
                  <a:srgbClr val="303030"/>
                </a:solidFill>
                <a:effectLst/>
                <a:latin typeface="Google Sans Text"/>
              </a:rPr>
              <a:t>额外控制条件信息</a:t>
            </a:r>
            <a:r>
              <a:rPr lang="zh-CN" altLang="en-US" b="0" i="0" dirty="0">
                <a:solidFill>
                  <a:srgbClr val="303030"/>
                </a:solidFill>
                <a:effectLst/>
                <a:latin typeface="Google Sans Text"/>
              </a:rPr>
              <a:t>。即输入的用于引导生成的参考信息；</a:t>
            </a:r>
            <a:r>
              <a:rPr lang="en-US" altLang="zh-CN" b="0" i="0" dirty="0">
                <a:solidFill>
                  <a:srgbClr val="303030"/>
                </a:solidFill>
                <a:effectLst/>
                <a:latin typeface="KaTeX_Main"/>
              </a:rPr>
              <a:t>Θ</a:t>
            </a:r>
            <a:r>
              <a:rPr lang="zh-CN" altLang="en-US" b="0" i="0" dirty="0">
                <a:solidFill>
                  <a:srgbClr val="303030"/>
                </a:solidFill>
                <a:effectLst/>
                <a:latin typeface="Google Sans Text"/>
              </a:rPr>
              <a:t>代表</a:t>
            </a:r>
            <a:r>
              <a:rPr lang="zh-CN" altLang="en-US" b="1" i="0" dirty="0">
                <a:solidFill>
                  <a:srgbClr val="303030"/>
                </a:solidFill>
                <a:effectLst/>
                <a:latin typeface="Google Sans Text"/>
              </a:rPr>
              <a:t>被锁定（冻结）的原基模型参数</a:t>
            </a:r>
            <a:br>
              <a:rPr lang="zh-CN" altLang="en-US" dirty="0"/>
            </a:br>
            <a:br>
              <a:rPr lang="zh-CN" altLang="en-US" dirty="0"/>
            </a:br>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algn="l"/>
            <a:r>
              <a:rPr lang="zh-CN" altLang="en-US" b="0" i="0" dirty="0">
                <a:solidFill>
                  <a:srgbClr val="191B1F"/>
                </a:solidFill>
                <a:effectLst/>
                <a:latin typeface="-apple-system"/>
              </a:rPr>
              <a:t>由于训练开始前</a:t>
            </a:r>
            <a:r>
              <a:rPr lang="en-US" altLang="zh-CN" b="0" i="0" dirty="0">
                <a:solidFill>
                  <a:srgbClr val="191B1F"/>
                </a:solidFill>
                <a:effectLst/>
                <a:latin typeface="-apple-system"/>
              </a:rPr>
              <a:t>zero convolution</a:t>
            </a:r>
            <a:r>
              <a:rPr lang="zh-CN" altLang="en-US" b="0" i="0" dirty="0">
                <a:solidFill>
                  <a:srgbClr val="191B1F"/>
                </a:solidFill>
                <a:effectLst/>
                <a:latin typeface="-apple-system"/>
              </a:rPr>
              <a:t>模块的输出都为零，所以</a:t>
            </a:r>
            <a:r>
              <a:rPr lang="en-US" altLang="zh-CN" b="0" i="0" dirty="0">
                <a:solidFill>
                  <a:srgbClr val="191B1F"/>
                </a:solidFill>
                <a:effectLst/>
                <a:latin typeface="-apple-system"/>
              </a:rPr>
              <a:t>ControlNet</a:t>
            </a:r>
            <a:r>
              <a:rPr lang="zh-CN" altLang="en-US" b="0" i="0" dirty="0">
                <a:solidFill>
                  <a:srgbClr val="191B1F"/>
                </a:solidFill>
                <a:effectLst/>
                <a:latin typeface="-apple-system"/>
              </a:rPr>
              <a:t>未经训练时的初始输出为</a:t>
            </a:r>
            <a:r>
              <a:rPr lang="en-US" altLang="zh-CN" b="0" i="0" dirty="0">
                <a:solidFill>
                  <a:srgbClr val="191B1F"/>
                </a:solidFill>
                <a:effectLst/>
                <a:latin typeface="-apple-system"/>
              </a:rPr>
              <a:t>0</a:t>
            </a:r>
            <a:r>
              <a:rPr lang="zh-CN" altLang="en-US" b="0" i="0" dirty="0">
                <a:solidFill>
                  <a:srgbClr val="191B1F"/>
                </a:solidFill>
                <a:effectLst/>
                <a:latin typeface="-apple-system"/>
              </a:rPr>
              <a:t>；由此可知，</a:t>
            </a:r>
            <a:r>
              <a:rPr lang="zh-CN" altLang="en-US" b="1" i="0" dirty="0">
                <a:solidFill>
                  <a:srgbClr val="191B1F"/>
                </a:solidFill>
                <a:effectLst/>
                <a:latin typeface="-apple-system"/>
              </a:rPr>
              <a:t>在</a:t>
            </a:r>
            <a:r>
              <a:rPr lang="en-US" altLang="zh-CN" b="1" i="0" dirty="0">
                <a:solidFill>
                  <a:srgbClr val="191B1F"/>
                </a:solidFill>
                <a:effectLst/>
                <a:latin typeface="-apple-system"/>
              </a:rPr>
              <a:t>ControlNet</a:t>
            </a:r>
            <a:r>
              <a:rPr lang="zh-CN" altLang="en-US" b="1" i="0" dirty="0">
                <a:solidFill>
                  <a:srgbClr val="191B1F"/>
                </a:solidFill>
                <a:effectLst/>
                <a:latin typeface="-apple-system"/>
              </a:rPr>
              <a:t>微调训练初始阶段对预训练模型权重是没有任何影响的，能让底模型原本的性能完整保存</a:t>
            </a:r>
            <a:r>
              <a:rPr lang="zh-CN" altLang="en-US" b="0" i="0" dirty="0">
                <a:solidFill>
                  <a:srgbClr val="191B1F"/>
                </a:solidFill>
                <a:effectLst/>
                <a:latin typeface="-apple-system"/>
              </a:rPr>
              <a:t>，之后</a:t>
            </a:r>
            <a:r>
              <a:rPr lang="en-US" altLang="zh-CN" b="0" i="0" dirty="0">
                <a:solidFill>
                  <a:srgbClr val="191B1F"/>
                </a:solidFill>
                <a:effectLst/>
                <a:latin typeface="-apple-system"/>
              </a:rPr>
              <a:t>ControlNet</a:t>
            </a:r>
            <a:r>
              <a:rPr lang="zh-CN" altLang="en-US" b="0" i="0" dirty="0">
                <a:solidFill>
                  <a:srgbClr val="191B1F"/>
                </a:solidFill>
                <a:effectLst/>
                <a:latin typeface="-apple-system"/>
              </a:rPr>
              <a:t>的训练也只是在原模型基础上进行优化。总的来说，</a:t>
            </a:r>
            <a:r>
              <a:rPr lang="en-US" altLang="zh-CN" b="1" i="0" dirty="0">
                <a:solidFill>
                  <a:srgbClr val="191B1F"/>
                </a:solidFill>
                <a:effectLst/>
                <a:latin typeface="-apple-system"/>
              </a:rPr>
              <a:t>ControlNet</a:t>
            </a:r>
            <a:r>
              <a:rPr lang="zh-CN" altLang="en-US" b="1" i="0" dirty="0">
                <a:solidFill>
                  <a:srgbClr val="191B1F"/>
                </a:solidFill>
                <a:effectLst/>
                <a:latin typeface="-apple-system"/>
              </a:rPr>
              <a:t>的本质原理使得训练后的模型鲁棒性好，能够避免模型过拟合，并在特定条件场景下具有良好的泛化性，同时能够在小规模数据和消费级显卡上进行训练。</a:t>
            </a:r>
            <a:endParaRPr lang="zh-CN" altLang="en-US" b="0" i="0" dirty="0">
              <a:solidFill>
                <a:srgbClr val="191B1F"/>
              </a:solidFill>
              <a:effectLst/>
              <a:latin typeface="-apple-system"/>
            </a:endParaRPr>
          </a:p>
          <a:p>
            <a:br>
              <a:rPr lang="zh-CN" altLang="en-US" dirty="0"/>
            </a:br>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algn="l"/>
            <a:r>
              <a:rPr lang="zh-CN" altLang="en-US" b="0" i="0" dirty="0">
                <a:solidFill>
                  <a:srgbClr val="191B1F"/>
                </a:solidFill>
                <a:effectLst/>
                <a:latin typeface="-apple-system"/>
              </a:rPr>
              <a:t>在理解了</a:t>
            </a:r>
            <a:r>
              <a:rPr lang="en-US" altLang="zh-CN" b="0" i="0" dirty="0">
                <a:solidFill>
                  <a:srgbClr val="191B1F"/>
                </a:solidFill>
                <a:effectLst/>
                <a:latin typeface="-apple-system"/>
              </a:rPr>
              <a:t>ControlNet</a:t>
            </a:r>
            <a:r>
              <a:rPr lang="zh-CN" altLang="en-US" b="0" i="0" dirty="0">
                <a:solidFill>
                  <a:srgbClr val="191B1F"/>
                </a:solidFill>
                <a:effectLst/>
                <a:latin typeface="-apple-system"/>
              </a:rPr>
              <a:t>核心基础原理与</a:t>
            </a:r>
            <a:r>
              <a:rPr lang="en-US" altLang="zh-CN" b="0" i="0" dirty="0">
                <a:solidFill>
                  <a:srgbClr val="191B1F"/>
                </a:solidFill>
                <a:effectLst/>
                <a:latin typeface="-apple-system"/>
              </a:rPr>
              <a:t>ControlNet</a:t>
            </a:r>
            <a:r>
              <a:rPr lang="zh-CN" altLang="en-US" b="0" i="0" dirty="0">
                <a:solidFill>
                  <a:srgbClr val="191B1F"/>
                </a:solidFill>
                <a:effectLst/>
                <a:latin typeface="-apple-system"/>
              </a:rPr>
              <a:t>最小单元之后，我们可以从</a:t>
            </a:r>
            <a:r>
              <a:rPr lang="en-US" altLang="zh-CN" b="0" i="0" dirty="0">
                <a:solidFill>
                  <a:srgbClr val="191B1F"/>
                </a:solidFill>
                <a:effectLst/>
                <a:latin typeface="-apple-system"/>
              </a:rPr>
              <a:t>ControlNet</a:t>
            </a:r>
            <a:r>
              <a:rPr lang="zh-CN" altLang="en-US" b="0" i="0" dirty="0">
                <a:solidFill>
                  <a:srgbClr val="191B1F"/>
                </a:solidFill>
                <a:effectLst/>
                <a:latin typeface="-apple-system"/>
              </a:rPr>
              <a:t>整体的模型结构上可以看出，其主要在</a:t>
            </a:r>
            <a:r>
              <a:rPr lang="en-US" altLang="zh-CN" b="0" i="0" dirty="0">
                <a:solidFill>
                  <a:srgbClr val="191B1F"/>
                </a:solidFill>
                <a:effectLst/>
                <a:latin typeface="-apple-system"/>
              </a:rPr>
              <a:t>Stable Diffusion</a:t>
            </a:r>
            <a:r>
              <a:rPr lang="zh-CN" altLang="en-US" b="0" i="0" dirty="0">
                <a:solidFill>
                  <a:srgbClr val="191B1F"/>
                </a:solidFill>
                <a:effectLst/>
                <a:latin typeface="-apple-system"/>
              </a:rPr>
              <a:t>的</a:t>
            </a:r>
            <a:r>
              <a:rPr lang="en-US" altLang="zh-CN" b="0" i="0" dirty="0">
                <a:solidFill>
                  <a:srgbClr val="191B1F"/>
                </a:solidFill>
                <a:effectLst/>
                <a:latin typeface="-apple-system"/>
              </a:rPr>
              <a:t>U-Net</a:t>
            </a:r>
            <a:r>
              <a:rPr lang="zh-CN" altLang="en-US" b="0" i="0" dirty="0">
                <a:solidFill>
                  <a:srgbClr val="191B1F"/>
                </a:solidFill>
                <a:effectLst/>
                <a:latin typeface="-apple-system"/>
              </a:rPr>
              <a:t>中起作用，</a:t>
            </a:r>
            <a:r>
              <a:rPr lang="en-US" altLang="zh-CN" b="1" i="0" dirty="0">
                <a:solidFill>
                  <a:srgbClr val="191B1F"/>
                </a:solidFill>
                <a:effectLst/>
                <a:latin typeface="-apple-system"/>
              </a:rPr>
              <a:t>ControlNet</a:t>
            </a:r>
            <a:r>
              <a:rPr lang="zh-CN" altLang="en-US" b="1" i="0" dirty="0">
                <a:solidFill>
                  <a:srgbClr val="191B1F"/>
                </a:solidFill>
                <a:effectLst/>
                <a:latin typeface="-apple-system"/>
              </a:rPr>
              <a:t>主要将</a:t>
            </a:r>
            <a:r>
              <a:rPr lang="en-US" altLang="zh-CN" b="1" i="0" dirty="0">
                <a:solidFill>
                  <a:srgbClr val="191B1F"/>
                </a:solidFill>
                <a:effectLst/>
                <a:latin typeface="-apple-system"/>
              </a:rPr>
              <a:t>Stable Diffusion U-Net</a:t>
            </a:r>
            <a:r>
              <a:rPr lang="zh-CN" altLang="en-US" b="1" i="0" dirty="0">
                <a:solidFill>
                  <a:srgbClr val="191B1F"/>
                </a:solidFill>
                <a:effectLst/>
                <a:latin typeface="-apple-system"/>
              </a:rPr>
              <a:t>的</a:t>
            </a:r>
            <a:r>
              <a:rPr lang="en-US" altLang="zh-CN" b="1" i="0" dirty="0">
                <a:solidFill>
                  <a:srgbClr val="191B1F"/>
                </a:solidFill>
                <a:effectLst/>
                <a:latin typeface="-apple-system"/>
              </a:rPr>
              <a:t>Encoder</a:t>
            </a:r>
            <a:r>
              <a:rPr lang="zh-CN" altLang="en-US" b="1" i="0" dirty="0">
                <a:solidFill>
                  <a:srgbClr val="191B1F"/>
                </a:solidFill>
                <a:effectLst/>
                <a:latin typeface="-apple-system"/>
              </a:rPr>
              <a:t>部分和</a:t>
            </a:r>
            <a:r>
              <a:rPr lang="en-US" altLang="zh-CN" b="1" i="0" dirty="0">
                <a:solidFill>
                  <a:srgbClr val="191B1F"/>
                </a:solidFill>
                <a:effectLst/>
                <a:latin typeface="-apple-system"/>
              </a:rPr>
              <a:t>Middle</a:t>
            </a:r>
            <a:r>
              <a:rPr lang="zh-CN" altLang="en-US" b="1" i="0" dirty="0">
                <a:solidFill>
                  <a:srgbClr val="191B1F"/>
                </a:solidFill>
                <a:effectLst/>
                <a:latin typeface="-apple-system"/>
              </a:rPr>
              <a:t>部分进行复制训练，并且在</a:t>
            </a:r>
            <a:r>
              <a:rPr lang="en-US" altLang="zh-CN" b="1" i="0" dirty="0">
                <a:solidFill>
                  <a:srgbClr val="191B1F"/>
                </a:solidFill>
                <a:effectLst/>
                <a:latin typeface="-apple-system"/>
              </a:rPr>
              <a:t>Stable Diffusion U-Net</a:t>
            </a:r>
            <a:r>
              <a:rPr lang="zh-CN" altLang="en-US" b="1" i="0" dirty="0">
                <a:solidFill>
                  <a:srgbClr val="191B1F"/>
                </a:solidFill>
                <a:effectLst/>
                <a:latin typeface="-apple-system"/>
              </a:rPr>
              <a:t>的</a:t>
            </a:r>
            <a:r>
              <a:rPr lang="en-US" altLang="zh-CN" b="1" i="0" dirty="0">
                <a:solidFill>
                  <a:srgbClr val="191B1F"/>
                </a:solidFill>
                <a:effectLst/>
                <a:latin typeface="-apple-system"/>
              </a:rPr>
              <a:t>Decoder</a:t>
            </a:r>
            <a:r>
              <a:rPr lang="zh-CN" altLang="en-US" b="1" i="0" dirty="0">
                <a:solidFill>
                  <a:srgbClr val="191B1F"/>
                </a:solidFill>
                <a:effectLst/>
                <a:latin typeface="-apple-system"/>
              </a:rPr>
              <a:t>模块中通过</a:t>
            </a:r>
            <a:r>
              <a:rPr lang="en-US" altLang="zh-CN" b="1" i="0" dirty="0">
                <a:solidFill>
                  <a:srgbClr val="191B1F"/>
                </a:solidFill>
                <a:effectLst/>
                <a:latin typeface="-apple-system"/>
              </a:rPr>
              <a:t>skip connection</a:t>
            </a:r>
            <a:r>
              <a:rPr lang="zh-CN" altLang="en-US" b="1" i="0" dirty="0">
                <a:solidFill>
                  <a:srgbClr val="191B1F"/>
                </a:solidFill>
                <a:effectLst/>
                <a:latin typeface="-apple-system"/>
              </a:rPr>
              <a:t>加入了</a:t>
            </a:r>
            <a:r>
              <a:rPr lang="en-US" altLang="zh-CN" b="1" i="0" dirty="0">
                <a:solidFill>
                  <a:srgbClr val="191B1F"/>
                </a:solidFill>
                <a:effectLst/>
                <a:latin typeface="-apple-system"/>
              </a:rPr>
              <a:t>zero convolution</a:t>
            </a:r>
            <a:r>
              <a:rPr lang="zh-CN" altLang="en-US" b="1" i="0" dirty="0">
                <a:solidFill>
                  <a:srgbClr val="191B1F"/>
                </a:solidFill>
                <a:effectLst/>
                <a:latin typeface="-apple-system"/>
              </a:rPr>
              <a:t>模块处理后的特征</a:t>
            </a:r>
            <a:r>
              <a:rPr lang="zh-CN" altLang="en-US" b="0" i="0" dirty="0">
                <a:solidFill>
                  <a:srgbClr val="191B1F"/>
                </a:solidFill>
                <a:effectLst/>
                <a:latin typeface="-apple-system"/>
              </a:rPr>
              <a:t>，将训练获得的能力注入到最终模型中。</a:t>
            </a:r>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algn="l"/>
            <a:r>
              <a:rPr lang="zh-CN" altLang="en-US" b="0" i="0" dirty="0">
                <a:solidFill>
                  <a:srgbClr val="191B1F"/>
                </a:solidFill>
                <a:effectLst/>
                <a:latin typeface="-apple-system"/>
              </a:rPr>
              <a:t>在之前我们已经知道</a:t>
            </a:r>
            <a:r>
              <a:rPr lang="en-US" altLang="zh-CN" b="0" i="0" dirty="0">
                <a:solidFill>
                  <a:srgbClr val="191B1F"/>
                </a:solidFill>
                <a:effectLst/>
                <a:latin typeface="-apple-system"/>
              </a:rPr>
              <a:t>ControlNet</a:t>
            </a:r>
            <a:r>
              <a:rPr lang="zh-CN" altLang="en-US" b="0" i="0" dirty="0">
                <a:solidFill>
                  <a:srgbClr val="191B1F"/>
                </a:solidFill>
                <a:effectLst/>
                <a:latin typeface="-apple-system"/>
              </a:rPr>
              <a:t>训练时</a:t>
            </a:r>
            <a:r>
              <a:rPr lang="en-US" altLang="zh-CN" b="0" i="0" dirty="0">
                <a:solidFill>
                  <a:srgbClr val="191B1F"/>
                </a:solidFill>
                <a:effectLst/>
                <a:latin typeface="-apple-system"/>
              </a:rPr>
              <a:t>Stable Diffusion U-Net</a:t>
            </a:r>
            <a:r>
              <a:rPr lang="zh-CN" altLang="en-US" b="0" i="0" dirty="0">
                <a:solidFill>
                  <a:srgbClr val="191B1F"/>
                </a:solidFill>
                <a:effectLst/>
                <a:latin typeface="-apple-system"/>
              </a:rPr>
              <a:t>模型权重是冻结，不需要进行梯度计算。这种设计思想减少了</a:t>
            </a:r>
            <a:r>
              <a:rPr lang="en-US" altLang="zh-CN" b="0" i="0" dirty="0">
                <a:solidFill>
                  <a:srgbClr val="191B1F"/>
                </a:solidFill>
                <a:effectLst/>
                <a:latin typeface="-apple-system"/>
              </a:rPr>
              <a:t>ControlNet</a:t>
            </a:r>
            <a:r>
              <a:rPr lang="zh-CN" altLang="en-US" b="0" i="0" dirty="0">
                <a:solidFill>
                  <a:srgbClr val="191B1F"/>
                </a:solidFill>
                <a:effectLst/>
                <a:latin typeface="-apple-system"/>
              </a:rPr>
              <a:t>在训练中一半的计算量，计算效率很高，能够加速训练过程并减少</a:t>
            </a:r>
            <a:r>
              <a:rPr lang="en-US" altLang="zh-CN" b="0" i="0" dirty="0">
                <a:solidFill>
                  <a:srgbClr val="191B1F"/>
                </a:solidFill>
                <a:effectLst/>
                <a:latin typeface="-apple-system"/>
              </a:rPr>
              <a:t>GPU</a:t>
            </a:r>
            <a:r>
              <a:rPr lang="zh-CN" altLang="en-US" b="0" i="0" dirty="0">
                <a:solidFill>
                  <a:srgbClr val="191B1F"/>
                </a:solidFill>
                <a:effectLst/>
                <a:latin typeface="-apple-system"/>
              </a:rPr>
              <a:t>显存的占用。</a:t>
            </a:r>
            <a:r>
              <a:rPr lang="zh-CN" altLang="en-US" b="1" i="0" dirty="0">
                <a:solidFill>
                  <a:srgbClr val="191B1F"/>
                </a:solidFill>
                <a:effectLst/>
                <a:latin typeface="-apple-system"/>
              </a:rPr>
              <a:t>在单个</a:t>
            </a:r>
            <a:r>
              <a:rPr lang="en-US" altLang="zh-CN" b="1" i="0" dirty="0">
                <a:solidFill>
                  <a:srgbClr val="191B1F"/>
                </a:solidFill>
                <a:effectLst/>
                <a:latin typeface="-apple-system"/>
              </a:rPr>
              <a:t>Nvidia A100 PCIE 40G</a:t>
            </a:r>
            <a:r>
              <a:rPr lang="zh-CN" altLang="en-US" b="1" i="0" dirty="0">
                <a:solidFill>
                  <a:srgbClr val="191B1F"/>
                </a:solidFill>
                <a:effectLst/>
                <a:latin typeface="-apple-system"/>
              </a:rPr>
              <a:t>的环境下，实际应用到</a:t>
            </a:r>
            <a:r>
              <a:rPr lang="en-US" altLang="zh-CN" b="1" i="0" dirty="0">
                <a:solidFill>
                  <a:srgbClr val="191B1F"/>
                </a:solidFill>
                <a:effectLst/>
                <a:latin typeface="-apple-system"/>
              </a:rPr>
              <a:t>Stable Diffusion</a:t>
            </a:r>
            <a:r>
              <a:rPr lang="zh-CN" altLang="en-US" b="1" i="0" dirty="0">
                <a:solidFill>
                  <a:srgbClr val="191B1F"/>
                </a:solidFill>
                <a:effectLst/>
                <a:latin typeface="-apple-system"/>
              </a:rPr>
              <a:t>模型的训练中，</a:t>
            </a:r>
            <a:r>
              <a:rPr lang="en-US" altLang="zh-CN" b="1" i="0" dirty="0">
                <a:solidFill>
                  <a:srgbClr val="191B1F"/>
                </a:solidFill>
                <a:effectLst/>
                <a:latin typeface="-apple-system"/>
              </a:rPr>
              <a:t>ControlNet</a:t>
            </a:r>
            <a:r>
              <a:rPr lang="zh-CN" altLang="en-US" b="1" i="0" dirty="0">
                <a:solidFill>
                  <a:srgbClr val="191B1F"/>
                </a:solidFill>
                <a:effectLst/>
                <a:latin typeface="-apple-system"/>
              </a:rPr>
              <a:t>仅使得每次迭代所需的</a:t>
            </a:r>
            <a:r>
              <a:rPr lang="en-US" altLang="zh-CN" b="1" i="0" dirty="0">
                <a:solidFill>
                  <a:srgbClr val="191B1F"/>
                </a:solidFill>
                <a:effectLst/>
                <a:latin typeface="-apple-system"/>
              </a:rPr>
              <a:t>GPU</a:t>
            </a:r>
            <a:r>
              <a:rPr lang="zh-CN" altLang="en-US" b="1" i="0" dirty="0">
                <a:solidFill>
                  <a:srgbClr val="191B1F"/>
                </a:solidFill>
                <a:effectLst/>
                <a:latin typeface="-apple-system"/>
              </a:rPr>
              <a:t>显存增加大约</a:t>
            </a:r>
            <a:r>
              <a:rPr lang="en-US" altLang="zh-CN" b="1" i="0" dirty="0">
                <a:solidFill>
                  <a:srgbClr val="191B1F"/>
                </a:solidFill>
                <a:effectLst/>
                <a:latin typeface="-apple-system"/>
              </a:rPr>
              <a:t>23%</a:t>
            </a:r>
            <a:r>
              <a:rPr lang="zh-CN" altLang="en-US" b="1" i="0" dirty="0">
                <a:solidFill>
                  <a:srgbClr val="191B1F"/>
                </a:solidFill>
                <a:effectLst/>
                <a:latin typeface="-apple-system"/>
              </a:rPr>
              <a:t>，时间增加</a:t>
            </a:r>
            <a:r>
              <a:rPr lang="en-US" altLang="zh-CN" b="1" i="0" dirty="0">
                <a:solidFill>
                  <a:srgbClr val="191B1F"/>
                </a:solidFill>
                <a:effectLst/>
                <a:latin typeface="-apple-system"/>
              </a:rPr>
              <a:t>34%</a:t>
            </a:r>
            <a:r>
              <a:rPr lang="zh-CN" altLang="en-US" b="1" i="0" dirty="0">
                <a:solidFill>
                  <a:srgbClr val="191B1F"/>
                </a:solidFill>
                <a:effectLst/>
                <a:latin typeface="-apple-system"/>
              </a:rPr>
              <a:t>左右</a:t>
            </a:r>
            <a:r>
              <a:rPr lang="zh-CN" altLang="en-US" b="0" i="0" dirty="0">
                <a:solidFill>
                  <a:srgbClr val="191B1F"/>
                </a:solidFill>
                <a:effectLst/>
                <a:latin typeface="-apple-system"/>
              </a:rPr>
              <a:t>。</a:t>
            </a:r>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algn="l"/>
            <a:r>
              <a:rPr lang="zh-CN" altLang="en-US" b="0" i="0" dirty="0">
                <a:solidFill>
                  <a:srgbClr val="191B1F"/>
                </a:solidFill>
                <a:effectLst/>
                <a:latin typeface="-apple-system"/>
              </a:rPr>
              <a:t>具体地，</a:t>
            </a:r>
            <a:r>
              <a:rPr lang="en-US" altLang="zh-CN" b="0" i="0" dirty="0">
                <a:solidFill>
                  <a:srgbClr val="191B1F"/>
                </a:solidFill>
                <a:effectLst/>
                <a:latin typeface="-apple-system"/>
              </a:rPr>
              <a:t>ControlNet</a:t>
            </a:r>
            <a:r>
              <a:rPr lang="zh-CN" altLang="en-US" b="0" i="0" dirty="0">
                <a:solidFill>
                  <a:srgbClr val="191B1F"/>
                </a:solidFill>
                <a:effectLst/>
                <a:latin typeface="-apple-system"/>
              </a:rPr>
              <a:t>包含了</a:t>
            </a:r>
            <a:r>
              <a:rPr lang="en-US" altLang="zh-CN" b="0" i="0" dirty="0">
                <a:solidFill>
                  <a:srgbClr val="191B1F"/>
                </a:solidFill>
                <a:effectLst/>
                <a:latin typeface="-apple-system"/>
              </a:rPr>
              <a:t>Stable Diffusion U-Net</a:t>
            </a:r>
            <a:r>
              <a:rPr lang="zh-CN" altLang="en-US" b="0" i="0" dirty="0">
                <a:solidFill>
                  <a:srgbClr val="191B1F"/>
                </a:solidFill>
                <a:effectLst/>
                <a:latin typeface="-apple-system"/>
              </a:rPr>
              <a:t>的</a:t>
            </a:r>
            <a:r>
              <a:rPr lang="en-US" altLang="zh-CN" b="0" i="0" dirty="0">
                <a:solidFill>
                  <a:srgbClr val="191B1F"/>
                </a:solidFill>
                <a:effectLst/>
                <a:latin typeface="-apple-system"/>
              </a:rPr>
              <a:t>12</a:t>
            </a:r>
            <a:r>
              <a:rPr lang="zh-CN" altLang="en-US" b="0" i="0" dirty="0">
                <a:solidFill>
                  <a:srgbClr val="191B1F"/>
                </a:solidFill>
                <a:effectLst/>
                <a:latin typeface="-apple-system"/>
              </a:rPr>
              <a:t>个编码块和</a:t>
            </a:r>
            <a:r>
              <a:rPr lang="en-US" altLang="zh-CN" b="0" i="0" dirty="0">
                <a:solidFill>
                  <a:srgbClr val="191B1F"/>
                </a:solidFill>
                <a:effectLst/>
                <a:latin typeface="-apple-system"/>
              </a:rPr>
              <a:t>1</a:t>
            </a:r>
            <a:r>
              <a:rPr lang="zh-CN" altLang="en-US" b="0" i="0" dirty="0">
                <a:solidFill>
                  <a:srgbClr val="191B1F"/>
                </a:solidFill>
                <a:effectLst/>
                <a:latin typeface="-apple-system"/>
              </a:rPr>
              <a:t>个中间块的“可训练”副本。这</a:t>
            </a:r>
            <a:r>
              <a:rPr lang="en-US" altLang="zh-CN" b="0" i="0" dirty="0">
                <a:solidFill>
                  <a:srgbClr val="191B1F"/>
                </a:solidFill>
                <a:effectLst/>
                <a:latin typeface="-apple-system"/>
              </a:rPr>
              <a:t>12</a:t>
            </a:r>
            <a:r>
              <a:rPr lang="zh-CN" altLang="en-US" b="0" i="0" dirty="0">
                <a:solidFill>
                  <a:srgbClr val="191B1F"/>
                </a:solidFill>
                <a:effectLst/>
                <a:latin typeface="-apple-system"/>
              </a:rPr>
              <a:t>个编码块有</a:t>
            </a:r>
            <a:r>
              <a:rPr lang="en-US" altLang="zh-CN" b="0" i="0" dirty="0">
                <a:solidFill>
                  <a:srgbClr val="191B1F"/>
                </a:solidFill>
                <a:effectLst/>
                <a:latin typeface="-apple-system"/>
              </a:rPr>
              <a:t>4</a:t>
            </a:r>
            <a:r>
              <a:rPr lang="zh-CN" altLang="en-US" b="0" i="0" dirty="0">
                <a:solidFill>
                  <a:srgbClr val="191B1F"/>
                </a:solidFill>
                <a:effectLst/>
                <a:latin typeface="-apple-system"/>
              </a:rPr>
              <a:t>种分辨率，分别是</a:t>
            </a:r>
            <a:r>
              <a:rPr lang="en-US" altLang="zh-CN" b="0" i="0" dirty="0">
                <a:solidFill>
                  <a:srgbClr val="191B1F"/>
                </a:solidFill>
                <a:effectLst/>
                <a:latin typeface="-apple-system"/>
              </a:rPr>
              <a:t>64×64</a:t>
            </a:r>
            <a:r>
              <a:rPr lang="zh-CN" altLang="en-US" b="0" i="0" dirty="0">
                <a:solidFill>
                  <a:srgbClr val="191B1F"/>
                </a:solidFill>
                <a:effectLst/>
                <a:latin typeface="-apple-system"/>
              </a:rPr>
              <a:t>、</a:t>
            </a:r>
            <a:r>
              <a:rPr lang="en-US" altLang="zh-CN" b="0" i="0" dirty="0">
                <a:solidFill>
                  <a:srgbClr val="191B1F"/>
                </a:solidFill>
                <a:effectLst/>
                <a:latin typeface="-apple-system"/>
              </a:rPr>
              <a:t>32×32</a:t>
            </a:r>
            <a:r>
              <a:rPr lang="zh-CN" altLang="en-US" b="0" i="0" dirty="0">
                <a:solidFill>
                  <a:srgbClr val="191B1F"/>
                </a:solidFill>
                <a:effectLst/>
                <a:latin typeface="-apple-system"/>
              </a:rPr>
              <a:t>、</a:t>
            </a:r>
            <a:r>
              <a:rPr lang="en-US" altLang="zh-CN" b="0" i="0" dirty="0">
                <a:solidFill>
                  <a:srgbClr val="191B1F"/>
                </a:solidFill>
                <a:effectLst/>
                <a:latin typeface="-apple-system"/>
              </a:rPr>
              <a:t>16×16</a:t>
            </a:r>
            <a:r>
              <a:rPr lang="zh-CN" altLang="en-US" b="0" i="0" dirty="0">
                <a:solidFill>
                  <a:srgbClr val="191B1F"/>
                </a:solidFill>
                <a:effectLst/>
                <a:latin typeface="-apple-system"/>
              </a:rPr>
              <a:t>和</a:t>
            </a:r>
            <a:r>
              <a:rPr lang="en-US" altLang="zh-CN" b="0" i="0" dirty="0">
                <a:solidFill>
                  <a:srgbClr val="191B1F"/>
                </a:solidFill>
                <a:effectLst/>
                <a:latin typeface="-apple-system"/>
              </a:rPr>
              <a:t>8×8</a:t>
            </a:r>
            <a:r>
              <a:rPr lang="zh-CN" altLang="en-US" b="0" i="0" dirty="0">
                <a:solidFill>
                  <a:srgbClr val="191B1F"/>
                </a:solidFill>
                <a:effectLst/>
                <a:latin typeface="-apple-system"/>
              </a:rPr>
              <a:t>，每种分辨率对应</a:t>
            </a:r>
            <a:r>
              <a:rPr lang="en-US" altLang="zh-CN" b="0" i="0" dirty="0">
                <a:solidFill>
                  <a:srgbClr val="191B1F"/>
                </a:solidFill>
                <a:effectLst/>
                <a:latin typeface="-apple-system"/>
              </a:rPr>
              <a:t>3</a:t>
            </a:r>
            <a:r>
              <a:rPr lang="zh-CN" altLang="en-US" b="0" i="0" dirty="0">
                <a:solidFill>
                  <a:srgbClr val="191B1F"/>
                </a:solidFill>
                <a:effectLst/>
                <a:latin typeface="-apple-system"/>
              </a:rPr>
              <a:t>个编码块 。</a:t>
            </a:r>
            <a:r>
              <a:rPr lang="en-US" altLang="zh-CN" b="0" i="0" dirty="0">
                <a:solidFill>
                  <a:srgbClr val="191B1F"/>
                </a:solidFill>
                <a:effectLst/>
                <a:latin typeface="-apple-system"/>
              </a:rPr>
              <a:t>ControlNet</a:t>
            </a:r>
            <a:r>
              <a:rPr lang="zh-CN" altLang="en-US" b="0" i="0" dirty="0">
                <a:solidFill>
                  <a:srgbClr val="191B1F"/>
                </a:solidFill>
                <a:effectLst/>
                <a:latin typeface="-apple-system"/>
              </a:rPr>
              <a:t>的输出被添加到</a:t>
            </a:r>
            <a:r>
              <a:rPr lang="en-US" altLang="zh-CN" b="0" i="0" dirty="0">
                <a:solidFill>
                  <a:srgbClr val="191B1F"/>
                </a:solidFill>
                <a:effectLst/>
                <a:latin typeface="-apple-system"/>
              </a:rPr>
              <a:t>Stable Diffusion U-Net</a:t>
            </a:r>
            <a:r>
              <a:rPr lang="zh-CN" altLang="en-US" b="0" i="0" dirty="0">
                <a:solidFill>
                  <a:srgbClr val="191B1F"/>
                </a:solidFill>
                <a:effectLst/>
                <a:latin typeface="-apple-system"/>
              </a:rPr>
              <a:t>的</a:t>
            </a:r>
            <a:r>
              <a:rPr lang="en-US" altLang="zh-CN" b="0" i="0" dirty="0">
                <a:solidFill>
                  <a:srgbClr val="191B1F"/>
                </a:solidFill>
                <a:effectLst/>
                <a:latin typeface="-apple-system"/>
              </a:rPr>
              <a:t>12 </a:t>
            </a:r>
            <a:r>
              <a:rPr lang="zh-CN" altLang="en-US" b="0" i="0" dirty="0">
                <a:solidFill>
                  <a:srgbClr val="191B1F"/>
                </a:solidFill>
                <a:effectLst/>
                <a:latin typeface="-apple-system"/>
              </a:rPr>
              <a:t>个残差结构和</a:t>
            </a:r>
            <a:r>
              <a:rPr lang="en-US" altLang="zh-CN" b="0" i="0" dirty="0">
                <a:solidFill>
                  <a:srgbClr val="191B1F"/>
                </a:solidFill>
                <a:effectLst/>
                <a:latin typeface="-apple-system"/>
              </a:rPr>
              <a:t>1</a:t>
            </a:r>
            <a:r>
              <a:rPr lang="zh-CN" altLang="en-US" b="0" i="0" dirty="0">
                <a:solidFill>
                  <a:srgbClr val="191B1F"/>
                </a:solidFill>
                <a:effectLst/>
                <a:latin typeface="-apple-system"/>
              </a:rPr>
              <a:t>个中间块中。同时由于</a:t>
            </a:r>
            <a:r>
              <a:rPr lang="en-US" altLang="zh-CN" b="0" i="0" dirty="0">
                <a:solidFill>
                  <a:srgbClr val="191B1F"/>
                </a:solidFill>
                <a:effectLst/>
                <a:latin typeface="-apple-system"/>
              </a:rPr>
              <a:t>Stable Diffusion U-Net</a:t>
            </a:r>
            <a:r>
              <a:rPr lang="zh-CN" altLang="en-US" b="0" i="0" dirty="0">
                <a:solidFill>
                  <a:srgbClr val="191B1F"/>
                </a:solidFill>
                <a:effectLst/>
                <a:latin typeface="-apple-system"/>
              </a:rPr>
              <a:t>是经典的</a:t>
            </a:r>
            <a:r>
              <a:rPr lang="en-US" altLang="zh-CN" b="0" i="0" dirty="0">
                <a:solidFill>
                  <a:srgbClr val="191B1F"/>
                </a:solidFill>
                <a:effectLst/>
                <a:latin typeface="-apple-system"/>
              </a:rPr>
              <a:t>U-Net</a:t>
            </a:r>
            <a:r>
              <a:rPr lang="zh-CN" altLang="en-US" b="0" i="0" dirty="0">
                <a:solidFill>
                  <a:srgbClr val="191B1F"/>
                </a:solidFill>
                <a:effectLst/>
                <a:latin typeface="-apple-system"/>
              </a:rPr>
              <a:t>结构，因此 </a:t>
            </a:r>
            <a:r>
              <a:rPr lang="en-US" altLang="zh-CN" b="0" i="0" dirty="0">
                <a:solidFill>
                  <a:srgbClr val="191B1F"/>
                </a:solidFill>
                <a:effectLst/>
                <a:latin typeface="-apple-system"/>
              </a:rPr>
              <a:t>ControlNet</a:t>
            </a:r>
            <a:r>
              <a:rPr lang="zh-CN" altLang="en-US" b="0" i="0" dirty="0">
                <a:solidFill>
                  <a:srgbClr val="191B1F"/>
                </a:solidFill>
                <a:effectLst/>
                <a:latin typeface="-apple-system"/>
              </a:rPr>
              <a:t>架构有很强的兼容性与迁移能力，可以用于其他扩散模型中。</a:t>
            </a:r>
            <a:r>
              <a:rPr lang="en-US" altLang="zh-CN" b="1" i="0" dirty="0">
                <a:solidFill>
                  <a:srgbClr val="191B1F"/>
                </a:solidFill>
                <a:effectLst/>
                <a:latin typeface="-apple-system"/>
              </a:rPr>
              <a:t>ControlNet</a:t>
            </a:r>
            <a:r>
              <a:rPr lang="zh-CN" altLang="en-US" b="1" i="0" dirty="0">
                <a:solidFill>
                  <a:srgbClr val="191B1F"/>
                </a:solidFill>
                <a:effectLst/>
                <a:latin typeface="-apple-system"/>
              </a:rPr>
              <a:t>的输入包括</a:t>
            </a:r>
            <a:r>
              <a:rPr lang="en-US" altLang="zh-CN" b="1" i="0" dirty="0">
                <a:solidFill>
                  <a:srgbClr val="191B1F"/>
                </a:solidFill>
                <a:effectLst/>
                <a:latin typeface="-apple-system"/>
              </a:rPr>
              <a:t>Latent</a:t>
            </a:r>
            <a:r>
              <a:rPr lang="zh-CN" altLang="en-US" b="1" i="0" dirty="0">
                <a:solidFill>
                  <a:srgbClr val="191B1F"/>
                </a:solidFill>
                <a:effectLst/>
                <a:latin typeface="-apple-system"/>
              </a:rPr>
              <a:t>特征、</a:t>
            </a:r>
            <a:r>
              <a:rPr lang="en-US" altLang="zh-CN" b="1" i="0" dirty="0">
                <a:solidFill>
                  <a:srgbClr val="191B1F"/>
                </a:solidFill>
                <a:effectLst/>
                <a:latin typeface="-apple-system"/>
              </a:rPr>
              <a:t>Time Embedding</a:t>
            </a:r>
            <a:r>
              <a:rPr lang="zh-CN" altLang="en-US" b="1" i="0" dirty="0">
                <a:solidFill>
                  <a:srgbClr val="191B1F"/>
                </a:solidFill>
                <a:effectLst/>
                <a:latin typeface="-apple-system"/>
              </a:rPr>
              <a:t>、</a:t>
            </a:r>
            <a:r>
              <a:rPr lang="en-US" altLang="zh-CN" b="1" i="0" dirty="0">
                <a:solidFill>
                  <a:srgbClr val="191B1F"/>
                </a:solidFill>
                <a:effectLst/>
                <a:latin typeface="-apple-system"/>
              </a:rPr>
              <a:t>Text Embedding</a:t>
            </a:r>
            <a:r>
              <a:rPr lang="zh-CN" altLang="en-US" b="1" i="0" dirty="0">
                <a:solidFill>
                  <a:srgbClr val="191B1F"/>
                </a:solidFill>
                <a:effectLst/>
                <a:latin typeface="-apple-system"/>
              </a:rPr>
              <a:t>以及额外的</a:t>
            </a:r>
            <a:r>
              <a:rPr lang="en-US" altLang="zh-CN" b="1" i="0" dirty="0">
                <a:solidFill>
                  <a:srgbClr val="191B1F"/>
                </a:solidFill>
                <a:effectLst/>
                <a:latin typeface="-apple-system"/>
              </a:rPr>
              <a:t>Condition</a:t>
            </a:r>
            <a:r>
              <a:rPr lang="zh-CN" altLang="en-US" b="1" i="0" dirty="0">
                <a:solidFill>
                  <a:srgbClr val="191B1F"/>
                </a:solidFill>
                <a:effectLst/>
                <a:latin typeface="-apple-system"/>
              </a:rPr>
              <a:t>特征</a:t>
            </a:r>
            <a:r>
              <a:rPr lang="zh-CN" altLang="en-US" b="0" i="0" dirty="0">
                <a:solidFill>
                  <a:srgbClr val="191B1F"/>
                </a:solidFill>
                <a:effectLst/>
                <a:latin typeface="-apple-system"/>
              </a:rPr>
              <a:t>。其中前三个和</a:t>
            </a:r>
            <a:r>
              <a:rPr lang="en-US" altLang="zh-CN" b="0" i="0" dirty="0">
                <a:solidFill>
                  <a:srgbClr val="191B1F"/>
                </a:solidFill>
                <a:effectLst/>
                <a:latin typeface="-apple-system"/>
              </a:rPr>
              <a:t>SD</a:t>
            </a:r>
            <a:r>
              <a:rPr lang="zh-CN" altLang="en-US" b="0" i="0" dirty="0">
                <a:solidFill>
                  <a:srgbClr val="191B1F"/>
                </a:solidFill>
                <a:effectLst/>
                <a:latin typeface="-apple-system"/>
              </a:rPr>
              <a:t>的输入是一致的，而额外的</a:t>
            </a:r>
            <a:r>
              <a:rPr lang="en-US" altLang="zh-CN" b="0" i="0" dirty="0">
                <a:solidFill>
                  <a:srgbClr val="191B1F"/>
                </a:solidFill>
                <a:effectLst/>
                <a:latin typeface="-apple-system"/>
              </a:rPr>
              <a:t>Condition</a:t>
            </a:r>
            <a:r>
              <a:rPr lang="zh-CN" altLang="en-US" b="0" i="0" dirty="0">
                <a:solidFill>
                  <a:srgbClr val="191B1F"/>
                </a:solidFill>
                <a:effectLst/>
                <a:latin typeface="-apple-system"/>
              </a:rPr>
              <a:t>特征是</a:t>
            </a:r>
            <a:r>
              <a:rPr lang="en-US" altLang="zh-CN" b="0" i="0" dirty="0">
                <a:solidFill>
                  <a:srgbClr val="191B1F"/>
                </a:solidFill>
                <a:effectLst/>
                <a:latin typeface="-apple-system"/>
              </a:rPr>
              <a:t>ControlNet</a:t>
            </a:r>
            <a:r>
              <a:rPr lang="zh-CN" altLang="en-US" b="0" i="0" dirty="0">
                <a:solidFill>
                  <a:srgbClr val="191B1F"/>
                </a:solidFill>
                <a:effectLst/>
                <a:latin typeface="-apple-system"/>
              </a:rPr>
              <a:t>独有的输入。额外的</a:t>
            </a:r>
            <a:r>
              <a:rPr lang="en-US" altLang="zh-CN" b="0" i="0" dirty="0">
                <a:solidFill>
                  <a:srgbClr val="191B1F"/>
                </a:solidFill>
                <a:effectLst/>
                <a:latin typeface="-apple-system"/>
              </a:rPr>
              <a:t>Condition</a:t>
            </a:r>
            <a:r>
              <a:rPr lang="zh-CN" altLang="en-US" b="0" i="0" dirty="0">
                <a:solidFill>
                  <a:srgbClr val="191B1F"/>
                </a:solidFill>
                <a:effectLst/>
                <a:latin typeface="-apple-system"/>
              </a:rPr>
              <a:t>是和输入图片一样大小的图像，比如边缘检测图、深度信息图、人体骨骼图、轮廓图等。</a:t>
            </a:r>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algn="l"/>
            <a:r>
              <a:rPr lang="en-US" altLang="zh-CN" b="1" i="0" dirty="0">
                <a:solidFill>
                  <a:srgbClr val="191B1F"/>
                </a:solidFill>
                <a:effectLst/>
                <a:latin typeface="-apple-system"/>
              </a:rPr>
              <a:t>ControlNet</a:t>
            </a:r>
            <a:r>
              <a:rPr lang="zh-CN" altLang="en-US" b="1" i="0" dirty="0">
                <a:solidFill>
                  <a:srgbClr val="191B1F"/>
                </a:solidFill>
                <a:effectLst/>
                <a:latin typeface="-apple-system"/>
              </a:rPr>
              <a:t>一开始的输入</a:t>
            </a:r>
            <a:r>
              <a:rPr lang="en-US" altLang="zh-CN" b="1" i="0" dirty="0">
                <a:solidFill>
                  <a:srgbClr val="191B1F"/>
                </a:solidFill>
                <a:effectLst/>
                <a:latin typeface="-apple-system"/>
              </a:rPr>
              <a:t>Condition</a:t>
            </a:r>
            <a:r>
              <a:rPr lang="zh-CN" altLang="en-US" b="1" i="0" dirty="0">
                <a:solidFill>
                  <a:srgbClr val="191B1F"/>
                </a:solidFill>
                <a:effectLst/>
                <a:latin typeface="-apple-system"/>
              </a:rPr>
              <a:t>怎么与</a:t>
            </a:r>
            <a:r>
              <a:rPr lang="en-US" altLang="zh-CN" b="1" i="0" dirty="0">
                <a:solidFill>
                  <a:srgbClr val="191B1F"/>
                </a:solidFill>
                <a:effectLst/>
                <a:latin typeface="-apple-system"/>
              </a:rPr>
              <a:t>SD</a:t>
            </a:r>
            <a:r>
              <a:rPr lang="zh-CN" altLang="en-US" b="1" i="0" dirty="0">
                <a:solidFill>
                  <a:srgbClr val="191B1F"/>
                </a:solidFill>
                <a:effectLst/>
                <a:latin typeface="-apple-system"/>
              </a:rPr>
              <a:t>模型的隐</a:t>
            </a:r>
            <a:r>
              <a:rPr lang="zh-CN" altLang="en-US" b="1" i="0" u="none" strike="noStrike" dirty="0">
                <a:solidFill>
                  <a:srgbClr val="09408E"/>
                </a:solidFill>
                <a:effectLst/>
                <a:latin typeface="-apple-system"/>
                <a:hlinkClick r:id="rId3"/>
              </a:rPr>
              <a:t>空间特征</a:t>
            </a:r>
            <a:r>
              <a:rPr lang="zh-CN" altLang="en-US" b="1" i="0" dirty="0">
                <a:solidFill>
                  <a:srgbClr val="191B1F"/>
                </a:solidFill>
                <a:effectLst/>
                <a:latin typeface="-apple-system"/>
              </a:rPr>
              <a:t>结合呢？</a:t>
            </a:r>
            <a:r>
              <a:rPr lang="zh-CN" altLang="en-US" b="0" i="0" dirty="0">
                <a:solidFill>
                  <a:srgbClr val="191B1F"/>
                </a:solidFill>
                <a:effectLst/>
                <a:latin typeface="-apple-system"/>
              </a:rPr>
              <a:t>在这里</a:t>
            </a:r>
            <a:r>
              <a:rPr lang="en-US" altLang="zh-CN" b="0" i="0" dirty="0">
                <a:solidFill>
                  <a:srgbClr val="191B1F"/>
                </a:solidFill>
                <a:effectLst/>
                <a:latin typeface="-apple-system"/>
              </a:rPr>
              <a:t>ControlNet</a:t>
            </a:r>
            <a:r>
              <a:rPr lang="zh-CN" altLang="en-US" b="0" i="0" dirty="0">
                <a:solidFill>
                  <a:srgbClr val="191B1F"/>
                </a:solidFill>
                <a:effectLst/>
                <a:latin typeface="-apple-system"/>
              </a:rPr>
              <a:t>并没有像</a:t>
            </a:r>
            <a:r>
              <a:rPr lang="en-US" altLang="zh-CN" b="0" i="0" dirty="0">
                <a:solidFill>
                  <a:srgbClr val="191B1F"/>
                </a:solidFill>
                <a:effectLst/>
                <a:latin typeface="-apple-system"/>
              </a:rPr>
              <a:t>SD</a:t>
            </a:r>
            <a:r>
              <a:rPr lang="zh-CN" altLang="en-US" b="0" i="0" dirty="0">
                <a:solidFill>
                  <a:srgbClr val="191B1F"/>
                </a:solidFill>
                <a:effectLst/>
                <a:latin typeface="-apple-system"/>
              </a:rPr>
              <a:t>那样通过</a:t>
            </a:r>
            <a:r>
              <a:rPr lang="en-US" altLang="zh-CN" b="0" i="0" dirty="0">
                <a:solidFill>
                  <a:srgbClr val="191B1F"/>
                </a:solidFill>
                <a:effectLst/>
                <a:latin typeface="-apple-system"/>
              </a:rPr>
              <a:t>VAE</a:t>
            </a:r>
            <a:r>
              <a:rPr lang="zh-CN" altLang="en-US" b="0" i="0" dirty="0">
                <a:solidFill>
                  <a:srgbClr val="191B1F"/>
                </a:solidFill>
                <a:effectLst/>
                <a:latin typeface="-apple-system"/>
              </a:rPr>
              <a:t>将</a:t>
            </a:r>
            <a:r>
              <a:rPr lang="en-US" altLang="zh-CN" b="0" i="0" dirty="0">
                <a:solidFill>
                  <a:srgbClr val="191B1F"/>
                </a:solidFill>
                <a:effectLst/>
                <a:latin typeface="-apple-system"/>
              </a:rPr>
              <a:t>Condition</a:t>
            </a:r>
            <a:r>
              <a:rPr lang="zh-CN" altLang="en-US" b="0" i="0" dirty="0">
                <a:solidFill>
                  <a:srgbClr val="191B1F"/>
                </a:solidFill>
                <a:effectLst/>
                <a:latin typeface="-apple-system"/>
              </a:rPr>
              <a:t>进行</a:t>
            </a:r>
            <a:r>
              <a:rPr lang="zh-CN" altLang="en-US" b="0" i="0" u="none" strike="noStrike" dirty="0">
                <a:solidFill>
                  <a:srgbClr val="09408E"/>
                </a:solidFill>
                <a:effectLst/>
                <a:latin typeface="-apple-system"/>
                <a:hlinkClick r:id="rId4"/>
              </a:rPr>
              <a:t>特征编码</a:t>
            </a:r>
            <a:r>
              <a:rPr lang="zh-CN" altLang="en-US" b="0" i="0" dirty="0">
                <a:solidFill>
                  <a:srgbClr val="191B1F"/>
                </a:solidFill>
                <a:effectLst/>
                <a:latin typeface="-apple-system"/>
              </a:rPr>
              <a:t>，而是在训练过程中添加了一个四层卷积层的小网络，将图像空间</a:t>
            </a:r>
            <a:r>
              <a:rPr lang="en-US" altLang="zh-CN" b="0" i="0" dirty="0">
                <a:solidFill>
                  <a:srgbClr val="191B1F"/>
                </a:solidFill>
                <a:effectLst/>
                <a:latin typeface="-apple-system"/>
              </a:rPr>
              <a:t>Condition</a:t>
            </a:r>
            <a:r>
              <a:rPr lang="zh-CN" altLang="en-US" b="0" i="0" dirty="0">
                <a:solidFill>
                  <a:srgbClr val="191B1F"/>
                </a:solidFill>
                <a:effectLst/>
                <a:latin typeface="-apple-system"/>
              </a:rPr>
              <a:t>转化为隐空间</a:t>
            </a:r>
            <a:r>
              <a:rPr lang="en-US" altLang="zh-CN" b="0" i="0" dirty="0">
                <a:solidFill>
                  <a:srgbClr val="191B1F"/>
                </a:solidFill>
                <a:effectLst/>
                <a:latin typeface="-apple-system"/>
              </a:rPr>
              <a:t>Condition</a:t>
            </a:r>
            <a:r>
              <a:rPr lang="zh-CN" altLang="en-US" b="0" i="0" dirty="0">
                <a:solidFill>
                  <a:srgbClr val="191B1F"/>
                </a:solidFill>
                <a:effectLst/>
                <a:latin typeface="-apple-system"/>
              </a:rPr>
              <a:t>，</a:t>
            </a:r>
            <a:r>
              <a:rPr lang="zh-CN" altLang="en-US" b="1" i="0" dirty="0">
                <a:solidFill>
                  <a:srgbClr val="191B1F"/>
                </a:solidFill>
                <a:effectLst/>
                <a:latin typeface="-apple-system"/>
              </a:rPr>
              <a:t>并将</a:t>
            </a:r>
            <a:r>
              <a:rPr lang="en-US" altLang="zh-CN" b="1" i="0" dirty="0">
                <a:solidFill>
                  <a:srgbClr val="191B1F"/>
                </a:solidFill>
                <a:effectLst/>
                <a:latin typeface="-apple-system"/>
              </a:rPr>
              <a:t>Condition</a:t>
            </a:r>
            <a:r>
              <a:rPr lang="zh-CN" altLang="en-US" b="1" i="0" dirty="0">
                <a:solidFill>
                  <a:srgbClr val="191B1F"/>
                </a:solidFill>
                <a:effectLst/>
                <a:latin typeface="-apple-system"/>
              </a:rPr>
              <a:t>特征加在</a:t>
            </a:r>
            <a:r>
              <a:rPr lang="en-US" altLang="zh-CN" b="1" i="0" dirty="0">
                <a:solidFill>
                  <a:srgbClr val="191B1F"/>
                </a:solidFill>
                <a:effectLst/>
                <a:latin typeface="-apple-system"/>
              </a:rPr>
              <a:t>Latent</a:t>
            </a:r>
            <a:r>
              <a:rPr lang="zh-CN" altLang="en-US" b="1" i="0" dirty="0">
                <a:solidFill>
                  <a:srgbClr val="191B1F"/>
                </a:solidFill>
                <a:effectLst/>
                <a:latin typeface="-apple-system"/>
              </a:rPr>
              <a:t>特征经过第一个卷积后的输出上</a:t>
            </a:r>
            <a:r>
              <a:rPr lang="zh-CN" altLang="en-US" b="0" i="0" dirty="0">
                <a:solidFill>
                  <a:srgbClr val="191B1F"/>
                </a:solidFill>
                <a:effectLst/>
                <a:latin typeface="-apple-system"/>
              </a:rPr>
              <a:t>。这些卷积层的卷积核为</a:t>
            </a:r>
            <a:r>
              <a:rPr lang="en-US" altLang="zh-CN" b="0" i="0" dirty="0">
                <a:solidFill>
                  <a:srgbClr val="191B1F"/>
                </a:solidFill>
                <a:effectLst/>
                <a:latin typeface="-apple-system"/>
              </a:rPr>
              <a:t>4×4</a:t>
            </a:r>
            <a:r>
              <a:rPr lang="zh-CN" altLang="en-US" b="0" i="0" dirty="0">
                <a:solidFill>
                  <a:srgbClr val="191B1F"/>
                </a:solidFill>
                <a:effectLst/>
                <a:latin typeface="-apple-system"/>
              </a:rPr>
              <a:t>，步长为</a:t>
            </a:r>
            <a:r>
              <a:rPr lang="en-US" altLang="zh-CN" b="0" i="0" dirty="0">
                <a:solidFill>
                  <a:srgbClr val="191B1F"/>
                </a:solidFill>
                <a:effectLst/>
                <a:latin typeface="-apple-system"/>
              </a:rPr>
              <a:t>2</a:t>
            </a:r>
            <a:r>
              <a:rPr lang="zh-CN" altLang="en-US" b="0" i="0" dirty="0">
                <a:solidFill>
                  <a:srgbClr val="191B1F"/>
                </a:solidFill>
                <a:effectLst/>
                <a:latin typeface="-apple-system"/>
              </a:rPr>
              <a:t>，通道分别为</a:t>
            </a:r>
            <a:r>
              <a:rPr lang="en-US" altLang="zh-CN" b="0" i="0" dirty="0">
                <a:solidFill>
                  <a:srgbClr val="191B1F"/>
                </a:solidFill>
                <a:effectLst/>
                <a:latin typeface="-apple-system"/>
              </a:rPr>
              <a:t>16</a:t>
            </a:r>
            <a:r>
              <a:rPr lang="zh-CN" altLang="en-US" b="0" i="0" dirty="0">
                <a:solidFill>
                  <a:srgbClr val="191B1F"/>
                </a:solidFill>
                <a:effectLst/>
                <a:latin typeface="-apple-system"/>
              </a:rPr>
              <a:t>，</a:t>
            </a:r>
            <a:r>
              <a:rPr lang="en-US" altLang="zh-CN" b="0" i="0" dirty="0">
                <a:solidFill>
                  <a:srgbClr val="191B1F"/>
                </a:solidFill>
                <a:effectLst/>
                <a:latin typeface="-apple-system"/>
              </a:rPr>
              <a:t>32</a:t>
            </a:r>
            <a:r>
              <a:rPr lang="zh-CN" altLang="en-US" b="0" i="0" dirty="0">
                <a:solidFill>
                  <a:srgbClr val="191B1F"/>
                </a:solidFill>
                <a:effectLst/>
                <a:latin typeface="-apple-system"/>
              </a:rPr>
              <a:t>，</a:t>
            </a:r>
            <a:r>
              <a:rPr lang="en-US" altLang="zh-CN" b="0" i="0" dirty="0">
                <a:solidFill>
                  <a:srgbClr val="191B1F"/>
                </a:solidFill>
                <a:effectLst/>
                <a:latin typeface="-apple-system"/>
              </a:rPr>
              <a:t>64</a:t>
            </a:r>
            <a:r>
              <a:rPr lang="zh-CN" altLang="en-US" b="0" i="0" dirty="0">
                <a:solidFill>
                  <a:srgbClr val="191B1F"/>
                </a:solidFill>
                <a:effectLst/>
                <a:latin typeface="-apple-system"/>
              </a:rPr>
              <a:t>，</a:t>
            </a:r>
            <a:r>
              <a:rPr lang="en-US" altLang="zh-CN" b="0" i="0" dirty="0">
                <a:solidFill>
                  <a:srgbClr val="191B1F"/>
                </a:solidFill>
                <a:effectLst/>
                <a:latin typeface="-apple-system"/>
              </a:rPr>
              <a:t>128</a:t>
            </a:r>
            <a:r>
              <a:rPr lang="zh-CN" altLang="en-US" b="0" i="0" dirty="0">
                <a:solidFill>
                  <a:srgbClr val="191B1F"/>
                </a:solidFill>
                <a:effectLst/>
                <a:latin typeface="-apple-system"/>
              </a:rPr>
              <a:t>，初始化为高斯权重，并与整个</a:t>
            </a:r>
            <a:r>
              <a:rPr lang="en-US" altLang="zh-CN" b="0" i="0" dirty="0">
                <a:solidFill>
                  <a:srgbClr val="191B1F"/>
                </a:solidFill>
                <a:effectLst/>
                <a:latin typeface="-apple-system"/>
              </a:rPr>
              <a:t>ControlNet</a:t>
            </a:r>
            <a:r>
              <a:rPr lang="zh-CN" altLang="en-US" b="0" i="0" dirty="0">
                <a:solidFill>
                  <a:srgbClr val="191B1F"/>
                </a:solidFill>
                <a:effectLst/>
                <a:latin typeface="-apple-system"/>
              </a:rPr>
              <a:t>模型进行联合训练。</a:t>
            </a:r>
            <a:r>
              <a:rPr lang="zh-CN" altLang="en-US" b="1" i="0" dirty="0">
                <a:solidFill>
                  <a:srgbClr val="191B1F"/>
                </a:solidFill>
                <a:effectLst/>
                <a:latin typeface="-apple-system"/>
              </a:rPr>
              <a:t>由于</a:t>
            </a:r>
            <a:r>
              <a:rPr lang="en-US" altLang="zh-CN" b="1" i="0" dirty="0">
                <a:solidFill>
                  <a:srgbClr val="191B1F"/>
                </a:solidFill>
                <a:effectLst/>
                <a:latin typeface="-apple-system"/>
              </a:rPr>
              <a:t>SD</a:t>
            </a:r>
            <a:r>
              <a:rPr lang="zh-CN" altLang="en-US" b="1" i="0" dirty="0">
                <a:solidFill>
                  <a:srgbClr val="191B1F"/>
                </a:solidFill>
                <a:effectLst/>
                <a:latin typeface="-apple-system"/>
              </a:rPr>
              <a:t>中经过</a:t>
            </a:r>
            <a:r>
              <a:rPr lang="en-US" altLang="zh-CN" b="1" i="0" dirty="0">
                <a:solidFill>
                  <a:srgbClr val="191B1F"/>
                </a:solidFill>
                <a:effectLst/>
                <a:latin typeface="-apple-system"/>
              </a:rPr>
              <a:t>VAE</a:t>
            </a:r>
            <a:r>
              <a:rPr lang="zh-CN" altLang="en-US" b="1" i="0" dirty="0">
                <a:solidFill>
                  <a:srgbClr val="191B1F"/>
                </a:solidFill>
                <a:effectLst/>
                <a:latin typeface="-apple-system"/>
              </a:rPr>
              <a:t>编码后的</a:t>
            </a:r>
            <a:r>
              <a:rPr lang="en-US" altLang="zh-CN" b="1" i="0" dirty="0">
                <a:solidFill>
                  <a:srgbClr val="191B1F"/>
                </a:solidFill>
                <a:effectLst/>
                <a:latin typeface="-apple-system"/>
              </a:rPr>
              <a:t>Latent</a:t>
            </a:r>
            <a:r>
              <a:rPr lang="zh-CN" altLang="en-US" b="1" i="0" dirty="0">
                <a:solidFill>
                  <a:srgbClr val="191B1F"/>
                </a:solidFill>
                <a:effectLst/>
                <a:latin typeface="-apple-system"/>
              </a:rPr>
              <a:t>特征的分辨率降低了</a:t>
            </a:r>
            <a:r>
              <a:rPr lang="en-US" altLang="zh-CN" b="1" i="0" dirty="0">
                <a:solidFill>
                  <a:srgbClr val="191B1F"/>
                </a:solidFill>
                <a:effectLst/>
                <a:latin typeface="-apple-system"/>
              </a:rPr>
              <a:t>8x</a:t>
            </a:r>
            <a:r>
              <a:rPr lang="zh-CN" altLang="en-US" b="1" i="0" dirty="0">
                <a:solidFill>
                  <a:srgbClr val="191B1F"/>
                </a:solidFill>
                <a:effectLst/>
                <a:latin typeface="-apple-system"/>
              </a:rPr>
              <a:t>，所以这个小的卷积网络同样需要将</a:t>
            </a:r>
            <a:r>
              <a:rPr lang="en-US" altLang="zh-CN" b="1" i="0" dirty="0">
                <a:solidFill>
                  <a:srgbClr val="191B1F"/>
                </a:solidFill>
                <a:effectLst/>
                <a:latin typeface="-apple-system"/>
              </a:rPr>
              <a:t>Condition</a:t>
            </a:r>
            <a:r>
              <a:rPr lang="zh-CN" altLang="en-US" b="1" i="0" dirty="0">
                <a:solidFill>
                  <a:srgbClr val="191B1F"/>
                </a:solidFill>
                <a:effectLst/>
                <a:latin typeface="-apple-system"/>
              </a:rPr>
              <a:t>特征下采样</a:t>
            </a:r>
            <a:r>
              <a:rPr lang="en-US" altLang="zh-CN" b="1" i="0" dirty="0">
                <a:solidFill>
                  <a:srgbClr val="191B1F"/>
                </a:solidFill>
                <a:effectLst/>
                <a:latin typeface="-apple-system"/>
              </a:rPr>
              <a:t>8x</a:t>
            </a:r>
            <a:r>
              <a:rPr lang="zh-CN" altLang="en-US" b="1" i="0" dirty="0">
                <a:solidFill>
                  <a:srgbClr val="191B1F"/>
                </a:solidFill>
                <a:effectLst/>
                <a:latin typeface="-apple-system"/>
              </a:rPr>
              <a:t>，并输出和</a:t>
            </a:r>
            <a:r>
              <a:rPr lang="en-US" altLang="zh-CN" b="1" i="0" dirty="0">
                <a:solidFill>
                  <a:srgbClr val="191B1F"/>
                </a:solidFill>
                <a:effectLst/>
                <a:latin typeface="-apple-system"/>
              </a:rPr>
              <a:t>Latent</a:t>
            </a:r>
            <a:r>
              <a:rPr lang="zh-CN" altLang="en-US" b="1" i="0" dirty="0">
                <a:solidFill>
                  <a:srgbClr val="191B1F"/>
                </a:solidFill>
                <a:effectLst/>
                <a:latin typeface="-apple-system"/>
              </a:rPr>
              <a:t>特征同维度的特征</a:t>
            </a:r>
            <a:r>
              <a:rPr lang="en-US" altLang="zh-CN" b="1" i="0" dirty="0">
                <a:solidFill>
                  <a:srgbClr val="191B1F"/>
                </a:solidFill>
                <a:effectLst/>
                <a:latin typeface="-apple-system"/>
              </a:rPr>
              <a:t>;</a:t>
            </a:r>
            <a:r>
              <a:rPr lang="zh-CN" altLang="en-US" b="1" i="0" dirty="0">
                <a:solidFill>
                  <a:srgbClr val="191B1F"/>
                </a:solidFill>
                <a:effectLst/>
                <a:latin typeface="-apple-system"/>
              </a:rPr>
              <a:t> 在这里，</a:t>
            </a:r>
            <a:r>
              <a:rPr lang="en-US" altLang="zh-CN" b="1" i="0" dirty="0">
                <a:solidFill>
                  <a:srgbClr val="191B1F"/>
                </a:solidFill>
                <a:effectLst/>
                <a:latin typeface="-apple-system"/>
              </a:rPr>
              <a:t>ControlNet</a:t>
            </a:r>
            <a:r>
              <a:rPr lang="zh-CN" altLang="en-US" b="1" i="0" dirty="0">
                <a:solidFill>
                  <a:srgbClr val="191B1F"/>
                </a:solidFill>
                <a:effectLst/>
                <a:latin typeface="-apple-system"/>
              </a:rPr>
              <a:t>没有使用</a:t>
            </a:r>
            <a:r>
              <a:rPr lang="en-US" altLang="zh-CN" b="1" i="0" dirty="0">
                <a:solidFill>
                  <a:srgbClr val="191B1F"/>
                </a:solidFill>
                <a:effectLst/>
                <a:latin typeface="-apple-system"/>
              </a:rPr>
              <a:t>VAE</a:t>
            </a:r>
            <a:r>
              <a:rPr lang="zh-CN" altLang="en-US" b="1" i="0" dirty="0">
                <a:solidFill>
                  <a:srgbClr val="191B1F"/>
                </a:solidFill>
                <a:effectLst/>
                <a:latin typeface="-apple-system"/>
              </a:rPr>
              <a:t>来编码</a:t>
            </a:r>
            <a:r>
              <a:rPr lang="en-US" altLang="zh-CN" b="1" i="0" dirty="0">
                <a:solidFill>
                  <a:srgbClr val="191B1F"/>
                </a:solidFill>
                <a:effectLst/>
                <a:latin typeface="-apple-system"/>
              </a:rPr>
              <a:t>Condition</a:t>
            </a:r>
            <a:r>
              <a:rPr lang="zh-CN" altLang="en-US" b="1" i="0" dirty="0">
                <a:solidFill>
                  <a:srgbClr val="191B1F"/>
                </a:solidFill>
                <a:effectLst/>
                <a:latin typeface="-apple-system"/>
              </a:rPr>
              <a:t>特征</a:t>
            </a:r>
            <a:r>
              <a:rPr lang="zh-CN" altLang="en-US" b="0" i="0" dirty="0">
                <a:solidFill>
                  <a:srgbClr val="191B1F"/>
                </a:solidFill>
                <a:effectLst/>
                <a:latin typeface="-apple-system"/>
              </a:rPr>
              <a:t>主要还是因为</a:t>
            </a:r>
            <a:r>
              <a:rPr lang="en-US" altLang="zh-CN" b="0" i="0" dirty="0">
                <a:solidFill>
                  <a:srgbClr val="191B1F"/>
                </a:solidFill>
                <a:effectLst/>
                <a:latin typeface="-apple-system"/>
              </a:rPr>
              <a:t>Condition</a:t>
            </a:r>
            <a:r>
              <a:rPr lang="zh-CN" altLang="en-US" b="0" i="0" dirty="0">
                <a:solidFill>
                  <a:srgbClr val="191B1F"/>
                </a:solidFill>
                <a:effectLst/>
                <a:latin typeface="-apple-system"/>
              </a:rPr>
              <a:t>特征大部分是比较简单的图像比如深度信息图、人体骨骼图、轮廓图、边缘图等，采用一个小型卷积网络来提取特征是性价比比较高的事情，此外通过</a:t>
            </a:r>
            <a:r>
              <a:rPr lang="en-US" altLang="zh-CN" b="0" i="0" dirty="0">
                <a:solidFill>
                  <a:srgbClr val="191B1F"/>
                </a:solidFill>
                <a:effectLst/>
                <a:latin typeface="-apple-system"/>
              </a:rPr>
              <a:t>VAE</a:t>
            </a:r>
            <a:r>
              <a:rPr lang="zh-CN" altLang="en-US" b="0" i="0" dirty="0">
                <a:solidFill>
                  <a:srgbClr val="191B1F"/>
                </a:solidFill>
                <a:effectLst/>
                <a:latin typeface="-apple-system"/>
              </a:rPr>
              <a:t>编码本身也会造成一定的信息损失。总的来说，</a:t>
            </a:r>
            <a:r>
              <a:rPr lang="en-US" altLang="zh-CN" b="0" i="0" dirty="0">
                <a:solidFill>
                  <a:srgbClr val="191B1F"/>
                </a:solidFill>
                <a:effectLst/>
                <a:latin typeface="-apple-system"/>
              </a:rPr>
              <a:t>ControlNet</a:t>
            </a:r>
            <a:r>
              <a:rPr lang="zh-CN" altLang="en-US" b="0" i="0" dirty="0">
                <a:solidFill>
                  <a:srgbClr val="191B1F"/>
                </a:solidFill>
                <a:effectLst/>
                <a:latin typeface="-apple-system"/>
              </a:rPr>
              <a:t>的架构与思想，让其可以对图像的背景、结构、动作、表情等特征进行精准的控制。</a:t>
            </a:r>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i="0" dirty="0">
                <a:solidFill>
                  <a:srgbClr val="191B1F"/>
                </a:solidFill>
                <a:effectLst/>
                <a:latin typeface="-apple-system"/>
              </a:rPr>
              <a:t>然后是</a:t>
            </a:r>
            <a:r>
              <a:rPr lang="en-US" altLang="zh-CN" sz="1200" dirty="0">
                <a:solidFill>
                  <a:schemeClr val="tx1">
                    <a:lumMod val="65000"/>
                    <a:lumOff val="35000"/>
                  </a:schemeClr>
                </a:solidFill>
                <a:latin typeface="微软雅黑" charset="-122"/>
                <a:ea typeface="微软雅黑" charset="-122"/>
              </a:rPr>
              <a:t>ControlNet</a:t>
            </a:r>
            <a:r>
              <a:rPr lang="zh-CN" altLang="en-US" sz="1200" dirty="0">
                <a:solidFill>
                  <a:schemeClr val="tx1">
                    <a:lumMod val="65000"/>
                    <a:lumOff val="35000"/>
                  </a:schemeClr>
                </a:solidFill>
                <a:latin typeface="微软雅黑" charset="-122"/>
                <a:ea typeface="微软雅黑" charset="-122"/>
              </a:rPr>
              <a:t>训练的损失函数和策略，</a:t>
            </a:r>
            <a:r>
              <a:rPr lang="en-US" altLang="zh-CN" b="1" i="0" dirty="0">
                <a:solidFill>
                  <a:srgbClr val="191B1F"/>
                </a:solidFill>
                <a:effectLst/>
                <a:latin typeface="-apple-system"/>
              </a:rPr>
              <a:t>ControlNet</a:t>
            </a:r>
            <a:r>
              <a:rPr lang="zh-CN" altLang="en-US" b="1" i="0" dirty="0">
                <a:solidFill>
                  <a:srgbClr val="191B1F"/>
                </a:solidFill>
                <a:effectLst/>
                <a:latin typeface="-apple-system"/>
              </a:rPr>
              <a:t>训练时的损失函数依旧采用经典</a:t>
            </a:r>
            <a:r>
              <a:rPr lang="en-US" altLang="zh-CN" b="1" i="0" dirty="0">
                <a:solidFill>
                  <a:srgbClr val="191B1F"/>
                </a:solidFill>
                <a:effectLst/>
                <a:latin typeface="-apple-system"/>
              </a:rPr>
              <a:t>SD</a:t>
            </a:r>
            <a:r>
              <a:rPr lang="zh-CN" altLang="en-US" b="1" i="0" dirty="0">
                <a:solidFill>
                  <a:srgbClr val="191B1F"/>
                </a:solidFill>
                <a:effectLst/>
                <a:latin typeface="-apple-system"/>
              </a:rPr>
              <a:t>系列扩散模型所用的拟合噪声</a:t>
            </a:r>
            <a:r>
              <a:rPr lang="zh-CN" altLang="en-US" b="0" i="0" dirty="0">
                <a:solidFill>
                  <a:srgbClr val="191B1F"/>
                </a:solidFill>
                <a:effectLst/>
                <a:latin typeface="-apple-system"/>
              </a:rPr>
              <a:t>，作为</a:t>
            </a:r>
            <a:r>
              <a:rPr lang="en-US" altLang="zh-CN" b="0" i="0" dirty="0">
                <a:solidFill>
                  <a:srgbClr val="191B1F"/>
                </a:solidFill>
                <a:effectLst/>
                <a:latin typeface="-apple-system"/>
              </a:rPr>
              <a:t>ControlNet</a:t>
            </a:r>
            <a:r>
              <a:rPr lang="zh-CN" altLang="en-US" b="0" i="0" dirty="0">
                <a:solidFill>
                  <a:srgbClr val="191B1F"/>
                </a:solidFill>
                <a:effectLst/>
                <a:latin typeface="-apple-system"/>
              </a:rPr>
              <a:t>的总体学习目标：其中给定图像</a:t>
            </a:r>
            <a:r>
              <a:rPr lang="en-US" altLang="zh-CN" b="0" i="0" dirty="0">
                <a:solidFill>
                  <a:srgbClr val="191B1F"/>
                </a:solidFill>
                <a:effectLst/>
                <a:latin typeface="-apple-system"/>
              </a:rPr>
              <a:t>z0</a:t>
            </a:r>
            <a:r>
              <a:rPr lang="zh-CN" altLang="en-US" b="0" i="0" dirty="0">
                <a:solidFill>
                  <a:srgbClr val="191B1F"/>
                </a:solidFill>
                <a:effectLst/>
                <a:latin typeface="-apple-system"/>
              </a:rPr>
              <a:t> ，扩散过程逐渐向图像中添加噪声并产生噪声图像</a:t>
            </a:r>
            <a:r>
              <a:rPr lang="en-US" altLang="zh-CN" b="0" i="0" dirty="0" err="1">
                <a:solidFill>
                  <a:srgbClr val="191B1F"/>
                </a:solidFill>
                <a:effectLst/>
                <a:latin typeface="-apple-system"/>
              </a:rPr>
              <a:t>zt</a:t>
            </a:r>
            <a:r>
              <a:rPr lang="zh-CN" altLang="en-US" b="0" i="0" dirty="0">
                <a:solidFill>
                  <a:srgbClr val="191B1F"/>
                </a:solidFill>
                <a:effectLst/>
                <a:latin typeface="-apple-system"/>
              </a:rPr>
              <a:t>， </a:t>
            </a:r>
            <a:r>
              <a:rPr lang="en-US" altLang="zh-CN" b="0" i="0" dirty="0">
                <a:solidFill>
                  <a:srgbClr val="191B1F"/>
                </a:solidFill>
                <a:effectLst/>
                <a:latin typeface="-apple-system"/>
              </a:rPr>
              <a:t>t</a:t>
            </a:r>
            <a:r>
              <a:rPr lang="zh-CN" altLang="en-US" b="0" i="0" dirty="0">
                <a:solidFill>
                  <a:srgbClr val="191B1F"/>
                </a:solidFill>
                <a:effectLst/>
                <a:latin typeface="-apple-system"/>
              </a:rPr>
              <a:t>是添加噪声的</a:t>
            </a:r>
            <a:r>
              <a:rPr lang="zh-CN" altLang="en-US" b="0" i="0" u="none" strike="noStrike" dirty="0">
                <a:solidFill>
                  <a:srgbClr val="09408E"/>
                </a:solidFill>
                <a:effectLst/>
                <a:latin typeface="-apple-system"/>
                <a:hlinkClick r:id="rId3"/>
              </a:rPr>
              <a:t>时间步长</a:t>
            </a:r>
            <a:r>
              <a:rPr lang="zh-CN" altLang="en-US" b="0" i="0" dirty="0">
                <a:solidFill>
                  <a:srgbClr val="191B1F"/>
                </a:solidFill>
                <a:effectLst/>
                <a:latin typeface="-apple-system"/>
              </a:rPr>
              <a:t>。当</a:t>
            </a:r>
            <a:r>
              <a:rPr lang="en-US" altLang="zh-CN" b="0" i="0" dirty="0">
                <a:solidFill>
                  <a:srgbClr val="191B1F"/>
                </a:solidFill>
                <a:effectLst/>
                <a:latin typeface="-apple-system"/>
              </a:rPr>
              <a:t>t</a:t>
            </a:r>
            <a:r>
              <a:rPr lang="zh-CN" altLang="en-US" b="0" i="0" dirty="0">
                <a:solidFill>
                  <a:srgbClr val="191B1F"/>
                </a:solidFill>
                <a:effectLst/>
                <a:latin typeface="-apple-system"/>
              </a:rPr>
              <a:t>足够大时，图像近似于高斯纯噪声。同时给定一组包括时间步长 </a:t>
            </a:r>
            <a:r>
              <a:rPr lang="en-US" altLang="zh-CN" b="0" i="0" dirty="0">
                <a:solidFill>
                  <a:srgbClr val="191B1F"/>
                </a:solidFill>
                <a:effectLst/>
                <a:latin typeface="-apple-system"/>
              </a:rPr>
              <a:t>t</a:t>
            </a:r>
            <a:r>
              <a:rPr lang="zh-CN" altLang="en-US" b="0" i="0" dirty="0">
                <a:solidFill>
                  <a:srgbClr val="191B1F"/>
                </a:solidFill>
                <a:effectLst/>
                <a:latin typeface="-apple-system"/>
              </a:rPr>
              <a:t>、文本</a:t>
            </a:r>
            <a:r>
              <a:rPr lang="en-US" altLang="zh-CN" b="0" i="0" dirty="0">
                <a:solidFill>
                  <a:srgbClr val="191B1F"/>
                </a:solidFill>
                <a:effectLst/>
                <a:latin typeface="-apple-system"/>
              </a:rPr>
              <a:t>prompts </a:t>
            </a:r>
            <a:r>
              <a:rPr lang="en-US" altLang="zh-CN" b="0" i="0" dirty="0" err="1">
                <a:solidFill>
                  <a:srgbClr val="191B1F"/>
                </a:solidFill>
                <a:effectLst/>
                <a:latin typeface="-apple-system"/>
              </a:rPr>
              <a:t>ct</a:t>
            </a:r>
            <a:r>
              <a:rPr lang="en-US" altLang="zh-CN" b="0" i="0" dirty="0">
                <a:solidFill>
                  <a:srgbClr val="191B1F"/>
                </a:solidFill>
                <a:effectLst/>
                <a:latin typeface="-apple-system"/>
              </a:rPr>
              <a:t> </a:t>
            </a:r>
            <a:r>
              <a:rPr lang="zh-CN" altLang="en-US" b="0" i="0" dirty="0">
                <a:solidFill>
                  <a:srgbClr val="191B1F"/>
                </a:solidFill>
                <a:effectLst/>
                <a:latin typeface="-apple-system"/>
              </a:rPr>
              <a:t>以及额外的</a:t>
            </a:r>
            <a:r>
              <a:rPr lang="en-US" altLang="zh-CN" b="0" i="0" dirty="0">
                <a:solidFill>
                  <a:srgbClr val="191B1F"/>
                </a:solidFill>
                <a:effectLst/>
                <a:latin typeface="-apple-system"/>
              </a:rPr>
              <a:t>ControlNet</a:t>
            </a:r>
            <a:r>
              <a:rPr lang="zh-CN" altLang="en-US" b="0" i="0" dirty="0">
                <a:solidFill>
                  <a:srgbClr val="191B1F"/>
                </a:solidFill>
                <a:effectLst/>
                <a:latin typeface="-apple-system"/>
              </a:rPr>
              <a:t>控制条件 </a:t>
            </a:r>
            <a:r>
              <a:rPr lang="en-US" altLang="zh-CN" b="0" i="0" dirty="0" err="1">
                <a:solidFill>
                  <a:srgbClr val="191B1F"/>
                </a:solidFill>
                <a:effectLst/>
                <a:latin typeface="-apple-system"/>
              </a:rPr>
              <a:t>cf</a:t>
            </a:r>
            <a:r>
              <a:rPr lang="zh-CN" altLang="en-US" b="0" i="0" dirty="0">
                <a:solidFill>
                  <a:srgbClr val="191B1F"/>
                </a:solidFill>
                <a:effectLst/>
                <a:latin typeface="-apple-system"/>
              </a:rPr>
              <a:t>，</a:t>
            </a:r>
            <a:r>
              <a:rPr lang="zh-CN" altLang="en-US" b="1" i="0" dirty="0">
                <a:solidFill>
                  <a:srgbClr val="191B1F"/>
                </a:solidFill>
                <a:effectLst/>
                <a:latin typeface="-apple-system"/>
              </a:rPr>
              <a:t>这意味着加上</a:t>
            </a:r>
            <a:r>
              <a:rPr lang="en-US" altLang="zh-CN" b="1" i="0" dirty="0">
                <a:solidFill>
                  <a:srgbClr val="191B1F"/>
                </a:solidFill>
                <a:effectLst/>
                <a:latin typeface="-apple-system"/>
              </a:rPr>
              <a:t>ControlNet</a:t>
            </a:r>
            <a:r>
              <a:rPr lang="zh-CN" altLang="en-US" b="1" i="0" dirty="0">
                <a:solidFill>
                  <a:srgbClr val="191B1F"/>
                </a:solidFill>
                <a:effectLst/>
                <a:latin typeface="-apple-system"/>
              </a:rPr>
              <a:t>的</a:t>
            </a:r>
            <a:r>
              <a:rPr lang="en-US" altLang="zh-CN" b="1" i="0" dirty="0">
                <a:solidFill>
                  <a:srgbClr val="191B1F"/>
                </a:solidFill>
                <a:effectLst/>
                <a:latin typeface="-apple-system"/>
              </a:rPr>
              <a:t>SD</a:t>
            </a:r>
            <a:r>
              <a:rPr lang="zh-CN" altLang="en-US" b="1" i="0" dirty="0">
                <a:solidFill>
                  <a:srgbClr val="191B1F"/>
                </a:solidFill>
                <a:effectLst/>
                <a:latin typeface="-apple-system"/>
              </a:rPr>
              <a:t>其实变成了双条件扩散模型</a:t>
            </a:r>
            <a:r>
              <a:rPr lang="zh-CN" altLang="en-US" b="0" i="0" dirty="0">
                <a:solidFill>
                  <a:srgbClr val="191B1F"/>
                </a:solidFill>
                <a:effectLst/>
                <a:latin typeface="-apple-system"/>
              </a:rPr>
              <a:t>。</a:t>
            </a:r>
            <a:r>
              <a:rPr lang="en-US" altLang="zh-CN" b="0" i="0" dirty="0">
                <a:solidFill>
                  <a:srgbClr val="191B1F"/>
                </a:solidFill>
                <a:effectLst/>
                <a:latin typeface="-apple-system"/>
              </a:rPr>
              <a:t>SD1</a:t>
            </a:r>
            <a:r>
              <a:rPr lang="zh-CN" altLang="en-US" b="0" i="0" dirty="0">
                <a:solidFill>
                  <a:srgbClr val="191B1F"/>
                </a:solidFill>
                <a:effectLst/>
                <a:latin typeface="-apple-system"/>
              </a:rPr>
              <a:t>扩散过程中学习更新模型参数权重 </a:t>
            </a:r>
            <a:r>
              <a:rPr lang="en-US" altLang="zh-CN" b="0" i="0" dirty="0" err="1">
                <a:solidFill>
                  <a:srgbClr val="191B1F"/>
                </a:solidFill>
                <a:effectLst/>
                <a:latin typeface="-apple-system"/>
              </a:rPr>
              <a:t>εθ</a:t>
            </a:r>
            <a:r>
              <a:rPr lang="zh-CN" altLang="en-US" b="0" i="0" dirty="0">
                <a:solidFill>
                  <a:srgbClr val="191B1F"/>
                </a:solidFill>
                <a:effectLst/>
                <a:latin typeface="-apple-system"/>
              </a:rPr>
              <a:t>，并用来预测添加到噪声图像 </a:t>
            </a:r>
            <a:r>
              <a:rPr lang="en-US" altLang="zh-CN" b="0" i="0" dirty="0" err="1">
                <a:solidFill>
                  <a:srgbClr val="191B1F"/>
                </a:solidFill>
                <a:effectLst/>
                <a:latin typeface="-apple-system"/>
              </a:rPr>
              <a:t>zt</a:t>
            </a:r>
            <a:r>
              <a:rPr lang="zh-CN" altLang="en-US" b="0" i="0" dirty="0">
                <a:solidFill>
                  <a:srgbClr val="191B1F"/>
                </a:solidFill>
                <a:effectLst/>
                <a:latin typeface="-apple-system"/>
              </a:rPr>
              <a:t>中的噪声。</a:t>
            </a:r>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algn="l"/>
            <a:r>
              <a:rPr lang="zh-CN" altLang="en-US" b="0" i="0" dirty="0">
                <a:solidFill>
                  <a:srgbClr val="191B1F"/>
                </a:solidFill>
                <a:effectLst/>
                <a:latin typeface="-apple-system"/>
              </a:rPr>
              <a:t>我们知道</a:t>
            </a:r>
            <a:r>
              <a:rPr lang="en-US" altLang="zh-CN" b="0" i="0" dirty="0">
                <a:solidFill>
                  <a:srgbClr val="191B1F"/>
                </a:solidFill>
                <a:effectLst/>
                <a:latin typeface="-apple-system"/>
              </a:rPr>
              <a:t>Stable Diffusion</a:t>
            </a:r>
            <a:r>
              <a:rPr lang="zh-CN" altLang="en-US" b="0" i="0" dirty="0">
                <a:solidFill>
                  <a:srgbClr val="191B1F"/>
                </a:solidFill>
                <a:effectLst/>
                <a:latin typeface="-apple-system"/>
              </a:rPr>
              <a:t>模型在推理阶段会采用</a:t>
            </a:r>
            <a:r>
              <a:rPr lang="en-US" altLang="zh-CN" b="0" i="0" dirty="0">
                <a:solidFill>
                  <a:srgbClr val="191B1F"/>
                </a:solidFill>
                <a:effectLst/>
                <a:latin typeface="-apple-system"/>
              </a:rPr>
              <a:t>classifier-free guidance</a:t>
            </a:r>
            <a:r>
              <a:rPr lang="zh-CN" altLang="en-US" b="0" i="0" dirty="0">
                <a:solidFill>
                  <a:srgbClr val="191B1F"/>
                </a:solidFill>
                <a:effectLst/>
                <a:latin typeface="-apple-system"/>
              </a:rPr>
              <a:t>（</a:t>
            </a:r>
            <a:r>
              <a:rPr lang="en-US" altLang="zh-CN" b="0" i="0" dirty="0">
                <a:solidFill>
                  <a:srgbClr val="191B1F"/>
                </a:solidFill>
                <a:effectLst/>
                <a:latin typeface="-apple-system"/>
              </a:rPr>
              <a:t>CFG</a:t>
            </a:r>
            <a:r>
              <a:rPr lang="zh-CN" altLang="en-US" b="0" i="0" dirty="0">
                <a:solidFill>
                  <a:srgbClr val="191B1F"/>
                </a:solidFill>
                <a:effectLst/>
                <a:latin typeface="-apple-system"/>
              </a:rPr>
              <a:t>）技术：</a:t>
            </a:r>
            <a:endParaRPr lang="zh-CN" altLang="en-US" b="0" i="0" dirty="0">
              <a:solidFill>
                <a:srgbClr val="191B1F"/>
              </a:solidFill>
              <a:effectLst/>
              <a:latin typeface="-apple-system"/>
            </a:endParaRPr>
          </a:p>
          <a:p>
            <a:pPr algn="l"/>
            <a:r>
              <a:rPr lang="zh-CN" altLang="en-US" b="0" i="0" dirty="0">
                <a:solidFill>
                  <a:srgbClr val="191B1F"/>
                </a:solidFill>
                <a:effectLst/>
                <a:latin typeface="-apple-system"/>
              </a:rPr>
              <a:t>其中</a:t>
            </a:r>
            <a:r>
              <a:rPr lang="en-US" altLang="zh-CN" b="0" i="1" dirty="0">
                <a:solidFill>
                  <a:srgbClr val="303030"/>
                </a:solidFill>
                <a:effectLst/>
                <a:latin typeface="KaTeX_Math"/>
              </a:rPr>
              <a:t>ϵu</a:t>
            </a:r>
            <a:r>
              <a:rPr lang="zh-CN" altLang="en-US" b="0" i="0" dirty="0">
                <a:solidFill>
                  <a:srgbClr val="303030"/>
                </a:solidFill>
                <a:effectLst/>
                <a:latin typeface="KaTeX_Main"/>
              </a:rPr>
              <a:t>​</a:t>
            </a:r>
            <a:r>
              <a:rPr lang="en-US" altLang="zh-CN" b="0" i="0" dirty="0">
                <a:solidFill>
                  <a:srgbClr val="303030"/>
                </a:solidFill>
                <a:effectLst/>
                <a:latin typeface="Google Sans Text"/>
              </a:rPr>
              <a:t>c</a:t>
            </a:r>
            <a:r>
              <a:rPr lang="zh-CN" altLang="en-US" b="0" i="0" dirty="0">
                <a:solidFill>
                  <a:srgbClr val="191B1F"/>
                </a:solidFill>
                <a:effectLst/>
                <a:latin typeface="-apple-system"/>
              </a:rPr>
              <a:t>和</a:t>
            </a:r>
            <a:r>
              <a:rPr lang="en-US" altLang="zh-CN" b="0" i="0" dirty="0" err="1">
                <a:solidFill>
                  <a:srgbClr val="191B1F"/>
                </a:solidFill>
                <a:effectLst/>
                <a:latin typeface="-apple-system"/>
              </a:rPr>
              <a:t>εc</a:t>
            </a:r>
            <a:r>
              <a:rPr lang="zh-CN" altLang="en-US" b="0" i="0" dirty="0">
                <a:solidFill>
                  <a:srgbClr val="191B1F"/>
                </a:solidFill>
                <a:effectLst/>
                <a:latin typeface="-apple-system"/>
              </a:rPr>
              <a:t>分别是无条件扩散模型（文本设置为空）和有条件扩散模型预测的</a:t>
            </a:r>
            <a:r>
              <a:rPr lang="en-US" altLang="zh-CN" b="0" i="0" dirty="0">
                <a:solidFill>
                  <a:srgbClr val="191B1F"/>
                </a:solidFill>
                <a:effectLst/>
                <a:latin typeface="-apple-system"/>
              </a:rPr>
              <a:t>noise</a:t>
            </a:r>
            <a:r>
              <a:rPr lang="zh-CN" altLang="en-US" b="0" i="0" dirty="0">
                <a:solidFill>
                  <a:srgbClr val="191B1F"/>
                </a:solidFill>
                <a:effectLst/>
                <a:latin typeface="-apple-system"/>
              </a:rPr>
              <a:t>。在此基础上增加</a:t>
            </a:r>
            <a:r>
              <a:rPr lang="en-US" altLang="zh-CN" b="0" i="0" dirty="0">
                <a:solidFill>
                  <a:srgbClr val="191B1F"/>
                </a:solidFill>
                <a:effectLst/>
                <a:latin typeface="-apple-system"/>
              </a:rPr>
              <a:t>ControlNet</a:t>
            </a:r>
            <a:r>
              <a:rPr lang="zh-CN" altLang="en-US" b="0" i="0" dirty="0">
                <a:solidFill>
                  <a:srgbClr val="191B1F"/>
                </a:solidFill>
                <a:effectLst/>
                <a:latin typeface="-apple-system"/>
              </a:rPr>
              <a:t>之后，</a:t>
            </a:r>
            <a:r>
              <a:rPr lang="en-US" altLang="zh-CN" b="0" i="0" dirty="0">
                <a:solidFill>
                  <a:srgbClr val="191B1F"/>
                </a:solidFill>
                <a:effectLst/>
                <a:latin typeface="-apple-system"/>
              </a:rPr>
              <a:t>SD + ControlNet</a:t>
            </a:r>
            <a:r>
              <a:rPr lang="zh-CN" altLang="en-US" b="0" i="0" dirty="0">
                <a:solidFill>
                  <a:srgbClr val="191B1F"/>
                </a:solidFill>
                <a:effectLst/>
                <a:latin typeface="-apple-system"/>
              </a:rPr>
              <a:t>的组合就变成了双条件的扩散模型。</a:t>
            </a:r>
            <a:endParaRPr lang="zh-CN" altLang="en-US" b="0" i="0" dirty="0">
              <a:solidFill>
                <a:srgbClr val="191B1F"/>
              </a:solidFill>
              <a:effectLst/>
              <a:latin typeface="-apple-system"/>
            </a:endParaRPr>
          </a:p>
          <a:p>
            <a:pPr algn="l"/>
            <a:r>
              <a:rPr lang="en-US" altLang="zh-CN" b="1" i="0" dirty="0">
                <a:solidFill>
                  <a:srgbClr val="191B1F"/>
                </a:solidFill>
                <a:effectLst/>
                <a:latin typeface="-apple-system"/>
              </a:rPr>
              <a:t>ControlNet</a:t>
            </a:r>
            <a:r>
              <a:rPr lang="zh-CN" altLang="en-US" b="1" i="0" dirty="0">
                <a:solidFill>
                  <a:srgbClr val="191B1F"/>
                </a:solidFill>
                <a:effectLst/>
                <a:latin typeface="-apple-system"/>
              </a:rPr>
              <a:t>在推理时采用的默认方式是将</a:t>
            </a:r>
            <a:r>
              <a:rPr lang="en-US" altLang="zh-CN" b="1" i="0" dirty="0">
                <a:solidFill>
                  <a:srgbClr val="191B1F"/>
                </a:solidFill>
                <a:effectLst/>
                <a:latin typeface="-apple-system"/>
              </a:rPr>
              <a:t>Condition</a:t>
            </a:r>
            <a:r>
              <a:rPr lang="zh-CN" altLang="en-US" b="1" i="0" dirty="0">
                <a:solidFill>
                  <a:srgbClr val="191B1F"/>
                </a:solidFill>
                <a:effectLst/>
                <a:latin typeface="-apple-system"/>
              </a:rPr>
              <a:t>特征加在</a:t>
            </a:r>
            <a:r>
              <a:rPr lang="en-US" altLang="zh-CN" b="0" i="1" dirty="0">
                <a:solidFill>
                  <a:srgbClr val="303030"/>
                </a:solidFill>
                <a:effectLst/>
                <a:latin typeface="KaTeX_Math"/>
              </a:rPr>
              <a:t>ϵu</a:t>
            </a:r>
            <a:r>
              <a:rPr lang="zh-CN" altLang="en-US" b="0" i="0" dirty="0">
                <a:solidFill>
                  <a:srgbClr val="303030"/>
                </a:solidFill>
                <a:effectLst/>
                <a:latin typeface="KaTeX_Main"/>
              </a:rPr>
              <a:t>​</a:t>
            </a:r>
            <a:r>
              <a:rPr lang="en-US" altLang="zh-CN" b="0" i="0" dirty="0">
                <a:solidFill>
                  <a:srgbClr val="303030"/>
                </a:solidFill>
                <a:effectLst/>
                <a:latin typeface="Google Sans Text"/>
              </a:rPr>
              <a:t>c</a:t>
            </a:r>
            <a:r>
              <a:rPr lang="zh-CN" altLang="en-US" b="1" i="0" dirty="0">
                <a:solidFill>
                  <a:srgbClr val="191B1F"/>
                </a:solidFill>
                <a:effectLst/>
                <a:latin typeface="-apple-system"/>
              </a:rPr>
              <a:t>和</a:t>
            </a:r>
            <a:r>
              <a:rPr lang="en-US" altLang="zh-CN" b="0" i="0" dirty="0" err="1">
                <a:solidFill>
                  <a:srgbClr val="191B1F"/>
                </a:solidFill>
                <a:effectLst/>
                <a:latin typeface="-apple-system"/>
              </a:rPr>
              <a:t>εc</a:t>
            </a:r>
            <a:r>
              <a:rPr lang="zh-CN" altLang="en-US" b="1" i="0" dirty="0">
                <a:solidFill>
                  <a:srgbClr val="191B1F"/>
                </a:solidFill>
                <a:effectLst/>
                <a:latin typeface="-apple-system"/>
              </a:rPr>
              <a:t>上</a:t>
            </a:r>
            <a:r>
              <a:rPr lang="zh-CN" altLang="en-US" b="0" i="0" dirty="0">
                <a:solidFill>
                  <a:srgbClr val="191B1F"/>
                </a:solidFill>
                <a:effectLst/>
                <a:latin typeface="-apple-system"/>
              </a:rPr>
              <a:t>。</a:t>
            </a:r>
            <a:endParaRPr lang="zh-CN" altLang="en-US" b="0" i="0" dirty="0">
              <a:solidFill>
                <a:srgbClr val="191B1F"/>
              </a:solidFill>
              <a:effectLst/>
              <a:latin typeface="-apple-system"/>
            </a:endParaRPr>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algn="just"/>
            <a:r>
              <a:rPr lang="zh-CN" altLang="en-US" b="0" i="0" dirty="0">
                <a:solidFill>
                  <a:srgbClr val="555555"/>
                </a:solidFill>
                <a:effectLst/>
                <a:latin typeface="Lato" panose="020F0502020204030203" pitchFamily="34" charset="0"/>
              </a:rPr>
              <a:t>相比于多数图像生成模型，</a:t>
            </a:r>
            <a:r>
              <a:rPr lang="en-US" altLang="zh-CN" b="0" i="0" dirty="0">
                <a:solidFill>
                  <a:srgbClr val="555555"/>
                </a:solidFill>
                <a:effectLst/>
                <a:latin typeface="Lato" panose="020F0502020204030203" pitchFamily="34" charset="0"/>
              </a:rPr>
              <a:t>DDPM</a:t>
            </a:r>
            <a:r>
              <a:rPr lang="zh-CN" altLang="en-US" b="0" i="0" dirty="0">
                <a:solidFill>
                  <a:srgbClr val="555555"/>
                </a:solidFill>
                <a:effectLst/>
                <a:latin typeface="Lato" panose="020F0502020204030203" pitchFamily="34" charset="0"/>
              </a:rPr>
              <a:t>的采样速度非常慢。这是因为</a:t>
            </a:r>
            <a:r>
              <a:rPr lang="en-US" altLang="zh-CN" b="0" i="0" dirty="0">
                <a:solidFill>
                  <a:srgbClr val="555555"/>
                </a:solidFill>
                <a:effectLst/>
                <a:latin typeface="Lato" panose="020F0502020204030203" pitchFamily="34" charset="0"/>
              </a:rPr>
              <a:t>DDPM</a:t>
            </a:r>
            <a:r>
              <a:rPr lang="zh-CN" altLang="en-US" b="0" i="0" dirty="0">
                <a:solidFill>
                  <a:srgbClr val="555555"/>
                </a:solidFill>
                <a:effectLst/>
                <a:latin typeface="Lato" panose="020F0502020204030203" pitchFamily="34" charset="0"/>
              </a:rPr>
              <a:t>在采样时通常要做</a:t>
            </a:r>
            <a:r>
              <a:rPr lang="en-US" altLang="zh-CN" b="0" i="0" dirty="0">
                <a:solidFill>
                  <a:srgbClr val="555555"/>
                </a:solidFill>
                <a:effectLst/>
                <a:latin typeface="Lato" panose="020F0502020204030203" pitchFamily="34" charset="0"/>
              </a:rPr>
              <a:t>1000</a:t>
            </a:r>
            <a:r>
              <a:rPr lang="zh-CN" altLang="en-US" b="0" i="0" dirty="0">
                <a:solidFill>
                  <a:srgbClr val="555555"/>
                </a:solidFill>
                <a:effectLst/>
                <a:latin typeface="Lato" panose="020F0502020204030203" pitchFamily="34" charset="0"/>
              </a:rPr>
              <a:t>次去噪操作。但实际大多数应用只需要</a:t>
            </a:r>
            <a:r>
              <a:rPr lang="en-US" altLang="zh-CN" b="0" i="0" dirty="0">
                <a:solidFill>
                  <a:srgbClr val="555555"/>
                </a:solidFill>
                <a:effectLst/>
                <a:latin typeface="Lato" panose="020F0502020204030203" pitchFamily="34" charset="0"/>
              </a:rPr>
              <a:t>20</a:t>
            </a:r>
            <a:r>
              <a:rPr lang="zh-CN" altLang="en-US" b="0" i="0" dirty="0">
                <a:solidFill>
                  <a:srgbClr val="555555"/>
                </a:solidFill>
                <a:effectLst/>
                <a:latin typeface="Lato" panose="020F0502020204030203" pitchFamily="34" charset="0"/>
              </a:rPr>
              <a:t>次去噪即可生成图像，这就是</a:t>
            </a:r>
            <a:r>
              <a:rPr lang="en-US" altLang="zh-CN" b="0" i="0" dirty="0">
                <a:solidFill>
                  <a:srgbClr val="555555"/>
                </a:solidFill>
                <a:effectLst/>
                <a:latin typeface="Lato" panose="020F0502020204030203" pitchFamily="34" charset="0"/>
              </a:rPr>
              <a:t>DDIM</a:t>
            </a:r>
            <a:endParaRPr lang="zh-CN" altLang="en-US" b="0" i="0" dirty="0">
              <a:solidFill>
                <a:srgbClr val="555555"/>
              </a:solidFill>
              <a:effectLst/>
              <a:latin typeface="Lato" panose="020F0502020204030203" pitchFamily="34" charset="0"/>
            </a:endParaRPr>
          </a:p>
          <a:p>
            <a:pPr algn="just"/>
            <a:r>
              <a:rPr lang="zh-CN" altLang="en-US" b="0" i="0" dirty="0">
                <a:solidFill>
                  <a:srgbClr val="555555"/>
                </a:solidFill>
                <a:effectLst/>
                <a:latin typeface="Lato" panose="020F0502020204030203" pitchFamily="34" charset="0"/>
              </a:rPr>
              <a:t>基于</a:t>
            </a:r>
            <a:r>
              <a:rPr lang="en-US" altLang="zh-CN" b="0" i="0" dirty="0">
                <a:solidFill>
                  <a:srgbClr val="555555"/>
                </a:solidFill>
                <a:effectLst/>
                <a:latin typeface="Lato" panose="020F0502020204030203" pitchFamily="34" charset="0"/>
              </a:rPr>
              <a:t>DDPM</a:t>
            </a:r>
            <a:r>
              <a:rPr lang="zh-CN" altLang="en-US" b="0" i="0" dirty="0">
                <a:solidFill>
                  <a:srgbClr val="555555"/>
                </a:solidFill>
                <a:effectLst/>
                <a:latin typeface="Lato" panose="020F0502020204030203" pitchFamily="34" charset="0"/>
              </a:rPr>
              <a:t>，</a:t>
            </a:r>
            <a:r>
              <a:rPr lang="en-US" altLang="zh-CN" b="0" i="0" dirty="0">
                <a:solidFill>
                  <a:srgbClr val="555555"/>
                </a:solidFill>
                <a:effectLst/>
                <a:latin typeface="Lato" panose="020F0502020204030203" pitchFamily="34" charset="0"/>
              </a:rPr>
              <a:t>DDIM</a:t>
            </a:r>
            <a:r>
              <a:rPr lang="zh-CN" altLang="en-US" b="0" i="0" dirty="0">
                <a:solidFill>
                  <a:srgbClr val="555555"/>
                </a:solidFill>
                <a:effectLst/>
                <a:latin typeface="Lato" panose="020F0502020204030203" pitchFamily="34" charset="0"/>
              </a:rPr>
              <a:t>论文主要提出了两项改进。第一，对于一个已经训练好的</a:t>
            </a:r>
            <a:r>
              <a:rPr lang="en-US" altLang="zh-CN" b="0" i="0" dirty="0">
                <a:solidFill>
                  <a:srgbClr val="555555"/>
                </a:solidFill>
                <a:effectLst/>
                <a:latin typeface="Lato" panose="020F0502020204030203" pitchFamily="34" charset="0"/>
              </a:rPr>
              <a:t>DDPM</a:t>
            </a:r>
            <a:r>
              <a:rPr lang="zh-CN" altLang="en-US" b="0" i="0" dirty="0">
                <a:solidFill>
                  <a:srgbClr val="555555"/>
                </a:solidFill>
                <a:effectLst/>
                <a:latin typeface="Lato" panose="020F0502020204030203" pitchFamily="34" charset="0"/>
              </a:rPr>
              <a:t>，只需要对采样公式做简单的修改，模型就能在去噪时跳步骤，在一步去噪迭代中直接预测若干次去噪后的结果。比如说，假设模型从时刻开始去噪，新的模型可以在每步去噪迭代中预测</a:t>
            </a:r>
            <a:r>
              <a:rPr lang="en-US" altLang="zh-CN" b="0" i="0" dirty="0">
                <a:solidFill>
                  <a:srgbClr val="555555"/>
                </a:solidFill>
                <a:effectLst/>
                <a:latin typeface="Lato" panose="020F0502020204030203" pitchFamily="34" charset="0"/>
              </a:rPr>
              <a:t>10</a:t>
            </a:r>
            <a:r>
              <a:rPr lang="zh-CN" altLang="en-US" b="0" i="0" dirty="0">
                <a:solidFill>
                  <a:srgbClr val="555555"/>
                </a:solidFill>
                <a:effectLst/>
                <a:latin typeface="Lato" panose="020F0502020204030203" pitchFamily="34" charset="0"/>
              </a:rPr>
              <a:t>次去噪操作后的结果，也就是逐步预测时刻的结果。这样，</a:t>
            </a:r>
            <a:r>
              <a:rPr lang="en-US" altLang="zh-CN" b="0" i="0" dirty="0">
                <a:solidFill>
                  <a:srgbClr val="555555"/>
                </a:solidFill>
                <a:effectLst/>
                <a:latin typeface="Lato" panose="020F0502020204030203" pitchFamily="34" charset="0"/>
              </a:rPr>
              <a:t>DDPM</a:t>
            </a:r>
            <a:r>
              <a:rPr lang="zh-CN" altLang="en-US" b="0" i="0" dirty="0">
                <a:solidFill>
                  <a:srgbClr val="555555"/>
                </a:solidFill>
                <a:effectLst/>
                <a:latin typeface="Lato" panose="020F0502020204030203" pitchFamily="34" charset="0"/>
              </a:rPr>
              <a:t>的采样速度就被加速了</a:t>
            </a:r>
            <a:r>
              <a:rPr lang="en-US" altLang="zh-CN" b="0" i="0" dirty="0">
                <a:solidFill>
                  <a:srgbClr val="555555"/>
                </a:solidFill>
                <a:effectLst/>
                <a:latin typeface="Lato" panose="020F0502020204030203" pitchFamily="34" charset="0"/>
              </a:rPr>
              <a:t>10</a:t>
            </a:r>
            <a:r>
              <a:rPr lang="zh-CN" altLang="en-US" b="0" i="0" dirty="0">
                <a:solidFill>
                  <a:srgbClr val="555555"/>
                </a:solidFill>
                <a:effectLst/>
                <a:latin typeface="Lato" panose="020F0502020204030203" pitchFamily="34" charset="0"/>
              </a:rPr>
              <a:t>倍。第二，</a:t>
            </a:r>
            <a:r>
              <a:rPr lang="en-US" altLang="zh-CN" b="0" i="0" dirty="0">
                <a:solidFill>
                  <a:srgbClr val="555555"/>
                </a:solidFill>
                <a:effectLst/>
                <a:latin typeface="Lato" panose="020F0502020204030203" pitchFamily="34" charset="0"/>
              </a:rPr>
              <a:t>DDIM</a:t>
            </a:r>
            <a:r>
              <a:rPr lang="zh-CN" altLang="en-US" b="0" i="0" dirty="0">
                <a:solidFill>
                  <a:srgbClr val="555555"/>
                </a:solidFill>
                <a:effectLst/>
                <a:latin typeface="Lato" panose="020F0502020204030203" pitchFamily="34" charset="0"/>
              </a:rPr>
              <a:t>论文推广了</a:t>
            </a:r>
            <a:r>
              <a:rPr lang="en-US" altLang="zh-CN" b="0" i="0" dirty="0">
                <a:solidFill>
                  <a:srgbClr val="555555"/>
                </a:solidFill>
                <a:effectLst/>
                <a:latin typeface="Lato" panose="020F0502020204030203" pitchFamily="34" charset="0"/>
              </a:rPr>
              <a:t>DDPM</a:t>
            </a:r>
            <a:r>
              <a:rPr lang="zh-CN" altLang="en-US" b="0" i="0" dirty="0">
                <a:solidFill>
                  <a:srgbClr val="555555"/>
                </a:solidFill>
                <a:effectLst/>
                <a:latin typeface="Lato" panose="020F0502020204030203" pitchFamily="34" charset="0"/>
              </a:rPr>
              <a:t>的数学模型，从更高的视角定义了</a:t>
            </a:r>
            <a:r>
              <a:rPr lang="en-US" altLang="zh-CN" b="0" i="0" dirty="0">
                <a:solidFill>
                  <a:srgbClr val="555555"/>
                </a:solidFill>
                <a:effectLst/>
                <a:latin typeface="Lato" panose="020F0502020204030203" pitchFamily="34" charset="0"/>
              </a:rPr>
              <a:t>DDPM</a:t>
            </a:r>
            <a:r>
              <a:rPr lang="zh-CN" altLang="en-US" b="0" i="0" dirty="0">
                <a:solidFill>
                  <a:srgbClr val="555555"/>
                </a:solidFill>
                <a:effectLst/>
                <a:latin typeface="Lato" panose="020F0502020204030203" pitchFamily="34" charset="0"/>
              </a:rPr>
              <a:t>的前向过程（加噪过程）和反向过程（去噪过程）。在这个新数学模型下，我们可以自定义模型的噪声强度，让同一个训练好的</a:t>
            </a:r>
            <a:r>
              <a:rPr lang="en-US" altLang="zh-CN" b="0" i="0" dirty="0">
                <a:solidFill>
                  <a:srgbClr val="555555"/>
                </a:solidFill>
                <a:effectLst/>
                <a:latin typeface="Lato" panose="020F0502020204030203" pitchFamily="34" charset="0"/>
              </a:rPr>
              <a:t>DDPM</a:t>
            </a:r>
            <a:r>
              <a:rPr lang="zh-CN" altLang="en-US" b="0" i="0" dirty="0">
                <a:solidFill>
                  <a:srgbClr val="555555"/>
                </a:solidFill>
                <a:effectLst/>
                <a:latin typeface="Lato" panose="020F0502020204030203" pitchFamily="34" charset="0"/>
              </a:rPr>
              <a:t>有不同的采样效果。</a:t>
            </a:r>
            <a:endParaRPr lang="zh-CN" altLang="en-US" b="0" i="0" dirty="0">
              <a:solidFill>
                <a:srgbClr val="555555"/>
              </a:solidFill>
              <a:effectLst/>
              <a:latin typeface="Lato" panose="020F0502020204030203" pitchFamily="34" charset="0"/>
            </a:endParaRPr>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dirty="0">
              <a:solidFill>
                <a:schemeClr val="tx1">
                  <a:lumMod val="65000"/>
                  <a:lumOff val="35000"/>
                </a:schemeClr>
              </a:solidFill>
              <a:latin typeface="微软雅黑" charset="-122"/>
              <a:ea typeface="微软雅黑" charset="-122"/>
            </a:endParaRPr>
          </a:p>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algn="just"/>
            <a:r>
              <a:rPr lang="en-US" altLang="zh-CN" b="0" i="0" dirty="0">
                <a:solidFill>
                  <a:srgbClr val="555555"/>
                </a:solidFill>
                <a:effectLst/>
                <a:latin typeface="Lato" panose="020F0502020204030203" pitchFamily="34" charset="0"/>
              </a:rPr>
              <a:t>DDPM</a:t>
            </a:r>
            <a:r>
              <a:rPr lang="zh-CN" altLang="en-US" b="0" i="0" dirty="0">
                <a:solidFill>
                  <a:srgbClr val="555555"/>
                </a:solidFill>
                <a:effectLst/>
                <a:latin typeface="Lato" panose="020F0502020204030203" pitchFamily="34" charset="0"/>
              </a:rPr>
              <a:t>是一个特殊的</a:t>
            </a:r>
            <a:r>
              <a:rPr lang="en-US" altLang="zh-CN" b="0" i="0" dirty="0">
                <a:solidFill>
                  <a:srgbClr val="555555"/>
                </a:solidFill>
                <a:effectLst/>
                <a:latin typeface="Lato" panose="020F0502020204030203" pitchFamily="34" charset="0"/>
              </a:rPr>
              <a:t>VAE</a:t>
            </a:r>
            <a:r>
              <a:rPr lang="zh-CN" altLang="en-US" b="0" i="0" dirty="0">
                <a:solidFill>
                  <a:srgbClr val="555555"/>
                </a:solidFill>
                <a:effectLst/>
                <a:latin typeface="Lato" panose="020F0502020204030203" pitchFamily="34" charset="0"/>
              </a:rPr>
              <a:t>。它的编码器是步固定的加噪操作，解码器是</a:t>
            </a:r>
            <a:r>
              <a:rPr lang="en-US" altLang="zh-CN" b="0" i="0" dirty="0">
                <a:solidFill>
                  <a:srgbClr val="555555"/>
                </a:solidFill>
                <a:effectLst/>
                <a:latin typeface="Lato" panose="020F0502020204030203" pitchFamily="34" charset="0"/>
              </a:rPr>
              <a:t>T</a:t>
            </a:r>
            <a:r>
              <a:rPr lang="zh-CN" altLang="en-US" b="0" i="0" dirty="0">
                <a:solidFill>
                  <a:srgbClr val="555555"/>
                </a:solidFill>
                <a:effectLst/>
                <a:latin typeface="Lato" panose="020F0502020204030203" pitchFamily="34" charset="0"/>
              </a:rPr>
              <a:t>步可学习的去噪操作。模型的学习目标是让每一步去噪操作尽可能抵消掉对应的加噪操作。</a:t>
            </a:r>
            <a:r>
              <a:rPr lang="en-US" altLang="zh-CN" b="0" i="0" dirty="0">
                <a:solidFill>
                  <a:srgbClr val="555555"/>
                </a:solidFill>
                <a:effectLst/>
                <a:latin typeface="Lato" panose="020F0502020204030203" pitchFamily="34" charset="0"/>
              </a:rPr>
              <a:t>DDPM</a:t>
            </a:r>
            <a:r>
              <a:rPr lang="zh-CN" altLang="en-US" b="0" i="0" dirty="0">
                <a:solidFill>
                  <a:srgbClr val="555555"/>
                </a:solidFill>
                <a:effectLst/>
                <a:latin typeface="Lato" panose="020F0502020204030203" pitchFamily="34" charset="0"/>
              </a:rPr>
              <a:t>的加噪和去噪操作其实都是在某个正态分布中采样。因此，我们可以用概率</a:t>
            </a:r>
            <a:r>
              <a:rPr lang="en-US" altLang="zh-CN" b="0" i="0" dirty="0" err="1">
                <a:solidFill>
                  <a:srgbClr val="555555"/>
                </a:solidFill>
                <a:effectLst/>
                <a:latin typeface="Lato" panose="020F0502020204030203" pitchFamily="34" charset="0"/>
              </a:rPr>
              <a:t>q,p</a:t>
            </a:r>
            <a:r>
              <a:rPr lang="zh-CN" altLang="en-US" b="0" i="0" dirty="0">
                <a:solidFill>
                  <a:srgbClr val="555555"/>
                </a:solidFill>
                <a:effectLst/>
                <a:latin typeface="Lato" panose="020F0502020204030203" pitchFamily="34" charset="0"/>
              </a:rPr>
              <a:t>分别表示加噪和去噪的分布。比如 </a:t>
            </a:r>
            <a:r>
              <a:rPr lang="en-US" altLang="zh-CN" b="0" i="0" dirty="0">
                <a:solidFill>
                  <a:srgbClr val="555555"/>
                </a:solidFill>
                <a:effectLst/>
                <a:latin typeface="Lato" panose="020F0502020204030203" pitchFamily="34" charset="0"/>
              </a:rPr>
              <a:t>q(Xt|Xt-1)</a:t>
            </a:r>
            <a:r>
              <a:rPr lang="zh-CN" altLang="en-US" b="0" i="0" dirty="0">
                <a:solidFill>
                  <a:srgbClr val="555555"/>
                </a:solidFill>
                <a:effectLst/>
                <a:latin typeface="Lato" panose="020F0502020204030203" pitchFamily="34" charset="0"/>
              </a:rPr>
              <a:t> 就是由第 </a:t>
            </a:r>
            <a:r>
              <a:rPr lang="en-US" altLang="zh-CN" b="0" i="0" dirty="0">
                <a:solidFill>
                  <a:srgbClr val="555555"/>
                </a:solidFill>
                <a:effectLst/>
                <a:latin typeface="Lato" panose="020F0502020204030203" pitchFamily="34" charset="0"/>
              </a:rPr>
              <a:t>t-1</a:t>
            </a:r>
            <a:r>
              <a:rPr lang="zh-CN" altLang="en-US" b="0" i="0" dirty="0">
                <a:solidFill>
                  <a:srgbClr val="555555"/>
                </a:solidFill>
                <a:effectLst/>
                <a:latin typeface="Lato" panose="020F0502020204030203" pitchFamily="34" charset="0"/>
              </a:rPr>
              <a:t>时刻的图像到第 </a:t>
            </a:r>
            <a:r>
              <a:rPr lang="en-US" altLang="zh-CN" b="0" i="0" dirty="0">
                <a:solidFill>
                  <a:srgbClr val="555555"/>
                </a:solidFill>
                <a:effectLst/>
                <a:latin typeface="Lato" panose="020F0502020204030203" pitchFamily="34" charset="0"/>
              </a:rPr>
              <a:t>t</a:t>
            </a:r>
            <a:r>
              <a:rPr lang="zh-CN" altLang="en-US" b="0" i="0" dirty="0">
                <a:solidFill>
                  <a:srgbClr val="555555"/>
                </a:solidFill>
                <a:effectLst/>
                <a:latin typeface="Lato" panose="020F0502020204030203" pitchFamily="34" charset="0"/>
              </a:rPr>
              <a:t>时刻的图像的加噪声分布，</a:t>
            </a:r>
            <a:r>
              <a:rPr lang="en-US" altLang="zh-CN" b="0" i="0" dirty="0">
                <a:solidFill>
                  <a:srgbClr val="555555"/>
                </a:solidFill>
                <a:effectLst/>
                <a:latin typeface="Lato" panose="020F0502020204030203" pitchFamily="34" charset="0"/>
              </a:rPr>
              <a:t>p(Xt-1|Xt)</a:t>
            </a:r>
            <a:r>
              <a:rPr lang="zh-CN" altLang="en-US" b="0" i="0" dirty="0">
                <a:solidFill>
                  <a:srgbClr val="555555"/>
                </a:solidFill>
                <a:effectLst/>
                <a:latin typeface="Lato" panose="020F0502020204030203" pitchFamily="34" charset="0"/>
              </a:rPr>
              <a:t> 就是由第 </a:t>
            </a:r>
            <a:r>
              <a:rPr lang="en-US" altLang="zh-CN" b="0" i="0" dirty="0">
                <a:solidFill>
                  <a:srgbClr val="555555"/>
                </a:solidFill>
                <a:effectLst/>
                <a:latin typeface="Lato" panose="020F0502020204030203" pitchFamily="34" charset="0"/>
              </a:rPr>
              <a:t>t</a:t>
            </a:r>
            <a:r>
              <a:rPr lang="zh-CN" altLang="en-US" b="0" i="0" dirty="0">
                <a:solidFill>
                  <a:srgbClr val="555555"/>
                </a:solidFill>
                <a:effectLst/>
                <a:latin typeface="Lato" panose="020F0502020204030203" pitchFamily="34" charset="0"/>
              </a:rPr>
              <a:t>时刻的图像到第 </a:t>
            </a:r>
            <a:r>
              <a:rPr lang="en-US" altLang="zh-CN" b="0" i="0" dirty="0">
                <a:solidFill>
                  <a:srgbClr val="555555"/>
                </a:solidFill>
                <a:effectLst/>
                <a:latin typeface="Lato" panose="020F0502020204030203" pitchFamily="34" charset="0"/>
              </a:rPr>
              <a:t>t-1</a:t>
            </a:r>
            <a:r>
              <a:rPr lang="zh-CN" altLang="en-US" b="0" i="0" dirty="0">
                <a:solidFill>
                  <a:srgbClr val="555555"/>
                </a:solidFill>
                <a:effectLst/>
                <a:latin typeface="Lato" panose="020F0502020204030203" pitchFamily="34" charset="0"/>
              </a:rPr>
              <a:t> 时刻的图像的去噪声分布。这样，我们可以说网络的学习目标是让 </a:t>
            </a:r>
            <a:r>
              <a:rPr lang="en-US" altLang="zh-CN" b="0" i="0" dirty="0">
                <a:solidFill>
                  <a:srgbClr val="555555"/>
                </a:solidFill>
                <a:effectLst/>
                <a:latin typeface="Lato" panose="020F0502020204030203" pitchFamily="34" charset="0"/>
              </a:rPr>
              <a:t>p</a:t>
            </a:r>
            <a:r>
              <a:rPr lang="zh-CN" altLang="en-US" b="0" i="0" dirty="0">
                <a:solidFill>
                  <a:srgbClr val="555555"/>
                </a:solidFill>
                <a:effectLst/>
                <a:latin typeface="Lato" panose="020F0502020204030203" pitchFamily="34" charset="0"/>
              </a:rPr>
              <a:t>尽可能与 </a:t>
            </a:r>
            <a:r>
              <a:rPr lang="en-US" altLang="zh-CN" b="0" i="0" dirty="0">
                <a:solidFill>
                  <a:srgbClr val="555555"/>
                </a:solidFill>
                <a:effectLst/>
                <a:latin typeface="Lato" panose="020F0502020204030203" pitchFamily="34" charset="0"/>
              </a:rPr>
              <a:t>q</a:t>
            </a:r>
            <a:r>
              <a:rPr lang="zh-CN" altLang="en-US" b="0" i="0" dirty="0">
                <a:solidFill>
                  <a:srgbClr val="555555"/>
                </a:solidFill>
                <a:effectLst/>
                <a:latin typeface="Lato" panose="020F0502020204030203" pitchFamily="34" charset="0"/>
              </a:rPr>
              <a:t>和互逆。</a:t>
            </a:r>
            <a:endParaRPr lang="en-US" altLang="zh-CN" sz="1200" dirty="0">
              <a:solidFill>
                <a:schemeClr val="tx1">
                  <a:lumMod val="65000"/>
                  <a:lumOff val="35000"/>
                </a:schemeClr>
              </a:solidFill>
              <a:latin typeface="微软雅黑" charset="-122"/>
              <a:ea typeface="微软雅黑" charset="-122"/>
            </a:endParaRPr>
          </a:p>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algn="just"/>
            <a:r>
              <a:rPr lang="zh-CN" altLang="en-US" b="0" i="0" dirty="0">
                <a:solidFill>
                  <a:srgbClr val="555555"/>
                </a:solidFill>
                <a:effectLst/>
                <a:latin typeface="Lato" panose="020F0502020204030203" pitchFamily="34" charset="0"/>
              </a:rPr>
              <a:t>更具体地，我们应该让分布</a:t>
            </a:r>
            <a:r>
              <a:rPr lang="en-US" altLang="zh-CN" b="0" i="0" dirty="0">
                <a:solidFill>
                  <a:srgbClr val="555555"/>
                </a:solidFill>
                <a:effectLst/>
                <a:latin typeface="Lato" panose="020F0502020204030203" pitchFamily="34" charset="0"/>
              </a:rPr>
              <a:t>p</a:t>
            </a:r>
            <a:r>
              <a:rPr lang="zh-CN" altLang="en-US" b="0" i="0" dirty="0">
                <a:solidFill>
                  <a:srgbClr val="555555"/>
                </a:solidFill>
                <a:effectLst/>
                <a:latin typeface="Lato" panose="020F0502020204030203" pitchFamily="34" charset="0"/>
              </a:rPr>
              <a:t>和分布</a:t>
            </a:r>
            <a:r>
              <a:rPr lang="en-US" altLang="zh-CN" b="0" i="0" dirty="0">
                <a:solidFill>
                  <a:srgbClr val="555555"/>
                </a:solidFill>
                <a:effectLst/>
                <a:latin typeface="Lato" panose="020F0502020204030203" pitchFamily="34" charset="0"/>
              </a:rPr>
              <a:t>q</a:t>
            </a:r>
            <a:r>
              <a:rPr lang="zh-CN" altLang="en-US" b="0" i="0" dirty="0">
                <a:solidFill>
                  <a:srgbClr val="555555"/>
                </a:solidFill>
                <a:effectLst/>
                <a:latin typeface="Lato" panose="020F0502020204030203" pitchFamily="34" charset="0"/>
              </a:rPr>
              <a:t>尽可能相似。</a:t>
            </a:r>
            <a:r>
              <a:rPr lang="en-US" altLang="zh-CN" b="0" i="0" dirty="0">
                <a:solidFill>
                  <a:srgbClr val="555555"/>
                </a:solidFill>
                <a:effectLst/>
                <a:latin typeface="Lato" panose="020F0502020204030203" pitchFamily="34" charset="0"/>
              </a:rPr>
              <a:t>q</a:t>
            </a:r>
            <a:r>
              <a:rPr lang="zh-CN" altLang="en-US" b="0" i="0" dirty="0">
                <a:solidFill>
                  <a:srgbClr val="555555"/>
                </a:solidFill>
                <a:effectLst/>
                <a:latin typeface="Lato" panose="020F0502020204030203" pitchFamily="34" charset="0"/>
              </a:rPr>
              <a:t>和</a:t>
            </a:r>
            <a:r>
              <a:rPr lang="en-US" altLang="zh-CN" b="0" i="0" dirty="0">
                <a:solidFill>
                  <a:srgbClr val="555555"/>
                </a:solidFill>
                <a:effectLst/>
                <a:latin typeface="Lato" panose="020F0502020204030203" pitchFamily="34" charset="0"/>
              </a:rPr>
              <a:t>p</a:t>
            </a:r>
            <a:r>
              <a:rPr lang="zh-CN" altLang="en-US" b="0" i="0" dirty="0">
                <a:solidFill>
                  <a:srgbClr val="555555"/>
                </a:solidFill>
                <a:effectLst/>
                <a:latin typeface="Lato" panose="020F0502020204030203" pitchFamily="34" charset="0"/>
              </a:rPr>
              <a:t>的关系就和</a:t>
            </a:r>
            <a:r>
              <a:rPr lang="en-US" altLang="zh-CN" b="0" i="0" dirty="0">
                <a:solidFill>
                  <a:srgbClr val="555555"/>
                </a:solidFill>
                <a:effectLst/>
                <a:latin typeface="Lato" panose="020F0502020204030203" pitchFamily="34" charset="0"/>
              </a:rPr>
              <a:t>VAE</a:t>
            </a:r>
            <a:r>
              <a:rPr lang="zh-CN" altLang="en-US" b="0" i="0" dirty="0">
                <a:solidFill>
                  <a:srgbClr val="555555"/>
                </a:solidFill>
                <a:effectLst/>
                <a:latin typeface="Lato" panose="020F0502020204030203" pitchFamily="34" charset="0"/>
              </a:rPr>
              <a:t>中原图像与重建图像的关系一样。</a:t>
            </a:r>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algn="just"/>
            <a:r>
              <a:rPr lang="zh-CN" altLang="en-US" dirty="0">
                <a:effectLst/>
                <a:latin typeface="Google Sans Text"/>
              </a:rPr>
              <a:t>对于逆向去噪过程中的</a:t>
            </a:r>
            <a:r>
              <a:rPr lang="en-US" altLang="zh-CN" dirty="0">
                <a:effectLst/>
                <a:latin typeface="Google Sans Text"/>
              </a:rPr>
              <a:t>q(xt-1 | </a:t>
            </a:r>
            <a:r>
              <a:rPr lang="en-US" altLang="zh-CN" dirty="0" err="1">
                <a:effectLst/>
                <a:latin typeface="Google Sans Text"/>
              </a:rPr>
              <a:t>xt</a:t>
            </a:r>
            <a:r>
              <a:rPr lang="en-US" altLang="zh-CN" dirty="0">
                <a:effectLst/>
                <a:latin typeface="Google Sans Text"/>
              </a:rPr>
              <a:t>)</a:t>
            </a:r>
            <a:r>
              <a:rPr lang="zh-CN" altLang="en-US" dirty="0"/>
              <a:t>是不好求得的，但在给定了输入数据 </a:t>
            </a:r>
            <a:r>
              <a:rPr lang="en-US" altLang="zh-CN" dirty="0">
                <a:effectLst/>
                <a:latin typeface="Google Sans Text"/>
              </a:rPr>
              <a:t>x0</a:t>
            </a:r>
            <a:r>
              <a:rPr lang="zh-CN" altLang="en-US" dirty="0"/>
              <a:t>时，</a:t>
            </a:r>
            <a:r>
              <a:rPr lang="en-US" altLang="zh-CN" dirty="0">
                <a:effectLst/>
                <a:latin typeface="Google Sans Text"/>
              </a:rPr>
              <a:t>q(xt-1 | </a:t>
            </a:r>
            <a:r>
              <a:rPr lang="en-US" altLang="zh-CN" dirty="0" err="1">
                <a:effectLst/>
                <a:latin typeface="Google Sans Text"/>
              </a:rPr>
              <a:t>xt</a:t>
            </a:r>
            <a:r>
              <a:rPr lang="en-US" altLang="zh-CN" dirty="0">
                <a:effectLst/>
                <a:latin typeface="Google Sans Text"/>
              </a:rPr>
              <a:t>)</a:t>
            </a:r>
            <a:r>
              <a:rPr lang="zh-CN" altLang="en-US" dirty="0"/>
              <a:t>是可以用贝叶斯公式求出来的：这里不必关心具体的求解方法，只需要知道从等式右边的三项 可以推导出等式左边的那一项。在</a:t>
            </a:r>
            <a:r>
              <a:rPr lang="en-US" altLang="zh-CN" dirty="0"/>
              <a:t>DDPM</a:t>
            </a:r>
            <a:r>
              <a:rPr lang="zh-CN" altLang="en-US" dirty="0"/>
              <a:t>中，</a:t>
            </a:r>
            <a:r>
              <a:rPr lang="en-US" altLang="zh-CN" dirty="0">
                <a:effectLst/>
                <a:latin typeface="Google Sans Text"/>
              </a:rPr>
              <a:t>q(xt-1 | </a:t>
            </a:r>
            <a:r>
              <a:rPr lang="en-US" altLang="zh-CN" dirty="0" err="1">
                <a:effectLst/>
                <a:latin typeface="Google Sans Text"/>
              </a:rPr>
              <a:t>xt</a:t>
            </a:r>
            <a:r>
              <a:rPr lang="en-US" altLang="zh-CN" dirty="0">
                <a:effectLst/>
                <a:latin typeface="Google Sans Text"/>
              </a:rPr>
              <a:t>)</a:t>
            </a:r>
            <a:r>
              <a:rPr lang="zh-CN" altLang="en-US" dirty="0"/>
              <a:t>是一个定义好的式子，且 </a:t>
            </a:r>
            <a:r>
              <a:rPr lang="en-US" altLang="zh-CN" dirty="0">
                <a:effectLst/>
                <a:latin typeface="Google Sans Text"/>
              </a:rPr>
              <a:t>q(xt-1 | </a:t>
            </a:r>
            <a:r>
              <a:rPr lang="en-US" altLang="zh-CN" dirty="0" err="1">
                <a:effectLst/>
                <a:latin typeface="Google Sans Text"/>
              </a:rPr>
              <a:t>xt</a:t>
            </a:r>
            <a:r>
              <a:rPr lang="en-US" altLang="zh-CN" dirty="0">
                <a:effectLst/>
                <a:latin typeface="Google Sans Text"/>
              </a:rPr>
              <a:t>) = q(xt-1 | xt,x0)</a:t>
            </a:r>
            <a:r>
              <a:rPr lang="zh-CN" altLang="en-US" dirty="0"/>
              <a:t>。根据 </a:t>
            </a:r>
            <a:r>
              <a:rPr lang="en-US" altLang="zh-CN" dirty="0">
                <a:effectLst/>
                <a:latin typeface="Google Sans Text"/>
              </a:rPr>
              <a:t>q(xt-1 | </a:t>
            </a:r>
            <a:r>
              <a:rPr lang="en-US" altLang="zh-CN" dirty="0" err="1">
                <a:effectLst/>
                <a:latin typeface="Google Sans Text"/>
              </a:rPr>
              <a:t>xt</a:t>
            </a:r>
            <a:r>
              <a:rPr lang="en-US" altLang="zh-CN" dirty="0">
                <a:effectLst/>
                <a:latin typeface="Google Sans Text"/>
              </a:rPr>
              <a:t>)</a:t>
            </a:r>
            <a:r>
              <a:rPr lang="zh-CN" altLang="en-US" dirty="0"/>
              <a:t>，可以推出 </a:t>
            </a:r>
            <a:r>
              <a:rPr lang="en-US" altLang="zh-CN" dirty="0">
                <a:effectLst/>
                <a:latin typeface="Google Sans Text"/>
              </a:rPr>
              <a:t>q(</a:t>
            </a:r>
            <a:r>
              <a:rPr lang="en-US" altLang="zh-CN" dirty="0" err="1">
                <a:effectLst/>
                <a:latin typeface="Google Sans Text"/>
              </a:rPr>
              <a:t>xt</a:t>
            </a:r>
            <a:r>
              <a:rPr lang="en-US" altLang="zh-CN" dirty="0">
                <a:effectLst/>
                <a:latin typeface="Google Sans Text"/>
              </a:rPr>
              <a:t> | x0)</a:t>
            </a:r>
            <a:r>
              <a:rPr lang="zh-CN" altLang="en-US" dirty="0"/>
              <a:t>。知道了 </a:t>
            </a:r>
            <a:r>
              <a:rPr lang="en-US" altLang="zh-CN" dirty="0">
                <a:effectLst/>
                <a:latin typeface="Google Sans Text"/>
              </a:rPr>
              <a:t>q(</a:t>
            </a:r>
            <a:r>
              <a:rPr lang="en-US" altLang="zh-CN" dirty="0" err="1">
                <a:effectLst/>
                <a:latin typeface="Google Sans Text"/>
              </a:rPr>
              <a:t>xt</a:t>
            </a:r>
            <a:r>
              <a:rPr lang="en-US" altLang="zh-CN" dirty="0">
                <a:effectLst/>
                <a:latin typeface="Google Sans Text"/>
              </a:rPr>
              <a:t> | x0)</a:t>
            </a:r>
            <a:r>
              <a:rPr lang="zh-CN" altLang="en-US" dirty="0"/>
              <a:t>，</a:t>
            </a:r>
            <a:r>
              <a:rPr lang="en-US" altLang="zh-CN" dirty="0">
                <a:effectLst/>
                <a:latin typeface="Google Sans Text"/>
              </a:rPr>
              <a:t>q(xt-1 | x0)</a:t>
            </a:r>
            <a:r>
              <a:rPr lang="en-US" altLang="zh-CN" dirty="0"/>
              <a:t> </a:t>
            </a:r>
            <a:r>
              <a:rPr lang="zh-CN" altLang="en-US" dirty="0"/>
              <a:t>也就知道了。这样，在</a:t>
            </a:r>
            <a:r>
              <a:rPr lang="en-US" altLang="zh-CN" dirty="0"/>
              <a:t>DDPM</a:t>
            </a:r>
            <a:r>
              <a:rPr lang="zh-CN" altLang="en-US" dirty="0"/>
              <a:t>中，等式右边的式子全部已知，等式左边可以直接求出来。其中，只有参数 </a:t>
            </a:r>
            <a:r>
              <a:rPr lang="en-US" altLang="zh-CN" dirty="0">
                <a:effectLst/>
                <a:latin typeface="Google Sans Text"/>
              </a:rPr>
              <a:t>$\</a:t>
            </a:r>
            <a:r>
              <a:rPr lang="en-US" altLang="zh-CN" dirty="0" err="1">
                <a:effectLst/>
                <a:latin typeface="Google Sans Text"/>
              </a:rPr>
              <a:t>beta_t</a:t>
            </a:r>
            <a:r>
              <a:rPr lang="en-US" altLang="zh-CN" dirty="0">
                <a:effectLst/>
                <a:latin typeface="Google Sans Text"/>
              </a:rPr>
              <a:t>$</a:t>
            </a:r>
            <a:r>
              <a:rPr lang="en-US" altLang="zh-CN" dirty="0"/>
              <a:t> </a:t>
            </a:r>
            <a:r>
              <a:rPr lang="zh-CN" altLang="en-US" dirty="0"/>
              <a:t>是可调的。</a:t>
            </a:r>
            <a:r>
              <a:rPr lang="en-US" altLang="zh-CN" dirty="0">
                <a:effectLst/>
                <a:latin typeface="Google Sans Text"/>
              </a:rPr>
              <a:t>$\bar{\alpha}_t$</a:t>
            </a:r>
            <a:r>
              <a:rPr lang="en-US" altLang="zh-CN" dirty="0"/>
              <a:t> </a:t>
            </a:r>
            <a:r>
              <a:rPr lang="zh-CN" altLang="en-US" dirty="0"/>
              <a:t>是根据 </a:t>
            </a:r>
            <a:r>
              <a:rPr lang="en-US" altLang="zh-CN" dirty="0">
                <a:effectLst/>
                <a:latin typeface="Google Sans Text"/>
              </a:rPr>
              <a:t>$\</a:t>
            </a:r>
            <a:r>
              <a:rPr lang="en-US" altLang="zh-CN" dirty="0" err="1">
                <a:effectLst/>
                <a:latin typeface="Google Sans Text"/>
              </a:rPr>
              <a:t>beta_t</a:t>
            </a:r>
            <a:r>
              <a:rPr lang="en-US" altLang="zh-CN" dirty="0">
                <a:effectLst/>
                <a:latin typeface="Google Sans Text"/>
              </a:rPr>
              <a:t>$</a:t>
            </a:r>
            <a:r>
              <a:rPr lang="en-US" altLang="zh-CN" dirty="0"/>
              <a:t> </a:t>
            </a:r>
            <a:r>
              <a:rPr lang="zh-CN" altLang="en-US" dirty="0"/>
              <a:t>算出的变量，其计算方法为：</a:t>
            </a:r>
            <a:r>
              <a:rPr lang="en-US" altLang="zh-CN" dirty="0">
                <a:effectLst/>
                <a:latin typeface="Google Sans Text"/>
              </a:rPr>
              <a:t>$\</a:t>
            </a:r>
            <a:r>
              <a:rPr lang="en-US" altLang="zh-CN" dirty="0" err="1">
                <a:effectLst/>
                <a:latin typeface="Google Sans Text"/>
              </a:rPr>
              <a:t>alpha_t</a:t>
            </a:r>
            <a:r>
              <a:rPr lang="en-US" altLang="zh-CN" dirty="0">
                <a:effectLst/>
                <a:latin typeface="Google Sans Text"/>
              </a:rPr>
              <a:t> = 1 - \</a:t>
            </a:r>
            <a:r>
              <a:rPr lang="en-US" altLang="zh-CN" dirty="0" err="1">
                <a:effectLst/>
                <a:latin typeface="Google Sans Text"/>
              </a:rPr>
              <a:t>beta_t</a:t>
            </a:r>
            <a:r>
              <a:rPr lang="en-US" altLang="zh-CN" dirty="0">
                <a:effectLst/>
                <a:latin typeface="Google Sans Text"/>
              </a:rPr>
              <a:t>, \bar{\alpha}_t = \prod_{</a:t>
            </a:r>
            <a:r>
              <a:rPr lang="en-US" altLang="zh-CN" dirty="0" err="1">
                <a:effectLst/>
                <a:latin typeface="Google Sans Text"/>
              </a:rPr>
              <a:t>i</a:t>
            </a:r>
            <a:r>
              <a:rPr lang="en-US" altLang="zh-CN" dirty="0">
                <a:effectLst/>
                <a:latin typeface="Google Sans Text"/>
              </a:rPr>
              <a:t>=1}^t \</a:t>
            </a:r>
            <a:r>
              <a:rPr lang="en-US" altLang="zh-CN" dirty="0" err="1">
                <a:effectLst/>
                <a:latin typeface="Google Sans Text"/>
              </a:rPr>
              <a:t>alpha_i</a:t>
            </a:r>
            <a:r>
              <a:rPr lang="en-US" altLang="zh-CN" dirty="0">
                <a:effectLst/>
                <a:latin typeface="Google Sans Text"/>
              </a:rPr>
              <a:t>$</a:t>
            </a:r>
            <a:r>
              <a:rPr lang="zh-CN" altLang="en-US" dirty="0"/>
              <a:t>。</a:t>
            </a:r>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algn="just"/>
            <a:r>
              <a:rPr lang="zh-CN" altLang="en-US" b="0" i="0" dirty="0">
                <a:solidFill>
                  <a:srgbClr val="555555"/>
                </a:solidFill>
                <a:effectLst/>
                <a:latin typeface="Lato" panose="020F0502020204030203" pitchFamily="34" charset="0"/>
              </a:rPr>
              <a:t>由于学习目标</a:t>
            </a:r>
            <a:r>
              <a:rPr lang="en-US" altLang="zh-CN" sz="1200" dirty="0">
                <a:solidFill>
                  <a:schemeClr val="tx1">
                    <a:lumMod val="65000"/>
                    <a:lumOff val="35000"/>
                  </a:schemeClr>
                </a:solidFill>
                <a:latin typeface="微软雅黑" charset="-122"/>
                <a:ea typeface="微软雅黑" charset="-122"/>
              </a:rPr>
              <a:t>q(xt-1 | xt,x0)</a:t>
            </a:r>
            <a:r>
              <a:rPr lang="zh-CN" altLang="en-US" b="0" i="0" dirty="0">
                <a:solidFill>
                  <a:srgbClr val="555555"/>
                </a:solidFill>
                <a:effectLst/>
                <a:latin typeface="Lato" panose="020F0502020204030203" pitchFamily="34" charset="0"/>
              </a:rPr>
              <a:t>里只有一个未知变</a:t>
            </a:r>
            <a:r>
              <a:rPr lang="en-US" altLang="zh-CN" b="0" i="0" dirty="0">
                <a:solidFill>
                  <a:srgbClr val="555555"/>
                </a:solidFill>
                <a:effectLst/>
                <a:latin typeface="Lato" panose="020F0502020204030203" pitchFamily="34" charset="0"/>
              </a:rPr>
              <a:t>x0</a:t>
            </a:r>
            <a:r>
              <a:rPr lang="zh-CN" altLang="en-US" b="0" i="0" dirty="0">
                <a:solidFill>
                  <a:srgbClr val="555555"/>
                </a:solidFill>
                <a:effectLst/>
                <a:latin typeface="Lato" panose="020F0502020204030203" pitchFamily="34" charset="0"/>
              </a:rPr>
              <a:t>量，</a:t>
            </a:r>
            <a:r>
              <a:rPr lang="en-US" altLang="zh-CN" b="0" i="0" dirty="0">
                <a:solidFill>
                  <a:srgbClr val="555555"/>
                </a:solidFill>
                <a:effectLst/>
                <a:latin typeface="Lato" panose="020F0502020204030203" pitchFamily="34" charset="0"/>
              </a:rPr>
              <a:t>DDPM</a:t>
            </a:r>
            <a:r>
              <a:rPr lang="zh-CN" altLang="en-US" b="0" i="0" dirty="0">
                <a:solidFill>
                  <a:srgbClr val="555555"/>
                </a:solidFill>
                <a:effectLst/>
                <a:latin typeface="Lato" panose="020F0502020204030203" pitchFamily="34" charset="0"/>
              </a:rPr>
              <a:t>把学习目标简化成了只让神经网络根据拟合公式里的（更具体一点，是拟合从到的噪声）。也就是说，在训练时，的公式不会被用到，只有和两个量之间的公式会被用到。只有在采样时，的公式才会被用到。训练目标的推理过程可以总结为：根据</a:t>
            </a:r>
            <a:r>
              <a:rPr lang="en-US" altLang="zh-CN" b="0" i="0" dirty="0" err="1">
                <a:solidFill>
                  <a:srgbClr val="555555"/>
                </a:solidFill>
                <a:effectLst/>
                <a:latin typeface="Lato" panose="020F0502020204030203" pitchFamily="34" charset="0"/>
              </a:rPr>
              <a:t>xt</a:t>
            </a:r>
            <a:r>
              <a:rPr lang="zh-CN" altLang="en-US" b="0" i="0" dirty="0">
                <a:solidFill>
                  <a:srgbClr val="555555"/>
                </a:solidFill>
                <a:effectLst/>
                <a:latin typeface="Lato" panose="020F0502020204030203" pitchFamily="34" charset="0"/>
              </a:rPr>
              <a:t>生成</a:t>
            </a:r>
            <a:r>
              <a:rPr lang="en-US" altLang="zh-CN" b="0" i="0" dirty="0">
                <a:solidFill>
                  <a:srgbClr val="555555"/>
                </a:solidFill>
                <a:effectLst/>
                <a:latin typeface="Lato" panose="020F0502020204030203" pitchFamily="34" charset="0"/>
              </a:rPr>
              <a:t>xt-1</a:t>
            </a:r>
            <a:r>
              <a:rPr lang="zh-CN" altLang="en-US" b="0" i="0" dirty="0">
                <a:solidFill>
                  <a:srgbClr val="555555"/>
                </a:solidFill>
                <a:effectLst/>
                <a:latin typeface="Lato" panose="020F0502020204030203" pitchFamily="34" charset="0"/>
              </a:rPr>
              <a:t>也就是拟合</a:t>
            </a:r>
            <a:r>
              <a:rPr lang="en-US" altLang="zh-CN" b="0" i="0" dirty="0">
                <a:solidFill>
                  <a:srgbClr val="555555"/>
                </a:solidFill>
                <a:effectLst/>
                <a:latin typeface="Lato" panose="020F0502020204030203" pitchFamily="34" charset="0"/>
              </a:rPr>
              <a:t>q(xt-1 | </a:t>
            </a:r>
            <a:r>
              <a:rPr lang="en-US" altLang="zh-CN" b="0" i="0" dirty="0" err="1">
                <a:solidFill>
                  <a:srgbClr val="555555"/>
                </a:solidFill>
                <a:effectLst/>
                <a:latin typeface="Lato" panose="020F0502020204030203" pitchFamily="34" charset="0"/>
              </a:rPr>
              <a:t>xt</a:t>
            </a:r>
            <a:r>
              <a:rPr lang="en-US" altLang="zh-CN" b="0" i="0" dirty="0">
                <a:solidFill>
                  <a:srgbClr val="555555"/>
                </a:solidFill>
                <a:effectLst/>
                <a:latin typeface="Lato" panose="020F0502020204030203" pitchFamily="34" charset="0"/>
              </a:rPr>
              <a:t>)</a:t>
            </a:r>
            <a:r>
              <a:rPr lang="zh-CN" altLang="en-US" b="0" i="0" dirty="0">
                <a:solidFill>
                  <a:srgbClr val="555555"/>
                </a:solidFill>
                <a:effectLst/>
                <a:latin typeface="Lato" panose="020F0502020204030203" pitchFamily="34" charset="0"/>
              </a:rPr>
              <a:t>，而</a:t>
            </a:r>
            <a:r>
              <a:rPr lang="en-US" altLang="zh-CN" b="0" i="0" dirty="0">
                <a:solidFill>
                  <a:srgbClr val="555555"/>
                </a:solidFill>
                <a:effectLst/>
                <a:latin typeface="Lato" panose="020F0502020204030203" pitchFamily="34" charset="0"/>
              </a:rPr>
              <a:t>q</a:t>
            </a:r>
            <a:r>
              <a:rPr lang="zh-CN" altLang="en-US" b="0" i="0" dirty="0">
                <a:solidFill>
                  <a:srgbClr val="555555"/>
                </a:solidFill>
                <a:effectLst/>
                <a:latin typeface="Lato" panose="020F0502020204030203" pitchFamily="34" charset="0"/>
              </a:rPr>
              <a:t>又由</a:t>
            </a:r>
            <a:r>
              <a:rPr lang="en-US" altLang="zh-CN" b="0" i="0" dirty="0">
                <a:solidFill>
                  <a:srgbClr val="555555"/>
                </a:solidFill>
                <a:effectLst/>
                <a:latin typeface="Lato" panose="020F0502020204030203" pitchFamily="34" charset="0"/>
              </a:rPr>
              <a:t>x0</a:t>
            </a:r>
            <a:r>
              <a:rPr lang="zh-CN" altLang="en-US" b="0" i="0" dirty="0">
                <a:solidFill>
                  <a:srgbClr val="555555"/>
                </a:solidFill>
                <a:effectLst/>
                <a:latin typeface="Lato" panose="020F0502020204030203" pitchFamily="34" charset="0"/>
              </a:rPr>
              <a:t>决定，所以也就是根据</a:t>
            </a:r>
            <a:r>
              <a:rPr lang="en-US" altLang="zh-CN" b="0" i="0" dirty="0" err="1">
                <a:solidFill>
                  <a:srgbClr val="555555"/>
                </a:solidFill>
                <a:effectLst/>
                <a:latin typeface="Lato" panose="020F0502020204030203" pitchFamily="34" charset="0"/>
              </a:rPr>
              <a:t>xt</a:t>
            </a:r>
            <a:r>
              <a:rPr lang="zh-CN" altLang="en-US" b="0" i="0" dirty="0">
                <a:solidFill>
                  <a:srgbClr val="555555"/>
                </a:solidFill>
                <a:effectLst/>
                <a:latin typeface="Lato" panose="020F0502020204030203" pitchFamily="34" charset="0"/>
              </a:rPr>
              <a:t>拟合</a:t>
            </a:r>
            <a:r>
              <a:rPr lang="en-US" altLang="zh-CN" b="0" i="0" dirty="0">
                <a:solidFill>
                  <a:srgbClr val="555555"/>
                </a:solidFill>
                <a:effectLst/>
                <a:latin typeface="Lato" panose="020F0502020204030203" pitchFamily="34" charset="0"/>
              </a:rPr>
              <a:t>x0</a:t>
            </a:r>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effectLst/>
              </a:rPr>
              <a:t>减少迭代次数后，模型每次估计的去噪均值变得不够准确，而每次去噪迭代自带的噪声（方差项）会进一步放大这种不准确性，导致采样质量明显下降。 为了解决这个问题，</a:t>
            </a:r>
            <a:r>
              <a:rPr lang="en-US" altLang="zh-CN" dirty="0">
                <a:effectLst/>
              </a:rPr>
              <a:t>DDIM</a:t>
            </a:r>
            <a:r>
              <a:rPr lang="zh-CN" altLang="en-US" dirty="0">
                <a:effectLst/>
              </a:rPr>
              <a:t>去掉了</a:t>
            </a:r>
            <a:r>
              <a:rPr lang="en-US" altLang="zh-CN" dirty="0">
                <a:effectLst/>
              </a:rPr>
              <a:t>DDPM</a:t>
            </a:r>
            <a:r>
              <a:rPr lang="zh-CN" altLang="en-US" dirty="0">
                <a:effectLst/>
              </a:rPr>
              <a:t>原本对 </a:t>
            </a:r>
            <a:r>
              <a:rPr lang="en-US" altLang="zh-CN" i="1" dirty="0">
                <a:effectLst/>
                <a:latin typeface="KaTeX_Math"/>
              </a:rPr>
              <a:t>q</a:t>
            </a:r>
            <a:r>
              <a:rPr lang="en-US" altLang="zh-CN" dirty="0">
                <a:effectLst/>
                <a:latin typeface="KaTeX_Main"/>
              </a:rPr>
              <a:t>(</a:t>
            </a:r>
            <a:r>
              <a:rPr lang="en-US" altLang="zh-CN" i="1" dirty="0" err="1">
                <a:effectLst/>
                <a:latin typeface="KaTeX_Math"/>
              </a:rPr>
              <a:t>xt</a:t>
            </a:r>
            <a:r>
              <a:rPr lang="zh-CN" altLang="en-US" dirty="0">
                <a:effectLst/>
                <a:latin typeface="KaTeX_Main"/>
              </a:rPr>
              <a:t>​∣</a:t>
            </a:r>
            <a:r>
              <a:rPr lang="en-US" altLang="zh-CN" i="1" dirty="0" err="1">
                <a:effectLst/>
                <a:latin typeface="KaTeX_Math"/>
              </a:rPr>
              <a:t>xt</a:t>
            </a:r>
            <a:r>
              <a:rPr lang="zh-CN" altLang="en-US" dirty="0">
                <a:effectLst/>
                <a:latin typeface="KaTeX_Main"/>
              </a:rPr>
              <a:t>−</a:t>
            </a:r>
            <a:r>
              <a:rPr lang="en-US" altLang="zh-CN" dirty="0">
                <a:effectLst/>
                <a:latin typeface="KaTeX_Main"/>
              </a:rPr>
              <a:t>1​,</a:t>
            </a:r>
            <a:r>
              <a:rPr lang="en-US" altLang="zh-CN" i="1" dirty="0">
                <a:effectLst/>
                <a:latin typeface="KaTeX_Math"/>
              </a:rPr>
              <a:t>x</a:t>
            </a:r>
            <a:r>
              <a:rPr lang="en-US" altLang="zh-CN" dirty="0">
                <a:effectLst/>
                <a:latin typeface="KaTeX_Main"/>
              </a:rPr>
              <a:t>0​)</a:t>
            </a:r>
            <a:r>
              <a:rPr lang="zh-CN" altLang="en-US" dirty="0">
                <a:effectLst/>
              </a:rPr>
              <a:t> 分布定义的严格限制。去掉限制后，</a:t>
            </a:r>
            <a:r>
              <a:rPr lang="zh-CN" altLang="en-US" b="1" dirty="0">
                <a:effectLst/>
              </a:rPr>
              <a:t>去噪过程的方差就变成了一个可以自由调节的变量</a:t>
            </a:r>
            <a:r>
              <a:rPr lang="zh-CN" altLang="en-US" dirty="0">
                <a:effectLst/>
              </a:rPr>
              <a:t>。</a:t>
            </a:r>
            <a:r>
              <a:rPr lang="zh-CN" altLang="en-US" b="0" i="0" dirty="0">
                <a:solidFill>
                  <a:srgbClr val="555555"/>
                </a:solidFill>
                <a:effectLst/>
                <a:latin typeface="Lato" panose="020F0502020204030203" pitchFamily="34" charset="0"/>
              </a:rPr>
              <a:t>为了方便地选取方差值，作者将方差改写为图中第三个公式所示，其中</a:t>
            </a:r>
            <a:r>
              <a:rPr lang="en-US" altLang="zh-CN" b="0" i="0" dirty="0">
                <a:solidFill>
                  <a:srgbClr val="555555"/>
                </a:solidFill>
                <a:effectLst/>
                <a:latin typeface="Lato" panose="020F0502020204030203" pitchFamily="34" charset="0"/>
              </a:rPr>
              <a:t>η</a:t>
            </a:r>
            <a:r>
              <a:rPr lang="zh-CN" altLang="en-US" b="0" i="0" dirty="0">
                <a:solidFill>
                  <a:srgbClr val="555555"/>
                </a:solidFill>
                <a:effectLst/>
                <a:latin typeface="Lato" panose="020F0502020204030203" pitchFamily="34" charset="0"/>
              </a:rPr>
              <a:t>处于</a:t>
            </a:r>
            <a:r>
              <a:rPr lang="en-US" altLang="zh-CN" b="0" i="0" dirty="0">
                <a:solidFill>
                  <a:srgbClr val="555555"/>
                </a:solidFill>
                <a:effectLst/>
                <a:latin typeface="Lato" panose="020F0502020204030203" pitchFamily="34" charset="0"/>
              </a:rPr>
              <a:t>0</a:t>
            </a:r>
            <a:r>
              <a:rPr lang="zh-CN" altLang="en-US" b="0" i="0" dirty="0">
                <a:solidFill>
                  <a:srgbClr val="555555"/>
                </a:solidFill>
                <a:effectLst/>
                <a:latin typeface="Lato" panose="020F0502020204030203" pitchFamily="34" charset="0"/>
              </a:rPr>
              <a:t>到</a:t>
            </a:r>
            <a:r>
              <a:rPr lang="en-US" altLang="zh-CN" b="0" i="0" dirty="0">
                <a:solidFill>
                  <a:srgbClr val="555555"/>
                </a:solidFill>
                <a:effectLst/>
                <a:latin typeface="Lato" panose="020F0502020204030203" pitchFamily="34" charset="0"/>
              </a:rPr>
              <a:t>1</a:t>
            </a:r>
            <a:r>
              <a:rPr lang="zh-CN" altLang="en-US" b="0" i="0" dirty="0">
                <a:solidFill>
                  <a:srgbClr val="555555"/>
                </a:solidFill>
                <a:effectLst/>
                <a:latin typeface="Lato" panose="020F0502020204030203" pitchFamily="34" charset="0"/>
              </a:rPr>
              <a:t>之间，通过选择不同的</a:t>
            </a:r>
            <a:r>
              <a:rPr lang="en-US" altLang="zh-CN" b="0" i="0" dirty="0">
                <a:solidFill>
                  <a:srgbClr val="555555"/>
                </a:solidFill>
                <a:effectLst/>
                <a:latin typeface="Lato" panose="020F0502020204030203" pitchFamily="34" charset="0"/>
              </a:rPr>
              <a:t>η</a:t>
            </a:r>
            <a:r>
              <a:rPr lang="zh-CN" altLang="en-US" b="0" i="0" dirty="0">
                <a:solidFill>
                  <a:srgbClr val="555555"/>
                </a:solidFill>
                <a:effectLst/>
                <a:latin typeface="Lato" panose="020F0502020204030203" pitchFamily="34" charset="0"/>
              </a:rPr>
              <a:t>，我们实际上是在</a:t>
            </a:r>
            <a:r>
              <a:rPr lang="en-US" altLang="zh-CN" b="0" i="0" dirty="0">
                <a:solidFill>
                  <a:srgbClr val="555555"/>
                </a:solidFill>
                <a:effectLst/>
                <a:latin typeface="Lato" panose="020F0502020204030203" pitchFamily="34" charset="0"/>
              </a:rPr>
              <a:t>DDPM</a:t>
            </a:r>
            <a:r>
              <a:rPr lang="zh-CN" altLang="en-US" b="0" i="0" dirty="0">
                <a:solidFill>
                  <a:srgbClr val="555555"/>
                </a:solidFill>
                <a:effectLst/>
                <a:latin typeface="Lato" panose="020F0502020204030203" pitchFamily="34" charset="0"/>
              </a:rPr>
              <a:t>和</a:t>
            </a:r>
            <a:r>
              <a:rPr lang="en-US" altLang="zh-CN" b="0" i="0" dirty="0">
                <a:solidFill>
                  <a:srgbClr val="555555"/>
                </a:solidFill>
                <a:effectLst/>
                <a:latin typeface="Lato" panose="020F0502020204030203" pitchFamily="34" charset="0"/>
              </a:rPr>
              <a:t>DDIM</a:t>
            </a:r>
            <a:r>
              <a:rPr lang="zh-CN" altLang="en-US" b="0" i="0" dirty="0">
                <a:solidFill>
                  <a:srgbClr val="555555"/>
                </a:solidFill>
                <a:effectLst/>
                <a:latin typeface="Lato" panose="020F0502020204030203" pitchFamily="34" charset="0"/>
              </a:rPr>
              <a:t>之间插值。</a:t>
            </a:r>
            <a:r>
              <a:rPr lang="en-US" altLang="zh-CN" b="0" i="0" dirty="0">
                <a:solidFill>
                  <a:srgbClr val="555555"/>
                </a:solidFill>
                <a:effectLst/>
                <a:latin typeface="Lato" panose="020F0502020204030203" pitchFamily="34" charset="0"/>
              </a:rPr>
              <a:t>η</a:t>
            </a:r>
            <a:r>
              <a:rPr lang="zh-CN" altLang="en-US" b="0" i="0" dirty="0">
                <a:solidFill>
                  <a:srgbClr val="555555"/>
                </a:solidFill>
                <a:effectLst/>
                <a:latin typeface="Lato" panose="020F0502020204030203" pitchFamily="34" charset="0"/>
              </a:rPr>
              <a:t>控制了插值的比例。当</a:t>
            </a:r>
            <a:r>
              <a:rPr lang="en-US" altLang="zh-CN" b="0" i="0" dirty="0">
                <a:solidFill>
                  <a:srgbClr val="555555"/>
                </a:solidFill>
                <a:effectLst/>
                <a:latin typeface="Lato" panose="020F0502020204030203" pitchFamily="34" charset="0"/>
              </a:rPr>
              <a:t>η=0</a:t>
            </a:r>
            <a:r>
              <a:rPr lang="zh-CN" altLang="en-US" b="0" i="0" dirty="0">
                <a:solidFill>
                  <a:srgbClr val="555555"/>
                </a:solidFill>
                <a:effectLst/>
                <a:latin typeface="Lato" panose="020F0502020204030203" pitchFamily="34" charset="0"/>
              </a:rPr>
              <a:t>，模型是</a:t>
            </a:r>
            <a:r>
              <a:rPr lang="en-US" altLang="zh-CN" b="0" i="0" dirty="0">
                <a:solidFill>
                  <a:srgbClr val="555555"/>
                </a:solidFill>
                <a:effectLst/>
                <a:latin typeface="Lato" panose="020F0502020204030203" pitchFamily="34" charset="0"/>
              </a:rPr>
              <a:t>DDIM</a:t>
            </a:r>
            <a:r>
              <a:rPr lang="zh-CN" altLang="en-US" b="0" i="0" dirty="0">
                <a:solidFill>
                  <a:srgbClr val="555555"/>
                </a:solidFill>
                <a:effectLst/>
                <a:latin typeface="Lato" panose="020F0502020204030203" pitchFamily="34" charset="0"/>
              </a:rPr>
              <a:t>；</a:t>
            </a:r>
            <a:r>
              <a:rPr lang="en-US" altLang="zh-CN" b="0" i="0" dirty="0">
                <a:solidFill>
                  <a:srgbClr val="555555"/>
                </a:solidFill>
                <a:effectLst/>
                <a:latin typeface="Lato" panose="020F0502020204030203" pitchFamily="34" charset="0"/>
              </a:rPr>
              <a:t>η=1</a:t>
            </a:r>
            <a:r>
              <a:rPr lang="zh-CN" altLang="en-US" b="0" i="0" dirty="0">
                <a:solidFill>
                  <a:srgbClr val="555555"/>
                </a:solidFill>
                <a:effectLst/>
                <a:latin typeface="Lato" panose="020F0502020204030203" pitchFamily="34" charset="0"/>
              </a:rPr>
              <a:t>，模型是</a:t>
            </a:r>
            <a:r>
              <a:rPr lang="en-US" altLang="zh-CN" b="0" i="0" dirty="0">
                <a:solidFill>
                  <a:srgbClr val="555555"/>
                </a:solidFill>
                <a:effectLst/>
                <a:latin typeface="Lato" panose="020F0502020204030203" pitchFamily="34" charset="0"/>
              </a:rPr>
              <a:t>DDPM</a:t>
            </a:r>
            <a:r>
              <a:rPr lang="zh-CN" altLang="en-US" b="0" i="0" dirty="0">
                <a:solidFill>
                  <a:srgbClr val="555555"/>
                </a:solidFill>
                <a:effectLst/>
                <a:latin typeface="Lato" panose="020F0502020204030203" pitchFamily="34" charset="0"/>
              </a:rPr>
              <a:t>。</a:t>
            </a:r>
            <a:r>
              <a:rPr lang="zh-CN" altLang="en-US" dirty="0">
                <a:effectLst/>
              </a:rPr>
              <a:t>为了最大程度消除不准确性，</a:t>
            </a:r>
            <a:r>
              <a:rPr lang="en-US" altLang="zh-CN" dirty="0">
                <a:effectLst/>
              </a:rPr>
              <a:t>DDIM</a:t>
            </a:r>
            <a:r>
              <a:rPr lang="zh-CN" altLang="en-US" dirty="0">
                <a:effectLst/>
              </a:rPr>
              <a:t>干脆</a:t>
            </a:r>
            <a:r>
              <a:rPr lang="zh-CN" altLang="en-US" b="1" dirty="0">
                <a:effectLst/>
              </a:rPr>
              <a:t>将这个去噪方差设为</a:t>
            </a:r>
            <a:r>
              <a:rPr lang="en-US" altLang="zh-CN" b="1" dirty="0">
                <a:effectLst/>
              </a:rPr>
              <a:t>0</a:t>
            </a:r>
            <a:r>
              <a:rPr lang="zh-CN" altLang="en-US" dirty="0">
                <a:effectLst/>
              </a:rPr>
              <a:t>，使得整个反向去噪过程变成一个没有任何随机噪声的</a:t>
            </a:r>
            <a:r>
              <a:rPr lang="zh-CN" altLang="en-US" b="1" dirty="0">
                <a:effectLst/>
              </a:rPr>
              <a:t>确定性过程</a:t>
            </a:r>
            <a:r>
              <a:rPr lang="zh-CN" altLang="en-US" dirty="0">
                <a:effectLst/>
              </a:rPr>
              <a:t>。</a:t>
            </a:r>
            <a:r>
              <a:rPr lang="zh-CN" altLang="en-US" b="1" dirty="0">
                <a:effectLst/>
              </a:rPr>
              <a:t>总结：</a:t>
            </a:r>
            <a:r>
              <a:rPr lang="zh-CN" altLang="en-US" dirty="0">
                <a:effectLst/>
              </a:rPr>
              <a:t> 从</a:t>
            </a:r>
            <a:r>
              <a:rPr lang="en-US" altLang="zh-CN" dirty="0">
                <a:effectLst/>
              </a:rPr>
              <a:t>DDPM</a:t>
            </a:r>
            <a:r>
              <a:rPr lang="zh-CN" altLang="en-US" dirty="0">
                <a:effectLst/>
              </a:rPr>
              <a:t>到</a:t>
            </a:r>
            <a:r>
              <a:rPr lang="en-US" altLang="zh-CN" dirty="0">
                <a:effectLst/>
              </a:rPr>
              <a:t>DDIM</a:t>
            </a:r>
            <a:r>
              <a:rPr lang="zh-CN" altLang="en-US" dirty="0">
                <a:effectLst/>
              </a:rPr>
              <a:t>的跨越，本质上是在不改变底层模型结构和训练方式的情况下，引入了**自定义去噪步数（跳步加速）</a:t>
            </a:r>
            <a:r>
              <a:rPr lang="zh-CN" altLang="en-US" b="1" dirty="0">
                <a:effectLst/>
              </a:rPr>
              <a:t>和</a:t>
            </a:r>
            <a:r>
              <a:rPr lang="zh-CN" altLang="en-US" dirty="0">
                <a:effectLst/>
              </a:rPr>
              <a:t>自定义噪声方差（令方差为</a:t>
            </a:r>
            <a:r>
              <a:rPr lang="en-US" altLang="zh-CN" dirty="0">
                <a:effectLst/>
              </a:rPr>
              <a:t>0</a:t>
            </a:r>
            <a:r>
              <a:rPr lang="zh-CN" altLang="en-US" dirty="0">
                <a:effectLst/>
              </a:rPr>
              <a:t>以消除随机性误差）**机制。这使得我们能在极少的步数下（快</a:t>
            </a:r>
            <a:r>
              <a:rPr lang="en-US" altLang="zh-CN" dirty="0">
                <a:effectLst/>
              </a:rPr>
              <a:t>50</a:t>
            </a:r>
            <a:r>
              <a:rPr lang="zh-CN" altLang="en-US" dirty="0">
                <a:effectLst/>
              </a:rPr>
              <a:t>倍左右），依然生成高质量的图像。</a:t>
            </a:r>
            <a:endParaRPr lang="zh-CN" altLang="en-US" dirty="0">
              <a:effectLst/>
            </a:endParaRPr>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algn="just"/>
            <a:r>
              <a:rPr lang="zh-CN" altLang="en-US" b="0" i="0" dirty="0">
                <a:solidFill>
                  <a:srgbClr val="555555"/>
                </a:solidFill>
                <a:effectLst/>
                <a:latin typeface="Lato" panose="020F0502020204030203" pitchFamily="34" charset="0"/>
              </a:rPr>
              <a:t>到这里为止，已经了解了</a:t>
            </a:r>
            <a:r>
              <a:rPr lang="en-US" altLang="zh-CN" b="0" i="0" dirty="0">
                <a:solidFill>
                  <a:srgbClr val="555555"/>
                </a:solidFill>
                <a:effectLst/>
                <a:latin typeface="Lato" panose="020F0502020204030203" pitchFamily="34" charset="0"/>
              </a:rPr>
              <a:t>DDIM</a:t>
            </a:r>
            <a:r>
              <a:rPr lang="zh-CN" altLang="en-US" b="0" i="0" dirty="0">
                <a:solidFill>
                  <a:srgbClr val="555555"/>
                </a:solidFill>
                <a:effectLst/>
                <a:latin typeface="Lato" panose="020F0502020204030203" pitchFamily="34" charset="0"/>
              </a:rPr>
              <a:t>论文的两大内容：加速采样、更换采样方差。加速采样的意义很好理解，它能大幅减少采样时间。可更换采样方差有什么意义呢？我们看完论文中的实验结果就知道了。</a:t>
            </a:r>
            <a:endParaRPr lang="zh-CN" altLang="en-US" b="0" i="0" dirty="0">
              <a:solidFill>
                <a:srgbClr val="555555"/>
              </a:solidFill>
              <a:effectLst/>
              <a:latin typeface="Lato" panose="020F0502020204030203" pitchFamily="34" charset="0"/>
            </a:endParaRPr>
          </a:p>
          <a:p>
            <a:pPr algn="just"/>
            <a:r>
              <a:rPr lang="zh-CN" altLang="en-US" b="0" i="0" dirty="0">
                <a:solidFill>
                  <a:srgbClr val="555555"/>
                </a:solidFill>
                <a:effectLst/>
                <a:latin typeface="Lato" panose="020F0502020204030203" pitchFamily="34" charset="0"/>
              </a:rPr>
              <a:t>论文展示了新采样方法在不同方差、不同采样步数下的</a:t>
            </a:r>
            <a:r>
              <a:rPr lang="en-US" altLang="zh-CN" b="0" i="0" dirty="0">
                <a:solidFill>
                  <a:srgbClr val="555555"/>
                </a:solidFill>
                <a:effectLst/>
                <a:latin typeface="Lato" panose="020F0502020204030203" pitchFamily="34" charset="0"/>
              </a:rPr>
              <a:t>FID</a:t>
            </a:r>
            <a:r>
              <a:rPr lang="zh-CN" altLang="en-US" b="0" i="0" dirty="0">
                <a:solidFill>
                  <a:srgbClr val="555555"/>
                </a:solidFill>
                <a:effectLst/>
                <a:latin typeface="Lato" panose="020F0502020204030203" pitchFamily="34" charset="0"/>
              </a:rPr>
              <a:t>指标（越小越好）。其中，最后一行表示使用</a:t>
            </a:r>
            <a:r>
              <a:rPr lang="en-US" altLang="zh-CN" b="0" i="0" dirty="0">
                <a:solidFill>
                  <a:srgbClr val="555555"/>
                </a:solidFill>
                <a:effectLst/>
                <a:latin typeface="Lato" panose="020F0502020204030203" pitchFamily="34" charset="0"/>
              </a:rPr>
              <a:t>DDPM</a:t>
            </a:r>
            <a:r>
              <a:rPr lang="zh-CN" altLang="en-US" b="0" i="0" dirty="0">
                <a:solidFill>
                  <a:srgbClr val="555555"/>
                </a:solidFill>
                <a:effectLst/>
                <a:latin typeface="Lato" panose="020F0502020204030203" pitchFamily="34" charset="0"/>
              </a:rPr>
              <a:t>中的方差取值。实验结果非常有趣。在使用采样加速（步数比总时刻</a:t>
            </a:r>
            <a:r>
              <a:rPr lang="en-US" altLang="zh-CN" b="0" i="0" dirty="0">
                <a:solidFill>
                  <a:srgbClr val="555555"/>
                </a:solidFill>
                <a:effectLst/>
                <a:latin typeface="Lato" panose="020F0502020204030203" pitchFamily="34" charset="0"/>
              </a:rPr>
              <a:t>1000</a:t>
            </a:r>
            <a:r>
              <a:rPr lang="zh-CN" altLang="en-US" b="0" i="0" dirty="0">
                <a:solidFill>
                  <a:srgbClr val="555555"/>
                </a:solidFill>
                <a:effectLst/>
                <a:latin typeface="Lato" panose="020F0502020204030203" pitchFamily="34" charset="0"/>
              </a:rPr>
              <a:t>要小）时，</a:t>
            </a:r>
            <a:r>
              <a:rPr lang="en-US" altLang="zh-CN" b="0" i="0" dirty="0">
                <a:solidFill>
                  <a:srgbClr val="555555"/>
                </a:solidFill>
                <a:effectLst/>
                <a:latin typeface="Lato" panose="020F0502020204030203" pitchFamily="34" charset="0"/>
              </a:rPr>
              <a:t>η=0</a:t>
            </a:r>
            <a:r>
              <a:rPr lang="zh-CN" altLang="en-US" b="0" i="0" dirty="0">
                <a:solidFill>
                  <a:srgbClr val="555555"/>
                </a:solidFill>
                <a:effectLst/>
                <a:latin typeface="Lato" panose="020F0502020204030203" pitchFamily="34" charset="0"/>
              </a:rPr>
              <a:t>的</a:t>
            </a:r>
            <a:r>
              <a:rPr lang="en-US" altLang="zh-CN" b="0" i="0" dirty="0">
                <a:solidFill>
                  <a:srgbClr val="555555"/>
                </a:solidFill>
                <a:effectLst/>
                <a:latin typeface="Lato" panose="020F0502020204030203" pitchFamily="34" charset="0"/>
              </a:rPr>
              <a:t>DDIM</a:t>
            </a:r>
            <a:r>
              <a:rPr lang="zh-CN" altLang="en-US" b="0" i="0" dirty="0">
                <a:solidFill>
                  <a:srgbClr val="555555"/>
                </a:solidFill>
                <a:effectLst/>
                <a:latin typeface="Lato" panose="020F0502020204030203" pitchFamily="34" charset="0"/>
              </a:rPr>
              <a:t>的表现最好，而最后一行的情况则非常差。而当</a:t>
            </a:r>
            <a:r>
              <a:rPr lang="en-US" altLang="zh-CN" b="0" i="0" dirty="0">
                <a:solidFill>
                  <a:srgbClr val="555555"/>
                </a:solidFill>
                <a:effectLst/>
                <a:latin typeface="Lato" panose="020F0502020204030203" pitchFamily="34" charset="0"/>
              </a:rPr>
              <a:t>η</a:t>
            </a:r>
            <a:r>
              <a:rPr lang="zh-CN" altLang="en-US" b="0" i="0" dirty="0">
                <a:solidFill>
                  <a:srgbClr val="555555"/>
                </a:solidFill>
                <a:effectLst/>
                <a:latin typeface="Lato" panose="020F0502020204030203" pitchFamily="34" charset="0"/>
              </a:rPr>
              <a:t>增大，模型越来越靠近</a:t>
            </a:r>
            <a:r>
              <a:rPr lang="en-US" altLang="zh-CN" b="0" i="0" dirty="0">
                <a:solidFill>
                  <a:srgbClr val="555555"/>
                </a:solidFill>
                <a:effectLst/>
                <a:latin typeface="Lato" panose="020F0502020204030203" pitchFamily="34" charset="0"/>
              </a:rPr>
              <a:t>DDPM</a:t>
            </a:r>
            <a:r>
              <a:rPr lang="zh-CN" altLang="en-US" b="0" i="0" dirty="0">
                <a:solidFill>
                  <a:srgbClr val="555555"/>
                </a:solidFill>
                <a:effectLst/>
                <a:latin typeface="Lato" panose="020F0502020204030203" pitchFamily="34" charset="0"/>
              </a:rPr>
              <a:t>时，用</a:t>
            </a:r>
            <a:r>
              <a:rPr lang="en-US" altLang="zh-CN" b="0" i="0" dirty="0">
                <a:solidFill>
                  <a:srgbClr val="555555"/>
                </a:solidFill>
                <a:effectLst/>
                <a:latin typeface="Lato" panose="020F0502020204030203" pitchFamily="34" charset="0"/>
              </a:rPr>
              <a:t>σ</a:t>
            </a:r>
            <a:r>
              <a:rPr lang="zh-CN" altLang="en-US" b="0" i="0" dirty="0">
                <a:solidFill>
                  <a:srgbClr val="555555"/>
                </a:solidFill>
                <a:effectLst/>
                <a:latin typeface="Lato" panose="020F0502020204030203" pitchFamily="34" charset="0"/>
              </a:rPr>
              <a:t>的结果会越来越好。而在</a:t>
            </a:r>
            <a:r>
              <a:rPr lang="en-US" altLang="zh-CN" b="0" i="0" dirty="0">
                <a:solidFill>
                  <a:srgbClr val="555555"/>
                </a:solidFill>
                <a:effectLst/>
                <a:latin typeface="Lato" panose="020F0502020204030203" pitchFamily="34" charset="0"/>
              </a:rPr>
              <a:t>DDPM</a:t>
            </a:r>
            <a:r>
              <a:rPr lang="zh-CN" altLang="en-US" b="0" i="0" dirty="0">
                <a:solidFill>
                  <a:srgbClr val="555555"/>
                </a:solidFill>
                <a:effectLst/>
                <a:latin typeface="Lato" panose="020F0502020204030203" pitchFamily="34" charset="0"/>
              </a:rPr>
              <a:t>中，用</a:t>
            </a:r>
            <a:r>
              <a:rPr lang="en-US" altLang="zh-CN" b="0" i="0" dirty="0">
                <a:solidFill>
                  <a:srgbClr val="555555"/>
                </a:solidFill>
                <a:effectLst/>
                <a:latin typeface="Lato" panose="020F0502020204030203" pitchFamily="34" charset="0"/>
              </a:rPr>
              <a:t>σ</a:t>
            </a:r>
            <a:r>
              <a:rPr lang="zh-CN" altLang="en-US" b="0" i="0" dirty="0">
                <a:solidFill>
                  <a:srgbClr val="555555"/>
                </a:solidFill>
                <a:effectLst/>
                <a:latin typeface="Lato" panose="020F0502020204030203" pitchFamily="34" charset="0"/>
              </a:rPr>
              <a:t>的结果是最好的。从这个实验结果中，可以得到一条很简单的实践指南：如果使用了采样加速，一定要用效果最好的</a:t>
            </a:r>
            <a:r>
              <a:rPr lang="en-US" altLang="zh-CN" b="0" i="0" dirty="0">
                <a:solidFill>
                  <a:srgbClr val="555555"/>
                </a:solidFill>
                <a:effectLst/>
                <a:latin typeface="Lato" panose="020F0502020204030203" pitchFamily="34" charset="0"/>
              </a:rPr>
              <a:t>DDIM</a:t>
            </a:r>
            <a:r>
              <a:rPr lang="zh-CN" altLang="en-US" b="0" i="0" dirty="0">
                <a:solidFill>
                  <a:srgbClr val="555555"/>
                </a:solidFill>
                <a:effectLst/>
                <a:latin typeface="Lato" panose="020F0502020204030203" pitchFamily="34" charset="0"/>
              </a:rPr>
              <a:t>；而使用原</a:t>
            </a:r>
            <a:r>
              <a:rPr lang="en-US" altLang="zh-CN" b="0" i="0" dirty="0">
                <a:solidFill>
                  <a:srgbClr val="555555"/>
                </a:solidFill>
                <a:effectLst/>
                <a:latin typeface="Lato" panose="020F0502020204030203" pitchFamily="34" charset="0"/>
              </a:rPr>
              <a:t>DDPM</a:t>
            </a:r>
            <a:r>
              <a:rPr lang="zh-CN" altLang="en-US" b="0" i="0" dirty="0">
                <a:solidFill>
                  <a:srgbClr val="555555"/>
                </a:solidFill>
                <a:effectLst/>
                <a:latin typeface="Lato" panose="020F0502020204030203" pitchFamily="34" charset="0"/>
              </a:rPr>
              <a:t>的话，可以维持原论文提出的方差取值。</a:t>
            </a:r>
            <a:endParaRPr lang="zh-CN" altLang="en-US" b="0" i="0" dirty="0">
              <a:solidFill>
                <a:srgbClr val="555555"/>
              </a:solidFill>
              <a:effectLst/>
              <a:latin typeface="Lato" panose="020F0502020204030203" pitchFamily="34" charset="0"/>
            </a:endParaRPr>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首先，无论是哪种图像生成模型，我们都可以把它看作是一个非常基础的模型的进化版</a:t>
            </a:r>
            <a:r>
              <a:rPr lang="en-US" altLang="zh-CN" dirty="0"/>
              <a:t>——</a:t>
            </a:r>
            <a:r>
              <a:rPr lang="zh-CN" altLang="en-US" dirty="0"/>
              <a:t>自编码器 </a:t>
            </a:r>
            <a:r>
              <a:rPr lang="en-US" altLang="zh-CN" dirty="0"/>
              <a:t>(Autoencoder, </a:t>
            </a:r>
            <a:r>
              <a:rPr lang="zh-CN" altLang="en-US" dirty="0"/>
              <a:t>简称 </a:t>
            </a:r>
            <a:r>
              <a:rPr lang="en-US" altLang="zh-CN" dirty="0"/>
              <a:t>AE)</a:t>
            </a:r>
            <a:r>
              <a:rPr lang="zh-CN" altLang="en-US" dirty="0"/>
              <a:t>。核心逻辑： 我们可以把它当作一个图像的压缩与解压器。它包含一个“编码器”（把图片压缩成数据）和一个“解码器”（把压缩数据还原回图片）。训练目标： 它的目标很简单，就是让重建出来的图像和原图尽可能一致，均方误差越小越好。这种自监督学习不需要人工打标签。致命缺陷： 既然能解码生成图片，那为什么普通的 </a:t>
            </a:r>
            <a:r>
              <a:rPr lang="en-US" altLang="zh-CN" dirty="0"/>
              <a:t>AE </a:t>
            </a:r>
            <a:r>
              <a:rPr lang="zh-CN" altLang="en-US" dirty="0"/>
              <a:t>不能直接用来做图像生成呢？原因是它存在严重的过拟合。普通的 </a:t>
            </a:r>
            <a:r>
              <a:rPr lang="en-US" altLang="zh-CN" dirty="0"/>
              <a:t>AE </a:t>
            </a:r>
            <a:r>
              <a:rPr lang="zh-CN" altLang="en-US" dirty="0"/>
              <a:t>会“死记硬背”，把编码器和解码器变成了极其死板的“图片</a:t>
            </a:r>
            <a:r>
              <a:rPr lang="en-US" altLang="zh-CN" dirty="0"/>
              <a:t>-</a:t>
            </a:r>
            <a:r>
              <a:rPr lang="zh-CN" altLang="en-US" dirty="0"/>
              <a:t>数字对应词典”。一旦你给解码器输入一个随机生成的、训练集之外的压缩数据，它就完全无法识别，也就没法生成有意义的新图像了。</a:t>
            </a:r>
            <a:r>
              <a:rPr lang="en-US" altLang="zh-CN" dirty="0"/>
              <a:t>【</a:t>
            </a:r>
            <a:r>
              <a:rPr lang="zh-CN" altLang="en-US" dirty="0"/>
              <a:t>第二部分：路线一 </a:t>
            </a:r>
            <a:r>
              <a:rPr lang="en-US" altLang="zh-CN" dirty="0"/>
              <a:t>—— </a:t>
            </a:r>
            <a:r>
              <a:rPr lang="zh-CN" altLang="en-US" dirty="0"/>
              <a:t>解决过拟合 </a:t>
            </a:r>
            <a:r>
              <a:rPr lang="en-US" altLang="zh-CN" dirty="0"/>
              <a:t>(VAE </a:t>
            </a:r>
            <a:r>
              <a:rPr lang="zh-CN" altLang="en-US" dirty="0"/>
              <a:t>到 </a:t>
            </a:r>
            <a:r>
              <a:rPr lang="en-US" altLang="zh-CN" dirty="0"/>
              <a:t>DDPM)】</a:t>
            </a:r>
            <a:r>
              <a:rPr lang="zh-CN" altLang="en-US" dirty="0"/>
              <a:t>为了打破这种“死记硬背”，让模型真正具备生成新图像的能力，研究人员探索出了第一条路线：通过高级的数学约束来解决过拟合。变分自编码器 </a:t>
            </a:r>
            <a:r>
              <a:rPr lang="en-US" altLang="zh-CN" dirty="0"/>
              <a:t>(VAE)</a:t>
            </a:r>
            <a:r>
              <a:rPr lang="zh-CN" altLang="en-US" dirty="0"/>
              <a:t>： </a:t>
            </a:r>
            <a:r>
              <a:rPr lang="en-US" altLang="zh-CN" dirty="0"/>
              <a:t>VAE </a:t>
            </a:r>
            <a:r>
              <a:rPr lang="zh-CN" altLang="en-US" dirty="0"/>
              <a:t>做了一个巧妙的改动，它让编码器不再输出一个死板的固定值，而是输出一个正态分布（均值和方差）。生成图像时，模型会从标准正态分布中随机采样给解码器。同时，它引入了 </a:t>
            </a:r>
            <a:r>
              <a:rPr lang="en-US" altLang="zh-CN" dirty="0"/>
              <a:t>KL </a:t>
            </a:r>
            <a:r>
              <a:rPr lang="zh-CN" altLang="en-US" dirty="0"/>
              <a:t>散度 作为正则化约束，要求编码器的输出必须尽可能靠近标准正态分布。这虽然解决了过拟合，但因为约束条件仍然太少，</a:t>
            </a:r>
            <a:r>
              <a:rPr lang="en-US" altLang="zh-CN" dirty="0"/>
              <a:t>VAE </a:t>
            </a:r>
            <a:r>
              <a:rPr lang="zh-CN" altLang="en-US" dirty="0"/>
              <a:t>生成的图片通常非常模糊。去噪扩散概率模型 </a:t>
            </a:r>
            <a:r>
              <a:rPr lang="en-US" altLang="zh-CN" dirty="0"/>
              <a:t>(DDPM)</a:t>
            </a:r>
            <a:r>
              <a:rPr lang="zh-CN" altLang="en-US" dirty="0"/>
              <a:t>： 这是如今扩散模型的开山鼻祖。它觉得 </a:t>
            </a:r>
            <a:r>
              <a:rPr lang="en-US" altLang="zh-CN" dirty="0"/>
              <a:t>VAE </a:t>
            </a:r>
            <a:r>
              <a:rPr lang="zh-CN" altLang="en-US" dirty="0"/>
              <a:t>作为一个黑盒，太不可控了。于是 </a:t>
            </a:r>
            <a:r>
              <a:rPr lang="en-US" altLang="zh-CN" dirty="0"/>
              <a:t>DDPM </a:t>
            </a:r>
            <a:r>
              <a:rPr lang="zh-CN" altLang="en-US" dirty="0"/>
              <a:t>从热力学中汲取灵感：它的“编码器”变成了一系列固定好的、不可学习的加噪操作（一步步把原图破坏成纯噪声）；而它的“解码器”变成了一系列可学习的去噪操作。</a:t>
            </a:r>
            <a:r>
              <a:rPr lang="en-US" altLang="zh-CN" dirty="0"/>
              <a:t>DDPM </a:t>
            </a:r>
            <a:r>
              <a:rPr lang="zh-CN" altLang="en-US" dirty="0"/>
              <a:t>的瓶颈： </a:t>
            </a:r>
            <a:r>
              <a:rPr lang="en-US" altLang="zh-CN" dirty="0"/>
              <a:t>DDPM </a:t>
            </a:r>
            <a:r>
              <a:rPr lang="zh-CN" altLang="en-US" dirty="0"/>
              <a:t>约束条件多，生成图像的质量极其出色。但它有一个致命伤</a:t>
            </a:r>
            <a:r>
              <a:rPr lang="en-US" altLang="zh-CN" dirty="0"/>
              <a:t>——</a:t>
            </a:r>
            <a:r>
              <a:rPr lang="zh-CN" altLang="en-US" dirty="0"/>
              <a:t>图像尺寸自始至终没有改变。它一直在原图的高分辨率像素级别上进行去噪，这导致计算速度极慢，生成高清大图极其消耗算力。</a:t>
            </a:r>
            <a:r>
              <a:rPr lang="en-US" altLang="zh-CN" dirty="0"/>
              <a:t>【</a:t>
            </a:r>
            <a:r>
              <a:rPr lang="zh-CN" altLang="en-US" dirty="0"/>
              <a:t>第三部分：路线二 </a:t>
            </a:r>
            <a:r>
              <a:rPr lang="en-US" altLang="zh-CN" dirty="0"/>
              <a:t>—— </a:t>
            </a:r>
            <a:r>
              <a:rPr lang="zh-CN" altLang="en-US" dirty="0"/>
              <a:t>降维打击与两阶段生成 </a:t>
            </a:r>
            <a:r>
              <a:rPr lang="en-US" altLang="zh-CN" dirty="0"/>
              <a:t>(VQVAE </a:t>
            </a:r>
            <a:r>
              <a:rPr lang="zh-CN" altLang="en-US" dirty="0"/>
              <a:t>到 </a:t>
            </a:r>
            <a:r>
              <a:rPr lang="en-US" altLang="zh-CN" dirty="0"/>
              <a:t>VQGAN)】</a:t>
            </a:r>
            <a:r>
              <a:rPr lang="zh-CN" altLang="en-US" dirty="0"/>
              <a:t>就在第一条路线努力提升图像质量的同时，另一批研究人员走上了第二条路线：既然高分辨率生成太耗算力，不如先压缩，再生成！</a:t>
            </a:r>
            <a:r>
              <a:rPr lang="en-US" altLang="zh-CN" dirty="0"/>
              <a:t>VQVAE</a:t>
            </a:r>
            <a:r>
              <a:rPr lang="zh-CN" altLang="en-US" dirty="0"/>
              <a:t>： 这项工作将 </a:t>
            </a:r>
            <a:r>
              <a:rPr lang="en-US" altLang="zh-CN" dirty="0"/>
              <a:t>AE </a:t>
            </a:r>
            <a:r>
              <a:rPr lang="zh-CN" altLang="en-US" dirty="0"/>
              <a:t>的连续输出，通过“向量离散化”操作，强行对齐到一个离散的嵌入层上。这其实是一种 </a:t>
            </a:r>
            <a:r>
              <a:rPr lang="en-US" altLang="zh-CN" dirty="0"/>
              <a:t>VQ </a:t>
            </a:r>
            <a:r>
              <a:rPr lang="zh-CN" altLang="en-US" dirty="0"/>
              <a:t>正则化，不仅同样解决了死记硬背的过拟合问题，最重要的是，它能把大图片等比例压缩成离散的“特征小图”。两步走战略： </a:t>
            </a:r>
            <a:r>
              <a:rPr lang="en-US" altLang="zh-CN" dirty="0"/>
              <a:t>VQVAE </a:t>
            </a:r>
            <a:r>
              <a:rPr lang="zh-CN" altLang="en-US" dirty="0"/>
              <a:t>确立了一个重要的两阶段流程：第一步，先训练模型把图像压缩变小；第二步，用另一个专门的模型（比如 </a:t>
            </a:r>
            <a:r>
              <a:rPr lang="en-US" altLang="zh-CN" dirty="0"/>
              <a:t>NLP </a:t>
            </a:r>
            <a:r>
              <a:rPr lang="zh-CN" altLang="en-US" dirty="0"/>
              <a:t>里常用的 </a:t>
            </a:r>
            <a:r>
              <a:rPr lang="en-US" altLang="zh-CN" dirty="0"/>
              <a:t>Transformer</a:t>
            </a:r>
            <a:r>
              <a:rPr lang="zh-CN" altLang="en-US" dirty="0"/>
              <a:t>）去生成这些压缩后的小图像，最后再解码回真实图像。这大大节省了算力。进阶版 </a:t>
            </a:r>
            <a:r>
              <a:rPr lang="en-US" altLang="zh-CN" dirty="0"/>
              <a:t>VQGAN</a:t>
            </a:r>
            <a:r>
              <a:rPr lang="zh-CN" altLang="en-US" dirty="0"/>
              <a:t>： 后续的 </a:t>
            </a:r>
            <a:r>
              <a:rPr lang="en-US" altLang="zh-CN" dirty="0"/>
              <a:t>VQGAN </a:t>
            </a:r>
            <a:r>
              <a:rPr lang="zh-CN" altLang="en-US" dirty="0"/>
              <a:t>引入了生成对抗网络 </a:t>
            </a:r>
            <a:r>
              <a:rPr lang="en-US" altLang="zh-CN" dirty="0"/>
              <a:t>(GAN) </a:t>
            </a:r>
            <a:r>
              <a:rPr lang="zh-CN" altLang="en-US" dirty="0"/>
              <a:t>的误差机制，大幅提升了压缩重建的质量。但它的瓶颈在于，配套的 </a:t>
            </a:r>
            <a:r>
              <a:rPr lang="en-US" altLang="zh-CN" dirty="0"/>
              <a:t>Transformer </a:t>
            </a:r>
            <a:r>
              <a:rPr lang="zh-CN" altLang="en-US" dirty="0"/>
              <a:t>模型的计算量是随像素数的平方暴增的，因此它依然无法一次性直接生成超高分辨率的图片。</a:t>
            </a:r>
            <a:r>
              <a:rPr lang="en-US" altLang="zh-CN" dirty="0"/>
              <a:t>【</a:t>
            </a:r>
            <a:r>
              <a:rPr lang="zh-CN" altLang="en-US" dirty="0"/>
              <a:t>第四部分：两条路线的伟大交汇 </a:t>
            </a:r>
            <a:r>
              <a:rPr lang="en-US" altLang="zh-CN" dirty="0"/>
              <a:t>—— Stable Diffusion (LDM)】</a:t>
            </a:r>
            <a:r>
              <a:rPr lang="zh-CN" altLang="en-US" dirty="0"/>
              <a:t>讲到这里，大家可能已经猜到 </a:t>
            </a:r>
            <a:r>
              <a:rPr lang="en-US" altLang="zh-CN" dirty="0"/>
              <a:t>Stable Diffusion </a:t>
            </a:r>
            <a:r>
              <a:rPr lang="zh-CN" altLang="en-US" dirty="0"/>
              <a:t>是怎么诞生的了。在发布 </a:t>
            </a:r>
            <a:r>
              <a:rPr lang="en-US" altLang="zh-CN" dirty="0"/>
              <a:t>VQGAN </a:t>
            </a:r>
            <a:r>
              <a:rPr lang="zh-CN" altLang="en-US" dirty="0"/>
              <a:t>一年后，</a:t>
            </a:r>
            <a:r>
              <a:rPr lang="en-US" altLang="zh-CN" dirty="0" err="1"/>
              <a:t>CompVis</a:t>
            </a:r>
            <a:r>
              <a:rPr lang="en-US" altLang="zh-CN" dirty="0"/>
              <a:t> </a:t>
            </a:r>
            <a:r>
              <a:rPr lang="zh-CN" altLang="en-US" dirty="0"/>
              <a:t>实验室灵光一闪，将这两条路线的精髓完美融合，提出了隐扩散模型 </a:t>
            </a:r>
            <a:r>
              <a:rPr lang="en-US" altLang="zh-CN" dirty="0"/>
              <a:t>(Latent Diffusion Model, </a:t>
            </a:r>
            <a:r>
              <a:rPr lang="zh-CN" altLang="en-US" dirty="0"/>
              <a:t>简称 </a:t>
            </a:r>
            <a:r>
              <a:rPr lang="en-US" altLang="zh-CN" dirty="0"/>
              <a:t>LDM)</a:t>
            </a:r>
            <a:r>
              <a:rPr lang="zh-CN" altLang="en-US" dirty="0"/>
              <a:t>，也就是 </a:t>
            </a:r>
            <a:r>
              <a:rPr lang="en-US" altLang="zh-CN" dirty="0"/>
              <a:t>Stable Diffusion </a:t>
            </a:r>
            <a:r>
              <a:rPr lang="zh-CN" altLang="en-US" dirty="0"/>
              <a:t>的核心架构。强强联合： </a:t>
            </a:r>
            <a:r>
              <a:rPr lang="en-US" altLang="zh-CN" dirty="0"/>
              <a:t>VQGAN </a:t>
            </a:r>
            <a:r>
              <a:rPr lang="zh-CN" altLang="en-US" dirty="0"/>
              <a:t>的压缩技术很好，但 </a:t>
            </a:r>
            <a:r>
              <a:rPr lang="en-US" altLang="zh-CN" dirty="0"/>
              <a:t>Transformer </a:t>
            </a:r>
            <a:r>
              <a:rPr lang="zh-CN" altLang="en-US" dirty="0"/>
              <a:t>生成大图太吃力；</a:t>
            </a:r>
            <a:r>
              <a:rPr lang="en-US" altLang="zh-CN" dirty="0"/>
              <a:t>DDPM </a:t>
            </a:r>
            <a:r>
              <a:rPr lang="zh-CN" altLang="en-US" dirty="0"/>
              <a:t>生成能力极其强大，但在原像素上跑太慢。核心机制： </a:t>
            </a:r>
            <a:r>
              <a:rPr lang="en-US" altLang="zh-CN" dirty="0"/>
              <a:t>LDM </a:t>
            </a:r>
            <a:r>
              <a:rPr lang="zh-CN" altLang="en-US" dirty="0"/>
              <a:t>利用了第二条路线的启发，第一阶段先用一个轻微正则化（</a:t>
            </a:r>
            <a:r>
              <a:rPr lang="en-US" altLang="zh-CN" dirty="0"/>
              <a:t>KL </a:t>
            </a:r>
            <a:r>
              <a:rPr lang="zh-CN" altLang="en-US" dirty="0"/>
              <a:t>或 </a:t>
            </a:r>
            <a:r>
              <a:rPr lang="en-US" altLang="zh-CN" dirty="0"/>
              <a:t>VQ </a:t>
            </a:r>
            <a:r>
              <a:rPr lang="zh-CN" altLang="en-US" dirty="0"/>
              <a:t>正则化）的自编码器，把高分辨率图像大幅压缩（比如边长缩小 </a:t>
            </a:r>
            <a:r>
              <a:rPr lang="en-US" altLang="zh-CN" dirty="0"/>
              <a:t>8 </a:t>
            </a:r>
            <a:r>
              <a:rPr lang="zh-CN" altLang="en-US" dirty="0"/>
              <a:t>倍），投射到一个连续的“潜空间 </a:t>
            </a:r>
            <a:r>
              <a:rPr lang="en-US" altLang="zh-CN" dirty="0"/>
              <a:t>(Latent Space)”</a:t>
            </a:r>
            <a:r>
              <a:rPr lang="zh-CN" altLang="en-US" dirty="0"/>
              <a:t>中。第二阶段，它果断抛弃了受限于分辨率的 </a:t>
            </a:r>
            <a:r>
              <a:rPr lang="en-US" altLang="zh-CN" dirty="0"/>
              <a:t>Transformer</a:t>
            </a:r>
            <a:r>
              <a:rPr lang="zh-CN" altLang="en-US" dirty="0"/>
              <a:t>，把第一条路线里强大的 </a:t>
            </a:r>
            <a:r>
              <a:rPr lang="en-US" altLang="zh-CN" dirty="0"/>
              <a:t>DDPM </a:t>
            </a:r>
            <a:r>
              <a:rPr lang="zh-CN" altLang="en-US" dirty="0"/>
              <a:t>去噪模型 搬到了这个算力开销极小的潜空间里运行。</a:t>
            </a:r>
            <a:endParaRPr lang="zh-CN" altLang="en-US" dirty="0"/>
          </a:p>
        </p:txBody>
      </p:sp>
      <p:sp>
        <p:nvSpPr>
          <p:cNvPr id="4" name="灯片编号占位符 3"/>
          <p:cNvSpPr>
            <a:spLocks noGrp="1"/>
          </p:cNvSpPr>
          <p:nvPr>
            <p:ph type="sldNum" sz="quarter" idx="5"/>
          </p:nvPr>
        </p:nvSpPr>
        <p:spPr/>
        <p:txBody>
          <a:bodyPr/>
          <a:lstStyle/>
          <a:p>
            <a:fld id="{B4AC3B35-2A78-4970-B85C-E076431EEB48}"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想解决的问题是减少像素空间扩散模型的运算开销。为此，</a:t>
            </a:r>
            <a:r>
              <a:rPr lang="en-US" altLang="zh-CN" dirty="0"/>
              <a:t>LDM</a:t>
            </a:r>
            <a:r>
              <a:rPr lang="zh-CN" altLang="en-US" dirty="0"/>
              <a:t>借助了</a:t>
            </a:r>
            <a:r>
              <a:rPr lang="en-US" altLang="zh-CN" dirty="0"/>
              <a:t>VQVAE</a:t>
            </a:r>
            <a:r>
              <a:rPr lang="zh-CN" altLang="en-US" dirty="0"/>
              <a:t>「先压缩、再生成」的想法，把扩散模型用在</a:t>
            </a:r>
            <a:r>
              <a:rPr lang="en-US" altLang="zh-CN" dirty="0"/>
              <a:t>AE</a:t>
            </a:r>
            <a:r>
              <a:rPr lang="zh-CN" altLang="en-US" dirty="0"/>
              <a:t>的隐空间上，在几乎不降低生成质量的前提下减少了计算量。</a:t>
            </a:r>
            <a:endParaRPr lang="zh-CN" altLang="en-US" dirty="0"/>
          </a:p>
          <a:p>
            <a:r>
              <a:rPr lang="en-US" altLang="zh-CN" dirty="0"/>
              <a:t>LDM</a:t>
            </a:r>
            <a:r>
              <a:rPr lang="zh-CN" altLang="en-US" dirty="0"/>
              <a:t>的</a:t>
            </a:r>
            <a:r>
              <a:rPr lang="en-US" altLang="zh-CN" dirty="0"/>
              <a:t>AE</a:t>
            </a:r>
            <a:r>
              <a:rPr lang="zh-CN" altLang="en-US" dirty="0"/>
              <a:t>是怎么设计以达到压缩比例与质量的平衡的。</a:t>
            </a:r>
            <a:endParaRPr lang="zh-CN" altLang="en-US" dirty="0"/>
          </a:p>
          <a:p>
            <a:r>
              <a:rPr lang="zh-CN" altLang="en-US" dirty="0"/>
              <a:t>首先，要把图像搬到隐空间，我们需要一个强大的压缩模型。这里 </a:t>
            </a:r>
            <a:r>
              <a:rPr lang="en-US" altLang="zh-CN" dirty="0"/>
              <a:t>LDM </a:t>
            </a:r>
            <a:r>
              <a:rPr lang="zh-CN" altLang="en-US" dirty="0"/>
              <a:t>配套的压缩模型是一个自编码器（</a:t>
            </a:r>
            <a:r>
              <a:rPr lang="en-US" altLang="zh-CN" dirty="0"/>
              <a:t>Autoencoder, AE</a:t>
            </a:r>
            <a:r>
              <a:rPr lang="zh-CN" altLang="en-US" dirty="0"/>
              <a:t>），但它和普通的 </a:t>
            </a:r>
            <a:r>
              <a:rPr lang="en-US" altLang="zh-CN" dirty="0"/>
              <a:t>AE </a:t>
            </a:r>
            <a:r>
              <a:rPr lang="zh-CN" altLang="en-US" dirty="0"/>
              <a:t>有很大区别。损失函数的升级：传统的 </a:t>
            </a:r>
            <a:r>
              <a:rPr lang="en-US" altLang="zh-CN" dirty="0"/>
              <a:t>AE </a:t>
            </a:r>
            <a:r>
              <a:rPr lang="zh-CN" altLang="en-US" dirty="0"/>
              <a:t>一般用 </a:t>
            </a:r>
            <a:r>
              <a:rPr lang="en-US" altLang="zh-CN" dirty="0"/>
              <a:t>L1 </a:t>
            </a:r>
            <a:r>
              <a:rPr lang="zh-CN" altLang="en-US" dirty="0"/>
              <a:t>或 </a:t>
            </a:r>
            <a:r>
              <a:rPr lang="en-US" altLang="zh-CN" dirty="0"/>
              <a:t>L2 </a:t>
            </a:r>
            <a:r>
              <a:rPr lang="zh-CN" altLang="en-US" dirty="0"/>
              <a:t>损失，这会导致重建的图像变得模糊。这里的感知压缩模型引入了 </a:t>
            </a:r>
            <a:r>
              <a:rPr lang="en-US" altLang="zh-CN" dirty="0"/>
              <a:t>GAN </a:t>
            </a:r>
            <a:r>
              <a:rPr lang="zh-CN" altLang="en-US" dirty="0"/>
              <a:t>的思路，使用了感知误差（</a:t>
            </a:r>
            <a:r>
              <a:rPr lang="en-US" altLang="zh-CN" dirty="0"/>
              <a:t>Perceptual Loss</a:t>
            </a:r>
            <a:r>
              <a:rPr lang="zh-CN" altLang="en-US" dirty="0"/>
              <a:t>）和基于 </a:t>
            </a:r>
            <a:r>
              <a:rPr lang="en-US" altLang="zh-CN" dirty="0"/>
              <a:t>Patch </a:t>
            </a:r>
            <a:r>
              <a:rPr lang="zh-CN" altLang="en-US" dirty="0"/>
              <a:t>的对抗误差（</a:t>
            </a:r>
            <a:r>
              <a:rPr lang="en-US" altLang="zh-CN" dirty="0"/>
              <a:t>Adversarial Loss</a:t>
            </a:r>
            <a:r>
              <a:rPr lang="zh-CN" altLang="en-US" dirty="0"/>
              <a:t>）。这使得压缩后的重建图像在视觉上更加逼真，边缘更锐利。具体公式是：</a:t>
            </a:r>
            <a:r>
              <a:rPr lang="en-US" altLang="zh-CN" dirty="0"/>
              <a:t>$L = L_{perceptual}(\</a:t>
            </a:r>
            <a:r>
              <a:rPr lang="en-US" altLang="zh-CN" dirty="0" err="1"/>
              <a:t>mathbf</a:t>
            </a:r>
            <a:r>
              <a:rPr lang="en-US" altLang="zh-CN" dirty="0"/>
              <a:t>{x}, \</a:t>
            </a:r>
            <a:r>
              <a:rPr lang="en-US" altLang="zh-CN" dirty="0" err="1"/>
              <a:t>mathbf</a:t>
            </a:r>
            <a:r>
              <a:rPr lang="en-US" altLang="zh-CN" dirty="0"/>
              <a:t>{\hat{x}}) + L_{GAN}(\{E, G\}, D)$</a:t>
            </a:r>
            <a:r>
              <a:rPr lang="zh-CN" altLang="en-US" dirty="0"/>
              <a:t>。连续 </a:t>
            </a:r>
            <a:r>
              <a:rPr lang="en-US" altLang="zh-CN" dirty="0"/>
              <a:t>vs. </a:t>
            </a:r>
            <a:r>
              <a:rPr lang="zh-CN" altLang="en-US" dirty="0"/>
              <a:t>离散的较量（对比 </a:t>
            </a:r>
            <a:r>
              <a:rPr lang="en-US" altLang="zh-CN" dirty="0"/>
              <a:t>VQGAN</a:t>
            </a:r>
            <a:r>
              <a:rPr lang="zh-CN" altLang="en-US" dirty="0"/>
              <a:t>）：这里有一个非常关键的设计差异。大家可能知道 </a:t>
            </a:r>
            <a:r>
              <a:rPr lang="en-US" altLang="zh-CN" dirty="0"/>
              <a:t>VQGAN</a:t>
            </a:r>
            <a:r>
              <a:rPr lang="zh-CN" altLang="en-US" dirty="0"/>
              <a:t>，</a:t>
            </a:r>
            <a:r>
              <a:rPr lang="en-US" altLang="zh-CN" dirty="0"/>
              <a:t>VQGAN </a:t>
            </a:r>
            <a:r>
              <a:rPr lang="zh-CN" altLang="en-US" dirty="0"/>
              <a:t>的后端接的是 </a:t>
            </a:r>
            <a:r>
              <a:rPr lang="en-US" altLang="zh-CN" dirty="0"/>
              <a:t>Transformer</a:t>
            </a:r>
            <a:r>
              <a:rPr lang="zh-CN" altLang="en-US" dirty="0"/>
              <a:t>。由于 </a:t>
            </a:r>
            <a:r>
              <a:rPr lang="en-US" altLang="zh-CN" dirty="0"/>
              <a:t>Transformer </a:t>
            </a:r>
            <a:r>
              <a:rPr lang="zh-CN" altLang="en-US" dirty="0"/>
              <a:t>只能处理离散的 </a:t>
            </a:r>
            <a:r>
              <a:rPr lang="en-US" altLang="zh-CN" dirty="0"/>
              <a:t>Token</a:t>
            </a:r>
            <a:r>
              <a:rPr lang="zh-CN" altLang="en-US" dirty="0"/>
              <a:t>，所以 </a:t>
            </a:r>
            <a:r>
              <a:rPr lang="en-US" altLang="zh-CN" dirty="0"/>
              <a:t>VQGAN </a:t>
            </a:r>
            <a:r>
              <a:rPr lang="zh-CN" altLang="en-US" dirty="0"/>
              <a:t>必须对向量做强制的离散化（</a:t>
            </a:r>
            <a:r>
              <a:rPr lang="en-US" altLang="zh-CN" dirty="0"/>
              <a:t>Vector Quantization</a:t>
            </a:r>
            <a:r>
              <a:rPr lang="zh-CN" altLang="en-US" dirty="0"/>
              <a:t>）。</a:t>
            </a:r>
            <a:r>
              <a:rPr lang="en-US" altLang="zh-CN" dirty="0"/>
              <a:t>LDM </a:t>
            </a:r>
            <a:r>
              <a:rPr lang="zh-CN" altLang="en-US" dirty="0"/>
              <a:t>的选择：而 </a:t>
            </a:r>
            <a:r>
              <a:rPr lang="en-US" altLang="zh-CN" dirty="0"/>
              <a:t>LDM </a:t>
            </a:r>
            <a:r>
              <a:rPr lang="zh-CN" altLang="en-US" dirty="0"/>
              <a:t>后面接的是扩散模型（</a:t>
            </a:r>
            <a:r>
              <a:rPr lang="en-US" altLang="zh-CN" dirty="0"/>
              <a:t>U-Net</a:t>
            </a:r>
            <a:r>
              <a:rPr lang="zh-CN" altLang="en-US" dirty="0"/>
              <a:t>架构），扩散模型本身就是在连续分布上进行优化的。因此，</a:t>
            </a:r>
            <a:r>
              <a:rPr lang="en-US" altLang="zh-CN" dirty="0"/>
              <a:t>LDM </a:t>
            </a:r>
            <a:r>
              <a:rPr lang="zh-CN" altLang="en-US" dirty="0"/>
              <a:t>不需要做离散化，它只需要做正则化来防止隐空间过拟合即可。论文中提供了两种选择：类似 </a:t>
            </a:r>
            <a:r>
              <a:rPr lang="en-US" altLang="zh-CN" dirty="0"/>
              <a:t>VQVAE </a:t>
            </a:r>
            <a:r>
              <a:rPr lang="zh-CN" altLang="en-US" dirty="0"/>
              <a:t>的 </a:t>
            </a:r>
            <a:r>
              <a:rPr lang="en-US" altLang="zh-CN" dirty="0"/>
              <a:t>VQ </a:t>
            </a:r>
            <a:r>
              <a:rPr lang="zh-CN" altLang="en-US" dirty="0"/>
              <a:t>正则化，或者类似标准 </a:t>
            </a:r>
            <a:r>
              <a:rPr lang="en-US" altLang="zh-CN" dirty="0"/>
              <a:t>VAE </a:t>
            </a:r>
            <a:r>
              <a:rPr lang="zh-CN" altLang="en-US" dirty="0"/>
              <a:t>的 </a:t>
            </a:r>
            <a:r>
              <a:rPr lang="en-US" altLang="zh-CN" dirty="0"/>
              <a:t>KL </a:t>
            </a:r>
            <a:r>
              <a:rPr lang="zh-CN" altLang="en-US" dirty="0"/>
              <a:t>正则化（即强制分布服从 </a:t>
            </a:r>
            <a:r>
              <a:rPr lang="en-US" altLang="zh-CN" dirty="0"/>
              <a:t>$z \sim \</a:t>
            </a:r>
            <a:r>
              <a:rPr lang="en-US" altLang="zh-CN" dirty="0" err="1"/>
              <a:t>mathcal</a:t>
            </a:r>
            <a:r>
              <a:rPr lang="en-US" altLang="zh-CN" dirty="0"/>
              <a:t>{N}(\mu, \sigma^2)$</a:t>
            </a:r>
            <a:r>
              <a:rPr lang="zh-CN" altLang="en-US" dirty="0"/>
              <a:t>）。空间维度的保留：这带来了一个巨大的优势。</a:t>
            </a:r>
            <a:r>
              <a:rPr lang="en-US" altLang="zh-CN" dirty="0"/>
              <a:t>VQGAN </a:t>
            </a:r>
            <a:r>
              <a:rPr lang="zh-CN" altLang="en-US" dirty="0"/>
              <a:t>的 </a:t>
            </a:r>
            <a:r>
              <a:rPr lang="en-US" altLang="zh-CN" dirty="0"/>
              <a:t>Transformer </a:t>
            </a:r>
            <a:r>
              <a:rPr lang="zh-CN" altLang="en-US" dirty="0"/>
              <a:t>习惯把图像拉平成一维序列，只能处理较小的压缩尺寸（比如 </a:t>
            </a:r>
            <a:r>
              <a:rPr lang="en-US" altLang="zh-CN" dirty="0"/>
              <a:t>16x16</a:t>
            </a:r>
            <a:r>
              <a:rPr lang="zh-CN" altLang="en-US" dirty="0"/>
              <a:t>）。而 </a:t>
            </a:r>
            <a:r>
              <a:rPr lang="en-US" altLang="zh-CN" dirty="0"/>
              <a:t>LDM </a:t>
            </a:r>
            <a:r>
              <a:rPr lang="zh-CN" altLang="en-US" dirty="0"/>
              <a:t>依然使用卷积和二维结构，能够保留很好的空间信息，处理 </a:t>
            </a:r>
            <a:r>
              <a:rPr lang="en-US" altLang="zh-CN" dirty="0"/>
              <a:t>64x64 </a:t>
            </a:r>
            <a:r>
              <a:rPr lang="zh-CN" altLang="en-US" dirty="0"/>
              <a:t>甚至更大的隐空间。压缩得没那么狠，图像的保真度自然就高得多。</a:t>
            </a:r>
            <a:r>
              <a:rPr lang="en-US" altLang="zh-CN" dirty="0"/>
              <a:t>"</a:t>
            </a:r>
            <a:endParaRPr lang="en-US" altLang="zh-CN" dirty="0"/>
          </a:p>
          <a:p>
            <a:r>
              <a:rPr lang="en-US" altLang="zh-CN" dirty="0"/>
              <a:t>LDM</a:t>
            </a:r>
            <a:r>
              <a:rPr lang="zh-CN" altLang="en-US" dirty="0"/>
              <a:t>怎么实现带约束的图像合成。</a:t>
            </a:r>
            <a:endParaRPr lang="zh-CN" altLang="en-US" dirty="0"/>
          </a:p>
          <a:p>
            <a:r>
              <a:rPr lang="zh-CN" altLang="en-US" dirty="0"/>
              <a:t>显然，最简单的添加约束的方法就是把额外的信息和扩散模型原本的输入</a:t>
            </a:r>
            <a:endParaRPr lang="zh-CN" altLang="en-US" dirty="0"/>
          </a:p>
          <a:p>
            <a:r>
              <a:rPr lang="zh-CN" altLang="en-US" dirty="0"/>
              <a:t>拼接起来。如果约束是一个值，就把相同的值拼接到</a:t>
            </a:r>
            <a:endParaRPr lang="zh-CN" altLang="en-US" dirty="0"/>
          </a:p>
          <a:p>
            <a:r>
              <a:rPr lang="zh-CN" altLang="en-US" dirty="0"/>
              <a:t>的每一个像素上；如果约束本身具有空间结构（如语音分割图片），就可以把约束重采样至和</a:t>
            </a:r>
            <a:endParaRPr lang="zh-CN" altLang="en-US" dirty="0"/>
          </a:p>
          <a:p>
            <a:r>
              <a:rPr lang="zh-CN" altLang="en-US" dirty="0"/>
              <a:t>一样的分辨率，再逐像素拼接。除了直接的拼接外，作者在</a:t>
            </a:r>
            <a:r>
              <a:rPr lang="en-US" altLang="zh-CN" dirty="0"/>
              <a:t>LDM</a:t>
            </a:r>
            <a:r>
              <a:rPr lang="zh-CN" altLang="en-US" dirty="0"/>
              <a:t>中还使用了另一种融合约束信息的方法。</a:t>
            </a:r>
            <a:endParaRPr lang="zh-CN" altLang="en-US" dirty="0"/>
          </a:p>
          <a:p>
            <a:r>
              <a:rPr lang="zh-CN" altLang="en-US" dirty="0"/>
              <a:t>而 </a:t>
            </a:r>
            <a:r>
              <a:rPr lang="en-US" altLang="zh-CN" dirty="0"/>
              <a:t>LDM </a:t>
            </a:r>
            <a:r>
              <a:rPr lang="zh-CN" altLang="en-US" dirty="0"/>
              <a:t>在 </a:t>
            </a:r>
            <a:r>
              <a:rPr lang="en-US" altLang="zh-CN" dirty="0"/>
              <a:t>U-Net </a:t>
            </a:r>
            <a:r>
              <a:rPr lang="zh-CN" altLang="en-US" dirty="0"/>
              <a:t>内部引入了交叉注意力：把我们要生成的图像特征作为 </a:t>
            </a:r>
            <a:r>
              <a:rPr lang="en-US" altLang="zh-CN" dirty="0"/>
              <a:t>Query</a:t>
            </a:r>
            <a:r>
              <a:rPr lang="zh-CN" altLang="en-US" dirty="0"/>
              <a:t>（查询），把用文本编码器（比如 </a:t>
            </a:r>
            <a:r>
              <a:rPr lang="en-US" altLang="zh-CN" dirty="0"/>
              <a:t>CLIP</a:t>
            </a:r>
            <a:r>
              <a:rPr lang="zh-CN" altLang="en-US" dirty="0"/>
              <a:t>）提取出的文本特征作为 </a:t>
            </a:r>
            <a:r>
              <a:rPr lang="en-US" altLang="zh-CN" dirty="0"/>
              <a:t>Key </a:t>
            </a:r>
            <a:r>
              <a:rPr lang="zh-CN" altLang="en-US" dirty="0"/>
              <a:t>和 </a:t>
            </a:r>
            <a:r>
              <a:rPr lang="en-US" altLang="zh-CN" dirty="0"/>
              <a:t>Value</a:t>
            </a:r>
            <a:r>
              <a:rPr lang="zh-CN" altLang="en-US" dirty="0"/>
              <a:t>（键和值）。</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B4AC3B35-2A78-4970-B85C-E076431EEB48}"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kern="1200" dirty="0">
                <a:solidFill>
                  <a:schemeClr val="tx1"/>
                </a:solidFill>
                <a:effectLst/>
                <a:latin typeface="+mn-lt"/>
                <a:ea typeface="+mn-ea"/>
                <a:cs typeface="+mn-cs"/>
              </a:rPr>
              <a:t>第一层：全局概览（</a:t>
            </a:r>
            <a:r>
              <a:rPr lang="en-US" altLang="zh-CN" sz="1200" b="1" kern="1200" dirty="0">
                <a:solidFill>
                  <a:schemeClr val="tx1"/>
                </a:solidFill>
                <a:effectLst/>
                <a:latin typeface="+mn-lt"/>
                <a:ea typeface="+mn-ea"/>
                <a:cs typeface="+mn-cs"/>
              </a:rPr>
              <a:t>Overview</a:t>
            </a:r>
            <a:r>
              <a:rPr lang="zh-CN" altLang="en-US" sz="1200" b="1" kern="1200" dirty="0">
                <a:solidFill>
                  <a:schemeClr val="tx1"/>
                </a:solidFill>
                <a:effectLst/>
                <a:latin typeface="+mn-lt"/>
                <a:ea typeface="+mn-ea"/>
                <a:cs typeface="+mn-cs"/>
              </a:rPr>
              <a:t>）</a:t>
            </a:r>
            <a:r>
              <a:rPr lang="en-US" altLang="zh-CN" sz="1200" b="1" kern="1200" dirty="0">
                <a:solidFill>
                  <a:schemeClr val="tx1"/>
                </a:solidFill>
                <a:effectLst/>
                <a:latin typeface="+mn-lt"/>
                <a:ea typeface="+mn-ea"/>
                <a:cs typeface="+mn-cs"/>
              </a:rPr>
              <a:t>—— </a:t>
            </a:r>
            <a:r>
              <a:rPr lang="zh-CN" altLang="en-US" sz="1200" b="1" kern="1200" dirty="0">
                <a:solidFill>
                  <a:schemeClr val="tx1"/>
                </a:solidFill>
                <a:effectLst/>
                <a:latin typeface="+mn-lt"/>
                <a:ea typeface="+mn-ea"/>
                <a:cs typeface="+mn-cs"/>
              </a:rPr>
              <a:t>确立“范式转换”</a:t>
            </a:r>
            <a:endParaRPr lang="zh-CN" altLang="en-US" sz="1200" b="1"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在开场时，先用一句结论定调，让听众明白这张图意味着什么。</a:t>
            </a:r>
            <a:endParaRPr lang="zh-CN" altLang="en-US" sz="1200" kern="1200" dirty="0">
              <a:solidFill>
                <a:schemeClr val="tx1"/>
              </a:solidFill>
              <a:effectLst/>
              <a:latin typeface="+mn-lt"/>
              <a:ea typeface="+mn-ea"/>
              <a:cs typeface="+mn-cs"/>
            </a:endParaRPr>
          </a:p>
          <a:p>
            <a:r>
              <a:rPr lang="zh-CN" altLang="en-US" sz="1200" b="1" kern="1200" dirty="0">
                <a:solidFill>
                  <a:schemeClr val="tx1"/>
                </a:solidFill>
                <a:effectLst/>
                <a:latin typeface="+mn-lt"/>
                <a:ea typeface="+mn-ea"/>
                <a:cs typeface="+mn-cs"/>
              </a:rPr>
              <a:t>讲解话术：</a:t>
            </a:r>
            <a:endParaRPr lang="zh-CN" altLang="en-US"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“各位老师、同学，这张图展示的就是 </a:t>
            </a:r>
            <a:r>
              <a:rPr lang="en-US" altLang="zh-CN" sz="1200" kern="1200" dirty="0">
                <a:solidFill>
                  <a:schemeClr val="tx1"/>
                </a:solidFill>
                <a:effectLst/>
                <a:latin typeface="+mn-lt"/>
                <a:ea typeface="+mn-ea"/>
                <a:cs typeface="+mn-cs"/>
              </a:rPr>
              <a:t>Stable Diffusion 3 </a:t>
            </a:r>
            <a:r>
              <a:rPr lang="zh-CN" altLang="en-US" sz="1200" kern="1200" dirty="0">
                <a:solidFill>
                  <a:schemeClr val="tx1"/>
                </a:solidFill>
                <a:effectLst/>
                <a:latin typeface="+mn-lt"/>
                <a:ea typeface="+mn-ea"/>
                <a:cs typeface="+mn-cs"/>
              </a:rPr>
              <a:t>的完整架构。它标志着 </a:t>
            </a:r>
            <a:r>
              <a:rPr lang="en-US" altLang="zh-CN" sz="1200" kern="1200" dirty="0">
                <a:solidFill>
                  <a:schemeClr val="tx1"/>
                </a:solidFill>
                <a:effectLst/>
                <a:latin typeface="+mn-lt"/>
                <a:ea typeface="+mn-ea"/>
                <a:cs typeface="+mn-cs"/>
              </a:rPr>
              <a:t>SD </a:t>
            </a:r>
            <a:r>
              <a:rPr lang="zh-CN" altLang="en-US" sz="1200" kern="1200" dirty="0">
                <a:solidFill>
                  <a:schemeClr val="tx1"/>
                </a:solidFill>
                <a:effectLst/>
                <a:latin typeface="+mn-lt"/>
                <a:ea typeface="+mn-ea"/>
                <a:cs typeface="+mn-cs"/>
              </a:rPr>
              <a:t>系列从传统的 </a:t>
            </a:r>
            <a:r>
              <a:rPr lang="en-US" altLang="zh-CN" sz="1200" kern="1200" dirty="0">
                <a:solidFill>
                  <a:schemeClr val="tx1"/>
                </a:solidFill>
                <a:effectLst/>
                <a:latin typeface="+mn-lt"/>
                <a:ea typeface="+mn-ea"/>
                <a:cs typeface="+mn-cs"/>
              </a:rPr>
              <a:t>U-Net </a:t>
            </a:r>
            <a:r>
              <a:rPr lang="zh-CN" altLang="en-US" sz="1200" kern="1200" dirty="0">
                <a:solidFill>
                  <a:schemeClr val="tx1"/>
                </a:solidFill>
                <a:effectLst/>
                <a:latin typeface="+mn-lt"/>
                <a:ea typeface="+mn-ea"/>
                <a:cs typeface="+mn-cs"/>
              </a:rPr>
              <a:t>架构，正式彻底转向了以 </a:t>
            </a:r>
            <a:r>
              <a:rPr lang="en-US" altLang="zh-CN" sz="1200" kern="1200" dirty="0">
                <a:solidFill>
                  <a:schemeClr val="tx1"/>
                </a:solidFill>
                <a:effectLst/>
                <a:latin typeface="+mn-lt"/>
                <a:ea typeface="+mn-ea"/>
                <a:cs typeface="+mn-cs"/>
              </a:rPr>
              <a:t>Transformer </a:t>
            </a:r>
            <a:r>
              <a:rPr lang="zh-CN" altLang="en-US" sz="1200" kern="1200" dirty="0">
                <a:solidFill>
                  <a:schemeClr val="tx1"/>
                </a:solidFill>
                <a:effectLst/>
                <a:latin typeface="+mn-lt"/>
                <a:ea typeface="+mn-ea"/>
                <a:cs typeface="+mn-cs"/>
              </a:rPr>
              <a:t>为核心的 </a:t>
            </a:r>
            <a:r>
              <a:rPr lang="en-US" altLang="zh-CN" sz="1200" b="1" kern="1200" dirty="0" err="1">
                <a:solidFill>
                  <a:schemeClr val="tx1"/>
                </a:solidFill>
                <a:effectLst/>
                <a:latin typeface="+mn-lt"/>
                <a:ea typeface="+mn-ea"/>
                <a:cs typeface="+mn-cs"/>
              </a:rPr>
              <a:t>DiT</a:t>
            </a:r>
            <a:r>
              <a:rPr lang="zh-CN" altLang="en-US" sz="1200" b="1" kern="1200" dirty="0">
                <a:solidFill>
                  <a:schemeClr val="tx1"/>
                </a:solidFill>
                <a:effectLst/>
                <a:latin typeface="+mn-lt"/>
                <a:ea typeface="+mn-ea"/>
                <a:cs typeface="+mn-cs"/>
              </a:rPr>
              <a:t>（</a:t>
            </a:r>
            <a:r>
              <a:rPr lang="en-US" altLang="zh-CN" sz="1200" b="1" kern="1200" dirty="0">
                <a:solidFill>
                  <a:schemeClr val="tx1"/>
                </a:solidFill>
                <a:effectLst/>
                <a:latin typeface="+mn-lt"/>
                <a:ea typeface="+mn-ea"/>
                <a:cs typeface="+mn-cs"/>
              </a:rPr>
              <a:t>Diffusion Transformer</a:t>
            </a:r>
            <a:r>
              <a:rPr lang="zh-CN" altLang="en-US" sz="1200" b="1"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 架构。</a:t>
            </a:r>
            <a:endParaRPr lang="zh-CN" altLang="en-US"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整个流程可以概括为：在左侧，我们将文本提示词编码为高维特征，同时将加噪的图像潜变量（</a:t>
            </a:r>
            <a:r>
              <a:rPr lang="en-US" altLang="zh-CN" sz="1200" kern="1200" dirty="0">
                <a:solidFill>
                  <a:schemeClr val="tx1"/>
                </a:solidFill>
                <a:effectLst/>
                <a:latin typeface="+mn-lt"/>
                <a:ea typeface="+mn-ea"/>
                <a:cs typeface="+mn-cs"/>
              </a:rPr>
              <a:t>Latent</a:t>
            </a:r>
            <a:r>
              <a:rPr lang="zh-CN" altLang="en-US" sz="1200" kern="1200" dirty="0">
                <a:solidFill>
                  <a:schemeClr val="tx1"/>
                </a:solidFill>
                <a:effectLst/>
                <a:latin typeface="+mn-lt"/>
                <a:ea typeface="+mn-ea"/>
                <a:cs typeface="+mn-cs"/>
              </a:rPr>
              <a:t>）切片并线性投影为 </a:t>
            </a:r>
            <a:r>
              <a:rPr lang="en-US" altLang="zh-CN" sz="1200" kern="1200" dirty="0">
                <a:solidFill>
                  <a:schemeClr val="tx1"/>
                </a:solidFill>
                <a:effectLst/>
                <a:latin typeface="+mn-lt"/>
                <a:ea typeface="+mn-ea"/>
                <a:cs typeface="+mn-cs"/>
              </a:rPr>
              <a:t>Patch </a:t>
            </a:r>
            <a:r>
              <a:rPr lang="zh-CN" altLang="en-US" sz="1200" kern="1200" dirty="0">
                <a:solidFill>
                  <a:schemeClr val="tx1"/>
                </a:solidFill>
                <a:effectLst/>
                <a:latin typeface="+mn-lt"/>
                <a:ea typeface="+mn-ea"/>
                <a:cs typeface="+mn-cs"/>
              </a:rPr>
              <a:t>序列。随后，这两个模态的序列共同进入中间的蓝色大框</a:t>
            </a:r>
            <a:r>
              <a:rPr lang="en-US"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即由 </a:t>
            </a:r>
            <a:r>
              <a:rPr lang="en-US" altLang="zh-CN" sz="1200" kern="1200" dirty="0">
                <a:solidFill>
                  <a:schemeClr val="tx1"/>
                </a:solidFill>
                <a:effectLst/>
                <a:latin typeface="+mn-lt"/>
                <a:ea typeface="+mn-ea"/>
                <a:cs typeface="+mn-cs"/>
              </a:rPr>
              <a:t>$d$ </a:t>
            </a:r>
            <a:r>
              <a:rPr lang="zh-CN" altLang="en-US" sz="1200" kern="1200" dirty="0">
                <a:solidFill>
                  <a:schemeClr val="tx1"/>
                </a:solidFill>
                <a:effectLst/>
                <a:latin typeface="+mn-lt"/>
                <a:ea typeface="+mn-ea"/>
                <a:cs typeface="+mn-cs"/>
              </a:rPr>
              <a:t>个 </a:t>
            </a:r>
            <a:r>
              <a:rPr lang="en-US" altLang="zh-CN" sz="1200" b="1" kern="1200" dirty="0">
                <a:solidFill>
                  <a:schemeClr val="tx1"/>
                </a:solidFill>
                <a:effectLst/>
                <a:latin typeface="+mn-lt"/>
                <a:ea typeface="+mn-ea"/>
                <a:cs typeface="+mn-cs"/>
              </a:rPr>
              <a:t>MM-</a:t>
            </a:r>
            <a:r>
              <a:rPr lang="en-US" altLang="zh-CN" sz="1200" b="1" kern="1200" dirty="0" err="1">
                <a:solidFill>
                  <a:schemeClr val="tx1"/>
                </a:solidFill>
                <a:effectLst/>
                <a:latin typeface="+mn-lt"/>
                <a:ea typeface="+mn-ea"/>
                <a:cs typeface="+mn-cs"/>
              </a:rPr>
              <a:t>DiT</a:t>
            </a:r>
            <a:r>
              <a:rPr lang="en-US" altLang="zh-CN" sz="1200" b="1" kern="1200" dirty="0">
                <a:solidFill>
                  <a:schemeClr val="tx1"/>
                </a:solidFill>
                <a:effectLst/>
                <a:latin typeface="+mn-lt"/>
                <a:ea typeface="+mn-ea"/>
                <a:cs typeface="+mn-cs"/>
              </a:rPr>
              <a:t>-Block</a:t>
            </a:r>
            <a:r>
              <a:rPr lang="zh-CN" altLang="en-US" sz="1200" kern="1200" dirty="0">
                <a:solidFill>
                  <a:schemeClr val="tx1"/>
                </a:solidFill>
                <a:effectLst/>
                <a:latin typeface="+mn-lt"/>
                <a:ea typeface="+mn-ea"/>
                <a:cs typeface="+mn-cs"/>
              </a:rPr>
              <a:t> 堆叠而成的核心网络。最终，网络输出去噪后的 </a:t>
            </a:r>
            <a:r>
              <a:rPr lang="en-US" altLang="zh-CN" sz="1200" kern="1200" dirty="0">
                <a:solidFill>
                  <a:schemeClr val="tx1"/>
                </a:solidFill>
                <a:effectLst/>
                <a:latin typeface="+mn-lt"/>
                <a:ea typeface="+mn-ea"/>
                <a:cs typeface="+mn-cs"/>
              </a:rPr>
              <a:t>Latent</a:t>
            </a:r>
            <a:r>
              <a:rPr lang="zh-CN" altLang="en-US" sz="1200" kern="1200" dirty="0">
                <a:solidFill>
                  <a:schemeClr val="tx1"/>
                </a:solidFill>
                <a:effectLst/>
                <a:latin typeface="+mn-lt"/>
                <a:ea typeface="+mn-ea"/>
                <a:cs typeface="+mn-cs"/>
              </a:rPr>
              <a:t>，重建为图像。</a:t>
            </a:r>
            <a:endParaRPr lang="zh-CN" altLang="en-US"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它的核心创新点在于，它不仅仅是把 </a:t>
            </a:r>
            <a:r>
              <a:rPr lang="en-US" altLang="zh-CN" sz="1200" kern="1200" dirty="0">
                <a:solidFill>
                  <a:schemeClr val="tx1"/>
                </a:solidFill>
                <a:effectLst/>
                <a:latin typeface="+mn-lt"/>
                <a:ea typeface="+mn-ea"/>
                <a:cs typeface="+mn-cs"/>
              </a:rPr>
              <a:t>U-Net </a:t>
            </a:r>
            <a:r>
              <a:rPr lang="zh-CN" altLang="en-US" sz="1200" kern="1200" dirty="0">
                <a:solidFill>
                  <a:schemeClr val="tx1"/>
                </a:solidFill>
                <a:effectLst/>
                <a:latin typeface="+mn-lt"/>
                <a:ea typeface="+mn-ea"/>
                <a:cs typeface="+mn-cs"/>
              </a:rPr>
              <a:t>换成了 </a:t>
            </a:r>
            <a:r>
              <a:rPr lang="en-US" altLang="zh-CN" sz="1200" kern="1200" dirty="0">
                <a:solidFill>
                  <a:schemeClr val="tx1"/>
                </a:solidFill>
                <a:effectLst/>
                <a:latin typeface="+mn-lt"/>
                <a:ea typeface="+mn-ea"/>
                <a:cs typeface="+mn-cs"/>
              </a:rPr>
              <a:t>Transformer Block</a:t>
            </a:r>
            <a:r>
              <a:rPr lang="zh-CN" altLang="en-US" sz="1200" kern="1200" dirty="0">
                <a:solidFill>
                  <a:schemeClr val="tx1"/>
                </a:solidFill>
                <a:effectLst/>
                <a:latin typeface="+mn-lt"/>
                <a:ea typeface="+mn-ea"/>
                <a:cs typeface="+mn-cs"/>
              </a:rPr>
              <a:t>，而是实现了一种**‘多模态联合（</a:t>
            </a:r>
            <a:r>
              <a:rPr lang="en-US" altLang="zh-CN" sz="1200" kern="1200" dirty="0">
                <a:solidFill>
                  <a:schemeClr val="tx1"/>
                </a:solidFill>
                <a:effectLst/>
                <a:latin typeface="+mn-lt"/>
                <a:ea typeface="+mn-ea"/>
                <a:cs typeface="+mn-cs"/>
              </a:rPr>
              <a:t>Multimodal Joint</a:t>
            </a:r>
            <a:r>
              <a:rPr lang="zh-CN" altLang="en-US" sz="1200" kern="1200" dirty="0">
                <a:solidFill>
                  <a:schemeClr val="tx1"/>
                </a:solidFill>
                <a:effectLst/>
                <a:latin typeface="+mn-lt"/>
                <a:ea typeface="+mn-ea"/>
                <a:cs typeface="+mn-cs"/>
              </a:rPr>
              <a:t>）’**的处理方式。”</a:t>
            </a:r>
            <a:endParaRPr lang="zh-CN" altLang="en-US" sz="1200" kern="1200" dirty="0">
              <a:solidFill>
                <a:schemeClr val="tx1"/>
              </a:solidFill>
              <a:effectLst/>
              <a:latin typeface="+mn-lt"/>
              <a:ea typeface="+mn-ea"/>
              <a:cs typeface="+mn-cs"/>
            </a:endParaRPr>
          </a:p>
          <a:p>
            <a:br>
              <a:rPr lang="zh-CN" altLang="en-US" dirty="0"/>
            </a:br>
            <a:endParaRPr lang="zh-CN" altLang="en-US" dirty="0"/>
          </a:p>
          <a:p>
            <a:r>
              <a:rPr lang="zh-CN" altLang="en-US" sz="1200" b="1" kern="1200" dirty="0">
                <a:solidFill>
                  <a:schemeClr val="tx1"/>
                </a:solidFill>
                <a:effectLst/>
                <a:latin typeface="+mn-lt"/>
                <a:ea typeface="+mn-ea"/>
                <a:cs typeface="+mn-cs"/>
              </a:rPr>
              <a:t>第二层：条件注入与输入准备（</a:t>
            </a:r>
            <a:r>
              <a:rPr lang="en-US" altLang="zh-CN" sz="1200" b="1" kern="1200" dirty="0">
                <a:solidFill>
                  <a:schemeClr val="tx1"/>
                </a:solidFill>
                <a:effectLst/>
                <a:latin typeface="+mn-lt"/>
                <a:ea typeface="+mn-ea"/>
                <a:cs typeface="+mn-cs"/>
              </a:rPr>
              <a:t>Conditioning &amp; Inputs</a:t>
            </a:r>
            <a:r>
              <a:rPr lang="zh-CN" altLang="en-US" sz="1200" b="1" kern="1200" dirty="0">
                <a:solidFill>
                  <a:schemeClr val="tx1"/>
                </a:solidFill>
                <a:effectLst/>
                <a:latin typeface="+mn-lt"/>
                <a:ea typeface="+mn-ea"/>
                <a:cs typeface="+mn-cs"/>
              </a:rPr>
              <a:t>）</a:t>
            </a:r>
            <a:r>
              <a:rPr lang="en-US" altLang="zh-CN" sz="1200" b="1" kern="1200" dirty="0">
                <a:solidFill>
                  <a:schemeClr val="tx1"/>
                </a:solidFill>
                <a:effectLst/>
                <a:latin typeface="+mn-lt"/>
                <a:ea typeface="+mn-ea"/>
                <a:cs typeface="+mn-cs"/>
              </a:rPr>
              <a:t>—— </a:t>
            </a:r>
            <a:r>
              <a:rPr lang="zh-CN" altLang="en-US" sz="1200" b="1" kern="1200" dirty="0">
                <a:solidFill>
                  <a:schemeClr val="tx1"/>
                </a:solidFill>
                <a:effectLst/>
                <a:latin typeface="+mn-lt"/>
                <a:ea typeface="+mn-ea"/>
                <a:cs typeface="+mn-cs"/>
              </a:rPr>
              <a:t>强化的语义理解</a:t>
            </a:r>
            <a:endParaRPr lang="zh-CN" altLang="en-US" sz="1200" b="1"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从图的顶部和左侧开始，讲解数据是如何被初始化的。这里要强调 </a:t>
            </a:r>
            <a:r>
              <a:rPr lang="en-US" altLang="zh-CN" sz="1200" kern="1200" dirty="0">
                <a:solidFill>
                  <a:schemeClr val="tx1"/>
                </a:solidFill>
                <a:effectLst/>
                <a:latin typeface="+mn-lt"/>
                <a:ea typeface="+mn-ea"/>
                <a:cs typeface="+mn-cs"/>
              </a:rPr>
              <a:t>SD3 </a:t>
            </a:r>
            <a:r>
              <a:rPr lang="zh-CN" altLang="en-US" sz="1200" kern="1200" dirty="0">
                <a:solidFill>
                  <a:schemeClr val="tx1"/>
                </a:solidFill>
                <a:effectLst/>
                <a:latin typeface="+mn-lt"/>
                <a:ea typeface="+mn-ea"/>
                <a:cs typeface="+mn-cs"/>
              </a:rPr>
              <a:t>比旧版多用了一个 </a:t>
            </a:r>
            <a:r>
              <a:rPr lang="en-US" altLang="zh-CN" sz="1200" kern="1200" dirty="0">
                <a:solidFill>
                  <a:schemeClr val="tx1"/>
                </a:solidFill>
                <a:effectLst/>
                <a:latin typeface="+mn-lt"/>
                <a:ea typeface="+mn-ea"/>
                <a:cs typeface="+mn-cs"/>
              </a:rPr>
              <a:t>T5 </a:t>
            </a:r>
            <a:r>
              <a:rPr lang="zh-CN" altLang="en-US" sz="1200" kern="1200" dirty="0">
                <a:solidFill>
                  <a:schemeClr val="tx1"/>
                </a:solidFill>
                <a:effectLst/>
                <a:latin typeface="+mn-lt"/>
                <a:ea typeface="+mn-ea"/>
                <a:cs typeface="+mn-cs"/>
              </a:rPr>
              <a:t>编码器。</a:t>
            </a:r>
            <a:endParaRPr lang="zh-CN" altLang="en-US" sz="1200" kern="1200" dirty="0">
              <a:solidFill>
                <a:schemeClr val="tx1"/>
              </a:solidFill>
              <a:effectLst/>
              <a:latin typeface="+mn-lt"/>
              <a:ea typeface="+mn-ea"/>
              <a:cs typeface="+mn-cs"/>
            </a:endParaRPr>
          </a:p>
          <a:p>
            <a:r>
              <a:rPr lang="zh-CN" altLang="en-US" sz="1200" b="1" kern="1200" dirty="0">
                <a:solidFill>
                  <a:schemeClr val="tx1"/>
                </a:solidFill>
                <a:effectLst/>
                <a:latin typeface="+mn-lt"/>
                <a:ea typeface="+mn-ea"/>
                <a:cs typeface="+mn-cs"/>
              </a:rPr>
              <a:t>讲解话术：</a:t>
            </a:r>
            <a:endParaRPr lang="zh-CN" altLang="en-US"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“我们先看条件的注入部分（左上角）。对比旧版 </a:t>
            </a:r>
            <a:r>
              <a:rPr lang="en-US" altLang="zh-CN" sz="1200" kern="1200" dirty="0">
                <a:solidFill>
                  <a:schemeClr val="tx1"/>
                </a:solidFill>
                <a:effectLst/>
                <a:latin typeface="+mn-lt"/>
                <a:ea typeface="+mn-ea"/>
                <a:cs typeface="+mn-cs"/>
              </a:rPr>
              <a:t>SD </a:t>
            </a:r>
            <a:r>
              <a:rPr lang="zh-CN" altLang="en-US" sz="1200" kern="1200" dirty="0">
                <a:solidFill>
                  <a:schemeClr val="tx1"/>
                </a:solidFill>
                <a:effectLst/>
                <a:latin typeface="+mn-lt"/>
                <a:ea typeface="+mn-ea"/>
                <a:cs typeface="+mn-cs"/>
              </a:rPr>
              <a:t>只用一个 </a:t>
            </a:r>
            <a:r>
              <a:rPr lang="en-US" altLang="zh-CN" sz="1200" kern="1200" dirty="0">
                <a:solidFill>
                  <a:schemeClr val="tx1"/>
                </a:solidFill>
                <a:effectLst/>
                <a:latin typeface="+mn-lt"/>
                <a:ea typeface="+mn-ea"/>
                <a:cs typeface="+mn-cs"/>
              </a:rPr>
              <a:t>CLIP </a:t>
            </a:r>
            <a:r>
              <a:rPr lang="zh-CN" altLang="en-US" sz="1200" kern="1200" dirty="0">
                <a:solidFill>
                  <a:schemeClr val="tx1"/>
                </a:solidFill>
                <a:effectLst/>
                <a:latin typeface="+mn-lt"/>
                <a:ea typeface="+mn-ea"/>
                <a:cs typeface="+mn-cs"/>
              </a:rPr>
              <a:t>模型，</a:t>
            </a:r>
            <a:r>
              <a:rPr lang="en-US" altLang="zh-CN" sz="1200" kern="1200" dirty="0">
                <a:solidFill>
                  <a:schemeClr val="tx1"/>
                </a:solidFill>
                <a:effectLst/>
                <a:latin typeface="+mn-lt"/>
                <a:ea typeface="+mn-ea"/>
                <a:cs typeface="+mn-cs"/>
              </a:rPr>
              <a:t>SD3 </a:t>
            </a:r>
            <a:r>
              <a:rPr lang="zh-CN" altLang="en-US" sz="1200" kern="1200" dirty="0">
                <a:solidFill>
                  <a:schemeClr val="tx1"/>
                </a:solidFill>
                <a:effectLst/>
                <a:latin typeface="+mn-lt"/>
                <a:ea typeface="+mn-ea"/>
                <a:cs typeface="+mn-cs"/>
              </a:rPr>
              <a:t>采用了极其暴力的</a:t>
            </a:r>
            <a:r>
              <a:rPr lang="zh-CN" altLang="en-US" sz="1200" b="1" kern="1200" dirty="0">
                <a:solidFill>
                  <a:schemeClr val="tx1"/>
                </a:solidFill>
                <a:effectLst/>
                <a:latin typeface="+mn-lt"/>
                <a:ea typeface="+mn-ea"/>
                <a:cs typeface="+mn-cs"/>
              </a:rPr>
              <a:t>多 </a:t>
            </a:r>
            <a:r>
              <a:rPr lang="en-US" altLang="zh-CN" sz="1200" b="1" kern="1200" dirty="0">
                <a:solidFill>
                  <a:schemeClr val="tx1"/>
                </a:solidFill>
                <a:effectLst/>
                <a:latin typeface="+mn-lt"/>
                <a:ea typeface="+mn-ea"/>
                <a:cs typeface="+mn-cs"/>
              </a:rPr>
              <a:t>Text Encoder </a:t>
            </a:r>
            <a:r>
              <a:rPr lang="zh-CN" altLang="en-US" sz="1200" b="1" kern="1200" dirty="0">
                <a:solidFill>
                  <a:schemeClr val="tx1"/>
                </a:solidFill>
                <a:effectLst/>
                <a:latin typeface="+mn-lt"/>
                <a:ea typeface="+mn-ea"/>
                <a:cs typeface="+mn-cs"/>
              </a:rPr>
              <a:t>策略</a:t>
            </a:r>
            <a:r>
              <a:rPr lang="zh-CN" altLang="en-US" sz="1200" kern="1200" dirty="0">
                <a:solidFill>
                  <a:schemeClr val="tx1"/>
                </a:solidFill>
                <a:effectLst/>
                <a:latin typeface="+mn-lt"/>
                <a:ea typeface="+mn-ea"/>
                <a:cs typeface="+mn-cs"/>
              </a:rPr>
              <a:t>。</a:t>
            </a:r>
            <a:endParaRPr lang="zh-CN" altLang="en-US"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输入的 </a:t>
            </a:r>
            <a:r>
              <a:rPr lang="en-US" altLang="zh-CN" sz="1200" kern="1200" dirty="0">
                <a:solidFill>
                  <a:schemeClr val="tx1"/>
                </a:solidFill>
                <a:effectLst/>
                <a:latin typeface="+mn-lt"/>
                <a:ea typeface="+mn-ea"/>
                <a:cs typeface="+mn-cs"/>
              </a:rPr>
              <a:t>Caption</a:t>
            </a:r>
            <a:r>
              <a:rPr lang="zh-CN" altLang="en-US" sz="1200" kern="1200" dirty="0">
                <a:solidFill>
                  <a:schemeClr val="tx1"/>
                </a:solidFill>
                <a:effectLst/>
                <a:latin typeface="+mn-lt"/>
                <a:ea typeface="+mn-ea"/>
                <a:cs typeface="+mn-cs"/>
              </a:rPr>
              <a:t>（提示词）会同时喂给三个模型：</a:t>
            </a:r>
            <a:endParaRPr lang="zh-CN" altLang="en-US" sz="1200" kern="1200" dirty="0">
              <a:solidFill>
                <a:schemeClr val="tx1"/>
              </a:solidFill>
              <a:effectLst/>
              <a:latin typeface="+mn-lt"/>
              <a:ea typeface="+mn-ea"/>
              <a:cs typeface="+mn-cs"/>
            </a:endParaRPr>
          </a:p>
          <a:p>
            <a:r>
              <a:rPr lang="en-US" altLang="zh-CN" sz="1200" b="1" kern="1200" dirty="0">
                <a:solidFill>
                  <a:schemeClr val="tx1"/>
                </a:solidFill>
                <a:effectLst/>
                <a:latin typeface="+mn-lt"/>
                <a:ea typeface="+mn-ea"/>
                <a:cs typeface="+mn-cs"/>
              </a:rPr>
              <a:t>CLIP-G/14</a:t>
            </a:r>
            <a:r>
              <a:rPr lang="zh-CN" altLang="en-US"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巨型 </a:t>
            </a:r>
            <a:r>
              <a:rPr lang="en-US" altLang="zh-CN" sz="1200" kern="1200" dirty="0">
                <a:solidFill>
                  <a:schemeClr val="tx1"/>
                </a:solidFill>
                <a:effectLst/>
                <a:latin typeface="+mn-lt"/>
                <a:ea typeface="+mn-ea"/>
                <a:cs typeface="+mn-cs"/>
              </a:rPr>
              <a:t>CLIP)</a:t>
            </a:r>
            <a:endParaRPr lang="en-US" altLang="zh-CN" sz="1200" kern="1200" dirty="0">
              <a:solidFill>
                <a:schemeClr val="tx1"/>
              </a:solidFill>
              <a:effectLst/>
              <a:latin typeface="+mn-lt"/>
              <a:ea typeface="+mn-ea"/>
              <a:cs typeface="+mn-cs"/>
            </a:endParaRPr>
          </a:p>
          <a:p>
            <a:r>
              <a:rPr lang="en-US" altLang="zh-CN" sz="1200" b="1" kern="1200" dirty="0">
                <a:solidFill>
                  <a:schemeClr val="tx1"/>
                </a:solidFill>
                <a:effectLst/>
                <a:latin typeface="+mn-lt"/>
                <a:ea typeface="+mn-ea"/>
                <a:cs typeface="+mn-cs"/>
              </a:rPr>
              <a:t>CLIP-L/14</a:t>
            </a:r>
            <a:r>
              <a:rPr lang="zh-CN" altLang="en-US"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标准 </a:t>
            </a:r>
            <a:r>
              <a:rPr lang="en-US" altLang="zh-CN" sz="1200" kern="1200" dirty="0">
                <a:solidFill>
                  <a:schemeClr val="tx1"/>
                </a:solidFill>
                <a:effectLst/>
                <a:latin typeface="+mn-lt"/>
                <a:ea typeface="+mn-ea"/>
                <a:cs typeface="+mn-cs"/>
              </a:rPr>
              <a:t>CLIP)</a:t>
            </a:r>
            <a:endParaRPr lang="en-US" altLang="zh-CN" sz="1200" kern="1200" dirty="0">
              <a:solidFill>
                <a:schemeClr val="tx1"/>
              </a:solidFill>
              <a:effectLst/>
              <a:latin typeface="+mn-lt"/>
              <a:ea typeface="+mn-ea"/>
              <a:cs typeface="+mn-cs"/>
            </a:endParaRPr>
          </a:p>
          <a:p>
            <a:r>
              <a:rPr lang="en-US" altLang="zh-CN" sz="1200" b="1" kern="1200" dirty="0">
                <a:solidFill>
                  <a:schemeClr val="tx1"/>
                </a:solidFill>
                <a:effectLst/>
                <a:latin typeface="+mn-lt"/>
                <a:ea typeface="+mn-ea"/>
                <a:cs typeface="+mn-cs"/>
              </a:rPr>
              <a:t>T5 XXL</a:t>
            </a:r>
            <a:r>
              <a:rPr lang="zh-CN" altLang="en-US"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一个非常强大的文本 </a:t>
            </a:r>
            <a:r>
              <a:rPr lang="en-US" altLang="zh-CN" sz="1200" kern="1200" dirty="0">
                <a:solidFill>
                  <a:schemeClr val="tx1"/>
                </a:solidFill>
                <a:effectLst/>
                <a:latin typeface="+mn-lt"/>
                <a:ea typeface="+mn-ea"/>
                <a:cs typeface="+mn-cs"/>
              </a:rPr>
              <a:t>T5 </a:t>
            </a:r>
            <a:r>
              <a:rPr lang="zh-CN" altLang="en-US" sz="1200" kern="1200" dirty="0">
                <a:solidFill>
                  <a:schemeClr val="tx1"/>
                </a:solidFill>
                <a:effectLst/>
                <a:latin typeface="+mn-lt"/>
                <a:ea typeface="+mn-ea"/>
                <a:cs typeface="+mn-cs"/>
              </a:rPr>
              <a:t>模型，专门增强复杂指令遵循能力</a:t>
            </a:r>
            <a:r>
              <a:rPr lang="en-US" altLang="zh-CN"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这三个模型的输出会被巧妙地组合：</a:t>
            </a:r>
            <a:endParaRPr lang="zh-CN" altLang="en-US" sz="1200" kern="1200" dirty="0">
              <a:solidFill>
                <a:schemeClr val="tx1"/>
              </a:solidFill>
              <a:effectLst/>
              <a:latin typeface="+mn-lt"/>
              <a:ea typeface="+mn-ea"/>
              <a:cs typeface="+mn-cs"/>
            </a:endParaRPr>
          </a:p>
          <a:p>
            <a:r>
              <a:rPr lang="zh-CN" altLang="en-US" sz="1200" b="1" kern="1200" dirty="0">
                <a:solidFill>
                  <a:schemeClr val="tx1"/>
                </a:solidFill>
                <a:effectLst/>
                <a:latin typeface="+mn-lt"/>
                <a:ea typeface="+mn-ea"/>
                <a:cs typeface="+mn-cs"/>
              </a:rPr>
              <a:t>文本序列 </a:t>
            </a:r>
            <a:r>
              <a:rPr lang="en-US" altLang="zh-CN" sz="1200" b="1" kern="1200" dirty="0">
                <a:solidFill>
                  <a:schemeClr val="tx1"/>
                </a:solidFill>
                <a:effectLst/>
                <a:latin typeface="+mn-lt"/>
                <a:ea typeface="+mn-ea"/>
                <a:cs typeface="+mn-cs"/>
              </a:rPr>
              <a:t>$c$ (Text Sequence):</a:t>
            </a:r>
            <a:r>
              <a:rPr lang="zh-CN" altLang="en-US" sz="1200" kern="1200" dirty="0">
                <a:solidFill>
                  <a:schemeClr val="tx1"/>
                </a:solidFill>
                <a:effectLst/>
                <a:latin typeface="+mn-lt"/>
                <a:ea typeface="+mn-ea"/>
                <a:cs typeface="+mn-cs"/>
              </a:rPr>
              <a:t> 两个 </a:t>
            </a:r>
            <a:r>
              <a:rPr lang="en-US" altLang="zh-CN" sz="1200" kern="1200" dirty="0">
                <a:solidFill>
                  <a:schemeClr val="tx1"/>
                </a:solidFill>
                <a:effectLst/>
                <a:latin typeface="+mn-lt"/>
                <a:ea typeface="+mn-ea"/>
                <a:cs typeface="+mn-cs"/>
              </a:rPr>
              <a:t>CLIP </a:t>
            </a:r>
            <a:r>
              <a:rPr lang="zh-CN" altLang="en-US" sz="1200" kern="1200" dirty="0">
                <a:solidFill>
                  <a:schemeClr val="tx1"/>
                </a:solidFill>
                <a:effectLst/>
                <a:latin typeface="+mn-lt"/>
                <a:ea typeface="+mn-ea"/>
                <a:cs typeface="+mn-cs"/>
              </a:rPr>
              <a:t>的 </a:t>
            </a:r>
            <a:r>
              <a:rPr lang="en-US" altLang="zh-CN" sz="1200" kern="1200" dirty="0">
                <a:solidFill>
                  <a:schemeClr val="tx1"/>
                </a:solidFill>
                <a:effectLst/>
                <a:latin typeface="+mn-lt"/>
                <a:ea typeface="+mn-ea"/>
                <a:cs typeface="+mn-cs"/>
              </a:rPr>
              <a:t>token </a:t>
            </a:r>
            <a:r>
              <a:rPr lang="zh-CN" altLang="en-US" sz="1200" kern="1200" dirty="0">
                <a:solidFill>
                  <a:schemeClr val="tx1"/>
                </a:solidFill>
                <a:effectLst/>
                <a:latin typeface="+mn-lt"/>
                <a:ea typeface="+mn-ea"/>
                <a:cs typeface="+mn-cs"/>
              </a:rPr>
              <a:t>序列加上 </a:t>
            </a:r>
            <a:r>
              <a:rPr lang="en-US" altLang="zh-CN" sz="1200" kern="1200" dirty="0">
                <a:solidFill>
                  <a:schemeClr val="tx1"/>
                </a:solidFill>
                <a:effectLst/>
                <a:latin typeface="+mn-lt"/>
                <a:ea typeface="+mn-ea"/>
                <a:cs typeface="+mn-cs"/>
              </a:rPr>
              <a:t>T5 </a:t>
            </a:r>
            <a:r>
              <a:rPr lang="zh-CN" altLang="en-US" sz="1200" kern="1200" dirty="0">
                <a:solidFill>
                  <a:schemeClr val="tx1"/>
                </a:solidFill>
                <a:effectLst/>
                <a:latin typeface="+mn-lt"/>
                <a:ea typeface="+mn-ea"/>
                <a:cs typeface="+mn-cs"/>
              </a:rPr>
              <a:t>的 </a:t>
            </a:r>
            <a:r>
              <a:rPr lang="en-US" altLang="zh-CN" sz="1200" kern="1200" dirty="0">
                <a:solidFill>
                  <a:schemeClr val="tx1"/>
                </a:solidFill>
                <a:effectLst/>
                <a:latin typeface="+mn-lt"/>
                <a:ea typeface="+mn-ea"/>
                <a:cs typeface="+mn-cs"/>
              </a:rPr>
              <a:t>token </a:t>
            </a:r>
            <a:r>
              <a:rPr lang="zh-CN" altLang="en-US" sz="1200" kern="1200" dirty="0">
                <a:solidFill>
                  <a:schemeClr val="tx1"/>
                </a:solidFill>
                <a:effectLst/>
                <a:latin typeface="+mn-lt"/>
                <a:ea typeface="+mn-ea"/>
                <a:cs typeface="+mn-cs"/>
              </a:rPr>
              <a:t>序列被拼接在一起，形成一个巨大的、包含了丰富语义信息的 </a:t>
            </a:r>
            <a:r>
              <a:rPr lang="en-US" altLang="zh-CN" sz="1200" kern="1200" dirty="0">
                <a:solidFill>
                  <a:schemeClr val="tx1"/>
                </a:solidFill>
                <a:effectLst/>
                <a:latin typeface="+mn-lt"/>
                <a:ea typeface="+mn-ea"/>
                <a:cs typeface="+mn-cs"/>
              </a:rPr>
              <a:t>$77+77$ </a:t>
            </a:r>
            <a:r>
              <a:rPr lang="zh-CN" altLang="en-US" sz="1200" kern="1200" dirty="0">
                <a:solidFill>
                  <a:schemeClr val="tx1"/>
                </a:solidFill>
                <a:effectLst/>
                <a:latin typeface="+mn-lt"/>
                <a:ea typeface="+mn-ea"/>
                <a:cs typeface="+mn-cs"/>
              </a:rPr>
              <a:t>乃至更多 </a:t>
            </a:r>
            <a:r>
              <a:rPr lang="en-US" altLang="zh-CN" sz="1200" kern="1200" dirty="0">
                <a:solidFill>
                  <a:schemeClr val="tx1"/>
                </a:solidFill>
                <a:effectLst/>
                <a:latin typeface="+mn-lt"/>
                <a:ea typeface="+mn-ea"/>
                <a:cs typeface="+mn-cs"/>
              </a:rPr>
              <a:t>tokens </a:t>
            </a:r>
            <a:r>
              <a:rPr lang="zh-CN" altLang="en-US" sz="1200" kern="1200" dirty="0">
                <a:solidFill>
                  <a:schemeClr val="tx1"/>
                </a:solidFill>
                <a:effectLst/>
                <a:latin typeface="+mn-lt"/>
                <a:ea typeface="+mn-ea"/>
                <a:cs typeface="+mn-cs"/>
              </a:rPr>
              <a:t>的序列。</a:t>
            </a:r>
            <a:endParaRPr lang="zh-CN" altLang="en-US" sz="1200" kern="1200" dirty="0">
              <a:solidFill>
                <a:schemeClr val="tx1"/>
              </a:solidFill>
              <a:effectLst/>
              <a:latin typeface="+mn-lt"/>
              <a:ea typeface="+mn-ea"/>
              <a:cs typeface="+mn-cs"/>
            </a:endParaRPr>
          </a:p>
          <a:p>
            <a:r>
              <a:rPr lang="zh-CN" altLang="en-US" sz="1200" b="1" kern="1200" dirty="0">
                <a:solidFill>
                  <a:schemeClr val="tx1"/>
                </a:solidFill>
                <a:effectLst/>
                <a:latin typeface="+mn-lt"/>
                <a:ea typeface="+mn-ea"/>
                <a:cs typeface="+mn-cs"/>
              </a:rPr>
              <a:t>池化向量 </a:t>
            </a:r>
            <a:r>
              <a:rPr lang="en-US" altLang="zh-CN" sz="1200" b="1" kern="1200" dirty="0">
                <a:solidFill>
                  <a:schemeClr val="tx1"/>
                </a:solidFill>
                <a:effectLst/>
                <a:latin typeface="+mn-lt"/>
                <a:ea typeface="+mn-ea"/>
                <a:cs typeface="+mn-cs"/>
              </a:rPr>
              <a:t>$y$ (Pooled Vector):</a:t>
            </a:r>
            <a:r>
              <a:rPr lang="zh-CN" altLang="en-US" sz="1200" kern="1200" dirty="0">
                <a:solidFill>
                  <a:schemeClr val="tx1"/>
                </a:solidFill>
                <a:effectLst/>
                <a:latin typeface="+mn-lt"/>
                <a:ea typeface="+mn-ea"/>
                <a:cs typeface="+mn-cs"/>
              </a:rPr>
              <a:t> 两个 </a:t>
            </a:r>
            <a:r>
              <a:rPr lang="en-US" altLang="zh-CN" sz="1200" kern="1200" dirty="0">
                <a:solidFill>
                  <a:schemeClr val="tx1"/>
                </a:solidFill>
                <a:effectLst/>
                <a:latin typeface="+mn-lt"/>
                <a:ea typeface="+mn-ea"/>
                <a:cs typeface="+mn-cs"/>
              </a:rPr>
              <a:t>CLIP </a:t>
            </a:r>
            <a:r>
              <a:rPr lang="zh-CN" altLang="en-US" sz="1200" kern="1200" dirty="0">
                <a:solidFill>
                  <a:schemeClr val="tx1"/>
                </a:solidFill>
                <a:effectLst/>
                <a:latin typeface="+mn-lt"/>
                <a:ea typeface="+mn-ea"/>
                <a:cs typeface="+mn-cs"/>
              </a:rPr>
              <a:t>的池化输出被拼接在一起，形成一个代表全局整句语义的向量。</a:t>
            </a:r>
            <a:endParaRPr lang="zh-CN" altLang="en-US"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在图像侧（右上角），</a:t>
            </a:r>
            <a:r>
              <a:rPr lang="en-US" altLang="zh-CN" sz="1200" kern="1200" dirty="0">
                <a:solidFill>
                  <a:schemeClr val="tx1"/>
                </a:solidFill>
                <a:effectLst/>
                <a:latin typeface="+mn-lt"/>
                <a:ea typeface="+mn-ea"/>
                <a:cs typeface="+mn-cs"/>
              </a:rPr>
              <a:t>Noised Latent </a:t>
            </a:r>
            <a:r>
              <a:rPr lang="zh-CN" altLang="en-US" sz="1200" kern="1200" dirty="0">
                <a:solidFill>
                  <a:schemeClr val="tx1"/>
                </a:solidFill>
                <a:effectLst/>
                <a:latin typeface="+mn-lt"/>
                <a:ea typeface="+mn-ea"/>
                <a:cs typeface="+mn-cs"/>
              </a:rPr>
              <a:t>经过 </a:t>
            </a:r>
            <a:r>
              <a:rPr lang="en-US" altLang="zh-CN" sz="1200" kern="1200" dirty="0">
                <a:solidFill>
                  <a:schemeClr val="tx1"/>
                </a:solidFill>
                <a:effectLst/>
                <a:latin typeface="+mn-lt"/>
                <a:ea typeface="+mn-ea"/>
                <a:cs typeface="+mn-cs"/>
              </a:rPr>
              <a:t>Patching</a:t>
            </a:r>
            <a:r>
              <a:rPr lang="zh-CN" altLang="en-US" sz="1200" kern="1200" dirty="0">
                <a:solidFill>
                  <a:schemeClr val="tx1"/>
                </a:solidFill>
                <a:effectLst/>
                <a:latin typeface="+mn-lt"/>
                <a:ea typeface="+mn-ea"/>
                <a:cs typeface="+mn-cs"/>
              </a:rPr>
              <a:t>（切片）后，通过一个 </a:t>
            </a:r>
            <a:r>
              <a:rPr lang="en-US" altLang="zh-CN" sz="1200" kern="1200" dirty="0">
                <a:solidFill>
                  <a:schemeClr val="tx1"/>
                </a:solidFill>
                <a:effectLst/>
                <a:latin typeface="+mn-lt"/>
                <a:ea typeface="+mn-ea"/>
                <a:cs typeface="+mn-cs"/>
              </a:rPr>
              <a:t>Linear </a:t>
            </a:r>
            <a:r>
              <a:rPr lang="zh-CN" altLang="en-US" sz="1200" kern="1200" dirty="0">
                <a:solidFill>
                  <a:schemeClr val="tx1"/>
                </a:solidFill>
                <a:effectLst/>
                <a:latin typeface="+mn-lt"/>
                <a:ea typeface="+mn-ea"/>
                <a:cs typeface="+mn-cs"/>
              </a:rPr>
              <a:t>层变成序列形式，加上位置编码 </a:t>
            </a:r>
            <a:r>
              <a:rPr lang="en-US" altLang="zh-CN" sz="1200" kern="1200" dirty="0">
                <a:solidFill>
                  <a:schemeClr val="tx1"/>
                </a:solidFill>
                <a:effectLst/>
                <a:latin typeface="+mn-lt"/>
                <a:ea typeface="+mn-ea"/>
                <a:cs typeface="+mn-cs"/>
              </a:rPr>
              <a:t>$x$</a:t>
            </a:r>
            <a:r>
              <a:rPr lang="zh-CN" altLang="en-US" sz="1200" kern="1200" dirty="0">
                <a:solidFill>
                  <a:schemeClr val="tx1"/>
                </a:solidFill>
                <a:effectLst/>
                <a:latin typeface="+mn-lt"/>
                <a:ea typeface="+mn-ea"/>
                <a:cs typeface="+mn-cs"/>
              </a:rPr>
              <a:t>。</a:t>
            </a:r>
            <a:endParaRPr lang="zh-CN" altLang="en-US"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同时，时间步（</a:t>
            </a:r>
            <a:r>
              <a:rPr lang="en-US" altLang="zh-CN" sz="1200" kern="1200" dirty="0">
                <a:solidFill>
                  <a:schemeClr val="tx1"/>
                </a:solidFill>
                <a:effectLst/>
                <a:latin typeface="+mn-lt"/>
                <a:ea typeface="+mn-ea"/>
                <a:cs typeface="+mn-cs"/>
              </a:rPr>
              <a:t>Timestep</a:t>
            </a:r>
            <a:r>
              <a:rPr lang="zh-CN" altLang="en-US" sz="1200" kern="1200" dirty="0">
                <a:solidFill>
                  <a:schemeClr val="tx1"/>
                </a:solidFill>
                <a:effectLst/>
                <a:latin typeface="+mn-lt"/>
                <a:ea typeface="+mn-ea"/>
                <a:cs typeface="+mn-cs"/>
              </a:rPr>
              <a:t>）经过 </a:t>
            </a:r>
            <a:r>
              <a:rPr lang="en-US" altLang="zh-CN" sz="1200" kern="1200" dirty="0">
                <a:solidFill>
                  <a:schemeClr val="tx1"/>
                </a:solidFill>
                <a:effectLst/>
                <a:latin typeface="+mn-lt"/>
                <a:ea typeface="+mn-ea"/>
                <a:cs typeface="+mn-cs"/>
              </a:rPr>
              <a:t>Sinusoidal </a:t>
            </a:r>
            <a:r>
              <a:rPr lang="zh-CN" altLang="en-US" sz="1200" kern="1200" dirty="0">
                <a:solidFill>
                  <a:schemeClr val="tx1"/>
                </a:solidFill>
                <a:effectLst/>
                <a:latin typeface="+mn-lt"/>
                <a:ea typeface="+mn-ea"/>
                <a:cs typeface="+mn-cs"/>
              </a:rPr>
              <a:t>编码和 </a:t>
            </a:r>
            <a:r>
              <a:rPr lang="en-US" altLang="zh-CN" sz="1200" kern="1200" dirty="0">
                <a:solidFill>
                  <a:schemeClr val="tx1"/>
                </a:solidFill>
                <a:effectLst/>
                <a:latin typeface="+mn-lt"/>
                <a:ea typeface="+mn-ea"/>
                <a:cs typeface="+mn-cs"/>
              </a:rPr>
              <a:t>MLP</a:t>
            </a:r>
            <a:r>
              <a:rPr lang="zh-CN" altLang="en-US" sz="1200" kern="1200" dirty="0">
                <a:solidFill>
                  <a:schemeClr val="tx1"/>
                </a:solidFill>
                <a:effectLst/>
                <a:latin typeface="+mn-lt"/>
                <a:ea typeface="+mn-ea"/>
                <a:cs typeface="+mn-cs"/>
              </a:rPr>
              <a:t>，与全局文本向量 </a:t>
            </a:r>
            <a:r>
              <a:rPr lang="en-US" altLang="zh-CN" sz="1200" kern="1200" dirty="0">
                <a:solidFill>
                  <a:schemeClr val="tx1"/>
                </a:solidFill>
                <a:effectLst/>
                <a:latin typeface="+mn-lt"/>
                <a:ea typeface="+mn-ea"/>
                <a:cs typeface="+mn-cs"/>
              </a:rPr>
              <a:t>$y$ </a:t>
            </a:r>
            <a:r>
              <a:rPr lang="zh-CN" altLang="en-US" sz="1200" kern="1200" dirty="0">
                <a:solidFill>
                  <a:schemeClr val="tx1"/>
                </a:solidFill>
                <a:effectLst/>
                <a:latin typeface="+mn-lt"/>
                <a:ea typeface="+mn-ea"/>
                <a:cs typeface="+mn-cs"/>
              </a:rPr>
              <a:t>融合。这就准备好了进入 </a:t>
            </a:r>
            <a:r>
              <a:rPr lang="en-US" altLang="zh-CN" sz="1200" kern="1200" dirty="0">
                <a:solidFill>
                  <a:schemeClr val="tx1"/>
                </a:solidFill>
                <a:effectLst/>
                <a:latin typeface="+mn-lt"/>
                <a:ea typeface="+mn-ea"/>
                <a:cs typeface="+mn-cs"/>
              </a:rPr>
              <a:t>MM-</a:t>
            </a:r>
            <a:r>
              <a:rPr lang="en-US" altLang="zh-CN" sz="1200" kern="1200" dirty="0" err="1">
                <a:solidFill>
                  <a:schemeClr val="tx1"/>
                </a:solidFill>
                <a:effectLst/>
                <a:latin typeface="+mn-lt"/>
                <a:ea typeface="+mn-ea"/>
                <a:cs typeface="+mn-cs"/>
              </a:rPr>
              <a:t>DiT</a:t>
            </a:r>
            <a:r>
              <a:rPr lang="en-US" altLang="zh-CN" sz="1200" kern="1200" dirty="0">
                <a:solidFill>
                  <a:schemeClr val="tx1"/>
                </a:solidFill>
                <a:effectLst/>
                <a:latin typeface="+mn-lt"/>
                <a:ea typeface="+mn-ea"/>
                <a:cs typeface="+mn-cs"/>
              </a:rPr>
              <a:t> </a:t>
            </a:r>
            <a:r>
              <a:rPr lang="zh-CN" altLang="en-US" sz="1200" kern="1200" dirty="0">
                <a:solidFill>
                  <a:schemeClr val="tx1"/>
                </a:solidFill>
                <a:effectLst/>
                <a:latin typeface="+mn-lt"/>
                <a:ea typeface="+mn-ea"/>
                <a:cs typeface="+mn-cs"/>
              </a:rPr>
              <a:t>核心块的所有输入。”</a:t>
            </a:r>
            <a:endParaRPr lang="zh-CN" altLang="en-US" sz="1200" kern="1200" dirty="0">
              <a:solidFill>
                <a:schemeClr val="tx1"/>
              </a:solidFill>
              <a:effectLst/>
              <a:latin typeface="+mn-lt"/>
              <a:ea typeface="+mn-ea"/>
              <a:cs typeface="+mn-cs"/>
            </a:endParaRPr>
          </a:p>
          <a:p>
            <a:br>
              <a:rPr lang="zh-CN" altLang="en-US" dirty="0"/>
            </a:br>
            <a:endParaRPr lang="zh-CN" altLang="en-US" dirty="0"/>
          </a:p>
          <a:p>
            <a:r>
              <a:rPr lang="zh-CN" altLang="en-US" sz="1200" b="1" kern="1200" dirty="0">
                <a:solidFill>
                  <a:schemeClr val="tx1"/>
                </a:solidFill>
                <a:effectLst/>
                <a:latin typeface="+mn-lt"/>
                <a:ea typeface="+mn-ea"/>
                <a:cs typeface="+mn-cs"/>
              </a:rPr>
              <a:t>第三层：核心架构块 </a:t>
            </a:r>
            <a:r>
              <a:rPr lang="en-US" altLang="zh-CN" sz="1200" b="1" kern="1200" dirty="0">
                <a:solidFill>
                  <a:schemeClr val="tx1"/>
                </a:solidFill>
                <a:effectLst/>
                <a:latin typeface="+mn-lt"/>
                <a:ea typeface="+mn-ea"/>
                <a:cs typeface="+mn-cs"/>
              </a:rPr>
              <a:t>(MM-</a:t>
            </a:r>
            <a:r>
              <a:rPr lang="en-US" altLang="zh-CN" sz="1200" b="1" kern="1200" dirty="0" err="1">
                <a:solidFill>
                  <a:schemeClr val="tx1"/>
                </a:solidFill>
                <a:effectLst/>
                <a:latin typeface="+mn-lt"/>
                <a:ea typeface="+mn-ea"/>
                <a:cs typeface="+mn-cs"/>
              </a:rPr>
              <a:t>DiT</a:t>
            </a:r>
            <a:r>
              <a:rPr lang="en-US" altLang="zh-CN" sz="1200" b="1" kern="1200" dirty="0">
                <a:solidFill>
                  <a:schemeClr val="tx1"/>
                </a:solidFill>
                <a:effectLst/>
                <a:latin typeface="+mn-lt"/>
                <a:ea typeface="+mn-ea"/>
                <a:cs typeface="+mn-cs"/>
              </a:rPr>
              <a:t>-Block) —— “</a:t>
            </a:r>
            <a:r>
              <a:rPr lang="zh-CN" altLang="en-US" sz="1200" b="1" kern="1200" dirty="0">
                <a:solidFill>
                  <a:schemeClr val="tx1"/>
                </a:solidFill>
                <a:effectLst/>
                <a:latin typeface="+mn-lt"/>
                <a:ea typeface="+mn-ea"/>
                <a:cs typeface="+mn-cs"/>
              </a:rPr>
              <a:t>平权”的多模态交互（核心、最精彩的部分）</a:t>
            </a:r>
            <a:endParaRPr lang="zh-CN" altLang="en-US" sz="1200" b="1"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把目光聚焦到中间蓝色大框，并结合</a:t>
            </a:r>
            <a:r>
              <a:rPr lang="zh-CN" altLang="en-US" sz="1200" b="1" kern="1200" dirty="0">
                <a:solidFill>
                  <a:schemeClr val="tx1"/>
                </a:solidFill>
                <a:effectLst/>
                <a:latin typeface="+mn-lt"/>
                <a:ea typeface="+mn-ea"/>
                <a:cs typeface="+mn-cs"/>
              </a:rPr>
              <a:t>右侧的放大图</a:t>
            </a:r>
            <a:r>
              <a:rPr lang="zh-CN" altLang="en-US" sz="1200" kern="1200" dirty="0">
                <a:solidFill>
                  <a:schemeClr val="tx1"/>
                </a:solidFill>
                <a:effectLst/>
                <a:latin typeface="+mn-lt"/>
                <a:ea typeface="+mn-ea"/>
                <a:cs typeface="+mn-cs"/>
              </a:rPr>
              <a:t>。这是你最能展现理论深度的地方。一定要强调“联合注意力机制”与旧版 </a:t>
            </a:r>
            <a:r>
              <a:rPr lang="en-US" altLang="zh-CN" sz="1200" kern="1200" dirty="0">
                <a:solidFill>
                  <a:schemeClr val="tx1"/>
                </a:solidFill>
                <a:effectLst/>
                <a:latin typeface="+mn-lt"/>
                <a:ea typeface="+mn-ea"/>
                <a:cs typeface="+mn-cs"/>
              </a:rPr>
              <a:t>Cross-Attention </a:t>
            </a:r>
            <a:r>
              <a:rPr lang="zh-CN" altLang="en-US" sz="1200" kern="1200" dirty="0">
                <a:solidFill>
                  <a:schemeClr val="tx1"/>
                </a:solidFill>
                <a:effectLst/>
                <a:latin typeface="+mn-lt"/>
                <a:ea typeface="+mn-ea"/>
                <a:cs typeface="+mn-cs"/>
              </a:rPr>
              <a:t>的区别。</a:t>
            </a:r>
            <a:endParaRPr lang="zh-CN" altLang="en-US" sz="1200" kern="1200" dirty="0">
              <a:solidFill>
                <a:schemeClr val="tx1"/>
              </a:solidFill>
              <a:effectLst/>
              <a:latin typeface="+mn-lt"/>
              <a:ea typeface="+mn-ea"/>
              <a:cs typeface="+mn-cs"/>
            </a:endParaRPr>
          </a:p>
          <a:p>
            <a:r>
              <a:rPr lang="zh-CN" altLang="en-US" sz="1200" b="1" kern="1200" dirty="0">
                <a:solidFill>
                  <a:schemeClr val="tx1"/>
                </a:solidFill>
                <a:effectLst/>
                <a:latin typeface="+mn-lt"/>
                <a:ea typeface="+mn-ea"/>
                <a:cs typeface="+mn-cs"/>
              </a:rPr>
              <a:t>讲解话术：</a:t>
            </a:r>
            <a:endParaRPr lang="zh-CN" altLang="en-US"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“现在，我们把目光聚焦到中间的堆叠块，也就是 </a:t>
            </a:r>
            <a:r>
              <a:rPr lang="en-US" altLang="zh-CN" sz="1200" b="1" kern="1200" dirty="0">
                <a:solidFill>
                  <a:schemeClr val="tx1"/>
                </a:solidFill>
                <a:effectLst/>
                <a:latin typeface="+mn-lt"/>
                <a:ea typeface="+mn-ea"/>
                <a:cs typeface="+mn-cs"/>
              </a:rPr>
              <a:t>MM-</a:t>
            </a:r>
            <a:r>
              <a:rPr lang="en-US" altLang="zh-CN" sz="1200" b="1" kern="1200" dirty="0" err="1">
                <a:solidFill>
                  <a:schemeClr val="tx1"/>
                </a:solidFill>
                <a:effectLst/>
                <a:latin typeface="+mn-lt"/>
                <a:ea typeface="+mn-ea"/>
                <a:cs typeface="+mn-cs"/>
              </a:rPr>
              <a:t>DiT</a:t>
            </a:r>
            <a:r>
              <a:rPr lang="en-US" altLang="zh-CN" sz="1200" b="1" kern="1200" dirty="0">
                <a:solidFill>
                  <a:schemeClr val="tx1"/>
                </a:solidFill>
                <a:effectLst/>
                <a:latin typeface="+mn-lt"/>
                <a:ea typeface="+mn-ea"/>
                <a:cs typeface="+mn-cs"/>
              </a:rPr>
              <a:t> (Multimodal Diffusion Transformer)</a:t>
            </a:r>
            <a:r>
              <a:rPr lang="zh-CN" altLang="en-US" sz="1200" kern="1200" dirty="0">
                <a:solidFill>
                  <a:schemeClr val="tx1"/>
                </a:solidFill>
                <a:effectLst/>
                <a:latin typeface="+mn-lt"/>
                <a:ea typeface="+mn-ea"/>
                <a:cs typeface="+mn-cs"/>
              </a:rPr>
              <a:t> 的具体实现。请大家看右侧的放大细节图。</a:t>
            </a:r>
            <a:endParaRPr lang="zh-CN" altLang="en-US"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这是 </a:t>
            </a:r>
            <a:r>
              <a:rPr lang="en-US" altLang="zh-CN" sz="1200" kern="1200" dirty="0">
                <a:solidFill>
                  <a:schemeClr val="tx1"/>
                </a:solidFill>
                <a:effectLst/>
                <a:latin typeface="+mn-lt"/>
                <a:ea typeface="+mn-ea"/>
                <a:cs typeface="+mn-cs"/>
              </a:rPr>
              <a:t>SD3 </a:t>
            </a:r>
            <a:r>
              <a:rPr lang="zh-CN" altLang="en-US" sz="1200" kern="1200" dirty="0">
                <a:solidFill>
                  <a:schemeClr val="tx1"/>
                </a:solidFill>
                <a:effectLst/>
                <a:latin typeface="+mn-lt"/>
                <a:ea typeface="+mn-ea"/>
                <a:cs typeface="+mn-cs"/>
              </a:rPr>
              <a:t>最大的设计创新。在以前的 </a:t>
            </a:r>
            <a:r>
              <a:rPr lang="en-US" altLang="zh-CN" sz="1200" kern="1200" dirty="0">
                <a:solidFill>
                  <a:schemeClr val="tx1"/>
                </a:solidFill>
                <a:effectLst/>
                <a:latin typeface="+mn-lt"/>
                <a:ea typeface="+mn-ea"/>
                <a:cs typeface="+mn-cs"/>
              </a:rPr>
              <a:t>U-Net </a:t>
            </a:r>
            <a:r>
              <a:rPr lang="zh-CN" altLang="en-US" sz="1200" kern="1200" dirty="0">
                <a:solidFill>
                  <a:schemeClr val="tx1"/>
                </a:solidFill>
                <a:effectLst/>
                <a:latin typeface="+mn-lt"/>
                <a:ea typeface="+mn-ea"/>
                <a:cs typeface="+mn-cs"/>
              </a:rPr>
              <a:t>中，文本特征是被当作一种‘外部干预’，通过 </a:t>
            </a:r>
            <a:r>
              <a:rPr lang="en-US" altLang="zh-CN" sz="1200" kern="1200" dirty="0">
                <a:solidFill>
                  <a:schemeClr val="tx1"/>
                </a:solidFill>
                <a:effectLst/>
                <a:latin typeface="+mn-lt"/>
                <a:ea typeface="+mn-ea"/>
                <a:cs typeface="+mn-cs"/>
              </a:rPr>
              <a:t>Cross-Attention</a:t>
            </a:r>
            <a:r>
              <a:rPr lang="zh-CN" altLang="en-US" sz="1200" kern="1200" dirty="0">
                <a:solidFill>
                  <a:schemeClr val="tx1"/>
                </a:solidFill>
                <a:effectLst/>
                <a:latin typeface="+mn-lt"/>
                <a:ea typeface="+mn-ea"/>
                <a:cs typeface="+mn-cs"/>
              </a:rPr>
              <a:t>（交叉注意力）硬塞进图像特征里的。图像是主，文本是客。</a:t>
            </a:r>
            <a:endParaRPr lang="zh-CN" altLang="en-US"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而在 </a:t>
            </a:r>
            <a:r>
              <a:rPr lang="en-US" altLang="zh-CN" sz="1200" kern="1200" dirty="0">
                <a:solidFill>
                  <a:schemeClr val="tx1"/>
                </a:solidFill>
                <a:effectLst/>
                <a:latin typeface="+mn-lt"/>
                <a:ea typeface="+mn-ea"/>
                <a:cs typeface="+mn-cs"/>
              </a:rPr>
              <a:t>MM-</a:t>
            </a:r>
            <a:r>
              <a:rPr lang="en-US" altLang="zh-CN" sz="1200" kern="1200" dirty="0" err="1">
                <a:solidFill>
                  <a:schemeClr val="tx1"/>
                </a:solidFill>
                <a:effectLst/>
                <a:latin typeface="+mn-lt"/>
                <a:ea typeface="+mn-ea"/>
                <a:cs typeface="+mn-cs"/>
              </a:rPr>
              <a:t>DiT</a:t>
            </a:r>
            <a:r>
              <a:rPr lang="en-US" altLang="zh-CN" sz="1200" kern="1200" dirty="0">
                <a:solidFill>
                  <a:schemeClr val="tx1"/>
                </a:solidFill>
                <a:effectLst/>
                <a:latin typeface="+mn-lt"/>
                <a:ea typeface="+mn-ea"/>
                <a:cs typeface="+mn-cs"/>
              </a:rPr>
              <a:t> </a:t>
            </a:r>
            <a:r>
              <a:rPr lang="zh-CN" altLang="en-US" sz="1200" kern="1200" dirty="0">
                <a:solidFill>
                  <a:schemeClr val="tx1"/>
                </a:solidFill>
                <a:effectLst/>
                <a:latin typeface="+mn-lt"/>
                <a:ea typeface="+mn-ea"/>
                <a:cs typeface="+mn-cs"/>
              </a:rPr>
              <a:t>中，我们实现了**‘模态平权’**。整个 </a:t>
            </a:r>
            <a:r>
              <a:rPr lang="en-US" altLang="zh-CN" sz="1200" kern="1200" dirty="0">
                <a:solidFill>
                  <a:schemeClr val="tx1"/>
                </a:solidFill>
                <a:effectLst/>
                <a:latin typeface="+mn-lt"/>
                <a:ea typeface="+mn-ea"/>
                <a:cs typeface="+mn-cs"/>
              </a:rPr>
              <a:t>Block </a:t>
            </a:r>
            <a:r>
              <a:rPr lang="zh-CN" altLang="en-US" sz="1200" kern="1200" dirty="0">
                <a:solidFill>
                  <a:schemeClr val="tx1"/>
                </a:solidFill>
                <a:effectLst/>
                <a:latin typeface="+mn-lt"/>
                <a:ea typeface="+mn-ea"/>
                <a:cs typeface="+mn-cs"/>
              </a:rPr>
              <a:t>采用了并行双支路结构：左侧支路处理文本序列 </a:t>
            </a:r>
            <a:r>
              <a:rPr lang="en-US" altLang="zh-CN" sz="1200" kern="1200" dirty="0">
                <a:solidFill>
                  <a:schemeClr val="tx1"/>
                </a:solidFill>
                <a:effectLst/>
                <a:latin typeface="+mn-lt"/>
                <a:ea typeface="+mn-ea"/>
                <a:cs typeface="+mn-cs"/>
              </a:rPr>
              <a:t>$c$</a:t>
            </a:r>
            <a:r>
              <a:rPr lang="zh-CN" altLang="en-US" sz="1200" kern="1200" dirty="0">
                <a:solidFill>
                  <a:schemeClr val="tx1"/>
                </a:solidFill>
                <a:effectLst/>
                <a:latin typeface="+mn-lt"/>
                <a:ea typeface="+mn-ea"/>
                <a:cs typeface="+mn-cs"/>
              </a:rPr>
              <a:t>，右侧支路处理图像序列 </a:t>
            </a:r>
            <a:r>
              <a:rPr lang="en-US" altLang="zh-CN" sz="1200" kern="1200" dirty="0">
                <a:solidFill>
                  <a:schemeClr val="tx1"/>
                </a:solidFill>
                <a:effectLst/>
                <a:latin typeface="+mn-lt"/>
                <a:ea typeface="+mn-ea"/>
                <a:cs typeface="+mn-cs"/>
              </a:rPr>
              <a:t>$x$</a:t>
            </a:r>
            <a:r>
              <a:rPr lang="zh-CN" altLang="en-US" sz="1200" kern="1200" dirty="0">
                <a:solidFill>
                  <a:schemeClr val="tx1"/>
                </a:solidFill>
                <a:effectLst/>
                <a:latin typeface="+mn-lt"/>
                <a:ea typeface="+mn-ea"/>
                <a:cs typeface="+mn-cs"/>
              </a:rPr>
              <a:t>。它们各自有独立的操作（如 </a:t>
            </a:r>
            <a:r>
              <a:rPr lang="en-US" altLang="zh-CN" sz="1200" kern="1200" dirty="0" err="1">
                <a:solidFill>
                  <a:schemeClr val="tx1"/>
                </a:solidFill>
                <a:effectLst/>
                <a:latin typeface="+mn-lt"/>
                <a:ea typeface="+mn-ea"/>
                <a:cs typeface="+mn-cs"/>
              </a:rPr>
              <a:t>LayerNorm</a:t>
            </a:r>
            <a:r>
              <a:rPr lang="zh-CN" altLang="en-US"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MLP</a:t>
            </a:r>
            <a:r>
              <a:rPr lang="zh-CN" altLang="en-US" sz="1200" kern="1200" dirty="0">
                <a:solidFill>
                  <a:schemeClr val="tx1"/>
                </a:solidFill>
                <a:effectLst/>
                <a:latin typeface="+mn-lt"/>
                <a:ea typeface="+mn-ea"/>
                <a:cs typeface="+mn-cs"/>
              </a:rPr>
              <a:t>），但它们在最关键的一步实现了交汇</a:t>
            </a:r>
            <a:r>
              <a:rPr lang="en-US"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那就是中间的 </a:t>
            </a:r>
            <a:r>
              <a:rPr lang="zh-CN" altLang="en-US" sz="1200" b="1" kern="1200" dirty="0">
                <a:solidFill>
                  <a:schemeClr val="tx1"/>
                </a:solidFill>
                <a:effectLst/>
                <a:latin typeface="+mn-lt"/>
                <a:ea typeface="+mn-ea"/>
                <a:cs typeface="+mn-cs"/>
              </a:rPr>
              <a:t>‘</a:t>
            </a:r>
            <a:r>
              <a:rPr lang="en-US" altLang="zh-CN" sz="1200" b="1" kern="1200" dirty="0">
                <a:solidFill>
                  <a:schemeClr val="tx1"/>
                </a:solidFill>
                <a:effectLst/>
                <a:latin typeface="+mn-lt"/>
                <a:ea typeface="+mn-ea"/>
                <a:cs typeface="+mn-cs"/>
              </a:rPr>
              <a:t>QK Attention</a:t>
            </a:r>
            <a:r>
              <a:rPr lang="zh-CN" altLang="en-US" sz="1200" b="1" kern="1200" dirty="0">
                <a:solidFill>
                  <a:schemeClr val="tx1"/>
                </a:solidFill>
                <a:effectLst/>
                <a:latin typeface="+mn-lt"/>
                <a:ea typeface="+mn-ea"/>
                <a:cs typeface="+mn-cs"/>
              </a:rPr>
              <a:t>（联合自注意力机制）’</a:t>
            </a:r>
            <a:r>
              <a:rPr lang="zh-CN" altLang="en-US" sz="1200" kern="1200" dirty="0">
                <a:solidFill>
                  <a:schemeClr val="tx1"/>
                </a:solidFill>
                <a:effectLst/>
                <a:latin typeface="+mn-lt"/>
                <a:ea typeface="+mn-ea"/>
                <a:cs typeface="+mn-cs"/>
              </a:rPr>
              <a:t>。</a:t>
            </a:r>
            <a:endParaRPr lang="zh-CN" altLang="en-US"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在这里，文本 </a:t>
            </a:r>
            <a:r>
              <a:rPr lang="en-US" altLang="zh-CN" sz="1200" kern="1200" dirty="0">
                <a:solidFill>
                  <a:schemeClr val="tx1"/>
                </a:solidFill>
                <a:effectLst/>
                <a:latin typeface="+mn-lt"/>
                <a:ea typeface="+mn-ea"/>
                <a:cs typeface="+mn-cs"/>
              </a:rPr>
              <a:t>Patch </a:t>
            </a:r>
            <a:r>
              <a:rPr lang="zh-CN" altLang="en-US" sz="1200" kern="1200" dirty="0">
                <a:solidFill>
                  <a:schemeClr val="tx1"/>
                </a:solidFill>
                <a:effectLst/>
                <a:latin typeface="+mn-lt"/>
                <a:ea typeface="+mn-ea"/>
                <a:cs typeface="+mn-cs"/>
              </a:rPr>
              <a:t>和图像 </a:t>
            </a:r>
            <a:r>
              <a:rPr lang="en-US" altLang="zh-CN" sz="1200" kern="1200" dirty="0">
                <a:solidFill>
                  <a:schemeClr val="tx1"/>
                </a:solidFill>
                <a:effectLst/>
                <a:latin typeface="+mn-lt"/>
                <a:ea typeface="+mn-ea"/>
                <a:cs typeface="+mn-cs"/>
              </a:rPr>
              <a:t>Patch </a:t>
            </a:r>
            <a:r>
              <a:rPr lang="zh-CN" altLang="en-US" sz="1200" kern="1200" dirty="0">
                <a:solidFill>
                  <a:schemeClr val="tx1"/>
                </a:solidFill>
                <a:effectLst/>
                <a:latin typeface="+mn-lt"/>
                <a:ea typeface="+mn-ea"/>
                <a:cs typeface="+mn-cs"/>
              </a:rPr>
              <a:t>的 </a:t>
            </a:r>
            <a:r>
              <a:rPr lang="en-US" altLang="zh-CN" sz="1200" kern="1200" dirty="0">
                <a:solidFill>
                  <a:schemeClr val="tx1"/>
                </a:solidFill>
                <a:effectLst/>
                <a:latin typeface="+mn-lt"/>
                <a:ea typeface="+mn-ea"/>
                <a:cs typeface="+mn-cs"/>
              </a:rPr>
              <a:t>Q</a:t>
            </a:r>
            <a:r>
              <a:rPr lang="zh-CN" altLang="en-US"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K</a:t>
            </a:r>
            <a:r>
              <a:rPr lang="zh-CN" altLang="en-US"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V </a:t>
            </a:r>
            <a:r>
              <a:rPr lang="zh-CN" altLang="en-US" sz="1200" kern="1200" dirty="0">
                <a:solidFill>
                  <a:schemeClr val="tx1"/>
                </a:solidFill>
                <a:effectLst/>
                <a:latin typeface="+mn-lt"/>
                <a:ea typeface="+mn-ea"/>
                <a:cs typeface="+mn-cs"/>
              </a:rPr>
              <a:t>被拼接在一起，共同进行全局自注意力计算。这意味着：</a:t>
            </a:r>
            <a:r>
              <a:rPr lang="zh-CN" altLang="en-US" sz="1200" b="1" kern="1200" dirty="0">
                <a:solidFill>
                  <a:schemeClr val="tx1"/>
                </a:solidFill>
                <a:effectLst/>
                <a:latin typeface="+mn-lt"/>
                <a:ea typeface="+mn-ea"/>
                <a:cs typeface="+mn-cs"/>
              </a:rPr>
              <a:t>文本特征会根据图像特征来更新自己，图像特征也会根据文本特征来更新自己</a:t>
            </a:r>
            <a:r>
              <a:rPr lang="zh-CN" altLang="en-US" sz="1200" kern="1200" dirty="0">
                <a:solidFill>
                  <a:schemeClr val="tx1"/>
                </a:solidFill>
                <a:effectLst/>
                <a:latin typeface="+mn-lt"/>
                <a:ea typeface="+mn-ea"/>
                <a:cs typeface="+mn-cs"/>
              </a:rPr>
              <a:t>。</a:t>
            </a:r>
            <a:endParaRPr lang="zh-CN" altLang="en-US"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这种‘你中有我，我中有你’的深度融合，带来了两个巨大的好处：</a:t>
            </a:r>
            <a:endParaRPr lang="zh-CN" altLang="en-US" sz="1200" kern="1200" dirty="0">
              <a:solidFill>
                <a:schemeClr val="tx1"/>
              </a:solidFill>
              <a:effectLst/>
              <a:latin typeface="+mn-lt"/>
              <a:ea typeface="+mn-ea"/>
              <a:cs typeface="+mn-cs"/>
            </a:endParaRPr>
          </a:p>
          <a:p>
            <a:r>
              <a:rPr lang="zh-CN" altLang="en-US" sz="1200" b="1" kern="1200" dirty="0">
                <a:solidFill>
                  <a:schemeClr val="tx1"/>
                </a:solidFill>
                <a:effectLst/>
                <a:latin typeface="+mn-lt"/>
                <a:ea typeface="+mn-ea"/>
                <a:cs typeface="+mn-cs"/>
              </a:rPr>
              <a:t>极强的指令遵循能力：</a:t>
            </a:r>
            <a:r>
              <a:rPr lang="zh-CN" altLang="en-US" sz="1200" kern="1200" dirty="0">
                <a:solidFill>
                  <a:schemeClr val="tx1"/>
                </a:solidFill>
                <a:effectLst/>
                <a:latin typeface="+mn-lt"/>
                <a:ea typeface="+mn-ea"/>
                <a:cs typeface="+mn-cs"/>
              </a:rPr>
              <a:t> 模型能更精准地理解文本中物体之间的空间关系、属性对应，解决了 </a:t>
            </a:r>
            <a:r>
              <a:rPr lang="en-US" altLang="zh-CN" sz="1200" kern="1200" dirty="0">
                <a:solidFill>
                  <a:schemeClr val="tx1"/>
                </a:solidFill>
                <a:effectLst/>
                <a:latin typeface="+mn-lt"/>
                <a:ea typeface="+mn-ea"/>
                <a:cs typeface="+mn-cs"/>
              </a:rPr>
              <a:t>U-Net </a:t>
            </a:r>
            <a:r>
              <a:rPr lang="zh-CN" altLang="en-US" sz="1200" kern="1200" dirty="0">
                <a:solidFill>
                  <a:schemeClr val="tx1"/>
                </a:solidFill>
                <a:effectLst/>
                <a:latin typeface="+mn-lt"/>
                <a:ea typeface="+mn-ea"/>
                <a:cs typeface="+mn-cs"/>
              </a:rPr>
              <a:t>时代经常出现的属性错配问题。</a:t>
            </a:r>
            <a:endParaRPr lang="zh-CN" altLang="en-US" sz="1200" kern="1200" dirty="0">
              <a:solidFill>
                <a:schemeClr val="tx1"/>
              </a:solidFill>
              <a:effectLst/>
              <a:latin typeface="+mn-lt"/>
              <a:ea typeface="+mn-ea"/>
              <a:cs typeface="+mn-cs"/>
            </a:endParaRPr>
          </a:p>
          <a:p>
            <a:r>
              <a:rPr lang="zh-CN" altLang="en-US" sz="1200" b="1" kern="1200" dirty="0">
                <a:solidFill>
                  <a:schemeClr val="tx1"/>
                </a:solidFill>
                <a:effectLst/>
                <a:latin typeface="+mn-lt"/>
                <a:ea typeface="+mn-ea"/>
                <a:cs typeface="+mn-cs"/>
              </a:rPr>
              <a:t>更好的</a:t>
            </a:r>
            <a:r>
              <a:rPr lang="en-US" altLang="zh-CN" sz="1200" b="1" kern="1200" dirty="0">
                <a:solidFill>
                  <a:schemeClr val="tx1"/>
                </a:solidFill>
                <a:effectLst/>
                <a:latin typeface="+mn-lt"/>
                <a:ea typeface="+mn-ea"/>
                <a:cs typeface="+mn-cs"/>
              </a:rPr>
              <a:t>Scaling Laws</a:t>
            </a:r>
            <a:r>
              <a:rPr lang="zh-CN" altLang="en-US" sz="1200" b="1"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 这种架构对参数量的扩大极其敏感，随着堆叠层数 </a:t>
            </a:r>
            <a:r>
              <a:rPr lang="en-US" altLang="zh-CN" sz="1200" kern="1200" dirty="0">
                <a:solidFill>
                  <a:schemeClr val="tx1"/>
                </a:solidFill>
                <a:effectLst/>
                <a:latin typeface="+mn-lt"/>
                <a:ea typeface="+mn-ea"/>
                <a:cs typeface="+mn-cs"/>
              </a:rPr>
              <a:t>$d$ </a:t>
            </a:r>
            <a:r>
              <a:rPr lang="zh-CN" altLang="en-US" sz="1200" kern="1200" dirty="0">
                <a:solidFill>
                  <a:schemeClr val="tx1"/>
                </a:solidFill>
                <a:effectLst/>
                <a:latin typeface="+mn-lt"/>
                <a:ea typeface="+mn-ea"/>
                <a:cs typeface="+mn-cs"/>
              </a:rPr>
              <a:t>的增加，模型表现呈现完美的线性提升。”</a:t>
            </a:r>
            <a:endParaRPr lang="zh-CN" altLang="en-US" sz="1200" kern="1200" dirty="0">
              <a:solidFill>
                <a:schemeClr val="tx1"/>
              </a:solidFill>
              <a:effectLst/>
              <a:latin typeface="+mn-lt"/>
              <a:ea typeface="+mn-ea"/>
              <a:cs typeface="+mn-cs"/>
            </a:endParaRPr>
          </a:p>
          <a:p>
            <a:br>
              <a:rPr lang="zh-CN" altLang="en-US" dirty="0"/>
            </a:br>
            <a:endParaRPr lang="zh-CN" altLang="en-US" dirty="0"/>
          </a:p>
          <a:p>
            <a:r>
              <a:rPr lang="zh-CN" altLang="en-US" sz="1200" b="1" kern="1200" dirty="0">
                <a:solidFill>
                  <a:schemeClr val="tx1"/>
                </a:solidFill>
                <a:effectLst/>
                <a:latin typeface="+mn-lt"/>
                <a:ea typeface="+mn-ea"/>
                <a:cs typeface="+mn-cs"/>
              </a:rPr>
              <a:t>第四层：扩散控制逻辑 </a:t>
            </a:r>
            <a:r>
              <a:rPr lang="en-US" altLang="zh-CN" sz="1200" b="1" kern="1200" dirty="0">
                <a:solidFill>
                  <a:schemeClr val="tx1"/>
                </a:solidFill>
                <a:effectLst/>
                <a:latin typeface="+mn-lt"/>
                <a:ea typeface="+mn-ea"/>
                <a:cs typeface="+mn-cs"/>
              </a:rPr>
              <a:t>(Modulation) —— </a:t>
            </a:r>
            <a:r>
              <a:rPr lang="zh-CN" altLang="en-US" sz="1200" b="1" kern="1200" dirty="0">
                <a:solidFill>
                  <a:schemeClr val="tx1"/>
                </a:solidFill>
                <a:effectLst/>
                <a:latin typeface="+mn-lt"/>
                <a:ea typeface="+mn-ea"/>
                <a:cs typeface="+mn-cs"/>
              </a:rPr>
              <a:t>如何训练直线路径</a:t>
            </a:r>
            <a:endParaRPr lang="zh-CN" altLang="en-US" sz="1200" b="1"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最后，讲解那些红色的圈圈（</a:t>
            </a:r>
            <a:r>
              <a:rPr lang="en-US" altLang="zh-CN" sz="1200" kern="1200" dirty="0">
                <a:solidFill>
                  <a:schemeClr val="tx1"/>
                </a:solidFill>
                <a:effectLst/>
                <a:latin typeface="+mn-lt"/>
                <a:ea typeface="+mn-ea"/>
                <a:cs typeface="+mn-cs"/>
              </a:rPr>
              <a:t>$\alpha, \beta, \gamma \dots$</a:t>
            </a:r>
            <a:r>
              <a:rPr lang="zh-CN" altLang="en-US" sz="1200" kern="1200" dirty="0">
                <a:solidFill>
                  <a:schemeClr val="tx1"/>
                </a:solidFill>
                <a:effectLst/>
                <a:latin typeface="+mn-lt"/>
                <a:ea typeface="+mn-ea"/>
                <a:cs typeface="+mn-cs"/>
              </a:rPr>
              <a:t>），这是 </a:t>
            </a:r>
            <a:r>
              <a:rPr lang="en-US" altLang="zh-CN" sz="1200" kern="1200" dirty="0" err="1">
                <a:solidFill>
                  <a:schemeClr val="tx1"/>
                </a:solidFill>
                <a:effectLst/>
                <a:latin typeface="+mn-lt"/>
                <a:ea typeface="+mn-ea"/>
                <a:cs typeface="+mn-cs"/>
              </a:rPr>
              <a:t>DiT</a:t>
            </a:r>
            <a:r>
              <a:rPr lang="en-US" altLang="zh-CN" sz="1200" kern="1200" dirty="0">
                <a:solidFill>
                  <a:schemeClr val="tx1"/>
                </a:solidFill>
                <a:effectLst/>
                <a:latin typeface="+mn-lt"/>
                <a:ea typeface="+mn-ea"/>
                <a:cs typeface="+mn-cs"/>
              </a:rPr>
              <a:t> </a:t>
            </a:r>
            <a:r>
              <a:rPr lang="zh-CN" altLang="en-US" sz="1200" kern="1200" dirty="0">
                <a:solidFill>
                  <a:schemeClr val="tx1"/>
                </a:solidFill>
                <a:effectLst/>
                <a:latin typeface="+mn-lt"/>
                <a:ea typeface="+mn-ea"/>
                <a:cs typeface="+mn-cs"/>
              </a:rPr>
              <a:t>能够作为扩散模型的关键。要结合你之前讲的 </a:t>
            </a:r>
            <a:r>
              <a:rPr lang="en-US" altLang="zh-CN" sz="1200" kern="1200" dirty="0">
                <a:solidFill>
                  <a:schemeClr val="tx1"/>
                </a:solidFill>
                <a:effectLst/>
                <a:latin typeface="+mn-lt"/>
                <a:ea typeface="+mn-ea"/>
                <a:cs typeface="+mn-cs"/>
              </a:rPr>
              <a:t>Flow Matching (Rectified Flow)</a:t>
            </a:r>
            <a:r>
              <a:rPr lang="zh-CN" altLang="en-US" sz="1200" kern="1200" dirty="0">
                <a:solidFill>
                  <a:schemeClr val="tx1"/>
                </a:solidFill>
                <a:effectLst/>
                <a:latin typeface="+mn-lt"/>
                <a:ea typeface="+mn-ea"/>
                <a:cs typeface="+mn-cs"/>
              </a:rPr>
              <a:t>。</a:t>
            </a:r>
            <a:endParaRPr lang="zh-CN" altLang="en-US" sz="1200" kern="1200" dirty="0">
              <a:solidFill>
                <a:schemeClr val="tx1"/>
              </a:solidFill>
              <a:effectLst/>
              <a:latin typeface="+mn-lt"/>
              <a:ea typeface="+mn-ea"/>
              <a:cs typeface="+mn-cs"/>
            </a:endParaRPr>
          </a:p>
          <a:p>
            <a:r>
              <a:rPr lang="zh-CN" altLang="en-US" sz="1200" b="1" kern="1200" dirty="0">
                <a:solidFill>
                  <a:schemeClr val="tx1"/>
                </a:solidFill>
                <a:effectLst/>
                <a:latin typeface="+mn-lt"/>
                <a:ea typeface="+mn-ea"/>
                <a:cs typeface="+mn-cs"/>
              </a:rPr>
              <a:t>讲解话术：</a:t>
            </a:r>
            <a:endParaRPr lang="zh-CN" altLang="en-US"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“最后，我们来关注网络是如何接收‘现在去噪到哪一步了’这个信息的，也就是那些红色的圈圈：</a:t>
            </a:r>
            <a:r>
              <a:rPr lang="en-US" altLang="zh-CN" sz="1200" b="1" kern="1200" dirty="0">
                <a:solidFill>
                  <a:schemeClr val="tx1"/>
                </a:solidFill>
                <a:effectLst/>
                <a:latin typeface="+mn-lt"/>
                <a:ea typeface="+mn-ea"/>
                <a:cs typeface="+mn-cs"/>
              </a:rPr>
              <a:t>Modulation</a:t>
            </a:r>
            <a:r>
              <a:rPr lang="zh-CN" altLang="en-US" sz="1200" b="1" kern="1200" dirty="0">
                <a:solidFill>
                  <a:schemeClr val="tx1"/>
                </a:solidFill>
                <a:effectLst/>
                <a:latin typeface="+mn-lt"/>
                <a:ea typeface="+mn-ea"/>
                <a:cs typeface="+mn-cs"/>
              </a:rPr>
              <a:t>（调制）层</a:t>
            </a:r>
            <a:r>
              <a:rPr lang="zh-CN" altLang="en-US" sz="1200" kern="1200" dirty="0">
                <a:solidFill>
                  <a:schemeClr val="tx1"/>
                </a:solidFill>
                <a:effectLst/>
                <a:latin typeface="+mn-lt"/>
                <a:ea typeface="+mn-ea"/>
                <a:cs typeface="+mn-cs"/>
              </a:rPr>
              <a:t>。</a:t>
            </a:r>
            <a:endParaRPr lang="zh-CN" altLang="en-US"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这对应了 </a:t>
            </a:r>
            <a:r>
              <a:rPr lang="en-US" altLang="zh-CN" sz="1200" kern="1200" dirty="0" err="1">
                <a:solidFill>
                  <a:schemeClr val="tx1"/>
                </a:solidFill>
                <a:effectLst/>
                <a:latin typeface="+mn-lt"/>
                <a:ea typeface="+mn-ea"/>
                <a:cs typeface="+mn-cs"/>
              </a:rPr>
              <a:t>DiT</a:t>
            </a:r>
            <a:r>
              <a:rPr lang="en-US" altLang="zh-CN" sz="1200" kern="1200" dirty="0">
                <a:solidFill>
                  <a:schemeClr val="tx1"/>
                </a:solidFill>
                <a:effectLst/>
                <a:latin typeface="+mn-lt"/>
                <a:ea typeface="+mn-ea"/>
                <a:cs typeface="+mn-cs"/>
              </a:rPr>
              <a:t> </a:t>
            </a:r>
            <a:r>
              <a:rPr lang="zh-CN" altLang="en-US" sz="1200" kern="1200" dirty="0">
                <a:solidFill>
                  <a:schemeClr val="tx1"/>
                </a:solidFill>
                <a:effectLst/>
                <a:latin typeface="+mn-lt"/>
                <a:ea typeface="+mn-ea"/>
                <a:cs typeface="+mn-cs"/>
              </a:rPr>
              <a:t>论文中的 </a:t>
            </a:r>
            <a:r>
              <a:rPr lang="en-US" altLang="zh-CN" sz="1200" b="1" kern="1200" dirty="0" err="1">
                <a:solidFill>
                  <a:schemeClr val="tx1"/>
                </a:solidFill>
                <a:effectLst/>
                <a:latin typeface="+mn-lt"/>
                <a:ea typeface="+mn-ea"/>
                <a:cs typeface="+mn-cs"/>
              </a:rPr>
              <a:t>adaLN</a:t>
            </a:r>
            <a:r>
              <a:rPr lang="en-US" altLang="zh-CN" sz="1200" b="1" kern="1200" dirty="0">
                <a:solidFill>
                  <a:schemeClr val="tx1"/>
                </a:solidFill>
                <a:effectLst/>
                <a:latin typeface="+mn-lt"/>
                <a:ea typeface="+mn-ea"/>
                <a:cs typeface="+mn-cs"/>
              </a:rPr>
              <a:t>-Zero (Adaptive </a:t>
            </a:r>
            <a:r>
              <a:rPr lang="en-US" altLang="zh-CN" sz="1200" b="1" kern="1200" dirty="0" err="1">
                <a:solidFill>
                  <a:schemeClr val="tx1"/>
                </a:solidFill>
                <a:effectLst/>
                <a:latin typeface="+mn-lt"/>
                <a:ea typeface="+mn-ea"/>
                <a:cs typeface="+mn-cs"/>
              </a:rPr>
              <a:t>LayerNorm</a:t>
            </a:r>
            <a:r>
              <a:rPr lang="en-US" altLang="zh-CN" sz="1200" b="1" kern="1200" dirty="0">
                <a:solidFill>
                  <a:schemeClr val="tx1"/>
                </a:solidFill>
                <a:effectLst/>
                <a:latin typeface="+mn-lt"/>
                <a:ea typeface="+mn-ea"/>
                <a:cs typeface="+mn-cs"/>
              </a:rPr>
              <a:t> with Zero Initialization)</a:t>
            </a:r>
            <a:r>
              <a:rPr lang="zh-CN" altLang="en-US" sz="1200" kern="1200" dirty="0">
                <a:solidFill>
                  <a:schemeClr val="tx1"/>
                </a:solidFill>
                <a:effectLst/>
                <a:latin typeface="+mn-lt"/>
                <a:ea typeface="+mn-ea"/>
                <a:cs typeface="+mn-cs"/>
              </a:rPr>
              <a:t> 技术。我们将融合了时间步和全局语义的向量 </a:t>
            </a:r>
            <a:r>
              <a:rPr lang="en-US" altLang="zh-CN" sz="1200" kern="1200" dirty="0">
                <a:solidFill>
                  <a:schemeClr val="tx1"/>
                </a:solidFill>
                <a:effectLst/>
                <a:latin typeface="+mn-lt"/>
                <a:ea typeface="+mn-ea"/>
                <a:cs typeface="+mn-cs"/>
              </a:rPr>
              <a:t>$y/t$</a:t>
            </a:r>
            <a:r>
              <a:rPr lang="zh-CN" altLang="en-US" sz="1200" kern="1200" dirty="0">
                <a:solidFill>
                  <a:schemeClr val="tx1"/>
                </a:solidFill>
                <a:effectLst/>
                <a:latin typeface="+mn-lt"/>
                <a:ea typeface="+mn-ea"/>
                <a:cs typeface="+mn-cs"/>
              </a:rPr>
              <a:t>，通过 </a:t>
            </a:r>
            <a:r>
              <a:rPr lang="en-US" altLang="zh-CN" sz="1200" kern="1200" dirty="0">
                <a:solidFill>
                  <a:schemeClr val="tx1"/>
                </a:solidFill>
                <a:effectLst/>
                <a:latin typeface="+mn-lt"/>
                <a:ea typeface="+mn-ea"/>
                <a:cs typeface="+mn-cs"/>
              </a:rPr>
              <a:t>Linear </a:t>
            </a:r>
            <a:r>
              <a:rPr lang="zh-CN" altLang="en-US" sz="1200" kern="1200" dirty="0">
                <a:solidFill>
                  <a:schemeClr val="tx1"/>
                </a:solidFill>
                <a:effectLst/>
                <a:latin typeface="+mn-lt"/>
                <a:ea typeface="+mn-ea"/>
                <a:cs typeface="+mn-cs"/>
              </a:rPr>
              <a:t>层产生一系列缩放（</a:t>
            </a:r>
            <a:r>
              <a:rPr lang="en-US" altLang="zh-CN" sz="1200" kern="1200" dirty="0">
                <a:solidFill>
                  <a:schemeClr val="tx1"/>
                </a:solidFill>
                <a:effectLst/>
                <a:latin typeface="+mn-lt"/>
                <a:ea typeface="+mn-ea"/>
                <a:cs typeface="+mn-cs"/>
              </a:rPr>
              <a:t>Scale, </a:t>
            </a:r>
            <a:r>
              <a:rPr lang="zh-CN" altLang="en-US" sz="1200" kern="1200" dirty="0">
                <a:solidFill>
                  <a:schemeClr val="tx1"/>
                </a:solidFill>
                <a:effectLst/>
                <a:latin typeface="+mn-lt"/>
                <a:ea typeface="+mn-ea"/>
                <a:cs typeface="+mn-cs"/>
              </a:rPr>
              <a:t>即 </a:t>
            </a:r>
            <a:r>
              <a:rPr lang="en-US" altLang="zh-CN" sz="1200" kern="1200" dirty="0">
                <a:solidFill>
                  <a:schemeClr val="tx1"/>
                </a:solidFill>
                <a:effectLst/>
                <a:latin typeface="+mn-lt"/>
                <a:ea typeface="+mn-ea"/>
                <a:cs typeface="+mn-cs"/>
              </a:rPr>
              <a:t>$\alpha, \gamma, \zeta$</a:t>
            </a:r>
            <a:r>
              <a:rPr lang="zh-CN" altLang="en-US" sz="1200" kern="1200" dirty="0">
                <a:solidFill>
                  <a:schemeClr val="tx1"/>
                </a:solidFill>
                <a:effectLst/>
                <a:latin typeface="+mn-lt"/>
                <a:ea typeface="+mn-ea"/>
                <a:cs typeface="+mn-cs"/>
              </a:rPr>
              <a:t>）和平移（</a:t>
            </a:r>
            <a:r>
              <a:rPr lang="en-US" altLang="zh-CN" sz="1200" kern="1200" dirty="0">
                <a:solidFill>
                  <a:schemeClr val="tx1"/>
                </a:solidFill>
                <a:effectLst/>
                <a:latin typeface="+mn-lt"/>
                <a:ea typeface="+mn-ea"/>
                <a:cs typeface="+mn-cs"/>
              </a:rPr>
              <a:t>Shift, </a:t>
            </a:r>
            <a:r>
              <a:rPr lang="zh-CN" altLang="en-US" sz="1200" kern="1200" dirty="0">
                <a:solidFill>
                  <a:schemeClr val="tx1"/>
                </a:solidFill>
                <a:effectLst/>
                <a:latin typeface="+mn-lt"/>
                <a:ea typeface="+mn-ea"/>
                <a:cs typeface="+mn-cs"/>
              </a:rPr>
              <a:t>即 </a:t>
            </a:r>
            <a:r>
              <a:rPr lang="en-US" altLang="zh-CN" sz="1200" kern="1200" dirty="0">
                <a:solidFill>
                  <a:schemeClr val="tx1"/>
                </a:solidFill>
                <a:effectLst/>
                <a:latin typeface="+mn-lt"/>
                <a:ea typeface="+mn-ea"/>
                <a:cs typeface="+mn-cs"/>
              </a:rPr>
              <a:t>$\beta, \delta, \epsilon$</a:t>
            </a:r>
            <a:r>
              <a:rPr lang="zh-CN" altLang="en-US" sz="1200" kern="1200" dirty="0">
                <a:solidFill>
                  <a:schemeClr val="tx1"/>
                </a:solidFill>
                <a:effectLst/>
                <a:latin typeface="+mn-lt"/>
                <a:ea typeface="+mn-ea"/>
                <a:cs typeface="+mn-cs"/>
              </a:rPr>
              <a:t>）参数。</a:t>
            </a:r>
            <a:endParaRPr lang="zh-CN" altLang="en-US"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这些参数会被作用在 </a:t>
            </a:r>
            <a:r>
              <a:rPr lang="en-US" altLang="zh-CN" sz="1200" kern="1200" dirty="0" err="1">
                <a:solidFill>
                  <a:schemeClr val="tx1"/>
                </a:solidFill>
                <a:effectLst/>
                <a:latin typeface="+mn-lt"/>
                <a:ea typeface="+mn-ea"/>
                <a:cs typeface="+mn-cs"/>
              </a:rPr>
              <a:t>LayerNorm</a:t>
            </a:r>
            <a:r>
              <a:rPr lang="en-US" altLang="zh-CN" sz="1200" kern="1200" dirty="0">
                <a:solidFill>
                  <a:schemeClr val="tx1"/>
                </a:solidFill>
                <a:effectLst/>
                <a:latin typeface="+mn-lt"/>
                <a:ea typeface="+mn-ea"/>
                <a:cs typeface="+mn-cs"/>
              </a:rPr>
              <a:t> </a:t>
            </a:r>
            <a:r>
              <a:rPr lang="zh-CN" altLang="en-US" sz="1200" kern="1200" dirty="0">
                <a:solidFill>
                  <a:schemeClr val="tx1"/>
                </a:solidFill>
                <a:effectLst/>
                <a:latin typeface="+mn-lt"/>
                <a:ea typeface="+mn-ea"/>
                <a:cs typeface="+mn-cs"/>
              </a:rPr>
              <a:t>之后、</a:t>
            </a:r>
            <a:r>
              <a:rPr lang="en-US" altLang="zh-CN" sz="1200" kern="1200" dirty="0">
                <a:solidFill>
                  <a:schemeClr val="tx1"/>
                </a:solidFill>
                <a:effectLst/>
                <a:latin typeface="+mn-lt"/>
                <a:ea typeface="+mn-ea"/>
                <a:cs typeface="+mn-cs"/>
              </a:rPr>
              <a:t>Attention </a:t>
            </a:r>
            <a:r>
              <a:rPr lang="zh-CN" altLang="en-US" sz="1200" kern="1200" dirty="0">
                <a:solidFill>
                  <a:schemeClr val="tx1"/>
                </a:solidFill>
                <a:effectLst/>
                <a:latin typeface="+mn-lt"/>
                <a:ea typeface="+mn-ea"/>
                <a:cs typeface="+mn-cs"/>
              </a:rPr>
              <a:t>和 </a:t>
            </a:r>
            <a:r>
              <a:rPr lang="en-US" altLang="zh-CN" sz="1200" kern="1200" dirty="0">
                <a:solidFill>
                  <a:schemeClr val="tx1"/>
                </a:solidFill>
                <a:effectLst/>
                <a:latin typeface="+mn-lt"/>
                <a:ea typeface="+mn-ea"/>
                <a:cs typeface="+mn-cs"/>
              </a:rPr>
              <a:t>MLP </a:t>
            </a:r>
            <a:r>
              <a:rPr lang="zh-CN" altLang="en-US" sz="1200" kern="1200" dirty="0">
                <a:solidFill>
                  <a:schemeClr val="tx1"/>
                </a:solidFill>
                <a:effectLst/>
                <a:latin typeface="+mn-lt"/>
                <a:ea typeface="+mn-ea"/>
                <a:cs typeface="+mn-cs"/>
              </a:rPr>
              <a:t>之前</a:t>
            </a:r>
            <a:r>
              <a:rPr lang="en-US"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后。</a:t>
            </a:r>
            <a:endParaRPr lang="zh-CN" altLang="en-US" sz="1200" kern="1200" dirty="0">
              <a:solidFill>
                <a:schemeClr val="tx1"/>
              </a:solidFill>
              <a:effectLst/>
              <a:latin typeface="+mn-lt"/>
              <a:ea typeface="+mn-ea"/>
              <a:cs typeface="+mn-cs"/>
            </a:endParaRPr>
          </a:p>
          <a:p>
            <a:r>
              <a:rPr lang="zh-CN" altLang="en-US" sz="1200" b="1" kern="1200" dirty="0">
                <a:solidFill>
                  <a:schemeClr val="tx1"/>
                </a:solidFill>
                <a:effectLst/>
                <a:latin typeface="+mn-lt"/>
                <a:ea typeface="+mn-ea"/>
                <a:cs typeface="+mn-cs"/>
              </a:rPr>
              <a:t>它的物理意义是：</a:t>
            </a:r>
            <a:r>
              <a:rPr lang="zh-CN" altLang="en-US" sz="1200" kern="1200" dirty="0">
                <a:solidFill>
                  <a:schemeClr val="tx1"/>
                </a:solidFill>
                <a:effectLst/>
                <a:latin typeface="+mn-lt"/>
                <a:ea typeface="+mn-ea"/>
                <a:cs typeface="+mn-cs"/>
              </a:rPr>
              <a:t> 文本条件和时间步，会动态地去‘调制’神经网络中神经元的激活状态，从而控制模型在当前时间步应该往哪个方向去噪。</a:t>
            </a:r>
            <a:endParaRPr lang="zh-CN" altLang="en-US"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配合我们之前提到的 </a:t>
            </a:r>
            <a:r>
              <a:rPr lang="en-US" altLang="zh-CN" sz="1200" b="1" kern="1200" dirty="0">
                <a:solidFill>
                  <a:schemeClr val="tx1"/>
                </a:solidFill>
                <a:effectLst/>
                <a:latin typeface="+mn-lt"/>
                <a:ea typeface="+mn-ea"/>
                <a:cs typeface="+mn-cs"/>
              </a:rPr>
              <a:t>Flow Matching (Rectified Flow)</a:t>
            </a:r>
            <a:r>
              <a:rPr lang="zh-CN" altLang="en-US" sz="1200" kern="1200" dirty="0">
                <a:solidFill>
                  <a:schemeClr val="tx1"/>
                </a:solidFill>
                <a:effectLst/>
                <a:latin typeface="+mn-lt"/>
                <a:ea typeface="+mn-ea"/>
                <a:cs typeface="+mn-cs"/>
              </a:rPr>
              <a:t> 数学范式，这些动态参数确保了模型在每一次推理计算时，都在沿着从噪声到数据的直线路径（</a:t>
            </a:r>
            <a:r>
              <a:rPr lang="en-US" altLang="zh-CN" sz="1200" kern="1200" dirty="0">
                <a:solidFill>
                  <a:schemeClr val="tx1"/>
                </a:solidFill>
                <a:effectLst/>
                <a:latin typeface="+mn-lt"/>
                <a:ea typeface="+mn-ea"/>
                <a:cs typeface="+mn-cs"/>
              </a:rPr>
              <a:t>Straight Line</a:t>
            </a:r>
            <a:r>
              <a:rPr lang="zh-CN" altLang="en-US" sz="1200" kern="1200" dirty="0">
                <a:solidFill>
                  <a:schemeClr val="tx1"/>
                </a:solidFill>
                <a:effectLst/>
                <a:latin typeface="+mn-lt"/>
                <a:ea typeface="+mn-ea"/>
                <a:cs typeface="+mn-cs"/>
              </a:rPr>
              <a:t>）移动，从而极大地提高了采样的稳定性和效率。”</a:t>
            </a:r>
            <a:endParaRPr lang="zh-CN" altLang="en-US"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B4AC3B35-2A78-4970-B85C-E076431EEB48}"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扩散模型是一类强大的生成式框架。在无条件生成场景中，其目标是学习数据分布 </a:t>
            </a:r>
            <a:endParaRPr lang="zh-CN" altLang="en-US" dirty="0"/>
          </a:p>
          <a:p>
            <a:r>
              <a:rPr lang="en-US" altLang="zh-CN" dirty="0"/>
              <a:t>p </a:t>
            </a:r>
            <a:endParaRPr lang="en-US" altLang="zh-CN" dirty="0"/>
          </a:p>
          <a:p>
            <a:r>
              <a:rPr lang="en-US" altLang="zh-CN" dirty="0"/>
              <a:t>data</a:t>
            </a:r>
            <a:endParaRPr lang="en-US" altLang="zh-CN" dirty="0"/>
          </a:p>
          <a:p>
            <a:r>
              <a:rPr lang="en-US" altLang="zh-CN" dirty="0"/>
              <a:t>​</a:t>
            </a:r>
            <a:endParaRPr lang="en-US" altLang="zh-CN" dirty="0"/>
          </a:p>
          <a:p>
            <a:r>
              <a:rPr lang="en-US" altLang="zh-CN" dirty="0"/>
              <a:t> (x)</a:t>
            </a:r>
            <a:endParaRPr lang="en-US" altLang="zh-CN" dirty="0"/>
          </a:p>
          <a:p>
            <a:r>
              <a:rPr lang="zh-CN" altLang="en-US" dirty="0"/>
              <a:t>，并在无需外部输入的情况下生成样本。</a:t>
            </a:r>
            <a:endParaRPr lang="zh-CN" altLang="en-US" dirty="0"/>
          </a:p>
          <a:p>
            <a:r>
              <a:rPr lang="zh-CN" altLang="en-US" dirty="0"/>
              <a:t>然而，许多应用场景需要条件生成，即生成结果需满足用户指定的约束条件。这一目标可通过引导无条件模型实现，也可直接学习条件分布 </a:t>
            </a:r>
            <a:endParaRPr lang="zh-CN" altLang="en-US" dirty="0"/>
          </a:p>
          <a:p>
            <a:r>
              <a:rPr lang="en-US" altLang="zh-CN" dirty="0"/>
              <a:t>p </a:t>
            </a:r>
            <a:endParaRPr lang="en-US" altLang="zh-CN" dirty="0"/>
          </a:p>
          <a:p>
            <a:r>
              <a:rPr lang="en-US" altLang="zh-CN" dirty="0"/>
              <a:t>0</a:t>
            </a:r>
            <a:endParaRPr lang="en-US" altLang="zh-CN" dirty="0"/>
          </a:p>
          <a:p>
            <a:r>
              <a:rPr lang="en-US" altLang="zh-CN" dirty="0"/>
              <a:t>​</a:t>
            </a:r>
            <a:endParaRPr lang="en-US" altLang="zh-CN" dirty="0"/>
          </a:p>
          <a:p>
            <a:r>
              <a:rPr lang="en-US" altLang="zh-CN" dirty="0"/>
              <a:t> (</a:t>
            </a:r>
            <a:r>
              <a:rPr lang="en-US" altLang="zh-CN" dirty="0" err="1"/>
              <a:t>x∣c</a:t>
            </a:r>
            <a:r>
              <a:rPr lang="en-US" altLang="zh-CN" dirty="0"/>
              <a:t>)</a:t>
            </a:r>
            <a:endParaRPr lang="en-US" altLang="zh-CN" dirty="0"/>
          </a:p>
          <a:p>
            <a:r>
              <a:rPr lang="zh-CN" altLang="en-US" dirty="0"/>
              <a:t>，其中条件 </a:t>
            </a:r>
            <a:endParaRPr lang="zh-CN" altLang="en-US" dirty="0"/>
          </a:p>
          <a:p>
            <a:r>
              <a:rPr lang="en-US" altLang="zh-CN" dirty="0"/>
              <a:t>c</a:t>
            </a:r>
            <a:endParaRPr lang="en-US" altLang="zh-CN" dirty="0"/>
          </a:p>
          <a:p>
            <a:r>
              <a:rPr lang="zh-CN" altLang="en-US" dirty="0"/>
              <a:t>（如标签、文本描述或草图）会对生成过程进行引导。</a:t>
            </a:r>
            <a:endParaRPr lang="zh-CN" altLang="en-US" dirty="0"/>
          </a:p>
          <a:p>
            <a:r>
              <a:rPr lang="zh-CN" altLang="en-US" dirty="0"/>
              <a:t>本章基于对条件得分函数的系统性理论视角展开论述，该得分函数可分解为无条件方向与引导方向，后者在保证生成结果真实感的同时，推动样本向满足条件的方向靠拢。我们将阐述引导机制的必要性，说明条件得分函数如何作为统一的控制接口，并梳理近似引导项的各类方法。随后，我们区分控制（满足给定条件）与对齐（在给定条件下契合人类偏好），并介绍如何将人类偏好融入同一框架。最后，我们探讨无需额外奖励模型（即训练一个能为更贴合人类偏好的输出赋予更高分值的评分器）即可直接优化偏好的方法。</a:t>
            </a:r>
            <a:endParaRPr lang="zh-CN" altLang="en-US" dirty="0"/>
          </a:p>
        </p:txBody>
      </p:sp>
      <p:sp>
        <p:nvSpPr>
          <p:cNvPr id="4" name="灯片编号占位符 3"/>
          <p:cNvSpPr>
            <a:spLocks noGrp="1"/>
          </p:cNvSpPr>
          <p:nvPr>
            <p:ph type="sldNum" sz="quarter" idx="5"/>
          </p:nvPr>
        </p:nvSpPr>
        <p:spPr/>
        <p:txBody>
          <a:bodyPr/>
          <a:lstStyle/>
          <a:p>
            <a:fld id="{B4AC3B35-2A78-4970-B85C-E076431EEB48}"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令 </a:t>
            </a:r>
            <a:r>
              <a:rPr lang="en-US" altLang="zh-CN" dirty="0"/>
              <a:t>c </a:t>
            </a:r>
            <a:r>
              <a:rPr lang="zh-CN" altLang="en-US" dirty="0"/>
              <a:t>表示从分布 </a:t>
            </a:r>
            <a:r>
              <a:rPr lang="en-US" altLang="zh-CN" dirty="0"/>
              <a:t>p(c) </a:t>
            </a:r>
            <a:r>
              <a:rPr lang="zh-CN" altLang="en-US" dirty="0"/>
              <a:t>中采样的条件变量，例如类别标签、描述文本或其他辅助信息。我们的目标是从 </a:t>
            </a:r>
            <a:r>
              <a:rPr lang="en-US" altLang="zh-CN" dirty="0"/>
              <a:t>p0​(</a:t>
            </a:r>
            <a:r>
              <a:rPr lang="en-US" altLang="zh-CN" dirty="0" err="1"/>
              <a:t>x∣c</a:t>
            </a:r>
            <a:r>
              <a:rPr lang="en-US" altLang="zh-CN" dirty="0"/>
              <a:t>) </a:t>
            </a:r>
            <a:r>
              <a:rPr lang="zh-CN" altLang="en-US" dirty="0"/>
              <a:t>中采样。在基于扩散的条件生成中，我们通过运行逆时动力学来实现这一目标，其时间边际分布为 </a:t>
            </a:r>
            <a:r>
              <a:rPr lang="en-US" altLang="zh-CN" dirty="0"/>
              <a:t>pt​(⋅∣c)</a:t>
            </a:r>
            <a:r>
              <a:rPr lang="zh-CN" altLang="en-US" dirty="0"/>
              <a:t>。这些动力学的漂移项依赖于条件得分：</a:t>
            </a:r>
            <a:br>
              <a:rPr lang="en-US" altLang="zh-CN" dirty="0"/>
            </a:br>
            <a:endParaRPr lang="zh-CN" altLang="en-US" dirty="0"/>
          </a:p>
        </p:txBody>
      </p:sp>
      <p:sp>
        <p:nvSpPr>
          <p:cNvPr id="4" name="灯片编号占位符 3"/>
          <p:cNvSpPr>
            <a:spLocks noGrp="1"/>
          </p:cNvSpPr>
          <p:nvPr>
            <p:ph type="sldNum" sz="quarter" idx="5"/>
          </p:nvPr>
        </p:nvSpPr>
        <p:spPr/>
        <p:txBody>
          <a:bodyPr/>
          <a:lstStyle/>
          <a:p>
            <a:fld id="{B4AC3B35-2A78-4970-B85C-E076431EEB48}" type="slidenum">
              <a:rPr lang="zh-CN" altLang="en-US" smtClean="0"/>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这种分解启发了 </a:t>
            </a:r>
            <a:r>
              <a:rPr lang="en-US" altLang="zh-CN" dirty="0"/>
              <a:t>Dhariwal </a:t>
            </a:r>
            <a:r>
              <a:rPr lang="zh-CN" altLang="en-US" dirty="0"/>
              <a:t>和 </a:t>
            </a:r>
            <a:r>
              <a:rPr lang="en-US" altLang="zh-CN" dirty="0"/>
              <a:t>Nichol</a:t>
            </a:r>
            <a:r>
              <a:rPr lang="zh-CN" altLang="en-US" dirty="0"/>
              <a:t>（</a:t>
            </a:r>
            <a:r>
              <a:rPr lang="en-US" altLang="zh-CN" dirty="0"/>
              <a:t>2021</a:t>
            </a:r>
            <a:r>
              <a:rPr lang="zh-CN" altLang="en-US" dirty="0"/>
              <a:t>）提出的 ** 分类器引导（</a:t>
            </a:r>
            <a:r>
              <a:rPr lang="en-US" altLang="zh-CN" dirty="0"/>
              <a:t>CG</a:t>
            </a:r>
            <a:r>
              <a:rPr lang="zh-CN" altLang="en-US" dirty="0"/>
              <a:t>）** 方法，该方法利用预训练的时变分类器 </a:t>
            </a:r>
            <a:r>
              <a:rPr lang="en-US" altLang="zh-CN" sz="1200" b="0" kern="1200" dirty="0">
                <a:solidFill>
                  <a:schemeClr val="tx1"/>
                </a:solidFill>
                <a:effectLst/>
                <a:latin typeface="+mn-lt"/>
                <a:ea typeface="+mn-ea"/>
                <a:cs typeface="+mn-cs"/>
              </a:rPr>
              <a:t>pt​(</a:t>
            </a:r>
            <a:r>
              <a:rPr lang="en-US" altLang="zh-CN" sz="1200" b="0" kern="1200" dirty="0" err="1">
                <a:solidFill>
                  <a:schemeClr val="tx1"/>
                </a:solidFill>
                <a:effectLst/>
                <a:latin typeface="+mn-lt"/>
                <a:ea typeface="+mn-ea"/>
                <a:cs typeface="+mn-cs"/>
              </a:rPr>
              <a:t>c∣xt</a:t>
            </a:r>
            <a:r>
              <a:rPr lang="en-US" altLang="zh-CN" sz="1200" b="0" kern="1200" dirty="0">
                <a:solidFill>
                  <a:schemeClr val="tx1"/>
                </a:solidFill>
                <a:effectLst/>
                <a:latin typeface="+mn-lt"/>
                <a:ea typeface="+mn-ea"/>
                <a:cs typeface="+mn-cs"/>
              </a:rPr>
              <a:t>​)</a:t>
            </a:r>
            <a:r>
              <a:rPr lang="zh-CN" altLang="en-US" dirty="0"/>
              <a:t> 来引导生成过程。具体而言，我们定义一个单参数族的引导密度（倾斜条件分布），引导尺度为 </a:t>
            </a:r>
            <a:r>
              <a:rPr lang="en-US" altLang="zh-CN" sz="1200" b="0" kern="1200" dirty="0">
                <a:solidFill>
                  <a:schemeClr val="tx1"/>
                </a:solidFill>
                <a:effectLst/>
                <a:latin typeface="+mn-lt"/>
                <a:ea typeface="+mn-ea"/>
                <a:cs typeface="+mn-cs"/>
              </a:rPr>
              <a:t>ω≥0</a:t>
            </a:r>
            <a:r>
              <a:rPr lang="zh-CN" altLang="en-US" dirty="0"/>
              <a:t>：</a:t>
            </a:r>
            <a:br>
              <a:rPr lang="en-US" altLang="zh-CN" dirty="0"/>
            </a:br>
            <a:r>
              <a:rPr lang="zh-CN" altLang="en-US" dirty="0"/>
              <a:t>由此得到得分函数：</a:t>
            </a:r>
            <a:br>
              <a:rPr lang="en-US" altLang="zh-CN" dirty="0"/>
            </a:br>
            <a:r>
              <a:rPr lang="zh-CN" altLang="en-US" sz="1200" b="0" kern="1200" dirty="0">
                <a:solidFill>
                  <a:schemeClr val="tx1"/>
                </a:solidFill>
                <a:effectLst/>
                <a:latin typeface="+mn-lt"/>
                <a:ea typeface="+mn-ea"/>
                <a:cs typeface="+mn-cs"/>
              </a:rPr>
              <a:t>从几何角度看，这会将无条件流向</a:t>
            </a:r>
            <a:r>
              <a:rPr lang="zh-CN" altLang="en-US" sz="1200" b="1" kern="1200" dirty="0">
                <a:solidFill>
                  <a:schemeClr val="tx1"/>
                </a:solidFill>
                <a:effectLst/>
                <a:latin typeface="+mn-lt"/>
                <a:ea typeface="+mn-ea"/>
                <a:cs typeface="+mn-cs"/>
              </a:rPr>
              <a:t>提升类别似然</a:t>
            </a:r>
            <a:r>
              <a:rPr lang="zh-CN" altLang="en-US" sz="1200" b="0" kern="1200" dirty="0">
                <a:solidFill>
                  <a:schemeClr val="tx1"/>
                </a:solidFill>
                <a:effectLst/>
                <a:latin typeface="+mn-lt"/>
                <a:ea typeface="+mn-ea"/>
                <a:cs typeface="+mn-cs"/>
              </a:rPr>
              <a:t>的方向倾斜。当 </a:t>
            </a:r>
            <a:r>
              <a:rPr lang="en-US" altLang="zh-CN" sz="1200" b="0" kern="1200" dirty="0">
                <a:solidFill>
                  <a:schemeClr val="tx1"/>
                </a:solidFill>
                <a:effectLst/>
                <a:latin typeface="+mn-lt"/>
                <a:ea typeface="+mn-ea"/>
                <a:cs typeface="+mn-cs"/>
              </a:rPr>
              <a:t>ω=1</a:t>
            </a:r>
            <a:r>
              <a:rPr lang="zh-CN" altLang="en-US" sz="1200" b="0" kern="1200" dirty="0">
                <a:solidFill>
                  <a:schemeClr val="tx1"/>
                </a:solidFill>
                <a:effectLst/>
                <a:latin typeface="+mn-lt"/>
                <a:ea typeface="+mn-ea"/>
                <a:cs typeface="+mn-cs"/>
              </a:rPr>
              <a:t> 时，</a:t>
            </a:r>
            <a:r>
              <a:rPr lang="en-US" altLang="zh-CN" sz="1200" b="0" kern="1200" dirty="0">
                <a:solidFill>
                  <a:schemeClr val="tx1"/>
                </a:solidFill>
                <a:effectLst/>
                <a:latin typeface="+mn-lt"/>
                <a:ea typeface="+mn-ea"/>
                <a:cs typeface="+mn-cs"/>
              </a:rPr>
              <a:t>pt​(</a:t>
            </a:r>
            <a:r>
              <a:rPr lang="en-US" altLang="zh-CN" sz="1200" b="0" kern="1200" dirty="0" err="1">
                <a:solidFill>
                  <a:schemeClr val="tx1"/>
                </a:solidFill>
                <a:effectLst/>
                <a:latin typeface="+mn-lt"/>
                <a:ea typeface="+mn-ea"/>
                <a:cs typeface="+mn-cs"/>
              </a:rPr>
              <a:t>xt</a:t>
            </a:r>
            <a:r>
              <a:rPr lang="en-US" altLang="zh-CN" sz="1200" b="0" kern="1200" dirty="0">
                <a:solidFill>
                  <a:schemeClr val="tx1"/>
                </a:solidFill>
                <a:effectLst/>
                <a:latin typeface="+mn-lt"/>
                <a:ea typeface="+mn-ea"/>
                <a:cs typeface="+mn-cs"/>
              </a:rPr>
              <a:t>​∣</a:t>
            </a:r>
            <a:r>
              <a:rPr lang="en-US" altLang="zh-CN" sz="1200" b="0" kern="1200" dirty="0" err="1">
                <a:solidFill>
                  <a:schemeClr val="tx1"/>
                </a:solidFill>
                <a:effectLst/>
                <a:latin typeface="+mn-lt"/>
                <a:ea typeface="+mn-ea"/>
                <a:cs typeface="+mn-cs"/>
              </a:rPr>
              <a:t>c,ω</a:t>
            </a:r>
            <a:r>
              <a:rPr lang="en-US" altLang="zh-CN" sz="1200" b="0"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 与真实条件分布 </a:t>
            </a:r>
            <a:r>
              <a:rPr lang="en-US" altLang="zh-CN" sz="1200" b="0" kern="1200" dirty="0">
                <a:solidFill>
                  <a:schemeClr val="tx1"/>
                </a:solidFill>
                <a:effectLst/>
                <a:latin typeface="+mn-lt"/>
                <a:ea typeface="+mn-ea"/>
                <a:cs typeface="+mn-cs"/>
              </a:rPr>
              <a:t>pt​(</a:t>
            </a:r>
            <a:r>
              <a:rPr lang="en-US" altLang="zh-CN" sz="1200" b="0" kern="1200" dirty="0" err="1">
                <a:solidFill>
                  <a:schemeClr val="tx1"/>
                </a:solidFill>
                <a:effectLst/>
                <a:latin typeface="+mn-lt"/>
                <a:ea typeface="+mn-ea"/>
                <a:cs typeface="+mn-cs"/>
              </a:rPr>
              <a:t>xt</a:t>
            </a:r>
            <a:r>
              <a:rPr lang="en-US" altLang="zh-CN" sz="1200" b="0" kern="1200" dirty="0">
                <a:solidFill>
                  <a:schemeClr val="tx1"/>
                </a:solidFill>
                <a:effectLst/>
                <a:latin typeface="+mn-lt"/>
                <a:ea typeface="+mn-ea"/>
                <a:cs typeface="+mn-cs"/>
              </a:rPr>
              <a:t>​∣c)</a:t>
            </a:r>
            <a:r>
              <a:rPr lang="zh-CN" altLang="en-US" sz="1200" b="0" kern="1200" dirty="0">
                <a:solidFill>
                  <a:schemeClr val="tx1"/>
                </a:solidFill>
                <a:effectLst/>
                <a:latin typeface="+mn-lt"/>
                <a:ea typeface="+mn-ea"/>
                <a:cs typeface="+mn-cs"/>
              </a:rPr>
              <a:t> 一致；当 </a:t>
            </a:r>
            <a:r>
              <a:rPr lang="en-US" altLang="zh-CN" sz="1200" b="0" kern="1200" dirty="0">
                <a:solidFill>
                  <a:schemeClr val="tx1"/>
                </a:solidFill>
                <a:effectLst/>
                <a:latin typeface="+mn-lt"/>
                <a:ea typeface="+mn-ea"/>
                <a:cs typeface="+mn-cs"/>
              </a:rPr>
              <a:t>ω=1</a:t>
            </a:r>
            <a:r>
              <a:rPr lang="zh-CN" altLang="en-US" sz="1200" b="0" kern="1200" dirty="0">
                <a:solidFill>
                  <a:schemeClr val="tx1"/>
                </a:solidFill>
                <a:effectLst/>
                <a:latin typeface="+mn-lt"/>
                <a:ea typeface="+mn-ea"/>
                <a:cs typeface="+mn-cs"/>
              </a:rPr>
              <a:t> 时，它是一种引导（退火）重加权，而非字面意义上的条件分布。</a:t>
            </a: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标量 </a:t>
            </a:r>
            <a:r>
              <a:rPr lang="en-US" altLang="zh-CN" sz="1200" b="0" kern="1200" dirty="0">
                <a:solidFill>
                  <a:schemeClr val="tx1"/>
                </a:solidFill>
                <a:effectLst/>
                <a:latin typeface="+mn-lt"/>
                <a:ea typeface="+mn-ea"/>
                <a:cs typeface="+mn-cs"/>
              </a:rPr>
              <a:t>ω≥0</a:t>
            </a:r>
            <a:r>
              <a:rPr lang="zh-CN" altLang="en-US" sz="1200" b="0" kern="1200" dirty="0">
                <a:solidFill>
                  <a:schemeClr val="tx1"/>
                </a:solidFill>
                <a:effectLst/>
                <a:latin typeface="+mn-lt"/>
                <a:ea typeface="+mn-ea"/>
                <a:cs typeface="+mn-cs"/>
              </a:rPr>
              <a:t> 用于调节分类器的影响：</a:t>
            </a:r>
            <a:endParaRPr lang="zh-CN" altLang="en-US" sz="1200" b="0" kern="1200" dirty="0">
              <a:solidFill>
                <a:schemeClr val="tx1"/>
              </a:solidFill>
              <a:effectLst/>
              <a:latin typeface="+mn-lt"/>
              <a:ea typeface="+mn-ea"/>
              <a:cs typeface="+mn-cs"/>
            </a:endParaRPr>
          </a:p>
          <a:p>
            <a:r>
              <a:rPr lang="en-US" altLang="zh-CN" sz="1200" b="0" kern="1200" dirty="0">
                <a:solidFill>
                  <a:schemeClr val="tx1"/>
                </a:solidFill>
                <a:effectLst/>
                <a:latin typeface="+mn-lt"/>
                <a:ea typeface="+mn-ea"/>
                <a:cs typeface="+mn-cs"/>
              </a:rPr>
              <a:t>ω=1</a:t>
            </a:r>
            <a:r>
              <a:rPr lang="zh-CN" altLang="en-US" sz="1200" b="0" kern="1200" dirty="0">
                <a:solidFill>
                  <a:schemeClr val="tx1"/>
                </a:solidFill>
                <a:effectLst/>
                <a:latin typeface="+mn-lt"/>
                <a:ea typeface="+mn-ea"/>
                <a:cs typeface="+mn-cs"/>
              </a:rPr>
              <a:t>：恢复真实条件得分 ∇</a:t>
            </a:r>
            <a:r>
              <a:rPr lang="en-US" altLang="zh-CN" sz="1200" b="0" kern="1200" dirty="0" err="1">
                <a:solidFill>
                  <a:schemeClr val="tx1"/>
                </a:solidFill>
                <a:effectLst/>
                <a:latin typeface="+mn-lt"/>
                <a:ea typeface="+mn-ea"/>
                <a:cs typeface="+mn-cs"/>
              </a:rPr>
              <a:t>xt</a:t>
            </a:r>
            <a:r>
              <a:rPr lang="en-US" altLang="zh-CN" sz="1200" b="0" kern="1200" dirty="0">
                <a:solidFill>
                  <a:schemeClr val="tx1"/>
                </a:solidFill>
                <a:effectLst/>
                <a:latin typeface="+mn-lt"/>
                <a:ea typeface="+mn-ea"/>
                <a:cs typeface="+mn-cs"/>
              </a:rPr>
              <a:t>​​</a:t>
            </a:r>
            <a:r>
              <a:rPr lang="en-US" altLang="zh-CN" sz="1200" b="0" kern="1200" dirty="0" err="1">
                <a:solidFill>
                  <a:schemeClr val="tx1"/>
                </a:solidFill>
                <a:effectLst/>
                <a:latin typeface="+mn-lt"/>
                <a:ea typeface="+mn-ea"/>
                <a:cs typeface="+mn-cs"/>
              </a:rPr>
              <a:t>logpt</a:t>
            </a:r>
            <a:r>
              <a:rPr lang="en-US" altLang="zh-CN" sz="1200" b="0" kern="1200" dirty="0">
                <a:solidFill>
                  <a:schemeClr val="tx1"/>
                </a:solidFill>
                <a:effectLst/>
                <a:latin typeface="+mn-lt"/>
                <a:ea typeface="+mn-ea"/>
                <a:cs typeface="+mn-cs"/>
              </a:rPr>
              <a:t>​(</a:t>
            </a:r>
            <a:r>
              <a:rPr lang="en-US" altLang="zh-CN" sz="1200" b="0" kern="1200" dirty="0" err="1">
                <a:solidFill>
                  <a:schemeClr val="tx1"/>
                </a:solidFill>
                <a:effectLst/>
                <a:latin typeface="+mn-lt"/>
                <a:ea typeface="+mn-ea"/>
                <a:cs typeface="+mn-cs"/>
              </a:rPr>
              <a:t>xt</a:t>
            </a:r>
            <a:r>
              <a:rPr lang="en-US" altLang="zh-CN" sz="1200" b="0" kern="1200" dirty="0">
                <a:solidFill>
                  <a:schemeClr val="tx1"/>
                </a:solidFill>
                <a:effectLst/>
                <a:latin typeface="+mn-lt"/>
                <a:ea typeface="+mn-ea"/>
                <a:cs typeface="+mn-cs"/>
              </a:rPr>
              <a:t>​∣c)</a:t>
            </a:r>
            <a:r>
              <a:rPr lang="zh-CN" altLang="en-US" sz="1200" b="0" kern="1200" dirty="0">
                <a:solidFill>
                  <a:schemeClr val="tx1"/>
                </a:solidFill>
                <a:effectLst/>
                <a:latin typeface="+mn-lt"/>
                <a:ea typeface="+mn-ea"/>
                <a:cs typeface="+mn-cs"/>
              </a:rPr>
              <a:t>。</a:t>
            </a:r>
            <a:endParaRPr lang="zh-CN" altLang="en-US" sz="1200" b="0" kern="1200" dirty="0">
              <a:solidFill>
                <a:schemeClr val="tx1"/>
              </a:solidFill>
              <a:effectLst/>
              <a:latin typeface="+mn-lt"/>
              <a:ea typeface="+mn-ea"/>
              <a:cs typeface="+mn-cs"/>
            </a:endParaRPr>
          </a:p>
          <a:p>
            <a:r>
              <a:rPr lang="en-US" altLang="zh-CN" sz="1200" b="0" kern="1200" dirty="0">
                <a:solidFill>
                  <a:schemeClr val="tx1"/>
                </a:solidFill>
                <a:effectLst/>
                <a:latin typeface="+mn-lt"/>
                <a:ea typeface="+mn-ea"/>
                <a:cs typeface="+mn-cs"/>
              </a:rPr>
              <a:t>ω&gt;1</a:t>
            </a:r>
            <a:r>
              <a:rPr lang="zh-CN" altLang="en-US" sz="1200" b="0" kern="1200" dirty="0">
                <a:solidFill>
                  <a:schemeClr val="tx1"/>
                </a:solidFill>
                <a:effectLst/>
                <a:latin typeface="+mn-lt"/>
                <a:ea typeface="+mn-ea"/>
                <a:cs typeface="+mn-cs"/>
              </a:rPr>
              <a:t>：放大分类器信号，通常会提升条件保真度（往往以牺牲多样性为代价）。</a:t>
            </a:r>
            <a:endParaRPr lang="zh-CN" altLang="en-US" sz="1200" b="0" kern="1200" dirty="0">
              <a:solidFill>
                <a:schemeClr val="tx1"/>
              </a:solidFill>
              <a:effectLst/>
              <a:latin typeface="+mn-lt"/>
              <a:ea typeface="+mn-ea"/>
              <a:cs typeface="+mn-cs"/>
            </a:endParaRPr>
          </a:p>
          <a:p>
            <a:r>
              <a:rPr lang="en-US" altLang="zh-CN" sz="1200" b="0" kern="1200" dirty="0">
                <a:solidFill>
                  <a:schemeClr val="tx1"/>
                </a:solidFill>
                <a:effectLst/>
                <a:latin typeface="+mn-lt"/>
                <a:ea typeface="+mn-ea"/>
                <a:cs typeface="+mn-cs"/>
              </a:rPr>
              <a:t>0≤ω&lt;1</a:t>
            </a:r>
            <a:r>
              <a:rPr lang="zh-CN" altLang="en-US" sz="1200" b="0" kern="1200" dirty="0">
                <a:solidFill>
                  <a:schemeClr val="tx1"/>
                </a:solidFill>
                <a:effectLst/>
                <a:latin typeface="+mn-lt"/>
                <a:ea typeface="+mn-ea"/>
                <a:cs typeface="+mn-cs"/>
              </a:rPr>
              <a:t>：降低分类器信号权重，通常会提升样本多样性，同时削弱条件约束。</a:t>
            </a:r>
            <a:endParaRPr lang="zh-CN" altLang="en-US" sz="1200" b="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B4AC3B35-2A78-4970-B85C-E076431EEB48}" type="slidenum">
              <a:rPr lang="zh-CN" altLang="en-US" smtClean="0"/>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1" kern="1200" dirty="0">
                <a:solidFill>
                  <a:schemeClr val="tx1"/>
                </a:solidFill>
                <a:effectLst/>
                <a:latin typeface="+mn-lt"/>
                <a:ea typeface="+mn-ea"/>
                <a:cs typeface="+mn-cs"/>
              </a:rPr>
              <a:t>CG </a:t>
            </a:r>
            <a:r>
              <a:rPr lang="zh-CN" altLang="en-US" sz="1200" b="1" kern="1200" dirty="0">
                <a:solidFill>
                  <a:schemeClr val="tx1"/>
                </a:solidFill>
                <a:effectLst/>
                <a:latin typeface="+mn-lt"/>
                <a:ea typeface="+mn-ea"/>
                <a:cs typeface="+mn-cs"/>
              </a:rPr>
              <a:t>仅在采样阶段应用，无需修改扩散模型本身。为实现这一点，需要单独训练一个时变分类器</a:t>
            </a:r>
            <a:r>
              <a:rPr lang="zh-CN" altLang="en-US" sz="1200" b="0" kern="1200" dirty="0">
                <a:solidFill>
                  <a:schemeClr val="tx1"/>
                </a:solidFill>
                <a:effectLst/>
                <a:latin typeface="+mn-lt"/>
                <a:ea typeface="+mn-ea"/>
                <a:cs typeface="+mn-cs"/>
              </a:rPr>
              <a:t> </a:t>
            </a:r>
            <a:r>
              <a:rPr lang="en-US" altLang="zh-CN" sz="1200" b="0" kern="1200" dirty="0" err="1">
                <a:solidFill>
                  <a:schemeClr val="tx1"/>
                </a:solidFill>
                <a:effectLst/>
                <a:latin typeface="+mn-lt"/>
                <a:ea typeface="+mn-ea"/>
                <a:cs typeface="+mn-cs"/>
              </a:rPr>
              <a:t>pψ</a:t>
            </a:r>
            <a:r>
              <a:rPr lang="en-US" altLang="zh-CN" sz="1200" b="0" kern="1200" dirty="0">
                <a:solidFill>
                  <a:schemeClr val="tx1"/>
                </a:solidFill>
                <a:effectLst/>
                <a:latin typeface="+mn-lt"/>
                <a:ea typeface="+mn-ea"/>
                <a:cs typeface="+mn-cs"/>
              </a:rPr>
              <a:t>​(</a:t>
            </a:r>
            <a:r>
              <a:rPr lang="en-US" altLang="zh-CN" sz="1200" b="0" kern="1200" dirty="0" err="1">
                <a:solidFill>
                  <a:schemeClr val="tx1"/>
                </a:solidFill>
                <a:effectLst/>
                <a:latin typeface="+mn-lt"/>
                <a:ea typeface="+mn-ea"/>
                <a:cs typeface="+mn-cs"/>
              </a:rPr>
              <a:t>c∣xt</a:t>
            </a:r>
            <a:r>
              <a:rPr lang="en-US" altLang="zh-CN" sz="1200" b="0" kern="1200" dirty="0">
                <a:solidFill>
                  <a:schemeClr val="tx1"/>
                </a:solidFill>
                <a:effectLst/>
                <a:latin typeface="+mn-lt"/>
                <a:ea typeface="+mn-ea"/>
                <a:cs typeface="+mn-cs"/>
              </a:rPr>
              <a:t>​,t)</a:t>
            </a:r>
            <a:r>
              <a:rPr lang="zh-CN" altLang="en-US" sz="1200" b="0" kern="1200" dirty="0">
                <a:solidFill>
                  <a:schemeClr val="tx1"/>
                </a:solidFill>
                <a:effectLst/>
                <a:latin typeface="+mn-lt"/>
                <a:ea typeface="+mn-ea"/>
                <a:cs typeface="+mn-cs"/>
              </a:rPr>
              <a:t>，用于在不同噪声水平 </a:t>
            </a:r>
            <a:r>
              <a:rPr lang="en-US" altLang="zh-CN" sz="1200" b="0" kern="1200" dirty="0">
                <a:solidFill>
                  <a:schemeClr val="tx1"/>
                </a:solidFill>
                <a:effectLst/>
                <a:latin typeface="+mn-lt"/>
                <a:ea typeface="+mn-ea"/>
                <a:cs typeface="+mn-cs"/>
              </a:rPr>
              <a:t>t</a:t>
            </a:r>
            <a:r>
              <a:rPr lang="zh-CN" altLang="en-US" sz="1200" b="0" kern="1200" dirty="0">
                <a:solidFill>
                  <a:schemeClr val="tx1"/>
                </a:solidFill>
                <a:effectLst/>
                <a:latin typeface="+mn-lt"/>
                <a:ea typeface="+mn-ea"/>
                <a:cs typeface="+mn-cs"/>
              </a:rPr>
              <a:t> 下从噪声输入 </a:t>
            </a:r>
            <a:r>
              <a:rPr lang="en-US" altLang="zh-CN" sz="1200" b="0" kern="1200" dirty="0" err="1">
                <a:solidFill>
                  <a:schemeClr val="tx1"/>
                </a:solidFill>
                <a:effectLst/>
                <a:latin typeface="+mn-lt"/>
                <a:ea typeface="+mn-ea"/>
                <a:cs typeface="+mn-cs"/>
              </a:rPr>
              <a:t>xt</a:t>
            </a:r>
            <a:r>
              <a:rPr lang="en-US" altLang="zh-CN" sz="1200" b="0"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 预测条件 </a:t>
            </a:r>
            <a:r>
              <a:rPr lang="en-US" altLang="zh-CN" sz="1200" b="0" kern="1200" dirty="0">
                <a:solidFill>
                  <a:schemeClr val="tx1"/>
                </a:solidFill>
                <a:effectLst/>
                <a:latin typeface="+mn-lt"/>
                <a:ea typeface="+mn-ea"/>
                <a:cs typeface="+mn-cs"/>
              </a:rPr>
              <a:t>c</a:t>
            </a:r>
            <a:r>
              <a:rPr lang="zh-CN" altLang="en-US" sz="1200" b="0" kern="1200" dirty="0">
                <a:solidFill>
                  <a:schemeClr val="tx1"/>
                </a:solidFill>
                <a:effectLst/>
                <a:latin typeface="+mn-lt"/>
                <a:ea typeface="+mn-ea"/>
                <a:cs typeface="+mn-cs"/>
              </a:rPr>
              <a:t>。该分类器通过最小化交叉熵损失以标准方式训练：</a:t>
            </a:r>
            <a:endParaRPr lang="zh-CN" altLang="en-US" sz="1200" b="0" kern="1200" dirty="0">
              <a:solidFill>
                <a:schemeClr val="tx1"/>
              </a:solidFill>
              <a:effectLst/>
              <a:latin typeface="+mn-lt"/>
              <a:ea typeface="+mn-ea"/>
              <a:cs typeface="+mn-cs"/>
            </a:endParaRPr>
          </a:p>
          <a:p>
            <a:r>
              <a:rPr lang="en-US" altLang="zh-CN" sz="1200" b="0" kern="1200" dirty="0" err="1">
                <a:solidFill>
                  <a:schemeClr val="tx1"/>
                </a:solidFill>
                <a:effectLst/>
                <a:latin typeface="+mn-lt"/>
                <a:ea typeface="+mn-ea"/>
                <a:cs typeface="+mn-cs"/>
              </a:rPr>
              <a:t>Et∼U</a:t>
            </a:r>
            <a:r>
              <a:rPr lang="en-US" altLang="zh-CN" sz="1200" b="0" kern="1200" dirty="0">
                <a:solidFill>
                  <a:schemeClr val="tx1"/>
                </a:solidFill>
                <a:effectLst/>
                <a:latin typeface="+mn-lt"/>
                <a:ea typeface="+mn-ea"/>
                <a:cs typeface="+mn-cs"/>
              </a:rPr>
              <a:t>[0,T],(</a:t>
            </a:r>
            <a:r>
              <a:rPr lang="en-US" altLang="zh-CN" sz="1200" b="0" kern="1200" dirty="0" err="1">
                <a:solidFill>
                  <a:schemeClr val="tx1"/>
                </a:solidFill>
                <a:effectLst/>
                <a:latin typeface="+mn-lt"/>
                <a:ea typeface="+mn-ea"/>
                <a:cs typeface="+mn-cs"/>
              </a:rPr>
              <a:t>x,c</a:t>
            </a:r>
            <a:r>
              <a:rPr lang="en-US" altLang="zh-CN" sz="1200" b="0" kern="1200" dirty="0">
                <a:solidFill>
                  <a:schemeClr val="tx1"/>
                </a:solidFill>
                <a:effectLst/>
                <a:latin typeface="+mn-lt"/>
                <a:ea typeface="+mn-ea"/>
                <a:cs typeface="+mn-cs"/>
              </a:rPr>
              <a:t>)∼</a:t>
            </a:r>
            <a:r>
              <a:rPr lang="en-US" altLang="zh-CN" sz="1200" b="0" kern="1200" dirty="0" err="1">
                <a:solidFill>
                  <a:schemeClr val="tx1"/>
                </a:solidFill>
                <a:effectLst/>
                <a:latin typeface="+mn-lt"/>
                <a:ea typeface="+mn-ea"/>
                <a:cs typeface="+mn-cs"/>
              </a:rPr>
              <a:t>pdata</a:t>
            </a:r>
            <a:r>
              <a:rPr lang="en-US" altLang="zh-CN" sz="1200" b="0" kern="1200" dirty="0">
                <a:solidFill>
                  <a:schemeClr val="tx1"/>
                </a:solidFill>
                <a:effectLst/>
                <a:latin typeface="+mn-lt"/>
                <a:ea typeface="+mn-ea"/>
                <a:cs typeface="+mn-cs"/>
              </a:rPr>
              <a:t>​,ϵ∼N(0,I)​[−</a:t>
            </a:r>
            <a:r>
              <a:rPr lang="en-US" altLang="zh-CN" sz="1200" b="0" kern="1200" dirty="0" err="1">
                <a:solidFill>
                  <a:schemeClr val="tx1"/>
                </a:solidFill>
                <a:effectLst/>
                <a:latin typeface="+mn-lt"/>
                <a:ea typeface="+mn-ea"/>
                <a:cs typeface="+mn-cs"/>
              </a:rPr>
              <a:t>logpψ</a:t>
            </a:r>
            <a:r>
              <a:rPr lang="en-US" altLang="zh-CN" sz="1200" b="0" kern="1200" dirty="0">
                <a:solidFill>
                  <a:schemeClr val="tx1"/>
                </a:solidFill>
                <a:effectLst/>
                <a:latin typeface="+mn-lt"/>
                <a:ea typeface="+mn-ea"/>
                <a:cs typeface="+mn-cs"/>
              </a:rPr>
              <a:t>​(</a:t>
            </a:r>
            <a:r>
              <a:rPr lang="en-US" altLang="zh-CN" sz="1200" b="0" kern="1200" dirty="0" err="1">
                <a:solidFill>
                  <a:schemeClr val="tx1"/>
                </a:solidFill>
                <a:effectLst/>
                <a:latin typeface="+mn-lt"/>
                <a:ea typeface="+mn-ea"/>
                <a:cs typeface="+mn-cs"/>
              </a:rPr>
              <a:t>c∣xt</a:t>
            </a:r>
            <a:r>
              <a:rPr lang="en-US" altLang="zh-CN" sz="1200" b="0" kern="1200" dirty="0">
                <a:solidFill>
                  <a:schemeClr val="tx1"/>
                </a:solidFill>
                <a:effectLst/>
                <a:latin typeface="+mn-lt"/>
                <a:ea typeface="+mn-ea"/>
                <a:cs typeface="+mn-cs"/>
              </a:rPr>
              <a:t>​,t)],(8.2.4)</a:t>
            </a: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其中 </a:t>
            </a:r>
            <a:r>
              <a:rPr lang="en-US" altLang="zh-CN" sz="1200" b="0" kern="1200" dirty="0">
                <a:solidFill>
                  <a:schemeClr val="tx1"/>
                </a:solidFill>
                <a:effectLst/>
                <a:latin typeface="+mn-lt"/>
                <a:ea typeface="+mn-ea"/>
                <a:cs typeface="+mn-cs"/>
              </a:rPr>
              <a:t>(</a:t>
            </a:r>
            <a:r>
              <a:rPr lang="en-US" altLang="zh-CN" sz="1200" b="0" kern="1200" dirty="0" err="1">
                <a:solidFill>
                  <a:schemeClr val="tx1"/>
                </a:solidFill>
                <a:effectLst/>
                <a:latin typeface="+mn-lt"/>
                <a:ea typeface="+mn-ea"/>
                <a:cs typeface="+mn-cs"/>
              </a:rPr>
              <a:t>x,c</a:t>
            </a:r>
            <a:r>
              <a:rPr lang="en-US" altLang="zh-CN" sz="1200" b="0" kern="1200" dirty="0">
                <a:solidFill>
                  <a:schemeClr val="tx1"/>
                </a:solidFill>
                <a:effectLst/>
                <a:latin typeface="+mn-lt"/>
                <a:ea typeface="+mn-ea"/>
                <a:cs typeface="+mn-cs"/>
              </a:rPr>
              <a:t>)∼</a:t>
            </a:r>
            <a:r>
              <a:rPr lang="en-US" altLang="zh-CN" sz="1200" b="0" kern="1200" dirty="0" err="1">
                <a:solidFill>
                  <a:schemeClr val="tx1"/>
                </a:solidFill>
                <a:effectLst/>
                <a:latin typeface="+mn-lt"/>
                <a:ea typeface="+mn-ea"/>
                <a:cs typeface="+mn-cs"/>
              </a:rPr>
              <a:t>pdata</a:t>
            </a:r>
            <a:r>
              <a:rPr lang="en-US" altLang="zh-CN" sz="1200" b="0"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 表示成对的标注数据，</a:t>
            </a:r>
            <a:r>
              <a:rPr lang="en-US" altLang="zh-CN" sz="1200" b="0" kern="1200" dirty="0" err="1">
                <a:solidFill>
                  <a:schemeClr val="tx1"/>
                </a:solidFill>
                <a:effectLst/>
                <a:latin typeface="+mn-lt"/>
                <a:ea typeface="+mn-ea"/>
                <a:cs typeface="+mn-cs"/>
              </a:rPr>
              <a:t>xt</a:t>
            </a:r>
            <a:r>
              <a:rPr lang="en-US" altLang="zh-CN" sz="1200" b="0" kern="1200" dirty="0">
                <a:solidFill>
                  <a:schemeClr val="tx1"/>
                </a:solidFill>
                <a:effectLst/>
                <a:latin typeface="+mn-lt"/>
                <a:ea typeface="+mn-ea"/>
                <a:cs typeface="+mn-cs"/>
              </a:rPr>
              <a:t>​=αt​</a:t>
            </a:r>
            <a:r>
              <a:rPr lang="en-US" altLang="zh-CN" sz="1200" b="0" kern="1200" dirty="0" err="1">
                <a:solidFill>
                  <a:schemeClr val="tx1"/>
                </a:solidFill>
                <a:effectLst/>
                <a:latin typeface="+mn-lt"/>
                <a:ea typeface="+mn-ea"/>
                <a:cs typeface="+mn-cs"/>
              </a:rPr>
              <a:t>x+σt</a:t>
            </a:r>
            <a:r>
              <a:rPr lang="en-US" altLang="zh-CN" sz="1200" b="0" kern="1200" dirty="0">
                <a:solidFill>
                  <a:schemeClr val="tx1"/>
                </a:solidFill>
                <a:effectLst/>
                <a:latin typeface="+mn-lt"/>
                <a:ea typeface="+mn-ea"/>
                <a:cs typeface="+mn-cs"/>
              </a:rPr>
              <a:t>​ϵ</a:t>
            </a:r>
            <a:r>
              <a:rPr lang="zh-CN" altLang="en-US" sz="1200" b="0" kern="1200" dirty="0">
                <a:solidFill>
                  <a:schemeClr val="tx1"/>
                </a:solidFill>
                <a:effectLst/>
                <a:latin typeface="+mn-lt"/>
                <a:ea typeface="+mn-ea"/>
                <a:cs typeface="+mn-cs"/>
              </a:rPr>
              <a:t> 是时刻 </a:t>
            </a:r>
            <a:r>
              <a:rPr lang="en-US" altLang="zh-CN" sz="1200" b="0" kern="1200" dirty="0">
                <a:solidFill>
                  <a:schemeClr val="tx1"/>
                </a:solidFill>
                <a:effectLst/>
                <a:latin typeface="+mn-lt"/>
                <a:ea typeface="+mn-ea"/>
                <a:cs typeface="+mn-cs"/>
              </a:rPr>
              <a:t>t</a:t>
            </a:r>
            <a:r>
              <a:rPr lang="zh-CN" altLang="en-US" sz="1200" b="0" kern="1200" dirty="0">
                <a:solidFill>
                  <a:schemeClr val="tx1"/>
                </a:solidFill>
                <a:effectLst/>
                <a:latin typeface="+mn-lt"/>
                <a:ea typeface="+mn-ea"/>
                <a:cs typeface="+mn-cs"/>
              </a:rPr>
              <a:t> 的噪声输入。分类器必须显式地以 </a:t>
            </a:r>
            <a:r>
              <a:rPr lang="en-US" altLang="zh-CN" sz="1200" b="0" kern="1200" dirty="0">
                <a:solidFill>
                  <a:schemeClr val="tx1"/>
                </a:solidFill>
                <a:effectLst/>
                <a:latin typeface="+mn-lt"/>
                <a:ea typeface="+mn-ea"/>
                <a:cs typeface="+mn-cs"/>
              </a:rPr>
              <a:t>t</a:t>
            </a:r>
            <a:r>
              <a:rPr lang="zh-CN" altLang="en-US" sz="1200" b="0" kern="1200" dirty="0">
                <a:solidFill>
                  <a:schemeClr val="tx1"/>
                </a:solidFill>
                <a:effectLst/>
                <a:latin typeface="+mn-lt"/>
                <a:ea typeface="+mn-ea"/>
                <a:cs typeface="+mn-cs"/>
              </a:rPr>
              <a:t> 为条件（例如通过时间嵌入），因为它需要在所有噪声水平下可靠运行。</a:t>
            </a: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训练完成后，分类器提供的梯度可作为真实似然梯度的代理：</a:t>
            </a:r>
            <a:endParaRPr lang="zh-CN" altLang="en-US" sz="1200" b="0" kern="1200" dirty="0">
              <a:solidFill>
                <a:schemeClr val="tx1"/>
              </a:solidFill>
              <a:effectLst/>
              <a:latin typeface="+mn-lt"/>
              <a:ea typeface="+mn-ea"/>
              <a:cs typeface="+mn-cs"/>
            </a:endParaRPr>
          </a:p>
          <a:p>
            <a:r>
              <a:rPr lang="zh-CN" altLang="en-US" dirty="0"/>
              <a:t>在推理阶段，将分类器梯度 ∇</a:t>
            </a:r>
            <a:r>
              <a:rPr lang="en-US" altLang="zh-CN" dirty="0" err="1"/>
              <a:t>xt</a:t>
            </a:r>
            <a:r>
              <a:rPr lang="en-US" altLang="zh-CN" dirty="0"/>
              <a:t>​​</a:t>
            </a:r>
            <a:r>
              <a:rPr lang="en-US" altLang="zh-CN" dirty="0" err="1"/>
              <a:t>logpψ</a:t>
            </a:r>
            <a:r>
              <a:rPr lang="en-US" altLang="zh-CN" dirty="0"/>
              <a:t>×​(</a:t>
            </a:r>
            <a:r>
              <a:rPr lang="en-US" altLang="zh-CN" dirty="0" err="1"/>
              <a:t>c∣xt</a:t>
            </a:r>
            <a:r>
              <a:rPr lang="en-US" altLang="zh-CN" dirty="0"/>
              <a:t>​,t) </a:t>
            </a:r>
            <a:r>
              <a:rPr lang="zh-CN" altLang="en-US" dirty="0"/>
              <a:t>加到无条件得分函数上，并通过引导权重 </a:t>
            </a:r>
            <a:r>
              <a:rPr lang="en-US" altLang="zh-CN" dirty="0"/>
              <a:t>ω </a:t>
            </a:r>
            <a:r>
              <a:rPr lang="zh-CN" altLang="en-US" dirty="0"/>
              <a:t>缩放</a:t>
            </a:r>
            <a:endParaRPr lang="zh-CN" altLang="en-US" dirty="0"/>
          </a:p>
        </p:txBody>
      </p:sp>
      <p:sp>
        <p:nvSpPr>
          <p:cNvPr id="4" name="灯片编号占位符 3"/>
          <p:cNvSpPr>
            <a:spLocks noGrp="1"/>
          </p:cNvSpPr>
          <p:nvPr>
            <p:ph type="sldNum" sz="quarter" idx="5"/>
          </p:nvPr>
        </p:nvSpPr>
        <p:spPr/>
        <p:txBody>
          <a:bodyPr/>
          <a:lstStyle/>
          <a:p>
            <a:fld id="{B4AC3B35-2A78-4970-B85C-E076431EEB48}" type="slidenum">
              <a:rPr lang="zh-CN" altLang="en-US" smtClean="0"/>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1" kern="1200" dirty="0">
                <a:solidFill>
                  <a:schemeClr val="tx1"/>
                </a:solidFill>
                <a:effectLst/>
                <a:latin typeface="+mn-lt"/>
                <a:ea typeface="+mn-ea"/>
                <a:cs typeface="+mn-cs"/>
              </a:rPr>
              <a:t>CG </a:t>
            </a:r>
            <a:r>
              <a:rPr lang="zh-CN" altLang="en-US" sz="1200" b="1" kern="1200" dirty="0">
                <a:solidFill>
                  <a:schemeClr val="tx1"/>
                </a:solidFill>
                <a:effectLst/>
                <a:latin typeface="+mn-lt"/>
                <a:ea typeface="+mn-ea"/>
                <a:cs typeface="+mn-cs"/>
              </a:rPr>
              <a:t>为条件生成提供了简单灵活的机制，允许通过 </a:t>
            </a:r>
            <a:r>
              <a:rPr lang="en-US" altLang="zh-CN" sz="1200" b="1" kern="1200" dirty="0">
                <a:solidFill>
                  <a:schemeClr val="tx1"/>
                </a:solidFill>
                <a:effectLst/>
                <a:latin typeface="+mn-lt"/>
                <a:ea typeface="+mn-ea"/>
                <a:cs typeface="+mn-cs"/>
              </a:rPr>
              <a:t>ω </a:t>
            </a:r>
            <a:r>
              <a:rPr lang="zh-CN" altLang="en-US" sz="1200" b="1" kern="1200" dirty="0">
                <a:solidFill>
                  <a:schemeClr val="tx1"/>
                </a:solidFill>
                <a:effectLst/>
                <a:latin typeface="+mn-lt"/>
                <a:ea typeface="+mn-ea"/>
                <a:cs typeface="+mn-cs"/>
              </a:rPr>
              <a:t>显式控制条件强度。它可与任何预训练的无条件扩散模型结合使用，仅需额外的分类器用于条件建模。</a:t>
            </a:r>
            <a:endParaRPr lang="zh-CN" altLang="en-US" sz="1200" b="1" kern="1200" dirty="0">
              <a:solidFill>
                <a:schemeClr val="tx1"/>
              </a:solidFill>
              <a:effectLst/>
              <a:latin typeface="+mn-lt"/>
              <a:ea typeface="+mn-ea"/>
              <a:cs typeface="+mn-cs"/>
            </a:endParaRPr>
          </a:p>
          <a:p>
            <a:r>
              <a:rPr lang="zh-CN" altLang="en-US" sz="1200" b="1" kern="1200" dirty="0">
                <a:solidFill>
                  <a:schemeClr val="tx1"/>
                </a:solidFill>
                <a:effectLst/>
                <a:latin typeface="+mn-lt"/>
                <a:ea typeface="+mn-ea"/>
                <a:cs typeface="+mn-cs"/>
              </a:rPr>
              <a:t>然而，该方法存在显著局限性：</a:t>
            </a:r>
            <a:endParaRPr lang="zh-CN" altLang="en-US" sz="1200" b="1" kern="1200" dirty="0">
              <a:solidFill>
                <a:schemeClr val="tx1"/>
              </a:solidFill>
              <a:effectLst/>
              <a:latin typeface="+mn-lt"/>
              <a:ea typeface="+mn-ea"/>
              <a:cs typeface="+mn-cs"/>
            </a:endParaRPr>
          </a:p>
          <a:p>
            <a:endParaRPr lang="zh-CN" altLang="en-US" sz="1200" b="1" kern="1200" dirty="0">
              <a:solidFill>
                <a:schemeClr val="tx1"/>
              </a:solidFill>
              <a:effectLst/>
              <a:latin typeface="+mn-lt"/>
              <a:ea typeface="+mn-ea"/>
              <a:cs typeface="+mn-cs"/>
            </a:endParaRPr>
          </a:p>
          <a:p>
            <a:r>
              <a:rPr lang="zh-CN" altLang="en-US" sz="1200" b="1" kern="1200" dirty="0">
                <a:solidFill>
                  <a:schemeClr val="tx1"/>
                </a:solidFill>
                <a:effectLst/>
                <a:latin typeface="+mn-lt"/>
                <a:ea typeface="+mn-ea"/>
                <a:cs typeface="+mn-cs"/>
              </a:rPr>
              <a:t>训练成本：分类器必须能在所有噪声水平下工作，训练计算开销大。</a:t>
            </a:r>
            <a:endParaRPr lang="zh-CN" altLang="en-US" sz="1200" b="1" kern="1200" dirty="0">
              <a:solidFill>
                <a:schemeClr val="tx1"/>
              </a:solidFill>
              <a:effectLst/>
              <a:latin typeface="+mn-lt"/>
              <a:ea typeface="+mn-ea"/>
              <a:cs typeface="+mn-cs"/>
            </a:endParaRPr>
          </a:p>
          <a:p>
            <a:r>
              <a:rPr lang="zh-CN" altLang="en-US" sz="1200" b="1" kern="1200" dirty="0">
                <a:solidFill>
                  <a:schemeClr val="tx1"/>
                </a:solidFill>
                <a:effectLst/>
                <a:latin typeface="+mn-lt"/>
                <a:ea typeface="+mn-ea"/>
                <a:cs typeface="+mn-cs"/>
              </a:rPr>
              <a:t>鲁棒性：分类器必须能很好地泛化到严重污染的输入 </a:t>
            </a:r>
            <a:r>
              <a:rPr lang="en-US" altLang="zh-CN" sz="1200" b="1" kern="1200" dirty="0" err="1">
                <a:solidFill>
                  <a:schemeClr val="tx1"/>
                </a:solidFill>
                <a:effectLst/>
                <a:latin typeface="+mn-lt"/>
                <a:ea typeface="+mn-ea"/>
                <a:cs typeface="+mn-cs"/>
              </a:rPr>
              <a:t>xt</a:t>
            </a:r>
            <a:r>
              <a:rPr lang="en-US" altLang="zh-CN" sz="1200" b="1" kern="1200" dirty="0">
                <a:solidFill>
                  <a:schemeClr val="tx1"/>
                </a:solidFill>
                <a:effectLst/>
                <a:latin typeface="+mn-lt"/>
                <a:ea typeface="+mn-ea"/>
                <a:cs typeface="+mn-cs"/>
              </a:rPr>
              <a:t>​</a:t>
            </a:r>
            <a:r>
              <a:rPr lang="zh-CN" altLang="en-US" sz="1200" b="1" kern="1200" dirty="0">
                <a:solidFill>
                  <a:schemeClr val="tx1"/>
                </a:solidFill>
                <a:effectLst/>
                <a:latin typeface="+mn-lt"/>
                <a:ea typeface="+mn-ea"/>
                <a:cs typeface="+mn-cs"/>
              </a:rPr>
              <a:t>（尤其是 </a:t>
            </a:r>
            <a:r>
              <a:rPr lang="en-US" altLang="zh-CN" sz="1200" b="1" kern="1200" dirty="0">
                <a:solidFill>
                  <a:schemeClr val="tx1"/>
                </a:solidFill>
                <a:effectLst/>
                <a:latin typeface="+mn-lt"/>
                <a:ea typeface="+mn-ea"/>
                <a:cs typeface="+mn-cs"/>
              </a:rPr>
              <a:t>t </a:t>
            </a:r>
            <a:r>
              <a:rPr lang="zh-CN" altLang="en-US" sz="1200" b="1" kern="1200" dirty="0">
                <a:solidFill>
                  <a:schemeClr val="tx1"/>
                </a:solidFill>
                <a:effectLst/>
                <a:latin typeface="+mn-lt"/>
                <a:ea typeface="+mn-ea"/>
                <a:cs typeface="+mn-cs"/>
              </a:rPr>
              <a:t>较大时），这颇具挑战性。</a:t>
            </a:r>
            <a:endParaRPr lang="zh-CN" altLang="en-US" sz="1200" b="1" kern="1200" dirty="0">
              <a:solidFill>
                <a:schemeClr val="tx1"/>
              </a:solidFill>
              <a:effectLst/>
              <a:latin typeface="+mn-lt"/>
              <a:ea typeface="+mn-ea"/>
              <a:cs typeface="+mn-cs"/>
            </a:endParaRPr>
          </a:p>
          <a:p>
            <a:r>
              <a:rPr lang="zh-CN" altLang="en-US" sz="1200" b="1" kern="1200" dirty="0">
                <a:solidFill>
                  <a:schemeClr val="tx1"/>
                </a:solidFill>
                <a:effectLst/>
                <a:latin typeface="+mn-lt"/>
                <a:ea typeface="+mn-ea"/>
                <a:cs typeface="+mn-cs"/>
              </a:rPr>
              <a:t>独立训练：由于分类器与扩散模型独立训练，可能无法与学习到的数据分布完美对齐。</a:t>
            </a:r>
            <a:endParaRPr lang="zh-CN" altLang="en-US" dirty="0"/>
          </a:p>
        </p:txBody>
      </p:sp>
      <p:sp>
        <p:nvSpPr>
          <p:cNvPr id="4" name="灯片编号占位符 3"/>
          <p:cNvSpPr>
            <a:spLocks noGrp="1"/>
          </p:cNvSpPr>
          <p:nvPr>
            <p:ph type="sldNum" sz="quarter" idx="5"/>
          </p:nvPr>
        </p:nvSpPr>
        <p:spPr/>
        <p:txBody>
          <a:bodyPr/>
          <a:lstStyle/>
          <a:p>
            <a:fld id="{B4AC3B35-2A78-4970-B85C-E076431EEB48}" type="slidenum">
              <a:rPr lang="zh-CN" altLang="en-US" smtClean="0"/>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无分类器引导（</a:t>
            </a:r>
            <a:r>
              <a:rPr lang="en-US" altLang="zh-CN" dirty="0"/>
              <a:t>CFG</a:t>
            </a:r>
            <a:r>
              <a:rPr lang="zh-CN" altLang="en-US" dirty="0"/>
              <a:t>，</a:t>
            </a:r>
            <a:r>
              <a:rPr lang="en-US" altLang="zh-CN" dirty="0"/>
              <a:t>Ho &amp; Salimans, 2021</a:t>
            </a:r>
            <a:r>
              <a:rPr lang="zh-CN" altLang="en-US" dirty="0"/>
              <a:t>）是对基于分类器引导的简化方法，它消除了对单独分类器的需求。其核心思想是修改得分函数的梯度，从而在无需显式分类器的情况下实现有效条件建模。具体而言，条件分布对数概率的梯度调整如式</a:t>
            </a:r>
            <a:r>
              <a:rPr lang="en-US" altLang="zh-CN" dirty="0"/>
              <a:t>1</a:t>
            </a:r>
            <a:r>
              <a:rPr lang="zh-CN" altLang="en-US" dirty="0"/>
              <a:t>，这其实可由贝叶斯公式很容易地推导出来</a:t>
            </a:r>
            <a:br>
              <a:rPr lang="en-US" altLang="zh-CN" dirty="0"/>
            </a:br>
            <a:r>
              <a:rPr lang="zh-CN" altLang="en-US" dirty="0"/>
              <a:t>把式</a:t>
            </a:r>
            <a:r>
              <a:rPr lang="en-US" altLang="zh-CN" dirty="0"/>
              <a:t>1</a:t>
            </a:r>
            <a:r>
              <a:rPr lang="zh-CN" altLang="en-US" dirty="0"/>
              <a:t>带入到分类器引导的公式中，我们就可以得到下面的免分类器引导的公式</a:t>
            </a:r>
            <a:endParaRPr lang="zh-CN" altLang="en-US" dirty="0"/>
          </a:p>
        </p:txBody>
      </p:sp>
      <p:sp>
        <p:nvSpPr>
          <p:cNvPr id="4" name="灯片编号占位符 3"/>
          <p:cNvSpPr>
            <a:spLocks noGrp="1"/>
          </p:cNvSpPr>
          <p:nvPr>
            <p:ph type="sldNum" sz="quarter" idx="5"/>
          </p:nvPr>
        </p:nvSpPr>
        <p:spPr/>
        <p:txBody>
          <a:bodyPr/>
          <a:lstStyle/>
          <a:p>
            <a:fld id="{B4AC3B35-2A78-4970-B85C-E076431EEB48}" type="slidenum">
              <a:rPr lang="zh-CN" altLang="en-US" smtClean="0"/>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kern="1200" dirty="0">
                <a:solidFill>
                  <a:schemeClr val="tx1"/>
                </a:solidFill>
                <a:effectLst/>
                <a:latin typeface="+mn-lt"/>
                <a:ea typeface="+mn-ea"/>
                <a:cs typeface="+mn-cs"/>
              </a:rPr>
              <a:t>通过 </a:t>
            </a:r>
            <a:r>
              <a:rPr lang="en-US" altLang="zh-CN" sz="1200" b="0" kern="1200" dirty="0">
                <a:solidFill>
                  <a:schemeClr val="tx1"/>
                </a:solidFill>
                <a:effectLst/>
                <a:latin typeface="+mn-lt"/>
                <a:ea typeface="+mn-ea"/>
                <a:cs typeface="+mn-cs"/>
              </a:rPr>
              <a:t>CFG </a:t>
            </a:r>
            <a:r>
              <a:rPr lang="zh-CN" altLang="en-US" sz="1200" b="0" kern="1200" dirty="0">
                <a:solidFill>
                  <a:schemeClr val="tx1"/>
                </a:solidFill>
                <a:effectLst/>
                <a:latin typeface="+mn-lt"/>
                <a:ea typeface="+mn-ea"/>
                <a:cs typeface="+mn-cs"/>
              </a:rPr>
              <a:t>联合训练无条件与条件扩散模型</a:t>
            </a: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与 </a:t>
            </a:r>
            <a:r>
              <a:rPr lang="en-US" altLang="zh-CN" sz="1200" b="0" kern="1200" dirty="0">
                <a:solidFill>
                  <a:schemeClr val="tx1"/>
                </a:solidFill>
                <a:effectLst/>
                <a:latin typeface="+mn-lt"/>
                <a:ea typeface="+mn-ea"/>
                <a:cs typeface="+mn-cs"/>
              </a:rPr>
              <a:t>CG </a:t>
            </a:r>
            <a:r>
              <a:rPr lang="zh-CN" altLang="en-US" sz="1200" b="0" kern="1200" dirty="0">
                <a:solidFill>
                  <a:schemeClr val="tx1"/>
                </a:solidFill>
                <a:effectLst/>
                <a:latin typeface="+mn-lt"/>
                <a:ea typeface="+mn-ea"/>
                <a:cs typeface="+mn-cs"/>
              </a:rPr>
              <a:t>不同，</a:t>
            </a:r>
            <a:r>
              <a:rPr lang="en-US" altLang="zh-CN" sz="1200" b="0" kern="1200" dirty="0">
                <a:solidFill>
                  <a:schemeClr val="tx1"/>
                </a:solidFill>
                <a:effectLst/>
                <a:latin typeface="+mn-lt"/>
                <a:ea typeface="+mn-ea"/>
                <a:cs typeface="+mn-cs"/>
              </a:rPr>
              <a:t>CFG </a:t>
            </a:r>
            <a:r>
              <a:rPr lang="zh-CN" altLang="en-US" sz="1200" b="0" kern="1200" dirty="0">
                <a:solidFill>
                  <a:schemeClr val="tx1"/>
                </a:solidFill>
                <a:effectLst/>
                <a:latin typeface="+mn-lt"/>
                <a:ea typeface="+mn-ea"/>
                <a:cs typeface="+mn-cs"/>
              </a:rPr>
              <a:t>需要重新训练一个显式处理条件变量 </a:t>
            </a:r>
            <a:r>
              <a:rPr lang="en-US" altLang="zh-CN" sz="1200" b="0" kern="1200" dirty="0">
                <a:solidFill>
                  <a:schemeClr val="tx1"/>
                </a:solidFill>
                <a:effectLst/>
                <a:latin typeface="+mn-lt"/>
                <a:ea typeface="+mn-ea"/>
                <a:cs typeface="+mn-cs"/>
              </a:rPr>
              <a:t>c</a:t>
            </a:r>
            <a:r>
              <a:rPr lang="zh-CN" altLang="en-US" sz="1200" b="0" kern="1200" dirty="0">
                <a:solidFill>
                  <a:schemeClr val="tx1"/>
                </a:solidFill>
                <a:effectLst/>
                <a:latin typeface="+mn-lt"/>
                <a:ea typeface="+mn-ea"/>
                <a:cs typeface="+mn-cs"/>
              </a:rPr>
              <a:t> 的扩散模型。然而，为条件得分和无条件得分分别训练两个模型在计算上往往难以承受。为解决这一问题，</a:t>
            </a:r>
            <a:r>
              <a:rPr lang="en-US" altLang="zh-CN" sz="1200" b="0" kern="1200" dirty="0">
                <a:solidFill>
                  <a:schemeClr val="tx1"/>
                </a:solidFill>
                <a:effectLst/>
                <a:latin typeface="+mn-lt"/>
                <a:ea typeface="+mn-ea"/>
                <a:cs typeface="+mn-cs"/>
              </a:rPr>
              <a:t>CFG </a:t>
            </a:r>
            <a:r>
              <a:rPr lang="zh-CN" altLang="en-US" sz="1200" b="0" kern="1200" dirty="0">
                <a:solidFill>
                  <a:schemeClr val="tx1"/>
                </a:solidFill>
                <a:effectLst/>
                <a:latin typeface="+mn-lt"/>
                <a:ea typeface="+mn-ea"/>
                <a:cs typeface="+mn-cs"/>
              </a:rPr>
              <a:t>采用单一模型 </a:t>
            </a:r>
            <a:r>
              <a:rPr lang="en-US" altLang="zh-CN" sz="1200" b="0" kern="1200" dirty="0" err="1">
                <a:solidFill>
                  <a:schemeClr val="tx1"/>
                </a:solidFill>
                <a:effectLst/>
                <a:latin typeface="+mn-lt"/>
                <a:ea typeface="+mn-ea"/>
                <a:cs typeface="+mn-cs"/>
              </a:rPr>
              <a:t>sϕ</a:t>
            </a:r>
            <a:r>
              <a:rPr lang="en-US" altLang="zh-CN" sz="1200" b="0" kern="1200" dirty="0">
                <a:solidFill>
                  <a:schemeClr val="tx1"/>
                </a:solidFill>
                <a:effectLst/>
                <a:latin typeface="+mn-lt"/>
                <a:ea typeface="+mn-ea"/>
                <a:cs typeface="+mn-cs"/>
              </a:rPr>
              <a:t>​(</a:t>
            </a:r>
            <a:r>
              <a:rPr lang="en-US" altLang="zh-CN" sz="1200" b="0" kern="1200" dirty="0" err="1">
                <a:solidFill>
                  <a:schemeClr val="tx1"/>
                </a:solidFill>
                <a:effectLst/>
                <a:latin typeface="+mn-lt"/>
                <a:ea typeface="+mn-ea"/>
                <a:cs typeface="+mn-cs"/>
              </a:rPr>
              <a:t>xt</a:t>
            </a:r>
            <a:r>
              <a:rPr lang="en-US" altLang="zh-CN" sz="1200" b="0" kern="1200" dirty="0">
                <a:solidFill>
                  <a:schemeClr val="tx1"/>
                </a:solidFill>
                <a:effectLst/>
                <a:latin typeface="+mn-lt"/>
                <a:ea typeface="+mn-ea"/>
                <a:cs typeface="+mn-cs"/>
              </a:rPr>
              <a:t>​,</a:t>
            </a:r>
            <a:r>
              <a:rPr lang="en-US" altLang="zh-CN" sz="1200" b="0" kern="1200" dirty="0" err="1">
                <a:solidFill>
                  <a:schemeClr val="tx1"/>
                </a:solidFill>
                <a:effectLst/>
                <a:latin typeface="+mn-lt"/>
                <a:ea typeface="+mn-ea"/>
                <a:cs typeface="+mn-cs"/>
              </a:rPr>
              <a:t>t;c</a:t>
            </a:r>
            <a:r>
              <a:rPr lang="en-US" altLang="zh-CN" sz="1200" b="0"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，通过将 </a:t>
            </a:r>
            <a:r>
              <a:rPr lang="en-US" altLang="zh-CN" sz="1200" b="0" kern="1200" dirty="0">
                <a:solidFill>
                  <a:schemeClr val="tx1"/>
                </a:solidFill>
                <a:effectLst/>
                <a:latin typeface="+mn-lt"/>
                <a:ea typeface="+mn-ea"/>
                <a:cs typeface="+mn-cs"/>
              </a:rPr>
              <a:t>c</a:t>
            </a:r>
            <a:r>
              <a:rPr lang="zh-CN" altLang="en-US" sz="1200" b="0" kern="1200" dirty="0">
                <a:solidFill>
                  <a:schemeClr val="tx1"/>
                </a:solidFill>
                <a:effectLst/>
                <a:latin typeface="+mn-lt"/>
                <a:ea typeface="+mn-ea"/>
                <a:cs typeface="+mn-cs"/>
              </a:rPr>
              <a:t> 作为额外输入，在单个模型中同时学习两种得分函数。训练流程定义如下：</a:t>
            </a:r>
            <a:endParaRPr lang="zh-CN" altLang="en-US" sz="1200" b="0" kern="1200" dirty="0">
              <a:solidFill>
                <a:schemeClr val="tx1"/>
              </a:solidFill>
              <a:effectLst/>
              <a:latin typeface="+mn-lt"/>
              <a:ea typeface="+mn-ea"/>
              <a:cs typeface="+mn-cs"/>
            </a:endParaRPr>
          </a:p>
          <a:p>
            <a:r>
              <a:rPr lang="zh-CN" altLang="en-US" sz="1200" b="1" kern="1200" dirty="0">
                <a:solidFill>
                  <a:schemeClr val="tx1"/>
                </a:solidFill>
                <a:effectLst/>
                <a:latin typeface="+mn-lt"/>
                <a:ea typeface="+mn-ea"/>
                <a:cs typeface="+mn-cs"/>
              </a:rPr>
              <a:t>无条件训练</a:t>
            </a:r>
            <a:r>
              <a:rPr lang="zh-CN" altLang="en-US" sz="1200" b="0" kern="1200" dirty="0">
                <a:solidFill>
                  <a:schemeClr val="tx1"/>
                </a:solidFill>
                <a:effectLst/>
                <a:latin typeface="+mn-lt"/>
                <a:ea typeface="+mn-ea"/>
                <a:cs typeface="+mn-cs"/>
              </a:rPr>
              <a:t>：传入空标记 ∅ 替代条件输入，得到 </a:t>
            </a:r>
            <a:r>
              <a:rPr lang="en-US" altLang="zh-CN" sz="1200" b="0" kern="1200" dirty="0" err="1">
                <a:solidFill>
                  <a:schemeClr val="tx1"/>
                </a:solidFill>
                <a:effectLst/>
                <a:latin typeface="+mn-lt"/>
                <a:ea typeface="+mn-ea"/>
                <a:cs typeface="+mn-cs"/>
              </a:rPr>
              <a:t>sϕ</a:t>
            </a:r>
            <a:r>
              <a:rPr lang="en-US" altLang="zh-CN" sz="1200" b="0" kern="1200" dirty="0">
                <a:solidFill>
                  <a:schemeClr val="tx1"/>
                </a:solidFill>
                <a:effectLst/>
                <a:latin typeface="+mn-lt"/>
                <a:ea typeface="+mn-ea"/>
                <a:cs typeface="+mn-cs"/>
              </a:rPr>
              <a:t>​(</a:t>
            </a:r>
            <a:r>
              <a:rPr lang="en-US" altLang="zh-CN" sz="1200" b="0" kern="1200" dirty="0" err="1">
                <a:solidFill>
                  <a:schemeClr val="tx1"/>
                </a:solidFill>
                <a:effectLst/>
                <a:latin typeface="+mn-lt"/>
                <a:ea typeface="+mn-ea"/>
                <a:cs typeface="+mn-cs"/>
              </a:rPr>
              <a:t>xt</a:t>
            </a:r>
            <a:r>
              <a:rPr lang="en-US" altLang="zh-CN" sz="1200" b="0" kern="1200" dirty="0">
                <a:solidFill>
                  <a:schemeClr val="tx1"/>
                </a:solidFill>
                <a:effectLst/>
                <a:latin typeface="+mn-lt"/>
                <a:ea typeface="+mn-ea"/>
                <a:cs typeface="+mn-cs"/>
              </a:rPr>
              <a:t>​,t,∅)</a:t>
            </a:r>
            <a:r>
              <a:rPr lang="zh-CN" altLang="en-US" sz="1200" b="0" kern="1200" dirty="0">
                <a:solidFill>
                  <a:schemeClr val="tx1"/>
                </a:solidFill>
                <a:effectLst/>
                <a:latin typeface="+mn-lt"/>
                <a:ea typeface="+mn-ea"/>
                <a:cs typeface="+mn-cs"/>
              </a:rPr>
              <a:t>。</a:t>
            </a:r>
            <a:endParaRPr lang="zh-CN" altLang="en-US" sz="1200" b="0" kern="1200" dirty="0">
              <a:solidFill>
                <a:schemeClr val="tx1"/>
              </a:solidFill>
              <a:effectLst/>
              <a:latin typeface="+mn-lt"/>
              <a:ea typeface="+mn-ea"/>
              <a:cs typeface="+mn-cs"/>
            </a:endParaRPr>
          </a:p>
          <a:p>
            <a:r>
              <a:rPr lang="zh-CN" altLang="en-US" sz="1200" b="1" kern="1200" dirty="0">
                <a:solidFill>
                  <a:schemeClr val="tx1"/>
                </a:solidFill>
                <a:effectLst/>
                <a:latin typeface="+mn-lt"/>
                <a:ea typeface="+mn-ea"/>
                <a:cs typeface="+mn-cs"/>
              </a:rPr>
              <a:t>条件训练</a:t>
            </a:r>
            <a:r>
              <a:rPr lang="zh-CN" altLang="en-US" sz="1200" b="0" kern="1200" dirty="0">
                <a:solidFill>
                  <a:schemeClr val="tx1"/>
                </a:solidFill>
                <a:effectLst/>
                <a:latin typeface="+mn-lt"/>
                <a:ea typeface="+mn-ea"/>
                <a:cs typeface="+mn-cs"/>
              </a:rPr>
              <a:t>：提供真实条件变量 </a:t>
            </a:r>
            <a:r>
              <a:rPr lang="en-US" altLang="zh-CN" sz="1200" b="0" kern="1200" dirty="0">
                <a:solidFill>
                  <a:schemeClr val="tx1"/>
                </a:solidFill>
                <a:effectLst/>
                <a:latin typeface="+mn-lt"/>
                <a:ea typeface="+mn-ea"/>
                <a:cs typeface="+mn-cs"/>
              </a:rPr>
              <a:t>c</a:t>
            </a:r>
            <a:r>
              <a:rPr lang="zh-CN" altLang="en-US" sz="1200" b="0" kern="1200" dirty="0">
                <a:solidFill>
                  <a:schemeClr val="tx1"/>
                </a:solidFill>
                <a:effectLst/>
                <a:latin typeface="+mn-lt"/>
                <a:ea typeface="+mn-ea"/>
                <a:cs typeface="+mn-cs"/>
              </a:rPr>
              <a:t> 作为输入，得到 </a:t>
            </a:r>
            <a:r>
              <a:rPr lang="en-US" altLang="zh-CN" sz="1200" b="0" kern="1200" dirty="0" err="1">
                <a:solidFill>
                  <a:schemeClr val="tx1"/>
                </a:solidFill>
                <a:effectLst/>
                <a:latin typeface="+mn-lt"/>
                <a:ea typeface="+mn-ea"/>
                <a:cs typeface="+mn-cs"/>
              </a:rPr>
              <a:t>sϕ</a:t>
            </a:r>
            <a:r>
              <a:rPr lang="en-US" altLang="zh-CN" sz="1200" b="0" kern="1200" dirty="0">
                <a:solidFill>
                  <a:schemeClr val="tx1"/>
                </a:solidFill>
                <a:effectLst/>
                <a:latin typeface="+mn-lt"/>
                <a:ea typeface="+mn-ea"/>
                <a:cs typeface="+mn-cs"/>
              </a:rPr>
              <a:t>​(</a:t>
            </a:r>
            <a:r>
              <a:rPr lang="en-US" altLang="zh-CN" sz="1200" b="0" kern="1200" dirty="0" err="1">
                <a:solidFill>
                  <a:schemeClr val="tx1"/>
                </a:solidFill>
                <a:effectLst/>
                <a:latin typeface="+mn-lt"/>
                <a:ea typeface="+mn-ea"/>
                <a:cs typeface="+mn-cs"/>
              </a:rPr>
              <a:t>xt</a:t>
            </a:r>
            <a:r>
              <a:rPr lang="en-US" altLang="zh-CN" sz="1200" b="0" kern="1200" dirty="0">
                <a:solidFill>
                  <a:schemeClr val="tx1"/>
                </a:solidFill>
                <a:effectLst/>
                <a:latin typeface="+mn-lt"/>
                <a:ea typeface="+mn-ea"/>
                <a:cs typeface="+mn-cs"/>
              </a:rPr>
              <a:t>​,</a:t>
            </a:r>
            <a:r>
              <a:rPr lang="en-US" altLang="zh-CN" sz="1200" b="0" kern="1200" dirty="0" err="1">
                <a:solidFill>
                  <a:schemeClr val="tx1"/>
                </a:solidFill>
                <a:effectLst/>
                <a:latin typeface="+mn-lt"/>
                <a:ea typeface="+mn-ea"/>
                <a:cs typeface="+mn-cs"/>
              </a:rPr>
              <a:t>t,c</a:t>
            </a:r>
            <a:r>
              <a:rPr lang="en-US" altLang="zh-CN" sz="1200" b="0"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a:t>
            </a: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这两种训练模式通过以概率 </a:t>
            </a:r>
            <a:r>
              <a:rPr lang="en-US" altLang="zh-CN" sz="1200" b="0" kern="1200" dirty="0" err="1">
                <a:solidFill>
                  <a:schemeClr val="tx1"/>
                </a:solidFill>
                <a:effectLst/>
                <a:latin typeface="+mn-lt"/>
                <a:ea typeface="+mn-ea"/>
                <a:cs typeface="+mn-cs"/>
              </a:rPr>
              <a:t>puncond</a:t>
            </a:r>
            <a:r>
              <a:rPr lang="en-US" altLang="zh-CN" sz="1200" b="0"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（用户定义的超参数，通常设为 </a:t>
            </a:r>
            <a:r>
              <a:rPr lang="en-US" altLang="zh-CN" sz="1200" b="0" kern="1200" dirty="0">
                <a:solidFill>
                  <a:schemeClr val="tx1"/>
                </a:solidFill>
                <a:effectLst/>
                <a:latin typeface="+mn-lt"/>
                <a:ea typeface="+mn-ea"/>
                <a:cs typeface="+mn-cs"/>
              </a:rPr>
              <a:t>0.1</a:t>
            </a:r>
            <a:r>
              <a:rPr lang="zh-CN" altLang="en-US" sz="1200" b="0" kern="1200" dirty="0">
                <a:solidFill>
                  <a:schemeClr val="tx1"/>
                </a:solidFill>
                <a:effectLst/>
                <a:latin typeface="+mn-lt"/>
                <a:ea typeface="+mn-ea"/>
                <a:cs typeface="+mn-cs"/>
              </a:rPr>
              <a:t>）随机将 </a:t>
            </a:r>
            <a:r>
              <a:rPr lang="en-US" altLang="zh-CN" sz="1200" b="0" kern="1200" dirty="0">
                <a:solidFill>
                  <a:schemeClr val="tx1"/>
                </a:solidFill>
                <a:effectLst/>
                <a:latin typeface="+mn-lt"/>
                <a:ea typeface="+mn-ea"/>
                <a:cs typeface="+mn-cs"/>
              </a:rPr>
              <a:t>c</a:t>
            </a:r>
            <a:r>
              <a:rPr lang="zh-CN" altLang="en-US" sz="1200" b="0" kern="1200" dirty="0">
                <a:solidFill>
                  <a:schemeClr val="tx1"/>
                </a:solidFill>
                <a:effectLst/>
                <a:latin typeface="+mn-lt"/>
                <a:ea typeface="+mn-ea"/>
                <a:cs typeface="+mn-cs"/>
              </a:rPr>
              <a:t> 替换为空输入 ∅ 来统一。这种联合训练策略使模型能同时学习条件得分和无条件得分。完整训练算法见算法 </a:t>
            </a:r>
            <a:r>
              <a:rPr lang="en-US" altLang="zh-CN" sz="1200" b="0" kern="1200" dirty="0">
                <a:solidFill>
                  <a:schemeClr val="tx1"/>
                </a:solidFill>
                <a:effectLst/>
                <a:latin typeface="+mn-lt"/>
                <a:ea typeface="+mn-ea"/>
                <a:cs typeface="+mn-cs"/>
              </a:rPr>
              <a:t>4</a:t>
            </a:r>
            <a:r>
              <a:rPr lang="zh-CN" altLang="en-US" sz="1200" b="0" kern="1200" dirty="0">
                <a:solidFill>
                  <a:schemeClr val="tx1"/>
                </a:solidFill>
                <a:effectLst/>
                <a:latin typeface="+mn-lt"/>
                <a:ea typeface="+mn-ea"/>
                <a:cs typeface="+mn-cs"/>
              </a:rPr>
              <a:t>，并与算法 </a:t>
            </a:r>
            <a:r>
              <a:rPr lang="en-US" altLang="zh-CN" sz="1200" b="0" kern="1200" dirty="0">
                <a:solidFill>
                  <a:schemeClr val="tx1"/>
                </a:solidFill>
                <a:effectLst/>
                <a:latin typeface="+mn-lt"/>
                <a:ea typeface="+mn-ea"/>
                <a:cs typeface="+mn-cs"/>
              </a:rPr>
              <a:t>3 </a:t>
            </a:r>
            <a:r>
              <a:rPr lang="zh-CN" altLang="en-US" sz="1200" b="0" kern="1200" dirty="0">
                <a:solidFill>
                  <a:schemeClr val="tx1"/>
                </a:solidFill>
                <a:effectLst/>
                <a:latin typeface="+mn-lt"/>
                <a:ea typeface="+mn-ea"/>
                <a:cs typeface="+mn-cs"/>
              </a:rPr>
              <a:t>中的标准无条件训练进行了对比。需要注意的是，训练期间</a:t>
            </a:r>
            <a:r>
              <a:rPr lang="zh-CN" altLang="en-US" sz="1200" b="1" kern="1200" dirty="0">
                <a:solidFill>
                  <a:schemeClr val="tx1"/>
                </a:solidFill>
                <a:effectLst/>
                <a:latin typeface="+mn-lt"/>
                <a:ea typeface="+mn-ea"/>
                <a:cs typeface="+mn-cs"/>
              </a:rPr>
              <a:t>不使用</a:t>
            </a:r>
            <a:r>
              <a:rPr lang="zh-CN" altLang="en-US" sz="1200" b="0" kern="1200" dirty="0">
                <a:solidFill>
                  <a:schemeClr val="tx1"/>
                </a:solidFill>
                <a:effectLst/>
                <a:latin typeface="+mn-lt"/>
                <a:ea typeface="+mn-ea"/>
                <a:cs typeface="+mn-cs"/>
              </a:rPr>
              <a:t> </a:t>
            </a:r>
            <a:r>
              <a:rPr lang="en-US" altLang="zh-CN" sz="1200" b="0" kern="1200" dirty="0">
                <a:solidFill>
                  <a:schemeClr val="tx1"/>
                </a:solidFill>
                <a:effectLst/>
                <a:latin typeface="+mn-lt"/>
                <a:ea typeface="+mn-ea"/>
                <a:cs typeface="+mn-cs"/>
              </a:rPr>
              <a:t>CFG </a:t>
            </a:r>
            <a:r>
              <a:rPr lang="zh-CN" altLang="en-US" sz="1200" b="0" kern="1200" dirty="0">
                <a:solidFill>
                  <a:schemeClr val="tx1"/>
                </a:solidFill>
                <a:effectLst/>
                <a:latin typeface="+mn-lt"/>
                <a:ea typeface="+mn-ea"/>
                <a:cs typeface="+mn-cs"/>
              </a:rPr>
              <a:t>权重 </a:t>
            </a:r>
            <a:r>
              <a:rPr lang="en-US" altLang="zh-CN" sz="1200" b="0" kern="1200" dirty="0">
                <a:solidFill>
                  <a:schemeClr val="tx1"/>
                </a:solidFill>
                <a:effectLst/>
                <a:latin typeface="+mn-lt"/>
                <a:ea typeface="+mn-ea"/>
                <a:cs typeface="+mn-cs"/>
              </a:rPr>
              <a:t>ω</a:t>
            </a:r>
            <a:r>
              <a:rPr lang="zh-CN" altLang="en-US" sz="1200" b="0" kern="1200" dirty="0">
                <a:solidFill>
                  <a:schemeClr val="tx1"/>
                </a:solidFill>
                <a:effectLst/>
                <a:latin typeface="+mn-lt"/>
                <a:ea typeface="+mn-ea"/>
                <a:cs typeface="+mn-cs"/>
              </a:rPr>
              <a:t>。</a:t>
            </a:r>
            <a:endParaRPr lang="zh-CN" altLang="en-US" sz="1200" b="0" kern="1200" dirty="0">
              <a:solidFill>
                <a:schemeClr val="tx1"/>
              </a:solidFill>
              <a:effectLst/>
              <a:latin typeface="+mn-lt"/>
              <a:ea typeface="+mn-ea"/>
              <a:cs typeface="+mn-cs"/>
            </a:endParaRPr>
          </a:p>
          <a:p>
            <a:br>
              <a:rPr lang="zh-CN" altLang="en-US" dirty="0"/>
            </a:br>
            <a:endParaRPr lang="zh-CN" altLang="en-US" dirty="0"/>
          </a:p>
          <a:p>
            <a:r>
              <a:rPr lang="zh-CN" altLang="en-US" sz="1200" b="0" kern="1200" dirty="0">
                <a:solidFill>
                  <a:schemeClr val="tx1"/>
                </a:solidFill>
                <a:effectLst/>
                <a:latin typeface="+mn-lt"/>
                <a:ea typeface="+mn-ea"/>
                <a:cs typeface="+mn-cs"/>
              </a:rPr>
              <a:t>基于 </a:t>
            </a:r>
            <a:r>
              <a:rPr lang="en-US" altLang="zh-CN" sz="1200" b="0" kern="1200" dirty="0">
                <a:solidFill>
                  <a:schemeClr val="tx1"/>
                </a:solidFill>
                <a:effectLst/>
                <a:latin typeface="+mn-lt"/>
                <a:ea typeface="+mn-ea"/>
                <a:cs typeface="+mn-cs"/>
              </a:rPr>
              <a:t>CFG </a:t>
            </a:r>
            <a:r>
              <a:rPr lang="zh-CN" altLang="en-US" sz="1200" b="0" kern="1200" dirty="0">
                <a:solidFill>
                  <a:schemeClr val="tx1"/>
                </a:solidFill>
                <a:effectLst/>
                <a:latin typeface="+mn-lt"/>
                <a:ea typeface="+mn-ea"/>
                <a:cs typeface="+mn-cs"/>
              </a:rPr>
              <a:t>的条件采样</a:t>
            </a: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一旦使用算法 </a:t>
            </a:r>
            <a:r>
              <a:rPr lang="en-US" altLang="zh-CN" sz="1200" b="0" kern="1200" dirty="0">
                <a:solidFill>
                  <a:schemeClr val="tx1"/>
                </a:solidFill>
                <a:effectLst/>
                <a:latin typeface="+mn-lt"/>
                <a:ea typeface="+mn-ea"/>
                <a:cs typeface="+mn-cs"/>
              </a:rPr>
              <a:t>4 </a:t>
            </a:r>
            <a:r>
              <a:rPr lang="zh-CN" altLang="en-US" sz="1200" b="0" kern="1200" dirty="0">
                <a:solidFill>
                  <a:schemeClr val="tx1"/>
                </a:solidFill>
                <a:effectLst/>
                <a:latin typeface="+mn-lt"/>
                <a:ea typeface="+mn-ea"/>
                <a:cs typeface="+mn-cs"/>
              </a:rPr>
              <a:t>完成模型 </a:t>
            </a:r>
            <a:r>
              <a:rPr lang="en-US" altLang="zh-CN" sz="1200" b="0" kern="1200" dirty="0" err="1">
                <a:solidFill>
                  <a:schemeClr val="tx1"/>
                </a:solidFill>
                <a:effectLst/>
                <a:latin typeface="+mn-lt"/>
                <a:ea typeface="+mn-ea"/>
                <a:cs typeface="+mn-cs"/>
              </a:rPr>
              <a:t>sϕ</a:t>
            </a:r>
            <a:r>
              <a:rPr lang="en-US" altLang="zh-CN" sz="1200" b="0" kern="1200" dirty="0">
                <a:solidFill>
                  <a:schemeClr val="tx1"/>
                </a:solidFill>
                <a:effectLst/>
                <a:latin typeface="+mn-lt"/>
                <a:ea typeface="+mn-ea"/>
                <a:cs typeface="+mn-cs"/>
              </a:rPr>
              <a:t>×​(</a:t>
            </a:r>
            <a:r>
              <a:rPr lang="en-US" altLang="zh-CN" sz="1200" b="0" kern="1200" dirty="0" err="1">
                <a:solidFill>
                  <a:schemeClr val="tx1"/>
                </a:solidFill>
                <a:effectLst/>
                <a:latin typeface="+mn-lt"/>
                <a:ea typeface="+mn-ea"/>
                <a:cs typeface="+mn-cs"/>
              </a:rPr>
              <a:t>xt</a:t>
            </a:r>
            <a:r>
              <a:rPr lang="en-US" altLang="zh-CN" sz="1200" b="0" kern="1200" dirty="0">
                <a:solidFill>
                  <a:schemeClr val="tx1"/>
                </a:solidFill>
                <a:effectLst/>
                <a:latin typeface="+mn-lt"/>
                <a:ea typeface="+mn-ea"/>
                <a:cs typeface="+mn-cs"/>
              </a:rPr>
              <a:t>​,</a:t>
            </a:r>
            <a:r>
              <a:rPr lang="en-US" altLang="zh-CN" sz="1200" b="0" kern="1200" dirty="0" err="1">
                <a:solidFill>
                  <a:schemeClr val="tx1"/>
                </a:solidFill>
                <a:effectLst/>
                <a:latin typeface="+mn-lt"/>
                <a:ea typeface="+mn-ea"/>
                <a:cs typeface="+mn-cs"/>
              </a:rPr>
              <a:t>t,c</a:t>
            </a:r>
            <a:r>
              <a:rPr lang="en-US" altLang="zh-CN" sz="1200" b="0"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 的训练，即可在采样阶段应用 </a:t>
            </a:r>
            <a:r>
              <a:rPr lang="en-US" altLang="zh-CN" sz="1200" b="0" kern="1200" dirty="0">
                <a:solidFill>
                  <a:schemeClr val="tx1"/>
                </a:solidFill>
                <a:effectLst/>
                <a:latin typeface="+mn-lt"/>
                <a:ea typeface="+mn-ea"/>
                <a:cs typeface="+mn-cs"/>
              </a:rPr>
              <a:t>CFG</a:t>
            </a:r>
            <a:r>
              <a:rPr lang="zh-CN" altLang="en-US" sz="1200" b="0" kern="1200" dirty="0">
                <a:solidFill>
                  <a:schemeClr val="tx1"/>
                </a:solidFill>
                <a:effectLst/>
                <a:latin typeface="+mn-lt"/>
                <a:ea typeface="+mn-ea"/>
                <a:cs typeface="+mn-cs"/>
              </a:rPr>
              <a:t>。对数概率的梯度为：</a:t>
            </a: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a:t>
            </a:r>
            <a:r>
              <a:rPr lang="en-US" altLang="zh-CN" sz="1200" b="0" kern="1200" dirty="0" err="1">
                <a:solidFill>
                  <a:schemeClr val="tx1"/>
                </a:solidFill>
                <a:effectLst/>
                <a:latin typeface="+mn-lt"/>
                <a:ea typeface="+mn-ea"/>
                <a:cs typeface="+mn-cs"/>
              </a:rPr>
              <a:t>xt</a:t>
            </a:r>
            <a:r>
              <a:rPr lang="en-US" altLang="zh-CN" sz="1200" b="0" kern="1200" dirty="0">
                <a:solidFill>
                  <a:schemeClr val="tx1"/>
                </a:solidFill>
                <a:effectLst/>
                <a:latin typeface="+mn-lt"/>
                <a:ea typeface="+mn-ea"/>
                <a:cs typeface="+mn-cs"/>
              </a:rPr>
              <a:t>​​</a:t>
            </a:r>
            <a:r>
              <a:rPr lang="en-US" altLang="zh-CN" sz="1200" b="0" kern="1200" dirty="0" err="1">
                <a:solidFill>
                  <a:schemeClr val="tx1"/>
                </a:solidFill>
                <a:effectLst/>
                <a:latin typeface="+mn-lt"/>
                <a:ea typeface="+mn-ea"/>
                <a:cs typeface="+mn-cs"/>
              </a:rPr>
              <a:t>logpt</a:t>
            </a:r>
            <a:r>
              <a:rPr lang="en-US" altLang="zh-CN" sz="1200" b="0" kern="1200" dirty="0">
                <a:solidFill>
                  <a:schemeClr val="tx1"/>
                </a:solidFill>
                <a:effectLst/>
                <a:latin typeface="+mn-lt"/>
                <a:ea typeface="+mn-ea"/>
                <a:cs typeface="+mn-cs"/>
              </a:rPr>
              <a:t>​(</a:t>
            </a:r>
            <a:r>
              <a:rPr lang="en-US" altLang="zh-CN" sz="1200" b="0" kern="1200" dirty="0" err="1">
                <a:solidFill>
                  <a:schemeClr val="tx1"/>
                </a:solidFill>
                <a:effectLst/>
                <a:latin typeface="+mn-lt"/>
                <a:ea typeface="+mn-ea"/>
                <a:cs typeface="+mn-cs"/>
              </a:rPr>
              <a:t>xt</a:t>
            </a:r>
            <a:r>
              <a:rPr lang="en-US" altLang="zh-CN" sz="1200" b="0" kern="1200" dirty="0">
                <a:solidFill>
                  <a:schemeClr val="tx1"/>
                </a:solidFill>
                <a:effectLst/>
                <a:latin typeface="+mn-lt"/>
                <a:ea typeface="+mn-ea"/>
                <a:cs typeface="+mn-cs"/>
              </a:rPr>
              <a:t>​∣</a:t>
            </a:r>
            <a:r>
              <a:rPr lang="en-US" altLang="zh-CN" sz="1200" b="0" kern="1200" dirty="0" err="1">
                <a:solidFill>
                  <a:schemeClr val="tx1"/>
                </a:solidFill>
                <a:effectLst/>
                <a:latin typeface="+mn-lt"/>
                <a:ea typeface="+mn-ea"/>
                <a:cs typeface="+mn-cs"/>
              </a:rPr>
              <a:t>c,ω</a:t>
            </a:r>
            <a:r>
              <a:rPr lang="en-US" altLang="zh-CN" sz="1200" b="0" kern="1200" dirty="0">
                <a:solidFill>
                  <a:schemeClr val="tx1"/>
                </a:solidFill>
                <a:effectLst/>
                <a:latin typeface="+mn-lt"/>
                <a:ea typeface="+mn-ea"/>
                <a:cs typeface="+mn-cs"/>
              </a:rPr>
              <a:t>)​=</a:t>
            </a:r>
            <a:r>
              <a:rPr lang="en-US" altLang="zh-CN" sz="1200" b="0" kern="1200" dirty="0" err="1">
                <a:solidFill>
                  <a:schemeClr val="tx1"/>
                </a:solidFill>
                <a:effectLst/>
                <a:latin typeface="+mn-lt"/>
                <a:ea typeface="+mn-ea"/>
                <a:cs typeface="+mn-cs"/>
              </a:rPr>
              <a:t>ω∇xt</a:t>
            </a:r>
            <a:r>
              <a:rPr lang="en-US" altLang="zh-CN" sz="1200" b="0" kern="1200" dirty="0">
                <a:solidFill>
                  <a:schemeClr val="tx1"/>
                </a:solidFill>
                <a:effectLst/>
                <a:latin typeface="+mn-lt"/>
                <a:ea typeface="+mn-ea"/>
                <a:cs typeface="+mn-cs"/>
              </a:rPr>
              <a:t>​​</a:t>
            </a:r>
            <a:r>
              <a:rPr lang="en-US" altLang="zh-CN" sz="1200" b="0" kern="1200" dirty="0" err="1">
                <a:solidFill>
                  <a:schemeClr val="tx1"/>
                </a:solidFill>
                <a:effectLst/>
                <a:latin typeface="+mn-lt"/>
                <a:ea typeface="+mn-ea"/>
                <a:cs typeface="+mn-cs"/>
              </a:rPr>
              <a:t>logpt</a:t>
            </a:r>
            <a:r>
              <a:rPr lang="en-US" altLang="zh-CN" sz="1200" b="0" kern="1200" dirty="0">
                <a:solidFill>
                  <a:schemeClr val="tx1"/>
                </a:solidFill>
                <a:effectLst/>
                <a:latin typeface="+mn-lt"/>
                <a:ea typeface="+mn-ea"/>
                <a:cs typeface="+mn-cs"/>
              </a:rPr>
              <a:t>​(</a:t>
            </a:r>
            <a:r>
              <a:rPr lang="en-US" altLang="zh-CN" sz="1200" b="0" kern="1200" dirty="0" err="1">
                <a:solidFill>
                  <a:schemeClr val="tx1"/>
                </a:solidFill>
                <a:effectLst/>
                <a:latin typeface="+mn-lt"/>
                <a:ea typeface="+mn-ea"/>
                <a:cs typeface="+mn-cs"/>
              </a:rPr>
              <a:t>xt</a:t>
            </a:r>
            <a:r>
              <a:rPr lang="en-US" altLang="zh-CN" sz="1200" b="0" kern="1200" dirty="0">
                <a:solidFill>
                  <a:schemeClr val="tx1"/>
                </a:solidFill>
                <a:effectLst/>
                <a:latin typeface="+mn-lt"/>
                <a:ea typeface="+mn-ea"/>
                <a:cs typeface="+mn-cs"/>
              </a:rPr>
              <a:t>​∣c)+(1−ω)∇</a:t>
            </a:r>
            <a:r>
              <a:rPr lang="en-US" altLang="zh-CN" sz="1200" b="0" kern="1200" dirty="0" err="1">
                <a:solidFill>
                  <a:schemeClr val="tx1"/>
                </a:solidFill>
                <a:effectLst/>
                <a:latin typeface="+mn-lt"/>
                <a:ea typeface="+mn-ea"/>
                <a:cs typeface="+mn-cs"/>
              </a:rPr>
              <a:t>xt</a:t>
            </a:r>
            <a:r>
              <a:rPr lang="en-US" altLang="zh-CN" sz="1200" b="0" kern="1200" dirty="0">
                <a:solidFill>
                  <a:schemeClr val="tx1"/>
                </a:solidFill>
                <a:effectLst/>
                <a:latin typeface="+mn-lt"/>
                <a:ea typeface="+mn-ea"/>
                <a:cs typeface="+mn-cs"/>
              </a:rPr>
              <a:t>​​</a:t>
            </a:r>
            <a:r>
              <a:rPr lang="en-US" altLang="zh-CN" sz="1200" b="0" kern="1200" dirty="0" err="1">
                <a:solidFill>
                  <a:schemeClr val="tx1"/>
                </a:solidFill>
                <a:effectLst/>
                <a:latin typeface="+mn-lt"/>
                <a:ea typeface="+mn-ea"/>
                <a:cs typeface="+mn-cs"/>
              </a:rPr>
              <a:t>logpt</a:t>
            </a:r>
            <a:r>
              <a:rPr lang="en-US" altLang="zh-CN" sz="1200" b="0" kern="1200" dirty="0">
                <a:solidFill>
                  <a:schemeClr val="tx1"/>
                </a:solidFill>
                <a:effectLst/>
                <a:latin typeface="+mn-lt"/>
                <a:ea typeface="+mn-ea"/>
                <a:cs typeface="+mn-cs"/>
              </a:rPr>
              <a:t>​(</a:t>
            </a:r>
            <a:r>
              <a:rPr lang="en-US" altLang="zh-CN" sz="1200" b="0" kern="1200" dirty="0" err="1">
                <a:solidFill>
                  <a:schemeClr val="tx1"/>
                </a:solidFill>
                <a:effectLst/>
                <a:latin typeface="+mn-lt"/>
                <a:ea typeface="+mn-ea"/>
                <a:cs typeface="+mn-cs"/>
              </a:rPr>
              <a:t>xt</a:t>
            </a:r>
            <a:r>
              <a:rPr lang="en-US" altLang="zh-CN" sz="1200" b="0"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条件得分</a:t>
            </a:r>
            <a:r>
              <a:rPr lang="en-US" altLang="zh-CN" sz="1200" b="0" kern="1200" dirty="0">
                <a:solidFill>
                  <a:schemeClr val="tx1"/>
                </a:solidFill>
                <a:effectLst/>
                <a:latin typeface="+mn-lt"/>
                <a:ea typeface="+mn-ea"/>
                <a:cs typeface="+mn-cs"/>
              </a:rPr>
              <a:t>ω </a:t>
            </a:r>
            <a:r>
              <a:rPr lang="en-US" altLang="zh-CN" sz="1200" b="0" kern="1200" dirty="0" err="1">
                <a:solidFill>
                  <a:schemeClr val="tx1"/>
                </a:solidFill>
                <a:effectLst/>
                <a:latin typeface="+mn-lt"/>
                <a:ea typeface="+mn-ea"/>
                <a:cs typeface="+mn-cs"/>
              </a:rPr>
              <a:t>sϕ</a:t>
            </a:r>
            <a:r>
              <a:rPr lang="en-US" altLang="zh-CN" sz="1200" b="0" kern="1200" dirty="0">
                <a:solidFill>
                  <a:schemeClr val="tx1"/>
                </a:solidFill>
                <a:effectLst/>
                <a:latin typeface="+mn-lt"/>
                <a:ea typeface="+mn-ea"/>
                <a:cs typeface="+mn-cs"/>
              </a:rPr>
              <a:t>×​(</a:t>
            </a:r>
            <a:r>
              <a:rPr lang="en-US" altLang="zh-CN" sz="1200" b="0" kern="1200" dirty="0" err="1">
                <a:solidFill>
                  <a:schemeClr val="tx1"/>
                </a:solidFill>
                <a:effectLst/>
                <a:latin typeface="+mn-lt"/>
                <a:ea typeface="+mn-ea"/>
                <a:cs typeface="+mn-cs"/>
              </a:rPr>
              <a:t>xt</a:t>
            </a:r>
            <a:r>
              <a:rPr lang="en-US" altLang="zh-CN" sz="1200" b="0" kern="1200" dirty="0">
                <a:solidFill>
                  <a:schemeClr val="tx1"/>
                </a:solidFill>
                <a:effectLst/>
                <a:latin typeface="+mn-lt"/>
                <a:ea typeface="+mn-ea"/>
                <a:cs typeface="+mn-cs"/>
              </a:rPr>
              <a:t>​,</a:t>
            </a:r>
            <a:r>
              <a:rPr lang="en-US" altLang="zh-CN" sz="1200" b="0" kern="1200" dirty="0" err="1">
                <a:solidFill>
                  <a:schemeClr val="tx1"/>
                </a:solidFill>
                <a:effectLst/>
                <a:latin typeface="+mn-lt"/>
                <a:ea typeface="+mn-ea"/>
                <a:cs typeface="+mn-cs"/>
              </a:rPr>
              <a:t>t,c</a:t>
            </a:r>
            <a:r>
              <a:rPr lang="en-US" altLang="zh-CN" sz="1200" b="0"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无条件得分</a:t>
            </a:r>
            <a:r>
              <a:rPr lang="en-US" altLang="zh-CN" sz="1200" b="0" kern="1200" dirty="0">
                <a:solidFill>
                  <a:schemeClr val="tx1"/>
                </a:solidFill>
                <a:effectLst/>
                <a:latin typeface="+mn-lt"/>
                <a:ea typeface="+mn-ea"/>
                <a:cs typeface="+mn-cs"/>
              </a:rPr>
              <a:t>(1−ω) </a:t>
            </a:r>
            <a:r>
              <a:rPr lang="en-US" altLang="zh-CN" sz="1200" b="0" kern="1200" dirty="0" err="1">
                <a:solidFill>
                  <a:schemeClr val="tx1"/>
                </a:solidFill>
                <a:effectLst/>
                <a:latin typeface="+mn-lt"/>
                <a:ea typeface="+mn-ea"/>
                <a:cs typeface="+mn-cs"/>
              </a:rPr>
              <a:t>sϕ</a:t>
            </a:r>
            <a:r>
              <a:rPr lang="en-US" altLang="zh-CN" sz="1200" b="0" kern="1200" dirty="0">
                <a:solidFill>
                  <a:schemeClr val="tx1"/>
                </a:solidFill>
                <a:effectLst/>
                <a:latin typeface="+mn-lt"/>
                <a:ea typeface="+mn-ea"/>
                <a:cs typeface="+mn-cs"/>
              </a:rPr>
              <a:t>×​(</a:t>
            </a:r>
            <a:r>
              <a:rPr lang="en-US" altLang="zh-CN" sz="1200" b="0" kern="1200" dirty="0" err="1">
                <a:solidFill>
                  <a:schemeClr val="tx1"/>
                </a:solidFill>
                <a:effectLst/>
                <a:latin typeface="+mn-lt"/>
                <a:ea typeface="+mn-ea"/>
                <a:cs typeface="+mn-cs"/>
              </a:rPr>
              <a:t>xt</a:t>
            </a:r>
            <a:r>
              <a:rPr lang="en-US" altLang="zh-CN" sz="1200" b="0" kern="1200" dirty="0">
                <a:solidFill>
                  <a:schemeClr val="tx1"/>
                </a:solidFill>
                <a:effectLst/>
                <a:latin typeface="+mn-lt"/>
                <a:ea typeface="+mn-ea"/>
                <a:cs typeface="+mn-cs"/>
              </a:rPr>
              <a:t>​,t,∅)​​=:</a:t>
            </a:r>
            <a:r>
              <a:rPr lang="en-US" altLang="zh-CN" sz="1200" b="0" kern="1200" dirty="0" err="1">
                <a:solidFill>
                  <a:schemeClr val="tx1"/>
                </a:solidFill>
                <a:effectLst/>
                <a:latin typeface="+mn-lt"/>
                <a:ea typeface="+mn-ea"/>
                <a:cs typeface="+mn-cs"/>
              </a:rPr>
              <a:t>sϕ×CFG</a:t>
            </a:r>
            <a:r>
              <a:rPr lang="en-US" altLang="zh-CN" sz="1200" b="0" kern="1200" dirty="0">
                <a:solidFill>
                  <a:schemeClr val="tx1"/>
                </a:solidFill>
                <a:effectLst/>
                <a:latin typeface="+mn-lt"/>
                <a:ea typeface="+mn-ea"/>
                <a:cs typeface="+mn-cs"/>
              </a:rPr>
              <a:t>​(</a:t>
            </a:r>
            <a:r>
              <a:rPr lang="en-US" altLang="zh-CN" sz="1200" b="0" kern="1200" dirty="0" err="1">
                <a:solidFill>
                  <a:schemeClr val="tx1"/>
                </a:solidFill>
                <a:effectLst/>
                <a:latin typeface="+mn-lt"/>
                <a:ea typeface="+mn-ea"/>
                <a:cs typeface="+mn-cs"/>
              </a:rPr>
              <a:t>xt</a:t>
            </a:r>
            <a:r>
              <a:rPr lang="en-US" altLang="zh-CN" sz="1200" b="0" kern="1200" dirty="0">
                <a:solidFill>
                  <a:schemeClr val="tx1"/>
                </a:solidFill>
                <a:effectLst/>
                <a:latin typeface="+mn-lt"/>
                <a:ea typeface="+mn-ea"/>
                <a:cs typeface="+mn-cs"/>
              </a:rPr>
              <a:t>​,</a:t>
            </a:r>
            <a:r>
              <a:rPr lang="en-US" altLang="zh-CN" sz="1200" b="0" kern="1200" dirty="0" err="1">
                <a:solidFill>
                  <a:schemeClr val="tx1"/>
                </a:solidFill>
                <a:effectLst/>
                <a:latin typeface="+mn-lt"/>
                <a:ea typeface="+mn-ea"/>
                <a:cs typeface="+mn-cs"/>
              </a:rPr>
              <a:t>t,c;ω</a:t>
            </a:r>
            <a:r>
              <a:rPr lang="en-US" altLang="zh-CN" sz="1200" b="0" kern="1200" dirty="0">
                <a:solidFill>
                  <a:schemeClr val="tx1"/>
                </a:solidFill>
                <a:effectLst/>
                <a:latin typeface="+mn-lt"/>
                <a:ea typeface="+mn-ea"/>
                <a:cs typeface="+mn-cs"/>
              </a:rPr>
              <a:t>).​(8.3.3)</a:t>
            </a: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采样时，会应用固定的（或可选的时变）无分类器引导权重 </a:t>
            </a:r>
            <a:r>
              <a:rPr lang="en-US" altLang="zh-CN" sz="1200" b="0" kern="1200" dirty="0">
                <a:solidFill>
                  <a:schemeClr val="tx1"/>
                </a:solidFill>
                <a:effectLst/>
                <a:latin typeface="+mn-lt"/>
                <a:ea typeface="+mn-ea"/>
                <a:cs typeface="+mn-cs"/>
              </a:rPr>
              <a:t>ω</a:t>
            </a:r>
            <a:r>
              <a:rPr lang="zh-CN" altLang="en-US" sz="1200" b="0" kern="1200" dirty="0">
                <a:solidFill>
                  <a:schemeClr val="tx1"/>
                </a:solidFill>
                <a:effectLst/>
                <a:latin typeface="+mn-lt"/>
                <a:ea typeface="+mn-ea"/>
                <a:cs typeface="+mn-cs"/>
              </a:rPr>
              <a:t>。随后将逆时 </a:t>
            </a:r>
            <a:r>
              <a:rPr lang="en-US" altLang="zh-CN" sz="1200" b="0" kern="1200" dirty="0">
                <a:solidFill>
                  <a:schemeClr val="tx1"/>
                </a:solidFill>
                <a:effectLst/>
                <a:latin typeface="+mn-lt"/>
                <a:ea typeface="+mn-ea"/>
                <a:cs typeface="+mn-cs"/>
              </a:rPr>
              <a:t>SDE</a:t>
            </a:r>
            <a:r>
              <a:rPr lang="zh-CN" altLang="en-US" sz="1200" b="0" kern="1200" dirty="0">
                <a:solidFill>
                  <a:schemeClr val="tx1"/>
                </a:solidFill>
                <a:effectLst/>
                <a:latin typeface="+mn-lt"/>
                <a:ea typeface="+mn-ea"/>
                <a:cs typeface="+mn-cs"/>
              </a:rPr>
              <a:t>（公式 </a:t>
            </a:r>
            <a:r>
              <a:rPr lang="en-US" altLang="zh-CN" sz="1200" b="0" kern="1200" dirty="0">
                <a:solidFill>
                  <a:schemeClr val="tx1"/>
                </a:solidFill>
                <a:effectLst/>
                <a:latin typeface="+mn-lt"/>
                <a:ea typeface="+mn-ea"/>
                <a:cs typeface="+mn-cs"/>
              </a:rPr>
              <a:t>4.1.6</a:t>
            </a:r>
            <a:r>
              <a:rPr lang="zh-CN" altLang="en-US" sz="1200" b="0" kern="1200" dirty="0">
                <a:solidFill>
                  <a:schemeClr val="tx1"/>
                </a:solidFill>
                <a:effectLst/>
                <a:latin typeface="+mn-lt"/>
                <a:ea typeface="+mn-ea"/>
                <a:cs typeface="+mn-cs"/>
              </a:rPr>
              <a:t>）或 </a:t>
            </a:r>
            <a:r>
              <a:rPr lang="en-US" altLang="zh-CN" sz="1200" b="0" kern="1200" dirty="0">
                <a:solidFill>
                  <a:schemeClr val="tx1"/>
                </a:solidFill>
                <a:effectLst/>
                <a:latin typeface="+mn-lt"/>
                <a:ea typeface="+mn-ea"/>
                <a:cs typeface="+mn-cs"/>
              </a:rPr>
              <a:t>PF-ODE</a:t>
            </a:r>
            <a:r>
              <a:rPr lang="zh-CN" altLang="en-US" sz="1200" b="0" kern="1200" dirty="0">
                <a:solidFill>
                  <a:schemeClr val="tx1"/>
                </a:solidFill>
                <a:effectLst/>
                <a:latin typeface="+mn-lt"/>
                <a:ea typeface="+mn-ea"/>
                <a:cs typeface="+mn-cs"/>
              </a:rPr>
              <a:t>（公式 </a:t>
            </a:r>
            <a:r>
              <a:rPr lang="en-US" altLang="zh-CN" sz="1200" b="0" kern="1200" dirty="0">
                <a:solidFill>
                  <a:schemeClr val="tx1"/>
                </a:solidFill>
                <a:effectLst/>
                <a:latin typeface="+mn-lt"/>
                <a:ea typeface="+mn-ea"/>
                <a:cs typeface="+mn-cs"/>
              </a:rPr>
              <a:t>4.1.8</a:t>
            </a:r>
            <a:r>
              <a:rPr lang="zh-CN" altLang="en-US" sz="1200" b="0" kern="1200" dirty="0">
                <a:solidFill>
                  <a:schemeClr val="tx1"/>
                </a:solidFill>
                <a:effectLst/>
                <a:latin typeface="+mn-lt"/>
                <a:ea typeface="+mn-ea"/>
                <a:cs typeface="+mn-cs"/>
              </a:rPr>
              <a:t>）中的无条件得分 ∇</a:t>
            </a:r>
            <a:r>
              <a:rPr lang="en-US" altLang="zh-CN" sz="1200" b="0" kern="1200" dirty="0" err="1">
                <a:solidFill>
                  <a:schemeClr val="tx1"/>
                </a:solidFill>
                <a:effectLst/>
                <a:latin typeface="+mn-lt"/>
                <a:ea typeface="+mn-ea"/>
                <a:cs typeface="+mn-cs"/>
              </a:rPr>
              <a:t>xt</a:t>
            </a:r>
            <a:r>
              <a:rPr lang="en-US" altLang="zh-CN" sz="1200" b="0" kern="1200" dirty="0">
                <a:solidFill>
                  <a:schemeClr val="tx1"/>
                </a:solidFill>
                <a:effectLst/>
                <a:latin typeface="+mn-lt"/>
                <a:ea typeface="+mn-ea"/>
                <a:cs typeface="+mn-cs"/>
              </a:rPr>
              <a:t>​​</a:t>
            </a:r>
            <a:r>
              <a:rPr lang="en-US" altLang="zh-CN" sz="1200" b="0" kern="1200" dirty="0" err="1">
                <a:solidFill>
                  <a:schemeClr val="tx1"/>
                </a:solidFill>
                <a:effectLst/>
                <a:latin typeface="+mn-lt"/>
                <a:ea typeface="+mn-ea"/>
                <a:cs typeface="+mn-cs"/>
              </a:rPr>
              <a:t>logpt</a:t>
            </a:r>
            <a:r>
              <a:rPr lang="en-US" altLang="zh-CN" sz="1200" b="0" kern="1200" dirty="0">
                <a:solidFill>
                  <a:schemeClr val="tx1"/>
                </a:solidFill>
                <a:effectLst/>
                <a:latin typeface="+mn-lt"/>
                <a:ea typeface="+mn-ea"/>
                <a:cs typeface="+mn-cs"/>
              </a:rPr>
              <a:t>​(</a:t>
            </a:r>
            <a:r>
              <a:rPr lang="en-US" altLang="zh-CN" sz="1200" b="0" kern="1200" dirty="0" err="1">
                <a:solidFill>
                  <a:schemeClr val="tx1"/>
                </a:solidFill>
                <a:effectLst/>
                <a:latin typeface="+mn-lt"/>
                <a:ea typeface="+mn-ea"/>
                <a:cs typeface="+mn-cs"/>
              </a:rPr>
              <a:t>xt</a:t>
            </a:r>
            <a:r>
              <a:rPr lang="en-US" altLang="zh-CN" sz="1200" b="0"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 替换为公式 </a:t>
            </a:r>
            <a:r>
              <a:rPr lang="en-US" altLang="zh-CN" sz="1200" b="0" kern="1200" dirty="0">
                <a:solidFill>
                  <a:schemeClr val="tx1"/>
                </a:solidFill>
                <a:effectLst/>
                <a:latin typeface="+mn-lt"/>
                <a:ea typeface="+mn-ea"/>
                <a:cs typeface="+mn-cs"/>
              </a:rPr>
              <a:t>(8.1.2) </a:t>
            </a:r>
            <a:r>
              <a:rPr lang="zh-CN" altLang="en-US" sz="1200" b="0" kern="1200" dirty="0">
                <a:solidFill>
                  <a:schemeClr val="tx1"/>
                </a:solidFill>
                <a:effectLst/>
                <a:latin typeface="+mn-lt"/>
                <a:ea typeface="+mn-ea"/>
                <a:cs typeface="+mn-cs"/>
              </a:rPr>
              <a:t>中的引导得分 </a:t>
            </a:r>
            <a:r>
              <a:rPr lang="en-US" altLang="zh-CN" sz="1200" b="0" kern="1200" dirty="0" err="1">
                <a:solidFill>
                  <a:schemeClr val="tx1"/>
                </a:solidFill>
                <a:effectLst/>
                <a:latin typeface="+mn-lt"/>
                <a:ea typeface="+mn-ea"/>
                <a:cs typeface="+mn-cs"/>
              </a:rPr>
              <a:t>sϕ×CFG</a:t>
            </a:r>
            <a:r>
              <a:rPr lang="en-US" altLang="zh-CN" sz="1200" b="0" kern="1200" dirty="0">
                <a:solidFill>
                  <a:schemeClr val="tx1"/>
                </a:solidFill>
                <a:effectLst/>
                <a:latin typeface="+mn-lt"/>
                <a:ea typeface="+mn-ea"/>
                <a:cs typeface="+mn-cs"/>
              </a:rPr>
              <a:t>​(</a:t>
            </a:r>
            <a:r>
              <a:rPr lang="en-US" altLang="zh-CN" sz="1200" b="0" kern="1200" dirty="0" err="1">
                <a:solidFill>
                  <a:schemeClr val="tx1"/>
                </a:solidFill>
                <a:effectLst/>
                <a:latin typeface="+mn-lt"/>
                <a:ea typeface="+mn-ea"/>
                <a:cs typeface="+mn-cs"/>
              </a:rPr>
              <a:t>xt</a:t>
            </a:r>
            <a:r>
              <a:rPr lang="en-US" altLang="zh-CN" sz="1200" b="0" kern="1200" dirty="0">
                <a:solidFill>
                  <a:schemeClr val="tx1"/>
                </a:solidFill>
                <a:effectLst/>
                <a:latin typeface="+mn-lt"/>
                <a:ea typeface="+mn-ea"/>
                <a:cs typeface="+mn-cs"/>
              </a:rPr>
              <a:t>​,</a:t>
            </a:r>
            <a:r>
              <a:rPr lang="en-US" altLang="zh-CN" sz="1200" b="0" kern="1200" dirty="0" err="1">
                <a:solidFill>
                  <a:schemeClr val="tx1"/>
                </a:solidFill>
                <a:effectLst/>
                <a:latin typeface="+mn-lt"/>
                <a:ea typeface="+mn-ea"/>
                <a:cs typeface="+mn-cs"/>
              </a:rPr>
              <a:t>t,c;ω</a:t>
            </a:r>
            <a:r>
              <a:rPr lang="en-US" altLang="zh-CN" sz="1200" b="0"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，该得分以加权方式结合了条件得分与无条件得分。</a:t>
            </a: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这种形式通过调整 </a:t>
            </a:r>
            <a:r>
              <a:rPr lang="en-US" altLang="zh-CN" sz="1200" b="0" kern="1200" dirty="0">
                <a:solidFill>
                  <a:schemeClr val="tx1"/>
                </a:solidFill>
                <a:effectLst/>
                <a:latin typeface="+mn-lt"/>
                <a:ea typeface="+mn-ea"/>
                <a:cs typeface="+mn-cs"/>
              </a:rPr>
              <a:t>ω</a:t>
            </a:r>
            <a:r>
              <a:rPr lang="zh-CN" altLang="en-US" sz="1200" b="0" kern="1200" dirty="0">
                <a:solidFill>
                  <a:schemeClr val="tx1"/>
                </a:solidFill>
                <a:effectLst/>
                <a:latin typeface="+mn-lt"/>
                <a:ea typeface="+mn-ea"/>
                <a:cs typeface="+mn-cs"/>
              </a:rPr>
              <a:t> 实现可控生成，使样本在保持多样性的同时被引导向条件信号 </a:t>
            </a:r>
            <a:r>
              <a:rPr lang="en-US" altLang="zh-CN" sz="1200" b="0" kern="1200" dirty="0">
                <a:solidFill>
                  <a:schemeClr val="tx1"/>
                </a:solidFill>
                <a:effectLst/>
                <a:latin typeface="+mn-lt"/>
                <a:ea typeface="+mn-ea"/>
                <a:cs typeface="+mn-cs"/>
              </a:rPr>
              <a:t>c</a:t>
            </a:r>
            <a:r>
              <a:rPr lang="zh-CN" altLang="en-US" sz="1200" b="0" kern="1200" dirty="0">
                <a:solidFill>
                  <a:schemeClr val="tx1"/>
                </a:solidFill>
                <a:effectLst/>
                <a:latin typeface="+mn-lt"/>
                <a:ea typeface="+mn-ea"/>
                <a:cs typeface="+mn-cs"/>
              </a:rPr>
              <a:t>。因此，</a:t>
            </a:r>
            <a:r>
              <a:rPr lang="en-US" altLang="zh-CN" sz="1200" b="0" kern="1200" dirty="0">
                <a:solidFill>
                  <a:schemeClr val="tx1"/>
                </a:solidFill>
                <a:effectLst/>
                <a:latin typeface="+mn-lt"/>
                <a:ea typeface="+mn-ea"/>
                <a:cs typeface="+mn-cs"/>
              </a:rPr>
              <a:t>CFG </a:t>
            </a:r>
            <a:r>
              <a:rPr lang="zh-CN" altLang="en-US" sz="1200" b="0" kern="1200" dirty="0">
                <a:solidFill>
                  <a:schemeClr val="tx1"/>
                </a:solidFill>
                <a:effectLst/>
                <a:latin typeface="+mn-lt"/>
                <a:ea typeface="+mn-ea"/>
                <a:cs typeface="+mn-cs"/>
              </a:rPr>
              <a:t>提供了一种高效且计算友好的精确条件生成方式，因为它仅需训练</a:t>
            </a:r>
            <a:r>
              <a:rPr lang="zh-CN" altLang="en-US" sz="1200" b="1" kern="1200" dirty="0">
                <a:solidFill>
                  <a:schemeClr val="tx1"/>
                </a:solidFill>
                <a:effectLst/>
                <a:latin typeface="+mn-lt"/>
                <a:ea typeface="+mn-ea"/>
                <a:cs typeface="+mn-cs"/>
              </a:rPr>
              <a:t>单个扩散模型</a:t>
            </a:r>
            <a:r>
              <a:rPr lang="zh-CN" altLang="en-US" sz="1200" b="0" kern="1200" dirty="0">
                <a:solidFill>
                  <a:schemeClr val="tx1"/>
                </a:solidFill>
                <a:effectLst/>
                <a:latin typeface="+mn-lt"/>
                <a:ea typeface="+mn-ea"/>
                <a:cs typeface="+mn-cs"/>
              </a:rPr>
              <a:t>。</a:t>
            </a:r>
            <a:endParaRPr lang="zh-CN" altLang="en-US" sz="1200" b="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B4AC3B35-2A78-4970-B85C-E076431EEB48}" type="slidenum">
              <a:rPr lang="zh-CN" altLang="en-US" smtClean="0"/>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kern="1200" dirty="0">
                <a:solidFill>
                  <a:schemeClr val="tx1"/>
                </a:solidFill>
                <a:effectLst/>
                <a:latin typeface="+mn-lt"/>
                <a:ea typeface="+mn-ea"/>
                <a:cs typeface="+mn-cs"/>
              </a:rPr>
              <a:t>朴素 </a:t>
            </a:r>
            <a:r>
              <a:rPr lang="en-US" altLang="zh-CN" sz="1200" b="0" kern="1200" dirty="0">
                <a:solidFill>
                  <a:schemeClr val="tx1"/>
                </a:solidFill>
                <a:effectLst/>
                <a:latin typeface="+mn-lt"/>
                <a:ea typeface="+mn-ea"/>
                <a:cs typeface="+mn-cs"/>
              </a:rPr>
              <a:t>DPO </a:t>
            </a:r>
            <a:r>
              <a:rPr lang="zh-CN" altLang="en-US" sz="1200" b="0" kern="1200" dirty="0">
                <a:solidFill>
                  <a:schemeClr val="tx1"/>
                </a:solidFill>
                <a:effectLst/>
                <a:latin typeface="+mn-lt"/>
                <a:ea typeface="+mn-ea"/>
                <a:cs typeface="+mn-cs"/>
              </a:rPr>
              <a:t>为何在扩散模型上失效？</a:t>
            </a: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在扩散模型中评估样本似然 </a:t>
            </a:r>
            <a:r>
              <a:rPr lang="en-US" altLang="zh-CN" sz="1200" b="0" kern="1200" dirty="0">
                <a:solidFill>
                  <a:schemeClr val="tx1"/>
                </a:solidFill>
                <a:effectLst/>
                <a:latin typeface="+mn-lt"/>
                <a:ea typeface="+mn-ea"/>
                <a:cs typeface="+mn-cs"/>
              </a:rPr>
              <a:t>πθ​(</a:t>
            </a:r>
            <a:r>
              <a:rPr lang="en-US" altLang="zh-CN" sz="1200" b="0" kern="1200" dirty="0" err="1">
                <a:solidFill>
                  <a:schemeClr val="tx1"/>
                </a:solidFill>
                <a:effectLst/>
                <a:latin typeface="+mn-lt"/>
                <a:ea typeface="+mn-ea"/>
                <a:cs typeface="+mn-cs"/>
              </a:rPr>
              <a:t>x∣c</a:t>
            </a:r>
            <a:r>
              <a:rPr lang="en-US" altLang="zh-CN" sz="1200" b="0"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 需要用到 </a:t>
            </a:r>
            <a:r>
              <a:rPr lang="en-US" altLang="zh-CN" sz="1200" b="0" kern="1200" dirty="0">
                <a:solidFill>
                  <a:schemeClr val="tx1"/>
                </a:solidFill>
                <a:effectLst/>
                <a:latin typeface="+mn-lt"/>
                <a:ea typeface="+mn-ea"/>
                <a:cs typeface="+mn-cs"/>
              </a:rPr>
              <a:t>ODE </a:t>
            </a:r>
            <a:r>
              <a:rPr lang="zh-CN" altLang="en-US" sz="1200" b="0" kern="1200" dirty="0">
                <a:solidFill>
                  <a:schemeClr val="tx1"/>
                </a:solidFill>
                <a:effectLst/>
                <a:latin typeface="+mn-lt"/>
                <a:ea typeface="+mn-ea"/>
                <a:cs typeface="+mn-cs"/>
              </a:rPr>
              <a:t>求解的瞬时变量替换公式（漂移项的散度，见公式 </a:t>
            </a:r>
            <a:r>
              <a:rPr lang="en-US" altLang="zh-CN" sz="1200" b="0" kern="1200" dirty="0">
                <a:solidFill>
                  <a:schemeClr val="tx1"/>
                </a:solidFill>
                <a:effectLst/>
                <a:latin typeface="+mn-lt"/>
                <a:ea typeface="+mn-ea"/>
                <a:cs typeface="+mn-cs"/>
              </a:rPr>
              <a:t>4.2.7</a:t>
            </a:r>
            <a:r>
              <a:rPr lang="zh-CN" altLang="en-US" sz="1200" b="0" kern="1200" dirty="0">
                <a:solidFill>
                  <a:schemeClr val="tx1"/>
                </a:solidFill>
                <a:effectLst/>
                <a:latin typeface="+mn-lt"/>
                <a:ea typeface="+mn-ea"/>
                <a:cs typeface="+mn-cs"/>
              </a:rPr>
              <a:t>），计算代价极高。此外，对整个采样轨迹求导可能会遇到梯度消失或爆炸问题。为避免这些问题，</a:t>
            </a:r>
            <a:r>
              <a:rPr lang="en-US" altLang="zh-CN" sz="1200" b="0" kern="1200" dirty="0">
                <a:solidFill>
                  <a:schemeClr val="tx1"/>
                </a:solidFill>
                <a:effectLst/>
                <a:latin typeface="+mn-lt"/>
                <a:ea typeface="+mn-ea"/>
                <a:cs typeface="+mn-cs"/>
              </a:rPr>
              <a:t>Diffusion-DPO </a:t>
            </a:r>
            <a:r>
              <a:rPr lang="zh-CN" altLang="en-US" sz="1200" b="0" kern="1200" dirty="0">
                <a:solidFill>
                  <a:schemeClr val="tx1"/>
                </a:solidFill>
                <a:effectLst/>
                <a:latin typeface="+mn-lt"/>
                <a:ea typeface="+mn-ea"/>
                <a:cs typeface="+mn-cs"/>
              </a:rPr>
              <a:t>在</a:t>
            </a:r>
            <a:r>
              <a:rPr lang="zh-CN" altLang="en-US" sz="1200" b="1" kern="1200" dirty="0">
                <a:solidFill>
                  <a:schemeClr val="tx1"/>
                </a:solidFill>
                <a:effectLst/>
                <a:latin typeface="+mn-lt"/>
                <a:ea typeface="+mn-ea"/>
                <a:cs typeface="+mn-cs"/>
              </a:rPr>
              <a:t>路径层面</a:t>
            </a:r>
            <a:r>
              <a:rPr lang="zh-CN" altLang="en-US" sz="1200" b="0" kern="1200" dirty="0">
                <a:solidFill>
                  <a:schemeClr val="tx1"/>
                </a:solidFill>
                <a:effectLst/>
                <a:latin typeface="+mn-lt"/>
                <a:ea typeface="+mn-ea"/>
                <a:cs typeface="+mn-cs"/>
              </a:rPr>
              <a:t>进行操作。我们以离散时间扩散模型（如 </a:t>
            </a:r>
            <a:r>
              <a:rPr lang="en-US" altLang="zh-CN" sz="1200" b="0" kern="1200" dirty="0">
                <a:solidFill>
                  <a:schemeClr val="tx1"/>
                </a:solidFill>
                <a:effectLst/>
                <a:latin typeface="+mn-lt"/>
                <a:ea typeface="+mn-ea"/>
                <a:cs typeface="+mn-cs"/>
              </a:rPr>
              <a:t>DDPM</a:t>
            </a:r>
            <a:r>
              <a:rPr lang="zh-CN" altLang="en-US" sz="1200" b="0" kern="1200" dirty="0">
                <a:solidFill>
                  <a:schemeClr val="tx1"/>
                </a:solidFill>
                <a:effectLst/>
                <a:latin typeface="+mn-lt"/>
                <a:ea typeface="+mn-ea"/>
                <a:cs typeface="+mn-cs"/>
              </a:rPr>
              <a:t>）为例，连续时间扩散模型的推导是类似的。</a:t>
            </a:r>
            <a:br>
              <a:rPr lang="en-US" altLang="zh-CN" sz="1200" b="0" kern="1200" dirty="0">
                <a:solidFill>
                  <a:schemeClr val="tx1"/>
                </a:solidFill>
                <a:effectLst/>
                <a:latin typeface="+mn-lt"/>
                <a:ea typeface="+mn-ea"/>
                <a:cs typeface="+mn-cs"/>
              </a:rPr>
            </a:br>
            <a:r>
              <a:rPr lang="zh-CN" altLang="en-US" dirty="0"/>
              <a:t>既然只看最终的图片 </a:t>
            </a:r>
            <a:r>
              <a:rPr lang="en-US" altLang="zh-CN" sz="1200" kern="1200" dirty="0">
                <a:solidFill>
                  <a:schemeClr val="tx1"/>
                </a:solidFill>
                <a:effectLst/>
                <a:latin typeface="+mn-lt"/>
                <a:ea typeface="+mn-ea"/>
                <a:cs typeface="+mn-cs"/>
              </a:rPr>
              <a:t>$\</a:t>
            </a:r>
            <a:r>
              <a:rPr lang="en-US" altLang="zh-CN" sz="1200" kern="1200" dirty="0" err="1">
                <a:solidFill>
                  <a:schemeClr val="tx1"/>
                </a:solidFill>
                <a:effectLst/>
                <a:latin typeface="+mn-lt"/>
                <a:ea typeface="+mn-ea"/>
                <a:cs typeface="+mn-cs"/>
              </a:rPr>
              <a:t>mathbf</a:t>
            </a:r>
            <a:r>
              <a:rPr lang="en-US" altLang="zh-CN" sz="1200" kern="1200" dirty="0">
                <a:solidFill>
                  <a:schemeClr val="tx1"/>
                </a:solidFill>
                <a:effectLst/>
                <a:latin typeface="+mn-lt"/>
                <a:ea typeface="+mn-ea"/>
                <a:cs typeface="+mn-cs"/>
              </a:rPr>
              <a:t>{x}_0$</a:t>
            </a:r>
            <a:r>
              <a:rPr lang="zh-CN" altLang="en-US" dirty="0"/>
              <a:t> 算不出概率，作者提出：</a:t>
            </a:r>
            <a:r>
              <a:rPr lang="zh-CN" altLang="en-US" sz="1200" b="1" kern="1200" dirty="0">
                <a:solidFill>
                  <a:schemeClr val="tx1"/>
                </a:solidFill>
                <a:effectLst/>
                <a:latin typeface="+mn-lt"/>
                <a:ea typeface="+mn-ea"/>
                <a:cs typeface="+mn-cs"/>
              </a:rPr>
              <a:t>我们不要去评估单张图片的概率了，我们去评估整条降噪轨迹的概率！</a:t>
            </a:r>
            <a:endParaRPr lang="zh-CN" altLang="en-US" sz="1200" b="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B4AC3B35-2A78-4970-B85C-E076431EEB48}" type="slidenum">
              <a:rPr lang="zh-CN" altLang="en-US" smtClean="0"/>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定义</a:t>
            </a:r>
            <a:r>
              <a:rPr lang="en-US" altLang="zh-CN" dirty="0"/>
              <a:t>x0:t</a:t>
            </a:r>
            <a:r>
              <a:rPr lang="zh-CN" altLang="en-US" dirty="0"/>
              <a:t>为整条去噪路径，然后我们把</a:t>
            </a:r>
            <a:r>
              <a:rPr lang="en-US" altLang="zh-CN" dirty="0"/>
              <a:t>DPO</a:t>
            </a:r>
            <a:r>
              <a:rPr lang="zh-CN" altLang="en-US" dirty="0"/>
              <a:t>损失函数中的原本</a:t>
            </a:r>
            <a:r>
              <a:rPr lang="en-US" altLang="zh-CN" dirty="0"/>
              <a:t>sample wise</a:t>
            </a:r>
            <a:r>
              <a:rPr lang="zh-CN" altLang="en-US" dirty="0"/>
              <a:t>的</a:t>
            </a:r>
            <a:r>
              <a:rPr lang="en-US" altLang="zh-CN" dirty="0"/>
              <a:t>reward</a:t>
            </a:r>
            <a:r>
              <a:rPr lang="zh-CN" altLang="en-US" dirty="0"/>
              <a:t>替换为</a:t>
            </a:r>
            <a:r>
              <a:rPr lang="en-US" altLang="zh-CN" dirty="0"/>
              <a:t>path wise</a:t>
            </a:r>
            <a:r>
              <a:rPr lang="zh-CN" altLang="en-US" dirty="0"/>
              <a:t>的</a:t>
            </a:r>
            <a:r>
              <a:rPr lang="en-US" altLang="zh-CN" dirty="0"/>
              <a:t>reward</a:t>
            </a:r>
            <a:r>
              <a:rPr lang="zh-CN" altLang="en-US" dirty="0"/>
              <a:t>，显然它有一个和原来</a:t>
            </a:r>
            <a:r>
              <a:rPr lang="en-US" altLang="zh-CN" dirty="0" err="1"/>
              <a:t>dpo</a:t>
            </a:r>
            <a:r>
              <a:rPr lang="zh-CN" altLang="en-US" dirty="0"/>
              <a:t>最优化问题一样的闭市解</a:t>
            </a:r>
            <a:r>
              <a:rPr lang="en-US" altLang="zh-CN" dirty="0"/>
              <a:t>pi star</a:t>
            </a:r>
            <a:r>
              <a:rPr lang="zh-CN" altLang="en-US" dirty="0"/>
              <a:t>，只不过其中的</a:t>
            </a:r>
            <a:r>
              <a:rPr lang="en-US" altLang="zh-CN" dirty="0"/>
              <a:t>reward</a:t>
            </a:r>
            <a:r>
              <a:rPr lang="zh-CN" altLang="en-US" dirty="0"/>
              <a:t>替换为</a:t>
            </a:r>
            <a:r>
              <a:rPr lang="en-US" altLang="zh-CN" dirty="0"/>
              <a:t>path wise</a:t>
            </a:r>
            <a:r>
              <a:rPr lang="zh-CN" altLang="en-US" dirty="0"/>
              <a:t>的。对</a:t>
            </a:r>
            <a:r>
              <a:rPr lang="en-US" altLang="zh-CN" dirty="0"/>
              <a:t>pi star</a:t>
            </a:r>
            <a:r>
              <a:rPr lang="zh-CN" altLang="en-US" dirty="0"/>
              <a:t>这个式子进行移项后，我们仍然可以得到</a:t>
            </a:r>
            <a:r>
              <a:rPr lang="en-US" altLang="zh-CN" dirty="0"/>
              <a:t>sample wise </a:t>
            </a:r>
            <a:r>
              <a:rPr lang="en-US" altLang="zh-CN" dirty="0" err="1"/>
              <a:t>dpo</a:t>
            </a:r>
            <a:r>
              <a:rPr lang="zh-CN" altLang="en-US" dirty="0"/>
              <a:t>那样的隐式奖励函数，把它带入</a:t>
            </a:r>
            <a:r>
              <a:rPr lang="en-US" altLang="zh-CN" dirty="0" err="1"/>
              <a:t>dpo</a:t>
            </a:r>
            <a:r>
              <a:rPr lang="zh-CN" altLang="en-US" dirty="0"/>
              <a:t>损失函数，就成功地消除了显式的</a:t>
            </a:r>
            <a:r>
              <a:rPr lang="en-US" altLang="zh-CN" dirty="0"/>
              <a:t>reward model</a:t>
            </a:r>
            <a:r>
              <a:rPr lang="zh-CN" altLang="en-US" dirty="0"/>
              <a:t>，正如我们在</a:t>
            </a:r>
            <a:r>
              <a:rPr lang="en-US" altLang="zh-CN" dirty="0"/>
              <a:t>sample wise</a:t>
            </a:r>
            <a:r>
              <a:rPr lang="zh-CN" altLang="en-US" dirty="0"/>
              <a:t>的情况下所做的一样！</a:t>
            </a:r>
            <a:br>
              <a:rPr lang="en-US" altLang="zh-CN" dirty="0"/>
            </a:br>
            <a:endParaRPr lang="zh-CN" altLang="en-US" dirty="0"/>
          </a:p>
        </p:txBody>
      </p:sp>
      <p:sp>
        <p:nvSpPr>
          <p:cNvPr id="4" name="灯片编号占位符 3"/>
          <p:cNvSpPr>
            <a:spLocks noGrp="1"/>
          </p:cNvSpPr>
          <p:nvPr>
            <p:ph type="sldNum" sz="quarter" idx="5"/>
          </p:nvPr>
        </p:nvSpPr>
        <p:spPr/>
        <p:txBody>
          <a:bodyPr/>
          <a:lstStyle/>
          <a:p>
            <a:fld id="{B4AC3B35-2A78-4970-B85C-E076431EEB48}" type="slidenum">
              <a:rPr lang="zh-CN" altLang="en-US" smtClean="0"/>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端点条件导致路径后验难以处理：</a:t>
            </a:r>
            <a:r>
              <a:rPr lang="en-US" altLang="zh-CN" dirty="0"/>
              <a:t>Eπθ​(x1:T​∣x0​,c)​[⋅] </a:t>
            </a:r>
            <a:r>
              <a:rPr lang="zh-CN" altLang="en-US" dirty="0"/>
              <a:t>需要对约束到 </a:t>
            </a:r>
            <a:r>
              <a:rPr lang="en-US" altLang="zh-CN" dirty="0"/>
              <a:t>x0​ </a:t>
            </a:r>
            <a:r>
              <a:rPr lang="zh-CN" altLang="en-US" dirty="0"/>
              <a:t>的逆路径求平均，而采样器实际运行的是 </a:t>
            </a:r>
            <a:r>
              <a:rPr lang="en-US" altLang="zh-CN" dirty="0" err="1"/>
              <a:t>xT</a:t>
            </a:r>
            <a:r>
              <a:rPr lang="en-US" altLang="zh-CN" dirty="0"/>
              <a:t>​→⋯→x0​</a:t>
            </a:r>
            <a:r>
              <a:rPr lang="zh-CN" altLang="en-US" dirty="0"/>
              <a:t>，无此约束。对端点的条件会形成扩散桥后验，通常无闭式解，且采样代价极高。</a:t>
            </a:r>
            <a:endParaRPr lang="zh-CN" altLang="en-US" dirty="0"/>
          </a:p>
          <a:p>
            <a:r>
              <a:rPr lang="zh-CN" altLang="en-US" dirty="0"/>
              <a:t>嵌套的、与 </a:t>
            </a:r>
            <a:r>
              <a:rPr lang="en-US" altLang="zh-CN" dirty="0"/>
              <a:t>θ </a:t>
            </a:r>
            <a:r>
              <a:rPr lang="zh-CN" altLang="en-US" dirty="0"/>
              <a:t>耦合的期望：损失 −</a:t>
            </a:r>
            <a:r>
              <a:rPr lang="en-US" altLang="zh-CN" dirty="0" err="1"/>
              <a:t>logσ</a:t>
            </a:r>
            <a:r>
              <a:rPr lang="en-US" altLang="zh-CN" dirty="0"/>
              <a:t>(ΔR(</a:t>
            </a:r>
            <a:r>
              <a:rPr lang="en-US" altLang="zh-CN" dirty="0" err="1"/>
              <a:t>c;θ</a:t>
            </a:r>
            <a:r>
              <a:rPr lang="en-US" altLang="zh-CN" dirty="0"/>
              <a:t>)) </a:t>
            </a:r>
            <a:r>
              <a:rPr lang="zh-CN" altLang="en-US" dirty="0"/>
              <a:t>中，路径联合分布和被积函数 </a:t>
            </a:r>
            <a:r>
              <a:rPr lang="en-US" altLang="zh-CN" dirty="0"/>
              <a:t>Rπθ​​ </a:t>
            </a:r>
            <a:r>
              <a:rPr lang="zh-CN" altLang="en-US" dirty="0"/>
              <a:t>都依赖于 </a:t>
            </a:r>
            <a:r>
              <a:rPr lang="en-US" altLang="zh-CN" dirty="0"/>
              <a:t>θ</a:t>
            </a:r>
            <a:r>
              <a:rPr lang="zh-CN" altLang="en-US" dirty="0"/>
              <a:t>。因此  必须通过采样分布求导，导致 </a:t>
            </a:r>
            <a:r>
              <a:rPr lang="en-US" altLang="zh-CN" dirty="0"/>
              <a:t>REINFORCE / </a:t>
            </a:r>
            <a:r>
              <a:rPr lang="zh-CN" altLang="en-US" dirty="0"/>
              <a:t>路径耦合和高方差梯度。</a:t>
            </a:r>
            <a:endParaRPr lang="zh-CN" altLang="en-US" dirty="0"/>
          </a:p>
          <a:p>
            <a:r>
              <a:rPr lang="zh-CN" altLang="en-US" dirty="0"/>
              <a:t>长链、大求和与昂贵反向传播：在 </a:t>
            </a:r>
            <a:r>
              <a:rPr lang="en-US" altLang="zh-CN" dirty="0"/>
              <a:t>Rπθ​​(c,x0:T​) </a:t>
            </a:r>
            <a:r>
              <a:rPr lang="zh-CN" altLang="en-US" dirty="0"/>
              <a:t>中，计算</a:t>
            </a:r>
            <a:r>
              <a:rPr lang="en-US" altLang="zh-CN" dirty="0"/>
              <a:t>β[logπθ​(x0:T​∣c)−logπref​(x0:T​∣c)]</a:t>
            </a:r>
            <a:r>
              <a:rPr lang="zh-CN" altLang="en-US" dirty="0"/>
              <a:t>需要对策略 </a:t>
            </a:r>
            <a:r>
              <a:rPr lang="en-US" altLang="zh-CN" dirty="0"/>
              <a:t>πθ​ </a:t>
            </a:r>
            <a:r>
              <a:rPr lang="zh-CN" altLang="en-US" dirty="0"/>
              <a:t>和参考 </a:t>
            </a:r>
            <a:r>
              <a:rPr lang="en-US" altLang="zh-CN" dirty="0"/>
              <a:t>πref​</a:t>
            </a:r>
            <a:r>
              <a:rPr lang="zh-CN" altLang="en-US" dirty="0"/>
              <a:t>、胜者 </a:t>
            </a:r>
            <a:r>
              <a:rPr lang="en-US" altLang="zh-CN" dirty="0"/>
              <a:t>/ </a:t>
            </a:r>
            <a:r>
              <a:rPr lang="zh-CN" altLang="en-US" dirty="0"/>
              <a:t>败者路径，分别计算 </a:t>
            </a:r>
            <a:r>
              <a:rPr lang="en-US" altLang="zh-CN" dirty="0"/>
              <a:t>O(T) </a:t>
            </a:r>
            <a:r>
              <a:rPr lang="zh-CN" altLang="en-US" dirty="0"/>
              <a:t>步的逐步对数密度（</a:t>
            </a:r>
            <a:r>
              <a:rPr lang="en-US" altLang="zh-CN" dirty="0"/>
              <a:t>T∼102−103</a:t>
            </a:r>
            <a:r>
              <a:rPr lang="zh-CN" altLang="en-US" dirty="0"/>
              <a:t>）。通过这些随机链（或桥采样器）反向传播，内存和计算开销极大且不稳定；对每个样本对重复多次、遍历所有三元组，会使训练超出实际预算。</a:t>
            </a:r>
            <a:endParaRPr lang="zh-CN" altLang="en-US" dirty="0"/>
          </a:p>
        </p:txBody>
      </p:sp>
      <p:sp>
        <p:nvSpPr>
          <p:cNvPr id="4" name="灯片编号占位符 3"/>
          <p:cNvSpPr>
            <a:spLocks noGrp="1"/>
          </p:cNvSpPr>
          <p:nvPr>
            <p:ph type="sldNum" sz="quarter" idx="5"/>
          </p:nvPr>
        </p:nvSpPr>
        <p:spPr/>
        <p:txBody>
          <a:bodyPr/>
          <a:lstStyle/>
          <a:p>
            <a:fld id="{B4AC3B35-2A78-4970-B85C-E076431EEB48}" type="slidenum">
              <a:rPr lang="zh-CN" altLang="en-US" smtClean="0"/>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首先，我们看</a:t>
            </a:r>
            <a:r>
              <a:rPr lang="en-US" altLang="zh-CN" dirty="0" err="1"/>
              <a:t>dpo</a:t>
            </a:r>
            <a:r>
              <a:rPr lang="zh-CN" altLang="en-US" dirty="0"/>
              <a:t>损失函数里边这个</a:t>
            </a:r>
            <a:r>
              <a:rPr lang="en-US" altLang="zh-CN" dirty="0"/>
              <a:t>log sigma</a:t>
            </a:r>
            <a:r>
              <a:rPr lang="zh-CN" altLang="en-US" dirty="0"/>
              <a:t>的部分，</a:t>
            </a:r>
            <a:r>
              <a:rPr lang="en-US" altLang="zh-CN" dirty="0"/>
              <a:t>delta reward</a:t>
            </a:r>
            <a:r>
              <a:rPr lang="zh-CN" altLang="en-US" dirty="0"/>
              <a:t>是含有期望的，一般我们希望用采样代替求期望，所以我们先要想办法吧期望移动到</a:t>
            </a:r>
            <a:r>
              <a:rPr lang="en-US" altLang="zh-CN" dirty="0"/>
              <a:t>log sigma</a:t>
            </a:r>
            <a:r>
              <a:rPr lang="zh-CN" altLang="en-US" dirty="0"/>
              <a:t>外面。而因为负的</a:t>
            </a:r>
            <a:r>
              <a:rPr lang="en-US" altLang="zh-CN" dirty="0"/>
              <a:t>log sigma x</a:t>
            </a:r>
            <a:r>
              <a:rPr lang="zh-CN" altLang="en-US" dirty="0"/>
              <a:t>是一个关于</a:t>
            </a:r>
            <a:r>
              <a:rPr lang="en-US" altLang="zh-CN" dirty="0"/>
              <a:t>x</a:t>
            </a:r>
            <a:r>
              <a:rPr lang="zh-CN" altLang="en-US" dirty="0"/>
              <a:t>的严格凸函数，因此，我们可以利用</a:t>
            </a:r>
            <a:r>
              <a:rPr lang="en-US" altLang="zh-CN" dirty="0" err="1"/>
              <a:t>jenson</a:t>
            </a:r>
            <a:r>
              <a:rPr lang="zh-CN" altLang="en-US" dirty="0"/>
              <a:t>不等式，得到损失函数的一个</a:t>
            </a:r>
            <a:r>
              <a:rPr lang="en-US" altLang="zh-CN" dirty="0"/>
              <a:t>upper bound,</a:t>
            </a:r>
            <a:r>
              <a:rPr lang="zh-CN" altLang="en-US" dirty="0"/>
              <a:t>于是我们接下来的处理对象就变成了这个</a:t>
            </a:r>
            <a:r>
              <a:rPr lang="en-US" altLang="zh-CN" dirty="0"/>
              <a:t>upper bound</a:t>
            </a:r>
            <a:endParaRPr lang="zh-CN" altLang="en-US" dirty="0"/>
          </a:p>
        </p:txBody>
      </p:sp>
      <p:sp>
        <p:nvSpPr>
          <p:cNvPr id="4" name="灯片编号占位符 3"/>
          <p:cNvSpPr>
            <a:spLocks noGrp="1"/>
          </p:cNvSpPr>
          <p:nvPr>
            <p:ph type="sldNum" sz="quarter" idx="5"/>
          </p:nvPr>
        </p:nvSpPr>
        <p:spPr/>
        <p:txBody>
          <a:bodyPr/>
          <a:lstStyle/>
          <a:p>
            <a:fld id="{B4AC3B35-2A78-4970-B85C-E076431EEB48}" type="slidenum">
              <a:rPr lang="zh-CN" altLang="en-US" smtClean="0"/>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经过上面的处理，我们关注的对象就变成了这个</a:t>
            </a:r>
            <a:r>
              <a:rPr lang="en-US" altLang="zh-CN" dirty="0"/>
              <a:t>upper bound</a:t>
            </a:r>
            <a:r>
              <a:rPr lang="zh-CN" altLang="en-US" dirty="0"/>
              <a:t>，利用逆过程的马尔可夫性</a:t>
            </a:r>
            <a:r>
              <a:rPr lang="en-US" altLang="zh-CN" sz="1200" b="0" kern="1200" dirty="0">
                <a:solidFill>
                  <a:schemeClr val="tx1"/>
                </a:solidFill>
                <a:effectLst/>
                <a:latin typeface="+mn-lt"/>
                <a:ea typeface="+mn-ea"/>
                <a:cs typeface="+mn-cs"/>
              </a:rPr>
              <a:t>​</a:t>
            </a:r>
            <a:r>
              <a:rPr lang="zh-CN" altLang="en-US" dirty="0"/>
              <a:t>分解 </a:t>
            </a:r>
            <a:r>
              <a:rPr lang="zh-CN" altLang="en-US" sz="1200" b="0" kern="1200" dirty="0">
                <a:solidFill>
                  <a:schemeClr val="tx1"/>
                </a:solidFill>
                <a:effectLst/>
                <a:latin typeface="+mn-lt"/>
                <a:ea typeface="+mn-ea"/>
                <a:cs typeface="+mn-cs"/>
              </a:rPr>
              <a:t>这个</a:t>
            </a:r>
            <a:r>
              <a:rPr lang="zh-CN" altLang="en-US" dirty="0"/>
              <a:t>上界，就可以将路径级偏好表示为逐步贡献之和，</a:t>
            </a:r>
            <a:endParaRPr lang="zh-CN" altLang="en-US" dirty="0"/>
          </a:p>
        </p:txBody>
      </p:sp>
      <p:sp>
        <p:nvSpPr>
          <p:cNvPr id="4" name="灯片编号占位符 3"/>
          <p:cNvSpPr>
            <a:spLocks noGrp="1"/>
          </p:cNvSpPr>
          <p:nvPr>
            <p:ph type="sldNum" sz="quarter" idx="5"/>
          </p:nvPr>
        </p:nvSpPr>
        <p:spPr/>
        <p:txBody>
          <a:bodyPr/>
          <a:lstStyle/>
          <a:p>
            <a:fld id="{B4AC3B35-2A78-4970-B85C-E076431EEB48}" type="slidenum">
              <a:rPr lang="zh-CN" altLang="en-US" smtClean="0"/>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经过上面的处理，我们关注的对象就变成了这个</a:t>
            </a:r>
            <a:r>
              <a:rPr lang="en-US" altLang="zh-CN" dirty="0"/>
              <a:t>upper bound</a:t>
            </a:r>
            <a:r>
              <a:rPr lang="zh-CN" altLang="en-US" dirty="0"/>
              <a:t>，利用逆过程的马尔可夫性</a:t>
            </a:r>
            <a:r>
              <a:rPr lang="en-US" altLang="zh-CN" sz="1200" b="0" kern="1200" dirty="0">
                <a:solidFill>
                  <a:schemeClr val="tx1"/>
                </a:solidFill>
                <a:effectLst/>
                <a:latin typeface="+mn-lt"/>
                <a:ea typeface="+mn-ea"/>
                <a:cs typeface="+mn-cs"/>
              </a:rPr>
              <a:t>​</a:t>
            </a:r>
            <a:r>
              <a:rPr lang="zh-CN" altLang="en-US" dirty="0"/>
              <a:t>分解 </a:t>
            </a:r>
            <a:r>
              <a:rPr lang="zh-CN" altLang="en-US" sz="1200" b="0" kern="1200" dirty="0">
                <a:solidFill>
                  <a:schemeClr val="tx1"/>
                </a:solidFill>
                <a:effectLst/>
                <a:latin typeface="+mn-lt"/>
                <a:ea typeface="+mn-ea"/>
                <a:cs typeface="+mn-cs"/>
              </a:rPr>
              <a:t>这个</a:t>
            </a:r>
            <a:r>
              <a:rPr lang="zh-CN" altLang="en-US" dirty="0"/>
              <a:t>上界，就可以将路径级偏好表示为逐步贡献之和，</a:t>
            </a:r>
            <a:br>
              <a:rPr lang="en-US" altLang="zh-CN" dirty="0"/>
            </a:br>
            <a:r>
              <a:rPr lang="zh-CN" altLang="en-US" dirty="0"/>
              <a:t>可以注意到，里面这个对</a:t>
            </a:r>
            <a:r>
              <a:rPr lang="en-US" altLang="zh-CN" dirty="0"/>
              <a:t>delta t</a:t>
            </a:r>
            <a:r>
              <a:rPr lang="zh-CN" altLang="en-US" dirty="0"/>
              <a:t>求和的部分，如果提一个</a:t>
            </a:r>
            <a:r>
              <a:rPr lang="en-US" altLang="zh-CN" dirty="0"/>
              <a:t>T</a:t>
            </a:r>
            <a:r>
              <a:rPr lang="zh-CN" altLang="en-US" dirty="0"/>
              <a:t>因子出来，那它就等于</a:t>
            </a:r>
            <a:r>
              <a:rPr lang="en-US" altLang="zh-CN" dirty="0"/>
              <a:t>delta T</a:t>
            </a:r>
            <a:r>
              <a:rPr lang="zh-CN" altLang="en-US" dirty="0"/>
              <a:t>的期望，而对于</a:t>
            </a:r>
            <a:r>
              <a:rPr lang="en-US" altLang="zh-CN" dirty="0"/>
              <a:t>log sigma</a:t>
            </a:r>
            <a:r>
              <a:rPr lang="zh-CN" altLang="en-US" dirty="0"/>
              <a:t>里面的期望，我们可以像之前那样，再次运用</a:t>
            </a:r>
            <a:r>
              <a:rPr lang="en-US" altLang="zh-CN" dirty="0" err="1"/>
              <a:t>jenson</a:t>
            </a:r>
            <a:r>
              <a:rPr lang="zh-CN" altLang="en-US" dirty="0"/>
              <a:t>不等式的技巧，将它提到外面</a:t>
            </a:r>
            <a:br>
              <a:rPr lang="en-US" altLang="zh-CN" dirty="0"/>
            </a:br>
            <a:r>
              <a:rPr lang="zh-CN" altLang="en-US" dirty="0"/>
              <a:t>这一步的意义在于，它将原始路径损失降为可处理的单步上界估计器，我们把对路径采样转化为对单个时间步采样，现在期望中没有了</a:t>
            </a:r>
            <a:r>
              <a:rPr lang="en-US" altLang="zh-CN" dirty="0"/>
              <a:t>theta</a:t>
            </a:r>
            <a:r>
              <a:rPr lang="zh-CN" altLang="en-US" dirty="0"/>
              <a:t>，我们更新策略也不必使用</a:t>
            </a:r>
            <a:r>
              <a:rPr lang="en-US" altLang="zh-CN" dirty="0"/>
              <a:t>reinforce</a:t>
            </a:r>
            <a:r>
              <a:rPr lang="zh-CN" altLang="en-US" dirty="0"/>
              <a:t>那样的强化学习算法了，从而</a:t>
            </a:r>
            <a:r>
              <a:rPr lang="en-US" altLang="zh-CN" dirty="0" err="1"/>
              <a:t>dpo</a:t>
            </a:r>
            <a:r>
              <a:rPr lang="zh-CN" altLang="en-US" dirty="0"/>
              <a:t>的一个重要优点得以保留。</a:t>
            </a:r>
            <a:br>
              <a:rPr lang="en-US" altLang="zh-CN" dirty="0"/>
            </a:br>
            <a:r>
              <a:rPr lang="zh-CN" altLang="en-US" dirty="0"/>
              <a:t>此外，单步采样也避免了每次算梯度都要跑完 </a:t>
            </a:r>
            <a:r>
              <a:rPr lang="en-US" altLang="zh-CN" sz="1200" kern="1200" dirty="0">
                <a:solidFill>
                  <a:schemeClr val="tx1"/>
                </a:solidFill>
                <a:effectLst/>
                <a:latin typeface="+mn-lt"/>
                <a:ea typeface="+mn-ea"/>
                <a:cs typeface="+mn-cs"/>
              </a:rPr>
              <a:t>$T$</a:t>
            </a:r>
            <a:r>
              <a:rPr lang="en-US" altLang="zh-CN" dirty="0"/>
              <a:t> </a:t>
            </a:r>
            <a:r>
              <a:rPr lang="zh-CN" altLang="en-US" dirty="0"/>
              <a:t>步前向传播的巨大计算量</a:t>
            </a:r>
            <a:endParaRPr lang="zh-CN" altLang="en-US" dirty="0"/>
          </a:p>
        </p:txBody>
      </p:sp>
      <p:sp>
        <p:nvSpPr>
          <p:cNvPr id="4" name="灯片编号占位符 3"/>
          <p:cNvSpPr>
            <a:spLocks noGrp="1"/>
          </p:cNvSpPr>
          <p:nvPr>
            <p:ph type="sldNum" sz="quarter" idx="5"/>
          </p:nvPr>
        </p:nvSpPr>
        <p:spPr/>
        <p:txBody>
          <a:bodyPr/>
          <a:lstStyle/>
          <a:p>
            <a:fld id="{B4AC3B35-2A78-4970-B85C-E076431EEB48}" type="slidenum">
              <a:rPr lang="zh-CN" altLang="en-US" smtClean="0"/>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在扩散模型中，反向过程 </a:t>
            </a:r>
            <a:r>
              <a:rPr lang="en-US" altLang="zh-CN" sz="1200" kern="1200" dirty="0">
                <a:solidFill>
                  <a:schemeClr val="tx1"/>
                </a:solidFill>
                <a:effectLst/>
                <a:latin typeface="+mn-lt"/>
                <a:ea typeface="+mn-ea"/>
                <a:cs typeface="+mn-cs"/>
              </a:rPr>
              <a:t>$\pi_\theta(\</a:t>
            </a:r>
            <a:r>
              <a:rPr lang="en-US" altLang="zh-CN" sz="1200" kern="1200" dirty="0" err="1">
                <a:solidFill>
                  <a:schemeClr val="tx1"/>
                </a:solidFill>
                <a:effectLst/>
                <a:latin typeface="+mn-lt"/>
                <a:ea typeface="+mn-ea"/>
                <a:cs typeface="+mn-cs"/>
              </a:rPr>
              <a:t>mathbf</a:t>
            </a:r>
            <a:r>
              <a:rPr lang="en-US" altLang="zh-CN" sz="1200" kern="1200" dirty="0">
                <a:solidFill>
                  <a:schemeClr val="tx1"/>
                </a:solidFill>
                <a:effectLst/>
                <a:latin typeface="+mn-lt"/>
                <a:ea typeface="+mn-ea"/>
                <a:cs typeface="+mn-cs"/>
              </a:rPr>
              <a:t>{x}_{t-1}|\</a:t>
            </a:r>
            <a:r>
              <a:rPr lang="en-US" altLang="zh-CN" sz="1200" kern="1200" dirty="0" err="1">
                <a:solidFill>
                  <a:schemeClr val="tx1"/>
                </a:solidFill>
                <a:effectLst/>
                <a:latin typeface="+mn-lt"/>
                <a:ea typeface="+mn-ea"/>
                <a:cs typeface="+mn-cs"/>
              </a:rPr>
              <a:t>mathbf</a:t>
            </a:r>
            <a:r>
              <a:rPr lang="en-US" altLang="zh-CN" sz="1200" kern="1200" dirty="0">
                <a:solidFill>
                  <a:schemeClr val="tx1"/>
                </a:solidFill>
                <a:effectLst/>
                <a:latin typeface="+mn-lt"/>
                <a:ea typeface="+mn-ea"/>
                <a:cs typeface="+mn-cs"/>
              </a:rPr>
              <a:t>{x}_t)$</a:t>
            </a:r>
            <a:r>
              <a:rPr lang="en-US" altLang="zh-CN" dirty="0"/>
              <a:t> </a:t>
            </a:r>
            <a:r>
              <a:rPr lang="zh-CN" altLang="en-US" dirty="0"/>
              <a:t>是一个高斯分布。那我们可以将高斯分布的概率密度带进去，如果以</a:t>
            </a:r>
            <a:r>
              <a:rPr lang="en-US" altLang="zh-CN" dirty="0" err="1"/>
              <a:t>ddpm</a:t>
            </a:r>
            <a:r>
              <a:rPr lang="zh-CN" altLang="en-US" dirty="0"/>
              <a:t>为例，均值 </a:t>
            </a:r>
            <a:r>
              <a:rPr lang="en-US" altLang="zh-CN" sz="1200" kern="1200" dirty="0">
                <a:solidFill>
                  <a:schemeClr val="tx1"/>
                </a:solidFill>
                <a:effectLst/>
                <a:latin typeface="+mn-lt"/>
                <a:ea typeface="+mn-ea"/>
                <a:cs typeface="+mn-cs"/>
              </a:rPr>
              <a:t>$\mu_\theta$</a:t>
            </a:r>
            <a:r>
              <a:rPr lang="en-US" altLang="zh-CN" dirty="0"/>
              <a:t> </a:t>
            </a:r>
            <a:r>
              <a:rPr lang="zh-CN" altLang="en-US" dirty="0"/>
              <a:t>是通过模型预测的噪声 算出来的，而真实的 </a:t>
            </a:r>
            <a:r>
              <a:rPr lang="en-US" altLang="zh-CN" sz="1200" kern="1200" dirty="0">
                <a:solidFill>
                  <a:schemeClr val="tx1"/>
                </a:solidFill>
                <a:effectLst/>
                <a:latin typeface="+mn-lt"/>
                <a:ea typeface="+mn-ea"/>
                <a:cs typeface="+mn-cs"/>
              </a:rPr>
              <a:t>$\</a:t>
            </a:r>
            <a:r>
              <a:rPr lang="en-US" altLang="zh-CN" sz="1200" kern="1200" dirty="0" err="1">
                <a:solidFill>
                  <a:schemeClr val="tx1"/>
                </a:solidFill>
                <a:effectLst/>
                <a:latin typeface="+mn-lt"/>
                <a:ea typeface="+mn-ea"/>
                <a:cs typeface="+mn-cs"/>
              </a:rPr>
              <a:t>mathbf</a:t>
            </a:r>
            <a:r>
              <a:rPr lang="en-US" altLang="zh-CN" sz="1200" kern="1200" dirty="0">
                <a:solidFill>
                  <a:schemeClr val="tx1"/>
                </a:solidFill>
                <a:effectLst/>
                <a:latin typeface="+mn-lt"/>
                <a:ea typeface="+mn-ea"/>
                <a:cs typeface="+mn-cs"/>
              </a:rPr>
              <a:t>{x}_{t-1}$</a:t>
            </a:r>
            <a:r>
              <a:rPr lang="en-US" altLang="zh-CN" dirty="0"/>
              <a:t> </a:t>
            </a:r>
            <a:r>
              <a:rPr lang="zh-CN" altLang="en-US" dirty="0"/>
              <a:t>是由真实的注入噪声 </a:t>
            </a:r>
            <a:r>
              <a:rPr lang="en-US" altLang="zh-CN" sz="1200" kern="1200" dirty="0">
                <a:solidFill>
                  <a:schemeClr val="tx1"/>
                </a:solidFill>
                <a:effectLst/>
                <a:latin typeface="+mn-lt"/>
                <a:ea typeface="+mn-ea"/>
                <a:cs typeface="+mn-cs"/>
              </a:rPr>
              <a:t>$\epsilon$</a:t>
            </a:r>
            <a:r>
              <a:rPr lang="en-US" altLang="zh-CN" dirty="0"/>
              <a:t> </a:t>
            </a:r>
            <a:r>
              <a:rPr lang="zh-CN" altLang="en-US" dirty="0"/>
              <a:t>决定的。 代入 </a:t>
            </a:r>
            <a:r>
              <a:rPr lang="en-US" altLang="zh-CN" dirty="0"/>
              <a:t>DDPM </a:t>
            </a:r>
            <a:r>
              <a:rPr lang="zh-CN" altLang="en-US" dirty="0"/>
              <a:t>的参数化公式后，可以直接等价替换为预测噪声和真实噪声的均方误差（</a:t>
            </a:r>
            <a:r>
              <a:rPr lang="en-US" altLang="zh-CN" dirty="0"/>
              <a:t>MSE</a:t>
            </a:r>
            <a:r>
              <a:rPr lang="zh-CN" altLang="en-US" dirty="0"/>
              <a:t>），外加一个由 </a:t>
            </a:r>
            <a:r>
              <a:rPr lang="en-US" altLang="zh-CN" dirty="0"/>
              <a:t>schedule </a:t>
            </a:r>
            <a:r>
              <a:rPr lang="zh-CN" altLang="en-US" dirty="0"/>
              <a:t>决定的系数 </a:t>
            </a:r>
            <a:r>
              <a:rPr lang="en-US" altLang="zh-CN" sz="1200" kern="1200" dirty="0">
                <a:solidFill>
                  <a:schemeClr val="tx1"/>
                </a:solidFill>
                <a:effectLst/>
                <a:latin typeface="+mn-lt"/>
                <a:ea typeface="+mn-ea"/>
                <a:cs typeface="+mn-cs"/>
              </a:rPr>
              <a:t>$\</a:t>
            </a:r>
            <a:r>
              <a:rPr lang="en-US" altLang="zh-CN" sz="1200" kern="1200" dirty="0" err="1">
                <a:solidFill>
                  <a:schemeClr val="tx1"/>
                </a:solidFill>
                <a:effectLst/>
                <a:latin typeface="+mn-lt"/>
                <a:ea typeface="+mn-ea"/>
                <a:cs typeface="+mn-cs"/>
              </a:rPr>
              <a:t>lambda_t</a:t>
            </a:r>
            <a:r>
              <a:rPr lang="en-US"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。在这里，</a:t>
            </a:r>
            <a:r>
              <a:rPr lang="en-US" altLang="zh-CN" sz="1200" b="0" kern="1200" dirty="0" err="1">
                <a:solidFill>
                  <a:schemeClr val="tx1"/>
                </a:solidFill>
                <a:effectLst/>
                <a:latin typeface="+mn-lt"/>
                <a:ea typeface="+mn-ea"/>
                <a:cs typeface="+mn-cs"/>
              </a:rPr>
              <a:t>xt</a:t>
            </a:r>
            <a:r>
              <a:rPr lang="zh-CN" altLang="en-US" sz="1200" b="0" kern="1200" dirty="0">
                <a:solidFill>
                  <a:schemeClr val="tx1"/>
                </a:solidFill>
                <a:effectLst/>
                <a:latin typeface="+mn-lt"/>
                <a:ea typeface="+mn-ea"/>
                <a:cs typeface="+mn-cs"/>
              </a:rPr>
              <a:t>共享相同的噪声以降低方差</a:t>
            </a:r>
            <a:br>
              <a:rPr lang="en-US" altLang="zh-CN" sz="1200" b="0" kern="1200" dirty="0">
                <a:solidFill>
                  <a:schemeClr val="tx1"/>
                </a:solidFill>
                <a:effectLst/>
                <a:latin typeface="+mn-lt"/>
                <a:ea typeface="+mn-ea"/>
                <a:cs typeface="+mn-cs"/>
              </a:rPr>
            </a:br>
            <a:br>
              <a:rPr lang="en-US" altLang="zh-CN" sz="1200" b="0" kern="1200" dirty="0">
                <a:solidFill>
                  <a:schemeClr val="tx1"/>
                </a:solidFill>
                <a:effectLst/>
                <a:latin typeface="+mn-lt"/>
                <a:ea typeface="+mn-ea"/>
                <a:cs typeface="+mn-cs"/>
              </a:rPr>
            </a:br>
            <a:r>
              <a:rPr lang="zh-CN" altLang="en-US" sz="1200" b="0" kern="1200" dirty="0">
                <a:solidFill>
                  <a:schemeClr val="tx1"/>
                </a:solidFill>
                <a:effectLst/>
                <a:latin typeface="+mn-lt"/>
                <a:ea typeface="+mn-ea"/>
                <a:cs typeface="+mn-cs"/>
              </a:rPr>
              <a:t>于是我们把</a:t>
            </a:r>
            <a:r>
              <a:rPr lang="en-US" altLang="zh-CN" sz="1200" b="0" kern="1200" dirty="0">
                <a:solidFill>
                  <a:schemeClr val="tx1"/>
                </a:solidFill>
                <a:effectLst/>
                <a:latin typeface="+mn-lt"/>
                <a:ea typeface="+mn-ea"/>
                <a:cs typeface="+mn-cs"/>
              </a:rPr>
              <a:t>path wise </a:t>
            </a:r>
            <a:r>
              <a:rPr lang="en-US" altLang="zh-CN" sz="1200" b="0" kern="1200" dirty="0" err="1">
                <a:solidFill>
                  <a:schemeClr val="tx1"/>
                </a:solidFill>
                <a:effectLst/>
                <a:latin typeface="+mn-lt"/>
                <a:ea typeface="+mn-ea"/>
                <a:cs typeface="+mn-cs"/>
              </a:rPr>
              <a:t>dpo</a:t>
            </a:r>
            <a:r>
              <a:rPr lang="zh-CN" altLang="en-US" sz="1200" b="0" kern="1200" dirty="0">
                <a:solidFill>
                  <a:schemeClr val="tx1"/>
                </a:solidFill>
                <a:effectLst/>
                <a:latin typeface="+mn-lt"/>
                <a:ea typeface="+mn-ea"/>
                <a:cs typeface="+mn-cs"/>
              </a:rPr>
              <a:t>原本</a:t>
            </a:r>
            <a:r>
              <a:rPr lang="en-US" altLang="zh-CN" sz="1200" b="0" kern="1200" dirty="0" err="1">
                <a:solidFill>
                  <a:schemeClr val="tx1"/>
                </a:solidFill>
                <a:effectLst/>
                <a:latin typeface="+mn-lt"/>
                <a:ea typeface="+mn-ea"/>
                <a:cs typeface="+mn-cs"/>
              </a:rPr>
              <a:t>untractable</a:t>
            </a:r>
            <a:r>
              <a:rPr lang="zh-CN" altLang="en-US" sz="1200" b="0" kern="1200" dirty="0">
                <a:solidFill>
                  <a:schemeClr val="tx1"/>
                </a:solidFill>
                <a:effectLst/>
                <a:latin typeface="+mn-lt"/>
                <a:ea typeface="+mn-ea"/>
                <a:cs typeface="+mn-cs"/>
              </a:rPr>
              <a:t>的损失函数转化成了一个易于实践的代理损失</a:t>
            </a:r>
            <a:endParaRPr lang="zh-CN" altLang="en-US" dirty="0"/>
          </a:p>
        </p:txBody>
      </p:sp>
      <p:sp>
        <p:nvSpPr>
          <p:cNvPr id="4" name="灯片编号占位符 3"/>
          <p:cNvSpPr>
            <a:spLocks noGrp="1"/>
          </p:cNvSpPr>
          <p:nvPr>
            <p:ph type="sldNum" sz="quarter" idx="5"/>
          </p:nvPr>
        </p:nvSpPr>
        <p:spPr/>
        <p:txBody>
          <a:bodyPr/>
          <a:lstStyle/>
          <a:p>
            <a:fld id="{B4AC3B35-2A78-4970-B85C-E076431EEB48}" type="slidenum">
              <a:rPr lang="zh-CN" altLang="en-US" smtClean="0"/>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4AC3B35-2A78-4970-B85C-E076431EEB48}" type="slidenum">
              <a:rPr lang="zh-CN" altLang="en-US" smtClean="0"/>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“接下来我们看 </a:t>
            </a:r>
            <a:r>
              <a:rPr lang="en-US" altLang="zh-CN" dirty="0" err="1"/>
              <a:t>DreamBooth</a:t>
            </a:r>
            <a:r>
              <a:rPr lang="zh-CN" altLang="en-US" dirty="0"/>
              <a:t>，这是扩散模型在**个性化生成（</a:t>
            </a:r>
            <a:r>
              <a:rPr lang="en-US" altLang="zh-CN" dirty="0"/>
              <a:t>Personalization</a:t>
            </a:r>
            <a:r>
              <a:rPr lang="zh-CN" altLang="en-US" dirty="0"/>
              <a:t>）**领域的开山之作。它的任务定义非常具有挑战性：我们只需要提供 </a:t>
            </a:r>
            <a:r>
              <a:rPr lang="en-US" altLang="zh-CN" dirty="0"/>
              <a:t>3 </a:t>
            </a:r>
            <a:r>
              <a:rPr lang="zh-CN" altLang="en-US" dirty="0"/>
              <a:t>到 </a:t>
            </a:r>
            <a:r>
              <a:rPr lang="en-US" altLang="zh-CN" dirty="0"/>
              <a:t>5 </a:t>
            </a:r>
            <a:r>
              <a:rPr lang="zh-CN" altLang="en-US" dirty="0"/>
              <a:t>张某个特定主体（比如我自己的这只松狮犬）的照片，就能让庞大的文生图模型‘记住’它，并且能在不同的场景下生成它。</a:t>
            </a:r>
            <a:endParaRPr lang="zh-CN" altLang="en-US" dirty="0"/>
          </a:p>
          <a:p>
            <a:r>
              <a:rPr lang="zh-CN" altLang="en-US" dirty="0"/>
              <a:t>要做到这一点，最直观的想法就是拿这几张图去微调（</a:t>
            </a:r>
            <a:r>
              <a:rPr lang="en-US" altLang="zh-CN" dirty="0"/>
              <a:t>Fine-tune</a:t>
            </a:r>
            <a:r>
              <a:rPr lang="zh-CN" altLang="en-US" dirty="0"/>
              <a:t>）模型。但 </a:t>
            </a:r>
            <a:r>
              <a:rPr lang="en-US" altLang="zh-CN" dirty="0" err="1"/>
              <a:t>DreamBooth</a:t>
            </a:r>
            <a:r>
              <a:rPr lang="en-US" altLang="zh-CN" dirty="0"/>
              <a:t> </a:t>
            </a:r>
            <a:r>
              <a:rPr lang="zh-CN" altLang="en-US" dirty="0"/>
              <a:t>的作者敏锐地发现，如果直接微调，会面临两个致命问题：</a:t>
            </a:r>
            <a:r>
              <a:rPr lang="zh-CN" altLang="en-US" b="1" dirty="0"/>
              <a:t>过拟合（</a:t>
            </a:r>
            <a:r>
              <a:rPr lang="en-US" altLang="zh-CN" b="1" dirty="0"/>
              <a:t>Overfitting</a:t>
            </a:r>
            <a:r>
              <a:rPr lang="zh-CN" altLang="en-US" b="1" dirty="0"/>
              <a:t>）</a:t>
            </a:r>
            <a:r>
              <a:rPr lang="zh-CN" altLang="en-US" dirty="0"/>
              <a:t> 和 </a:t>
            </a:r>
            <a:r>
              <a:rPr lang="zh-CN" altLang="en-US" b="1" dirty="0"/>
              <a:t>语言漂移（</a:t>
            </a:r>
            <a:r>
              <a:rPr lang="en-US" altLang="zh-CN" b="1" dirty="0"/>
              <a:t>Language Drift</a:t>
            </a:r>
            <a:r>
              <a:rPr lang="zh-CN" altLang="en-US" b="1" dirty="0"/>
              <a:t>）</a:t>
            </a:r>
            <a:r>
              <a:rPr lang="zh-CN" altLang="en-US" dirty="0"/>
              <a:t>。”</a:t>
            </a:r>
            <a:endParaRPr lang="zh-CN" altLang="en-US" dirty="0"/>
          </a:p>
          <a:p>
            <a:r>
              <a:rPr lang="zh-CN" altLang="en-US" b="1" dirty="0"/>
              <a:t>第二层：文本绑定设计（指着中间的 </a:t>
            </a:r>
            <a:r>
              <a:rPr lang="en-US" altLang="zh-CN" sz="1200" b="1" kern="1200" dirty="0">
                <a:solidFill>
                  <a:schemeClr val="tx1"/>
                </a:solidFill>
                <a:latin typeface="+mn-lt"/>
                <a:ea typeface="+mn-ea"/>
                <a:cs typeface="+mn-cs"/>
              </a:rPr>
              <a:t>"A [V] dog"</a:t>
            </a:r>
            <a:r>
              <a:rPr lang="zh-CN" altLang="en-US" b="1" dirty="0"/>
              <a:t>）</a:t>
            </a:r>
            <a:endParaRPr lang="zh-CN" altLang="en-US" b="1" dirty="0"/>
          </a:p>
          <a:p>
            <a:r>
              <a:rPr lang="zh-CN" altLang="en-US" dirty="0"/>
              <a:t>“为了解决这个问题，</a:t>
            </a:r>
            <a:r>
              <a:rPr lang="en-US" altLang="zh-CN" dirty="0" err="1"/>
              <a:t>DreamBooth</a:t>
            </a:r>
            <a:r>
              <a:rPr lang="en-US" altLang="zh-CN" dirty="0"/>
              <a:t> </a:t>
            </a:r>
            <a:r>
              <a:rPr lang="zh-CN" altLang="en-US" dirty="0"/>
              <a:t>的第一个核心设计是</a:t>
            </a:r>
            <a:r>
              <a:rPr lang="zh-CN" altLang="en-US" b="1" dirty="0"/>
              <a:t>特殊词元绑定</a:t>
            </a:r>
            <a:r>
              <a:rPr lang="zh-CN" altLang="en-US" dirty="0"/>
              <a:t>（指着图中的 </a:t>
            </a:r>
            <a:r>
              <a:rPr lang="en-US" altLang="zh-CN" sz="1200" kern="1200" dirty="0">
                <a:solidFill>
                  <a:schemeClr val="tx1"/>
                </a:solidFill>
                <a:latin typeface="+mn-lt"/>
                <a:ea typeface="+mn-ea"/>
                <a:cs typeface="+mn-cs"/>
              </a:rPr>
              <a:t>"A [V] dog"</a:t>
            </a:r>
            <a:r>
              <a:rPr lang="zh-CN" altLang="en-US" dirty="0"/>
              <a:t>）。 它没有使用像 ‘</a:t>
            </a:r>
            <a:r>
              <a:rPr lang="en-US" altLang="zh-CN" dirty="0"/>
              <a:t>my dog’ </a:t>
            </a:r>
            <a:r>
              <a:rPr lang="zh-CN" altLang="en-US" dirty="0"/>
              <a:t>这样常见的描述，而是引入了一个在词表中极其罕见、几乎没有意义的 </a:t>
            </a:r>
            <a:r>
              <a:rPr lang="en-US" altLang="zh-CN" dirty="0"/>
              <a:t>Token</a:t>
            </a:r>
            <a:r>
              <a:rPr lang="zh-CN" altLang="en-US" dirty="0"/>
              <a:t>（比如 </a:t>
            </a:r>
            <a:r>
              <a:rPr lang="en-US" altLang="zh-CN" sz="1200" kern="1200" dirty="0">
                <a:solidFill>
                  <a:schemeClr val="tx1"/>
                </a:solidFill>
                <a:latin typeface="+mn-lt"/>
                <a:ea typeface="+mn-ea"/>
                <a:cs typeface="+mn-cs"/>
              </a:rPr>
              <a:t>[V]</a:t>
            </a:r>
            <a:r>
              <a:rPr lang="zh-CN" altLang="en-US" dirty="0"/>
              <a:t>），并把它和类别词（</a:t>
            </a:r>
            <a:r>
              <a:rPr lang="en-US" altLang="zh-CN" sz="1200" kern="1200" dirty="0">
                <a:solidFill>
                  <a:schemeClr val="tx1"/>
                </a:solidFill>
                <a:latin typeface="+mn-lt"/>
                <a:ea typeface="+mn-ea"/>
                <a:cs typeface="+mn-cs"/>
              </a:rPr>
              <a:t>dog</a:t>
            </a:r>
            <a:r>
              <a:rPr lang="zh-CN" altLang="en-US" dirty="0"/>
              <a:t>）绑定在一起。</a:t>
            </a:r>
            <a:endParaRPr lang="zh-CN" altLang="en-US" dirty="0"/>
          </a:p>
          <a:p>
            <a:r>
              <a:rPr lang="zh-CN" altLang="en-US" dirty="0"/>
              <a:t>这样做的逻辑是：利用 </a:t>
            </a:r>
            <a:r>
              <a:rPr lang="en-US" altLang="zh-CN" sz="1200" kern="1200" dirty="0">
                <a:solidFill>
                  <a:schemeClr val="tx1"/>
                </a:solidFill>
                <a:latin typeface="+mn-lt"/>
                <a:ea typeface="+mn-ea"/>
                <a:cs typeface="+mn-cs"/>
              </a:rPr>
              <a:t>dog</a:t>
            </a:r>
            <a:r>
              <a:rPr lang="zh-CN" altLang="en-US" dirty="0"/>
              <a:t> 这个词去调动预训练模型脑海中关于‘狗’的庞大先验知识（比如狗有四条腿、有毛发），然后用这个极其罕见的 </a:t>
            </a:r>
            <a:r>
              <a:rPr lang="en-US" altLang="zh-CN" sz="1200" kern="1200" dirty="0">
                <a:solidFill>
                  <a:schemeClr val="tx1"/>
                </a:solidFill>
                <a:latin typeface="+mn-lt"/>
                <a:ea typeface="+mn-ea"/>
                <a:cs typeface="+mn-cs"/>
              </a:rPr>
              <a:t>[V]</a:t>
            </a:r>
            <a:r>
              <a:rPr lang="zh-CN" altLang="en-US" dirty="0"/>
              <a:t> 去专门负责学习这 </a:t>
            </a:r>
            <a:r>
              <a:rPr lang="en-US" altLang="zh-CN" dirty="0"/>
              <a:t>3-5 </a:t>
            </a:r>
            <a:r>
              <a:rPr lang="zh-CN" altLang="en-US" dirty="0"/>
              <a:t>张图里这只松狮犬的独特身份特征（</a:t>
            </a:r>
            <a:r>
              <a:rPr lang="en-US" altLang="zh-CN" dirty="0"/>
              <a:t>Identity</a:t>
            </a:r>
            <a:r>
              <a:rPr lang="zh-CN" altLang="en-US" dirty="0"/>
              <a:t>）。这对应图表上半部分的 </a:t>
            </a:r>
            <a:r>
              <a:rPr lang="zh-CN" altLang="en-US" b="1" dirty="0"/>
              <a:t>重建损失（</a:t>
            </a:r>
            <a:r>
              <a:rPr lang="en-US" altLang="zh-CN" b="1" dirty="0"/>
              <a:t>Reconstruction Loss</a:t>
            </a:r>
            <a:r>
              <a:rPr lang="zh-CN" altLang="en-US" b="1" dirty="0"/>
              <a:t>）</a:t>
            </a:r>
            <a:r>
              <a:rPr lang="zh-CN" altLang="en-US" dirty="0"/>
              <a:t>。”</a:t>
            </a:r>
            <a:endParaRPr lang="zh-CN" altLang="en-US" dirty="0"/>
          </a:p>
          <a:p>
            <a:r>
              <a:rPr lang="zh-CN" altLang="en-US" b="1" dirty="0"/>
              <a:t>第三层：高潮！导师最爱听的防遗忘机制（指着左下角带锁的红色模型）</a:t>
            </a:r>
            <a:endParaRPr lang="zh-CN" altLang="en-US" b="1" dirty="0"/>
          </a:p>
          <a:p>
            <a:r>
              <a:rPr lang="zh-CN" altLang="en-US" dirty="0"/>
              <a:t>“但是，仅仅这样微调依然不够。模型在拼命学习这只特定松狮犬的时候，很容易产生</a:t>
            </a:r>
            <a:r>
              <a:rPr lang="zh-CN" altLang="en-US" b="1" dirty="0"/>
              <a:t>灾难性遗忘</a:t>
            </a:r>
            <a:r>
              <a:rPr lang="en-US" altLang="zh-CN" dirty="0"/>
              <a:t>——</a:t>
            </a:r>
            <a:r>
              <a:rPr lang="zh-CN" altLang="en-US" dirty="0"/>
              <a:t>也就是说，它会把原本关于‘普通狗’的概念给覆盖掉。如果你训练完再让它画一只普通的中华田园犬，它可能画出来的也是你的松狮。</a:t>
            </a:r>
            <a:endParaRPr lang="zh-CN" altLang="en-US" dirty="0"/>
          </a:p>
          <a:p>
            <a:r>
              <a:rPr lang="zh-CN" altLang="en-US" dirty="0"/>
              <a:t>也就是图表下半部分展示的这篇论文最精妙的设计：</a:t>
            </a:r>
            <a:r>
              <a:rPr lang="zh-CN" altLang="en-US" b="1" dirty="0"/>
              <a:t>特定类别先验保持损失（</a:t>
            </a:r>
            <a:r>
              <a:rPr lang="en-US" altLang="zh-CN" b="1" dirty="0"/>
              <a:t>Class-Specific Prior Preservation Loss</a:t>
            </a:r>
            <a:r>
              <a:rPr lang="zh-CN" altLang="en-US" b="1" dirty="0"/>
              <a:t>）</a:t>
            </a:r>
            <a:r>
              <a:rPr lang="zh-CN" altLang="en-US" dirty="0"/>
              <a:t>。</a:t>
            </a:r>
            <a:endParaRPr lang="zh-CN" altLang="en-US" dirty="0"/>
          </a:p>
          <a:p>
            <a:r>
              <a:rPr lang="zh-CN" altLang="en-US" dirty="0"/>
              <a:t>（指着左下角）大家看这里，</a:t>
            </a:r>
            <a:r>
              <a:rPr lang="en-US" altLang="zh-CN" dirty="0" err="1"/>
              <a:t>DreamBooth</a:t>
            </a:r>
            <a:r>
              <a:rPr lang="en-US" altLang="zh-CN" dirty="0"/>
              <a:t> </a:t>
            </a:r>
            <a:r>
              <a:rPr lang="zh-CN" altLang="en-US" dirty="0"/>
              <a:t>在微调的同时，并联了一个</a:t>
            </a:r>
            <a:r>
              <a:rPr lang="zh-CN" altLang="en-US" b="1" dirty="0"/>
              <a:t>冻结了权重的原始预训练模型（红色的带锁网络）</a:t>
            </a:r>
            <a:r>
              <a:rPr lang="zh-CN" altLang="en-US" dirty="0"/>
              <a:t>。 它用 </a:t>
            </a:r>
            <a:r>
              <a:rPr lang="en-US" altLang="zh-CN" sz="1200" kern="1200" dirty="0">
                <a:solidFill>
                  <a:schemeClr val="tx1"/>
                </a:solidFill>
                <a:latin typeface="+mn-lt"/>
                <a:ea typeface="+mn-ea"/>
                <a:cs typeface="+mn-cs"/>
              </a:rPr>
              <a:t>"A dog"</a:t>
            </a:r>
            <a:r>
              <a:rPr lang="zh-CN" altLang="en-US" dirty="0"/>
              <a:t> 这样的普通文本，让这个冻结的模型生成一批‘普通的狗’的图片。然后，把这批模型自己生成的图片，和真实输入的松狮犬图片</a:t>
            </a:r>
            <a:r>
              <a:rPr lang="zh-CN" altLang="en-US" b="1" dirty="0"/>
              <a:t>混合在一起进行训练</a:t>
            </a:r>
            <a:r>
              <a:rPr lang="zh-CN" altLang="en-US" dirty="0"/>
              <a:t>。</a:t>
            </a:r>
            <a:endParaRPr lang="zh-CN" altLang="en-US" dirty="0"/>
          </a:p>
          <a:p>
            <a:r>
              <a:rPr lang="zh-CN" altLang="en-US" b="1" dirty="0"/>
              <a:t>它的本质是一个自监督的正则化项（</a:t>
            </a:r>
            <a:r>
              <a:rPr lang="en-US" altLang="zh-CN" b="1" dirty="0"/>
              <a:t>Regularization</a:t>
            </a:r>
            <a:r>
              <a:rPr lang="zh-CN" altLang="en-US" b="1" dirty="0"/>
              <a:t>）</a:t>
            </a:r>
            <a:r>
              <a:rPr lang="zh-CN" altLang="en-US" dirty="0"/>
              <a:t>：它在逼迫模型学习 </a:t>
            </a:r>
            <a:r>
              <a:rPr lang="en-US" altLang="zh-CN" sz="1200" kern="1200" dirty="0">
                <a:solidFill>
                  <a:schemeClr val="tx1"/>
                </a:solidFill>
                <a:latin typeface="+mn-lt"/>
                <a:ea typeface="+mn-ea"/>
                <a:cs typeface="+mn-cs"/>
              </a:rPr>
              <a:t>[V] dog</a:t>
            </a:r>
            <a:r>
              <a:rPr lang="zh-CN" altLang="en-US" dirty="0"/>
              <a:t> 的同时，强行‘锚定（</a:t>
            </a:r>
            <a:r>
              <a:rPr lang="en-US" altLang="zh-CN" dirty="0"/>
              <a:t>Anchor</a:t>
            </a:r>
            <a:r>
              <a:rPr lang="zh-CN" altLang="en-US" dirty="0"/>
              <a:t>）’住模型对普通 </a:t>
            </a:r>
            <a:r>
              <a:rPr lang="en-US" altLang="zh-CN" sz="1200" kern="1200" dirty="0">
                <a:solidFill>
                  <a:schemeClr val="tx1"/>
                </a:solidFill>
                <a:latin typeface="+mn-lt"/>
                <a:ea typeface="+mn-ea"/>
                <a:cs typeface="+mn-cs"/>
              </a:rPr>
              <a:t>dog</a:t>
            </a:r>
            <a:r>
              <a:rPr lang="zh-CN" altLang="en-US" dirty="0"/>
              <a:t> 的生成空间，不让它的参数跑偏。通过这两条路的 </a:t>
            </a:r>
            <a:r>
              <a:rPr lang="en-US" altLang="zh-CN" dirty="0"/>
              <a:t>Shared Weights</a:t>
            </a:r>
            <a:r>
              <a:rPr lang="zh-CN" altLang="en-US" dirty="0"/>
              <a:t>（权重共享）联合优化，</a:t>
            </a:r>
            <a:r>
              <a:rPr lang="en-US" altLang="zh-CN" dirty="0" err="1"/>
              <a:t>DreamBooth</a:t>
            </a:r>
            <a:r>
              <a:rPr lang="en-US" altLang="zh-CN" dirty="0"/>
              <a:t> </a:t>
            </a:r>
            <a:r>
              <a:rPr lang="zh-CN" altLang="en-US" dirty="0"/>
              <a:t>才真正实现了既学得像，又没忘本。”</a:t>
            </a:r>
            <a:endParaRPr lang="zh-CN" altLang="en-US" dirty="0"/>
          </a:p>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eaLnBrk="1" fontAlgn="auto" latinLnBrk="0" hangingPunct="1">
              <a:lnSpc>
                <a:spcPct val="100000"/>
              </a:lnSpc>
              <a:spcBef>
                <a:spcPts val="0"/>
              </a:spcBef>
              <a:spcAft>
                <a:spcPts val="0"/>
              </a:spcAft>
              <a:buClrTx/>
              <a:buSzTx/>
              <a:buFontTx/>
              <a:buNone/>
              <a:defRPr/>
            </a:pPr>
            <a:fld id="{E2C0510E-DAB0-4142-AE9C-3B6078BF66FF}" type="slidenum">
              <a:rPr kumimoji="0" lang="zh-CN" altLang="en-US" sz="1200" b="0" i="0" u="none" strike="noStrike" kern="0" cap="none" spc="0" normalizeH="0" baseline="0" noProof="0" smtClean="0">
                <a:ln>
                  <a:noFill/>
                </a:ln>
                <a:solidFill>
                  <a:sysClr val="windowText" lastClr="000000"/>
                </a:solidFill>
                <a:effectLst/>
                <a:uLnTx/>
                <a:uFillTx/>
              </a:rPr>
            </a:fld>
            <a:endParaRPr kumimoji="0" lang="zh-CN" altLang="en-US" sz="1200" b="0" i="0" u="none" strike="noStrike" kern="0" cap="none" spc="0" normalizeH="0" baseline="0" noProof="0">
              <a:ln>
                <a:noFill/>
              </a:ln>
              <a:solidFill>
                <a:sysClr val="windowText" lastClr="000000"/>
              </a:solidFill>
              <a:effectLst/>
              <a:uLnTx/>
              <a:uFillTx/>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“刚才我们讲的 </a:t>
            </a:r>
            <a:r>
              <a:rPr lang="en-US" altLang="zh-CN" dirty="0" err="1"/>
              <a:t>DreamBooth</a:t>
            </a:r>
            <a:r>
              <a:rPr lang="en-US" altLang="zh-CN" dirty="0"/>
              <a:t> </a:t>
            </a:r>
            <a:r>
              <a:rPr lang="zh-CN" altLang="en-US" dirty="0"/>
              <a:t>是通过微调模型（</a:t>
            </a:r>
            <a:r>
              <a:rPr lang="en-US" altLang="zh-CN" dirty="0"/>
              <a:t>U-Net</a:t>
            </a:r>
            <a:r>
              <a:rPr lang="zh-CN" altLang="en-US" dirty="0"/>
              <a:t>）来让它记住新事物。而这篇 </a:t>
            </a:r>
            <a:r>
              <a:rPr lang="en-US" altLang="zh-CN" dirty="0"/>
              <a:t>Textual Inversion</a:t>
            </a:r>
            <a:r>
              <a:rPr lang="zh-CN" altLang="en-US" dirty="0"/>
              <a:t>（</a:t>
            </a:r>
            <a:r>
              <a:rPr lang="en-US" altLang="zh-CN" dirty="0"/>
              <a:t>TI</a:t>
            </a:r>
            <a:r>
              <a:rPr lang="zh-CN" altLang="en-US" dirty="0"/>
              <a:t>）走的是一条完全相反的轻量化路线。它的核心哲学就写在它的论文标题里：‘</a:t>
            </a:r>
            <a:r>
              <a:rPr lang="en-US" altLang="zh-CN" dirty="0"/>
              <a:t>An image is worth one word’</a:t>
            </a:r>
            <a:r>
              <a:rPr lang="zh-CN" altLang="en-US" dirty="0"/>
              <a:t>（一张图片胜过一个词）。</a:t>
            </a:r>
            <a:r>
              <a:rPr lang="en-US" altLang="zh-CN" dirty="0"/>
              <a:t>TI </a:t>
            </a:r>
            <a:r>
              <a:rPr lang="zh-CN" altLang="en-US" dirty="0"/>
              <a:t>认为，预训练的扩散模型其实已经具备了生成这只特定‘钟表’的能力，只是我们找不到准确的语言来描述它。因此，</a:t>
            </a:r>
            <a:r>
              <a:rPr lang="en-US" altLang="zh-CN" dirty="0"/>
              <a:t>TI </a:t>
            </a:r>
            <a:r>
              <a:rPr lang="zh-CN" altLang="en-US" dirty="0"/>
              <a:t>不改变模型，而是去‘词表（</a:t>
            </a:r>
            <a:r>
              <a:rPr lang="en-US" altLang="zh-CN" dirty="0"/>
              <a:t>Vocabulary</a:t>
            </a:r>
            <a:r>
              <a:rPr lang="zh-CN" altLang="en-US" dirty="0"/>
              <a:t>）’里硬凑出一个新的词元（</a:t>
            </a:r>
            <a:r>
              <a:rPr lang="en-US" altLang="zh-CN" dirty="0"/>
              <a:t>Token</a:t>
            </a:r>
            <a:r>
              <a:rPr lang="zh-CN" altLang="en-US" dirty="0"/>
              <a:t>），用这个新词来代表这个特定的物体。”第二层：拆解架构图（带大家“找锁”）“大家可以看 </a:t>
            </a:r>
            <a:r>
              <a:rPr lang="en-US" altLang="zh-CN" dirty="0"/>
              <a:t>PPT </a:t>
            </a:r>
            <a:r>
              <a:rPr lang="zh-CN" altLang="en-US" dirty="0"/>
              <a:t>上的架构图，理解 </a:t>
            </a:r>
            <a:r>
              <a:rPr lang="en-US" altLang="zh-CN" dirty="0"/>
              <a:t>TI </a:t>
            </a:r>
            <a:r>
              <a:rPr lang="zh-CN" altLang="en-US" dirty="0"/>
              <a:t>的关键在于看图里的**‘小锁’（</a:t>
            </a:r>
            <a:r>
              <a:rPr lang="en-US" altLang="zh-CN" dirty="0"/>
              <a:t>Padlock icons</a:t>
            </a:r>
            <a:r>
              <a:rPr lang="zh-CN" altLang="en-US" dirty="0"/>
              <a:t>）**。我们输入一段 </a:t>
            </a:r>
            <a:r>
              <a:rPr lang="en-US" altLang="zh-CN" dirty="0"/>
              <a:t>Prompt</a:t>
            </a:r>
            <a:r>
              <a:rPr lang="zh-CN" altLang="en-US" dirty="0"/>
              <a:t>：</a:t>
            </a:r>
            <a:r>
              <a:rPr lang="en-US" altLang="zh-CN" dirty="0"/>
              <a:t>"A photo of S*"</a:t>
            </a:r>
            <a:r>
              <a:rPr lang="zh-CN" altLang="en-US" dirty="0"/>
              <a:t>，其中 </a:t>
            </a:r>
            <a:r>
              <a:rPr lang="en-US" altLang="zh-CN" dirty="0"/>
              <a:t>$S_*$ </a:t>
            </a:r>
            <a:r>
              <a:rPr lang="zh-CN" altLang="en-US" dirty="0"/>
              <a:t>是我们生造的伪词（</a:t>
            </a:r>
            <a:r>
              <a:rPr lang="en-US" altLang="zh-CN" dirty="0"/>
              <a:t>Pseudo-word</a:t>
            </a:r>
            <a:r>
              <a:rPr lang="zh-CN" altLang="en-US" dirty="0"/>
              <a:t>）。看中间蓝色的 </a:t>
            </a:r>
            <a:r>
              <a:rPr lang="en-US" altLang="zh-CN" dirty="0"/>
              <a:t>Embedding Lookup</a:t>
            </a:r>
            <a:r>
              <a:rPr lang="zh-CN" altLang="en-US" dirty="0"/>
              <a:t>（词嵌入查找表）：普通的词汇如 ‘</a:t>
            </a:r>
            <a:r>
              <a:rPr lang="en-US" altLang="zh-CN" dirty="0"/>
              <a:t>A’, ‘photo’ </a:t>
            </a:r>
            <a:r>
              <a:rPr lang="zh-CN" altLang="en-US" dirty="0"/>
              <a:t>对应的向量 </a:t>
            </a:r>
            <a:r>
              <a:rPr lang="en-US" altLang="zh-CN" dirty="0"/>
              <a:t>$v_{508}, v_{701}$ </a:t>
            </a:r>
            <a:r>
              <a:rPr lang="zh-CN" altLang="en-US" dirty="0"/>
              <a:t>全是被锁住的（不可训练）。唯一可训练的，只有我们新造的这个词对应的向量 </a:t>
            </a:r>
            <a:r>
              <a:rPr lang="en-US" altLang="zh-CN" dirty="0"/>
              <a:t>$v_*$</a:t>
            </a:r>
            <a:r>
              <a:rPr lang="zh-CN" altLang="en-US" dirty="0"/>
              <a:t>（图中标注为 </a:t>
            </a:r>
            <a:r>
              <a:rPr lang="en-US" altLang="zh-CN" dirty="0"/>
              <a:t>[ ? ? ? ? ] </a:t>
            </a:r>
            <a:r>
              <a:rPr lang="zh-CN" altLang="en-US" dirty="0"/>
              <a:t>的部分）。再往下看：**</a:t>
            </a:r>
            <a:r>
              <a:rPr lang="en-US" altLang="zh-CN" dirty="0"/>
              <a:t>Text Transformer</a:t>
            </a:r>
            <a:r>
              <a:rPr lang="zh-CN" altLang="en-US" dirty="0"/>
              <a:t>（文本编码器）**是锁住的，右侧绿色的 **</a:t>
            </a:r>
            <a:r>
              <a:rPr lang="en-US" altLang="zh-CN" dirty="0"/>
              <a:t>Generator</a:t>
            </a:r>
            <a:r>
              <a:rPr lang="zh-CN" altLang="en-US" dirty="0"/>
              <a:t>（</a:t>
            </a:r>
            <a:r>
              <a:rPr lang="en-US" altLang="zh-CN" dirty="0"/>
              <a:t>U-Net </a:t>
            </a:r>
            <a:r>
              <a:rPr lang="zh-CN" altLang="en-US" dirty="0"/>
              <a:t>生成器）**也是完全锁住的。这意味着什么？意味着在整个前向和反向传播过程中，模型的知识库（网络权重）没有任何改变。我们只是在隐空间（</a:t>
            </a:r>
            <a:r>
              <a:rPr lang="en-US" altLang="zh-CN" dirty="0"/>
              <a:t>Latent Space</a:t>
            </a:r>
            <a:r>
              <a:rPr lang="zh-CN" altLang="en-US" dirty="0"/>
              <a:t>）中，不断寻找一个最能代表这只钟表的连续向量 </a:t>
            </a:r>
            <a:r>
              <a:rPr lang="en-US" altLang="zh-CN" dirty="0"/>
              <a:t>$v_*$</a:t>
            </a:r>
            <a:r>
              <a:rPr lang="zh-CN" altLang="en-US" dirty="0"/>
              <a:t>。”</a:t>
            </a:r>
            <a:endParaRPr lang="zh-CN" altLang="en-US" dirty="0"/>
          </a:p>
          <a:p>
            <a:r>
              <a:rPr lang="zh-CN" altLang="en-US" dirty="0"/>
              <a:t>大家如果熟悉扩散模型就会发现，方括号里的损失函数跟标准 </a:t>
            </a:r>
            <a:r>
              <a:rPr lang="en-US" altLang="zh-CN" dirty="0"/>
              <a:t>Latent Diffusion Model </a:t>
            </a:r>
            <a:r>
              <a:rPr lang="zh-CN" altLang="en-US" dirty="0"/>
              <a:t>的去噪损失一模一样。唯一的，也是最本质的区别在公式的最前面</a:t>
            </a:r>
            <a:r>
              <a:rPr lang="en-US" altLang="zh-CN" dirty="0"/>
              <a:t>——$\</a:t>
            </a:r>
            <a:r>
              <a:rPr lang="en-US" altLang="zh-CN" dirty="0" err="1"/>
              <a:t>arg</a:t>
            </a:r>
            <a:r>
              <a:rPr lang="en-US" altLang="zh-CN" dirty="0"/>
              <a:t> \</a:t>
            </a:r>
            <a:r>
              <a:rPr lang="en-US" altLang="zh-CN" dirty="0" err="1"/>
              <a:t>min_v</a:t>
            </a:r>
            <a:r>
              <a:rPr lang="en-US" altLang="zh-CN" dirty="0"/>
              <a:t>$</a:t>
            </a:r>
            <a:r>
              <a:rPr lang="zh-CN" altLang="en-US" dirty="0"/>
              <a:t>。我们的优化目标不再是去更新网络参数 </a:t>
            </a:r>
            <a:r>
              <a:rPr lang="en-US" altLang="zh-CN" dirty="0"/>
              <a:t>$\theta$</a:t>
            </a:r>
            <a:r>
              <a:rPr lang="zh-CN" altLang="en-US" dirty="0"/>
              <a:t>，而是将梯度全部回传到输入端，只更新那个特殊的文本嵌入向量 </a:t>
            </a:r>
            <a:r>
              <a:rPr lang="en-US" altLang="zh-CN" dirty="0"/>
              <a:t>$v$</a:t>
            </a:r>
            <a:r>
              <a:rPr lang="zh-CN" altLang="en-US" dirty="0"/>
              <a:t>。当 </a:t>
            </a:r>
            <a:r>
              <a:rPr lang="en-US" altLang="zh-CN" dirty="0"/>
              <a:t>Loss </a:t>
            </a:r>
            <a:r>
              <a:rPr lang="zh-CN" altLang="en-US" dirty="0"/>
              <a:t>降到最低时，得到的 </a:t>
            </a:r>
            <a:r>
              <a:rPr lang="en-US" altLang="zh-CN" dirty="0"/>
              <a:t>$v_*$ </a:t>
            </a:r>
            <a:r>
              <a:rPr lang="zh-CN" altLang="en-US" dirty="0"/>
              <a:t>就是我们要找的‘咒语’。”第四层：</a:t>
            </a:r>
            <a:r>
              <a:rPr lang="en-US" altLang="zh-CN" dirty="0"/>
              <a:t>PhD </a:t>
            </a:r>
            <a:r>
              <a:rPr lang="zh-CN" altLang="en-US" dirty="0"/>
              <a:t>的硬核 </a:t>
            </a:r>
            <a:r>
              <a:rPr lang="en-US" altLang="zh-CN" dirty="0"/>
              <a:t>Critique</a:t>
            </a:r>
            <a:r>
              <a:rPr lang="zh-CN" altLang="en-US" dirty="0"/>
              <a:t>（对比与局限性）“最后总结一下 </a:t>
            </a:r>
            <a:r>
              <a:rPr lang="en-US" altLang="zh-CN" dirty="0"/>
              <a:t>TI </a:t>
            </a:r>
            <a:r>
              <a:rPr lang="zh-CN" altLang="en-US" dirty="0"/>
              <a:t>的特性。它的优势极其明显： </a:t>
            </a:r>
            <a:r>
              <a:rPr lang="en-US" altLang="zh-CN" dirty="0"/>
              <a:t>&gt; </a:t>
            </a:r>
            <a:r>
              <a:rPr lang="zh-CN" altLang="en-US" dirty="0"/>
              <a:t>第一，绝对没有我们在 </a:t>
            </a:r>
            <a:r>
              <a:rPr lang="en-US" altLang="zh-CN" dirty="0" err="1"/>
              <a:t>DreamBooth</a:t>
            </a:r>
            <a:r>
              <a:rPr lang="en-US" altLang="zh-CN" dirty="0"/>
              <a:t> </a:t>
            </a:r>
            <a:r>
              <a:rPr lang="zh-CN" altLang="en-US" dirty="0"/>
              <a:t>里提到的‘语言漂移（</a:t>
            </a:r>
            <a:r>
              <a:rPr lang="en-US" altLang="zh-CN" dirty="0"/>
              <a:t>Language Drift</a:t>
            </a:r>
            <a:r>
              <a:rPr lang="zh-CN" altLang="en-US" dirty="0"/>
              <a:t>）’问题，因为 </a:t>
            </a:r>
            <a:r>
              <a:rPr lang="en-US" altLang="zh-CN" dirty="0"/>
              <a:t>U-Net </a:t>
            </a:r>
            <a:r>
              <a:rPr lang="zh-CN" altLang="en-US" dirty="0"/>
              <a:t>根本就没动；第二，极其轻量，训练完之后你只需要保存一个 </a:t>
            </a:r>
            <a:r>
              <a:rPr lang="en-US" altLang="zh-CN" dirty="0"/>
              <a:t>768 </a:t>
            </a:r>
            <a:r>
              <a:rPr lang="zh-CN" altLang="en-US" dirty="0"/>
              <a:t>维的向量（几 </a:t>
            </a:r>
            <a:r>
              <a:rPr lang="en-US" altLang="zh-CN" dirty="0"/>
              <a:t>KB</a:t>
            </a:r>
            <a:r>
              <a:rPr lang="zh-CN" altLang="en-US" dirty="0"/>
              <a:t>），别人只要把这个词向量插入到自己的字典里，就能召唤出这个物体。但它的局限性（</a:t>
            </a:r>
            <a:r>
              <a:rPr lang="en-US" altLang="zh-CN" dirty="0"/>
              <a:t>Information Bottleneck</a:t>
            </a:r>
            <a:r>
              <a:rPr lang="zh-CN" altLang="en-US" dirty="0"/>
              <a:t>）也很致命：把一个复杂物体的所有 </a:t>
            </a:r>
            <a:r>
              <a:rPr lang="en-US" altLang="zh-CN" dirty="0"/>
              <a:t>3D </a:t>
            </a:r>
            <a:r>
              <a:rPr lang="zh-CN" altLang="en-US" dirty="0"/>
              <a:t>结构、纹理细节，强行压缩进一个几百维的文本向量里，这是一个严重的信息瓶颈。因此，相比于修改了模型权重的 </a:t>
            </a:r>
            <a:r>
              <a:rPr lang="en-US" altLang="zh-CN" dirty="0" err="1"/>
              <a:t>DreamBooth</a:t>
            </a:r>
            <a:r>
              <a:rPr lang="zh-CN" altLang="en-US" dirty="0"/>
              <a:t>，</a:t>
            </a:r>
            <a:r>
              <a:rPr lang="en-US" altLang="zh-CN" dirty="0"/>
              <a:t>Textual Inversion </a:t>
            </a:r>
            <a:r>
              <a:rPr lang="zh-CN" altLang="en-US" dirty="0"/>
              <a:t>在生成主体时的保真度（</a:t>
            </a:r>
            <a:r>
              <a:rPr lang="en-US" altLang="zh-CN" dirty="0"/>
              <a:t>Fidelity</a:t>
            </a:r>
            <a:r>
              <a:rPr lang="zh-CN" altLang="en-US" dirty="0"/>
              <a:t>）通常要差很多，很难学到特别精细的特征。”</a:t>
            </a:r>
            <a:endParaRPr lang="zh-CN" altLang="en-US" dirty="0"/>
          </a:p>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eaLnBrk="1" fontAlgn="auto" latinLnBrk="0" hangingPunct="1">
              <a:lnSpc>
                <a:spcPct val="100000"/>
              </a:lnSpc>
              <a:spcBef>
                <a:spcPts val="0"/>
              </a:spcBef>
              <a:spcAft>
                <a:spcPts val="0"/>
              </a:spcAft>
              <a:buClrTx/>
              <a:buSzTx/>
              <a:buFontTx/>
              <a:buNone/>
              <a:defRPr/>
            </a:pPr>
            <a:fld id="{E2C0510E-DAB0-4142-AE9C-3B6078BF66FF}" type="slidenum">
              <a:rPr kumimoji="0" lang="zh-CN" altLang="en-US" sz="1200" b="0" i="0" u="none" strike="noStrike" kern="0" cap="none" spc="0" normalizeH="0" baseline="0" noProof="0" smtClean="0">
                <a:ln>
                  <a:noFill/>
                </a:ln>
                <a:solidFill>
                  <a:sysClr val="windowText" lastClr="000000"/>
                </a:solidFill>
                <a:effectLst/>
                <a:uLnTx/>
                <a:uFillTx/>
              </a:rPr>
            </a:fld>
            <a:endParaRPr kumimoji="0" lang="zh-CN" altLang="en-US" sz="1200" b="0" i="0" u="none" strike="noStrike" kern="0" cap="none" spc="0" normalizeH="0" baseline="0" noProof="0">
              <a:ln>
                <a:noFill/>
              </a:ln>
              <a:solidFill>
                <a:sysClr val="windowText" lastClr="000000"/>
              </a:solidFill>
              <a:effectLst/>
              <a:uLnTx/>
              <a:uFillTx/>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“前面我们探讨了 </a:t>
            </a:r>
            <a:r>
              <a:rPr lang="en-US" altLang="zh-CN" sz="1200" kern="1200" dirty="0" err="1">
                <a:solidFill>
                  <a:schemeClr val="tx1"/>
                </a:solidFill>
                <a:effectLst/>
                <a:latin typeface="+mn-lt"/>
                <a:ea typeface="+mn-ea"/>
                <a:cs typeface="+mn-cs"/>
              </a:rPr>
              <a:t>DreamBooth</a:t>
            </a:r>
            <a:r>
              <a:rPr lang="en-US" altLang="zh-CN" sz="1200" kern="1200" dirty="0">
                <a:solidFill>
                  <a:schemeClr val="tx1"/>
                </a:solidFill>
                <a:effectLst/>
                <a:latin typeface="+mn-lt"/>
                <a:ea typeface="+mn-ea"/>
                <a:cs typeface="+mn-cs"/>
              </a:rPr>
              <a:t> </a:t>
            </a:r>
            <a:r>
              <a:rPr lang="zh-CN" altLang="en-US" sz="1200" kern="1200" dirty="0">
                <a:solidFill>
                  <a:schemeClr val="tx1"/>
                </a:solidFill>
                <a:effectLst/>
                <a:latin typeface="+mn-lt"/>
                <a:ea typeface="+mn-ea"/>
                <a:cs typeface="+mn-cs"/>
              </a:rPr>
              <a:t>和 </a:t>
            </a:r>
            <a:r>
              <a:rPr lang="en-US" altLang="zh-CN" sz="1200" kern="1200" dirty="0">
                <a:solidFill>
                  <a:schemeClr val="tx1"/>
                </a:solidFill>
                <a:effectLst/>
                <a:latin typeface="+mn-lt"/>
                <a:ea typeface="+mn-ea"/>
                <a:cs typeface="+mn-cs"/>
              </a:rPr>
              <a:t>Textual Inversion</a:t>
            </a:r>
            <a:r>
              <a:rPr lang="zh-CN" altLang="en-US" sz="1200" kern="1200" dirty="0">
                <a:solidFill>
                  <a:schemeClr val="tx1"/>
                </a:solidFill>
                <a:effectLst/>
                <a:latin typeface="+mn-lt"/>
                <a:ea typeface="+mn-ea"/>
                <a:cs typeface="+mn-cs"/>
              </a:rPr>
              <a:t>。虽然它们效果不错，但都有一个致命的痛点：</a:t>
            </a:r>
            <a:r>
              <a:rPr lang="zh-CN" altLang="en-US" sz="1200" b="1" kern="1200" dirty="0">
                <a:solidFill>
                  <a:schemeClr val="tx1"/>
                </a:solidFill>
                <a:effectLst/>
                <a:latin typeface="+mn-lt"/>
                <a:ea typeface="+mn-ea"/>
                <a:cs typeface="+mn-cs"/>
              </a:rPr>
              <a:t>对于每一个新的实体，我们都需要耗费几十分钟去进行一次专属的微调（</a:t>
            </a:r>
            <a:r>
              <a:rPr lang="en-US" altLang="zh-CN" sz="1200" b="1" kern="1200" dirty="0">
                <a:solidFill>
                  <a:schemeClr val="tx1"/>
                </a:solidFill>
                <a:effectLst/>
                <a:latin typeface="+mn-lt"/>
                <a:ea typeface="+mn-ea"/>
                <a:cs typeface="+mn-cs"/>
              </a:rPr>
              <a:t>Fine-tuning</a:t>
            </a:r>
            <a:r>
              <a:rPr lang="zh-CN" altLang="en-US" sz="1200" b="1"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。这在实际的工业部署或大规模应用中是不可接受的。</a:t>
            </a:r>
            <a:endParaRPr lang="zh-CN" altLang="en-US"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那么，能不能做到像发一张照片给朋友一样，直接把图片当成 </a:t>
            </a:r>
            <a:r>
              <a:rPr lang="en-US" altLang="zh-CN" sz="1200" kern="1200" dirty="0">
                <a:solidFill>
                  <a:schemeClr val="tx1"/>
                </a:solidFill>
                <a:effectLst/>
                <a:latin typeface="+mn-lt"/>
                <a:ea typeface="+mn-ea"/>
                <a:cs typeface="+mn-cs"/>
              </a:rPr>
              <a:t>Prompt </a:t>
            </a:r>
            <a:r>
              <a:rPr lang="zh-CN" altLang="en-US" sz="1200" kern="1200" dirty="0">
                <a:solidFill>
                  <a:schemeClr val="tx1"/>
                </a:solidFill>
                <a:effectLst/>
                <a:latin typeface="+mn-lt"/>
                <a:ea typeface="+mn-ea"/>
                <a:cs typeface="+mn-cs"/>
              </a:rPr>
              <a:t>输入给模型，让模型**瞬间（</a:t>
            </a:r>
            <a:r>
              <a:rPr lang="en-US" altLang="zh-CN" sz="1200" kern="1200" dirty="0">
                <a:solidFill>
                  <a:schemeClr val="tx1"/>
                </a:solidFill>
                <a:effectLst/>
                <a:latin typeface="+mn-lt"/>
                <a:ea typeface="+mn-ea"/>
                <a:cs typeface="+mn-cs"/>
              </a:rPr>
              <a:t>Zero-shot</a:t>
            </a:r>
            <a:r>
              <a:rPr lang="zh-CN" altLang="en-US" sz="1200" kern="1200" dirty="0">
                <a:solidFill>
                  <a:schemeClr val="tx1"/>
                </a:solidFill>
                <a:effectLst/>
                <a:latin typeface="+mn-lt"/>
                <a:ea typeface="+mn-ea"/>
                <a:cs typeface="+mn-cs"/>
              </a:rPr>
              <a:t>）**生成带有这个主体的新图片，而不需要任何微调呢？</a:t>
            </a:r>
            <a:endParaRPr lang="zh-CN" altLang="en-US"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这正是 </a:t>
            </a:r>
            <a:r>
              <a:rPr lang="en-US" altLang="zh-CN" sz="1200" kern="1200" dirty="0">
                <a:solidFill>
                  <a:schemeClr val="tx1"/>
                </a:solidFill>
                <a:effectLst/>
                <a:latin typeface="+mn-lt"/>
                <a:ea typeface="+mn-ea"/>
                <a:cs typeface="+mn-cs"/>
              </a:rPr>
              <a:t>IP-Adapter</a:t>
            </a:r>
            <a:r>
              <a:rPr lang="zh-CN" altLang="en-US"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Image Prompt Adapter</a:t>
            </a:r>
            <a:r>
              <a:rPr lang="zh-CN" altLang="en-US" sz="1200" kern="1200" dirty="0">
                <a:solidFill>
                  <a:schemeClr val="tx1"/>
                </a:solidFill>
                <a:effectLst/>
                <a:latin typeface="+mn-lt"/>
                <a:ea typeface="+mn-ea"/>
                <a:cs typeface="+mn-cs"/>
              </a:rPr>
              <a:t>）要解决的问题。”</a:t>
            </a:r>
            <a:endParaRPr lang="zh-CN" altLang="en-US" sz="1200" kern="1200" dirty="0">
              <a:solidFill>
                <a:schemeClr val="tx1"/>
              </a:solidFill>
              <a:effectLst/>
              <a:latin typeface="+mn-lt"/>
              <a:ea typeface="+mn-ea"/>
              <a:cs typeface="+mn-cs"/>
            </a:endParaRPr>
          </a:p>
          <a:p>
            <a:r>
              <a:rPr lang="zh-CN" altLang="en-US" sz="1200" b="1" kern="1200" dirty="0">
                <a:solidFill>
                  <a:schemeClr val="tx1"/>
                </a:solidFill>
                <a:effectLst/>
                <a:latin typeface="+mn-lt"/>
                <a:ea typeface="+mn-ea"/>
                <a:cs typeface="+mn-cs"/>
              </a:rPr>
              <a:t>第二层：痛点分析（导师最爱的“</a:t>
            </a:r>
            <a:r>
              <a:rPr lang="en-US" altLang="zh-CN" sz="1200" b="1" kern="1200" dirty="0">
                <a:solidFill>
                  <a:schemeClr val="tx1"/>
                </a:solidFill>
                <a:effectLst/>
                <a:latin typeface="+mn-lt"/>
                <a:ea typeface="+mn-ea"/>
                <a:cs typeface="+mn-cs"/>
              </a:rPr>
              <a:t>Why not...?”</a:t>
            </a:r>
            <a:r>
              <a:rPr lang="zh-CN" altLang="en-US" sz="1200" b="1" kern="1200" dirty="0">
                <a:solidFill>
                  <a:schemeClr val="tx1"/>
                </a:solidFill>
                <a:effectLst/>
                <a:latin typeface="+mn-lt"/>
                <a:ea typeface="+mn-ea"/>
                <a:cs typeface="+mn-cs"/>
              </a:rPr>
              <a:t>）</a:t>
            </a:r>
            <a:endParaRPr lang="zh-CN" altLang="en-US" sz="1200" b="1"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“在 </a:t>
            </a:r>
            <a:r>
              <a:rPr lang="en-US" altLang="zh-CN" sz="1200" kern="1200" dirty="0">
                <a:solidFill>
                  <a:schemeClr val="tx1"/>
                </a:solidFill>
                <a:effectLst/>
                <a:latin typeface="+mn-lt"/>
                <a:ea typeface="+mn-ea"/>
                <a:cs typeface="+mn-cs"/>
              </a:rPr>
              <a:t>IP-Adapter </a:t>
            </a:r>
            <a:r>
              <a:rPr lang="zh-CN" altLang="en-US" sz="1200" kern="1200" dirty="0">
                <a:solidFill>
                  <a:schemeClr val="tx1"/>
                </a:solidFill>
                <a:effectLst/>
                <a:latin typeface="+mn-lt"/>
                <a:ea typeface="+mn-ea"/>
                <a:cs typeface="+mn-cs"/>
              </a:rPr>
              <a:t>之前，很多人尝试过直接把图片的特征（</a:t>
            </a:r>
            <a:r>
              <a:rPr lang="en-US" altLang="zh-CN" sz="1200" kern="1200" dirty="0">
                <a:solidFill>
                  <a:schemeClr val="tx1"/>
                </a:solidFill>
                <a:effectLst/>
                <a:latin typeface="+mn-lt"/>
                <a:ea typeface="+mn-ea"/>
                <a:cs typeface="+mn-cs"/>
              </a:rPr>
              <a:t>Image Feature</a:t>
            </a:r>
            <a:r>
              <a:rPr lang="zh-CN" altLang="en-US" sz="1200" kern="1200" dirty="0">
                <a:solidFill>
                  <a:schemeClr val="tx1"/>
                </a:solidFill>
                <a:effectLst/>
                <a:latin typeface="+mn-lt"/>
                <a:ea typeface="+mn-ea"/>
                <a:cs typeface="+mn-cs"/>
              </a:rPr>
              <a:t>）和文本的特征（</a:t>
            </a:r>
            <a:r>
              <a:rPr lang="en-US" altLang="zh-CN" sz="1200" kern="1200" dirty="0">
                <a:solidFill>
                  <a:schemeClr val="tx1"/>
                </a:solidFill>
                <a:effectLst/>
                <a:latin typeface="+mn-lt"/>
                <a:ea typeface="+mn-ea"/>
                <a:cs typeface="+mn-cs"/>
              </a:rPr>
              <a:t>Text Feature</a:t>
            </a:r>
            <a:r>
              <a:rPr lang="zh-CN" altLang="en-US" sz="1200" kern="1200" dirty="0">
                <a:solidFill>
                  <a:schemeClr val="tx1"/>
                </a:solidFill>
                <a:effectLst/>
                <a:latin typeface="+mn-lt"/>
                <a:ea typeface="+mn-ea"/>
                <a:cs typeface="+mn-cs"/>
              </a:rPr>
              <a:t>）拼接（</a:t>
            </a:r>
            <a:r>
              <a:rPr lang="en-US" altLang="zh-CN" sz="1200" kern="1200" dirty="0" err="1">
                <a:solidFill>
                  <a:schemeClr val="tx1"/>
                </a:solidFill>
                <a:effectLst/>
                <a:latin typeface="+mn-lt"/>
                <a:ea typeface="+mn-ea"/>
                <a:cs typeface="+mn-cs"/>
              </a:rPr>
              <a:t>Concat</a:t>
            </a:r>
            <a:r>
              <a:rPr lang="zh-CN" altLang="en-US" sz="1200" kern="1200" dirty="0">
                <a:solidFill>
                  <a:schemeClr val="tx1"/>
                </a:solidFill>
                <a:effectLst/>
                <a:latin typeface="+mn-lt"/>
                <a:ea typeface="+mn-ea"/>
                <a:cs typeface="+mn-cs"/>
              </a:rPr>
              <a:t>）在一起，扔进 </a:t>
            </a:r>
            <a:r>
              <a:rPr lang="en-US" altLang="zh-CN" sz="1200" kern="1200" dirty="0">
                <a:solidFill>
                  <a:schemeClr val="tx1"/>
                </a:solidFill>
                <a:effectLst/>
                <a:latin typeface="+mn-lt"/>
                <a:ea typeface="+mn-ea"/>
                <a:cs typeface="+mn-cs"/>
              </a:rPr>
              <a:t>U-Net </a:t>
            </a:r>
            <a:r>
              <a:rPr lang="zh-CN" altLang="en-US" sz="1200" kern="1200" dirty="0">
                <a:solidFill>
                  <a:schemeClr val="tx1"/>
                </a:solidFill>
                <a:effectLst/>
                <a:latin typeface="+mn-lt"/>
                <a:ea typeface="+mn-ea"/>
                <a:cs typeface="+mn-cs"/>
              </a:rPr>
              <a:t>原有的 </a:t>
            </a:r>
            <a:r>
              <a:rPr lang="en-US" altLang="zh-CN" sz="1200" kern="1200" dirty="0">
                <a:solidFill>
                  <a:schemeClr val="tx1"/>
                </a:solidFill>
                <a:effectLst/>
                <a:latin typeface="+mn-lt"/>
                <a:ea typeface="+mn-ea"/>
                <a:cs typeface="+mn-cs"/>
              </a:rPr>
              <a:t>Cross-Attention </a:t>
            </a:r>
            <a:r>
              <a:rPr lang="zh-CN" altLang="en-US" sz="1200" kern="1200" dirty="0">
                <a:solidFill>
                  <a:schemeClr val="tx1"/>
                </a:solidFill>
                <a:effectLst/>
                <a:latin typeface="+mn-lt"/>
                <a:ea typeface="+mn-ea"/>
                <a:cs typeface="+mn-cs"/>
              </a:rPr>
              <a:t>里。</a:t>
            </a:r>
            <a:endParaRPr lang="zh-CN" altLang="en-US"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但这会带来严重的冲突：因为预训练的扩散模型，它的 </a:t>
            </a:r>
            <a:r>
              <a:rPr lang="en-US" altLang="zh-CN" sz="1200" kern="1200" dirty="0">
                <a:solidFill>
                  <a:schemeClr val="tx1"/>
                </a:solidFill>
                <a:effectLst/>
                <a:latin typeface="+mn-lt"/>
                <a:ea typeface="+mn-ea"/>
                <a:cs typeface="+mn-cs"/>
              </a:rPr>
              <a:t>Cross-Attention </a:t>
            </a:r>
            <a:r>
              <a:rPr lang="zh-CN" altLang="en-US" sz="1200" kern="1200" dirty="0">
                <a:solidFill>
                  <a:schemeClr val="tx1"/>
                </a:solidFill>
                <a:effectLst/>
                <a:latin typeface="+mn-lt"/>
                <a:ea typeface="+mn-ea"/>
                <a:cs typeface="+mn-cs"/>
              </a:rPr>
              <a:t>层是经过海量图文数据高度优化、专门用来对齐</a:t>
            </a:r>
            <a:r>
              <a:rPr lang="zh-CN" altLang="en-US" sz="1200" b="1" kern="1200" dirty="0">
                <a:solidFill>
                  <a:schemeClr val="tx1"/>
                </a:solidFill>
                <a:effectLst/>
                <a:latin typeface="+mn-lt"/>
                <a:ea typeface="+mn-ea"/>
                <a:cs typeface="+mn-cs"/>
              </a:rPr>
              <a:t>文本</a:t>
            </a:r>
            <a:r>
              <a:rPr lang="zh-CN" altLang="en-US" sz="1200" kern="1200" dirty="0">
                <a:solidFill>
                  <a:schemeClr val="tx1"/>
                </a:solidFill>
                <a:effectLst/>
                <a:latin typeface="+mn-lt"/>
                <a:ea typeface="+mn-ea"/>
                <a:cs typeface="+mn-cs"/>
              </a:rPr>
              <a:t>的。如果你硬把视觉特征塞进去，模型要么会忽略图片，要么会丧失对文本的控制力（即常说的模态对齐灾难）。</a:t>
            </a:r>
            <a:endParaRPr lang="zh-CN" altLang="en-US"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所以，</a:t>
            </a:r>
            <a:r>
              <a:rPr lang="en-US" altLang="zh-CN" sz="1200" kern="1200" dirty="0">
                <a:solidFill>
                  <a:schemeClr val="tx1"/>
                </a:solidFill>
                <a:effectLst/>
                <a:latin typeface="+mn-lt"/>
                <a:ea typeface="+mn-ea"/>
                <a:cs typeface="+mn-cs"/>
              </a:rPr>
              <a:t>IP-Adapter </a:t>
            </a:r>
            <a:r>
              <a:rPr lang="zh-CN" altLang="en-US" sz="1200" kern="1200" dirty="0">
                <a:solidFill>
                  <a:schemeClr val="tx1"/>
                </a:solidFill>
                <a:effectLst/>
                <a:latin typeface="+mn-lt"/>
                <a:ea typeface="+mn-ea"/>
                <a:cs typeface="+mn-cs"/>
              </a:rPr>
              <a:t>提出了一个极其优雅的工程解法</a:t>
            </a:r>
            <a:r>
              <a:rPr lang="en-US"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看图右上角的虚线框：</a:t>
            </a:r>
            <a:r>
              <a:rPr lang="zh-CN" altLang="en-US" sz="1200" b="1" kern="1200" dirty="0">
                <a:solidFill>
                  <a:schemeClr val="tx1"/>
                </a:solidFill>
                <a:effectLst/>
                <a:latin typeface="+mn-lt"/>
                <a:ea typeface="+mn-ea"/>
                <a:cs typeface="+mn-cs"/>
              </a:rPr>
              <a:t>解耦交叉注意力（</a:t>
            </a:r>
            <a:r>
              <a:rPr lang="en-US" altLang="zh-CN" sz="1200" b="1" kern="1200" dirty="0">
                <a:solidFill>
                  <a:schemeClr val="tx1"/>
                </a:solidFill>
                <a:effectLst/>
                <a:latin typeface="+mn-lt"/>
                <a:ea typeface="+mn-ea"/>
                <a:cs typeface="+mn-cs"/>
              </a:rPr>
              <a:t>Decoupled Cross-Attention</a:t>
            </a:r>
            <a:r>
              <a:rPr lang="zh-CN" altLang="en-US" sz="1200" b="1"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a:t>
            </a:r>
            <a:endParaRPr lang="zh-CN" altLang="en-US" sz="1200" kern="1200" dirty="0">
              <a:solidFill>
                <a:schemeClr val="tx1"/>
              </a:solidFill>
              <a:effectLst/>
              <a:latin typeface="+mn-lt"/>
              <a:ea typeface="+mn-ea"/>
              <a:cs typeface="+mn-cs"/>
            </a:endParaRPr>
          </a:p>
          <a:p>
            <a:r>
              <a:rPr lang="zh-CN" altLang="en-US" sz="1200" b="1" kern="1200" dirty="0">
                <a:solidFill>
                  <a:schemeClr val="tx1"/>
                </a:solidFill>
                <a:effectLst/>
                <a:latin typeface="+mn-lt"/>
                <a:ea typeface="+mn-ea"/>
                <a:cs typeface="+mn-cs"/>
              </a:rPr>
              <a:t>第三层：看图说话（冰与火的交锋）</a:t>
            </a:r>
            <a:endParaRPr lang="zh-CN" altLang="en-US" sz="1200" b="1"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“我们来看这张架构图。这张图最精妙的地方在于它的图例：</a:t>
            </a:r>
            <a:r>
              <a:rPr lang="zh-CN" altLang="en-US" sz="1200" b="1" kern="1200" dirty="0">
                <a:solidFill>
                  <a:schemeClr val="tx1"/>
                </a:solidFill>
                <a:effectLst/>
                <a:latin typeface="+mn-lt"/>
                <a:ea typeface="+mn-ea"/>
                <a:cs typeface="+mn-cs"/>
              </a:rPr>
              <a:t>雪花代表冻结（</a:t>
            </a:r>
            <a:r>
              <a:rPr lang="en-US" altLang="zh-CN" sz="1200" b="1" kern="1200" dirty="0">
                <a:solidFill>
                  <a:schemeClr val="tx1"/>
                </a:solidFill>
                <a:effectLst/>
                <a:latin typeface="+mn-lt"/>
                <a:ea typeface="+mn-ea"/>
                <a:cs typeface="+mn-cs"/>
              </a:rPr>
              <a:t>Frozen</a:t>
            </a:r>
            <a:r>
              <a:rPr lang="zh-CN" altLang="en-US" sz="1200" b="1" kern="1200" dirty="0">
                <a:solidFill>
                  <a:schemeClr val="tx1"/>
                </a:solidFill>
                <a:effectLst/>
                <a:latin typeface="+mn-lt"/>
                <a:ea typeface="+mn-ea"/>
                <a:cs typeface="+mn-cs"/>
              </a:rPr>
              <a:t>），火焰代表可训练（</a:t>
            </a:r>
            <a:r>
              <a:rPr lang="en-US" altLang="zh-CN" sz="1200" b="1" kern="1200" dirty="0">
                <a:solidFill>
                  <a:schemeClr val="tx1"/>
                </a:solidFill>
                <a:effectLst/>
                <a:latin typeface="+mn-lt"/>
                <a:ea typeface="+mn-ea"/>
                <a:cs typeface="+mn-cs"/>
              </a:rPr>
              <a:t>Trainable</a:t>
            </a:r>
            <a:r>
              <a:rPr lang="zh-CN" altLang="en-US" sz="1200" b="1"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a:t>
            </a:r>
            <a:endParaRPr lang="zh-CN" altLang="en-US"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大家先看中间庞大的 </a:t>
            </a:r>
            <a:r>
              <a:rPr lang="en-US" altLang="zh-CN" sz="1200" b="1" kern="1200" dirty="0">
                <a:solidFill>
                  <a:schemeClr val="tx1"/>
                </a:solidFill>
                <a:effectLst/>
                <a:latin typeface="+mn-lt"/>
                <a:ea typeface="+mn-ea"/>
                <a:cs typeface="+mn-cs"/>
              </a:rPr>
              <a:t>Denoising U-Net</a:t>
            </a:r>
            <a:r>
              <a:rPr lang="zh-CN" altLang="en-US" sz="1200" kern="1200" dirty="0">
                <a:solidFill>
                  <a:schemeClr val="tx1"/>
                </a:solidFill>
                <a:effectLst/>
                <a:latin typeface="+mn-lt"/>
                <a:ea typeface="+mn-ea"/>
                <a:cs typeface="+mn-cs"/>
              </a:rPr>
              <a:t> 和下面的 </a:t>
            </a:r>
            <a:r>
              <a:rPr lang="en-US" altLang="zh-CN" sz="1200" b="1" kern="1200" dirty="0">
                <a:solidFill>
                  <a:schemeClr val="tx1"/>
                </a:solidFill>
                <a:effectLst/>
                <a:latin typeface="+mn-lt"/>
                <a:ea typeface="+mn-ea"/>
                <a:cs typeface="+mn-cs"/>
              </a:rPr>
              <a:t>Text Encoder</a:t>
            </a:r>
            <a:r>
              <a:rPr lang="zh-CN" altLang="en-US" sz="1200" kern="1200" dirty="0">
                <a:solidFill>
                  <a:schemeClr val="tx1"/>
                </a:solidFill>
                <a:effectLst/>
                <a:latin typeface="+mn-lt"/>
                <a:ea typeface="+mn-ea"/>
                <a:cs typeface="+mn-cs"/>
              </a:rPr>
              <a:t>，全都是**雪花（冻结）**的。这意味着 </a:t>
            </a:r>
            <a:r>
              <a:rPr lang="en-US" altLang="zh-CN" sz="1200" kern="1200" dirty="0">
                <a:solidFill>
                  <a:schemeClr val="tx1"/>
                </a:solidFill>
                <a:effectLst/>
                <a:latin typeface="+mn-lt"/>
                <a:ea typeface="+mn-ea"/>
                <a:cs typeface="+mn-cs"/>
              </a:rPr>
              <a:t>IP-Adapter </a:t>
            </a:r>
            <a:r>
              <a:rPr lang="zh-CN" altLang="en-US" sz="1200" kern="1200" dirty="0">
                <a:solidFill>
                  <a:schemeClr val="tx1"/>
                </a:solidFill>
                <a:effectLst/>
                <a:latin typeface="+mn-lt"/>
                <a:ea typeface="+mn-ea"/>
                <a:cs typeface="+mn-cs"/>
              </a:rPr>
              <a:t>完全不破坏原模型辛苦学到的任何先验知识和文本生成能力。</a:t>
            </a:r>
            <a:endParaRPr lang="zh-CN" altLang="en-US"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再看下面这条</a:t>
            </a:r>
            <a:r>
              <a:rPr lang="zh-CN" altLang="en-US" sz="1200" b="1" kern="1200" dirty="0">
                <a:solidFill>
                  <a:schemeClr val="tx1"/>
                </a:solidFill>
                <a:effectLst/>
                <a:latin typeface="+mn-lt"/>
                <a:ea typeface="+mn-ea"/>
                <a:cs typeface="+mn-cs"/>
              </a:rPr>
              <a:t>文本路径</a:t>
            </a:r>
            <a:r>
              <a:rPr lang="zh-CN" altLang="en-US"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A girl with sunglasses’ </a:t>
            </a:r>
            <a:r>
              <a:rPr lang="zh-CN" altLang="en-US" sz="1200" kern="1200" dirty="0">
                <a:solidFill>
                  <a:schemeClr val="tx1"/>
                </a:solidFill>
                <a:effectLst/>
                <a:latin typeface="+mn-lt"/>
                <a:ea typeface="+mn-ea"/>
                <a:cs typeface="+mn-cs"/>
              </a:rPr>
              <a:t>经过编码，走入原生的 </a:t>
            </a:r>
            <a:r>
              <a:rPr lang="en-US" altLang="zh-CN" sz="1200" kern="1200" dirty="0">
                <a:solidFill>
                  <a:schemeClr val="tx1"/>
                </a:solidFill>
                <a:effectLst/>
                <a:latin typeface="+mn-lt"/>
                <a:ea typeface="+mn-ea"/>
                <a:cs typeface="+mn-cs"/>
              </a:rPr>
              <a:t>Cross-Attention</a:t>
            </a:r>
            <a:r>
              <a:rPr lang="zh-CN" altLang="en-US" sz="1200" kern="1200" dirty="0">
                <a:solidFill>
                  <a:schemeClr val="tx1"/>
                </a:solidFill>
                <a:effectLst/>
                <a:latin typeface="+mn-lt"/>
                <a:ea typeface="+mn-ea"/>
                <a:cs typeface="+mn-cs"/>
              </a:rPr>
              <a:t>，这部分也是冻结的。文本控制力得到 </a:t>
            </a:r>
            <a:r>
              <a:rPr lang="en-US" altLang="zh-CN" sz="1200" kern="1200" dirty="0">
                <a:solidFill>
                  <a:schemeClr val="tx1"/>
                </a:solidFill>
                <a:effectLst/>
                <a:latin typeface="+mn-lt"/>
                <a:ea typeface="+mn-ea"/>
                <a:cs typeface="+mn-cs"/>
              </a:rPr>
              <a:t>100% </a:t>
            </a:r>
            <a:r>
              <a:rPr lang="zh-CN" altLang="en-US" sz="1200" kern="1200" dirty="0">
                <a:solidFill>
                  <a:schemeClr val="tx1"/>
                </a:solidFill>
                <a:effectLst/>
                <a:latin typeface="+mn-lt"/>
                <a:ea typeface="+mn-ea"/>
                <a:cs typeface="+mn-cs"/>
              </a:rPr>
              <a:t>的保留。</a:t>
            </a:r>
            <a:endParaRPr lang="zh-CN" altLang="en-US" sz="1200" kern="1200" dirty="0">
              <a:solidFill>
                <a:schemeClr val="tx1"/>
              </a:solidFill>
              <a:effectLst/>
              <a:latin typeface="+mn-lt"/>
              <a:ea typeface="+mn-ea"/>
              <a:cs typeface="+mn-cs"/>
            </a:endParaRPr>
          </a:p>
          <a:p>
            <a:r>
              <a:rPr lang="zh-CN" altLang="en-US" sz="1200" b="1" kern="1200" dirty="0">
                <a:solidFill>
                  <a:schemeClr val="tx1"/>
                </a:solidFill>
                <a:effectLst/>
                <a:latin typeface="+mn-lt"/>
                <a:ea typeface="+mn-ea"/>
                <a:cs typeface="+mn-cs"/>
              </a:rPr>
              <a:t>核心创新在上面这条图像路径：</a:t>
            </a:r>
            <a:r>
              <a:rPr lang="zh-CN" altLang="en-US" sz="1200" kern="1200" dirty="0">
                <a:solidFill>
                  <a:schemeClr val="tx1"/>
                </a:solidFill>
                <a:effectLst/>
                <a:latin typeface="+mn-lt"/>
                <a:ea typeface="+mn-ea"/>
                <a:cs typeface="+mn-cs"/>
              </a:rPr>
              <a:t> 给定一张参考图（比如戴珍珠耳环的少女），经过 </a:t>
            </a:r>
            <a:r>
              <a:rPr lang="en-US" altLang="zh-CN" sz="1200" kern="1200" dirty="0">
                <a:solidFill>
                  <a:schemeClr val="tx1"/>
                </a:solidFill>
                <a:effectLst/>
                <a:latin typeface="+mn-lt"/>
                <a:ea typeface="+mn-ea"/>
                <a:cs typeface="+mn-cs"/>
              </a:rPr>
              <a:t>CLIP Image Encoder </a:t>
            </a:r>
            <a:r>
              <a:rPr lang="zh-CN" altLang="en-US" sz="1200" kern="1200" dirty="0">
                <a:solidFill>
                  <a:schemeClr val="tx1"/>
                </a:solidFill>
                <a:effectLst/>
                <a:latin typeface="+mn-lt"/>
                <a:ea typeface="+mn-ea"/>
                <a:cs typeface="+mn-cs"/>
              </a:rPr>
              <a:t>提取特征后，作者加入了一个非常轻量的可训练投影层（图上的 </a:t>
            </a:r>
            <a:r>
              <a:rPr lang="en-US" altLang="zh-CN" sz="1200" kern="1200" dirty="0">
                <a:solidFill>
                  <a:schemeClr val="tx1"/>
                </a:solidFill>
                <a:effectLst/>
                <a:latin typeface="+mn-lt"/>
                <a:ea typeface="+mn-ea"/>
                <a:cs typeface="+mn-cs"/>
              </a:rPr>
              <a:t>Linear + LN</a:t>
            </a:r>
            <a:r>
              <a:rPr lang="zh-CN" altLang="en-US" sz="1200" kern="1200" dirty="0">
                <a:solidFill>
                  <a:schemeClr val="tx1"/>
                </a:solidFill>
                <a:effectLst/>
                <a:latin typeface="+mn-lt"/>
                <a:ea typeface="+mn-ea"/>
                <a:cs typeface="+mn-cs"/>
              </a:rPr>
              <a:t>，带火焰标志）。</a:t>
            </a:r>
            <a:endParaRPr lang="zh-CN" altLang="en-US" sz="1200" kern="1200" dirty="0">
              <a:solidFill>
                <a:schemeClr val="tx1"/>
              </a:solidFill>
              <a:effectLst/>
              <a:latin typeface="+mn-lt"/>
              <a:ea typeface="+mn-ea"/>
              <a:cs typeface="+mn-cs"/>
            </a:endParaRPr>
          </a:p>
          <a:p>
            <a:r>
              <a:rPr lang="zh-CN" altLang="en-US" sz="1200" b="1" kern="1200" dirty="0">
                <a:solidFill>
                  <a:schemeClr val="tx1"/>
                </a:solidFill>
                <a:effectLst/>
                <a:latin typeface="+mn-lt"/>
                <a:ea typeface="+mn-ea"/>
                <a:cs typeface="+mn-cs"/>
              </a:rPr>
              <a:t>关键解耦（高潮部分）：</a:t>
            </a:r>
            <a:r>
              <a:rPr lang="zh-CN" altLang="en-US"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IP-Adapter </a:t>
            </a:r>
            <a:r>
              <a:rPr lang="zh-CN" altLang="en-US" sz="1200" kern="1200" dirty="0">
                <a:solidFill>
                  <a:schemeClr val="tx1"/>
                </a:solidFill>
                <a:effectLst/>
                <a:latin typeface="+mn-lt"/>
                <a:ea typeface="+mn-ea"/>
                <a:cs typeface="+mn-cs"/>
              </a:rPr>
              <a:t>为每一层原本的 </a:t>
            </a:r>
            <a:r>
              <a:rPr lang="en-US" altLang="zh-CN" sz="1200" kern="1200" dirty="0">
                <a:solidFill>
                  <a:schemeClr val="tx1"/>
                </a:solidFill>
                <a:effectLst/>
                <a:latin typeface="+mn-lt"/>
                <a:ea typeface="+mn-ea"/>
                <a:cs typeface="+mn-cs"/>
              </a:rPr>
              <a:t>Cross-Attention </a:t>
            </a:r>
            <a:r>
              <a:rPr lang="zh-CN" altLang="en-US" sz="1200" kern="1200" dirty="0">
                <a:solidFill>
                  <a:schemeClr val="tx1"/>
                </a:solidFill>
                <a:effectLst/>
                <a:latin typeface="+mn-lt"/>
                <a:ea typeface="+mn-ea"/>
                <a:cs typeface="+mn-cs"/>
              </a:rPr>
              <a:t>旁边，</a:t>
            </a:r>
            <a:r>
              <a:rPr lang="zh-CN" altLang="en-US" sz="1200" b="1" kern="1200" dirty="0">
                <a:solidFill>
                  <a:schemeClr val="tx1"/>
                </a:solidFill>
                <a:effectLst/>
                <a:latin typeface="+mn-lt"/>
                <a:ea typeface="+mn-ea"/>
                <a:cs typeface="+mn-cs"/>
              </a:rPr>
              <a:t>并联新增</a:t>
            </a:r>
            <a:r>
              <a:rPr lang="zh-CN" altLang="en-US" sz="1200" kern="1200" dirty="0">
                <a:solidFill>
                  <a:schemeClr val="tx1"/>
                </a:solidFill>
                <a:effectLst/>
                <a:latin typeface="+mn-lt"/>
                <a:ea typeface="+mn-ea"/>
                <a:cs typeface="+mn-cs"/>
              </a:rPr>
              <a:t>了一个专门给图像用的 </a:t>
            </a:r>
            <a:r>
              <a:rPr lang="en-US" altLang="zh-CN" sz="1200" kern="1200" dirty="0">
                <a:solidFill>
                  <a:schemeClr val="tx1"/>
                </a:solidFill>
                <a:effectLst/>
                <a:latin typeface="+mn-lt"/>
                <a:ea typeface="+mn-ea"/>
                <a:cs typeface="+mn-cs"/>
              </a:rPr>
              <a:t>Cross-Attention </a:t>
            </a:r>
            <a:r>
              <a:rPr lang="zh-CN" altLang="en-US" sz="1200" kern="1200" dirty="0">
                <a:solidFill>
                  <a:schemeClr val="tx1"/>
                </a:solidFill>
                <a:effectLst/>
                <a:latin typeface="+mn-lt"/>
                <a:ea typeface="+mn-ea"/>
                <a:cs typeface="+mn-cs"/>
              </a:rPr>
              <a:t>层（图上标红带火焰的那个）。这两个 </a:t>
            </a:r>
            <a:r>
              <a:rPr lang="en-US" altLang="zh-CN" sz="1200" kern="1200" dirty="0">
                <a:solidFill>
                  <a:schemeClr val="tx1"/>
                </a:solidFill>
                <a:effectLst/>
                <a:latin typeface="+mn-lt"/>
                <a:ea typeface="+mn-ea"/>
                <a:cs typeface="+mn-cs"/>
              </a:rPr>
              <a:t>Attention </a:t>
            </a:r>
            <a:r>
              <a:rPr lang="zh-CN" altLang="en-US" sz="1200" kern="1200" dirty="0">
                <a:solidFill>
                  <a:schemeClr val="tx1"/>
                </a:solidFill>
                <a:effectLst/>
                <a:latin typeface="+mn-lt"/>
                <a:ea typeface="+mn-ea"/>
                <a:cs typeface="+mn-cs"/>
              </a:rPr>
              <a:t>共享同一个 </a:t>
            </a:r>
            <a:r>
              <a:rPr lang="en-US" altLang="zh-CN" sz="1200" kern="1200" dirty="0">
                <a:solidFill>
                  <a:schemeClr val="tx1"/>
                </a:solidFill>
                <a:effectLst/>
                <a:latin typeface="+mn-lt"/>
                <a:ea typeface="+mn-ea"/>
                <a:cs typeface="+mn-cs"/>
              </a:rPr>
              <a:t>Query</a:t>
            </a:r>
            <a:r>
              <a:rPr lang="zh-CN" altLang="en-US" sz="1200" kern="1200" dirty="0">
                <a:solidFill>
                  <a:schemeClr val="tx1"/>
                </a:solidFill>
                <a:effectLst/>
                <a:latin typeface="+mn-lt"/>
                <a:ea typeface="+mn-ea"/>
                <a:cs typeface="+mn-cs"/>
              </a:rPr>
              <a:t>（来自图像的潜变量 </a:t>
            </a:r>
            <a:r>
              <a:rPr lang="en-US" altLang="zh-CN" sz="1200" kern="1200" dirty="0">
                <a:solidFill>
                  <a:schemeClr val="tx1"/>
                </a:solidFill>
                <a:effectLst/>
                <a:latin typeface="+mn-lt"/>
                <a:ea typeface="+mn-ea"/>
                <a:cs typeface="+mn-cs"/>
              </a:rPr>
              <a:t>$</a:t>
            </a:r>
            <a:r>
              <a:rPr lang="en-US" altLang="zh-CN" sz="1200" kern="1200" dirty="0" err="1">
                <a:solidFill>
                  <a:schemeClr val="tx1"/>
                </a:solidFill>
                <a:effectLst/>
                <a:latin typeface="+mn-lt"/>
                <a:ea typeface="+mn-ea"/>
                <a:cs typeface="+mn-cs"/>
              </a:rPr>
              <a:t>x_t</a:t>
            </a:r>
            <a:r>
              <a:rPr lang="en-US"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），但各自去查询自己的 </a:t>
            </a:r>
            <a:r>
              <a:rPr lang="en-US" altLang="zh-CN" sz="1200" kern="1200" dirty="0">
                <a:solidFill>
                  <a:schemeClr val="tx1"/>
                </a:solidFill>
                <a:effectLst/>
                <a:latin typeface="+mn-lt"/>
                <a:ea typeface="+mn-ea"/>
                <a:cs typeface="+mn-cs"/>
              </a:rPr>
              <a:t>Key </a:t>
            </a:r>
            <a:r>
              <a:rPr lang="zh-CN" altLang="en-US" sz="1200" kern="1200" dirty="0">
                <a:solidFill>
                  <a:schemeClr val="tx1"/>
                </a:solidFill>
                <a:effectLst/>
                <a:latin typeface="+mn-lt"/>
                <a:ea typeface="+mn-ea"/>
                <a:cs typeface="+mn-cs"/>
              </a:rPr>
              <a:t>和 </a:t>
            </a:r>
            <a:r>
              <a:rPr lang="en-US" altLang="zh-CN" sz="1200" kern="1200" dirty="0">
                <a:solidFill>
                  <a:schemeClr val="tx1"/>
                </a:solidFill>
                <a:effectLst/>
                <a:latin typeface="+mn-lt"/>
                <a:ea typeface="+mn-ea"/>
                <a:cs typeface="+mn-cs"/>
              </a:rPr>
              <a:t>Value</a:t>
            </a:r>
            <a:r>
              <a:rPr lang="zh-CN" altLang="en-US" sz="1200" kern="1200" dirty="0">
                <a:solidFill>
                  <a:schemeClr val="tx1"/>
                </a:solidFill>
                <a:effectLst/>
                <a:latin typeface="+mn-lt"/>
                <a:ea typeface="+mn-ea"/>
                <a:cs typeface="+mn-cs"/>
              </a:rPr>
              <a:t>（一个查文本，一个查图像）。最后，把两边的输出结果</a:t>
            </a:r>
            <a:r>
              <a:rPr lang="zh-CN" altLang="en-US" sz="1200" b="1" kern="1200" dirty="0">
                <a:solidFill>
                  <a:schemeClr val="tx1"/>
                </a:solidFill>
                <a:effectLst/>
                <a:latin typeface="+mn-lt"/>
                <a:ea typeface="+mn-ea"/>
                <a:cs typeface="+mn-cs"/>
              </a:rPr>
              <a:t>直接相加</a:t>
            </a:r>
            <a:r>
              <a:rPr lang="zh-CN" altLang="en-US" sz="1200" kern="1200" dirty="0">
                <a:solidFill>
                  <a:schemeClr val="tx1"/>
                </a:solidFill>
                <a:effectLst/>
                <a:latin typeface="+mn-lt"/>
                <a:ea typeface="+mn-ea"/>
                <a:cs typeface="+mn-cs"/>
              </a:rPr>
              <a:t>。”</a:t>
            </a:r>
            <a:endParaRPr lang="zh-CN" altLang="en-US"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eaLnBrk="1" fontAlgn="auto" latinLnBrk="0" hangingPunct="1">
              <a:lnSpc>
                <a:spcPct val="100000"/>
              </a:lnSpc>
              <a:spcBef>
                <a:spcPts val="0"/>
              </a:spcBef>
              <a:spcAft>
                <a:spcPts val="0"/>
              </a:spcAft>
              <a:buClrTx/>
              <a:buSzTx/>
              <a:buFontTx/>
              <a:buNone/>
              <a:defRPr/>
            </a:pPr>
            <a:fld id="{E2C0510E-DAB0-4142-AE9C-3B6078BF66FF}" type="slidenum">
              <a:rPr kumimoji="0" lang="zh-CN" altLang="en-US" sz="1200" b="0" i="0" u="none" strike="noStrike" kern="0" cap="none" spc="0" normalizeH="0" baseline="0" noProof="0" smtClean="0">
                <a:ln>
                  <a:noFill/>
                </a:ln>
                <a:solidFill>
                  <a:sysClr val="windowText" lastClr="000000"/>
                </a:solidFill>
                <a:effectLst/>
                <a:uLnTx/>
                <a:uFillTx/>
              </a:rPr>
            </a:fld>
            <a:endParaRPr kumimoji="0" lang="zh-CN" altLang="en-US" sz="1200" b="0" i="0" u="none" strike="noStrike" kern="0" cap="none" spc="0" normalizeH="0" baseline="0" noProof="0">
              <a:ln>
                <a:noFill/>
              </a:ln>
              <a:solidFill>
                <a:sysClr val="windowText" lastClr="000000"/>
              </a:solidFill>
              <a:effectLst/>
              <a:uLnTx/>
              <a:uFillTx/>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从 </a:t>
            </a:r>
            <a:r>
              <a:rPr lang="en-US" altLang="zh-CN" sz="1200" kern="1200" dirty="0">
                <a:solidFill>
                  <a:schemeClr val="tx1"/>
                </a:solidFill>
                <a:effectLst/>
                <a:latin typeface="+mn-lt"/>
                <a:ea typeface="+mn-ea"/>
                <a:cs typeface="+mn-cs"/>
              </a:rPr>
              <a:t>2D </a:t>
            </a:r>
            <a:r>
              <a:rPr lang="zh-CN" altLang="en-US" sz="1200" kern="1200" dirty="0">
                <a:solidFill>
                  <a:schemeClr val="tx1"/>
                </a:solidFill>
                <a:effectLst/>
                <a:latin typeface="+mn-lt"/>
                <a:ea typeface="+mn-ea"/>
                <a:cs typeface="+mn-cs"/>
              </a:rPr>
              <a:t>图像生成拓展至 </a:t>
            </a:r>
            <a:r>
              <a:rPr lang="en-US" altLang="zh-CN" sz="1200" kern="1200" dirty="0">
                <a:solidFill>
                  <a:schemeClr val="tx1"/>
                </a:solidFill>
                <a:effectLst/>
                <a:latin typeface="+mn-lt"/>
                <a:ea typeface="+mn-ea"/>
                <a:cs typeface="+mn-cs"/>
              </a:rPr>
              <a:t>3D </a:t>
            </a:r>
            <a:r>
              <a:rPr lang="zh-CN" altLang="en-US" sz="1200" kern="1200" dirty="0">
                <a:solidFill>
                  <a:schemeClr val="tx1"/>
                </a:solidFill>
                <a:effectLst/>
                <a:latin typeface="+mn-lt"/>
                <a:ea typeface="+mn-ea"/>
                <a:cs typeface="+mn-cs"/>
              </a:rPr>
              <a:t>资产生成，扩散模型落地的核心技术瓶颈在于**‘</a:t>
            </a:r>
            <a:r>
              <a:rPr lang="en-US" altLang="zh-CN" sz="1200" kern="1200" dirty="0">
                <a:solidFill>
                  <a:schemeClr val="tx1"/>
                </a:solidFill>
                <a:effectLst/>
                <a:latin typeface="+mn-lt"/>
                <a:ea typeface="+mn-ea"/>
                <a:cs typeface="+mn-cs"/>
              </a:rPr>
              <a:t>3D </a:t>
            </a:r>
            <a:r>
              <a:rPr lang="zh-CN" altLang="en-US" sz="1200" kern="1200" dirty="0">
                <a:solidFill>
                  <a:schemeClr val="tx1"/>
                </a:solidFill>
                <a:effectLst/>
                <a:latin typeface="+mn-lt"/>
                <a:ea typeface="+mn-ea"/>
                <a:cs typeface="+mn-cs"/>
              </a:rPr>
              <a:t>表示空间的非统一性’**。由于 </a:t>
            </a:r>
            <a:r>
              <a:rPr lang="en-US" altLang="zh-CN" sz="1200" kern="1200" dirty="0">
                <a:solidFill>
                  <a:schemeClr val="tx1"/>
                </a:solidFill>
                <a:effectLst/>
                <a:latin typeface="+mn-lt"/>
                <a:ea typeface="+mn-ea"/>
                <a:cs typeface="+mn-cs"/>
              </a:rPr>
              <a:t>3D </a:t>
            </a:r>
            <a:r>
              <a:rPr lang="zh-CN" altLang="en-US" sz="1200" kern="1200" dirty="0">
                <a:solidFill>
                  <a:schemeClr val="tx1"/>
                </a:solidFill>
                <a:effectLst/>
                <a:latin typeface="+mn-lt"/>
                <a:ea typeface="+mn-ea"/>
                <a:cs typeface="+mn-cs"/>
              </a:rPr>
              <a:t>数据形式高度异构（如网格 </a:t>
            </a:r>
            <a:r>
              <a:rPr lang="en-US" altLang="zh-CN" sz="1200" kern="1200" dirty="0">
                <a:solidFill>
                  <a:schemeClr val="tx1"/>
                </a:solidFill>
                <a:effectLst/>
                <a:latin typeface="+mn-lt"/>
                <a:ea typeface="+mn-ea"/>
                <a:cs typeface="+mn-cs"/>
              </a:rPr>
              <a:t>Mesh</a:t>
            </a:r>
            <a:r>
              <a:rPr lang="zh-CN" altLang="en-US" sz="1200" kern="1200" dirty="0">
                <a:solidFill>
                  <a:schemeClr val="tx1"/>
                </a:solidFill>
                <a:effectLst/>
                <a:latin typeface="+mn-lt"/>
                <a:ea typeface="+mn-ea"/>
                <a:cs typeface="+mn-cs"/>
              </a:rPr>
              <a:t>、点云、高斯溅射 </a:t>
            </a:r>
            <a:r>
              <a:rPr lang="en-US" altLang="zh-CN" sz="1200" kern="1200" dirty="0">
                <a:solidFill>
                  <a:schemeClr val="tx1"/>
                </a:solidFill>
                <a:effectLst/>
                <a:latin typeface="+mn-lt"/>
                <a:ea typeface="+mn-ea"/>
                <a:cs typeface="+mn-cs"/>
              </a:rPr>
              <a:t>3DGS </a:t>
            </a:r>
            <a:r>
              <a:rPr lang="zh-CN" altLang="en-US" sz="1200" kern="1200" dirty="0">
                <a:solidFill>
                  <a:schemeClr val="tx1"/>
                </a:solidFill>
                <a:effectLst/>
                <a:latin typeface="+mn-lt"/>
                <a:ea typeface="+mn-ea"/>
                <a:cs typeface="+mn-cs"/>
              </a:rPr>
              <a:t>等），直接在原生空间进行扩散生成，通常面临计算复杂度过高或几何拓扑难以收敛的技术壁垒。</a:t>
            </a:r>
            <a:endParaRPr lang="zh-CN" altLang="en-US"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本页展示的 </a:t>
            </a:r>
            <a:r>
              <a:rPr lang="en-US" altLang="zh-CN" sz="1200" kern="1200" dirty="0">
                <a:solidFill>
                  <a:schemeClr val="tx1"/>
                </a:solidFill>
                <a:effectLst/>
                <a:latin typeface="+mn-lt"/>
                <a:ea typeface="+mn-ea"/>
                <a:cs typeface="+mn-cs"/>
              </a:rPr>
              <a:t>Trellis </a:t>
            </a:r>
            <a:r>
              <a:rPr lang="zh-CN" altLang="en-US" sz="1200" kern="1200" dirty="0">
                <a:solidFill>
                  <a:schemeClr val="tx1"/>
                </a:solidFill>
                <a:effectLst/>
                <a:latin typeface="+mn-lt"/>
                <a:ea typeface="+mn-ea"/>
                <a:cs typeface="+mn-cs"/>
              </a:rPr>
              <a:t>工作，核心思路是沿用 </a:t>
            </a:r>
            <a:r>
              <a:rPr lang="en-US" altLang="zh-CN" sz="1200" kern="1200" dirty="0">
                <a:solidFill>
                  <a:schemeClr val="tx1"/>
                </a:solidFill>
                <a:effectLst/>
                <a:latin typeface="+mn-lt"/>
                <a:ea typeface="+mn-ea"/>
                <a:cs typeface="+mn-cs"/>
              </a:rPr>
              <a:t>2D </a:t>
            </a:r>
            <a:r>
              <a:rPr lang="zh-CN" altLang="en-US" sz="1200" kern="1200" dirty="0">
                <a:solidFill>
                  <a:schemeClr val="tx1"/>
                </a:solidFill>
                <a:effectLst/>
                <a:latin typeface="+mn-lt"/>
                <a:ea typeface="+mn-ea"/>
                <a:cs typeface="+mn-cs"/>
              </a:rPr>
              <a:t>领域 </a:t>
            </a:r>
            <a:r>
              <a:rPr lang="en-US" altLang="zh-CN" sz="1200" kern="1200" dirty="0">
                <a:solidFill>
                  <a:schemeClr val="tx1"/>
                </a:solidFill>
                <a:effectLst/>
                <a:latin typeface="+mn-lt"/>
                <a:ea typeface="+mn-ea"/>
                <a:cs typeface="+mn-cs"/>
              </a:rPr>
              <a:t>Latent Diffusion </a:t>
            </a:r>
            <a:r>
              <a:rPr lang="zh-CN" altLang="en-US" sz="1200" kern="1200" dirty="0">
                <a:solidFill>
                  <a:schemeClr val="tx1"/>
                </a:solidFill>
                <a:effectLst/>
                <a:latin typeface="+mn-lt"/>
                <a:ea typeface="+mn-ea"/>
                <a:cs typeface="+mn-cs"/>
              </a:rPr>
              <a:t>的范式，通过构建一个统一的 </a:t>
            </a:r>
            <a:r>
              <a:rPr lang="en-US" altLang="zh-CN" sz="1200" kern="1200" dirty="0">
                <a:solidFill>
                  <a:schemeClr val="tx1"/>
                </a:solidFill>
                <a:effectLst/>
                <a:latin typeface="+mn-lt"/>
                <a:ea typeface="+mn-ea"/>
                <a:cs typeface="+mn-cs"/>
              </a:rPr>
              <a:t>3D </a:t>
            </a:r>
            <a:r>
              <a:rPr lang="zh-CN" altLang="en-US" sz="1200" kern="1200" dirty="0">
                <a:solidFill>
                  <a:schemeClr val="tx1"/>
                </a:solidFill>
                <a:effectLst/>
                <a:latin typeface="+mn-lt"/>
                <a:ea typeface="+mn-ea"/>
                <a:cs typeface="+mn-cs"/>
              </a:rPr>
              <a:t>隐空间，为扩散模型在 </a:t>
            </a:r>
            <a:r>
              <a:rPr lang="en-US" altLang="zh-CN" sz="1200" kern="1200" dirty="0">
                <a:solidFill>
                  <a:schemeClr val="tx1"/>
                </a:solidFill>
                <a:effectLst/>
                <a:latin typeface="+mn-lt"/>
                <a:ea typeface="+mn-ea"/>
                <a:cs typeface="+mn-cs"/>
              </a:rPr>
              <a:t>3D </a:t>
            </a:r>
            <a:r>
              <a:rPr lang="zh-CN" altLang="en-US" sz="1200" kern="1200" dirty="0">
                <a:solidFill>
                  <a:schemeClr val="tx1"/>
                </a:solidFill>
                <a:effectLst/>
                <a:latin typeface="+mn-lt"/>
                <a:ea typeface="+mn-ea"/>
                <a:cs typeface="+mn-cs"/>
              </a:rPr>
              <a:t>领域的应用提供标准的连续状态空间。”</a:t>
            </a:r>
            <a:endParaRPr lang="zh-CN" altLang="en-US" sz="1200" kern="1200" dirty="0">
              <a:solidFill>
                <a:schemeClr val="tx1"/>
              </a:solidFill>
              <a:effectLst/>
              <a:latin typeface="+mn-lt"/>
              <a:ea typeface="+mn-ea"/>
              <a:cs typeface="+mn-cs"/>
            </a:endParaRPr>
          </a:p>
          <a:p>
            <a:r>
              <a:rPr lang="en-US" altLang="zh-CN" sz="1200" b="1" kern="1200" dirty="0">
                <a:solidFill>
                  <a:schemeClr val="tx1"/>
                </a:solidFill>
                <a:effectLst/>
                <a:latin typeface="+mn-lt"/>
                <a:ea typeface="+mn-ea"/>
                <a:cs typeface="+mn-cs"/>
              </a:rPr>
              <a:t>2. </a:t>
            </a:r>
            <a:r>
              <a:rPr lang="zh-CN" altLang="en-US" sz="1200" b="1" kern="1200" dirty="0">
                <a:solidFill>
                  <a:schemeClr val="tx1"/>
                </a:solidFill>
                <a:effectLst/>
                <a:latin typeface="+mn-lt"/>
                <a:ea typeface="+mn-ea"/>
                <a:cs typeface="+mn-cs"/>
              </a:rPr>
              <a:t>空间特征对齐：构建结构化隐空间 </a:t>
            </a:r>
            <a:r>
              <a:rPr lang="en-US" altLang="zh-CN" sz="1200" b="1" kern="1200" dirty="0">
                <a:solidFill>
                  <a:schemeClr val="tx1"/>
                </a:solidFill>
                <a:effectLst/>
                <a:latin typeface="+mn-lt"/>
                <a:ea typeface="+mn-ea"/>
                <a:cs typeface="+mn-cs"/>
              </a:rPr>
              <a:t>(SLAT)</a:t>
            </a:r>
            <a:endParaRPr lang="en-US" altLang="zh-CN" sz="1200" b="1"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“请看 </a:t>
            </a:r>
            <a:r>
              <a:rPr lang="en-US" altLang="zh-CN" sz="1200" kern="1200" dirty="0">
                <a:solidFill>
                  <a:schemeClr val="tx1"/>
                </a:solidFill>
                <a:effectLst/>
                <a:latin typeface="+mn-lt"/>
                <a:ea typeface="+mn-ea"/>
                <a:cs typeface="+mn-cs"/>
              </a:rPr>
              <a:t>PPT </a:t>
            </a:r>
            <a:r>
              <a:rPr lang="zh-CN" altLang="en-US" sz="1200" kern="1200" dirty="0">
                <a:solidFill>
                  <a:schemeClr val="tx1"/>
                </a:solidFill>
                <a:effectLst/>
                <a:latin typeface="+mn-lt"/>
                <a:ea typeface="+mn-ea"/>
                <a:cs typeface="+mn-cs"/>
              </a:rPr>
              <a:t>上半部分的‘编码与解码（</a:t>
            </a:r>
            <a:r>
              <a:rPr lang="en-US" altLang="zh-CN" sz="1200" kern="1200" dirty="0">
                <a:solidFill>
                  <a:schemeClr val="tx1"/>
                </a:solidFill>
                <a:effectLst/>
                <a:latin typeface="+mn-lt"/>
                <a:ea typeface="+mn-ea"/>
                <a:cs typeface="+mn-cs"/>
              </a:rPr>
              <a:t>Encoding &amp; Decoding</a:t>
            </a:r>
            <a:r>
              <a:rPr lang="zh-CN" altLang="en-US" sz="1200" kern="1200" dirty="0">
                <a:solidFill>
                  <a:schemeClr val="tx1"/>
                </a:solidFill>
                <a:effectLst/>
                <a:latin typeface="+mn-lt"/>
                <a:ea typeface="+mn-ea"/>
                <a:cs typeface="+mn-cs"/>
              </a:rPr>
              <a:t>）’模块。</a:t>
            </a:r>
            <a:endParaRPr lang="zh-CN" altLang="en-US"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在引入扩散生成之前，</a:t>
            </a:r>
            <a:r>
              <a:rPr lang="en-US" altLang="zh-CN" sz="1200" kern="1200" dirty="0">
                <a:solidFill>
                  <a:schemeClr val="tx1"/>
                </a:solidFill>
                <a:effectLst/>
                <a:latin typeface="+mn-lt"/>
                <a:ea typeface="+mn-ea"/>
                <a:cs typeface="+mn-cs"/>
              </a:rPr>
              <a:t>Trellis </a:t>
            </a:r>
            <a:r>
              <a:rPr lang="zh-CN" altLang="en-US" sz="1200" kern="1200" dirty="0">
                <a:solidFill>
                  <a:schemeClr val="tx1"/>
                </a:solidFill>
                <a:effectLst/>
                <a:latin typeface="+mn-lt"/>
                <a:ea typeface="+mn-ea"/>
                <a:cs typeface="+mn-cs"/>
              </a:rPr>
              <a:t>首先构建了一个名为 </a:t>
            </a:r>
            <a:r>
              <a:rPr lang="en-US" altLang="zh-CN" sz="1200" b="1" kern="1200" dirty="0">
                <a:solidFill>
                  <a:schemeClr val="tx1"/>
                </a:solidFill>
                <a:effectLst/>
                <a:latin typeface="+mn-lt"/>
                <a:ea typeface="+mn-ea"/>
                <a:cs typeface="+mn-cs"/>
              </a:rPr>
              <a:t>SLAT</a:t>
            </a:r>
            <a:r>
              <a:rPr lang="zh-CN" altLang="en-US" sz="1200" b="1" kern="1200" dirty="0">
                <a:solidFill>
                  <a:schemeClr val="tx1"/>
                </a:solidFill>
                <a:effectLst/>
                <a:latin typeface="+mn-lt"/>
                <a:ea typeface="+mn-ea"/>
                <a:cs typeface="+mn-cs"/>
              </a:rPr>
              <a:t>（结构化隐表示）</a:t>
            </a:r>
            <a:r>
              <a:rPr lang="zh-CN" altLang="en-US" sz="1200" kern="1200" dirty="0">
                <a:solidFill>
                  <a:schemeClr val="tx1"/>
                </a:solidFill>
                <a:effectLst/>
                <a:latin typeface="+mn-lt"/>
                <a:ea typeface="+mn-ea"/>
                <a:cs typeface="+mn-cs"/>
              </a:rPr>
              <a:t> 的统一 </a:t>
            </a:r>
            <a:r>
              <a:rPr lang="en-US" altLang="zh-CN" sz="1200" kern="1200" dirty="0">
                <a:solidFill>
                  <a:schemeClr val="tx1"/>
                </a:solidFill>
                <a:effectLst/>
                <a:latin typeface="+mn-lt"/>
                <a:ea typeface="+mn-ea"/>
                <a:cs typeface="+mn-cs"/>
              </a:rPr>
              <a:t>3D </a:t>
            </a:r>
            <a:r>
              <a:rPr lang="zh-CN" altLang="en-US" sz="1200" kern="1200" dirty="0">
                <a:solidFill>
                  <a:schemeClr val="tx1"/>
                </a:solidFill>
                <a:effectLst/>
                <a:latin typeface="+mn-lt"/>
                <a:ea typeface="+mn-ea"/>
                <a:cs typeface="+mn-cs"/>
              </a:rPr>
              <a:t>隐空间 。该方案创新性地融合了显式与隐式表示：利用稀疏体素网格（</a:t>
            </a:r>
            <a:r>
              <a:rPr lang="en-US" altLang="zh-CN" sz="1200" kern="1200" dirty="0">
                <a:solidFill>
                  <a:schemeClr val="tx1"/>
                </a:solidFill>
                <a:effectLst/>
                <a:latin typeface="+mn-lt"/>
                <a:ea typeface="+mn-ea"/>
                <a:cs typeface="+mn-cs"/>
              </a:rPr>
              <a:t>Sparse Grid</a:t>
            </a:r>
            <a:r>
              <a:rPr lang="zh-CN" altLang="en-US" sz="1200" kern="1200" dirty="0">
                <a:solidFill>
                  <a:schemeClr val="tx1"/>
                </a:solidFill>
                <a:effectLst/>
                <a:latin typeface="+mn-lt"/>
                <a:ea typeface="+mn-ea"/>
                <a:cs typeface="+mn-cs"/>
              </a:rPr>
              <a:t>）来界定物体的粗糙几何边界，并结合 </a:t>
            </a:r>
            <a:r>
              <a:rPr lang="en-US" altLang="zh-CN" sz="1200" kern="1200" dirty="0">
                <a:solidFill>
                  <a:schemeClr val="tx1"/>
                </a:solidFill>
                <a:effectLst/>
                <a:latin typeface="+mn-lt"/>
                <a:ea typeface="+mn-ea"/>
                <a:cs typeface="+mn-cs"/>
              </a:rPr>
              <a:t>DINOv2 </a:t>
            </a:r>
            <a:r>
              <a:rPr lang="zh-CN" altLang="en-US" sz="1200" kern="1200" dirty="0">
                <a:solidFill>
                  <a:schemeClr val="tx1"/>
                </a:solidFill>
                <a:effectLst/>
                <a:latin typeface="+mn-lt"/>
                <a:ea typeface="+mn-ea"/>
                <a:cs typeface="+mn-cs"/>
              </a:rPr>
              <a:t>提取的密集多视角视觉特征，将高维外观信息挂载至活跃体素上 。</a:t>
            </a:r>
            <a:endParaRPr lang="zh-CN" altLang="en-US"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这一设计的本质，是将异构的、难以直接优化的 </a:t>
            </a:r>
            <a:r>
              <a:rPr lang="en-US" altLang="zh-CN" sz="1200" kern="1200" dirty="0">
                <a:solidFill>
                  <a:schemeClr val="tx1"/>
                </a:solidFill>
                <a:effectLst/>
                <a:latin typeface="+mn-lt"/>
                <a:ea typeface="+mn-ea"/>
                <a:cs typeface="+mn-cs"/>
              </a:rPr>
              <a:t>3D </a:t>
            </a:r>
            <a:r>
              <a:rPr lang="zh-CN" altLang="en-US" sz="1200" kern="1200" dirty="0">
                <a:solidFill>
                  <a:schemeClr val="tx1"/>
                </a:solidFill>
                <a:effectLst/>
                <a:latin typeface="+mn-lt"/>
                <a:ea typeface="+mn-ea"/>
                <a:cs typeface="+mn-cs"/>
              </a:rPr>
              <a:t>数据，统一降维并映射为标准化的稀疏张量 。这为后续大规模扩散模型的训练确立了理想的数据载体 。”</a:t>
            </a:r>
            <a:endParaRPr lang="zh-CN" altLang="en-US" sz="1200" kern="1200" dirty="0">
              <a:solidFill>
                <a:schemeClr val="tx1"/>
              </a:solidFill>
              <a:effectLst/>
              <a:latin typeface="+mn-lt"/>
              <a:ea typeface="+mn-ea"/>
              <a:cs typeface="+mn-cs"/>
            </a:endParaRPr>
          </a:p>
          <a:p>
            <a:r>
              <a:rPr lang="en-US" altLang="zh-CN" sz="1200" b="1" kern="1200" dirty="0">
                <a:solidFill>
                  <a:schemeClr val="tx1"/>
                </a:solidFill>
                <a:effectLst/>
                <a:latin typeface="+mn-lt"/>
                <a:ea typeface="+mn-ea"/>
                <a:cs typeface="+mn-cs"/>
              </a:rPr>
              <a:t>3. </a:t>
            </a:r>
            <a:r>
              <a:rPr lang="zh-CN" altLang="en-US" sz="1200" b="1" kern="1200" dirty="0">
                <a:solidFill>
                  <a:schemeClr val="tx1"/>
                </a:solidFill>
                <a:effectLst/>
                <a:latin typeface="+mn-lt"/>
                <a:ea typeface="+mn-ea"/>
                <a:cs typeface="+mn-cs"/>
              </a:rPr>
              <a:t>核心生成范式：级联扩散与流匹配 </a:t>
            </a:r>
            <a:r>
              <a:rPr lang="en-US" altLang="zh-CN" sz="1200" b="1" kern="1200" dirty="0">
                <a:solidFill>
                  <a:schemeClr val="tx1"/>
                </a:solidFill>
                <a:effectLst/>
                <a:latin typeface="+mn-lt"/>
                <a:ea typeface="+mn-ea"/>
                <a:cs typeface="+mn-cs"/>
              </a:rPr>
              <a:t>(Generation Paradigm)</a:t>
            </a:r>
            <a:endParaRPr lang="en-US" altLang="zh-CN" sz="1200" b="1"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“基于上述统一隐空间，</a:t>
            </a:r>
            <a:r>
              <a:rPr lang="en-US" altLang="zh-CN" sz="1200" kern="1200" dirty="0">
                <a:solidFill>
                  <a:schemeClr val="tx1"/>
                </a:solidFill>
                <a:effectLst/>
                <a:latin typeface="+mn-lt"/>
                <a:ea typeface="+mn-ea"/>
                <a:cs typeface="+mn-cs"/>
              </a:rPr>
              <a:t>PPT </a:t>
            </a:r>
            <a:r>
              <a:rPr lang="zh-CN" altLang="en-US" sz="1200" kern="1200" dirty="0">
                <a:solidFill>
                  <a:schemeClr val="tx1"/>
                </a:solidFill>
                <a:effectLst/>
                <a:latin typeface="+mn-lt"/>
                <a:ea typeface="+mn-ea"/>
                <a:cs typeface="+mn-cs"/>
              </a:rPr>
              <a:t>下半部分展示了其核心的生成机制。</a:t>
            </a:r>
            <a:endParaRPr lang="zh-CN" altLang="en-US"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为了应对 </a:t>
            </a:r>
            <a:r>
              <a:rPr lang="en-US" altLang="zh-CN" sz="1200" kern="1200" dirty="0">
                <a:solidFill>
                  <a:schemeClr val="tx1"/>
                </a:solidFill>
                <a:effectLst/>
                <a:latin typeface="+mn-lt"/>
                <a:ea typeface="+mn-ea"/>
                <a:cs typeface="+mn-cs"/>
              </a:rPr>
              <a:t>3D </a:t>
            </a:r>
            <a:r>
              <a:rPr lang="zh-CN" altLang="en-US" sz="1200" kern="1200" dirty="0">
                <a:solidFill>
                  <a:schemeClr val="tx1"/>
                </a:solidFill>
                <a:effectLst/>
                <a:latin typeface="+mn-lt"/>
                <a:ea typeface="+mn-ea"/>
                <a:cs typeface="+mn-cs"/>
              </a:rPr>
              <a:t>空间特征分布的高稀疏性，模型采用了解耦的</a:t>
            </a:r>
            <a:r>
              <a:rPr lang="zh-CN" altLang="en-US" sz="1200" b="1" kern="1200" dirty="0">
                <a:solidFill>
                  <a:schemeClr val="tx1"/>
                </a:solidFill>
                <a:effectLst/>
                <a:latin typeface="+mn-lt"/>
                <a:ea typeface="+mn-ea"/>
                <a:cs typeface="+mn-cs"/>
              </a:rPr>
              <a:t>级联生成策略</a:t>
            </a:r>
            <a:r>
              <a:rPr lang="zh-CN" altLang="en-US" sz="1200" kern="1200" dirty="0">
                <a:solidFill>
                  <a:schemeClr val="tx1"/>
                </a:solidFill>
                <a:effectLst/>
                <a:latin typeface="+mn-lt"/>
                <a:ea typeface="+mn-ea"/>
                <a:cs typeface="+mn-cs"/>
              </a:rPr>
              <a:t>： 第一阶段（模型 </a:t>
            </a:r>
            <a:r>
              <a:rPr lang="en-US" altLang="zh-CN" sz="1200" kern="1200" dirty="0">
                <a:solidFill>
                  <a:schemeClr val="tx1"/>
                </a:solidFill>
                <a:effectLst/>
                <a:latin typeface="+mn-lt"/>
                <a:ea typeface="+mn-ea"/>
                <a:cs typeface="+mn-cs"/>
              </a:rPr>
              <a:t>$\</a:t>
            </a:r>
            <a:r>
              <a:rPr lang="en-US" altLang="zh-CN" sz="1200" kern="1200" dirty="0" err="1">
                <a:solidFill>
                  <a:schemeClr val="tx1"/>
                </a:solidFill>
                <a:effectLst/>
                <a:latin typeface="+mn-lt"/>
                <a:ea typeface="+mn-ea"/>
                <a:cs typeface="+mn-cs"/>
              </a:rPr>
              <a:t>mathcal</a:t>
            </a:r>
            <a:r>
              <a:rPr lang="en-US" altLang="zh-CN" sz="1200" kern="1200" dirty="0">
                <a:solidFill>
                  <a:schemeClr val="tx1"/>
                </a:solidFill>
                <a:effectLst/>
                <a:latin typeface="+mn-lt"/>
                <a:ea typeface="+mn-ea"/>
                <a:cs typeface="+mn-cs"/>
              </a:rPr>
              <a:t>{G}_S$</a:t>
            </a:r>
            <a:r>
              <a:rPr lang="zh-CN" altLang="en-US" sz="1200" kern="1200" dirty="0">
                <a:solidFill>
                  <a:schemeClr val="tx1"/>
                </a:solidFill>
                <a:effectLst/>
                <a:latin typeface="+mn-lt"/>
                <a:ea typeface="+mn-ea"/>
                <a:cs typeface="+mn-cs"/>
              </a:rPr>
              <a:t>）以上下文（文本或图像）为条件，优先生成确定几何拓扑的‘稀疏体素骨架 </a:t>
            </a:r>
            <a:r>
              <a:rPr lang="en-US" altLang="zh-CN" sz="1200" kern="1200" dirty="0">
                <a:solidFill>
                  <a:schemeClr val="tx1"/>
                </a:solidFill>
                <a:effectLst/>
                <a:latin typeface="+mn-lt"/>
                <a:ea typeface="+mn-ea"/>
                <a:cs typeface="+mn-cs"/>
              </a:rPr>
              <a:t>(Sparse Structures)’ </a:t>
            </a:r>
            <a:r>
              <a:rPr lang="zh-CN" altLang="en-US" sz="1200" kern="1200" dirty="0">
                <a:solidFill>
                  <a:schemeClr val="tx1"/>
                </a:solidFill>
                <a:effectLst/>
                <a:latin typeface="+mn-lt"/>
                <a:ea typeface="+mn-ea"/>
                <a:cs typeface="+mn-cs"/>
              </a:rPr>
              <a:t>； 第二阶段（模型 </a:t>
            </a:r>
            <a:r>
              <a:rPr lang="en-US" altLang="zh-CN" sz="1200" kern="1200" dirty="0">
                <a:solidFill>
                  <a:schemeClr val="tx1"/>
                </a:solidFill>
                <a:effectLst/>
                <a:latin typeface="+mn-lt"/>
                <a:ea typeface="+mn-ea"/>
                <a:cs typeface="+mn-cs"/>
              </a:rPr>
              <a:t>$\</a:t>
            </a:r>
            <a:r>
              <a:rPr lang="en-US" altLang="zh-CN" sz="1200" kern="1200" dirty="0" err="1">
                <a:solidFill>
                  <a:schemeClr val="tx1"/>
                </a:solidFill>
                <a:effectLst/>
                <a:latin typeface="+mn-lt"/>
                <a:ea typeface="+mn-ea"/>
                <a:cs typeface="+mn-cs"/>
              </a:rPr>
              <a:t>mathcal</a:t>
            </a:r>
            <a:r>
              <a:rPr lang="en-US" altLang="zh-CN" sz="1200" kern="1200" dirty="0">
                <a:solidFill>
                  <a:schemeClr val="tx1"/>
                </a:solidFill>
                <a:effectLst/>
                <a:latin typeface="+mn-lt"/>
                <a:ea typeface="+mn-ea"/>
                <a:cs typeface="+mn-cs"/>
              </a:rPr>
              <a:t>{G}_L$</a:t>
            </a:r>
            <a:r>
              <a:rPr lang="zh-CN" altLang="en-US" sz="1200" kern="1200" dirty="0">
                <a:solidFill>
                  <a:schemeClr val="tx1"/>
                </a:solidFill>
                <a:effectLst/>
                <a:latin typeface="+mn-lt"/>
                <a:ea typeface="+mn-ea"/>
                <a:cs typeface="+mn-cs"/>
              </a:rPr>
              <a:t>）在此空间先验约束内，进一步执行特征的扩散生成，补全携带纹理与几何细节的隐变量 </a:t>
            </a:r>
            <a:r>
              <a:rPr lang="en-US" altLang="zh-CN" sz="1200" kern="1200" dirty="0">
                <a:solidFill>
                  <a:schemeClr val="tx1"/>
                </a:solidFill>
                <a:effectLst/>
                <a:latin typeface="+mn-lt"/>
                <a:ea typeface="+mn-ea"/>
                <a:cs typeface="+mn-cs"/>
              </a:rPr>
              <a:t>(Structured </a:t>
            </a:r>
            <a:r>
              <a:rPr lang="en-US" altLang="zh-CN" sz="1200" kern="1200" dirty="0" err="1">
                <a:solidFill>
                  <a:schemeClr val="tx1"/>
                </a:solidFill>
                <a:effectLst/>
                <a:latin typeface="+mn-lt"/>
                <a:ea typeface="+mn-ea"/>
                <a:cs typeface="+mn-cs"/>
              </a:rPr>
              <a:t>Latents</a:t>
            </a:r>
            <a:r>
              <a:rPr lang="en-US" altLang="zh-CN" sz="1200" kern="1200" dirty="0">
                <a:solidFill>
                  <a:schemeClr val="tx1"/>
                </a:solidFill>
                <a:effectLst/>
                <a:latin typeface="+mn-lt"/>
                <a:ea typeface="+mn-ea"/>
                <a:cs typeface="+mn-cs"/>
              </a:rPr>
              <a:t>) </a:t>
            </a:r>
            <a:r>
              <a:rPr lang="zh-CN" altLang="en-US" sz="1200" kern="1200" dirty="0">
                <a:solidFill>
                  <a:schemeClr val="tx1"/>
                </a:solidFill>
                <a:effectLst/>
                <a:latin typeface="+mn-lt"/>
                <a:ea typeface="+mn-ea"/>
                <a:cs typeface="+mn-cs"/>
              </a:rPr>
              <a:t>。</a:t>
            </a:r>
            <a:endParaRPr lang="zh-CN" altLang="en-US" sz="1200" kern="1200" dirty="0">
              <a:solidFill>
                <a:schemeClr val="tx1"/>
              </a:solidFill>
              <a:effectLst/>
              <a:latin typeface="+mn-lt"/>
              <a:ea typeface="+mn-ea"/>
              <a:cs typeface="+mn-cs"/>
            </a:endParaRPr>
          </a:p>
          <a:p>
            <a:r>
              <a:rPr lang="zh-CN" altLang="en-US" sz="1200" b="1" kern="1200" dirty="0">
                <a:solidFill>
                  <a:schemeClr val="tx1"/>
                </a:solidFill>
                <a:effectLst/>
                <a:latin typeface="+mn-lt"/>
                <a:ea typeface="+mn-ea"/>
                <a:cs typeface="+mn-cs"/>
              </a:rPr>
              <a:t>需要特别强调的是底层的架构演进。</a:t>
            </a:r>
            <a:r>
              <a:rPr lang="zh-CN" altLang="en-US" sz="1200" kern="1200" dirty="0">
                <a:solidFill>
                  <a:schemeClr val="tx1"/>
                </a:solidFill>
                <a:effectLst/>
                <a:latin typeface="+mn-lt"/>
                <a:ea typeface="+mn-ea"/>
                <a:cs typeface="+mn-cs"/>
              </a:rPr>
              <a:t> 大家可以看到架构图中标记为 </a:t>
            </a:r>
            <a:r>
              <a:rPr lang="en-US" altLang="zh-CN" sz="1200" b="1" kern="1200" dirty="0">
                <a:solidFill>
                  <a:schemeClr val="tx1"/>
                </a:solidFill>
                <a:effectLst/>
                <a:latin typeface="+mn-lt"/>
                <a:ea typeface="+mn-ea"/>
                <a:cs typeface="+mn-cs"/>
              </a:rPr>
              <a:t>Flow Transformer</a:t>
            </a:r>
            <a:r>
              <a:rPr lang="zh-CN" altLang="en-US"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Trellis </a:t>
            </a:r>
            <a:r>
              <a:rPr lang="zh-CN" altLang="en-US" sz="1200" kern="1200" dirty="0">
                <a:solidFill>
                  <a:schemeClr val="tx1"/>
                </a:solidFill>
                <a:effectLst/>
                <a:latin typeface="+mn-lt"/>
                <a:ea typeface="+mn-ea"/>
                <a:cs typeface="+mn-cs"/>
              </a:rPr>
              <a:t>摒弃了传统的 </a:t>
            </a:r>
            <a:r>
              <a:rPr lang="en-US" altLang="zh-CN" sz="1200" kern="1200" dirty="0">
                <a:solidFill>
                  <a:schemeClr val="tx1"/>
                </a:solidFill>
                <a:effectLst/>
                <a:latin typeface="+mn-lt"/>
                <a:ea typeface="+mn-ea"/>
                <a:cs typeface="+mn-cs"/>
              </a:rPr>
              <a:t>DDPM </a:t>
            </a:r>
            <a:r>
              <a:rPr lang="zh-CN" altLang="en-US" sz="1200" kern="1200" dirty="0">
                <a:solidFill>
                  <a:schemeClr val="tx1"/>
                </a:solidFill>
                <a:effectLst/>
                <a:latin typeface="+mn-lt"/>
                <a:ea typeface="+mn-ea"/>
                <a:cs typeface="+mn-cs"/>
              </a:rPr>
              <a:t>架构，全面转向了**流匹配（</a:t>
            </a:r>
            <a:r>
              <a:rPr lang="en-US" altLang="zh-CN" sz="1200" kern="1200" dirty="0">
                <a:solidFill>
                  <a:schemeClr val="tx1"/>
                </a:solidFill>
                <a:effectLst/>
                <a:latin typeface="+mn-lt"/>
                <a:ea typeface="+mn-ea"/>
                <a:cs typeface="+mn-cs"/>
              </a:rPr>
              <a:t>Rectified Flow</a:t>
            </a:r>
            <a:r>
              <a:rPr lang="zh-CN" altLang="en-US" sz="1200" kern="1200" dirty="0">
                <a:solidFill>
                  <a:schemeClr val="tx1"/>
                </a:solidFill>
                <a:effectLst/>
                <a:latin typeface="+mn-lt"/>
                <a:ea typeface="+mn-ea"/>
                <a:cs typeface="+mn-cs"/>
              </a:rPr>
              <a:t>）**框架 。相较于传统扩散模型通过复杂的随机微分方程（</a:t>
            </a:r>
            <a:r>
              <a:rPr lang="en-US" altLang="zh-CN" sz="1200" kern="1200" dirty="0">
                <a:solidFill>
                  <a:schemeClr val="tx1"/>
                </a:solidFill>
                <a:effectLst/>
                <a:latin typeface="+mn-lt"/>
                <a:ea typeface="+mn-ea"/>
                <a:cs typeface="+mn-cs"/>
              </a:rPr>
              <a:t>SDE</a:t>
            </a:r>
            <a:r>
              <a:rPr lang="zh-CN" altLang="en-US" sz="1200" kern="1200" dirty="0">
                <a:solidFill>
                  <a:schemeClr val="tx1"/>
                </a:solidFill>
                <a:effectLst/>
                <a:latin typeface="+mn-lt"/>
                <a:ea typeface="+mn-ea"/>
                <a:cs typeface="+mn-cs"/>
              </a:rPr>
              <a:t>）进行加噪，流匹配直接在纯噪声与目标数据分布之间拟合常微分方程（</a:t>
            </a:r>
            <a:r>
              <a:rPr lang="en-US" altLang="zh-CN" sz="1200" kern="1200" dirty="0">
                <a:solidFill>
                  <a:schemeClr val="tx1"/>
                </a:solidFill>
                <a:effectLst/>
                <a:latin typeface="+mn-lt"/>
                <a:ea typeface="+mn-ea"/>
                <a:cs typeface="+mn-cs"/>
              </a:rPr>
              <a:t>ODE</a:t>
            </a:r>
            <a:r>
              <a:rPr lang="zh-CN" altLang="en-US" sz="1200" kern="1200" dirty="0">
                <a:solidFill>
                  <a:schemeClr val="tx1"/>
                </a:solidFill>
                <a:effectLst/>
                <a:latin typeface="+mn-lt"/>
                <a:ea typeface="+mn-ea"/>
                <a:cs typeface="+mn-cs"/>
              </a:rPr>
              <a:t>）的向量场 。在处理高维稀疏特征时，这种机制不仅避免了误差的剧烈累积，还大幅提升了采样效率和收敛稳定性 。”</a:t>
            </a:r>
            <a:endParaRPr lang="zh-CN" altLang="en-US" sz="1200" kern="1200" dirty="0">
              <a:solidFill>
                <a:schemeClr val="tx1"/>
              </a:solidFill>
              <a:effectLst/>
              <a:latin typeface="+mn-lt"/>
              <a:ea typeface="+mn-ea"/>
              <a:cs typeface="+mn-cs"/>
            </a:endParaRPr>
          </a:p>
          <a:p>
            <a:r>
              <a:rPr lang="en-US" altLang="zh-CN" sz="1200" b="1" kern="1200" dirty="0">
                <a:solidFill>
                  <a:schemeClr val="tx1"/>
                </a:solidFill>
                <a:effectLst/>
                <a:latin typeface="+mn-lt"/>
                <a:ea typeface="+mn-ea"/>
                <a:cs typeface="+mn-cs"/>
              </a:rPr>
              <a:t>4. </a:t>
            </a:r>
            <a:r>
              <a:rPr lang="zh-CN" altLang="en-US" sz="1200" b="1" kern="1200" dirty="0">
                <a:solidFill>
                  <a:schemeClr val="tx1"/>
                </a:solidFill>
                <a:effectLst/>
                <a:latin typeface="+mn-lt"/>
                <a:ea typeface="+mn-ea"/>
                <a:cs typeface="+mn-cs"/>
              </a:rPr>
              <a:t>落地应用价值：解耦架构与泛化解码 </a:t>
            </a:r>
            <a:r>
              <a:rPr lang="en-US" altLang="zh-CN" sz="1200" b="1" kern="1200" dirty="0">
                <a:solidFill>
                  <a:schemeClr val="tx1"/>
                </a:solidFill>
                <a:effectLst/>
                <a:latin typeface="+mn-lt"/>
                <a:ea typeface="+mn-ea"/>
                <a:cs typeface="+mn-cs"/>
              </a:rPr>
              <a:t>(Applications)</a:t>
            </a:r>
            <a:endParaRPr lang="en-US" altLang="zh-CN" sz="1200" b="1"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“总结而言，这种基于统一隐空间的扩散生成范式，赋予了该模型极强的工程落地价值</a:t>
            </a:r>
            <a:r>
              <a:rPr lang="en-US"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即**‘一次生成，泛化解码 </a:t>
            </a:r>
            <a:r>
              <a:rPr lang="en-US" altLang="zh-CN" sz="1200" kern="1200" dirty="0">
                <a:solidFill>
                  <a:schemeClr val="tx1"/>
                </a:solidFill>
                <a:effectLst/>
                <a:latin typeface="+mn-lt"/>
                <a:ea typeface="+mn-ea"/>
                <a:cs typeface="+mn-cs"/>
              </a:rPr>
              <a:t>(Versatile Decoding)’**</a:t>
            </a:r>
            <a:r>
              <a:rPr lang="zh-CN" altLang="en-US" sz="1200" kern="1200" dirty="0">
                <a:solidFill>
                  <a:schemeClr val="tx1"/>
                </a:solidFill>
                <a:effectLst/>
                <a:latin typeface="+mn-lt"/>
                <a:ea typeface="+mn-ea"/>
                <a:cs typeface="+mn-cs"/>
              </a:rPr>
              <a:t>。</a:t>
            </a:r>
            <a:endParaRPr lang="zh-CN" altLang="en-US"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正如右侧 </a:t>
            </a:r>
            <a:r>
              <a:rPr lang="en-US" altLang="zh-CN" sz="1200" kern="1200" dirty="0" err="1">
                <a:solidFill>
                  <a:schemeClr val="tx1"/>
                </a:solidFill>
                <a:effectLst/>
                <a:latin typeface="+mn-lt"/>
                <a:ea typeface="+mn-ea"/>
                <a:cs typeface="+mn-cs"/>
              </a:rPr>
              <a:t>Latents</a:t>
            </a:r>
            <a:r>
              <a:rPr lang="en-US" altLang="zh-CN" sz="1200" kern="1200" dirty="0">
                <a:solidFill>
                  <a:schemeClr val="tx1"/>
                </a:solidFill>
                <a:effectLst/>
                <a:latin typeface="+mn-lt"/>
                <a:ea typeface="+mn-ea"/>
                <a:cs typeface="+mn-cs"/>
              </a:rPr>
              <a:t> Decoding </a:t>
            </a:r>
            <a:r>
              <a:rPr lang="zh-CN" altLang="en-US" sz="1200" kern="1200" dirty="0">
                <a:solidFill>
                  <a:schemeClr val="tx1"/>
                </a:solidFill>
                <a:effectLst/>
                <a:latin typeface="+mn-lt"/>
                <a:ea typeface="+mn-ea"/>
                <a:cs typeface="+mn-cs"/>
              </a:rPr>
              <a:t>模块所示，由同一扩散流程生成的 </a:t>
            </a:r>
            <a:r>
              <a:rPr lang="en-US" altLang="zh-CN" sz="1200" kern="1200" dirty="0">
                <a:solidFill>
                  <a:schemeClr val="tx1"/>
                </a:solidFill>
                <a:effectLst/>
                <a:latin typeface="+mn-lt"/>
                <a:ea typeface="+mn-ea"/>
                <a:cs typeface="+mn-cs"/>
              </a:rPr>
              <a:t>SLAT </a:t>
            </a:r>
            <a:r>
              <a:rPr lang="zh-CN" altLang="en-US" sz="1200" kern="1200" dirty="0">
                <a:solidFill>
                  <a:schemeClr val="tx1"/>
                </a:solidFill>
                <a:effectLst/>
                <a:latin typeface="+mn-lt"/>
                <a:ea typeface="+mn-ea"/>
                <a:cs typeface="+mn-cs"/>
              </a:rPr>
              <a:t>隐变量，只需在末端接入不同的轻量化解码器（</a:t>
            </a:r>
            <a:r>
              <a:rPr lang="en-US" altLang="zh-CN" sz="1200" kern="1200" dirty="0">
                <a:solidFill>
                  <a:schemeClr val="tx1"/>
                </a:solidFill>
                <a:effectLst/>
                <a:latin typeface="+mn-lt"/>
                <a:ea typeface="+mn-ea"/>
                <a:cs typeface="+mn-cs"/>
              </a:rPr>
              <a:t>Decoder</a:t>
            </a:r>
            <a:r>
              <a:rPr lang="zh-CN" altLang="en-US" sz="1200" kern="1200" dirty="0">
                <a:solidFill>
                  <a:schemeClr val="tx1"/>
                </a:solidFill>
                <a:effectLst/>
                <a:latin typeface="+mn-lt"/>
                <a:ea typeface="+mn-ea"/>
                <a:cs typeface="+mn-cs"/>
              </a:rPr>
              <a:t>），即可在推理阶段无缝且高保真地转换为 </a:t>
            </a:r>
            <a:r>
              <a:rPr lang="en-US" altLang="zh-CN" sz="1200" kern="1200" dirty="0">
                <a:solidFill>
                  <a:schemeClr val="tx1"/>
                </a:solidFill>
                <a:effectLst/>
                <a:latin typeface="+mn-lt"/>
                <a:ea typeface="+mn-ea"/>
                <a:cs typeface="+mn-cs"/>
              </a:rPr>
              <a:t>3D Gaussians</a:t>
            </a:r>
            <a:r>
              <a:rPr lang="zh-CN" altLang="en-US"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Radiance Fields (</a:t>
            </a:r>
            <a:r>
              <a:rPr lang="en-US" altLang="zh-CN" sz="1200" kern="1200" dirty="0" err="1">
                <a:solidFill>
                  <a:schemeClr val="tx1"/>
                </a:solidFill>
                <a:effectLst/>
                <a:latin typeface="+mn-lt"/>
                <a:ea typeface="+mn-ea"/>
                <a:cs typeface="+mn-cs"/>
              </a:rPr>
              <a:t>NeRF</a:t>
            </a:r>
            <a:r>
              <a:rPr lang="en-US" altLang="zh-CN" sz="1200" kern="1200" dirty="0">
                <a:solidFill>
                  <a:schemeClr val="tx1"/>
                </a:solidFill>
                <a:effectLst/>
                <a:latin typeface="+mn-lt"/>
                <a:ea typeface="+mn-ea"/>
                <a:cs typeface="+mn-cs"/>
              </a:rPr>
              <a:t>) </a:t>
            </a:r>
            <a:r>
              <a:rPr lang="zh-CN" altLang="en-US" sz="1200" kern="1200" dirty="0">
                <a:solidFill>
                  <a:schemeClr val="tx1"/>
                </a:solidFill>
                <a:effectLst/>
                <a:latin typeface="+mn-lt"/>
                <a:ea typeface="+mn-ea"/>
                <a:cs typeface="+mn-cs"/>
              </a:rPr>
              <a:t>或 </a:t>
            </a:r>
            <a:r>
              <a:rPr lang="en-US" altLang="zh-CN" sz="1200" kern="1200" dirty="0">
                <a:solidFill>
                  <a:schemeClr val="tx1"/>
                </a:solidFill>
                <a:effectLst/>
                <a:latin typeface="+mn-lt"/>
                <a:ea typeface="+mn-ea"/>
                <a:cs typeface="+mn-cs"/>
              </a:rPr>
              <a:t>Meshes </a:t>
            </a:r>
            <a:r>
              <a:rPr lang="zh-CN" altLang="en-US" sz="1200" kern="1200" dirty="0">
                <a:solidFill>
                  <a:schemeClr val="tx1"/>
                </a:solidFill>
                <a:effectLst/>
                <a:latin typeface="+mn-lt"/>
                <a:ea typeface="+mn-ea"/>
                <a:cs typeface="+mn-cs"/>
              </a:rPr>
              <a:t>。这不仅打通了从提示词到各类工业级渲染引擎的应用闭环，也显著降低了针对不同 </a:t>
            </a:r>
            <a:r>
              <a:rPr lang="en-US" altLang="zh-CN" sz="1200" kern="1200" dirty="0">
                <a:solidFill>
                  <a:schemeClr val="tx1"/>
                </a:solidFill>
                <a:effectLst/>
                <a:latin typeface="+mn-lt"/>
                <a:ea typeface="+mn-ea"/>
                <a:cs typeface="+mn-cs"/>
              </a:rPr>
              <a:t>3D </a:t>
            </a:r>
            <a:r>
              <a:rPr lang="zh-CN" altLang="en-US" sz="1200" kern="1200" dirty="0">
                <a:solidFill>
                  <a:schemeClr val="tx1"/>
                </a:solidFill>
                <a:effectLst/>
                <a:latin typeface="+mn-lt"/>
                <a:ea typeface="+mn-ea"/>
                <a:cs typeface="+mn-cs"/>
              </a:rPr>
              <a:t>格式重复训练扩散大模型的算力成本 。</a:t>
            </a:r>
            <a:endParaRPr lang="zh-CN" altLang="en-US"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eaLnBrk="1" fontAlgn="auto" latinLnBrk="0" hangingPunct="1">
              <a:lnSpc>
                <a:spcPct val="100000"/>
              </a:lnSpc>
              <a:spcBef>
                <a:spcPts val="0"/>
              </a:spcBef>
              <a:spcAft>
                <a:spcPts val="0"/>
              </a:spcAft>
              <a:buClrTx/>
              <a:buSzTx/>
              <a:buFontTx/>
              <a:buNone/>
              <a:defRPr/>
            </a:pPr>
            <a:fld id="{E2C0510E-DAB0-4142-AE9C-3B6078BF66FF}" type="slidenum">
              <a:rPr kumimoji="0" lang="zh-CN" altLang="en-US" sz="1200" b="0" i="0" u="none" strike="noStrike" kern="0" cap="none" spc="0" normalizeH="0" baseline="0" noProof="0" smtClean="0">
                <a:ln>
                  <a:noFill/>
                </a:ln>
                <a:solidFill>
                  <a:sysClr val="windowText" lastClr="000000"/>
                </a:solidFill>
                <a:effectLst/>
                <a:uLnTx/>
                <a:uFillTx/>
              </a:rPr>
            </a:fld>
            <a:endParaRPr kumimoji="0" lang="zh-CN" altLang="en-US" sz="1200" b="0" i="0" u="none" strike="noStrike" kern="0" cap="none" spc="0" normalizeH="0" baseline="0" noProof="0">
              <a:ln>
                <a:noFill/>
              </a:ln>
              <a:solidFill>
                <a:sysClr val="windowText" lastClr="000000"/>
              </a:solidFill>
              <a:effectLst/>
              <a:uLnTx/>
              <a:uFillTx/>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在当前状态下，末端执行器（蓝色）既可以向左也可以向右推动方块。扩散策略能够学习这两种模式，并且在每次滚动执行过程中仅选定其中一种模式。相比之下，</a:t>
            </a:r>
            <a:r>
              <a:rPr lang="en-US" altLang="zh-CN" dirty="0"/>
              <a:t>LSTM-GMM</a:t>
            </a:r>
            <a:r>
              <a:rPr lang="zh-CN" altLang="en-US" dirty="0"/>
              <a:t>（曼德勒卡尔等人，</a:t>
            </a:r>
            <a:r>
              <a:rPr lang="en-US" altLang="zh-CN" dirty="0"/>
              <a:t>2021</a:t>
            </a:r>
            <a:r>
              <a:rPr lang="zh-CN" altLang="en-US" dirty="0"/>
              <a:t>）与 </a:t>
            </a:r>
            <a:r>
              <a:rPr lang="en-US" altLang="zh-CN" dirty="0"/>
              <a:t>IBC</a:t>
            </a:r>
            <a:r>
              <a:rPr lang="zh-CN" altLang="en-US" dirty="0"/>
              <a:t>（弗洛伦斯等人，</a:t>
            </a:r>
            <a:r>
              <a:rPr lang="en-US" altLang="zh-CN" dirty="0"/>
              <a:t>2021</a:t>
            </a:r>
            <a:r>
              <a:rPr lang="zh-CN" altLang="en-US" dirty="0"/>
              <a:t>）均偏向于某一种模式，而 </a:t>
            </a:r>
            <a:r>
              <a:rPr lang="en-US" altLang="zh-CN" dirty="0"/>
              <a:t>BET</a:t>
            </a:r>
            <a:r>
              <a:rPr lang="zh-CN" altLang="en-US" dirty="0"/>
              <a:t>（沙菲乌拉等人，</a:t>
            </a:r>
            <a:r>
              <a:rPr lang="en-US" altLang="zh-CN" dirty="0"/>
              <a:t>2022</a:t>
            </a:r>
            <a:r>
              <a:rPr lang="zh-CN" altLang="en-US" dirty="0"/>
              <a:t>）则因缺乏时序动作一致性，无法选定单一模式。</a:t>
            </a:r>
            <a:br>
              <a:rPr lang="en-US" altLang="zh-CN" dirty="0"/>
            </a:br>
            <a:br>
              <a:rPr lang="en-US" altLang="zh-CN" dirty="0"/>
            </a:br>
            <a:r>
              <a:rPr lang="zh-CN" altLang="en-US" sz="1200" kern="1200" dirty="0">
                <a:solidFill>
                  <a:schemeClr val="tx1"/>
                </a:solidFill>
                <a:effectLst/>
                <a:latin typeface="+mn-lt"/>
                <a:ea typeface="+mn-ea"/>
                <a:cs typeface="+mn-cs"/>
              </a:rPr>
              <a:t>在机器人控制中，学习从视觉观测 </a:t>
            </a:r>
            <a:r>
              <a:rPr lang="en-US" altLang="zh-CN" sz="1200" kern="1200" dirty="0">
                <a:solidFill>
                  <a:schemeClr val="tx1"/>
                </a:solidFill>
                <a:effectLst/>
                <a:latin typeface="+mn-lt"/>
                <a:ea typeface="+mn-ea"/>
                <a:cs typeface="+mn-cs"/>
              </a:rPr>
              <a:t>$o$ </a:t>
            </a:r>
            <a:r>
              <a:rPr lang="zh-CN" altLang="en-US" sz="1200" kern="1200" dirty="0">
                <a:solidFill>
                  <a:schemeClr val="tx1"/>
                </a:solidFill>
                <a:effectLst/>
                <a:latin typeface="+mn-lt"/>
                <a:ea typeface="+mn-ea"/>
                <a:cs typeface="+mn-cs"/>
              </a:rPr>
              <a:t>到动作 </a:t>
            </a:r>
            <a:r>
              <a:rPr lang="en-US" altLang="zh-CN" sz="1200" kern="1200" dirty="0">
                <a:solidFill>
                  <a:schemeClr val="tx1"/>
                </a:solidFill>
                <a:effectLst/>
                <a:latin typeface="+mn-lt"/>
                <a:ea typeface="+mn-ea"/>
                <a:cs typeface="+mn-cs"/>
              </a:rPr>
              <a:t>$a$ </a:t>
            </a:r>
            <a:r>
              <a:rPr lang="zh-CN" altLang="en-US" sz="1200" kern="1200" dirty="0">
                <a:solidFill>
                  <a:schemeClr val="tx1"/>
                </a:solidFill>
                <a:effectLst/>
                <a:latin typeface="+mn-lt"/>
                <a:ea typeface="+mn-ea"/>
                <a:cs typeface="+mn-cs"/>
              </a:rPr>
              <a:t>的映射，本质上是一个拟合条件概率分布 </a:t>
            </a:r>
            <a:r>
              <a:rPr lang="en-US" altLang="zh-CN" sz="1200" kern="1200" dirty="0">
                <a:solidFill>
                  <a:schemeClr val="tx1"/>
                </a:solidFill>
                <a:effectLst/>
                <a:latin typeface="+mn-lt"/>
                <a:ea typeface="+mn-ea"/>
                <a:cs typeface="+mn-cs"/>
              </a:rPr>
              <a:t>$p(</a:t>
            </a:r>
            <a:r>
              <a:rPr lang="en-US" altLang="zh-CN" sz="1200" kern="1200" dirty="0" err="1">
                <a:solidFill>
                  <a:schemeClr val="tx1"/>
                </a:solidFill>
                <a:effectLst/>
                <a:latin typeface="+mn-lt"/>
                <a:ea typeface="+mn-ea"/>
                <a:cs typeface="+mn-cs"/>
              </a:rPr>
              <a:t>a|o</a:t>
            </a:r>
            <a:r>
              <a:rPr lang="en-US" altLang="zh-CN" sz="1200" kern="1200" dirty="0">
                <a:solidFill>
                  <a:schemeClr val="tx1"/>
                </a:solidFill>
                <a:effectLst/>
                <a:latin typeface="+mn-lt"/>
                <a:ea typeface="+mn-ea"/>
                <a:cs typeface="+mn-cs"/>
              </a:rPr>
              <a:t>)$ </a:t>
            </a:r>
            <a:r>
              <a:rPr lang="zh-CN" altLang="en-US" sz="1200" kern="1200" dirty="0">
                <a:solidFill>
                  <a:schemeClr val="tx1"/>
                </a:solidFill>
                <a:effectLst/>
                <a:latin typeface="+mn-lt"/>
                <a:ea typeface="+mn-ea"/>
                <a:cs typeface="+mn-cs"/>
              </a:rPr>
              <a:t>的问题。</a:t>
            </a:r>
            <a:endParaRPr lang="zh-CN" altLang="en-US" sz="1200" kern="1200" dirty="0">
              <a:solidFill>
                <a:schemeClr val="tx1"/>
              </a:solidFill>
              <a:effectLst/>
              <a:latin typeface="+mn-lt"/>
              <a:ea typeface="+mn-ea"/>
              <a:cs typeface="+mn-cs"/>
            </a:endParaRPr>
          </a:p>
          <a:p>
            <a:r>
              <a:rPr lang="en-US" altLang="zh-CN" sz="1200" b="1" kern="1200" dirty="0">
                <a:solidFill>
                  <a:schemeClr val="tx1"/>
                </a:solidFill>
                <a:effectLst/>
                <a:latin typeface="+mn-lt"/>
                <a:ea typeface="+mn-ea"/>
                <a:cs typeface="+mn-cs"/>
              </a:rPr>
              <a:t>Explicit Policy</a:t>
            </a:r>
            <a:r>
              <a:rPr lang="zh-CN" altLang="en-US" sz="1200" b="1" kern="1200" dirty="0">
                <a:solidFill>
                  <a:schemeClr val="tx1"/>
                </a:solidFill>
                <a:effectLst/>
                <a:latin typeface="+mn-lt"/>
                <a:ea typeface="+mn-ea"/>
                <a:cs typeface="+mn-cs"/>
              </a:rPr>
              <a:t>（显式策略）的困境：</a:t>
            </a:r>
            <a:r>
              <a:rPr lang="zh-CN" altLang="en-US" sz="1200" kern="1200" dirty="0">
                <a:solidFill>
                  <a:schemeClr val="tx1"/>
                </a:solidFill>
                <a:effectLst/>
                <a:latin typeface="+mn-lt"/>
                <a:ea typeface="+mn-ea"/>
                <a:cs typeface="+mn-cs"/>
              </a:rPr>
              <a:t> 传统 </a:t>
            </a:r>
            <a:r>
              <a:rPr lang="en-US" altLang="zh-CN" sz="1200" kern="1200" dirty="0">
                <a:solidFill>
                  <a:schemeClr val="tx1"/>
                </a:solidFill>
                <a:effectLst/>
                <a:latin typeface="+mn-lt"/>
                <a:ea typeface="+mn-ea"/>
                <a:cs typeface="+mn-cs"/>
              </a:rPr>
              <a:t>BC </a:t>
            </a:r>
            <a:r>
              <a:rPr lang="zh-CN" altLang="en-US" sz="1200" kern="1200" dirty="0">
                <a:solidFill>
                  <a:schemeClr val="tx1"/>
                </a:solidFill>
                <a:effectLst/>
                <a:latin typeface="+mn-lt"/>
                <a:ea typeface="+mn-ea"/>
                <a:cs typeface="+mn-cs"/>
              </a:rPr>
              <a:t>通常使用 </a:t>
            </a:r>
            <a:r>
              <a:rPr lang="en-US" altLang="zh-CN" sz="1200" kern="1200" dirty="0">
                <a:solidFill>
                  <a:schemeClr val="tx1"/>
                </a:solidFill>
                <a:effectLst/>
                <a:latin typeface="+mn-lt"/>
                <a:ea typeface="+mn-ea"/>
                <a:cs typeface="+mn-cs"/>
              </a:rPr>
              <a:t>MSE </a:t>
            </a:r>
            <a:r>
              <a:rPr lang="zh-CN" altLang="en-US" sz="1200" kern="1200" dirty="0">
                <a:solidFill>
                  <a:schemeClr val="tx1"/>
                </a:solidFill>
                <a:effectLst/>
                <a:latin typeface="+mn-lt"/>
                <a:ea typeface="+mn-ea"/>
                <a:cs typeface="+mn-cs"/>
              </a:rPr>
              <a:t>损失函数来训练一个确定性网络 </a:t>
            </a:r>
            <a:r>
              <a:rPr lang="en-US" altLang="zh-CN" sz="1200" kern="1200" dirty="0">
                <a:solidFill>
                  <a:schemeClr val="tx1"/>
                </a:solidFill>
                <a:effectLst/>
                <a:latin typeface="+mn-lt"/>
                <a:ea typeface="+mn-ea"/>
                <a:cs typeface="+mn-cs"/>
              </a:rPr>
              <a:t>$a = f_\theta(o)$</a:t>
            </a:r>
            <a:r>
              <a:rPr lang="zh-CN" altLang="en-US" sz="1200" kern="1200" dirty="0">
                <a:solidFill>
                  <a:schemeClr val="tx1"/>
                </a:solidFill>
                <a:effectLst/>
                <a:latin typeface="+mn-lt"/>
                <a:ea typeface="+mn-ea"/>
                <a:cs typeface="+mn-cs"/>
              </a:rPr>
              <a:t>。当面对**多峰分布（</a:t>
            </a:r>
            <a:r>
              <a:rPr lang="en-US" altLang="zh-CN" sz="1200" kern="1200" dirty="0">
                <a:solidFill>
                  <a:schemeClr val="tx1"/>
                </a:solidFill>
                <a:effectLst/>
                <a:latin typeface="+mn-lt"/>
                <a:ea typeface="+mn-ea"/>
                <a:cs typeface="+mn-cs"/>
              </a:rPr>
              <a:t>Multimodal Distribution</a:t>
            </a:r>
            <a:r>
              <a:rPr lang="zh-CN" altLang="en-US" sz="1200" kern="1200" dirty="0">
                <a:solidFill>
                  <a:schemeClr val="tx1"/>
                </a:solidFill>
                <a:effectLst/>
                <a:latin typeface="+mn-lt"/>
                <a:ea typeface="+mn-ea"/>
                <a:cs typeface="+mn-cs"/>
              </a:rPr>
              <a:t>）**时（例如，既可以从左边绕过障碍物，也可以从右边绕），</a:t>
            </a:r>
            <a:r>
              <a:rPr lang="en-US" altLang="zh-CN" sz="1200" kern="1200" dirty="0">
                <a:solidFill>
                  <a:schemeClr val="tx1"/>
                </a:solidFill>
                <a:effectLst/>
                <a:latin typeface="+mn-lt"/>
                <a:ea typeface="+mn-ea"/>
                <a:cs typeface="+mn-cs"/>
              </a:rPr>
              <a:t>MSE </a:t>
            </a:r>
            <a:r>
              <a:rPr lang="zh-CN" altLang="en-US" sz="1200" kern="1200" dirty="0">
                <a:solidFill>
                  <a:schemeClr val="tx1"/>
                </a:solidFill>
                <a:effectLst/>
                <a:latin typeface="+mn-lt"/>
                <a:ea typeface="+mn-ea"/>
                <a:cs typeface="+mn-cs"/>
              </a:rPr>
              <a:t>会导致网络学习到两种动作的平均值（</a:t>
            </a:r>
            <a:r>
              <a:rPr lang="en-US" altLang="zh-CN" sz="1200" kern="1200" dirty="0">
                <a:solidFill>
                  <a:schemeClr val="tx1"/>
                </a:solidFill>
                <a:effectLst/>
                <a:latin typeface="+mn-lt"/>
                <a:ea typeface="+mn-ea"/>
                <a:cs typeface="+mn-cs"/>
              </a:rPr>
              <a:t>Mean-seeking</a:t>
            </a:r>
            <a:r>
              <a:rPr lang="zh-CN" altLang="en-US" sz="1200" kern="1200" dirty="0">
                <a:solidFill>
                  <a:schemeClr val="tx1"/>
                </a:solidFill>
                <a:effectLst/>
                <a:latin typeface="+mn-lt"/>
                <a:ea typeface="+mn-ea"/>
                <a:cs typeface="+mn-cs"/>
              </a:rPr>
              <a:t>），这在物理世界中通常是一个灾难性的碰撞动作。</a:t>
            </a:r>
            <a:endParaRPr lang="zh-CN" altLang="en-US" sz="1200" kern="1200" dirty="0">
              <a:solidFill>
                <a:schemeClr val="tx1"/>
              </a:solidFill>
              <a:effectLst/>
              <a:latin typeface="+mn-lt"/>
              <a:ea typeface="+mn-ea"/>
              <a:cs typeface="+mn-cs"/>
            </a:endParaRPr>
          </a:p>
          <a:p>
            <a:r>
              <a:rPr lang="en-US" altLang="zh-CN" sz="1200" b="1" kern="1200" dirty="0">
                <a:solidFill>
                  <a:schemeClr val="tx1"/>
                </a:solidFill>
                <a:effectLst/>
                <a:latin typeface="+mn-lt"/>
                <a:ea typeface="+mn-ea"/>
                <a:cs typeface="+mn-cs"/>
              </a:rPr>
              <a:t>Implicit Policy (</a:t>
            </a:r>
            <a:r>
              <a:rPr lang="zh-CN" altLang="en-US" sz="1200" b="1" kern="1200" dirty="0">
                <a:solidFill>
                  <a:schemeClr val="tx1"/>
                </a:solidFill>
                <a:effectLst/>
                <a:latin typeface="+mn-lt"/>
                <a:ea typeface="+mn-ea"/>
                <a:cs typeface="+mn-cs"/>
              </a:rPr>
              <a:t>如 </a:t>
            </a:r>
            <a:r>
              <a:rPr lang="en-US" altLang="zh-CN" sz="1200" b="1" kern="1200" dirty="0">
                <a:solidFill>
                  <a:schemeClr val="tx1"/>
                </a:solidFill>
                <a:effectLst/>
                <a:latin typeface="+mn-lt"/>
                <a:ea typeface="+mn-ea"/>
                <a:cs typeface="+mn-cs"/>
              </a:rPr>
              <a:t>EBMs / IBC) </a:t>
            </a:r>
            <a:r>
              <a:rPr lang="zh-CN" altLang="en-US" sz="1200" b="1" kern="1200" dirty="0">
                <a:solidFill>
                  <a:schemeClr val="tx1"/>
                </a:solidFill>
                <a:effectLst/>
                <a:latin typeface="+mn-lt"/>
                <a:ea typeface="+mn-ea"/>
                <a:cs typeface="+mn-cs"/>
              </a:rPr>
              <a:t>的痛点：</a:t>
            </a:r>
            <a:r>
              <a:rPr lang="zh-CN" altLang="en-US" sz="1200" kern="1200" dirty="0">
                <a:solidFill>
                  <a:schemeClr val="tx1"/>
                </a:solidFill>
                <a:effectLst/>
                <a:latin typeface="+mn-lt"/>
                <a:ea typeface="+mn-ea"/>
                <a:cs typeface="+mn-cs"/>
              </a:rPr>
              <a:t> 为了表达多峰分布，前人提出了隐式行为克隆（</a:t>
            </a:r>
            <a:r>
              <a:rPr lang="en-US" altLang="zh-CN" sz="1200" kern="1200" dirty="0">
                <a:solidFill>
                  <a:schemeClr val="tx1"/>
                </a:solidFill>
                <a:effectLst/>
                <a:latin typeface="+mn-lt"/>
                <a:ea typeface="+mn-ea"/>
                <a:cs typeface="+mn-cs"/>
              </a:rPr>
              <a:t>IBC</a:t>
            </a:r>
            <a:r>
              <a:rPr lang="zh-CN" altLang="en-US" sz="1200" kern="1200" dirty="0">
                <a:solidFill>
                  <a:schemeClr val="tx1"/>
                </a:solidFill>
                <a:effectLst/>
                <a:latin typeface="+mn-lt"/>
                <a:ea typeface="+mn-ea"/>
                <a:cs typeface="+mn-cs"/>
              </a:rPr>
              <a:t>），基于能量模型（</a:t>
            </a:r>
            <a:r>
              <a:rPr lang="en-US" altLang="zh-CN" sz="1200" kern="1200" dirty="0">
                <a:solidFill>
                  <a:schemeClr val="tx1"/>
                </a:solidFill>
                <a:effectLst/>
                <a:latin typeface="+mn-lt"/>
                <a:ea typeface="+mn-ea"/>
                <a:cs typeface="+mn-cs"/>
              </a:rPr>
              <a:t>Energy-Based Models</a:t>
            </a:r>
            <a:r>
              <a:rPr lang="zh-CN" altLang="en-US" sz="1200" kern="1200" dirty="0">
                <a:solidFill>
                  <a:schemeClr val="tx1"/>
                </a:solidFill>
                <a:effectLst/>
                <a:latin typeface="+mn-lt"/>
                <a:ea typeface="+mn-ea"/>
                <a:cs typeface="+mn-cs"/>
              </a:rPr>
              <a:t>）。它学习一个能量函数 </a:t>
            </a:r>
            <a:r>
              <a:rPr lang="en-US" altLang="zh-CN" sz="1200" kern="1200" dirty="0">
                <a:solidFill>
                  <a:schemeClr val="tx1"/>
                </a:solidFill>
                <a:effectLst/>
                <a:latin typeface="+mn-lt"/>
                <a:ea typeface="+mn-ea"/>
                <a:cs typeface="+mn-cs"/>
              </a:rPr>
              <a:t>$E_\theta(o, a)$</a:t>
            </a:r>
            <a:r>
              <a:rPr lang="zh-CN" altLang="en-US" sz="1200" kern="1200" dirty="0">
                <a:solidFill>
                  <a:schemeClr val="tx1"/>
                </a:solidFill>
                <a:effectLst/>
                <a:latin typeface="+mn-lt"/>
                <a:ea typeface="+mn-ea"/>
                <a:cs typeface="+mn-cs"/>
              </a:rPr>
              <a:t>，推断时寻找 </a:t>
            </a:r>
            <a:r>
              <a:rPr lang="en-US" altLang="zh-CN" sz="1200" kern="1200" dirty="0">
                <a:solidFill>
                  <a:schemeClr val="tx1"/>
                </a:solidFill>
                <a:effectLst/>
                <a:latin typeface="+mn-lt"/>
                <a:ea typeface="+mn-ea"/>
                <a:cs typeface="+mn-cs"/>
              </a:rPr>
              <a:t>$\</a:t>
            </a:r>
            <a:r>
              <a:rPr lang="en-US" altLang="zh-CN" sz="1200" kern="1200" dirty="0" err="1">
                <a:solidFill>
                  <a:schemeClr val="tx1"/>
                </a:solidFill>
                <a:effectLst/>
                <a:latin typeface="+mn-lt"/>
                <a:ea typeface="+mn-ea"/>
                <a:cs typeface="+mn-cs"/>
              </a:rPr>
              <a:t>arg</a:t>
            </a:r>
            <a:r>
              <a:rPr lang="en-US" altLang="zh-CN" sz="1200" kern="1200" dirty="0">
                <a:solidFill>
                  <a:schemeClr val="tx1"/>
                </a:solidFill>
                <a:effectLst/>
                <a:latin typeface="+mn-lt"/>
                <a:ea typeface="+mn-ea"/>
                <a:cs typeface="+mn-cs"/>
              </a:rPr>
              <a:t>\</a:t>
            </a:r>
            <a:r>
              <a:rPr lang="en-US" altLang="zh-CN" sz="1200" kern="1200" dirty="0" err="1">
                <a:solidFill>
                  <a:schemeClr val="tx1"/>
                </a:solidFill>
                <a:effectLst/>
                <a:latin typeface="+mn-lt"/>
                <a:ea typeface="+mn-ea"/>
                <a:cs typeface="+mn-cs"/>
              </a:rPr>
              <a:t>min_a</a:t>
            </a:r>
            <a:r>
              <a:rPr lang="en-US" altLang="zh-CN" sz="1200" kern="1200" dirty="0">
                <a:solidFill>
                  <a:schemeClr val="tx1"/>
                </a:solidFill>
                <a:effectLst/>
                <a:latin typeface="+mn-lt"/>
                <a:ea typeface="+mn-ea"/>
                <a:cs typeface="+mn-cs"/>
              </a:rPr>
              <a:t> E_\theta(o, a)$</a:t>
            </a:r>
            <a:r>
              <a:rPr lang="zh-CN" altLang="en-US" sz="1200" kern="1200" dirty="0">
                <a:solidFill>
                  <a:schemeClr val="tx1"/>
                </a:solidFill>
                <a:effectLst/>
                <a:latin typeface="+mn-lt"/>
                <a:ea typeface="+mn-ea"/>
                <a:cs typeface="+mn-cs"/>
              </a:rPr>
              <a:t>。</a:t>
            </a:r>
            <a:endParaRPr lang="zh-CN" altLang="en-US" sz="1200" kern="1200" dirty="0">
              <a:solidFill>
                <a:schemeClr val="tx1"/>
              </a:solidFill>
              <a:effectLst/>
              <a:latin typeface="+mn-lt"/>
              <a:ea typeface="+mn-ea"/>
              <a:cs typeface="+mn-cs"/>
            </a:endParaRPr>
          </a:p>
          <a:p>
            <a:pPr lvl="1"/>
            <a:r>
              <a:rPr lang="zh-CN" altLang="en-US" sz="1200" b="1" kern="1200" dirty="0">
                <a:solidFill>
                  <a:schemeClr val="tx1"/>
                </a:solidFill>
                <a:effectLst/>
                <a:latin typeface="+mn-lt"/>
                <a:ea typeface="+mn-ea"/>
                <a:cs typeface="+mn-cs"/>
              </a:rPr>
              <a:t>难点：</a:t>
            </a:r>
            <a:r>
              <a:rPr lang="zh-CN" altLang="en-US" sz="1200" kern="1200" dirty="0">
                <a:solidFill>
                  <a:schemeClr val="tx1"/>
                </a:solidFill>
                <a:effectLst/>
                <a:latin typeface="+mn-lt"/>
                <a:ea typeface="+mn-ea"/>
                <a:cs typeface="+mn-cs"/>
              </a:rPr>
              <a:t> 训练 </a:t>
            </a:r>
            <a:r>
              <a:rPr lang="en-US" altLang="zh-CN" sz="1200" kern="1200" dirty="0">
                <a:solidFill>
                  <a:schemeClr val="tx1"/>
                </a:solidFill>
                <a:effectLst/>
                <a:latin typeface="+mn-lt"/>
                <a:ea typeface="+mn-ea"/>
                <a:cs typeface="+mn-cs"/>
              </a:rPr>
              <a:t>EBM </a:t>
            </a:r>
            <a:r>
              <a:rPr lang="zh-CN" altLang="en-US" sz="1200" kern="1200" dirty="0">
                <a:solidFill>
                  <a:schemeClr val="tx1"/>
                </a:solidFill>
                <a:effectLst/>
                <a:latin typeface="+mn-lt"/>
                <a:ea typeface="+mn-ea"/>
                <a:cs typeface="+mn-cs"/>
              </a:rPr>
              <a:t>需要计算配分函数（</a:t>
            </a:r>
            <a:r>
              <a:rPr lang="en-US" altLang="zh-CN" sz="1200" kern="1200" dirty="0">
                <a:solidFill>
                  <a:schemeClr val="tx1"/>
                </a:solidFill>
                <a:effectLst/>
                <a:latin typeface="+mn-lt"/>
                <a:ea typeface="+mn-ea"/>
                <a:cs typeface="+mn-cs"/>
              </a:rPr>
              <a:t>Partition Function</a:t>
            </a:r>
            <a:r>
              <a:rPr lang="zh-CN" altLang="en-US"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$Z$</a:t>
            </a:r>
            <a:r>
              <a:rPr lang="zh-CN" altLang="en-US" sz="1200" kern="1200" dirty="0">
                <a:solidFill>
                  <a:schemeClr val="tx1"/>
                </a:solidFill>
                <a:effectLst/>
                <a:latin typeface="+mn-lt"/>
                <a:ea typeface="+mn-ea"/>
                <a:cs typeface="+mn-cs"/>
              </a:rPr>
              <a:t>，这在连续高维的动作空间中是 </a:t>
            </a:r>
            <a:r>
              <a:rPr lang="en-US" altLang="zh-CN" sz="1200" kern="1200" dirty="0">
                <a:solidFill>
                  <a:schemeClr val="tx1"/>
                </a:solidFill>
                <a:effectLst/>
                <a:latin typeface="+mn-lt"/>
                <a:ea typeface="+mn-ea"/>
                <a:cs typeface="+mn-cs"/>
              </a:rPr>
              <a:t>intractable</a:t>
            </a:r>
            <a:r>
              <a:rPr lang="zh-CN" altLang="en-US" sz="1200" kern="1200" dirty="0">
                <a:solidFill>
                  <a:schemeClr val="tx1"/>
                </a:solidFill>
                <a:effectLst/>
                <a:latin typeface="+mn-lt"/>
                <a:ea typeface="+mn-ea"/>
                <a:cs typeface="+mn-cs"/>
              </a:rPr>
              <a:t>（不可求）的。因此通常需要使用负采样（</a:t>
            </a:r>
            <a:r>
              <a:rPr lang="en-US" altLang="zh-CN" sz="1200" kern="1200" dirty="0">
                <a:solidFill>
                  <a:schemeClr val="tx1"/>
                </a:solidFill>
                <a:effectLst/>
                <a:latin typeface="+mn-lt"/>
                <a:ea typeface="+mn-ea"/>
                <a:cs typeface="+mn-cs"/>
              </a:rPr>
              <a:t>Negative Sampling</a:t>
            </a:r>
            <a:r>
              <a:rPr lang="zh-CN" altLang="en-US" sz="1200" kern="1200" dirty="0">
                <a:solidFill>
                  <a:schemeClr val="tx1"/>
                </a:solidFill>
                <a:effectLst/>
                <a:latin typeface="+mn-lt"/>
                <a:ea typeface="+mn-ea"/>
                <a:cs typeface="+mn-cs"/>
              </a:rPr>
              <a:t>），导致训练极不稳定（如文中截图提到的 </a:t>
            </a:r>
            <a:r>
              <a:rPr lang="en-US" altLang="zh-CN" sz="1200" kern="1200" dirty="0">
                <a:solidFill>
                  <a:schemeClr val="tx1"/>
                </a:solidFill>
                <a:effectLst/>
                <a:latin typeface="+mn-lt"/>
                <a:ea typeface="+mn-ea"/>
                <a:cs typeface="+mn-cs"/>
              </a:rPr>
              <a:t>Du et al., 2020; Florence et al., 2021</a:t>
            </a:r>
            <a:r>
              <a:rPr lang="zh-CN" altLang="en-US" sz="1200" kern="1200" dirty="0">
                <a:solidFill>
                  <a:schemeClr val="tx1"/>
                </a:solidFill>
                <a:effectLst/>
                <a:latin typeface="+mn-lt"/>
                <a:ea typeface="+mn-ea"/>
                <a:cs typeface="+mn-cs"/>
              </a:rPr>
              <a:t>）。</a:t>
            </a:r>
            <a:endParaRPr lang="zh-CN" altLang="en-US" sz="120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A. </a:t>
            </a:r>
            <a:r>
              <a:rPr lang="zh-CN" altLang="en-US" sz="1200" b="0" i="0" kern="1200" dirty="0">
                <a:solidFill>
                  <a:schemeClr val="tx1"/>
                </a:solidFill>
                <a:effectLst/>
                <a:latin typeface="+mn-lt"/>
                <a:ea typeface="+mn-ea"/>
                <a:cs typeface="+mn-cs"/>
              </a:rPr>
              <a:t>动作块与 </a:t>
            </a:r>
            <a:r>
              <a:rPr lang="en-US" altLang="zh-CN" sz="1200" b="0" i="0" kern="1200" dirty="0">
                <a:solidFill>
                  <a:schemeClr val="tx1"/>
                </a:solidFill>
                <a:effectLst/>
                <a:latin typeface="+mn-lt"/>
                <a:ea typeface="+mn-ea"/>
                <a:cs typeface="+mn-cs"/>
              </a:rPr>
              <a:t>receding-horizon control (</a:t>
            </a:r>
            <a:r>
              <a:rPr lang="zh-CN" altLang="en-US" sz="1200" b="0" i="0" kern="1200" dirty="0">
                <a:solidFill>
                  <a:schemeClr val="tx1"/>
                </a:solidFill>
                <a:effectLst/>
                <a:latin typeface="+mn-lt"/>
                <a:ea typeface="+mn-ea"/>
                <a:cs typeface="+mn-cs"/>
              </a:rPr>
              <a:t>模型预测控制思想</a:t>
            </a:r>
            <a:r>
              <a:rPr lang="en-US" altLang="zh-CN" sz="1200" b="0" i="0" kern="1200" dirty="0">
                <a:solidFill>
                  <a:schemeClr val="tx1"/>
                </a:solidFill>
                <a:effectLst/>
                <a:latin typeface="+mn-lt"/>
                <a:ea typeface="+mn-ea"/>
                <a:cs typeface="+mn-cs"/>
              </a:rPr>
              <a:t>)</a:t>
            </a:r>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传统的 </a:t>
            </a:r>
            <a:r>
              <a:rPr lang="en-US" altLang="zh-CN" sz="1200" b="0" i="0" kern="1200" dirty="0">
                <a:solidFill>
                  <a:schemeClr val="tx1"/>
                </a:solidFill>
                <a:effectLst/>
                <a:latin typeface="+mn-lt"/>
                <a:ea typeface="+mn-ea"/>
                <a:cs typeface="+mn-cs"/>
              </a:rPr>
              <a:t>RL </a:t>
            </a:r>
            <a:r>
              <a:rPr lang="zh-CN" altLang="en-US" sz="1200" b="0" i="0" kern="1200" dirty="0">
                <a:solidFill>
                  <a:schemeClr val="tx1"/>
                </a:solidFill>
                <a:effectLst/>
                <a:latin typeface="+mn-lt"/>
                <a:ea typeface="+mn-ea"/>
                <a:cs typeface="+mn-cs"/>
              </a:rPr>
              <a:t>或 </a:t>
            </a:r>
            <a:r>
              <a:rPr lang="en-US" altLang="zh-CN" sz="1200" b="0" i="0" kern="1200" dirty="0">
                <a:solidFill>
                  <a:schemeClr val="tx1"/>
                </a:solidFill>
                <a:effectLst/>
                <a:latin typeface="+mn-lt"/>
                <a:ea typeface="+mn-ea"/>
                <a:cs typeface="+mn-cs"/>
              </a:rPr>
              <a:t>BC </a:t>
            </a:r>
            <a:r>
              <a:rPr lang="zh-CN" altLang="en-US" sz="1200" b="0" i="0" kern="1200" dirty="0">
                <a:solidFill>
                  <a:schemeClr val="tx1"/>
                </a:solidFill>
                <a:effectLst/>
                <a:latin typeface="+mn-lt"/>
                <a:ea typeface="+mn-ea"/>
                <a:cs typeface="+mn-cs"/>
              </a:rPr>
              <a:t>倾向于预测单步动作 </a:t>
            </a:r>
            <a:r>
              <a:rPr lang="en-US" altLang="zh-CN" sz="1200" b="0" i="0" kern="1200" dirty="0">
                <a:solidFill>
                  <a:schemeClr val="tx1"/>
                </a:solidFill>
                <a:effectLst/>
                <a:latin typeface="+mn-lt"/>
                <a:ea typeface="+mn-ea"/>
                <a:cs typeface="+mn-cs"/>
              </a:rPr>
              <a:t>$</a:t>
            </a:r>
            <a:r>
              <a:rPr lang="en-US" altLang="zh-CN" sz="1200" b="0" i="0" kern="1200" dirty="0" err="1">
                <a:solidFill>
                  <a:schemeClr val="tx1"/>
                </a:solidFill>
                <a:effectLst/>
                <a:latin typeface="+mn-lt"/>
                <a:ea typeface="+mn-ea"/>
                <a:cs typeface="+mn-cs"/>
              </a:rPr>
              <a:t>a_t</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。但在非完美的马尔可夫决策过程（</a:t>
            </a:r>
            <a:r>
              <a:rPr lang="en-US" altLang="zh-CN" sz="1200" b="0" i="0" kern="1200" dirty="0">
                <a:solidFill>
                  <a:schemeClr val="tx1"/>
                </a:solidFill>
                <a:effectLst/>
                <a:latin typeface="+mn-lt"/>
                <a:ea typeface="+mn-ea"/>
                <a:cs typeface="+mn-cs"/>
              </a:rPr>
              <a:t>POMDP</a:t>
            </a:r>
            <a:r>
              <a:rPr lang="zh-CN" altLang="en-US" sz="1200" b="0" i="0" kern="1200" dirty="0">
                <a:solidFill>
                  <a:schemeClr val="tx1"/>
                </a:solidFill>
                <a:effectLst/>
                <a:latin typeface="+mn-lt"/>
                <a:ea typeface="+mn-ea"/>
                <a:cs typeface="+mn-cs"/>
              </a:rPr>
              <a:t>）中，单步预测会导致动作序列在时间上的不一致性</a:t>
            </a:r>
            <a:endParaRPr lang="zh-CN" altLang="en-US"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扩散模型在高维空间极佳的扩展性，直接预测未来一整个</a:t>
            </a:r>
            <a:r>
              <a:rPr lang="zh-CN" altLang="en-US" sz="1200" b="1" i="0" kern="1200" dirty="0">
                <a:solidFill>
                  <a:schemeClr val="tx1"/>
                </a:solidFill>
                <a:effectLst/>
                <a:latin typeface="+mn-lt"/>
                <a:ea typeface="+mn-ea"/>
                <a:cs typeface="+mn-cs"/>
              </a:rPr>
              <a:t>动作序列</a:t>
            </a:r>
            <a:endParaRPr lang="zh-CN" altLang="en-US" sz="1200" b="0" i="0" kern="1200" dirty="0">
              <a:solidFill>
                <a:schemeClr val="tx1"/>
              </a:solidFill>
              <a:effectLst/>
              <a:latin typeface="+mn-lt"/>
              <a:ea typeface="+mn-ea"/>
              <a:cs typeface="+mn-cs"/>
            </a:endParaRPr>
          </a:p>
          <a:p>
            <a:br>
              <a:rPr lang="en-US" altLang="zh-CN" dirty="0"/>
            </a:b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扩散策略概述</a:t>
            </a:r>
            <a:endParaRPr lang="zh-CN" altLang="en-US" dirty="0"/>
          </a:p>
          <a:p>
            <a:r>
              <a:rPr lang="en-US" altLang="zh-CN" sz="1200" b="0" i="0" kern="1200" dirty="0">
                <a:solidFill>
                  <a:schemeClr val="tx1"/>
                </a:solidFill>
                <a:effectLst/>
                <a:latin typeface="+mn-lt"/>
                <a:ea typeface="+mn-ea"/>
                <a:cs typeface="+mn-cs"/>
              </a:rPr>
              <a:t>a</a:t>
            </a:r>
            <a:r>
              <a:rPr lang="zh-CN" altLang="en-US" sz="1200" b="0" i="0" kern="1200" dirty="0">
                <a:solidFill>
                  <a:schemeClr val="tx1"/>
                </a:solidFill>
                <a:effectLst/>
                <a:latin typeface="+mn-lt"/>
                <a:ea typeface="+mn-ea"/>
                <a:cs typeface="+mn-cs"/>
              </a:rPr>
              <a:t>）通用形式。在时间步 </a:t>
            </a:r>
            <a:r>
              <a:rPr lang="en-US" altLang="zh-CN" sz="1200" b="0" i="0" kern="1200" dirty="0">
                <a:solidFill>
                  <a:schemeClr val="tx1"/>
                </a:solidFill>
                <a:effectLst/>
                <a:latin typeface="+mn-lt"/>
                <a:ea typeface="+mn-ea"/>
                <a:cs typeface="+mn-cs"/>
              </a:rPr>
              <a:t>t</a:t>
            </a:r>
            <a:r>
              <a:rPr lang="zh-CN" altLang="en-US" sz="1200" b="0" i="0" kern="1200" dirty="0">
                <a:solidFill>
                  <a:schemeClr val="tx1"/>
                </a:solidFill>
                <a:effectLst/>
                <a:latin typeface="+mn-lt"/>
                <a:ea typeface="+mn-ea"/>
                <a:cs typeface="+mn-cs"/>
              </a:rPr>
              <a:t>，策略以最新的 </a:t>
            </a:r>
            <a:r>
              <a:rPr lang="en-US" altLang="zh-CN" sz="1200" b="0" i="0" kern="1200" dirty="0">
                <a:solidFill>
                  <a:schemeClr val="tx1"/>
                </a:solidFill>
                <a:effectLst/>
                <a:latin typeface="+mn-lt"/>
                <a:ea typeface="+mn-ea"/>
                <a:cs typeface="+mn-cs"/>
              </a:rPr>
              <a:t>Tₒ</a:t>
            </a:r>
            <a:r>
              <a:rPr lang="zh-CN" altLang="en-US" sz="1200" b="0" i="0" kern="1200" dirty="0">
                <a:solidFill>
                  <a:schemeClr val="tx1"/>
                </a:solidFill>
                <a:effectLst/>
                <a:latin typeface="+mn-lt"/>
                <a:ea typeface="+mn-ea"/>
                <a:cs typeface="+mn-cs"/>
              </a:rPr>
              <a:t>步观测数据 </a:t>
            </a:r>
            <a:r>
              <a:rPr lang="en-US" altLang="zh-CN" sz="1200" b="0" i="0" kern="1200" dirty="0">
                <a:solidFill>
                  <a:schemeClr val="tx1"/>
                </a:solidFill>
                <a:effectLst/>
                <a:latin typeface="+mn-lt"/>
                <a:ea typeface="+mn-ea"/>
                <a:cs typeface="+mn-cs"/>
              </a:rPr>
              <a:t>Oₜ</a:t>
            </a:r>
            <a:r>
              <a:rPr lang="zh-CN" altLang="en-US" sz="1200" b="0" i="0" kern="1200" dirty="0">
                <a:solidFill>
                  <a:schemeClr val="tx1"/>
                </a:solidFill>
                <a:effectLst/>
                <a:latin typeface="+mn-lt"/>
                <a:ea typeface="+mn-ea"/>
                <a:cs typeface="+mn-cs"/>
              </a:rPr>
              <a:t>作为输入，输出 </a:t>
            </a:r>
            <a:r>
              <a:rPr lang="en-US" altLang="zh-CN" sz="1200" b="0" i="0" kern="1200" dirty="0">
                <a:solidFill>
                  <a:schemeClr val="tx1"/>
                </a:solidFill>
                <a:effectLst/>
                <a:latin typeface="+mn-lt"/>
                <a:ea typeface="+mn-ea"/>
                <a:cs typeface="+mn-cs"/>
              </a:rPr>
              <a:t>Tₐ</a:t>
            </a:r>
            <a:r>
              <a:rPr lang="zh-CN" altLang="en-US" sz="1200" b="0" i="0" kern="1200" dirty="0">
                <a:solidFill>
                  <a:schemeClr val="tx1"/>
                </a:solidFill>
                <a:effectLst/>
                <a:latin typeface="+mn-lt"/>
                <a:ea typeface="+mn-ea"/>
                <a:cs typeface="+mn-cs"/>
              </a:rPr>
              <a:t>步动作 </a:t>
            </a:r>
            <a:r>
              <a:rPr lang="en-US" altLang="zh-CN" sz="1200" b="0" i="0" kern="1200" dirty="0">
                <a:solidFill>
                  <a:schemeClr val="tx1"/>
                </a:solidFill>
                <a:effectLst/>
                <a:latin typeface="+mn-lt"/>
                <a:ea typeface="+mn-ea"/>
                <a:cs typeface="+mn-cs"/>
              </a:rPr>
              <a:t>Aₜ</a:t>
            </a:r>
            <a:r>
              <a:rPr lang="zh-CN" altLang="en-US" sz="1200" b="0" i="0" kern="1200" dirty="0">
                <a:solidFill>
                  <a:schemeClr val="tx1"/>
                </a:solidFill>
                <a:effectLst/>
                <a:latin typeface="+mn-lt"/>
                <a:ea typeface="+mn-ea"/>
                <a:cs typeface="+mn-cs"/>
              </a:rPr>
              <a:t>。</a:t>
            </a:r>
            <a:endParaRPr lang="zh-CN" altLang="en-US" dirty="0"/>
          </a:p>
          <a:p>
            <a:r>
              <a:rPr lang="en-US" altLang="zh-CN" sz="1200" b="0" i="0" kern="1200" dirty="0">
                <a:solidFill>
                  <a:schemeClr val="tx1"/>
                </a:solidFill>
                <a:effectLst/>
                <a:latin typeface="+mn-lt"/>
                <a:ea typeface="+mn-ea"/>
                <a:cs typeface="+mn-cs"/>
              </a:rPr>
              <a:t>b</a:t>
            </a:r>
            <a:r>
              <a:rPr lang="zh-CN" altLang="en-US" sz="1200" b="0" i="0" kern="1200" dirty="0">
                <a:solidFill>
                  <a:schemeClr val="tx1"/>
                </a:solidFill>
                <a:effectLst/>
                <a:latin typeface="+mn-lt"/>
                <a:ea typeface="+mn-ea"/>
                <a:cs typeface="+mn-cs"/>
              </a:rPr>
              <a:t>）在基于卷积神经网络的扩散策略中，对观测特征 </a:t>
            </a:r>
            <a:r>
              <a:rPr lang="en-US" altLang="zh-CN" sz="1200" b="0" i="0" kern="1200" dirty="0">
                <a:solidFill>
                  <a:schemeClr val="tx1"/>
                </a:solidFill>
                <a:effectLst/>
                <a:latin typeface="+mn-lt"/>
                <a:ea typeface="+mn-ea"/>
                <a:cs typeface="+mn-cs"/>
              </a:rPr>
              <a:t>Oₜ</a:t>
            </a:r>
            <a:r>
              <a:rPr lang="zh-CN" altLang="en-US" sz="1200" b="0" i="0" kern="1200" dirty="0">
                <a:solidFill>
                  <a:schemeClr val="tx1"/>
                </a:solidFill>
                <a:effectLst/>
                <a:latin typeface="+mn-lt"/>
                <a:ea typeface="+mn-ea"/>
                <a:cs typeface="+mn-cs"/>
              </a:rPr>
              <a:t>采用特征级线性调制（</a:t>
            </a:r>
            <a:r>
              <a:rPr lang="en-US" altLang="zh-CN" sz="1200" b="0" i="0" kern="1200" dirty="0" err="1">
                <a:solidFill>
                  <a:schemeClr val="tx1"/>
                </a:solidFill>
                <a:effectLst/>
                <a:latin typeface="+mn-lt"/>
                <a:ea typeface="+mn-ea"/>
                <a:cs typeface="+mn-cs"/>
              </a:rPr>
              <a:t>FiLM</a:t>
            </a:r>
            <a:r>
              <a:rPr lang="zh-CN" altLang="en-US" sz="1200" b="0" i="0" kern="1200" dirty="0">
                <a:solidFill>
                  <a:schemeClr val="tx1"/>
                </a:solidFill>
                <a:effectLst/>
                <a:latin typeface="+mn-lt"/>
                <a:ea typeface="+mn-ea"/>
                <a:cs typeface="+mn-cs"/>
              </a:rPr>
              <a:t>）方法（佩雷斯等人，</a:t>
            </a:r>
            <a:r>
              <a:rPr lang="en-US" altLang="zh-CN" sz="1200" b="0" i="0" kern="1200" dirty="0">
                <a:solidFill>
                  <a:schemeClr val="tx1"/>
                </a:solidFill>
                <a:effectLst/>
                <a:latin typeface="+mn-lt"/>
                <a:ea typeface="+mn-ea"/>
                <a:cs typeface="+mn-cs"/>
              </a:rPr>
              <a:t>2018</a:t>
            </a:r>
            <a:r>
              <a:rPr lang="zh-CN" altLang="en-US" sz="1200" b="0" i="0" kern="1200" dirty="0">
                <a:solidFill>
                  <a:schemeClr val="tx1"/>
                </a:solidFill>
                <a:effectLst/>
                <a:latin typeface="+mn-lt"/>
                <a:ea typeface="+mn-ea"/>
                <a:cs typeface="+mn-cs"/>
              </a:rPr>
              <a:t>），逐通道应用于每个卷积层。从服从高斯噪声分布的 </a:t>
            </a:r>
            <a:r>
              <a:rPr lang="en-US" altLang="zh-CN" sz="1200" b="0" i="0" kern="1200" dirty="0">
                <a:solidFill>
                  <a:schemeClr val="tx1"/>
                </a:solidFill>
                <a:effectLst/>
                <a:latin typeface="+mn-lt"/>
                <a:ea typeface="+mn-ea"/>
                <a:cs typeface="+mn-cs"/>
              </a:rPr>
              <a:t>A_Kₜ</a:t>
            </a:r>
            <a:r>
              <a:rPr lang="zh-CN" altLang="en-US" sz="1200" b="0" i="0" kern="1200" dirty="0">
                <a:solidFill>
                  <a:schemeClr val="tx1"/>
                </a:solidFill>
                <a:effectLst/>
                <a:latin typeface="+mn-lt"/>
                <a:ea typeface="+mn-ea"/>
                <a:cs typeface="+mn-cs"/>
              </a:rPr>
              <a:t>开始，减去噪声预测网络 </a:t>
            </a:r>
            <a:r>
              <a:rPr lang="en-US" altLang="zh-CN" sz="1200" b="0" i="0" kern="1200" dirty="0" err="1">
                <a:solidFill>
                  <a:schemeClr val="tx1"/>
                </a:solidFill>
                <a:effectLst/>
                <a:latin typeface="+mn-lt"/>
                <a:ea typeface="+mn-ea"/>
                <a:cs typeface="+mn-cs"/>
              </a:rPr>
              <a:t>ε_θ</a:t>
            </a: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的输出，重复 </a:t>
            </a:r>
            <a:r>
              <a:rPr lang="en-US" altLang="zh-CN" sz="1200" b="0" i="0" kern="1200" dirty="0">
                <a:solidFill>
                  <a:schemeClr val="tx1"/>
                </a:solidFill>
                <a:effectLst/>
                <a:latin typeface="+mn-lt"/>
                <a:ea typeface="+mn-ea"/>
                <a:cs typeface="+mn-cs"/>
              </a:rPr>
              <a:t>K </a:t>
            </a:r>
            <a:r>
              <a:rPr lang="zh-CN" altLang="en-US" sz="1200" b="0" i="0" kern="1200" dirty="0">
                <a:solidFill>
                  <a:schemeClr val="tx1"/>
                </a:solidFill>
                <a:effectLst/>
                <a:latin typeface="+mn-lt"/>
                <a:ea typeface="+mn-ea"/>
                <a:cs typeface="+mn-cs"/>
              </a:rPr>
              <a:t>次得到 </a:t>
            </a:r>
            <a:r>
              <a:rPr lang="en-US" altLang="zh-CN" sz="1200" b="0" i="0" kern="1200" dirty="0">
                <a:solidFill>
                  <a:schemeClr val="tx1"/>
                </a:solidFill>
                <a:effectLst/>
                <a:latin typeface="+mn-lt"/>
                <a:ea typeface="+mn-ea"/>
                <a:cs typeface="+mn-cs"/>
              </a:rPr>
              <a:t>A₀ₜ</a:t>
            </a:r>
            <a:r>
              <a:rPr lang="zh-CN" altLang="en-US" sz="1200" b="0" i="0" kern="1200" dirty="0">
                <a:solidFill>
                  <a:schemeClr val="tx1"/>
                </a:solidFill>
                <a:effectLst/>
                <a:latin typeface="+mn-lt"/>
                <a:ea typeface="+mn-ea"/>
                <a:cs typeface="+mn-cs"/>
              </a:rPr>
              <a:t>，即去噪后的动作序列。</a:t>
            </a:r>
            <a:endParaRPr lang="zh-CN" altLang="en-US" dirty="0"/>
          </a:p>
          <a:p>
            <a:r>
              <a:rPr lang="en-US" altLang="zh-CN" sz="1200" b="0" i="0" kern="1200" dirty="0">
                <a:solidFill>
                  <a:schemeClr val="tx1"/>
                </a:solidFill>
                <a:effectLst/>
                <a:latin typeface="+mn-lt"/>
                <a:ea typeface="+mn-ea"/>
                <a:cs typeface="+mn-cs"/>
              </a:rPr>
              <a:t>c</a:t>
            </a:r>
            <a:r>
              <a:rPr lang="zh-CN" altLang="en-US" sz="1200" b="0" i="0" kern="1200" dirty="0">
                <a:solidFill>
                  <a:schemeClr val="tx1"/>
                </a:solidFill>
                <a:effectLst/>
                <a:latin typeface="+mn-lt"/>
                <a:ea typeface="+mn-ea"/>
                <a:cs typeface="+mn-cs"/>
              </a:rPr>
              <a:t>）在基于 </a:t>
            </a:r>
            <a:r>
              <a:rPr lang="en-US" altLang="zh-CN" sz="1200" b="0" i="0" kern="1200" dirty="0">
                <a:solidFill>
                  <a:schemeClr val="tx1"/>
                </a:solidFill>
                <a:effectLst/>
                <a:latin typeface="+mn-lt"/>
                <a:ea typeface="+mn-ea"/>
                <a:cs typeface="+mn-cs"/>
              </a:rPr>
              <a:t>Transformer </a:t>
            </a:r>
            <a:r>
              <a:rPr lang="zh-CN" altLang="en-US" sz="1200" b="0" i="0" kern="1200" dirty="0">
                <a:solidFill>
                  <a:schemeClr val="tx1"/>
                </a:solidFill>
                <a:effectLst/>
                <a:latin typeface="+mn-lt"/>
                <a:ea typeface="+mn-ea"/>
                <a:cs typeface="+mn-cs"/>
              </a:rPr>
              <a:t>的扩散策略中（瓦斯瓦尼等人，</a:t>
            </a:r>
            <a:r>
              <a:rPr lang="en-US" altLang="zh-CN" sz="1200" b="0" i="0" kern="1200" dirty="0">
                <a:solidFill>
                  <a:schemeClr val="tx1"/>
                </a:solidFill>
                <a:effectLst/>
                <a:latin typeface="+mn-lt"/>
                <a:ea typeface="+mn-ea"/>
                <a:cs typeface="+mn-cs"/>
              </a:rPr>
              <a:t>2017</a:t>
            </a:r>
            <a:r>
              <a:rPr lang="zh-CN" altLang="en-US" sz="1200" b="0" i="0" kern="1200" dirty="0">
                <a:solidFill>
                  <a:schemeClr val="tx1"/>
                </a:solidFill>
                <a:effectLst/>
                <a:latin typeface="+mn-lt"/>
                <a:ea typeface="+mn-ea"/>
                <a:cs typeface="+mn-cs"/>
              </a:rPr>
              <a:t>），观测 </a:t>
            </a:r>
            <a:r>
              <a:rPr lang="en-US" altLang="zh-CN" sz="1200" b="0" i="0" kern="1200" dirty="0">
                <a:solidFill>
                  <a:schemeClr val="tx1"/>
                </a:solidFill>
                <a:effectLst/>
                <a:latin typeface="+mn-lt"/>
                <a:ea typeface="+mn-ea"/>
                <a:cs typeface="+mn-cs"/>
              </a:rPr>
              <a:t>Oₜ</a:t>
            </a:r>
            <a:r>
              <a:rPr lang="zh-CN" altLang="en-US" sz="1200" b="0" i="0" kern="1200" dirty="0">
                <a:solidFill>
                  <a:schemeClr val="tx1"/>
                </a:solidFill>
                <a:effectLst/>
                <a:latin typeface="+mn-lt"/>
                <a:ea typeface="+mn-ea"/>
                <a:cs typeface="+mn-cs"/>
              </a:rPr>
              <a:t>的嵌入向量被传入每个 </a:t>
            </a:r>
            <a:r>
              <a:rPr lang="en-US" altLang="zh-CN" sz="1200" b="0" i="0" kern="1200" dirty="0">
                <a:solidFill>
                  <a:schemeClr val="tx1"/>
                </a:solidFill>
                <a:effectLst/>
                <a:latin typeface="+mn-lt"/>
                <a:ea typeface="+mn-ea"/>
                <a:cs typeface="+mn-cs"/>
              </a:rPr>
              <a:t>Transformer </a:t>
            </a:r>
            <a:r>
              <a:rPr lang="zh-CN" altLang="en-US" sz="1200" b="0" i="0" kern="1200" dirty="0">
                <a:solidFill>
                  <a:schemeClr val="tx1"/>
                </a:solidFill>
                <a:effectLst/>
                <a:latin typeface="+mn-lt"/>
                <a:ea typeface="+mn-ea"/>
                <a:cs typeface="+mn-cs"/>
              </a:rPr>
              <a:t>解码器模块的多头交叉注意力层。通过图示的注意力掩码，每个动作嵌入被限制为仅关注自身及先前的动作嵌入（因果注意力）。</a:t>
            </a:r>
            <a:endParaRPr lang="zh-CN" altLang="en-US" dirty="0"/>
          </a:p>
        </p:txBody>
      </p:sp>
      <p:sp>
        <p:nvSpPr>
          <p:cNvPr id="4" name="灯片编号占位符 3"/>
          <p:cNvSpPr>
            <a:spLocks noGrp="1"/>
          </p:cNvSpPr>
          <p:nvPr>
            <p:ph type="sldNum" sz="quarter" idx="5"/>
          </p:nvPr>
        </p:nvSpPr>
        <p:spPr/>
        <p:txBody>
          <a:bodyPr/>
          <a:lstStyle/>
          <a:p>
            <a:pPr marL="0" marR="0" lvl="0" indent="0" algn="r" defTabSz="914400" eaLnBrk="1" fontAlgn="auto" latinLnBrk="0" hangingPunct="1">
              <a:lnSpc>
                <a:spcPct val="100000"/>
              </a:lnSpc>
              <a:spcBef>
                <a:spcPts val="0"/>
              </a:spcBef>
              <a:spcAft>
                <a:spcPts val="0"/>
              </a:spcAft>
              <a:buClrTx/>
              <a:buSzTx/>
              <a:buFontTx/>
              <a:buNone/>
              <a:defRPr/>
            </a:pPr>
            <a:fld id="{E2C0510E-DAB0-4142-AE9C-3B6078BF66FF}" type="slidenum">
              <a:rPr kumimoji="0" lang="zh-CN" altLang="en-US" sz="1200" b="0" i="0" u="none" strike="noStrike" kern="0" cap="none" spc="0" normalizeH="0" baseline="0" noProof="0" smtClean="0">
                <a:ln>
                  <a:noFill/>
                </a:ln>
                <a:solidFill>
                  <a:sysClr val="windowText" lastClr="000000"/>
                </a:solidFill>
                <a:effectLst/>
                <a:uLnTx/>
                <a:uFillTx/>
              </a:rPr>
            </a:fld>
            <a:endParaRPr kumimoji="0" lang="zh-CN" altLang="en-US" sz="1200" b="0" i="0" u="none" strike="noStrike" kern="0" cap="none" spc="0" normalizeH="0" baseline="0" noProof="0">
              <a:ln>
                <a:noFill/>
              </a:ln>
              <a:solidFill>
                <a:sysClr val="windowText" lastClr="000000"/>
              </a:solidFill>
              <a:effectLst/>
              <a:uLnTx/>
              <a:uFillTx/>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 </a:t>
            </a:r>
            <a:r>
              <a:rPr lang="zh-CN" altLang="en-US" dirty="0"/>
              <a:t>研究背景与痛点：为什么我们需要 </a:t>
            </a:r>
            <a:r>
              <a:rPr lang="en-US" altLang="zh-CN" dirty="0"/>
              <a:t>Diffusion</a:t>
            </a:r>
            <a:r>
              <a:rPr lang="zh-CN" altLang="en-US" dirty="0"/>
              <a:t>？大模型的局限：视觉</a:t>
            </a:r>
            <a:r>
              <a:rPr lang="en-US" altLang="zh-CN" dirty="0"/>
              <a:t>-</a:t>
            </a:r>
            <a:r>
              <a:rPr lang="zh-CN" altLang="en-US" dirty="0"/>
              <a:t>语言模型（</a:t>
            </a:r>
            <a:r>
              <a:rPr lang="en-US" altLang="zh-CN" dirty="0"/>
              <a:t>VLM</a:t>
            </a:r>
            <a:r>
              <a:rPr lang="zh-CN" altLang="en-US" dirty="0"/>
              <a:t>）通过海量互联网数据获得了强大的语义理解和逻辑推理能力 。但是，它们缺乏在真实物理世界中进行精细物理交互的“手感” 。传统方法的瓶颈：之前的 </a:t>
            </a:r>
            <a:r>
              <a:rPr lang="en-US" altLang="zh-CN" dirty="0"/>
              <a:t>Vision-Language-Action (VLA) </a:t>
            </a:r>
            <a:r>
              <a:rPr lang="zh-CN" altLang="en-US" dirty="0"/>
              <a:t>模型通常使用自回归（</a:t>
            </a:r>
            <a:r>
              <a:rPr lang="en-US" altLang="zh-CN" dirty="0"/>
              <a:t>Autoregressive</a:t>
            </a:r>
            <a:r>
              <a:rPr lang="zh-CN" altLang="en-US" dirty="0"/>
              <a:t>）的方式将动作离散化处理 。这种方式在面对需要极高频率（如 </a:t>
            </a:r>
            <a:r>
              <a:rPr lang="en-US" altLang="zh-CN" dirty="0"/>
              <a:t>50Hz</a:t>
            </a:r>
            <a:r>
              <a:rPr lang="zh-CN" altLang="en-US" dirty="0"/>
              <a:t>）和高灵巧度的连续动作时，表现得非常吃力 。</a:t>
            </a:r>
            <a:endParaRPr lang="zh-CN" altLang="en-US" dirty="0"/>
          </a:p>
          <a:p>
            <a:r>
              <a:rPr lang="zh-CN" altLang="en-US" dirty="0"/>
              <a:t>为了不破坏 </a:t>
            </a:r>
            <a:r>
              <a:rPr lang="en-US" altLang="zh-CN" dirty="0"/>
              <a:t>VLM </a:t>
            </a:r>
            <a:r>
              <a:rPr lang="zh-CN" altLang="en-US" dirty="0"/>
              <a:t>原有的语义表征，</a:t>
            </a:r>
            <a:r>
              <a:rPr lang="en-US" altLang="zh-CN" dirty="0"/>
              <a:t>$\pi_0$ </a:t>
            </a:r>
            <a:r>
              <a:rPr lang="zh-CN" altLang="en-US" dirty="0"/>
              <a:t>采用了类似 </a:t>
            </a:r>
            <a:r>
              <a:rPr lang="en-US" altLang="zh-CN" dirty="0"/>
              <a:t>Mixture-of-Experts (</a:t>
            </a:r>
            <a:r>
              <a:rPr lang="en-US" altLang="zh-CN" dirty="0" err="1"/>
              <a:t>MoE</a:t>
            </a:r>
            <a:r>
              <a:rPr lang="en-US" altLang="zh-CN" dirty="0"/>
              <a:t>) </a:t>
            </a:r>
            <a:r>
              <a:rPr lang="zh-CN" altLang="en-US" dirty="0"/>
              <a:t>的双分支设计 。图像和语言输入进入 </a:t>
            </a:r>
            <a:r>
              <a:rPr lang="en-US" altLang="zh-CN" dirty="0"/>
              <a:t>VLM </a:t>
            </a:r>
            <a:r>
              <a:rPr lang="zh-CN" altLang="en-US" dirty="0"/>
              <a:t>主干网络（如 </a:t>
            </a:r>
            <a:r>
              <a:rPr lang="en-US" altLang="zh-CN" dirty="0" err="1"/>
              <a:t>PaliGemma</a:t>
            </a:r>
            <a:r>
              <a:rPr lang="zh-CN" altLang="en-US" dirty="0"/>
              <a:t>），而机器人特定的状态（关节角度）和动作 </a:t>
            </a:r>
            <a:r>
              <a:rPr lang="en-US" altLang="zh-CN" dirty="0"/>
              <a:t>token </a:t>
            </a:r>
            <a:r>
              <a:rPr lang="zh-CN" altLang="en-US" dirty="0"/>
              <a:t>则交由一个专门的“动作专家”（</a:t>
            </a:r>
            <a:r>
              <a:rPr lang="en-US" altLang="zh-CN" dirty="0"/>
              <a:t>Action Expert</a:t>
            </a:r>
            <a:r>
              <a:rPr lang="zh-CN" altLang="en-US" dirty="0"/>
              <a:t>）处理 。</a:t>
            </a:r>
            <a:endParaRPr lang="zh-CN" altLang="en-US" dirty="0"/>
          </a:p>
          <a:p>
            <a:r>
              <a:rPr lang="zh-CN" altLang="en-US" dirty="0"/>
              <a:t>连续动作分布建模：</a:t>
            </a:r>
            <a:r>
              <a:rPr lang="en-US" altLang="zh-CN" dirty="0"/>
              <a:t>$\pi_0$ </a:t>
            </a:r>
            <a:r>
              <a:rPr lang="zh-CN" altLang="en-US" dirty="0"/>
              <a:t>放弃了自回归的动作 </a:t>
            </a:r>
            <a:r>
              <a:rPr lang="en-US" altLang="zh-CN" dirty="0"/>
              <a:t>token</a:t>
            </a:r>
            <a:r>
              <a:rPr lang="zh-CN" altLang="en-US" dirty="0"/>
              <a:t>，转而使用 </a:t>
            </a:r>
            <a:r>
              <a:rPr lang="en-US" altLang="zh-CN" dirty="0"/>
              <a:t>Flow Matching</a:t>
            </a:r>
            <a:r>
              <a:rPr lang="zh-CN" altLang="en-US" dirty="0"/>
              <a:t>（一种 </a:t>
            </a:r>
            <a:r>
              <a:rPr lang="en-US" altLang="zh-CN" dirty="0"/>
              <a:t>Diffusion </a:t>
            </a:r>
            <a:r>
              <a:rPr lang="zh-CN" altLang="en-US" dirty="0"/>
              <a:t>的变体）来生成连续的动作分布 。数学机制：模型的核心任务是学习一个去噪向量场 </a:t>
            </a:r>
            <a:r>
              <a:rPr lang="en-US" altLang="zh-CN" dirty="0"/>
              <a:t>$u(A_{t}^{\tau}|A_{t})$</a:t>
            </a:r>
            <a:r>
              <a:rPr lang="zh-CN" altLang="en-US" dirty="0"/>
              <a:t>。在训练阶段，模型通过条件流匹配损失函数进行优化：</a:t>
            </a:r>
            <a:r>
              <a:rPr lang="en-US" altLang="zh-CN" dirty="0"/>
              <a:t>$L^{\tau}(\theta)=\</a:t>
            </a:r>
            <a:r>
              <a:rPr lang="en-US" altLang="zh-CN" dirty="0" err="1"/>
              <a:t>mathbb</a:t>
            </a:r>
            <a:r>
              <a:rPr lang="en-US" altLang="zh-CN" dirty="0"/>
              <a:t>{E}_{p(A_{t}|o_{t}),q(A_{t}^{\tau}|A_{t})}||v_{\theta}(A_{t}^{\tau},o_{t})-u(A_{t}^{\tau}|A_{t})||^{2}$ </a:t>
            </a:r>
            <a:r>
              <a:rPr lang="zh-CN" altLang="en-US" dirty="0"/>
              <a:t>。</a:t>
            </a:r>
            <a:endParaRPr lang="zh-CN" altLang="en-US" dirty="0"/>
          </a:p>
          <a:p>
            <a:r>
              <a:rPr lang="zh-CN" altLang="en-US" dirty="0"/>
              <a:t>在推理阶段，模型利用前向欧拉积分（</a:t>
            </a:r>
            <a:r>
              <a:rPr lang="en-US" altLang="zh-CN" dirty="0"/>
              <a:t>Forward Euler integration</a:t>
            </a:r>
            <a:r>
              <a:rPr lang="zh-CN" altLang="en-US" dirty="0"/>
              <a:t>）从纯噪声中积分求解出最终的动作序列 。</a:t>
            </a:r>
            <a:r>
              <a:rPr lang="en-US" altLang="zh-CN" dirty="0"/>
              <a:t>Action Chunking</a:t>
            </a:r>
            <a:r>
              <a:rPr lang="zh-CN" altLang="en-US" dirty="0"/>
              <a:t>（动作分块）：通过预测未来的一系列动作序列（</a:t>
            </a:r>
            <a:r>
              <a:rPr lang="en-US" altLang="zh-CN" dirty="0"/>
              <a:t>Action Chunk</a:t>
            </a:r>
            <a:r>
              <a:rPr lang="zh-CN" altLang="en-US" dirty="0"/>
              <a:t>），结合 </a:t>
            </a:r>
            <a:r>
              <a:rPr lang="en-US" altLang="zh-CN" dirty="0"/>
              <a:t>Flow Matching </a:t>
            </a:r>
            <a:r>
              <a:rPr lang="zh-CN" altLang="en-US" dirty="0"/>
              <a:t>的多模态建模能力，使得机器人能够极其平滑、流畅地执行复杂任务 。</a:t>
            </a:r>
            <a:endParaRPr lang="zh-CN" altLang="en-US" dirty="0"/>
          </a:p>
          <a:p>
            <a:r>
              <a:rPr lang="zh-CN" altLang="en-US" dirty="0"/>
              <a:t>混合专家设计（</a:t>
            </a:r>
            <a:r>
              <a:rPr lang="en-US" altLang="zh-CN" dirty="0" err="1"/>
              <a:t>MoE</a:t>
            </a:r>
            <a:r>
              <a:rPr lang="zh-CN" altLang="en-US" dirty="0"/>
              <a:t>）：</a:t>
            </a:r>
            <a:r>
              <a:rPr lang="en-US" altLang="zh-CN" dirty="0"/>
              <a:t>Action Expert </a:t>
            </a:r>
            <a:r>
              <a:rPr lang="zh-CN" altLang="en-US" dirty="0"/>
              <a:t>是怎么挂载的？这是 </a:t>
            </a:r>
            <a:r>
              <a:rPr lang="en-US" altLang="zh-CN" dirty="0"/>
              <a:t>$\pi_0$ </a:t>
            </a:r>
            <a:r>
              <a:rPr lang="zh-CN" altLang="en-US" dirty="0"/>
              <a:t>最巧妙的地方。它并不是把一个 </a:t>
            </a:r>
            <a:r>
              <a:rPr lang="en-US" altLang="zh-CN" dirty="0"/>
              <a:t>VLM </a:t>
            </a:r>
            <a:r>
              <a:rPr lang="zh-CN" altLang="en-US" dirty="0"/>
              <a:t>和一个 </a:t>
            </a:r>
            <a:r>
              <a:rPr lang="en-US" altLang="zh-CN" dirty="0"/>
              <a:t>Diffusion </a:t>
            </a:r>
            <a:r>
              <a:rPr lang="zh-CN" altLang="en-US" dirty="0"/>
              <a:t>模型简单串联，而是采用了**混合专家（</a:t>
            </a:r>
            <a:r>
              <a:rPr lang="en-US" altLang="zh-CN" dirty="0"/>
              <a:t>Mixture-of-Experts</a:t>
            </a:r>
            <a:r>
              <a:rPr lang="zh-CN" altLang="en-US" dirty="0"/>
              <a:t>）**的设计理念 。路由机制（</a:t>
            </a:r>
            <a:r>
              <a:rPr lang="en-US" altLang="zh-CN" dirty="0"/>
              <a:t>Routing</a:t>
            </a:r>
            <a:r>
              <a:rPr lang="zh-CN" altLang="en-US" dirty="0"/>
              <a:t>）：模型本质上是一个单一的 </a:t>
            </a:r>
            <a:r>
              <a:rPr lang="en-US" altLang="zh-CN" dirty="0"/>
              <a:t>Transformer</a:t>
            </a:r>
            <a:r>
              <a:rPr lang="zh-CN" altLang="en-US" dirty="0"/>
              <a:t>，但是内部有两套独立的权重（专家）。图像和语言指令 </a:t>
            </a:r>
            <a:r>
              <a:rPr lang="en-US" altLang="zh-CN" dirty="0"/>
              <a:t>$[I_t^1, ..., </a:t>
            </a:r>
            <a:r>
              <a:rPr lang="en-US" altLang="zh-CN" dirty="0" err="1"/>
              <a:t>I_t^n</a:t>
            </a:r>
            <a:r>
              <a:rPr lang="en-US" altLang="zh-CN" dirty="0"/>
              <a:t>, </a:t>
            </a:r>
            <a:r>
              <a:rPr lang="en-US" altLang="zh-CN" dirty="0" err="1"/>
              <a:t>l_t</a:t>
            </a:r>
            <a:r>
              <a:rPr lang="en-US" altLang="zh-CN" dirty="0"/>
              <a:t>]$ </a:t>
            </a:r>
            <a:r>
              <a:rPr lang="zh-CN" altLang="en-US" dirty="0"/>
              <a:t>被严格路由给预训练好的 </a:t>
            </a:r>
            <a:r>
              <a:rPr lang="en-US" altLang="zh-CN" dirty="0"/>
              <a:t>VLM </a:t>
            </a:r>
            <a:r>
              <a:rPr lang="zh-CN" altLang="en-US" dirty="0"/>
              <a:t>专家 ；而机器人特有的输入</a:t>
            </a:r>
            <a:r>
              <a:rPr lang="en-US" altLang="zh-CN" dirty="0"/>
              <a:t>——</a:t>
            </a:r>
            <a:r>
              <a:rPr lang="zh-CN" altLang="en-US" dirty="0"/>
              <a:t>本体状态 </a:t>
            </a:r>
            <a:r>
              <a:rPr lang="en-US" altLang="zh-CN" dirty="0"/>
              <a:t>$</a:t>
            </a:r>
            <a:r>
              <a:rPr lang="en-US" altLang="zh-CN" dirty="0" err="1"/>
              <a:t>q_t</a:t>
            </a:r>
            <a:r>
              <a:rPr lang="en-US" altLang="zh-CN" dirty="0"/>
              <a:t>$ </a:t>
            </a:r>
            <a:r>
              <a:rPr lang="zh-CN" altLang="en-US" dirty="0"/>
              <a:t>和加噪动作块 </a:t>
            </a:r>
            <a:r>
              <a:rPr lang="en-US" altLang="zh-CN" dirty="0"/>
              <a:t>$</a:t>
            </a:r>
            <a:r>
              <a:rPr lang="en-US" altLang="zh-CN" dirty="0" err="1"/>
              <a:t>A_t</a:t>
            </a:r>
            <a:r>
              <a:rPr lang="en-US" altLang="zh-CN" dirty="0"/>
              <a:t>^\tau$——</a:t>
            </a:r>
            <a:r>
              <a:rPr lang="zh-CN" altLang="en-US" dirty="0"/>
              <a:t>则被路由给随机初始化的 </a:t>
            </a:r>
            <a:r>
              <a:rPr lang="en-US" altLang="zh-CN" dirty="0"/>
              <a:t>Action Expert </a:t>
            </a:r>
            <a:r>
              <a:rPr lang="zh-CN" altLang="en-US" dirty="0"/>
              <a:t>。信息交融：这两拨数据在各自的“专家”前馈网络（</a:t>
            </a:r>
            <a:r>
              <a:rPr lang="en-US" altLang="zh-CN" dirty="0"/>
              <a:t>FFN</a:t>
            </a:r>
            <a:r>
              <a:rPr lang="zh-CN" altLang="en-US" dirty="0"/>
              <a:t>）里处理，但它们会在 </a:t>
            </a:r>
            <a:r>
              <a:rPr lang="en-US" altLang="zh-CN" dirty="0"/>
              <a:t>Transformer </a:t>
            </a:r>
            <a:r>
              <a:rPr lang="zh-CN" altLang="en-US" dirty="0"/>
              <a:t>的自注意力（</a:t>
            </a:r>
            <a:r>
              <a:rPr lang="en-US" altLang="zh-CN" dirty="0"/>
              <a:t>Self-attention</a:t>
            </a:r>
            <a:r>
              <a:rPr lang="zh-CN" altLang="en-US" dirty="0"/>
              <a:t>）层中进行信息的交叉验证和融合 。</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B4AC3B35-2A78-4970-B85C-E076431EEB48}" type="slidenum">
              <a:rPr lang="zh-CN" altLang="en-US" smtClean="0"/>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 </a:t>
            </a:r>
            <a:r>
              <a:rPr lang="zh-CN" altLang="en-US" dirty="0"/>
              <a:t>研究背景与痛点：为什么我们需要 </a:t>
            </a:r>
            <a:r>
              <a:rPr lang="en-US" altLang="zh-CN" dirty="0"/>
              <a:t>Diffusion</a:t>
            </a:r>
            <a:r>
              <a:rPr lang="zh-CN" altLang="en-US" dirty="0"/>
              <a:t>？大模型的局限：视觉</a:t>
            </a:r>
            <a:r>
              <a:rPr lang="en-US" altLang="zh-CN" dirty="0"/>
              <a:t>-</a:t>
            </a:r>
            <a:r>
              <a:rPr lang="zh-CN" altLang="en-US" dirty="0"/>
              <a:t>语言模型（</a:t>
            </a:r>
            <a:r>
              <a:rPr lang="en-US" altLang="zh-CN" dirty="0"/>
              <a:t>VLM</a:t>
            </a:r>
            <a:r>
              <a:rPr lang="zh-CN" altLang="en-US" dirty="0"/>
              <a:t>）通过海量互联网数据获得了强大的语义理解和逻辑推理能力 。但是，它们缺乏在真实物理世界中进行精细物理交互的“手感” 。传统方法的瓶颈：之前的 </a:t>
            </a:r>
            <a:r>
              <a:rPr lang="en-US" altLang="zh-CN" dirty="0"/>
              <a:t>Vision-Language-Action (VLA) </a:t>
            </a:r>
            <a:r>
              <a:rPr lang="zh-CN" altLang="en-US" dirty="0"/>
              <a:t>模型通常使用自回归（</a:t>
            </a:r>
            <a:r>
              <a:rPr lang="en-US" altLang="zh-CN" dirty="0"/>
              <a:t>Autoregressive</a:t>
            </a:r>
            <a:r>
              <a:rPr lang="zh-CN" altLang="en-US" dirty="0"/>
              <a:t>）的方式将动作离散化处理 。这种方式在面对需要极高频率（如 </a:t>
            </a:r>
            <a:r>
              <a:rPr lang="en-US" altLang="zh-CN" dirty="0"/>
              <a:t>50Hz</a:t>
            </a:r>
            <a:r>
              <a:rPr lang="zh-CN" altLang="en-US" dirty="0"/>
              <a:t>）和高灵巧度的连续动作时，表现得非常吃力 。</a:t>
            </a:r>
            <a:endParaRPr lang="zh-CN" altLang="en-US" dirty="0"/>
          </a:p>
          <a:p>
            <a:r>
              <a:rPr lang="zh-CN" altLang="en-US" dirty="0"/>
              <a:t>为了不破坏 </a:t>
            </a:r>
            <a:r>
              <a:rPr lang="en-US" altLang="zh-CN" dirty="0"/>
              <a:t>VLM </a:t>
            </a:r>
            <a:r>
              <a:rPr lang="zh-CN" altLang="en-US" dirty="0"/>
              <a:t>原有的语义表征，</a:t>
            </a:r>
            <a:r>
              <a:rPr lang="en-US" altLang="zh-CN" dirty="0"/>
              <a:t>$\pi_0$ </a:t>
            </a:r>
            <a:r>
              <a:rPr lang="zh-CN" altLang="en-US" dirty="0"/>
              <a:t>采用了类似 </a:t>
            </a:r>
            <a:r>
              <a:rPr lang="en-US" altLang="zh-CN" dirty="0"/>
              <a:t>Mixture-of-Experts (</a:t>
            </a:r>
            <a:r>
              <a:rPr lang="en-US" altLang="zh-CN" dirty="0" err="1"/>
              <a:t>MoE</a:t>
            </a:r>
            <a:r>
              <a:rPr lang="en-US" altLang="zh-CN" dirty="0"/>
              <a:t>) </a:t>
            </a:r>
            <a:r>
              <a:rPr lang="zh-CN" altLang="en-US" dirty="0"/>
              <a:t>的双分支设计 。图像和语言输入进入 </a:t>
            </a:r>
            <a:r>
              <a:rPr lang="en-US" altLang="zh-CN" dirty="0"/>
              <a:t>VLM </a:t>
            </a:r>
            <a:r>
              <a:rPr lang="zh-CN" altLang="en-US" dirty="0"/>
              <a:t>主干网络（如 </a:t>
            </a:r>
            <a:r>
              <a:rPr lang="en-US" altLang="zh-CN" dirty="0" err="1"/>
              <a:t>PaliGemma</a:t>
            </a:r>
            <a:r>
              <a:rPr lang="zh-CN" altLang="en-US" dirty="0"/>
              <a:t>），而机器人特定的状态（关节角度）和动作 </a:t>
            </a:r>
            <a:r>
              <a:rPr lang="en-US" altLang="zh-CN" dirty="0"/>
              <a:t>token </a:t>
            </a:r>
            <a:r>
              <a:rPr lang="zh-CN" altLang="en-US" dirty="0"/>
              <a:t>则交由一个专门的“动作专家”（</a:t>
            </a:r>
            <a:r>
              <a:rPr lang="en-US" altLang="zh-CN" dirty="0"/>
              <a:t>Action Expert</a:t>
            </a:r>
            <a:r>
              <a:rPr lang="zh-CN" altLang="en-US" dirty="0"/>
              <a:t>）处理 。</a:t>
            </a:r>
            <a:endParaRPr lang="zh-CN" altLang="en-US" dirty="0"/>
          </a:p>
          <a:p>
            <a:r>
              <a:rPr lang="zh-CN" altLang="en-US" dirty="0"/>
              <a:t>连续动作分布建模：</a:t>
            </a:r>
            <a:r>
              <a:rPr lang="en-US" altLang="zh-CN" dirty="0"/>
              <a:t>$\pi_0$ </a:t>
            </a:r>
            <a:r>
              <a:rPr lang="zh-CN" altLang="en-US" dirty="0"/>
              <a:t>放弃了自回归的动作 </a:t>
            </a:r>
            <a:r>
              <a:rPr lang="en-US" altLang="zh-CN" dirty="0"/>
              <a:t>token</a:t>
            </a:r>
            <a:r>
              <a:rPr lang="zh-CN" altLang="en-US" dirty="0"/>
              <a:t>，转而使用 </a:t>
            </a:r>
            <a:r>
              <a:rPr lang="en-US" altLang="zh-CN" dirty="0"/>
              <a:t>Flow Matching</a:t>
            </a:r>
            <a:r>
              <a:rPr lang="zh-CN" altLang="en-US" dirty="0"/>
              <a:t>（一种 </a:t>
            </a:r>
            <a:r>
              <a:rPr lang="en-US" altLang="zh-CN" dirty="0"/>
              <a:t>Diffusion </a:t>
            </a:r>
            <a:r>
              <a:rPr lang="zh-CN" altLang="en-US" dirty="0"/>
              <a:t>的变体）来生成连续的动作分布 。数学机制：模型的核心任务是学习一个去噪向量场 </a:t>
            </a:r>
            <a:r>
              <a:rPr lang="en-US" altLang="zh-CN" dirty="0"/>
              <a:t>$u(A_{t}^{\tau}|A_{t})$</a:t>
            </a:r>
            <a:r>
              <a:rPr lang="zh-CN" altLang="en-US" dirty="0"/>
              <a:t>。在训练阶段，模型通过条件流匹配损失函数进行优化：</a:t>
            </a:r>
            <a:r>
              <a:rPr lang="en-US" altLang="zh-CN" dirty="0"/>
              <a:t>$L^{\tau}(\theta)=\</a:t>
            </a:r>
            <a:r>
              <a:rPr lang="en-US" altLang="zh-CN" dirty="0" err="1"/>
              <a:t>mathbb</a:t>
            </a:r>
            <a:r>
              <a:rPr lang="en-US" altLang="zh-CN" dirty="0"/>
              <a:t>{E}_{p(A_{t}|o_{t}),q(A_{t}^{\tau}|A_{t})}||v_{\theta}(A_{t}^{\tau},o_{t})-u(A_{t}^{\tau}|A_{t})||^{2}$ </a:t>
            </a:r>
            <a:r>
              <a:rPr lang="zh-CN" altLang="en-US" dirty="0"/>
              <a:t>。</a:t>
            </a:r>
            <a:endParaRPr lang="zh-CN" altLang="en-US" dirty="0"/>
          </a:p>
          <a:p>
            <a:r>
              <a:rPr lang="zh-CN" altLang="en-US" dirty="0"/>
              <a:t>在推理阶段，模型利用前向欧拉积分（</a:t>
            </a:r>
            <a:r>
              <a:rPr lang="en-US" altLang="zh-CN" dirty="0"/>
              <a:t>Forward Euler integration</a:t>
            </a:r>
            <a:r>
              <a:rPr lang="zh-CN" altLang="en-US" dirty="0"/>
              <a:t>）从纯噪声中积分求解出最终的动作序列 。</a:t>
            </a:r>
            <a:r>
              <a:rPr lang="en-US" altLang="zh-CN" dirty="0"/>
              <a:t>Action Chunking</a:t>
            </a:r>
            <a:r>
              <a:rPr lang="zh-CN" altLang="en-US" dirty="0"/>
              <a:t>（动作分块）：通过预测未来的一系列动作序列（</a:t>
            </a:r>
            <a:r>
              <a:rPr lang="en-US" altLang="zh-CN" dirty="0"/>
              <a:t>Action Chunk</a:t>
            </a:r>
            <a:r>
              <a:rPr lang="zh-CN" altLang="en-US" dirty="0"/>
              <a:t>），结合 </a:t>
            </a:r>
            <a:r>
              <a:rPr lang="en-US" altLang="zh-CN" dirty="0"/>
              <a:t>Flow Matching </a:t>
            </a:r>
            <a:r>
              <a:rPr lang="zh-CN" altLang="en-US" dirty="0"/>
              <a:t>的多模态建模能力，使得机器人能够极其平滑、流畅地执行复杂任务 。</a:t>
            </a:r>
            <a:endParaRPr lang="zh-CN" altLang="en-US" dirty="0"/>
          </a:p>
          <a:p>
            <a:r>
              <a:rPr lang="zh-CN" altLang="en-US" dirty="0"/>
              <a:t>混合专家设计（</a:t>
            </a:r>
            <a:r>
              <a:rPr lang="en-US" altLang="zh-CN" dirty="0" err="1"/>
              <a:t>MoE</a:t>
            </a:r>
            <a:r>
              <a:rPr lang="zh-CN" altLang="en-US" dirty="0"/>
              <a:t>）：</a:t>
            </a:r>
            <a:r>
              <a:rPr lang="en-US" altLang="zh-CN" dirty="0"/>
              <a:t>Action Expert </a:t>
            </a:r>
            <a:r>
              <a:rPr lang="zh-CN" altLang="en-US" dirty="0"/>
              <a:t>是怎么挂载的？这是 </a:t>
            </a:r>
            <a:r>
              <a:rPr lang="en-US" altLang="zh-CN" dirty="0"/>
              <a:t>$\pi_0$ </a:t>
            </a:r>
            <a:r>
              <a:rPr lang="zh-CN" altLang="en-US" dirty="0"/>
              <a:t>最巧妙的地方。它并不是把一个 </a:t>
            </a:r>
            <a:r>
              <a:rPr lang="en-US" altLang="zh-CN" dirty="0"/>
              <a:t>VLM </a:t>
            </a:r>
            <a:r>
              <a:rPr lang="zh-CN" altLang="en-US" dirty="0"/>
              <a:t>和一个 </a:t>
            </a:r>
            <a:r>
              <a:rPr lang="en-US" altLang="zh-CN" dirty="0"/>
              <a:t>Diffusion </a:t>
            </a:r>
            <a:r>
              <a:rPr lang="zh-CN" altLang="en-US" dirty="0"/>
              <a:t>模型简单串联，而是采用了**混合专家（</a:t>
            </a:r>
            <a:r>
              <a:rPr lang="en-US" altLang="zh-CN" dirty="0"/>
              <a:t>Mixture-of-Experts</a:t>
            </a:r>
            <a:r>
              <a:rPr lang="zh-CN" altLang="en-US" dirty="0"/>
              <a:t>）**的设计理念 。路由机制（</a:t>
            </a:r>
            <a:r>
              <a:rPr lang="en-US" altLang="zh-CN" dirty="0"/>
              <a:t>Routing</a:t>
            </a:r>
            <a:r>
              <a:rPr lang="zh-CN" altLang="en-US" dirty="0"/>
              <a:t>）：模型本质上是一个单一的 </a:t>
            </a:r>
            <a:r>
              <a:rPr lang="en-US" altLang="zh-CN" dirty="0"/>
              <a:t>Transformer</a:t>
            </a:r>
            <a:r>
              <a:rPr lang="zh-CN" altLang="en-US" dirty="0"/>
              <a:t>，但是内部有两套独立的权重（专家）。图像和语言指令 </a:t>
            </a:r>
            <a:r>
              <a:rPr lang="en-US" altLang="zh-CN" dirty="0"/>
              <a:t>$[I_t^1, ..., </a:t>
            </a:r>
            <a:r>
              <a:rPr lang="en-US" altLang="zh-CN" dirty="0" err="1"/>
              <a:t>I_t^n</a:t>
            </a:r>
            <a:r>
              <a:rPr lang="en-US" altLang="zh-CN" dirty="0"/>
              <a:t>, </a:t>
            </a:r>
            <a:r>
              <a:rPr lang="en-US" altLang="zh-CN" dirty="0" err="1"/>
              <a:t>l_t</a:t>
            </a:r>
            <a:r>
              <a:rPr lang="en-US" altLang="zh-CN" dirty="0"/>
              <a:t>]$ </a:t>
            </a:r>
            <a:r>
              <a:rPr lang="zh-CN" altLang="en-US" dirty="0"/>
              <a:t>被严格路由给预训练好的 </a:t>
            </a:r>
            <a:r>
              <a:rPr lang="en-US" altLang="zh-CN" dirty="0"/>
              <a:t>VLM </a:t>
            </a:r>
            <a:r>
              <a:rPr lang="zh-CN" altLang="en-US" dirty="0"/>
              <a:t>专家 ；而机器人特有的输入</a:t>
            </a:r>
            <a:r>
              <a:rPr lang="en-US" altLang="zh-CN" dirty="0"/>
              <a:t>——</a:t>
            </a:r>
            <a:r>
              <a:rPr lang="zh-CN" altLang="en-US" dirty="0"/>
              <a:t>本体状态 </a:t>
            </a:r>
            <a:r>
              <a:rPr lang="en-US" altLang="zh-CN" dirty="0"/>
              <a:t>$</a:t>
            </a:r>
            <a:r>
              <a:rPr lang="en-US" altLang="zh-CN" dirty="0" err="1"/>
              <a:t>q_t</a:t>
            </a:r>
            <a:r>
              <a:rPr lang="en-US" altLang="zh-CN" dirty="0"/>
              <a:t>$ </a:t>
            </a:r>
            <a:r>
              <a:rPr lang="zh-CN" altLang="en-US" dirty="0"/>
              <a:t>和加噪动作块 </a:t>
            </a:r>
            <a:r>
              <a:rPr lang="en-US" altLang="zh-CN" dirty="0"/>
              <a:t>$</a:t>
            </a:r>
            <a:r>
              <a:rPr lang="en-US" altLang="zh-CN" dirty="0" err="1"/>
              <a:t>A_t</a:t>
            </a:r>
            <a:r>
              <a:rPr lang="en-US" altLang="zh-CN" dirty="0"/>
              <a:t>^\tau$——</a:t>
            </a:r>
            <a:r>
              <a:rPr lang="zh-CN" altLang="en-US" dirty="0"/>
              <a:t>则被路由给随机初始化的 </a:t>
            </a:r>
            <a:r>
              <a:rPr lang="en-US" altLang="zh-CN" dirty="0"/>
              <a:t>Action Expert </a:t>
            </a:r>
            <a:r>
              <a:rPr lang="zh-CN" altLang="en-US" dirty="0"/>
              <a:t>。信息交融：这两拨数据在各自的“专家”前馈网络（</a:t>
            </a:r>
            <a:r>
              <a:rPr lang="en-US" altLang="zh-CN" dirty="0"/>
              <a:t>FFN</a:t>
            </a:r>
            <a:r>
              <a:rPr lang="zh-CN" altLang="en-US" dirty="0"/>
              <a:t>）里处理，但它们会在 </a:t>
            </a:r>
            <a:r>
              <a:rPr lang="en-US" altLang="zh-CN" dirty="0"/>
              <a:t>Transformer </a:t>
            </a:r>
            <a:r>
              <a:rPr lang="zh-CN" altLang="en-US" dirty="0"/>
              <a:t>的自注意力（</a:t>
            </a:r>
            <a:r>
              <a:rPr lang="en-US" altLang="zh-CN" dirty="0"/>
              <a:t>Self-attention</a:t>
            </a:r>
            <a:r>
              <a:rPr lang="zh-CN" altLang="en-US" dirty="0"/>
              <a:t>）层中进行信息的交叉验证和融合 。</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B4AC3B35-2A78-4970-B85C-E076431EEB48}"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4" Type="http://schemas.openxmlformats.org/officeDocument/2006/relationships/image" Target="../media/image4.png"/><Relationship Id="rId3" Type="http://schemas.openxmlformats.org/officeDocument/2006/relationships/tags" Target="../tags/tag1.xml"/><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tags" Target="../tags/tag2.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tags" Target="../tags/tag3.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tags" Target="../tags/tag4.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tags" Target="../tags/tag5.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6" Type="http://schemas.openxmlformats.org/officeDocument/2006/relationships/tags" Target="../tags/tag12.xml"/><Relationship Id="rId5" Type="http://schemas.openxmlformats.org/officeDocument/2006/relationships/tags" Target="../tags/tag11.xml"/><Relationship Id="rId4" Type="http://schemas.openxmlformats.org/officeDocument/2006/relationships/tags" Target="../tags/tag10.xml"/><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6" Type="http://schemas.openxmlformats.org/officeDocument/2006/relationships/tags" Target="../tags/tag17.xml"/><Relationship Id="rId5" Type="http://schemas.openxmlformats.org/officeDocument/2006/relationships/tags" Target="../tags/tag16.xml"/><Relationship Id="rId4" Type="http://schemas.openxmlformats.org/officeDocument/2006/relationships/tags" Target="../tags/tag15.xml"/><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6" Type="http://schemas.openxmlformats.org/officeDocument/2006/relationships/tags" Target="../tags/tag22.xml"/><Relationship Id="rId5" Type="http://schemas.openxmlformats.org/officeDocument/2006/relationships/tags" Target="../tags/tag21.xml"/><Relationship Id="rId4" Type="http://schemas.openxmlformats.org/officeDocument/2006/relationships/tags" Target="../tags/tag20.xml"/><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7" Type="http://schemas.openxmlformats.org/officeDocument/2006/relationships/tags" Target="../tags/tag28.xml"/><Relationship Id="rId6" Type="http://schemas.openxmlformats.org/officeDocument/2006/relationships/tags" Target="../tags/tag27.xml"/><Relationship Id="rId5" Type="http://schemas.openxmlformats.org/officeDocument/2006/relationships/tags" Target="../tags/tag26.xml"/><Relationship Id="rId4" Type="http://schemas.openxmlformats.org/officeDocument/2006/relationships/tags" Target="../tags/tag25.xml"/><Relationship Id="rId3" Type="http://schemas.openxmlformats.org/officeDocument/2006/relationships/tags" Target="../tags/tag24.xml"/><Relationship Id="rId2" Type="http://schemas.openxmlformats.org/officeDocument/2006/relationships/tags" Target="../tags/tag23.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9" Type="http://schemas.openxmlformats.org/officeDocument/2006/relationships/tags" Target="../tags/tag36.xml"/><Relationship Id="rId8" Type="http://schemas.openxmlformats.org/officeDocument/2006/relationships/tags" Target="../tags/tag35.xml"/><Relationship Id="rId7" Type="http://schemas.openxmlformats.org/officeDocument/2006/relationships/tags" Target="../tags/tag34.xml"/><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tags" Target="../tags/tag31.xml"/><Relationship Id="rId3" Type="http://schemas.openxmlformats.org/officeDocument/2006/relationships/tags" Target="../tags/tag30.xml"/><Relationship Id="rId2" Type="http://schemas.openxmlformats.org/officeDocument/2006/relationships/tags" Target="../tags/tag29.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4" Type="http://schemas.openxmlformats.org/officeDocument/2006/relationships/tags" Target="../tags/tag43.xml"/><Relationship Id="rId3" Type="http://schemas.openxmlformats.org/officeDocument/2006/relationships/tags" Target="../tags/tag42.xml"/><Relationship Id="rId2" Type="http://schemas.openxmlformats.org/officeDocument/2006/relationships/tags" Target="../tags/tag41.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7" Type="http://schemas.openxmlformats.org/officeDocument/2006/relationships/tags" Target="../tags/tag49.xml"/><Relationship Id="rId6" Type="http://schemas.openxmlformats.org/officeDocument/2006/relationships/tags" Target="../tags/tag48.xml"/><Relationship Id="rId5" Type="http://schemas.openxmlformats.org/officeDocument/2006/relationships/tags" Target="../tags/tag47.xml"/><Relationship Id="rId4" Type="http://schemas.openxmlformats.org/officeDocument/2006/relationships/tags" Target="../tags/tag46.xml"/><Relationship Id="rId3" Type="http://schemas.openxmlformats.org/officeDocument/2006/relationships/tags" Target="../tags/tag45.xml"/><Relationship Id="rId2" Type="http://schemas.openxmlformats.org/officeDocument/2006/relationships/tags" Target="../tags/tag44.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6" Type="http://schemas.openxmlformats.org/officeDocument/2006/relationships/tags" Target="../tags/tag54.xml"/><Relationship Id="rId5" Type="http://schemas.openxmlformats.org/officeDocument/2006/relationships/tags" Target="../tags/tag53.xml"/><Relationship Id="rId4" Type="http://schemas.openxmlformats.org/officeDocument/2006/relationships/tags" Target="../tags/tag52.xml"/><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5" Type="http://schemas.openxmlformats.org/officeDocument/2006/relationships/tags" Target="../tags/tag58.xml"/><Relationship Id="rId4" Type="http://schemas.openxmlformats.org/officeDocument/2006/relationships/tags" Target="../tags/tag57.xml"/><Relationship Id="rId3" Type="http://schemas.openxmlformats.org/officeDocument/2006/relationships/tags" Target="../tags/tag56.xml"/><Relationship Id="rId2" Type="http://schemas.openxmlformats.org/officeDocument/2006/relationships/tags" Target="../tags/tag55.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6" Type="http://schemas.openxmlformats.org/officeDocument/2006/relationships/tags" Target="../tags/tag63.xml"/><Relationship Id="rId5" Type="http://schemas.openxmlformats.org/officeDocument/2006/relationships/tags" Target="../tags/tag62.xml"/><Relationship Id="rId4" Type="http://schemas.openxmlformats.org/officeDocument/2006/relationships/tags" Target="../tags/tag61.xml"/><Relationship Id="rId3" Type="http://schemas.openxmlformats.org/officeDocument/2006/relationships/tags" Target="../tags/tag60.xml"/><Relationship Id="rId2" Type="http://schemas.openxmlformats.org/officeDocument/2006/relationships/tags" Target="../tags/tag59.xml"/><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ctr">
            <a:normAutofit/>
          </a:bodyPr>
          <a:lstStyle>
            <a:lvl1pPr algn="ctr">
              <a:defRPr sz="4800">
                <a:latin typeface="黑体" panose="02010609060101010101" pitchFamily="49" charset="-122"/>
                <a:ea typeface="黑体" panose="02010609060101010101" pitchFamily="49" charset="-122"/>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atin typeface="黑体" panose="02010609060101010101" pitchFamily="49" charset="-122"/>
                <a:ea typeface="黑体" panose="02010609060101010101" pitchFamily="49"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4" name="日期占位符 3"/>
          <p:cNvSpPr>
            <a:spLocks noGrp="1"/>
          </p:cNvSpPr>
          <p:nvPr>
            <p:ph type="dt" sz="half" idx="10"/>
          </p:nvPr>
        </p:nvSpPr>
        <p:spPr/>
        <p:txBody>
          <a:bodyPr/>
          <a:lstStyle/>
          <a:p>
            <a:fld id="{3EB98DE7-6DF2-4135-891A-68191D47F8C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70C90B3-9A4D-4AD5-B236-23D969D35065}" type="slidenum">
              <a:rPr lang="zh-CN" altLang="en-US" smtClean="0"/>
            </a:fld>
            <a:endParaRPr lang="zh-CN" altLang="en-US"/>
          </a:p>
        </p:txBody>
      </p:sp>
      <p:pic>
        <p:nvPicPr>
          <p:cNvPr id="7" name="图片 5" descr="剪影居中蓝 低版本"/>
          <p:cNvPicPr>
            <a:picLocks noChangeAspect="1"/>
          </p:cNvPicPr>
          <p:nvPr userDrawn="1"/>
        </p:nvPicPr>
        <p:blipFill>
          <a:blip r:embed="rId2"/>
          <a:stretch>
            <a:fillRect/>
          </a:stretch>
        </p:blipFill>
        <p:spPr>
          <a:xfrm>
            <a:off x="1353" y="4564099"/>
            <a:ext cx="12190495" cy="3776196"/>
          </a:xfrm>
          <a:prstGeom prst="rect">
            <a:avLst/>
          </a:prstGeom>
          <a:noFill/>
          <a:ln w="9525">
            <a:noFill/>
          </a:ln>
        </p:spPr>
      </p:pic>
      <p:pic>
        <p:nvPicPr>
          <p:cNvPr id="8" name="图片 1" descr="国科大标准Logo横式一（蓝色）"/>
          <p:cNvPicPr>
            <a:picLocks noChangeAspect="1"/>
          </p:cNvPicPr>
          <p:nvPr userDrawn="1"/>
        </p:nvPicPr>
        <p:blipFill>
          <a:blip r:embed="rId3"/>
          <a:stretch>
            <a:fillRect/>
          </a:stretch>
        </p:blipFill>
        <p:spPr>
          <a:xfrm>
            <a:off x="191626" y="135848"/>
            <a:ext cx="2992068" cy="626985"/>
          </a:xfrm>
          <a:prstGeom prst="rect">
            <a:avLst/>
          </a:prstGeom>
          <a:noFill/>
          <a:ln w="9525">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9"/>
            <a:ext cx="10515600" cy="1002982"/>
          </a:xfrm>
        </p:spPr>
        <p:txBody>
          <a:bodyPr anchor="t"/>
          <a:lstStyle>
            <a:lvl1pPr>
              <a:defRPr sz="6000"/>
            </a:lvl1p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1850" y="3041905"/>
            <a:ext cx="10515600" cy="3047746"/>
          </a:xfrm>
        </p:spPr>
        <p:txBody>
          <a:bodyPr/>
          <a:lstStyle>
            <a:lvl1pPr marL="457200" indent="-457200">
              <a:buFont typeface="+mj-lt"/>
              <a:buAutoNum type="arabicPeriod"/>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endParaRPr lang="zh-CN" altLang="en-US" dirty="0"/>
          </a:p>
        </p:txBody>
      </p:sp>
      <p:sp>
        <p:nvSpPr>
          <p:cNvPr id="4" name="日期占位符 3"/>
          <p:cNvSpPr>
            <a:spLocks noGrp="1"/>
          </p:cNvSpPr>
          <p:nvPr>
            <p:ph type="dt" sz="half" idx="10"/>
          </p:nvPr>
        </p:nvSpPr>
        <p:spPr/>
        <p:txBody>
          <a:bodyPr/>
          <a:lstStyle/>
          <a:p>
            <a:fld id="{3EB98DE7-6DF2-4135-891A-68191D47F8C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70C90B3-9A4D-4AD5-B236-23D969D35065}" type="slidenum">
              <a:rPr lang="zh-CN" altLang="en-US" smtClean="0"/>
            </a:fld>
            <a:endParaRPr lang="zh-CN" altLang="en-US"/>
          </a:p>
        </p:txBody>
      </p:sp>
      <p:pic>
        <p:nvPicPr>
          <p:cNvPr id="11" name="图片 2" descr="剪影蓝 低版本"/>
          <p:cNvPicPr>
            <a:picLocks noChangeAspect="1"/>
          </p:cNvPicPr>
          <p:nvPr userDrawn="1"/>
        </p:nvPicPr>
        <p:blipFill>
          <a:blip r:embed="rId2"/>
          <a:srcRect l="-8"/>
          <a:stretch>
            <a:fillRect/>
          </a:stretch>
        </p:blipFill>
        <p:spPr>
          <a:xfrm>
            <a:off x="1353" y="5378386"/>
            <a:ext cx="12190495" cy="2438099"/>
          </a:xfrm>
          <a:prstGeom prst="rect">
            <a:avLst/>
          </a:prstGeom>
          <a:noFill/>
          <a:ln w="9525">
            <a:noFill/>
          </a:ln>
        </p:spPr>
      </p:pic>
      <p:sp>
        <p:nvSpPr>
          <p:cNvPr id="12" name="矩形 11"/>
          <p:cNvSpPr/>
          <p:nvPr userDrawn="1">
            <p:custDataLst>
              <p:tags r:id="rId3"/>
            </p:custDataLst>
          </p:nvPr>
        </p:nvSpPr>
        <p:spPr>
          <a:xfrm>
            <a:off x="1353" y="600"/>
            <a:ext cx="12190495" cy="840002"/>
          </a:xfrm>
          <a:prstGeom prst="rect">
            <a:avLst/>
          </a:prstGeom>
          <a:gradFill>
            <a:gsLst>
              <a:gs pos="0">
                <a:schemeClr val="bg1"/>
              </a:gs>
              <a:gs pos="50000">
                <a:srgbClr val="5399D4"/>
              </a:gs>
              <a:gs pos="100000">
                <a:srgbClr val="2E3C63"/>
              </a:gs>
            </a:gsLst>
          </a:gradFill>
          <a:effectLst/>
        </p:spPr>
        <p:style>
          <a:lnRef idx="0">
            <a:srgbClr val="FFFFFF"/>
          </a:lnRef>
          <a:fillRef idx="2">
            <a:schemeClr val="accent1"/>
          </a:fillRef>
          <a:effectRef idx="1">
            <a:schemeClr val="accent1"/>
          </a:effectRef>
          <a:fontRef idx="minor">
            <a:schemeClr val="lt1"/>
          </a:fontRef>
        </p:style>
        <p:txBody>
          <a:bodyPr rtlCol="0" anchor="ctr"/>
          <a:lstStyle/>
          <a:p>
            <a:pPr algn="ctr" fontAlgn="base"/>
            <a:endParaRPr lang="zh-CN" altLang="en-US" sz="100" strike="noStrike" noProof="1"/>
          </a:p>
        </p:txBody>
      </p:sp>
      <p:pic>
        <p:nvPicPr>
          <p:cNvPr id="13" name="图片 12" descr="国科大标准Logo横式一（白色）"/>
          <p:cNvPicPr>
            <a:picLocks noChangeAspect="1"/>
          </p:cNvPicPr>
          <p:nvPr userDrawn="1"/>
        </p:nvPicPr>
        <p:blipFill>
          <a:blip r:embed="rId4"/>
          <a:stretch>
            <a:fillRect/>
          </a:stretch>
        </p:blipFill>
        <p:spPr>
          <a:xfrm>
            <a:off x="9815971" y="187901"/>
            <a:ext cx="2167622" cy="457144"/>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518160" y="1211836"/>
            <a:ext cx="10835640" cy="4965127"/>
          </a:xfrm>
        </p:spPr>
        <p:txBody>
          <a:bodyPr>
            <a:normAutofit/>
          </a:bodyPr>
          <a:lstStyle>
            <a:lvl1pPr>
              <a:defRPr sz="2400">
                <a:latin typeface="微软雅黑" charset="-122"/>
                <a:ea typeface="微软雅黑" charset="-122"/>
              </a:defRPr>
            </a:lvl1pPr>
            <a:lvl2pPr>
              <a:defRPr sz="2000">
                <a:latin typeface="微软雅黑" charset="-122"/>
                <a:ea typeface="微软雅黑" charset="-122"/>
              </a:defRPr>
            </a:lvl2pPr>
            <a:lvl3pPr>
              <a:defRPr sz="1800">
                <a:latin typeface="微软雅黑" charset="-122"/>
                <a:ea typeface="微软雅黑" charset="-122"/>
              </a:defRPr>
            </a:lvl3pPr>
            <a:lvl4pPr>
              <a:defRPr sz="1600">
                <a:latin typeface="微软雅黑" charset="-122"/>
                <a:ea typeface="微软雅黑" charset="-122"/>
              </a:defRPr>
            </a:lvl4pPr>
            <a:lvl5pPr>
              <a:defRPr sz="1600">
                <a:latin typeface="微软雅黑" charset="-122"/>
                <a:ea typeface="微软雅黑" charset="-122"/>
              </a:defRPr>
            </a:lvl5p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4" name="日期占位符 3"/>
          <p:cNvSpPr>
            <a:spLocks noGrp="1"/>
          </p:cNvSpPr>
          <p:nvPr>
            <p:ph type="dt" sz="half" idx="10"/>
          </p:nvPr>
        </p:nvSpPr>
        <p:spPr/>
        <p:txBody>
          <a:bodyPr/>
          <a:lstStyle/>
          <a:p>
            <a:fld id="{3EB98DE7-6DF2-4135-891A-68191D47F8C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70C90B3-9A4D-4AD5-B236-23D969D35065}" type="slidenum">
              <a:rPr lang="zh-CN" altLang="en-US" smtClean="0"/>
            </a:fld>
            <a:endParaRPr lang="zh-CN" altLang="en-US"/>
          </a:p>
        </p:txBody>
      </p:sp>
      <p:sp>
        <p:nvSpPr>
          <p:cNvPr id="8" name="矩形 7"/>
          <p:cNvSpPr/>
          <p:nvPr userDrawn="1">
            <p:custDataLst>
              <p:tags r:id="rId2"/>
            </p:custDataLst>
          </p:nvPr>
        </p:nvSpPr>
        <p:spPr>
          <a:xfrm>
            <a:off x="0" y="0"/>
            <a:ext cx="12190495" cy="840002"/>
          </a:xfrm>
          <a:prstGeom prst="rect">
            <a:avLst/>
          </a:prstGeom>
          <a:gradFill>
            <a:gsLst>
              <a:gs pos="0">
                <a:schemeClr val="bg1"/>
              </a:gs>
              <a:gs pos="50000">
                <a:srgbClr val="5399D4"/>
              </a:gs>
              <a:gs pos="100000">
                <a:srgbClr val="2E3C63"/>
              </a:gs>
            </a:gsLst>
          </a:gradFill>
          <a:effectLst/>
        </p:spPr>
        <p:style>
          <a:lnRef idx="0">
            <a:srgbClr val="FFFFFF"/>
          </a:lnRef>
          <a:fillRef idx="2">
            <a:schemeClr val="accent1"/>
          </a:fillRef>
          <a:effectRef idx="1">
            <a:schemeClr val="accent1"/>
          </a:effectRef>
          <a:fontRef idx="minor">
            <a:schemeClr val="lt1"/>
          </a:fontRef>
        </p:style>
        <p:txBody>
          <a:bodyPr rtlCol="0" anchor="ctr"/>
          <a:lstStyle/>
          <a:p>
            <a:pPr algn="ctr" fontAlgn="base"/>
            <a:endParaRPr lang="zh-CN" altLang="en-US" sz="100" strike="noStrike" noProof="1"/>
          </a:p>
        </p:txBody>
      </p:sp>
      <p:pic>
        <p:nvPicPr>
          <p:cNvPr id="9" name="图片 8" descr="国科大标准Logo横式一（白色）"/>
          <p:cNvPicPr>
            <a:picLocks noChangeAspect="1"/>
          </p:cNvPicPr>
          <p:nvPr userDrawn="1"/>
        </p:nvPicPr>
        <p:blipFill>
          <a:blip r:embed="rId3"/>
          <a:stretch>
            <a:fillRect/>
          </a:stretch>
        </p:blipFill>
        <p:spPr>
          <a:xfrm>
            <a:off x="9825334" y="191429"/>
            <a:ext cx="2167622" cy="457144"/>
          </a:xfrm>
          <a:prstGeom prst="rect">
            <a:avLst/>
          </a:prstGeom>
        </p:spPr>
      </p:pic>
      <p:sp>
        <p:nvSpPr>
          <p:cNvPr id="2" name="标题 1"/>
          <p:cNvSpPr>
            <a:spLocks noGrp="1"/>
          </p:cNvSpPr>
          <p:nvPr>
            <p:ph type="title"/>
          </p:nvPr>
        </p:nvSpPr>
        <p:spPr>
          <a:xfrm>
            <a:off x="943557" y="199897"/>
            <a:ext cx="9640824" cy="537083"/>
          </a:xfrm>
        </p:spPr>
        <p:txBody>
          <a:bodyPr>
            <a:noAutofit/>
          </a:bodyPr>
          <a:lstStyle>
            <a:lvl1pPr>
              <a:defRPr sz="3600">
                <a:latin typeface="微软雅黑" charset="-122"/>
                <a:ea typeface="微软雅黑" charset="-122"/>
              </a:defRPr>
            </a:lvl1pPr>
          </a:lstStyle>
          <a:p>
            <a:r>
              <a:rPr lang="zh-CN" altLang="en-US" dirty="0"/>
              <a:t>单击此处编辑母版标题样式</a:t>
            </a:r>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789432" y="1442904"/>
            <a:ext cx="5181600" cy="4351338"/>
          </a:xfrm>
        </p:spPr>
        <p:txBody>
          <a:bodyPr/>
          <a:lstStyle>
            <a:lvl1pPr>
              <a:defRPr>
                <a:latin typeface="微软雅黑" charset="-122"/>
                <a:ea typeface="微软雅黑" charset="-122"/>
              </a:defRPr>
            </a:lvl1pPr>
            <a:lvl2pPr>
              <a:defRPr>
                <a:latin typeface="微软雅黑" charset="-122"/>
                <a:ea typeface="微软雅黑" charset="-122"/>
              </a:defRPr>
            </a:lvl2pPr>
            <a:lvl3pPr>
              <a:defRPr>
                <a:latin typeface="微软雅黑" charset="-122"/>
                <a:ea typeface="微软雅黑" charset="-122"/>
              </a:defRPr>
            </a:lvl3pPr>
            <a:lvl4pPr>
              <a:defRPr>
                <a:latin typeface="微软雅黑" charset="-122"/>
                <a:ea typeface="微软雅黑" charset="-122"/>
              </a:defRPr>
            </a:lvl4pPr>
            <a:lvl5pPr>
              <a:defRPr>
                <a:latin typeface="微软雅黑" charset="-122"/>
                <a:ea typeface="微软雅黑" charset="-122"/>
              </a:defRPr>
            </a:lvl5p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4" name="内容占位符 3"/>
          <p:cNvSpPr>
            <a:spLocks noGrp="1"/>
          </p:cNvSpPr>
          <p:nvPr>
            <p:ph sz="half" idx="2"/>
          </p:nvPr>
        </p:nvSpPr>
        <p:spPr>
          <a:xfrm>
            <a:off x="6123432" y="1442904"/>
            <a:ext cx="5181600" cy="4351338"/>
          </a:xfrm>
        </p:spPr>
        <p:txBody>
          <a:bodyPr/>
          <a:lstStyle>
            <a:lvl1pPr>
              <a:defRPr>
                <a:latin typeface="微软雅黑" charset="-122"/>
                <a:ea typeface="微软雅黑" charset="-122"/>
              </a:defRPr>
            </a:lvl1pPr>
            <a:lvl2pPr>
              <a:defRPr>
                <a:latin typeface="微软雅黑" charset="-122"/>
                <a:ea typeface="微软雅黑" charset="-122"/>
              </a:defRPr>
            </a:lvl2pPr>
            <a:lvl3pPr>
              <a:defRPr>
                <a:latin typeface="微软雅黑" charset="-122"/>
                <a:ea typeface="微软雅黑" charset="-122"/>
              </a:defRPr>
            </a:lvl3pPr>
            <a:lvl4pPr>
              <a:defRPr>
                <a:latin typeface="微软雅黑" charset="-122"/>
                <a:ea typeface="微软雅黑" charset="-122"/>
              </a:defRPr>
            </a:lvl4pPr>
            <a:lvl5pPr>
              <a:defRPr>
                <a:latin typeface="微软雅黑" charset="-122"/>
                <a:ea typeface="微软雅黑" charset="-122"/>
              </a:defRPr>
            </a:lvl5p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5" name="日期占位符 4"/>
          <p:cNvSpPr>
            <a:spLocks noGrp="1"/>
          </p:cNvSpPr>
          <p:nvPr>
            <p:ph type="dt" sz="half" idx="10"/>
          </p:nvPr>
        </p:nvSpPr>
        <p:spPr/>
        <p:txBody>
          <a:bodyPr/>
          <a:lstStyle/>
          <a:p>
            <a:fld id="{3EB98DE7-6DF2-4135-891A-68191D47F8C6}"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70C90B3-9A4D-4AD5-B236-23D969D35065}" type="slidenum">
              <a:rPr lang="zh-CN" altLang="en-US" smtClean="0"/>
            </a:fld>
            <a:endParaRPr lang="zh-CN" altLang="en-US"/>
          </a:p>
        </p:txBody>
      </p:sp>
      <p:sp>
        <p:nvSpPr>
          <p:cNvPr id="9" name="标题 1"/>
          <p:cNvSpPr>
            <a:spLocks noGrp="1"/>
          </p:cNvSpPr>
          <p:nvPr>
            <p:ph type="title"/>
          </p:nvPr>
        </p:nvSpPr>
        <p:spPr>
          <a:xfrm>
            <a:off x="943557" y="199897"/>
            <a:ext cx="9640824" cy="537083"/>
          </a:xfrm>
        </p:spPr>
        <p:txBody>
          <a:bodyPr>
            <a:noAutofit/>
          </a:bodyPr>
          <a:lstStyle>
            <a:lvl1pPr>
              <a:defRPr sz="3600">
                <a:latin typeface="微软雅黑" charset="-122"/>
                <a:ea typeface="微软雅黑" charset="-122"/>
              </a:defRPr>
            </a:lvl1pPr>
          </a:lstStyle>
          <a:p>
            <a:r>
              <a:rPr lang="zh-CN" altLang="en-US" dirty="0"/>
              <a:t>单击此处编辑母版标题样式</a:t>
            </a:r>
            <a:endParaRPr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717868" y="1201134"/>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717868" y="2025046"/>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050280" y="1201134"/>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050280" y="2025046"/>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3EB98DE7-6DF2-4135-891A-68191D47F8C6}"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70C90B3-9A4D-4AD5-B236-23D969D35065}" type="slidenum">
              <a:rPr lang="zh-CN" altLang="en-US" smtClean="0"/>
            </a:fld>
            <a:endParaRPr lang="zh-CN" altLang="en-US"/>
          </a:p>
        </p:txBody>
      </p:sp>
      <p:sp>
        <p:nvSpPr>
          <p:cNvPr id="11" name="标题 1"/>
          <p:cNvSpPr>
            <a:spLocks noGrp="1"/>
          </p:cNvSpPr>
          <p:nvPr>
            <p:ph type="title"/>
          </p:nvPr>
        </p:nvSpPr>
        <p:spPr>
          <a:xfrm>
            <a:off x="943557" y="199897"/>
            <a:ext cx="9640824" cy="537083"/>
          </a:xfrm>
        </p:spPr>
        <p:txBody>
          <a:bodyPr>
            <a:noAutofit/>
          </a:bodyPr>
          <a:lstStyle>
            <a:lvl1pPr>
              <a:defRPr sz="3600">
                <a:latin typeface="微软雅黑" charset="-122"/>
                <a:ea typeface="微软雅黑" charset="-122"/>
              </a:defRPr>
            </a:lvl1pPr>
          </a:lstStyle>
          <a:p>
            <a:r>
              <a:rPr lang="zh-CN" altLang="en-US" dirty="0"/>
              <a:t>单击此处编辑母版标题样式</a:t>
            </a:r>
            <a:endParaRPr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3EB98DE7-6DF2-4135-891A-68191D47F8C6}"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70C90B3-9A4D-4AD5-B236-23D969D35065}" type="slidenum">
              <a:rPr lang="zh-CN" altLang="en-US" smtClean="0"/>
            </a:fld>
            <a:endParaRPr lang="zh-CN" altLang="en-US"/>
          </a:p>
        </p:txBody>
      </p:sp>
      <p:sp>
        <p:nvSpPr>
          <p:cNvPr id="7" name="标题 1"/>
          <p:cNvSpPr txBox="1"/>
          <p:nvPr userDrawn="1"/>
        </p:nvSpPr>
        <p:spPr>
          <a:xfrm>
            <a:off x="943557" y="199897"/>
            <a:ext cx="9640824" cy="53708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600" kern="1200">
                <a:solidFill>
                  <a:schemeClr val="tx1"/>
                </a:solidFill>
                <a:latin typeface="黑体" panose="02010609060101010101" pitchFamily="49" charset="-122"/>
                <a:ea typeface="黑体" panose="02010609060101010101" pitchFamily="49" charset="-122"/>
                <a:cs typeface="+mj-cs"/>
              </a:defRPr>
            </a:lvl1pPr>
          </a:lstStyle>
          <a:p>
            <a:r>
              <a:rPr lang="zh-CN" altLang="en-US" dirty="0">
                <a:latin typeface="微软雅黑" charset="-122"/>
                <a:ea typeface="微软雅黑" charset="-122"/>
              </a:rPr>
              <a:t>单击此处编辑母版标题样式</a:t>
            </a:r>
            <a:endParaRPr lang="zh-CN" altLang="en-US" dirty="0">
              <a:latin typeface="微软雅黑" charset="-122"/>
              <a:ea typeface="微软雅黑" charset="-122"/>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EB98DE7-6DF2-4135-891A-68191D47F8C6}"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70C90B3-9A4D-4AD5-B236-23D969D35065}" type="slidenum">
              <a:rPr lang="zh-CN" altLang="en-US" smtClean="0"/>
            </a:fld>
            <a:endParaRPr lang="zh-CN" altLang="en-US"/>
          </a:p>
        </p:txBody>
      </p:sp>
      <p:pic>
        <p:nvPicPr>
          <p:cNvPr id="7" name="图片 1" descr="国科大标准Logo横式一（蓝色）"/>
          <p:cNvPicPr>
            <a:picLocks noChangeAspect="1"/>
          </p:cNvPicPr>
          <p:nvPr userDrawn="1"/>
        </p:nvPicPr>
        <p:blipFill>
          <a:blip r:embed="rId2"/>
          <a:stretch>
            <a:fillRect/>
          </a:stretch>
        </p:blipFill>
        <p:spPr>
          <a:xfrm>
            <a:off x="270874" y="136525"/>
            <a:ext cx="2992068" cy="626985"/>
          </a:xfrm>
          <a:prstGeom prst="rect">
            <a:avLst/>
          </a:prstGeom>
          <a:noFill/>
          <a:ln w="9525">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987426"/>
            <a:ext cx="3932237" cy="1069974"/>
          </a:xfrm>
        </p:spPr>
        <p:txBody>
          <a:bodyPr anchor="b"/>
          <a:lstStyle>
            <a:lvl1pPr>
              <a:defRPr sz="3200">
                <a:latin typeface="微软雅黑" charset="-122"/>
                <a:ea typeface="微软雅黑" charset="-122"/>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5183188" y="987425"/>
            <a:ext cx="6172200" cy="4873625"/>
          </a:xfrm>
        </p:spPr>
        <p:txBody>
          <a:bodyPr/>
          <a:lstStyle>
            <a:lvl1pPr>
              <a:defRPr sz="3200">
                <a:latin typeface="微软雅黑" charset="-122"/>
                <a:ea typeface="微软雅黑" charset="-122"/>
              </a:defRPr>
            </a:lvl1pPr>
            <a:lvl2pPr>
              <a:defRPr sz="2800">
                <a:latin typeface="微软雅黑" charset="-122"/>
                <a:ea typeface="微软雅黑" charset="-122"/>
              </a:defRPr>
            </a:lvl2pPr>
            <a:lvl3pPr>
              <a:defRPr sz="2400">
                <a:latin typeface="微软雅黑" charset="-122"/>
                <a:ea typeface="微软雅黑" charset="-122"/>
              </a:defRPr>
            </a:lvl3pPr>
            <a:lvl4pPr>
              <a:defRPr sz="2000">
                <a:latin typeface="微软雅黑" charset="-122"/>
                <a:ea typeface="微软雅黑" charset="-122"/>
              </a:defRPr>
            </a:lvl4pPr>
            <a:lvl5pPr>
              <a:defRPr sz="2000">
                <a:latin typeface="微软雅黑" charset="-122"/>
                <a:ea typeface="微软雅黑" charset="-122"/>
              </a:defRPr>
            </a:lvl5pPr>
            <a:lvl6pPr>
              <a:defRPr sz="2000"/>
            </a:lvl6pPr>
            <a:lvl7pPr>
              <a:defRPr sz="2000"/>
            </a:lvl7pPr>
            <a:lvl8pPr>
              <a:defRPr sz="2000"/>
            </a:lvl8pPr>
            <a:lvl9pPr>
              <a:defRPr sz="2000"/>
            </a:lvl9p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atin typeface="微软雅黑" charset="-122"/>
                <a:ea typeface="微软雅黑" charset="-122"/>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endParaRPr lang="zh-CN" altLang="en-US" dirty="0"/>
          </a:p>
        </p:txBody>
      </p:sp>
      <p:sp>
        <p:nvSpPr>
          <p:cNvPr id="5" name="日期占位符 4"/>
          <p:cNvSpPr>
            <a:spLocks noGrp="1"/>
          </p:cNvSpPr>
          <p:nvPr>
            <p:ph type="dt" sz="half" idx="10"/>
          </p:nvPr>
        </p:nvSpPr>
        <p:spPr/>
        <p:txBody>
          <a:bodyPr/>
          <a:lstStyle/>
          <a:p>
            <a:fld id="{3EB98DE7-6DF2-4135-891A-68191D47F8C6}"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70C90B3-9A4D-4AD5-B236-23D969D35065}" type="slidenum">
              <a:rPr lang="zh-CN" altLang="en-US" smtClean="0"/>
            </a:fld>
            <a:endParaRPr lang="zh-CN" altLang="en-US"/>
          </a:p>
        </p:txBody>
      </p:sp>
      <p:sp>
        <p:nvSpPr>
          <p:cNvPr id="8" name="文本框 3"/>
          <p:cNvSpPr txBox="1"/>
          <p:nvPr userDrawn="1">
            <p:custDataLst>
              <p:tags r:id="rId2"/>
            </p:custDataLst>
          </p:nvPr>
        </p:nvSpPr>
        <p:spPr>
          <a:xfrm>
            <a:off x="92762" y="-38569"/>
            <a:ext cx="850795" cy="919366"/>
          </a:xfrm>
          <a:prstGeom prst="rect">
            <a:avLst/>
          </a:prstGeom>
          <a:noFill/>
          <a:ln w="12700" cmpd="sng">
            <a:noFill/>
            <a:prstDash val="solid"/>
          </a:ln>
          <a:effectLst>
            <a:outerShdw dist="63500" dir="2700000" algn="tl" rotWithShape="0">
              <a:schemeClr val="bg1">
                <a:alpha val="100000"/>
              </a:schemeClr>
            </a:outerShdw>
          </a:effectLst>
        </p:spPr>
        <p:txBody>
          <a:bodyPr wrap="square" anchor="t" anchorCtr="0"/>
          <a:lstStyle/>
          <a:p>
            <a:pPr>
              <a:lnSpc>
                <a:spcPct val="130000"/>
              </a:lnSpc>
            </a:pPr>
            <a:r>
              <a:rPr lang="en-US" altLang="zh-CN" sz="4000" i="1" dirty="0">
                <a:ln w="19050">
                  <a:noFill/>
                </a:ln>
                <a:gradFill>
                  <a:gsLst>
                    <a:gs pos="39000">
                      <a:srgbClr val="5399D4"/>
                    </a:gs>
                    <a:gs pos="100000">
                      <a:schemeClr val="bg1"/>
                    </a:gs>
                  </a:gsLst>
                  <a:lin ang="5400000" scaled="0"/>
                </a:gradFill>
                <a:latin typeface="Bauhaus 93" panose="04030905020B02020C02" charset="0"/>
                <a:ea typeface="造字工房朗倩（非商用）常规体" charset="-122"/>
                <a:cs typeface="Bauhaus 93" panose="04030905020B02020C02" charset="0"/>
              </a:rPr>
              <a:t>01</a:t>
            </a:r>
            <a:endParaRPr lang="en-US" altLang="zh-CN" sz="4000" i="1" dirty="0">
              <a:ln w="19050">
                <a:noFill/>
              </a:ln>
              <a:gradFill>
                <a:gsLst>
                  <a:gs pos="39000">
                    <a:srgbClr val="5399D4"/>
                  </a:gs>
                  <a:gs pos="100000">
                    <a:schemeClr val="bg1"/>
                  </a:gs>
                </a:gsLst>
                <a:lin ang="5400000" scaled="0"/>
              </a:gradFill>
              <a:latin typeface="Bauhaus 93" panose="04030905020B02020C02" charset="0"/>
              <a:ea typeface="造字工房朗倩（非商用）常规体" charset="-122"/>
              <a:cs typeface="Bauhaus 93" panose="04030905020B02020C02" charset="0"/>
            </a:endParaRPr>
          </a:p>
        </p:txBody>
      </p:sp>
      <p:sp>
        <p:nvSpPr>
          <p:cNvPr id="9" name="标题 1"/>
          <p:cNvSpPr txBox="1"/>
          <p:nvPr userDrawn="1"/>
        </p:nvSpPr>
        <p:spPr>
          <a:xfrm>
            <a:off x="943557" y="199897"/>
            <a:ext cx="9640824" cy="53708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600" kern="1200">
                <a:solidFill>
                  <a:schemeClr val="tx1"/>
                </a:solidFill>
                <a:latin typeface="黑体" panose="02010609060101010101" pitchFamily="49" charset="-122"/>
                <a:ea typeface="黑体" panose="02010609060101010101" pitchFamily="49" charset="-122"/>
                <a:cs typeface="+mj-cs"/>
              </a:defRPr>
            </a:lvl1pPr>
          </a:lstStyle>
          <a:p>
            <a:r>
              <a:rPr lang="zh-CN" altLang="en-US" dirty="0">
                <a:latin typeface="微软雅黑" charset="-122"/>
                <a:ea typeface="微软雅黑" charset="-122"/>
              </a:rPr>
              <a:t>单击此处编辑母版标题样式</a:t>
            </a:r>
            <a:endParaRPr lang="zh-CN" altLang="en-US" dirty="0">
              <a:latin typeface="微软雅黑" charset="-122"/>
              <a:ea typeface="微软雅黑" charset="-122"/>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1036320"/>
            <a:ext cx="3932237" cy="1021080"/>
          </a:xfrm>
        </p:spPr>
        <p:txBody>
          <a:bodyPr anchor="b"/>
          <a:lstStyle>
            <a:lvl1pPr>
              <a:defRPr sz="3200"/>
            </a:lvl1pPr>
          </a:lstStyle>
          <a:p>
            <a:r>
              <a:rPr lang="zh-CN" altLang="en-US" dirty="0"/>
              <a:t>单击此处编辑母版标题样式</a:t>
            </a:r>
            <a:endParaRPr lang="zh-CN" altLang="en-US" dirty="0"/>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3EB98DE7-6DF2-4135-891A-68191D47F8C6}"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70C90B3-9A4D-4AD5-B236-23D969D35065}" type="slidenum">
              <a:rPr lang="zh-CN" altLang="en-US" smtClean="0"/>
            </a:fld>
            <a:endParaRPr lang="zh-CN" altLang="en-US"/>
          </a:p>
        </p:txBody>
      </p:sp>
      <p:sp>
        <p:nvSpPr>
          <p:cNvPr id="8" name="文本框 3"/>
          <p:cNvSpPr txBox="1"/>
          <p:nvPr userDrawn="1">
            <p:custDataLst>
              <p:tags r:id="rId2"/>
            </p:custDataLst>
          </p:nvPr>
        </p:nvSpPr>
        <p:spPr>
          <a:xfrm>
            <a:off x="92762" y="-38569"/>
            <a:ext cx="850795" cy="919366"/>
          </a:xfrm>
          <a:prstGeom prst="rect">
            <a:avLst/>
          </a:prstGeom>
          <a:noFill/>
          <a:ln w="12700" cmpd="sng">
            <a:noFill/>
            <a:prstDash val="solid"/>
          </a:ln>
          <a:effectLst>
            <a:outerShdw dist="63500" dir="2700000" algn="tl" rotWithShape="0">
              <a:schemeClr val="bg1">
                <a:alpha val="100000"/>
              </a:schemeClr>
            </a:outerShdw>
          </a:effectLst>
        </p:spPr>
        <p:txBody>
          <a:bodyPr wrap="square" anchor="t" anchorCtr="0"/>
          <a:lstStyle/>
          <a:p>
            <a:pPr>
              <a:lnSpc>
                <a:spcPct val="130000"/>
              </a:lnSpc>
            </a:pPr>
            <a:r>
              <a:rPr lang="en-US" altLang="zh-CN" sz="4000" i="1" dirty="0">
                <a:ln w="19050">
                  <a:noFill/>
                </a:ln>
                <a:gradFill>
                  <a:gsLst>
                    <a:gs pos="39000">
                      <a:srgbClr val="5399D4"/>
                    </a:gs>
                    <a:gs pos="100000">
                      <a:schemeClr val="bg1"/>
                    </a:gs>
                  </a:gsLst>
                  <a:lin ang="5400000" scaled="0"/>
                </a:gradFill>
                <a:latin typeface="Bauhaus 93" panose="04030905020B02020C02" charset="0"/>
                <a:ea typeface="造字工房朗倩（非商用）常规体" charset="-122"/>
                <a:cs typeface="Bauhaus 93" panose="04030905020B02020C02" charset="0"/>
              </a:rPr>
              <a:t>01</a:t>
            </a:r>
            <a:endParaRPr lang="en-US" altLang="zh-CN" sz="4000" i="1" dirty="0">
              <a:ln w="19050">
                <a:noFill/>
              </a:ln>
              <a:gradFill>
                <a:gsLst>
                  <a:gs pos="39000">
                    <a:srgbClr val="5399D4"/>
                  </a:gs>
                  <a:gs pos="100000">
                    <a:schemeClr val="bg1"/>
                  </a:gs>
                </a:gsLst>
                <a:lin ang="5400000" scaled="0"/>
              </a:gradFill>
              <a:latin typeface="Bauhaus 93" panose="04030905020B02020C02" charset="0"/>
              <a:ea typeface="造字工房朗倩（非商用）常规体" charset="-122"/>
              <a:cs typeface="Bauhaus 93" panose="04030905020B02020C02" charset="0"/>
            </a:endParaRPr>
          </a:p>
        </p:txBody>
      </p:sp>
      <p:sp>
        <p:nvSpPr>
          <p:cNvPr id="9" name="标题 1"/>
          <p:cNvSpPr txBox="1"/>
          <p:nvPr userDrawn="1"/>
        </p:nvSpPr>
        <p:spPr>
          <a:xfrm>
            <a:off x="943557" y="199897"/>
            <a:ext cx="9640824" cy="53708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600" kern="1200">
                <a:solidFill>
                  <a:schemeClr val="tx1"/>
                </a:solidFill>
                <a:latin typeface="黑体" panose="02010609060101010101" pitchFamily="49" charset="-122"/>
                <a:ea typeface="黑体" panose="02010609060101010101" pitchFamily="49" charset="-122"/>
                <a:cs typeface="+mj-cs"/>
              </a:defRPr>
            </a:lvl1pPr>
          </a:lstStyle>
          <a:p>
            <a:r>
              <a:rPr lang="zh-CN" altLang="en-US" dirty="0">
                <a:latin typeface="微软雅黑" charset="-122"/>
                <a:ea typeface="微软雅黑" charset="-122"/>
              </a:rPr>
              <a:t>单击此处编辑母版标题样式</a:t>
            </a:r>
            <a:endParaRPr lang="zh-CN" altLang="en-US" dirty="0">
              <a:latin typeface="微软雅黑" charset="-122"/>
              <a:ea typeface="微软雅黑" charset="-122"/>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标题和竖排文字">
    <p:spTree>
      <p:nvGrpSpPr>
        <p:cNvPr id="1" name=""/>
        <p:cNvGrpSpPr/>
        <p:nvPr/>
      </p:nvGrpSpPr>
      <p:grpSpPr>
        <a:xfrm>
          <a:off x="0" y="0"/>
          <a:ext cx="0" cy="0"/>
          <a:chOff x="0" y="0"/>
          <a:chExt cx="0" cy="0"/>
        </a:xfrm>
      </p:grpSpPr>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3EB98DE7-6DF2-4135-891A-68191D47F8C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70C90B3-9A4D-4AD5-B236-23D969D35065}" type="slidenum">
              <a:rPr lang="zh-CN" altLang="en-US" smtClean="0"/>
            </a:fld>
            <a:endParaRPr lang="zh-CN" altLang="en-US"/>
          </a:p>
        </p:txBody>
      </p:sp>
      <p:sp>
        <p:nvSpPr>
          <p:cNvPr id="7" name="文本框 3"/>
          <p:cNvSpPr txBox="1"/>
          <p:nvPr userDrawn="1">
            <p:custDataLst>
              <p:tags r:id="rId2"/>
            </p:custDataLst>
          </p:nvPr>
        </p:nvSpPr>
        <p:spPr>
          <a:xfrm>
            <a:off x="92762" y="-38569"/>
            <a:ext cx="850795" cy="919366"/>
          </a:xfrm>
          <a:prstGeom prst="rect">
            <a:avLst/>
          </a:prstGeom>
          <a:noFill/>
          <a:ln w="12700" cmpd="sng">
            <a:noFill/>
            <a:prstDash val="solid"/>
          </a:ln>
          <a:effectLst>
            <a:outerShdw dist="63500" dir="2700000" algn="tl" rotWithShape="0">
              <a:schemeClr val="bg1">
                <a:alpha val="100000"/>
              </a:schemeClr>
            </a:outerShdw>
          </a:effectLst>
        </p:spPr>
        <p:txBody>
          <a:bodyPr wrap="square" anchor="t" anchorCtr="0"/>
          <a:lstStyle/>
          <a:p>
            <a:pPr>
              <a:lnSpc>
                <a:spcPct val="130000"/>
              </a:lnSpc>
            </a:pPr>
            <a:r>
              <a:rPr lang="en-US" altLang="zh-CN" sz="4000" i="1" dirty="0">
                <a:ln w="19050">
                  <a:noFill/>
                </a:ln>
                <a:gradFill>
                  <a:gsLst>
                    <a:gs pos="39000">
                      <a:srgbClr val="5399D4"/>
                    </a:gs>
                    <a:gs pos="100000">
                      <a:schemeClr val="bg1"/>
                    </a:gs>
                  </a:gsLst>
                  <a:lin ang="5400000" scaled="0"/>
                </a:gradFill>
                <a:latin typeface="Bauhaus 93" panose="04030905020B02020C02" charset="0"/>
                <a:ea typeface="造字工房朗倩（非商用）常规体" charset="-122"/>
                <a:cs typeface="Bauhaus 93" panose="04030905020B02020C02" charset="0"/>
              </a:rPr>
              <a:t>01</a:t>
            </a:r>
            <a:endParaRPr lang="en-US" altLang="zh-CN" sz="4000" i="1" dirty="0">
              <a:ln w="19050">
                <a:noFill/>
              </a:ln>
              <a:gradFill>
                <a:gsLst>
                  <a:gs pos="39000">
                    <a:srgbClr val="5399D4"/>
                  </a:gs>
                  <a:gs pos="100000">
                    <a:schemeClr val="bg1"/>
                  </a:gs>
                </a:gsLst>
                <a:lin ang="5400000" scaled="0"/>
              </a:gradFill>
              <a:latin typeface="Bauhaus 93" panose="04030905020B02020C02" charset="0"/>
              <a:ea typeface="造字工房朗倩（非商用）常规体" charset="-122"/>
              <a:cs typeface="Bauhaus 93" panose="04030905020B02020C02" charset="0"/>
            </a:endParaRPr>
          </a:p>
        </p:txBody>
      </p:sp>
      <p:sp>
        <p:nvSpPr>
          <p:cNvPr id="8" name="标题 1"/>
          <p:cNvSpPr>
            <a:spLocks noGrp="1"/>
          </p:cNvSpPr>
          <p:nvPr>
            <p:ph type="title"/>
          </p:nvPr>
        </p:nvSpPr>
        <p:spPr>
          <a:xfrm>
            <a:off x="943557" y="199897"/>
            <a:ext cx="9640824" cy="537083"/>
          </a:xfrm>
        </p:spPr>
        <p:txBody>
          <a:bodyPr>
            <a:noAutofit/>
          </a:bodyPr>
          <a:lstStyle>
            <a:lvl1pPr>
              <a:defRPr sz="3600">
                <a:latin typeface="微软雅黑" charset="-122"/>
                <a:ea typeface="微软雅黑" charset="-122"/>
              </a:defRPr>
            </a:lvl1pPr>
          </a:lstStyle>
          <a:p>
            <a:r>
              <a:rPr lang="zh-CN" altLang="en-US" dirty="0"/>
              <a:t>单击此处编辑母版标题样式</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914399"/>
            <a:ext cx="2528316" cy="5262564"/>
          </a:xfrm>
        </p:spPr>
        <p:txBody>
          <a:bodyPr vert="eaVert"/>
          <a:lstStyle/>
          <a:p>
            <a:r>
              <a:rPr lang="zh-CN" altLang="en-US" dirty="0"/>
              <a:t>单击此处编辑母版标题样式</a:t>
            </a:r>
            <a:endParaRPr lang="zh-CN" altLang="en-US" dirty="0"/>
          </a:p>
        </p:txBody>
      </p:sp>
      <p:sp>
        <p:nvSpPr>
          <p:cNvPr id="3" name="竖排文字占位符 2"/>
          <p:cNvSpPr>
            <a:spLocks noGrp="1"/>
          </p:cNvSpPr>
          <p:nvPr>
            <p:ph type="body" orient="vert" idx="1"/>
          </p:nvPr>
        </p:nvSpPr>
        <p:spPr>
          <a:xfrm>
            <a:off x="838200" y="914399"/>
            <a:ext cx="7653528" cy="5262563"/>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3EB98DE7-6DF2-4135-891A-68191D47F8C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70C90B3-9A4D-4AD5-B236-23D969D35065}" type="slidenum">
              <a:rPr lang="zh-CN" altLang="en-US" smtClean="0"/>
            </a:fld>
            <a:endParaRPr lang="zh-CN" altLang="en-US"/>
          </a:p>
        </p:txBody>
      </p:sp>
      <p:sp>
        <p:nvSpPr>
          <p:cNvPr id="7" name="文本框 3"/>
          <p:cNvSpPr txBox="1"/>
          <p:nvPr userDrawn="1">
            <p:custDataLst>
              <p:tags r:id="rId2"/>
            </p:custDataLst>
          </p:nvPr>
        </p:nvSpPr>
        <p:spPr>
          <a:xfrm>
            <a:off x="92762" y="-38569"/>
            <a:ext cx="850795" cy="919366"/>
          </a:xfrm>
          <a:prstGeom prst="rect">
            <a:avLst/>
          </a:prstGeom>
          <a:noFill/>
          <a:ln w="12700" cmpd="sng">
            <a:noFill/>
            <a:prstDash val="solid"/>
          </a:ln>
          <a:effectLst>
            <a:outerShdw dist="63500" dir="2700000" algn="tl" rotWithShape="0">
              <a:schemeClr val="bg1">
                <a:alpha val="100000"/>
              </a:schemeClr>
            </a:outerShdw>
          </a:effectLst>
        </p:spPr>
        <p:txBody>
          <a:bodyPr wrap="square" anchor="t" anchorCtr="0"/>
          <a:lstStyle/>
          <a:p>
            <a:pPr>
              <a:lnSpc>
                <a:spcPct val="130000"/>
              </a:lnSpc>
            </a:pPr>
            <a:r>
              <a:rPr lang="en-US" altLang="zh-CN" sz="4000" i="1" dirty="0">
                <a:ln w="19050">
                  <a:noFill/>
                </a:ln>
                <a:gradFill>
                  <a:gsLst>
                    <a:gs pos="39000">
                      <a:srgbClr val="5399D4"/>
                    </a:gs>
                    <a:gs pos="100000">
                      <a:schemeClr val="bg1"/>
                    </a:gs>
                  </a:gsLst>
                  <a:lin ang="5400000" scaled="0"/>
                </a:gradFill>
                <a:latin typeface="Bauhaus 93" panose="04030905020B02020C02" charset="0"/>
                <a:ea typeface="造字工房朗倩（非商用）常规体" charset="-122"/>
                <a:cs typeface="Bauhaus 93" panose="04030905020B02020C02" charset="0"/>
              </a:rPr>
              <a:t>01</a:t>
            </a:r>
            <a:endParaRPr lang="en-US" altLang="zh-CN" sz="4000" i="1" dirty="0">
              <a:ln w="19050">
                <a:noFill/>
              </a:ln>
              <a:gradFill>
                <a:gsLst>
                  <a:gs pos="39000">
                    <a:srgbClr val="5399D4"/>
                  </a:gs>
                  <a:gs pos="100000">
                    <a:schemeClr val="bg1"/>
                  </a:gs>
                </a:gsLst>
                <a:lin ang="5400000" scaled="0"/>
              </a:gradFill>
              <a:latin typeface="Bauhaus 93" panose="04030905020B02020C02" charset="0"/>
              <a:ea typeface="造字工房朗倩（非商用）常规体" charset="-122"/>
              <a:cs typeface="Bauhaus 93" panose="04030905020B02020C02" charset="0"/>
            </a:endParaRPr>
          </a:p>
        </p:txBody>
      </p:sp>
      <p:sp>
        <p:nvSpPr>
          <p:cNvPr id="8" name="标题 1"/>
          <p:cNvSpPr txBox="1"/>
          <p:nvPr userDrawn="1"/>
        </p:nvSpPr>
        <p:spPr>
          <a:xfrm>
            <a:off x="943557" y="199897"/>
            <a:ext cx="9640824" cy="53708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600" kern="1200">
                <a:solidFill>
                  <a:schemeClr val="tx1"/>
                </a:solidFill>
                <a:latin typeface="黑体" panose="02010609060101010101" pitchFamily="49" charset="-122"/>
                <a:ea typeface="黑体" panose="02010609060101010101" pitchFamily="49" charset="-122"/>
                <a:cs typeface="+mj-cs"/>
              </a:defRPr>
            </a:lvl1pPr>
          </a:lstStyle>
          <a:p>
            <a:r>
              <a:rPr lang="zh-CN" altLang="en-US" dirty="0">
                <a:latin typeface="微软雅黑" charset="-122"/>
                <a:ea typeface="微软雅黑" charset="-122"/>
              </a:rPr>
              <a:t>单击此处编辑母版标题样式</a:t>
            </a:r>
            <a:endParaRPr lang="zh-CN" altLang="en-US" dirty="0">
              <a:latin typeface="微软雅黑" charset="-122"/>
              <a:ea typeface="微软雅黑" charset="-122"/>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738" y="914400"/>
            <a:ext cx="979869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738" y="3560400"/>
            <a:ext cx="979869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5BCAD085-E8A6-8845-BD4E-CB4CCA059FC4}" type="datetimeFigureOut">
              <a:rPr lang="en-US" smtClean="0"/>
            </a:fld>
            <a:endParaRPr lang="en-US"/>
          </a:p>
        </p:txBody>
      </p:sp>
      <p:sp>
        <p:nvSpPr>
          <p:cNvPr id="17" name="页脚占位符 16"/>
          <p:cNvSpPr>
            <a:spLocks noGrp="1"/>
          </p:cNvSpPr>
          <p:nvPr>
            <p:ph type="ftr" sz="quarter" idx="11"/>
            <p:custDataLst>
              <p:tags r:id="rId5"/>
            </p:custDataLst>
          </p:nvPr>
        </p:nvSpPr>
        <p:spPr/>
        <p:txBody>
          <a:bodyPr/>
          <a:lstStyle/>
          <a:p>
            <a:endParaRPr lang="en-US"/>
          </a:p>
        </p:txBody>
      </p:sp>
      <p:sp>
        <p:nvSpPr>
          <p:cNvPr id="18" name="灯片编号占位符 17"/>
          <p:cNvSpPr>
            <a:spLocks noGrp="1"/>
          </p:cNvSpPr>
          <p:nvPr>
            <p:ph type="sldNum" sz="quarter" idx="12"/>
            <p:custDataLst>
              <p:tags r:id="rId6"/>
            </p:custDataLst>
          </p:nvPr>
        </p:nvSpPr>
        <p:spPr/>
        <p:txBody>
          <a:bodyPr/>
          <a:lstStyle/>
          <a:p>
            <a:fld id="{C1FF6DA9-008F-8B48-92A6-B652298478BF}" type="slidenum">
              <a:rPr lang="en-US" smtClean="0"/>
            </a:fld>
            <a:endParaRPr lang="en-US"/>
          </a:p>
        </p:txBody>
      </p:sp>
    </p:spTree>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368" y="608400"/>
            <a:ext cx="10968629"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内容占位符 2"/>
          <p:cNvSpPr>
            <a:spLocks noGrp="1"/>
          </p:cNvSpPr>
          <p:nvPr>
            <p:ph idx="1"/>
            <p:custDataLst>
              <p:tags r:id="rId3"/>
            </p:custDataLst>
          </p:nvPr>
        </p:nvSpPr>
        <p:spPr>
          <a:xfrm>
            <a:off x="608368" y="1490400"/>
            <a:ext cx="10968629" cy="4759200"/>
          </a:xfrm>
        </p:spPr>
        <p:txBody>
          <a:bodyPr vert="horz" lIns="90000" tIns="46800" rIns="90000" bIns="4680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custDataLst>
              <p:tags r:id="rId4"/>
            </p:custDataLst>
          </p:nvPr>
        </p:nvSpPr>
        <p:spPr/>
        <p:txBody>
          <a:bodyPr/>
          <a:lstStyle/>
          <a:p>
            <a:fld id="{5BCAD085-E8A6-8845-BD4E-CB4CCA059FC4}" type="datetimeFigureOut">
              <a:rPr lang="en-US" smtClean="0"/>
            </a:fld>
            <a:endParaRPr lang="en-US"/>
          </a:p>
        </p:txBody>
      </p:sp>
      <p:sp>
        <p:nvSpPr>
          <p:cNvPr id="5" name="页脚占位符 4"/>
          <p:cNvSpPr>
            <a:spLocks noGrp="1"/>
          </p:cNvSpPr>
          <p:nvPr>
            <p:ph type="ftr" sz="quarter" idx="11"/>
            <p:custDataLst>
              <p:tags r:id="rId5"/>
            </p:custDataLst>
          </p:nvPr>
        </p:nvSpPr>
        <p:spPr/>
        <p:txBody>
          <a:bodyPr/>
          <a:lstStyle/>
          <a:p>
            <a:endParaRPr lang="en-US"/>
          </a:p>
        </p:txBody>
      </p:sp>
      <p:sp>
        <p:nvSpPr>
          <p:cNvPr id="6" name="灯片编号占位符 5"/>
          <p:cNvSpPr>
            <a:spLocks noGrp="1"/>
          </p:cNvSpPr>
          <p:nvPr>
            <p:ph type="sldNum" sz="quarter" idx="12"/>
            <p:custDataLst>
              <p:tags r:id="rId6"/>
            </p:custDataLst>
          </p:nvPr>
        </p:nvSpPr>
        <p:spPr/>
        <p:txBody>
          <a:bodyPr/>
          <a:lstStyle/>
          <a:p>
            <a:fld id="{C1FF6DA9-008F-8B48-92A6-B652298478BF}" type="slidenum">
              <a:rPr lang="en-US" smtClean="0"/>
            </a:fld>
            <a:endParaRPr lang="en-US"/>
          </a:p>
        </p:txBody>
      </p:sp>
    </p:spTree>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696" y="3848400"/>
            <a:ext cx="7768395"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696" y="4615200"/>
            <a:ext cx="7768395"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5BCAD085-E8A6-8845-BD4E-CB4CCA059FC4}" type="datetimeFigureOut">
              <a:rPr lang="en-US" smtClean="0"/>
            </a:fld>
            <a:endParaRPr lang="en-US"/>
          </a:p>
        </p:txBody>
      </p:sp>
      <p:sp>
        <p:nvSpPr>
          <p:cNvPr id="5" name="页脚占位符 4"/>
          <p:cNvSpPr>
            <a:spLocks noGrp="1"/>
          </p:cNvSpPr>
          <p:nvPr>
            <p:ph type="ftr" sz="quarter" idx="11"/>
            <p:custDataLst>
              <p:tags r:id="rId5"/>
            </p:custDataLst>
          </p:nvPr>
        </p:nvSpPr>
        <p:spPr/>
        <p:txBody>
          <a:bodyPr/>
          <a:lstStyle/>
          <a:p>
            <a:endParaRPr lang="en-US"/>
          </a:p>
        </p:txBody>
      </p:sp>
      <p:sp>
        <p:nvSpPr>
          <p:cNvPr id="6" name="灯片编号占位符 5"/>
          <p:cNvSpPr>
            <a:spLocks noGrp="1"/>
          </p:cNvSpPr>
          <p:nvPr>
            <p:ph type="sldNum" sz="quarter" idx="12"/>
            <p:custDataLst>
              <p:tags r:id="rId6"/>
            </p:custDataLst>
          </p:nvPr>
        </p:nvSpPr>
        <p:spPr/>
        <p:txBody>
          <a:bodyPr/>
          <a:lstStyle/>
          <a:p>
            <a:fld id="{C1FF6DA9-008F-8B48-92A6-B652298478BF}" type="slidenum">
              <a:rPr lang="en-US" smtClean="0"/>
            </a:fld>
            <a:endParaRPr lang="en-US"/>
          </a:p>
        </p:txBody>
      </p:sp>
    </p:spTree>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368" y="608400"/>
            <a:ext cx="10968629"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内容占位符 2"/>
          <p:cNvSpPr>
            <a:spLocks noGrp="1"/>
          </p:cNvSpPr>
          <p:nvPr>
            <p:ph sz="half" idx="1"/>
            <p:custDataLst>
              <p:tags r:id="rId3"/>
            </p:custDataLst>
          </p:nvPr>
        </p:nvSpPr>
        <p:spPr>
          <a:xfrm>
            <a:off x="608368" y="1501200"/>
            <a:ext cx="5176530" cy="4748400"/>
          </a:xfrm>
        </p:spPr>
        <p:txBody>
          <a:bodyPr vert="horz" lIns="90000" tIns="46800" rIns="90000" bIns="4680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custDataLst>
              <p:tags r:id="rId4"/>
            </p:custDataLst>
          </p:nvPr>
        </p:nvSpPr>
        <p:spPr>
          <a:xfrm>
            <a:off x="6411266" y="1501200"/>
            <a:ext cx="517653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5BCAD085-E8A6-8845-BD4E-CB4CCA059FC4}" type="datetimeFigureOut">
              <a:rPr lang="en-US" smtClean="0"/>
            </a:fld>
            <a:endParaRPr lang="en-US"/>
          </a:p>
        </p:txBody>
      </p:sp>
      <p:sp>
        <p:nvSpPr>
          <p:cNvPr id="6" name="页脚占位符 5"/>
          <p:cNvSpPr>
            <a:spLocks noGrp="1"/>
          </p:cNvSpPr>
          <p:nvPr>
            <p:ph type="ftr" sz="quarter" idx="11"/>
            <p:custDataLst>
              <p:tags r:id="rId6"/>
            </p:custDataLst>
          </p:nvPr>
        </p:nvSpPr>
        <p:spPr/>
        <p:txBody>
          <a:bodyPr/>
          <a:lstStyle/>
          <a:p>
            <a:endParaRPr lang="en-US"/>
          </a:p>
        </p:txBody>
      </p:sp>
      <p:sp>
        <p:nvSpPr>
          <p:cNvPr id="7" name="灯片编号占位符 6"/>
          <p:cNvSpPr>
            <a:spLocks noGrp="1"/>
          </p:cNvSpPr>
          <p:nvPr>
            <p:ph type="sldNum" sz="quarter" idx="12"/>
            <p:custDataLst>
              <p:tags r:id="rId7"/>
            </p:custDataLst>
          </p:nvPr>
        </p:nvSpPr>
        <p:spPr/>
        <p:txBody>
          <a:bodyPr/>
          <a:lstStyle/>
          <a:p>
            <a:fld id="{C1FF6DA9-008F-8B48-92A6-B652298478BF}" type="slidenum">
              <a:rPr lang="en-US" smtClean="0"/>
            </a:fld>
            <a:endParaRPr lang="en-US"/>
          </a:p>
        </p:txBody>
      </p:sp>
    </p:spTree>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368" y="608400"/>
            <a:ext cx="10968629"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368" y="1429200"/>
            <a:ext cx="5342122"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368" y="1854000"/>
            <a:ext cx="5342122"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custDataLst>
              <p:tags r:id="rId5"/>
            </p:custDataLst>
          </p:nvPr>
        </p:nvSpPr>
        <p:spPr>
          <a:xfrm>
            <a:off x="6235425" y="1421729"/>
            <a:ext cx="5342122"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6" name="内容占位符 5"/>
          <p:cNvSpPr>
            <a:spLocks noGrp="1"/>
          </p:cNvSpPr>
          <p:nvPr>
            <p:ph sz="quarter" idx="4"/>
            <p:custDataLst>
              <p:tags r:id="rId6"/>
            </p:custDataLst>
          </p:nvPr>
        </p:nvSpPr>
        <p:spPr>
          <a:xfrm>
            <a:off x="6235425" y="1854000"/>
            <a:ext cx="5342122"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custDataLst>
              <p:tags r:id="rId7"/>
            </p:custDataLst>
          </p:nvPr>
        </p:nvSpPr>
        <p:spPr/>
        <p:txBody>
          <a:bodyPr/>
          <a:lstStyle/>
          <a:p>
            <a:fld id="{5BCAD085-E8A6-8845-BD4E-CB4CCA059FC4}" type="datetimeFigureOut">
              <a:rPr lang="en-US" smtClean="0"/>
            </a:fld>
            <a:endParaRPr lang="en-US"/>
          </a:p>
        </p:txBody>
      </p:sp>
      <p:sp>
        <p:nvSpPr>
          <p:cNvPr id="8" name="页脚占位符 7"/>
          <p:cNvSpPr>
            <a:spLocks noGrp="1"/>
          </p:cNvSpPr>
          <p:nvPr>
            <p:ph type="ftr" sz="quarter" idx="11"/>
            <p:custDataLst>
              <p:tags r:id="rId8"/>
            </p:custDataLst>
          </p:nvPr>
        </p:nvSpPr>
        <p:spPr/>
        <p:txBody>
          <a:bodyPr/>
          <a:lstStyle/>
          <a:p>
            <a:endParaRPr lang="en-US"/>
          </a:p>
        </p:txBody>
      </p:sp>
      <p:sp>
        <p:nvSpPr>
          <p:cNvPr id="9" name="灯片编号占位符 8"/>
          <p:cNvSpPr>
            <a:spLocks noGrp="1"/>
          </p:cNvSpPr>
          <p:nvPr>
            <p:ph type="sldNum" sz="quarter" idx="12"/>
            <p:custDataLst>
              <p:tags r:id="rId9"/>
            </p:custDataLst>
          </p:nvPr>
        </p:nvSpPr>
        <p:spPr/>
        <p:txBody>
          <a:bodyPr/>
          <a:lstStyle/>
          <a:p>
            <a:fld id="{C1FF6DA9-008F-8B48-92A6-B652298478BF}" type="slidenum">
              <a:rPr lang="en-US" smtClean="0"/>
            </a:fld>
            <a:endParaRPr lang="en-US"/>
          </a:p>
        </p:txBody>
      </p:sp>
    </p:spTree>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368" y="608400"/>
            <a:ext cx="10968629"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5BCAD085-E8A6-8845-BD4E-CB4CCA059FC4}" type="datetimeFigureOut">
              <a:rPr lang="en-US" smtClean="0"/>
            </a:fld>
            <a:endParaRPr lang="en-US"/>
          </a:p>
        </p:txBody>
      </p:sp>
      <p:sp>
        <p:nvSpPr>
          <p:cNvPr id="4" name="页脚占位符 3"/>
          <p:cNvSpPr>
            <a:spLocks noGrp="1"/>
          </p:cNvSpPr>
          <p:nvPr>
            <p:ph type="ftr" sz="quarter" idx="11"/>
            <p:custDataLst>
              <p:tags r:id="rId4"/>
            </p:custDataLst>
          </p:nvPr>
        </p:nvSpPr>
        <p:spPr/>
        <p:txBody>
          <a:bodyPr/>
          <a:lstStyle/>
          <a:p>
            <a:endParaRPr lang="en-US"/>
          </a:p>
        </p:txBody>
      </p:sp>
      <p:sp>
        <p:nvSpPr>
          <p:cNvPr id="5" name="灯片编号占位符 4"/>
          <p:cNvSpPr>
            <a:spLocks noGrp="1"/>
          </p:cNvSpPr>
          <p:nvPr>
            <p:ph type="sldNum" sz="quarter" idx="12"/>
            <p:custDataLst>
              <p:tags r:id="rId5"/>
            </p:custDataLst>
          </p:nvPr>
        </p:nvSpPr>
        <p:spPr/>
        <p:txBody>
          <a:bodyPr/>
          <a:lstStyle/>
          <a:p>
            <a:fld id="{C1FF6DA9-008F-8B48-92A6-B652298478BF}" type="slidenum">
              <a:rPr lang="en-US" smtClean="0"/>
            </a:fld>
            <a:endParaRPr lang="en-US"/>
          </a:p>
        </p:txBody>
      </p:sp>
    </p:spTree>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5BCAD085-E8A6-8845-BD4E-CB4CCA059FC4}" type="datetimeFigureOut">
              <a:rPr lang="en-US" smtClean="0"/>
            </a:fld>
            <a:endParaRPr lang="en-US"/>
          </a:p>
        </p:txBody>
      </p:sp>
      <p:sp>
        <p:nvSpPr>
          <p:cNvPr id="3" name="页脚占位符 2"/>
          <p:cNvSpPr>
            <a:spLocks noGrp="1"/>
          </p:cNvSpPr>
          <p:nvPr>
            <p:ph type="ftr" sz="quarter" idx="11"/>
            <p:custDataLst>
              <p:tags r:id="rId3"/>
            </p:custDataLst>
          </p:nvPr>
        </p:nvSpPr>
        <p:spPr/>
        <p:txBody>
          <a:bodyPr/>
          <a:lstStyle/>
          <a:p>
            <a:endParaRPr lang="en-US"/>
          </a:p>
        </p:txBody>
      </p:sp>
      <p:sp>
        <p:nvSpPr>
          <p:cNvPr id="4" name="灯片编号占位符 3"/>
          <p:cNvSpPr>
            <a:spLocks noGrp="1"/>
          </p:cNvSpPr>
          <p:nvPr>
            <p:ph type="sldNum" sz="quarter" idx="12"/>
            <p:custDataLst>
              <p:tags r:id="rId4"/>
            </p:custDataLst>
          </p:nvPr>
        </p:nvSpPr>
        <p:spPr/>
        <p:txBody>
          <a:bodyPr/>
          <a:lstStyle/>
          <a:p>
            <a:fld id="{C1FF6DA9-008F-8B48-92A6-B652298478BF}" type="slidenum">
              <a:rPr lang="en-US" smtClean="0"/>
            </a:fld>
            <a:endParaRPr lang="en-US"/>
          </a:p>
        </p:txBody>
      </p:sp>
    </p:spTree>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368" y="1555200"/>
            <a:ext cx="5232804"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069" y="1555200"/>
            <a:ext cx="5226928" cy="4608000"/>
          </a:xfrm>
        </p:spPr>
        <p:txBody>
          <a:bodyPr vert="horz" lIns="90000" tIns="46800" rIns="90000" bIns="46800" rtlCol="0">
            <a:normAutofit/>
          </a:bodyPr>
          <a:lstStyle>
            <a:lvl1pPr>
              <a:buNone/>
              <a:defRPr sz="1600"/>
            </a:lvl1pPr>
          </a:lstStyle>
          <a:p>
            <a:pPr lvl="0"/>
            <a:r>
              <a:rPr lang="zh-CN" altLang="en-US"/>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lstStyle/>
          <a:p>
            <a:r>
              <a:rPr lang="zh-CN" altLang="en-US"/>
              <a:t>单击此处编辑母版标题样式</a:t>
            </a:r>
            <a:endParaRPr lang="zh-CN" altLang="en-US"/>
          </a:p>
        </p:txBody>
      </p:sp>
    </p:spTree>
  </p:cSld>
  <p:clrMapOvr>
    <a:masterClrMapping/>
  </p:clrMapOvr>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267" y="914400"/>
            <a:ext cx="1043946" cy="5029200"/>
          </a:xfrm>
        </p:spPr>
        <p:txBody>
          <a:bodyPr vert="eaVert" lIns="90000" tIns="46800" rIns="90000" bIns="46800" rtlCol="0" anchor="ctr" anchorCtr="0">
            <a:normAutofit/>
          </a:bodyPr>
          <a:lstStyle>
            <a:lvl1pPr>
              <a:buNone/>
              <a:defRPr sz="2800"/>
            </a:lvl1pPr>
          </a:lstStyle>
          <a:p>
            <a:pPr lvl="0"/>
            <a:r>
              <a:rPr lang="zh-CN" altLang="en-US"/>
              <a:t>单击此处编辑标题</a:t>
            </a:r>
            <a:endParaRPr lang="zh-CN" altLang="en-US"/>
          </a:p>
        </p:txBody>
      </p:sp>
      <p:sp>
        <p:nvSpPr>
          <p:cNvPr id="3" name="竖排文字占位符 2"/>
          <p:cNvSpPr>
            <a:spLocks noGrp="1"/>
          </p:cNvSpPr>
          <p:nvPr>
            <p:ph type="body" orient="vert" idx="1"/>
            <p:custDataLst>
              <p:tags r:id="rId3"/>
            </p:custDataLst>
          </p:nvPr>
        </p:nvSpPr>
        <p:spPr>
          <a:xfrm>
            <a:off x="914352" y="914400"/>
            <a:ext cx="9168722"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5BCAD085-E8A6-8845-BD4E-CB4CCA059FC4}" type="datetimeFigureOut">
              <a:rPr lang="en-US" smtClean="0"/>
            </a:fld>
            <a:endParaRPr lang="en-US"/>
          </a:p>
        </p:txBody>
      </p:sp>
      <p:sp>
        <p:nvSpPr>
          <p:cNvPr id="5" name="页脚占位符 4"/>
          <p:cNvSpPr>
            <a:spLocks noGrp="1"/>
          </p:cNvSpPr>
          <p:nvPr>
            <p:ph type="ftr" sz="quarter" idx="11"/>
            <p:custDataLst>
              <p:tags r:id="rId5"/>
            </p:custDataLst>
          </p:nvPr>
        </p:nvSpPr>
        <p:spPr/>
        <p:txBody>
          <a:bodyPr/>
          <a:lstStyle/>
          <a:p>
            <a:endParaRPr lang="en-US"/>
          </a:p>
        </p:txBody>
      </p:sp>
      <p:sp>
        <p:nvSpPr>
          <p:cNvPr id="6" name="灯片编号占位符 5"/>
          <p:cNvSpPr>
            <a:spLocks noGrp="1"/>
          </p:cNvSpPr>
          <p:nvPr>
            <p:ph type="sldNum" sz="quarter" idx="12"/>
            <p:custDataLst>
              <p:tags r:id="rId6"/>
            </p:custDataLst>
          </p:nvPr>
        </p:nvSpPr>
        <p:spPr/>
        <p:txBody>
          <a:bodyPr/>
          <a:lstStyle/>
          <a:p>
            <a:fld id="{C1FF6DA9-008F-8B48-92A6-B652298478BF}" type="slidenum">
              <a:rPr lang="en-US" smtClean="0"/>
            </a:fld>
            <a:endParaRPr lang="en-US"/>
          </a:p>
        </p:txBody>
      </p:sp>
    </p:spTree>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368" y="774000"/>
            <a:ext cx="10972229"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738" y="2484000"/>
            <a:ext cx="9798690" cy="1018800"/>
          </a:xfrm>
        </p:spPr>
        <p:txBody>
          <a:bodyPr vert="horz" lIns="90000" tIns="46800" rIns="90000" bIns="46800" rtlCol="0" anchor="t" anchorCtr="0">
            <a:normAutofit/>
          </a:bodyPr>
          <a:lstStyle>
            <a:lvl1pPr algn="ctr">
              <a:defRPr sz="6000"/>
            </a:lvl1pPr>
          </a:lstStyle>
          <a:p>
            <a:pPr lvl="0"/>
            <a:r>
              <a:rPr lang="zh-CN" altLang="en-US"/>
              <a:t>单击此处编辑标题</a:t>
            </a:r>
            <a:endParaRPr lang="zh-CN" altLang="en-US"/>
          </a:p>
        </p:txBody>
      </p:sp>
      <p:sp>
        <p:nvSpPr>
          <p:cNvPr id="7" name="文本占位符 6"/>
          <p:cNvSpPr>
            <a:spLocks noGrp="1"/>
          </p:cNvSpPr>
          <p:nvPr>
            <p:ph type="body" sz="quarter" idx="13"/>
            <p:custDataLst>
              <p:tags r:id="rId6"/>
            </p:custDataLst>
          </p:nvPr>
        </p:nvSpPr>
        <p:spPr>
          <a:xfrm>
            <a:off x="1198738" y="3560400"/>
            <a:ext cx="979869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目录页">
    <p:spTree>
      <p:nvGrpSpPr>
        <p:cNvPr id="1" name=""/>
        <p:cNvGrpSpPr/>
        <p:nvPr/>
      </p:nvGrpSpPr>
      <p:grpSpPr>
        <a:xfrm>
          <a:off x="0" y="0"/>
          <a:ext cx="0" cy="0"/>
          <a:chOff x="0" y="0"/>
          <a:chExt cx="0" cy="0"/>
        </a:xfrm>
      </p:grpSpPr>
      <p:sp>
        <p:nvSpPr>
          <p:cNvPr id="2" name="圆角矩形 1"/>
          <p:cNvSpPr/>
          <p:nvPr/>
        </p:nvSpPr>
        <p:spPr>
          <a:xfrm>
            <a:off x="417433" y="0"/>
            <a:ext cx="4011352" cy="6858000"/>
          </a:xfrm>
          <a:prstGeom prst="roundRect">
            <a:avLst>
              <a:gd name="adj" fmla="val 0"/>
            </a:avLst>
          </a:prstGeom>
          <a:solidFill>
            <a:schemeClr val="bg1">
              <a:lumMod val="85000"/>
            </a:schemeClr>
          </a:solidFill>
          <a:ln>
            <a:noFill/>
          </a:ln>
          <a:effectLst>
            <a:outerShdw blurRad="279400" sx="101000" sy="101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dirty="0">
              <a:ln>
                <a:noFill/>
              </a:ln>
              <a:solidFill>
                <a:prstClr val="white"/>
              </a:solidFill>
              <a:effectLst/>
              <a:uLnTx/>
              <a:uFillTx/>
              <a:latin typeface="阿里巴巴普惠体 R" panose="00020600040101010101" pitchFamily="18" charset="-122"/>
              <a:ea typeface="阿里巴巴普惠体 R" panose="00020600040101010101" pitchFamily="18" charset="-122"/>
              <a:cs typeface="+mn-cs"/>
            </a:endParaRPr>
          </a:p>
        </p:txBody>
      </p:sp>
      <p:sp>
        <p:nvSpPr>
          <p:cNvPr id="3" name="圆角矩形 1"/>
          <p:cNvSpPr/>
          <p:nvPr/>
        </p:nvSpPr>
        <p:spPr>
          <a:xfrm>
            <a:off x="0" y="0"/>
            <a:ext cx="4215319" cy="6858000"/>
          </a:xfrm>
          <a:prstGeom prst="roundRect">
            <a:avLst>
              <a:gd name="adj" fmla="val 0"/>
            </a:avLst>
          </a:prstGeom>
          <a:solidFill>
            <a:schemeClr val="accent1"/>
          </a:solidFill>
          <a:ln>
            <a:noFill/>
          </a:ln>
          <a:effectLst>
            <a:outerShdw blurRad="279400" sx="101000" sy="101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dirty="0">
              <a:ln>
                <a:noFill/>
              </a:ln>
              <a:solidFill>
                <a:prstClr val="white"/>
              </a:solidFill>
              <a:effectLst/>
              <a:uLnTx/>
              <a:uFillTx/>
              <a:latin typeface="阿里巴巴普惠体 R" panose="00020600040101010101" pitchFamily="18" charset="-122"/>
              <a:ea typeface="阿里巴巴普惠体 R" panose="00020600040101010101" pitchFamily="18" charset="-122"/>
              <a:cs typeface="+mn-cs"/>
            </a:endParaRPr>
          </a:p>
        </p:txBody>
      </p:sp>
      <p:sp>
        <p:nvSpPr>
          <p:cNvPr id="4" name="矩形 3"/>
          <p:cNvSpPr/>
          <p:nvPr/>
        </p:nvSpPr>
        <p:spPr>
          <a:xfrm>
            <a:off x="6095683" y="1443841"/>
            <a:ext cx="4457718" cy="3969385"/>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2800" b="0" i="0" u="none" strike="noStrike" kern="0" cap="none" spc="0" normalizeH="0" baseline="0" noProof="0" dirty="0">
                <a:ln>
                  <a:noFill/>
                </a:ln>
                <a:solidFill>
                  <a:schemeClr val="accent1"/>
                </a:solidFill>
                <a:effectLst/>
                <a:uLnTx/>
                <a:uFillTx/>
                <a:latin typeface="阿里巴巴普惠体 R" panose="00020600040101010101" pitchFamily="18" charset="-122"/>
                <a:ea typeface="阿里巴巴普惠体 R" panose="00020600040101010101" pitchFamily="18" charset="-122"/>
              </a:rPr>
              <a:t>第一部分</a:t>
            </a:r>
            <a:endParaRPr kumimoji="0" lang="en-US" altLang="zh-CN" sz="2800" b="0" i="0" u="none" strike="noStrike" kern="0" cap="none" spc="0" normalizeH="0" baseline="0" noProof="0" dirty="0">
              <a:ln>
                <a:noFill/>
              </a:ln>
              <a:solidFill>
                <a:schemeClr val="tx1">
                  <a:lumMod val="75000"/>
                  <a:lumOff val="25000"/>
                </a:schemeClr>
              </a:solidFill>
              <a:effectLst/>
              <a:uLnTx/>
              <a:uFillTx/>
              <a:latin typeface="阿里巴巴普惠体 R" panose="00020600040101010101" pitchFamily="18" charset="-122"/>
              <a:ea typeface="阿里巴巴普惠体 R" panose="00020600040101010101" pitchFamily="18" charset="-122"/>
            </a:endParaRPr>
          </a:p>
          <a:p>
            <a:pPr marL="0" marR="0" lvl="0" indent="0" defTabSz="914400" eaLnBrk="1" fontAlgn="auto" latinLnBrk="0" hangingPunct="1">
              <a:lnSpc>
                <a:spcPct val="100000"/>
              </a:lnSpc>
              <a:spcBef>
                <a:spcPts val="0"/>
              </a:spcBef>
              <a:spcAft>
                <a:spcPts val="0"/>
              </a:spcAft>
              <a:buClrTx/>
              <a:buSzTx/>
              <a:buFontTx/>
              <a:buNone/>
              <a:defRPr/>
            </a:pPr>
            <a:endParaRPr kumimoji="0" lang="en-US" altLang="zh-CN" sz="2800" b="0" i="0" u="none" strike="noStrike" kern="0" cap="none" spc="0" normalizeH="0" baseline="0" noProof="0" dirty="0">
              <a:ln>
                <a:noFill/>
              </a:ln>
              <a:solidFill>
                <a:schemeClr val="tx1">
                  <a:lumMod val="75000"/>
                  <a:lumOff val="25000"/>
                </a:schemeClr>
              </a:solidFill>
              <a:effectLst/>
              <a:uLnTx/>
              <a:uFillTx/>
              <a:latin typeface="阿里巴巴普惠体 R" panose="00020600040101010101" pitchFamily="18" charset="-122"/>
              <a:ea typeface="阿里巴巴普惠体 R" panose="00020600040101010101" pitchFamily="18" charset="-122"/>
            </a:endParaRPr>
          </a:p>
          <a:p>
            <a:pPr marL="0" marR="0" lvl="0" indent="0" defTabSz="914400" eaLnBrk="1" fontAlgn="auto" latinLnBrk="0" hangingPunct="1">
              <a:lnSpc>
                <a:spcPct val="100000"/>
              </a:lnSpc>
              <a:spcBef>
                <a:spcPts val="0"/>
              </a:spcBef>
              <a:spcAft>
                <a:spcPts val="0"/>
              </a:spcAft>
              <a:buClrTx/>
              <a:buSzTx/>
              <a:buFontTx/>
              <a:buNone/>
              <a:defRPr/>
            </a:pPr>
            <a:r>
              <a:rPr lang="zh-CN" altLang="en-US" sz="2800" kern="0" dirty="0">
                <a:solidFill>
                  <a:schemeClr val="accent1"/>
                </a:solidFill>
                <a:latin typeface="阿里巴巴普惠体 R" panose="00020600040101010101" pitchFamily="18" charset="-122"/>
                <a:ea typeface="阿里巴巴普惠体 R" panose="00020600040101010101" pitchFamily="18" charset="-122"/>
              </a:rPr>
              <a:t>第二部分</a:t>
            </a:r>
            <a:endParaRPr kumimoji="0" lang="zh-CN" altLang="en-US" sz="2800" b="0" i="0" u="none" strike="noStrike" kern="0" cap="none" spc="0" normalizeH="0" baseline="0" noProof="0" dirty="0">
              <a:ln>
                <a:noFill/>
              </a:ln>
              <a:solidFill>
                <a:schemeClr val="tx1">
                  <a:lumMod val="75000"/>
                  <a:lumOff val="25000"/>
                </a:schemeClr>
              </a:solidFill>
              <a:effectLst/>
              <a:uLnTx/>
              <a:uFillTx/>
              <a:latin typeface="阿里巴巴普惠体 R" panose="00020600040101010101" pitchFamily="18" charset="-122"/>
              <a:ea typeface="阿里巴巴普惠体 R" panose="00020600040101010101" pitchFamily="18" charset="-122"/>
            </a:endParaRPr>
          </a:p>
          <a:p>
            <a:pPr marL="0" marR="0" lvl="0" indent="0" defTabSz="914400" eaLnBrk="1" fontAlgn="auto" latinLnBrk="0" hangingPunct="1">
              <a:lnSpc>
                <a:spcPct val="100000"/>
              </a:lnSpc>
              <a:spcBef>
                <a:spcPts val="0"/>
              </a:spcBef>
              <a:spcAft>
                <a:spcPts val="0"/>
              </a:spcAft>
              <a:buClrTx/>
              <a:buSzTx/>
              <a:buFontTx/>
              <a:buNone/>
              <a:defRPr/>
            </a:pPr>
            <a:endParaRPr kumimoji="0" lang="en-US" altLang="zh-CN" sz="2800" b="0" i="0" u="none" strike="noStrike" kern="0" cap="none" spc="0" normalizeH="0" baseline="0" noProof="0" dirty="0">
              <a:ln>
                <a:noFill/>
              </a:ln>
              <a:solidFill>
                <a:sysClr val="windowText" lastClr="000000"/>
              </a:solidFill>
              <a:effectLst/>
              <a:uLnTx/>
              <a:uFillTx/>
              <a:latin typeface="阿里巴巴普惠体 R" panose="00020600040101010101" pitchFamily="18" charset="-122"/>
              <a:ea typeface="阿里巴巴普惠体 R" panose="00020600040101010101" pitchFamily="18" charset="-122"/>
            </a:endParaRPr>
          </a:p>
          <a:p>
            <a:pPr marL="0" marR="0" lvl="0" indent="0" defTabSz="914400" eaLnBrk="1" fontAlgn="auto" latinLnBrk="0" hangingPunct="1">
              <a:lnSpc>
                <a:spcPct val="100000"/>
              </a:lnSpc>
              <a:spcBef>
                <a:spcPts val="0"/>
              </a:spcBef>
              <a:spcAft>
                <a:spcPts val="0"/>
              </a:spcAft>
              <a:buClrTx/>
              <a:buSzTx/>
              <a:buFontTx/>
              <a:buNone/>
              <a:defRPr/>
            </a:pPr>
            <a:r>
              <a:rPr lang="zh-CN" altLang="en-US" sz="2800" kern="0" dirty="0">
                <a:solidFill>
                  <a:schemeClr val="accent1"/>
                </a:solidFill>
                <a:latin typeface="阿里巴巴普惠体 R" panose="00020600040101010101" pitchFamily="18" charset="-122"/>
                <a:ea typeface="阿里巴巴普惠体 R" panose="00020600040101010101" pitchFamily="18" charset="-122"/>
              </a:rPr>
              <a:t>第三部分</a:t>
            </a:r>
            <a:endParaRPr kumimoji="0" lang="zh-CN" altLang="en-US" sz="2800" b="0" i="0" u="none" strike="noStrike" kern="0" cap="none" spc="0" normalizeH="0" baseline="0" noProof="0" dirty="0">
              <a:ln>
                <a:noFill/>
              </a:ln>
              <a:solidFill>
                <a:schemeClr val="tx1">
                  <a:lumMod val="75000"/>
                  <a:lumOff val="25000"/>
                </a:schemeClr>
              </a:solidFill>
              <a:effectLst/>
              <a:uLnTx/>
              <a:uFillTx/>
              <a:latin typeface="阿里巴巴普惠体 R" panose="00020600040101010101" pitchFamily="18" charset="-122"/>
              <a:ea typeface="阿里巴巴普惠体 R" panose="00020600040101010101" pitchFamily="18" charset="-122"/>
            </a:endParaRPr>
          </a:p>
          <a:p>
            <a:pPr marL="0" marR="0" lvl="0" indent="0" defTabSz="914400" eaLnBrk="1" fontAlgn="auto" latinLnBrk="0" hangingPunct="1">
              <a:lnSpc>
                <a:spcPct val="100000"/>
              </a:lnSpc>
              <a:spcBef>
                <a:spcPts val="0"/>
              </a:spcBef>
              <a:spcAft>
                <a:spcPts val="0"/>
              </a:spcAft>
              <a:buClrTx/>
              <a:buSzTx/>
              <a:buFontTx/>
              <a:buNone/>
              <a:defRPr/>
            </a:pPr>
            <a:endParaRPr kumimoji="0" lang="en-US" altLang="zh-CN" sz="2800" b="0" i="0" u="none" strike="noStrike" kern="0" cap="none" spc="0" normalizeH="0" baseline="0" noProof="0" dirty="0">
              <a:ln>
                <a:noFill/>
              </a:ln>
              <a:solidFill>
                <a:sysClr val="windowText" lastClr="000000"/>
              </a:solidFill>
              <a:effectLst/>
              <a:uLnTx/>
              <a:uFillTx/>
              <a:latin typeface="阿里巴巴普惠体 R" panose="00020600040101010101" pitchFamily="18" charset="-122"/>
              <a:ea typeface="阿里巴巴普惠体 R" panose="00020600040101010101" pitchFamily="18" charset="-122"/>
            </a:endParaRPr>
          </a:p>
          <a:p>
            <a:pPr marL="0" marR="0" lvl="0" indent="0" defTabSz="914400" eaLnBrk="1" fontAlgn="auto" latinLnBrk="0" hangingPunct="1">
              <a:lnSpc>
                <a:spcPct val="100000"/>
              </a:lnSpc>
              <a:spcBef>
                <a:spcPts val="0"/>
              </a:spcBef>
              <a:spcAft>
                <a:spcPts val="0"/>
              </a:spcAft>
              <a:buClrTx/>
              <a:buSzTx/>
              <a:buFontTx/>
              <a:buNone/>
              <a:defRPr/>
            </a:pPr>
            <a:r>
              <a:rPr lang="zh-CN" altLang="en-US" sz="2800" kern="0" dirty="0">
                <a:solidFill>
                  <a:schemeClr val="accent1"/>
                </a:solidFill>
                <a:latin typeface="阿里巴巴普惠体 R" panose="00020600040101010101" pitchFamily="18" charset="-122"/>
                <a:ea typeface="阿里巴巴普惠体 R" panose="00020600040101010101" pitchFamily="18" charset="-122"/>
              </a:rPr>
              <a:t>第四部分</a:t>
            </a:r>
            <a:endParaRPr kumimoji="0" lang="zh-CN" altLang="en-US" sz="2800" b="0" i="0" u="none" strike="noStrike" kern="0" cap="none" spc="0" normalizeH="0" baseline="0" noProof="0" dirty="0">
              <a:ln>
                <a:noFill/>
              </a:ln>
              <a:solidFill>
                <a:schemeClr val="tx1">
                  <a:lumMod val="75000"/>
                  <a:lumOff val="25000"/>
                </a:schemeClr>
              </a:solidFill>
              <a:effectLst/>
              <a:uLnTx/>
              <a:uFillTx/>
              <a:latin typeface="阿里巴巴普惠体 R" panose="00020600040101010101" pitchFamily="18" charset="-122"/>
              <a:ea typeface="阿里巴巴普惠体 R" panose="00020600040101010101" pitchFamily="18" charset="-122"/>
            </a:endParaRPr>
          </a:p>
          <a:p>
            <a:pPr marL="0" marR="0" lvl="0" indent="0" defTabSz="914400" eaLnBrk="1" fontAlgn="auto" latinLnBrk="0" hangingPunct="1">
              <a:lnSpc>
                <a:spcPct val="100000"/>
              </a:lnSpc>
              <a:spcBef>
                <a:spcPts val="0"/>
              </a:spcBef>
              <a:spcAft>
                <a:spcPts val="0"/>
              </a:spcAft>
              <a:buClrTx/>
              <a:buSzTx/>
              <a:buFontTx/>
              <a:buNone/>
              <a:defRPr/>
            </a:pPr>
            <a:endParaRPr kumimoji="0" lang="en-US" altLang="zh-CN" sz="2800" b="0" i="0" u="none" strike="noStrike" kern="0" cap="none" spc="0" normalizeH="0" baseline="0" noProof="0" dirty="0">
              <a:ln>
                <a:noFill/>
              </a:ln>
              <a:solidFill>
                <a:sysClr val="windowText" lastClr="000000"/>
              </a:solidFill>
              <a:effectLst/>
              <a:uLnTx/>
              <a:uFillTx/>
              <a:latin typeface="阿里巴巴普惠体 R" panose="00020600040101010101" pitchFamily="18" charset="-122"/>
              <a:ea typeface="阿里巴巴普惠体 R" panose="00020600040101010101" pitchFamily="18" charset="-122"/>
            </a:endParaRPr>
          </a:p>
          <a:p>
            <a:pPr marL="0" marR="0" lvl="0" indent="0" defTabSz="914400" eaLnBrk="1" fontAlgn="auto" latinLnBrk="0" hangingPunct="1">
              <a:lnSpc>
                <a:spcPct val="100000"/>
              </a:lnSpc>
              <a:spcBef>
                <a:spcPts val="0"/>
              </a:spcBef>
              <a:spcAft>
                <a:spcPts val="0"/>
              </a:spcAft>
              <a:buClrTx/>
              <a:buSzTx/>
              <a:buFontTx/>
              <a:buNone/>
              <a:defRPr/>
            </a:pPr>
            <a:r>
              <a:rPr lang="zh-CN" altLang="en-US" sz="2800" kern="0" dirty="0">
                <a:solidFill>
                  <a:schemeClr val="accent1"/>
                </a:solidFill>
                <a:latin typeface="阿里巴巴普惠体 R" panose="00020600040101010101" pitchFamily="18" charset="-122"/>
                <a:ea typeface="阿里巴巴普惠体 R" panose="00020600040101010101" pitchFamily="18" charset="-122"/>
              </a:rPr>
              <a:t>第五部分</a:t>
            </a:r>
            <a:endParaRPr kumimoji="0" lang="zh-CN" altLang="en-US" sz="2800" b="0" i="0" u="none" strike="noStrike" kern="0" cap="none" spc="0" normalizeH="0" baseline="0" noProof="0" dirty="0">
              <a:ln>
                <a:noFill/>
              </a:ln>
              <a:solidFill>
                <a:schemeClr val="tx1">
                  <a:lumMod val="75000"/>
                  <a:lumOff val="25000"/>
                </a:schemeClr>
              </a:solidFill>
              <a:effectLst/>
              <a:uLnTx/>
              <a:uFillTx/>
              <a:latin typeface="阿里巴巴普惠体 R" panose="00020600040101010101" pitchFamily="18" charset="-122"/>
              <a:ea typeface="阿里巴巴普惠体 R" panose="00020600040101010101" pitchFamily="18" charset="-122"/>
            </a:endParaRPr>
          </a:p>
        </p:txBody>
      </p:sp>
      <p:cxnSp>
        <p:nvCxnSpPr>
          <p:cNvPr id="5" name="直接连接符 4"/>
          <p:cNvCxnSpPr/>
          <p:nvPr/>
        </p:nvCxnSpPr>
        <p:spPr>
          <a:xfrm>
            <a:off x="6205140" y="2054375"/>
            <a:ext cx="3879195" cy="0"/>
          </a:xfrm>
          <a:prstGeom prst="line">
            <a:avLst/>
          </a:prstGeom>
          <a:noFill/>
          <a:ln w="6350" cap="flat" cmpd="sng" algn="ctr">
            <a:solidFill>
              <a:sysClr val="window" lastClr="FFFFFF">
                <a:lumMod val="75000"/>
                <a:alpha val="50000"/>
              </a:sysClr>
            </a:solidFill>
            <a:prstDash val="solid"/>
            <a:miter lim="800000"/>
          </a:ln>
          <a:effectLst/>
        </p:spPr>
      </p:cxnSp>
      <p:cxnSp>
        <p:nvCxnSpPr>
          <p:cNvPr id="6" name="直接连接符 5"/>
          <p:cNvCxnSpPr/>
          <p:nvPr/>
        </p:nvCxnSpPr>
        <p:spPr>
          <a:xfrm>
            <a:off x="6205140" y="2953017"/>
            <a:ext cx="3879195" cy="0"/>
          </a:xfrm>
          <a:prstGeom prst="line">
            <a:avLst/>
          </a:prstGeom>
          <a:noFill/>
          <a:ln w="6350" cap="flat" cmpd="sng" algn="ctr">
            <a:solidFill>
              <a:sysClr val="window" lastClr="FFFFFF">
                <a:lumMod val="75000"/>
                <a:alpha val="50000"/>
              </a:sysClr>
            </a:solidFill>
            <a:prstDash val="solid"/>
            <a:miter lim="800000"/>
          </a:ln>
          <a:effectLst/>
        </p:spPr>
      </p:cxnSp>
      <p:cxnSp>
        <p:nvCxnSpPr>
          <p:cNvPr id="7" name="直接连接符 6"/>
          <p:cNvCxnSpPr/>
          <p:nvPr/>
        </p:nvCxnSpPr>
        <p:spPr>
          <a:xfrm>
            <a:off x="6205140" y="3787602"/>
            <a:ext cx="3879195" cy="0"/>
          </a:xfrm>
          <a:prstGeom prst="line">
            <a:avLst/>
          </a:prstGeom>
          <a:noFill/>
          <a:ln w="6350" cap="flat" cmpd="sng" algn="ctr">
            <a:solidFill>
              <a:sysClr val="window" lastClr="FFFFFF">
                <a:lumMod val="75000"/>
                <a:alpha val="50000"/>
              </a:sysClr>
            </a:solidFill>
            <a:prstDash val="solid"/>
            <a:miter lim="800000"/>
          </a:ln>
          <a:effectLst/>
        </p:spPr>
      </p:cxnSp>
      <p:cxnSp>
        <p:nvCxnSpPr>
          <p:cNvPr id="8" name="直接连接符 7"/>
          <p:cNvCxnSpPr/>
          <p:nvPr/>
        </p:nvCxnSpPr>
        <p:spPr>
          <a:xfrm>
            <a:off x="6205140" y="4634838"/>
            <a:ext cx="3764894" cy="0"/>
          </a:xfrm>
          <a:prstGeom prst="line">
            <a:avLst/>
          </a:prstGeom>
          <a:noFill/>
          <a:ln w="6350" cap="flat" cmpd="sng" algn="ctr">
            <a:solidFill>
              <a:sysClr val="window" lastClr="FFFFFF">
                <a:lumMod val="75000"/>
                <a:alpha val="50000"/>
              </a:sysClr>
            </a:solidFill>
            <a:prstDash val="solid"/>
            <a:miter lim="800000"/>
          </a:ln>
          <a:effectLst/>
        </p:spPr>
      </p:cxnSp>
      <p:cxnSp>
        <p:nvCxnSpPr>
          <p:cNvPr id="9" name="直接连接符 8"/>
          <p:cNvCxnSpPr/>
          <p:nvPr/>
        </p:nvCxnSpPr>
        <p:spPr>
          <a:xfrm>
            <a:off x="6205140" y="5598309"/>
            <a:ext cx="3879195" cy="0"/>
          </a:xfrm>
          <a:prstGeom prst="line">
            <a:avLst/>
          </a:prstGeom>
          <a:noFill/>
          <a:ln w="6350" cap="flat" cmpd="sng" algn="ctr">
            <a:solidFill>
              <a:sysClr val="window" lastClr="FFFFFF">
                <a:lumMod val="75000"/>
                <a:alpha val="50000"/>
              </a:sysClr>
            </a:solidFill>
            <a:prstDash val="solid"/>
            <a:miter lim="800000"/>
          </a:ln>
          <a:effectLst/>
        </p:spPr>
      </p:cxnSp>
      <p:grpSp>
        <p:nvGrpSpPr>
          <p:cNvPr id="10" name="组合 9"/>
          <p:cNvGrpSpPr/>
          <p:nvPr/>
        </p:nvGrpSpPr>
        <p:grpSpPr>
          <a:xfrm>
            <a:off x="1129767" y="2445677"/>
            <a:ext cx="1954525" cy="1966644"/>
            <a:chOff x="1074057" y="2518270"/>
            <a:chExt cx="1954627" cy="1966644"/>
          </a:xfrm>
        </p:grpSpPr>
        <p:sp>
          <p:nvSpPr>
            <p:cNvPr id="11" name="矩形 10"/>
            <p:cNvSpPr/>
            <p:nvPr/>
          </p:nvSpPr>
          <p:spPr>
            <a:xfrm>
              <a:off x="1074057" y="2518270"/>
              <a:ext cx="1349939" cy="1966644"/>
            </a:xfrm>
            <a:prstGeom prst="rect">
              <a:avLst/>
            </a:prstGeom>
            <a:solidFill>
              <a:schemeClr val="accent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n>
                  <a:solidFill>
                    <a:schemeClr val="bg1"/>
                  </a:solidFill>
                </a:ln>
                <a:solidFill>
                  <a:srgbClr val="82318E"/>
                </a:solidFill>
                <a:ea typeface="阿里巴巴普惠体 R" panose="00020600040101010101" pitchFamily="18" charset="-122"/>
              </a:endParaRPr>
            </a:p>
          </p:txBody>
        </p:sp>
        <p:grpSp>
          <p:nvGrpSpPr>
            <p:cNvPr id="12" name="组合 11"/>
            <p:cNvGrpSpPr/>
            <p:nvPr/>
          </p:nvGrpSpPr>
          <p:grpSpPr>
            <a:xfrm>
              <a:off x="1185596" y="2891057"/>
              <a:ext cx="1843088" cy="1219701"/>
              <a:chOff x="1185596" y="2806967"/>
              <a:chExt cx="1843088" cy="1219701"/>
            </a:xfrm>
          </p:grpSpPr>
          <p:sp>
            <p:nvSpPr>
              <p:cNvPr id="13" name="文本框 12"/>
              <p:cNvSpPr txBox="1"/>
              <p:nvPr/>
            </p:nvSpPr>
            <p:spPr>
              <a:xfrm>
                <a:off x="1185596" y="2806967"/>
                <a:ext cx="1843088" cy="1014730"/>
              </a:xfrm>
              <a:prstGeom prst="rect">
                <a:avLst/>
              </a:prstGeom>
              <a:solidFill>
                <a:schemeClr val="accent1"/>
              </a:solid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zh-CN" altLang="en-US" sz="6000" b="0" i="0" u="none" strike="noStrike" kern="1200" cap="none" spc="0" normalizeH="0" baseline="0" noProof="0" dirty="0">
                    <a:ln>
                      <a:noFill/>
                    </a:ln>
                    <a:solidFill>
                      <a:schemeClr val="bg1"/>
                    </a:solidFill>
                    <a:effectLst/>
                    <a:uLnTx/>
                    <a:uFillTx/>
                    <a:latin typeface="阿里巴巴普惠体 B" panose="00020600040101010101" pitchFamily="18" charset="-122"/>
                    <a:ea typeface="阿里巴巴普惠体 B" panose="00020600040101010101" pitchFamily="18" charset="-122"/>
                  </a:rPr>
                  <a:t>目录</a:t>
                </a:r>
                <a:endParaRPr kumimoji="0" lang="zh-CN" altLang="en-US" sz="6000" b="0" i="0" u="none" strike="noStrike" kern="1200" cap="none" spc="0" normalizeH="0" baseline="0" noProof="0" dirty="0">
                  <a:ln>
                    <a:noFill/>
                  </a:ln>
                  <a:solidFill>
                    <a:schemeClr val="bg1"/>
                  </a:solidFill>
                  <a:effectLst/>
                  <a:uLnTx/>
                  <a:uFillTx/>
                  <a:latin typeface="阿里巴巴普惠体 B" panose="00020600040101010101" pitchFamily="18" charset="-122"/>
                  <a:ea typeface="阿里巴巴普惠体 B" panose="00020600040101010101" pitchFamily="18" charset="-122"/>
                </a:endParaRPr>
              </a:p>
            </p:txBody>
          </p:sp>
          <p:sp>
            <p:nvSpPr>
              <p:cNvPr id="14" name="文本框 13"/>
              <p:cNvSpPr txBox="1"/>
              <p:nvPr/>
            </p:nvSpPr>
            <p:spPr>
              <a:xfrm>
                <a:off x="1305170" y="3689483"/>
                <a:ext cx="1536282" cy="337185"/>
              </a:xfrm>
              <a:prstGeom prst="rect">
                <a:avLst/>
              </a:prstGeom>
              <a:solidFill>
                <a:schemeClr val="accent1"/>
              </a:solid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1600" i="0" u="none" strike="noStrike" kern="1200" cap="none" spc="0" normalizeH="0" baseline="0" noProof="0" dirty="0">
                    <a:ln>
                      <a:noFill/>
                    </a:ln>
                    <a:solidFill>
                      <a:schemeClr val="bg1"/>
                    </a:solidFill>
                    <a:effectLst/>
                    <a:uLnTx/>
                    <a:uFillTx/>
                    <a:latin typeface="阿里巴巴普惠体 R" panose="00020600040101010101" pitchFamily="18" charset="-122"/>
                    <a:ea typeface="阿里巴巴普惠体 R" panose="00020600040101010101" pitchFamily="18" charset="-122"/>
                  </a:rPr>
                  <a:t>CONTENTS</a:t>
                </a:r>
                <a:endParaRPr kumimoji="0" lang="zh-CN" altLang="en-US" sz="1600" i="0" u="none" strike="noStrike" kern="1200" cap="none" spc="0" normalizeH="0" baseline="0" noProof="0" dirty="0">
                  <a:ln>
                    <a:noFill/>
                  </a:ln>
                  <a:solidFill>
                    <a:schemeClr val="bg1"/>
                  </a:solidFill>
                  <a:effectLst/>
                  <a:uLnTx/>
                  <a:uFillTx/>
                  <a:latin typeface="阿里巴巴普惠体 R" panose="00020600040101010101" pitchFamily="18" charset="-122"/>
                  <a:ea typeface="阿里巴巴普惠体 R" panose="00020600040101010101" pitchFamily="18" charset="-122"/>
                </a:endParaRPr>
              </a:p>
            </p:txBody>
          </p:sp>
        </p:grpSp>
      </p:grpSp>
      <p:sp>
        <p:nvSpPr>
          <p:cNvPr id="44" name="文本占位符 43"/>
          <p:cNvSpPr>
            <a:spLocks noGrp="1"/>
          </p:cNvSpPr>
          <p:nvPr>
            <p:ph type="body" sz="quarter" idx="10" hasCustomPrompt="1"/>
          </p:nvPr>
        </p:nvSpPr>
        <p:spPr>
          <a:xfrm>
            <a:off x="7705324" y="1466850"/>
            <a:ext cx="2379539" cy="419100"/>
          </a:xfrm>
          <a:prstGeom prst="rect">
            <a:avLst/>
          </a:prstGeom>
        </p:spPr>
        <p:txBody>
          <a:bodyPr/>
          <a:lstStyle>
            <a:lvl1pPr marL="0" indent="0">
              <a:buNone/>
              <a:defRPr>
                <a:solidFill>
                  <a:schemeClr val="tx1">
                    <a:lumMod val="85000"/>
                    <a:lumOff val="15000"/>
                  </a:schemeClr>
                </a:solidFill>
                <a:ea typeface="阿里巴巴普惠体 R" panose="00020600040101010101" pitchFamily="18" charset="-122"/>
              </a:defRPr>
            </a:lvl1pPr>
          </a:lstStyle>
          <a:p>
            <a:pPr lvl="0"/>
            <a:r>
              <a:rPr lang="zh-CN" altLang="en-US" dirty="0"/>
              <a:t>编辑母版文本</a:t>
            </a:r>
            <a:endParaRPr lang="zh-CN" altLang="en-US" dirty="0"/>
          </a:p>
        </p:txBody>
      </p:sp>
      <p:sp>
        <p:nvSpPr>
          <p:cNvPr id="45" name="文本占位符 43"/>
          <p:cNvSpPr>
            <a:spLocks noGrp="1"/>
          </p:cNvSpPr>
          <p:nvPr>
            <p:ph type="body" sz="quarter" idx="11" hasCustomPrompt="1"/>
          </p:nvPr>
        </p:nvSpPr>
        <p:spPr>
          <a:xfrm>
            <a:off x="7705324" y="2319725"/>
            <a:ext cx="2379539" cy="419100"/>
          </a:xfrm>
          <a:prstGeom prst="rect">
            <a:avLst/>
          </a:prstGeom>
        </p:spPr>
        <p:txBody>
          <a:bodyPr/>
          <a:lstStyle>
            <a:lvl1pPr marL="0" indent="0">
              <a:buNone/>
              <a:defRPr>
                <a:solidFill>
                  <a:schemeClr val="tx1">
                    <a:lumMod val="85000"/>
                    <a:lumOff val="15000"/>
                  </a:schemeClr>
                </a:solidFill>
                <a:ea typeface="阿里巴巴普惠体 R" panose="00020600040101010101" pitchFamily="18" charset="-122"/>
              </a:defRPr>
            </a:lvl1pPr>
          </a:lstStyle>
          <a:p>
            <a:pPr lvl="0"/>
            <a:r>
              <a:rPr lang="zh-CN" altLang="en-US" dirty="0"/>
              <a:t>编辑母版文本</a:t>
            </a:r>
            <a:endParaRPr lang="zh-CN" altLang="en-US" dirty="0"/>
          </a:p>
        </p:txBody>
      </p:sp>
      <p:sp>
        <p:nvSpPr>
          <p:cNvPr id="46" name="文本占位符 43"/>
          <p:cNvSpPr>
            <a:spLocks noGrp="1"/>
          </p:cNvSpPr>
          <p:nvPr>
            <p:ph type="body" sz="quarter" idx="12" hasCustomPrompt="1"/>
          </p:nvPr>
        </p:nvSpPr>
        <p:spPr>
          <a:xfrm>
            <a:off x="7705324" y="3185301"/>
            <a:ext cx="2379539" cy="419100"/>
          </a:xfrm>
          <a:prstGeom prst="rect">
            <a:avLst/>
          </a:prstGeom>
        </p:spPr>
        <p:txBody>
          <a:bodyPr/>
          <a:lstStyle>
            <a:lvl1pPr marL="0" indent="0">
              <a:buNone/>
              <a:defRPr>
                <a:solidFill>
                  <a:schemeClr val="tx1">
                    <a:lumMod val="85000"/>
                    <a:lumOff val="15000"/>
                  </a:schemeClr>
                </a:solidFill>
                <a:ea typeface="阿里巴巴普惠体 R" panose="00020600040101010101" pitchFamily="18" charset="-122"/>
              </a:defRPr>
            </a:lvl1pPr>
          </a:lstStyle>
          <a:p>
            <a:pPr lvl="0"/>
            <a:r>
              <a:rPr lang="zh-CN" altLang="en-US" dirty="0"/>
              <a:t>编辑母版文本</a:t>
            </a:r>
            <a:endParaRPr lang="zh-CN" altLang="en-US" dirty="0"/>
          </a:p>
        </p:txBody>
      </p:sp>
      <p:sp>
        <p:nvSpPr>
          <p:cNvPr id="47" name="文本占位符 43"/>
          <p:cNvSpPr>
            <a:spLocks noGrp="1"/>
          </p:cNvSpPr>
          <p:nvPr>
            <p:ph type="body" sz="quarter" idx="13" hasCustomPrompt="1"/>
          </p:nvPr>
        </p:nvSpPr>
        <p:spPr>
          <a:xfrm>
            <a:off x="7705324" y="4039534"/>
            <a:ext cx="2379539" cy="419100"/>
          </a:xfrm>
          <a:prstGeom prst="rect">
            <a:avLst/>
          </a:prstGeom>
        </p:spPr>
        <p:txBody>
          <a:bodyPr/>
          <a:lstStyle>
            <a:lvl1pPr marL="0" indent="0">
              <a:buNone/>
              <a:defRPr>
                <a:solidFill>
                  <a:schemeClr val="tx1">
                    <a:lumMod val="85000"/>
                    <a:lumOff val="15000"/>
                  </a:schemeClr>
                </a:solidFill>
                <a:ea typeface="阿里巴巴普惠体 R" panose="00020600040101010101" pitchFamily="18" charset="-122"/>
              </a:defRPr>
            </a:lvl1pPr>
          </a:lstStyle>
          <a:p>
            <a:pPr lvl="0"/>
            <a:r>
              <a:rPr lang="zh-CN" altLang="en-US" dirty="0"/>
              <a:t>编辑母版文本</a:t>
            </a:r>
            <a:endParaRPr lang="zh-CN" altLang="en-US" dirty="0"/>
          </a:p>
        </p:txBody>
      </p:sp>
      <p:sp>
        <p:nvSpPr>
          <p:cNvPr id="48" name="文本占位符 43"/>
          <p:cNvSpPr>
            <a:spLocks noGrp="1"/>
          </p:cNvSpPr>
          <p:nvPr>
            <p:ph type="body" sz="quarter" idx="14" hasCustomPrompt="1"/>
          </p:nvPr>
        </p:nvSpPr>
        <p:spPr>
          <a:xfrm>
            <a:off x="7705324" y="4876072"/>
            <a:ext cx="2379539" cy="419100"/>
          </a:xfrm>
          <a:prstGeom prst="rect">
            <a:avLst/>
          </a:prstGeom>
        </p:spPr>
        <p:txBody>
          <a:bodyPr/>
          <a:lstStyle>
            <a:lvl1pPr marL="0" indent="0">
              <a:buNone/>
              <a:defRPr>
                <a:solidFill>
                  <a:schemeClr val="tx1">
                    <a:lumMod val="85000"/>
                    <a:lumOff val="15000"/>
                  </a:schemeClr>
                </a:solidFill>
                <a:ea typeface="阿里巴巴普惠体 R" panose="00020600040101010101" pitchFamily="18" charset="-122"/>
              </a:defRPr>
            </a:lvl1pPr>
          </a:lstStyle>
          <a:p>
            <a:pPr lvl="0"/>
            <a:r>
              <a:rPr lang="zh-CN" altLang="en-US" dirty="0"/>
              <a:t>编辑母版文本</a:t>
            </a:r>
            <a:endParaRPr lang="zh-CN" altLang="en-US" dirty="0"/>
          </a:p>
        </p:txBody>
      </p:sp>
    </p:spTree>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30F7DDDA-60DE-45CF-B9B0-213B385F11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EC9FF8B-E8C3-4A1C-A141-405D604215BE}" type="slidenum">
              <a:rPr lang="zh-CN" altLang="en-US" smtClean="0"/>
            </a:fld>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30F7DDDA-60DE-45CF-B9B0-213B385F11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EC9FF8B-E8C3-4A1C-A141-405D604215BE}" type="slidenum">
              <a:rPr lang="zh-CN" altLang="en-US" smtClean="0"/>
            </a:fld>
            <a:endParaRPr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30F7DDDA-60DE-45CF-B9B0-213B385F11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EC9FF8B-E8C3-4A1C-A141-405D604215BE}" type="slidenum">
              <a:rPr lang="zh-CN" altLang="en-US" smtClean="0"/>
            </a:fld>
            <a:endParaRPr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30F7DDDA-60DE-45CF-B9B0-213B385F11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EC9FF8B-E8C3-4A1C-A141-405D604215BE}" type="slidenum">
              <a:rPr lang="zh-CN" altLang="en-US" smtClean="0"/>
            </a:fld>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30F7DDDA-60DE-45CF-B9B0-213B385F11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CEC9FF8B-E8C3-4A1C-A141-405D604215BE}" type="slidenum">
              <a:rPr lang="zh-CN" altLang="en-US" smtClean="0"/>
            </a:fld>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30F7DDDA-60DE-45CF-B9B0-213B385F11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CEC9FF8B-E8C3-4A1C-A141-405D604215BE}" type="slidenum">
              <a:rPr lang="zh-CN" altLang="en-US" smtClean="0"/>
            </a:fld>
            <a:endParaRPr lang="zh-CN"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0F7DDDA-60DE-45CF-B9B0-213B385F11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CEC9FF8B-E8C3-4A1C-A141-405D604215BE}" type="slidenum">
              <a:rPr lang="zh-CN" altLang="en-US" smtClean="0"/>
            </a:fld>
            <a:endParaRPr lang="zh-CN"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30F7DDDA-60DE-45CF-B9B0-213B385F11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EC9FF8B-E8C3-4A1C-A141-405D604215BE}" type="slidenum">
              <a:rPr lang="zh-CN" altLang="en-US" smtClean="0"/>
            </a:fld>
            <a:endParaRPr lang="zh-CN" alt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30F7DDDA-60DE-45CF-B9B0-213B385F11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EC9FF8B-E8C3-4A1C-A141-405D604215BE}" type="slidenum">
              <a:rPr lang="zh-CN" altLang="en-US" smtClean="0"/>
            </a:fld>
            <a:endParaRPr lang="zh-CN" alt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30F7DDDA-60DE-45CF-B9B0-213B385F11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EC9FF8B-E8C3-4A1C-A141-405D604215BE}" type="slidenum">
              <a:rPr lang="zh-CN" altLang="en-US" smtClean="0"/>
            </a:fld>
            <a:endParaRPr lang="zh-CN" alt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30F7DDDA-60DE-45CF-B9B0-213B385F11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EC9FF8B-E8C3-4A1C-A141-405D604215BE}" type="slidenum">
              <a:rPr lang="zh-CN" altLang="en-US" smtClean="0"/>
            </a:fld>
            <a:endParaRPr lang="zh-CN" alt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6939" y="611124"/>
            <a:ext cx="7696834" cy="695960"/>
          </a:xfrm>
          <a:prstGeom prst="rect">
            <a:avLst/>
          </a:prstGeom>
        </p:spPr>
        <p:txBody>
          <a:bodyPr wrap="square" lIns="0" tIns="0" rIns="0" bIns="0">
            <a:spAutoFit/>
          </a:bodyPr>
          <a:lstStyle>
            <a:lvl1pPr>
              <a:defRPr sz="4400" b="0" i="0">
                <a:solidFill>
                  <a:schemeClr val="tx1"/>
                </a:solidFill>
                <a:latin typeface="Calibri Light"/>
                <a:cs typeface="Calibri Light"/>
              </a:defRPr>
            </a:lvl1pPr>
          </a:lstStyle>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1800" b="0" i="0">
                <a:solidFill>
                  <a:schemeClr val="tx1"/>
                </a:solidFill>
                <a:latin typeface="Calibri"/>
                <a:cs typeface="Calibri"/>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Calibri Light"/>
                <a:cs typeface="Calibri Light"/>
              </a:defRPr>
            </a:lvl1pPr>
          </a:lstStyle>
          <a:p/>
        </p:txBody>
      </p:sp>
      <p:sp>
        <p:nvSpPr>
          <p:cNvPr id="3" name="Holder 3"/>
          <p:cNvSpPr>
            <a:spLocks noGrp="1"/>
          </p:cNvSpPr>
          <p:nvPr>
            <p:ph type="body" idx="1"/>
          </p:nvPr>
        </p:nvSpPr>
        <p:spPr/>
        <p:txBody>
          <a:bodyPr lIns="0" tIns="0" rIns="0" bIns="0"/>
          <a:lstStyle>
            <a:lvl1pPr>
              <a:defRPr sz="1800" b="0" i="0">
                <a:solidFill>
                  <a:schemeClr val="tx1"/>
                </a:solidFill>
                <a:latin typeface="Calibri"/>
                <a:cs typeface="Calibri"/>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Calibri Light"/>
                <a:cs typeface="Calibri Light"/>
              </a:defRPr>
            </a:lvl1pPr>
          </a:lstStyle>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Calibri Light"/>
                <a:cs typeface="Calibri Light"/>
              </a:defRPr>
            </a:lvl1pPr>
          </a:lstStyle>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showMasterSp="0">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5715000" y="1959864"/>
            <a:ext cx="4093463" cy="2103119"/>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4.png"/><Relationship Id="rId13" Type="http://schemas.openxmlformats.org/officeDocument/2006/relationships/tags" Target="../tags/tag7.xml"/><Relationship Id="rId12" Type="http://schemas.openxmlformats.org/officeDocument/2006/relationships/image" Target="../media/image3.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9" Type="http://schemas.openxmlformats.org/officeDocument/2006/relationships/theme" Target="../theme/theme2.xml"/><Relationship Id="rId18" Type="http://schemas.openxmlformats.org/officeDocument/2006/relationships/tags" Target="../tags/tag69.xml"/><Relationship Id="rId17" Type="http://schemas.openxmlformats.org/officeDocument/2006/relationships/tags" Target="../tags/tag68.xml"/><Relationship Id="rId16" Type="http://schemas.openxmlformats.org/officeDocument/2006/relationships/tags" Target="../tags/tag67.xml"/><Relationship Id="rId15" Type="http://schemas.openxmlformats.org/officeDocument/2006/relationships/tags" Target="../tags/tag66.xml"/><Relationship Id="rId14" Type="http://schemas.openxmlformats.org/officeDocument/2006/relationships/tags" Target="../tags/tag65.xml"/><Relationship Id="rId13" Type="http://schemas.openxmlformats.org/officeDocument/2006/relationships/tags" Target="../tags/tag64.xml"/><Relationship Id="rId12" Type="http://schemas.openxmlformats.org/officeDocument/2006/relationships/slideLayout" Target="../slideLayouts/slideLayout2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2.xml"/><Relationship Id="rId8" Type="http://schemas.openxmlformats.org/officeDocument/2006/relationships/slideLayout" Target="../slideLayouts/slideLayout31.xml"/><Relationship Id="rId7" Type="http://schemas.openxmlformats.org/officeDocument/2006/relationships/slideLayout" Target="../slideLayouts/slideLayout30.xml"/><Relationship Id="rId6" Type="http://schemas.openxmlformats.org/officeDocument/2006/relationships/slideLayout" Target="../slideLayouts/slideLayout29.xml"/><Relationship Id="rId5" Type="http://schemas.openxmlformats.org/officeDocument/2006/relationships/slideLayout" Target="../slideLayouts/slideLayout28.xml"/><Relationship Id="rId4" Type="http://schemas.openxmlformats.org/officeDocument/2006/relationships/slideLayout" Target="../slideLayouts/slideLayout27.xml"/><Relationship Id="rId3" Type="http://schemas.openxmlformats.org/officeDocument/2006/relationships/slideLayout" Target="../slideLayouts/slideLayout26.xml"/><Relationship Id="rId2" Type="http://schemas.openxmlformats.org/officeDocument/2006/relationships/slideLayout" Target="../slideLayouts/slideLayout25.xml"/><Relationship Id="rId12" Type="http://schemas.openxmlformats.org/officeDocument/2006/relationships/theme" Target="../theme/theme3.xml"/><Relationship Id="rId11" Type="http://schemas.openxmlformats.org/officeDocument/2006/relationships/slideLayout" Target="../slideLayouts/slideLayout34.xml"/><Relationship Id="rId10" Type="http://schemas.openxmlformats.org/officeDocument/2006/relationships/slideLayout" Target="../slideLayouts/slideLayout33.xml"/><Relationship Id="rId1" Type="http://schemas.openxmlformats.org/officeDocument/2006/relationships/slideLayout" Target="../slideLayouts/slideLayout24.xml"/></Relationships>
</file>

<file path=ppt/slideMasters/_rels/slideMaster4.xml.rels><?xml version="1.0" encoding="UTF-8" standalone="yes"?>
<Relationships xmlns="http://schemas.openxmlformats.org/package/2006/relationships"><Relationship Id="rId6" Type="http://schemas.openxmlformats.org/officeDocument/2006/relationships/theme" Target="../theme/theme4.xml"/><Relationship Id="rId5" Type="http://schemas.openxmlformats.org/officeDocument/2006/relationships/slideLayout" Target="../slideLayouts/slideLayout39.xml"/><Relationship Id="rId4" Type="http://schemas.openxmlformats.org/officeDocument/2006/relationships/slideLayout" Target="../slideLayouts/slideLayout38.xml"/><Relationship Id="rId3" Type="http://schemas.openxmlformats.org/officeDocument/2006/relationships/slideLayout" Target="../slideLayouts/slideLayout37.xml"/><Relationship Id="rId2" Type="http://schemas.openxmlformats.org/officeDocument/2006/relationships/slideLayout" Target="../slideLayouts/slideLayout36.xml"/><Relationship Id="rId1"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7" name="图片 2" descr="剪影蓝 低版本"/>
          <p:cNvPicPr>
            <a:picLocks noChangeAspect="1"/>
          </p:cNvPicPr>
          <p:nvPr userDrawn="1"/>
        </p:nvPicPr>
        <p:blipFill>
          <a:blip r:embed="rId12"/>
          <a:srcRect l="-8"/>
          <a:stretch>
            <a:fillRect/>
          </a:stretch>
        </p:blipFill>
        <p:spPr>
          <a:xfrm>
            <a:off x="1353" y="5378386"/>
            <a:ext cx="12190495" cy="2438099"/>
          </a:xfrm>
          <a:prstGeom prst="rect">
            <a:avLst/>
          </a:prstGeom>
          <a:noFill/>
          <a:ln w="9525">
            <a:noFill/>
          </a:ln>
        </p:spPr>
      </p:pic>
      <p:sp>
        <p:nvSpPr>
          <p:cNvPr id="18" name="矩形 17"/>
          <p:cNvSpPr/>
          <p:nvPr userDrawn="1">
            <p:custDataLst>
              <p:tags r:id="rId13"/>
            </p:custDataLst>
          </p:nvPr>
        </p:nvSpPr>
        <p:spPr>
          <a:xfrm>
            <a:off x="1353" y="600"/>
            <a:ext cx="12190495" cy="840002"/>
          </a:xfrm>
          <a:prstGeom prst="rect">
            <a:avLst/>
          </a:prstGeom>
          <a:gradFill>
            <a:gsLst>
              <a:gs pos="0">
                <a:schemeClr val="bg1"/>
              </a:gs>
              <a:gs pos="50000">
                <a:srgbClr val="5399D4"/>
              </a:gs>
              <a:gs pos="100000">
                <a:srgbClr val="2E3C63"/>
              </a:gs>
            </a:gsLst>
          </a:gradFill>
          <a:effectLst/>
        </p:spPr>
        <p:style>
          <a:lnRef idx="0">
            <a:srgbClr val="FFFFFF"/>
          </a:lnRef>
          <a:fillRef idx="2">
            <a:schemeClr val="accent1"/>
          </a:fillRef>
          <a:effectRef idx="1">
            <a:schemeClr val="accent1"/>
          </a:effectRef>
          <a:fontRef idx="minor">
            <a:schemeClr val="lt1"/>
          </a:fontRef>
        </p:style>
        <p:txBody>
          <a:bodyPr rtlCol="0" anchor="ctr"/>
          <a:lstStyle/>
          <a:p>
            <a:pPr algn="ctr" fontAlgn="base"/>
            <a:endParaRPr lang="zh-CN" altLang="en-US" sz="100" strike="noStrike" noProof="1"/>
          </a:p>
        </p:txBody>
      </p:sp>
      <p:pic>
        <p:nvPicPr>
          <p:cNvPr id="19" name="图片 18" descr="国科大标准Logo横式一（白色）"/>
          <p:cNvPicPr>
            <a:picLocks noChangeAspect="1"/>
          </p:cNvPicPr>
          <p:nvPr userDrawn="1"/>
        </p:nvPicPr>
        <p:blipFill>
          <a:blip r:embed="rId14"/>
          <a:stretch>
            <a:fillRect/>
          </a:stretch>
        </p:blipFill>
        <p:spPr>
          <a:xfrm>
            <a:off x="9815971" y="187901"/>
            <a:ext cx="2167622" cy="457144"/>
          </a:xfrm>
          <a:prstGeom prst="rect">
            <a:avLst/>
          </a:prstGeom>
        </p:spPr>
      </p:pic>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EB98DE7-6DF2-4135-891A-68191D47F8C6}"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14232" y="6538912"/>
            <a:ext cx="2743200" cy="365125"/>
          </a:xfrm>
          <a:prstGeom prst="rect">
            <a:avLst/>
          </a:prstGeom>
        </p:spPr>
        <p:txBody>
          <a:bodyPr vert="horz" lIns="91440" tIns="45720" rIns="91440" bIns="45720" rtlCol="0" anchor="ctr"/>
          <a:lstStyle>
            <a:lvl1pPr algn="r">
              <a:defRPr sz="1400" b="1">
                <a:solidFill>
                  <a:schemeClr val="tx1">
                    <a:tint val="75000"/>
                  </a:schemeClr>
                </a:solidFill>
                <a:latin typeface="黑体" panose="02010609060101010101" pitchFamily="49" charset="-122"/>
                <a:ea typeface="黑体" panose="02010609060101010101" pitchFamily="49" charset="-122"/>
              </a:defRPr>
            </a:lvl1pPr>
          </a:lstStyle>
          <a:p>
            <a:fld id="{470C90B3-9A4D-4AD5-B236-23D969D35065}" type="slidenum">
              <a:rPr lang="zh-CN" altLang="en-US" smtClean="0"/>
            </a:fld>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3"/>
            </p:custDataLst>
          </p:nvPr>
        </p:nvSpPr>
        <p:spPr>
          <a:xfrm>
            <a:off x="608368" y="608400"/>
            <a:ext cx="10968629"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4"/>
            </p:custDataLst>
          </p:nvPr>
        </p:nvSpPr>
        <p:spPr>
          <a:xfrm>
            <a:off x="608368" y="1490400"/>
            <a:ext cx="10968629"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5"/>
            </p:custDataLst>
          </p:nvPr>
        </p:nvSpPr>
        <p:spPr>
          <a:xfrm>
            <a:off x="611968" y="6314400"/>
            <a:ext cx="2699859"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5BCAD085-E8A6-8845-BD4E-CB4CCA059FC4}" type="datetimeFigureOut">
              <a:rPr lang="en-US" smtClean="0"/>
            </a:fld>
            <a:endParaRPr lang="en-US"/>
          </a:p>
        </p:txBody>
      </p:sp>
      <p:sp>
        <p:nvSpPr>
          <p:cNvPr id="5" name="页脚占位符 4"/>
          <p:cNvSpPr>
            <a:spLocks noGrp="1"/>
          </p:cNvSpPr>
          <p:nvPr>
            <p:ph type="ftr" sz="quarter" idx="3"/>
            <p:custDataLst>
              <p:tags r:id="rId16"/>
            </p:custDataLst>
          </p:nvPr>
        </p:nvSpPr>
        <p:spPr>
          <a:xfrm>
            <a:off x="4115786" y="6314400"/>
            <a:ext cx="3959794"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en-US"/>
          </a:p>
        </p:txBody>
      </p:sp>
      <p:sp>
        <p:nvSpPr>
          <p:cNvPr id="6" name="灯片编号占位符 5"/>
          <p:cNvSpPr>
            <a:spLocks noGrp="1"/>
          </p:cNvSpPr>
          <p:nvPr>
            <p:ph type="sldNum" sz="quarter" idx="4"/>
            <p:custDataLst>
              <p:tags r:id="rId17"/>
            </p:custDataLst>
          </p:nvPr>
        </p:nvSpPr>
        <p:spPr>
          <a:xfrm>
            <a:off x="8877138" y="6314400"/>
            <a:ext cx="2699859"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C1FF6DA9-008F-8B48-92A6-B652298478BF}" type="slidenum">
              <a:rPr lang="en-US" smtClean="0"/>
            </a:fld>
            <a:endParaRPr lang="en-US"/>
          </a:p>
        </p:txBody>
      </p:sp>
    </p:spTree>
    <p:custDataLst>
      <p:tags r:id="rId18"/>
    </p:custData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sldNum="0" hdr="0" ftr="0" dt="0"/>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9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9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9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9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0F7DDDA-60DE-45CF-B9B0-213B385F11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EC9FF8B-E8C3-4A1C-A141-405D604215BE}"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916939" y="611124"/>
            <a:ext cx="10821670" cy="695960"/>
          </a:xfrm>
          <a:prstGeom prst="rect">
            <a:avLst/>
          </a:prstGeom>
        </p:spPr>
        <p:txBody>
          <a:bodyPr wrap="square" lIns="0" tIns="0" rIns="0" bIns="0">
            <a:spAutoFit/>
          </a:bodyPr>
          <a:lstStyle>
            <a:lvl1pPr>
              <a:defRPr sz="4400" b="0" i="0">
                <a:solidFill>
                  <a:schemeClr val="tx1"/>
                </a:solidFill>
                <a:latin typeface="Calibri Light"/>
                <a:cs typeface="Calibri Light"/>
              </a:defRPr>
            </a:lvl1pPr>
          </a:lstStyle>
          <a:p/>
        </p:txBody>
      </p:sp>
      <p:sp>
        <p:nvSpPr>
          <p:cNvPr id="3" name="Holder 3"/>
          <p:cNvSpPr>
            <a:spLocks noGrp="1"/>
          </p:cNvSpPr>
          <p:nvPr>
            <p:ph type="body" idx="1"/>
          </p:nvPr>
        </p:nvSpPr>
        <p:spPr>
          <a:xfrm>
            <a:off x="916939" y="1637487"/>
            <a:ext cx="6718300" cy="3570604"/>
          </a:xfrm>
          <a:prstGeom prst="rect">
            <a:avLst/>
          </a:prstGeom>
        </p:spPr>
        <p:txBody>
          <a:bodyPr wrap="square" lIns="0" tIns="0" rIns="0" bIns="0">
            <a:spAutoFit/>
          </a:bodyPr>
          <a:lstStyle>
            <a:lvl1pPr>
              <a:defRPr sz="1800" b="0" i="0">
                <a:solidFill>
                  <a:schemeClr val="tx1"/>
                </a:solidFill>
                <a:latin typeface="Calibri"/>
                <a:cs typeface="Calibri"/>
              </a:defRPr>
            </a:lvl1pPr>
          </a:lstStyle>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fld>
            <a:endParaRPr/>
          </a:p>
        </p:txBody>
      </p:sp>
    </p:spTree>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tags" Target="../tags/tag70.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7.xml"/><Relationship Id="rId2" Type="http://schemas.openxmlformats.org/officeDocument/2006/relationships/tags" Target="../tags/tag71.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9" Type="http://schemas.openxmlformats.org/officeDocument/2006/relationships/image" Target="../media/image7.png"/><Relationship Id="rId8" Type="http://schemas.openxmlformats.org/officeDocument/2006/relationships/tags" Target="../tags/tag76.xml"/><Relationship Id="rId7" Type="http://schemas.openxmlformats.org/officeDocument/2006/relationships/image" Target="../media/image6.png"/><Relationship Id="rId6" Type="http://schemas.openxmlformats.org/officeDocument/2006/relationships/tags" Target="../tags/tag75.xml"/><Relationship Id="rId5" Type="http://schemas.openxmlformats.org/officeDocument/2006/relationships/tags" Target="../tags/tag74.xml"/><Relationship Id="rId4" Type="http://schemas.openxmlformats.org/officeDocument/2006/relationships/tags" Target="../tags/tag73.xml"/><Relationship Id="rId3" Type="http://schemas.openxmlformats.org/officeDocument/2006/relationships/image" Target="../media/image4.png"/><Relationship Id="rId2" Type="http://schemas.openxmlformats.org/officeDocument/2006/relationships/tags" Target="../tags/tag72.xml"/><Relationship Id="rId11" Type="http://schemas.openxmlformats.org/officeDocument/2006/relationships/notesSlide" Target="../notesSlides/notesSlide3.xml"/><Relationship Id="rId10" Type="http://schemas.openxmlformats.org/officeDocument/2006/relationships/slideLayout" Target="../slideLayouts/slideLayout2.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tags" Target="../tags/tag81.xml"/><Relationship Id="rId7" Type="http://schemas.openxmlformats.org/officeDocument/2006/relationships/image" Target="../media/image8.png"/><Relationship Id="rId6" Type="http://schemas.openxmlformats.org/officeDocument/2006/relationships/tags" Target="../tags/tag80.xml"/><Relationship Id="rId5" Type="http://schemas.openxmlformats.org/officeDocument/2006/relationships/tags" Target="../tags/tag79.xml"/><Relationship Id="rId4" Type="http://schemas.openxmlformats.org/officeDocument/2006/relationships/tags" Target="../tags/tag78.xml"/><Relationship Id="rId3" Type="http://schemas.openxmlformats.org/officeDocument/2006/relationships/image" Target="../media/image4.png"/><Relationship Id="rId2" Type="http://schemas.openxmlformats.org/officeDocument/2006/relationships/tags" Target="../tags/tag77.xml"/><Relationship Id="rId10" Type="http://schemas.openxmlformats.org/officeDocument/2006/relationships/notesSlide" Target="../notesSlides/notesSlide4.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7" Type="http://schemas.openxmlformats.org/officeDocument/2006/relationships/notesSlide" Target="../notesSlides/notesSlide5.xml"/><Relationship Id="rId6"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tags" Target="../tags/tag85.xml"/><Relationship Id="rId3" Type="http://schemas.openxmlformats.org/officeDocument/2006/relationships/tags" Target="../tags/tag84.xml"/><Relationship Id="rId2" Type="http://schemas.openxmlformats.org/officeDocument/2006/relationships/tags" Target="../tags/tag83.xml"/><Relationship Id="rId1" Type="http://schemas.openxmlformats.org/officeDocument/2006/relationships/tags" Target="../tags/tag82.xml"/></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3.xml"/><Relationship Id="rId4" Type="http://schemas.openxmlformats.org/officeDocument/2006/relationships/tags" Target="../tags/tag88.xml"/><Relationship Id="rId3" Type="http://schemas.openxmlformats.org/officeDocument/2006/relationships/image" Target="../media/image10.png"/><Relationship Id="rId2" Type="http://schemas.openxmlformats.org/officeDocument/2006/relationships/tags" Target="../tags/tag87.xml"/><Relationship Id="rId1" Type="http://schemas.openxmlformats.org/officeDocument/2006/relationships/tags" Target="../tags/tag86.xml"/></Relationships>
</file>

<file path=ppt/slides/_rels/slide7.xml.rels><?xml version="1.0" encoding="UTF-8" standalone="yes"?>
<Relationships xmlns="http://schemas.openxmlformats.org/package/2006/relationships"><Relationship Id="rId8" Type="http://schemas.openxmlformats.org/officeDocument/2006/relationships/notesSlide" Target="../notesSlides/notesSlide7.xml"/><Relationship Id="rId7"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tags" Target="../tags/tag92.xml"/><Relationship Id="rId4" Type="http://schemas.openxmlformats.org/officeDocument/2006/relationships/image" Target="../media/image11.png"/><Relationship Id="rId3" Type="http://schemas.openxmlformats.org/officeDocument/2006/relationships/tags" Target="../tags/tag91.xml"/><Relationship Id="rId2" Type="http://schemas.openxmlformats.org/officeDocument/2006/relationships/tags" Target="../tags/tag90.xml"/><Relationship Id="rId1" Type="http://schemas.openxmlformats.org/officeDocument/2006/relationships/tags" Target="../tags/tag89.xml"/></Relationships>
</file>

<file path=ppt/slides/_rels/slide8.xml.rels><?xml version="1.0" encoding="UTF-8" standalone="yes"?>
<Relationships xmlns="http://schemas.openxmlformats.org/package/2006/relationships"><Relationship Id="rId9" Type="http://schemas.openxmlformats.org/officeDocument/2006/relationships/tags" Target="../tags/tag99.xml"/><Relationship Id="rId8" Type="http://schemas.openxmlformats.org/officeDocument/2006/relationships/image" Target="../media/image14.png"/><Relationship Id="rId7" Type="http://schemas.openxmlformats.org/officeDocument/2006/relationships/image" Target="../media/image13.png"/><Relationship Id="rId6" Type="http://schemas.openxmlformats.org/officeDocument/2006/relationships/tags" Target="../tags/tag98.xml"/><Relationship Id="rId5" Type="http://schemas.openxmlformats.org/officeDocument/2006/relationships/tags" Target="../tags/tag97.xml"/><Relationship Id="rId4" Type="http://schemas.openxmlformats.org/officeDocument/2006/relationships/tags" Target="../tags/tag96.xml"/><Relationship Id="rId3" Type="http://schemas.openxmlformats.org/officeDocument/2006/relationships/tags" Target="../tags/tag95.xml"/><Relationship Id="rId2" Type="http://schemas.openxmlformats.org/officeDocument/2006/relationships/tags" Target="../tags/tag94.xml"/><Relationship Id="rId14" Type="http://schemas.openxmlformats.org/officeDocument/2006/relationships/notesSlide" Target="../notesSlides/notesSlide8.xml"/><Relationship Id="rId13" Type="http://schemas.openxmlformats.org/officeDocument/2006/relationships/slideLayout" Target="../slideLayouts/slideLayout2.xml"/><Relationship Id="rId12" Type="http://schemas.openxmlformats.org/officeDocument/2006/relationships/image" Target="../media/image16.png"/><Relationship Id="rId11" Type="http://schemas.openxmlformats.org/officeDocument/2006/relationships/image" Target="../media/image15.png"/><Relationship Id="rId10" Type="http://schemas.openxmlformats.org/officeDocument/2006/relationships/tags" Target="../tags/tag100.xml"/><Relationship Id="rId1" Type="http://schemas.openxmlformats.org/officeDocument/2006/relationships/tags" Target="../tags/tag93.xml"/></Relationships>
</file>

<file path=ppt/slides/_rels/slide9.xml.rels><?xml version="1.0" encoding="UTF-8" standalone="yes"?>
<Relationships xmlns="http://schemas.openxmlformats.org/package/2006/relationships"><Relationship Id="rId9" Type="http://schemas.openxmlformats.org/officeDocument/2006/relationships/tags" Target="../tags/tag106.xml"/><Relationship Id="rId8" Type="http://schemas.openxmlformats.org/officeDocument/2006/relationships/image" Target="../media/image20.png"/><Relationship Id="rId7" Type="http://schemas.openxmlformats.org/officeDocument/2006/relationships/image" Target="../media/image19.png"/><Relationship Id="rId6" Type="http://schemas.openxmlformats.org/officeDocument/2006/relationships/image" Target="../media/image18.png"/><Relationship Id="rId5" Type="http://schemas.openxmlformats.org/officeDocument/2006/relationships/tags" Target="../tags/tag105.xml"/><Relationship Id="rId4" Type="http://schemas.openxmlformats.org/officeDocument/2006/relationships/tags" Target="../tags/tag104.xml"/><Relationship Id="rId3" Type="http://schemas.openxmlformats.org/officeDocument/2006/relationships/tags" Target="../tags/tag103.xml"/><Relationship Id="rId2" Type="http://schemas.openxmlformats.org/officeDocument/2006/relationships/tags" Target="../tags/tag102.xml"/><Relationship Id="rId14" Type="http://schemas.openxmlformats.org/officeDocument/2006/relationships/notesSlide" Target="../notesSlides/notesSlide9.xml"/><Relationship Id="rId13" Type="http://schemas.openxmlformats.org/officeDocument/2006/relationships/slideLayout" Target="../slideLayouts/slideLayout2.xml"/><Relationship Id="rId12" Type="http://schemas.openxmlformats.org/officeDocument/2006/relationships/tags" Target="../tags/tag108.xml"/><Relationship Id="rId11" Type="http://schemas.openxmlformats.org/officeDocument/2006/relationships/image" Target="../media/image21.png"/><Relationship Id="rId10" Type="http://schemas.openxmlformats.org/officeDocument/2006/relationships/tags" Target="../tags/tag107.xml"/><Relationship Id="rId1" Type="http://schemas.openxmlformats.org/officeDocument/2006/relationships/tags" Target="../tags/tag101.xml"/></Relationships>
</file>

<file path=ppt/slides/_rels/slide10.xml.rels><?xml version="1.0" encoding="UTF-8" standalone="yes"?>
<Relationships xmlns="http://schemas.openxmlformats.org/package/2006/relationships"><Relationship Id="rId8" Type="http://schemas.openxmlformats.org/officeDocument/2006/relationships/notesSlide" Target="../notesSlides/notesSlide10.xml"/><Relationship Id="rId7"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tags" Target="../tags/tag113.xml"/><Relationship Id="rId4" Type="http://schemas.openxmlformats.org/officeDocument/2006/relationships/tags" Target="../tags/tag112.xml"/><Relationship Id="rId3" Type="http://schemas.openxmlformats.org/officeDocument/2006/relationships/tags" Target="../tags/tag111.xml"/><Relationship Id="rId2" Type="http://schemas.openxmlformats.org/officeDocument/2006/relationships/tags" Target="../tags/tag110.xml"/><Relationship Id="rId1" Type="http://schemas.openxmlformats.org/officeDocument/2006/relationships/tags" Target="../tags/tag109.xml"/></Relationships>
</file>

<file path=ppt/slides/_rels/slide11.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25.png"/><Relationship Id="rId7" Type="http://schemas.openxmlformats.org/officeDocument/2006/relationships/tags" Target="../tags/tag119.xml"/><Relationship Id="rId6" Type="http://schemas.openxmlformats.org/officeDocument/2006/relationships/image" Target="../media/image24.png"/><Relationship Id="rId5" Type="http://schemas.openxmlformats.org/officeDocument/2006/relationships/tags" Target="../tags/tag118.xml"/><Relationship Id="rId4" Type="http://schemas.openxmlformats.org/officeDocument/2006/relationships/tags" Target="../tags/tag117.xml"/><Relationship Id="rId3" Type="http://schemas.openxmlformats.org/officeDocument/2006/relationships/tags" Target="../tags/tag116.xml"/><Relationship Id="rId2" Type="http://schemas.openxmlformats.org/officeDocument/2006/relationships/tags" Target="../tags/tag115.xml"/><Relationship Id="rId10" Type="http://schemas.openxmlformats.org/officeDocument/2006/relationships/notesSlide" Target="../notesSlides/notesSlide11.xml"/><Relationship Id="rId1" Type="http://schemas.openxmlformats.org/officeDocument/2006/relationships/tags" Target="../tags/tag114.xml"/></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15.xml"/><Relationship Id="rId3" Type="http://schemas.openxmlformats.org/officeDocument/2006/relationships/image" Target="../media/image2.png"/><Relationship Id="rId2" Type="http://schemas.openxmlformats.org/officeDocument/2006/relationships/tags" Target="../tags/tag120.xml"/><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9" Type="http://schemas.openxmlformats.org/officeDocument/2006/relationships/notesSlide" Target="../notesSlides/notesSlide12.xml"/><Relationship Id="rId8" Type="http://schemas.openxmlformats.org/officeDocument/2006/relationships/slideLayout" Target="../slideLayouts/slideLayout12.xml"/><Relationship Id="rId7" Type="http://schemas.openxmlformats.org/officeDocument/2006/relationships/tags" Target="../tags/tag124.xml"/><Relationship Id="rId6" Type="http://schemas.openxmlformats.org/officeDocument/2006/relationships/image" Target="../media/image26.png"/><Relationship Id="rId5" Type="http://schemas.openxmlformats.org/officeDocument/2006/relationships/tags" Target="../tags/tag123.xml"/><Relationship Id="rId4" Type="http://schemas.openxmlformats.org/officeDocument/2006/relationships/tags" Target="../tags/tag122.xml"/><Relationship Id="rId3" Type="http://schemas.openxmlformats.org/officeDocument/2006/relationships/image" Target="../media/image4.png"/><Relationship Id="rId2" Type="http://schemas.openxmlformats.org/officeDocument/2006/relationships/tags" Target="../tags/tag121.xml"/><Relationship Id="rId1" Type="http://schemas.openxmlformats.org/officeDocument/2006/relationships/image" Target="../media/image3.png"/></Relationships>
</file>

<file path=ppt/slides/_rels/slide14.xml.rels><?xml version="1.0" encoding="UTF-8" standalone="yes"?>
<Relationships xmlns="http://schemas.openxmlformats.org/package/2006/relationships"><Relationship Id="rId9" Type="http://schemas.openxmlformats.org/officeDocument/2006/relationships/image" Target="../media/image30.png"/><Relationship Id="rId8" Type="http://schemas.openxmlformats.org/officeDocument/2006/relationships/image" Target="../media/image29.png"/><Relationship Id="rId7" Type="http://schemas.openxmlformats.org/officeDocument/2006/relationships/image" Target="../media/image28.png"/><Relationship Id="rId6" Type="http://schemas.openxmlformats.org/officeDocument/2006/relationships/image" Target="../media/image27.png"/><Relationship Id="rId5" Type="http://schemas.openxmlformats.org/officeDocument/2006/relationships/tags" Target="../tags/tag127.xml"/><Relationship Id="rId4" Type="http://schemas.openxmlformats.org/officeDocument/2006/relationships/tags" Target="../tags/tag126.xml"/><Relationship Id="rId3" Type="http://schemas.openxmlformats.org/officeDocument/2006/relationships/image" Target="../media/image4.png"/><Relationship Id="rId2" Type="http://schemas.openxmlformats.org/officeDocument/2006/relationships/tags" Target="../tags/tag125.xml"/><Relationship Id="rId12" Type="http://schemas.openxmlformats.org/officeDocument/2006/relationships/notesSlide" Target="../notesSlides/notesSlide13.xml"/><Relationship Id="rId11" Type="http://schemas.openxmlformats.org/officeDocument/2006/relationships/slideLayout" Target="../slideLayouts/slideLayout12.xml"/><Relationship Id="rId10" Type="http://schemas.openxmlformats.org/officeDocument/2006/relationships/tags" Target="../tags/tag128.xml"/><Relationship Id="rId1" Type="http://schemas.openxmlformats.org/officeDocument/2006/relationships/image" Target="../media/image3.png"/></Relationships>
</file>

<file path=ppt/slides/_rels/slide15.xml.rels><?xml version="1.0" encoding="UTF-8" standalone="yes"?>
<Relationships xmlns="http://schemas.openxmlformats.org/package/2006/relationships"><Relationship Id="rId9" Type="http://schemas.openxmlformats.org/officeDocument/2006/relationships/notesSlide" Target="../notesSlides/notesSlide14.xml"/><Relationship Id="rId8" Type="http://schemas.openxmlformats.org/officeDocument/2006/relationships/slideLayout" Target="../slideLayouts/slideLayout12.xml"/><Relationship Id="rId7" Type="http://schemas.openxmlformats.org/officeDocument/2006/relationships/tags" Target="../tags/tag132.xml"/><Relationship Id="rId6" Type="http://schemas.openxmlformats.org/officeDocument/2006/relationships/image" Target="../media/image31.png"/><Relationship Id="rId5" Type="http://schemas.openxmlformats.org/officeDocument/2006/relationships/tags" Target="../tags/tag131.xml"/><Relationship Id="rId4" Type="http://schemas.openxmlformats.org/officeDocument/2006/relationships/tags" Target="../tags/tag130.xml"/><Relationship Id="rId3" Type="http://schemas.openxmlformats.org/officeDocument/2006/relationships/image" Target="../media/image4.png"/><Relationship Id="rId2" Type="http://schemas.openxmlformats.org/officeDocument/2006/relationships/tags" Target="../tags/tag129.xml"/><Relationship Id="rId1" Type="http://schemas.openxmlformats.org/officeDocument/2006/relationships/image" Target="../media/image3.png"/></Relationships>
</file>

<file path=ppt/slides/_rels/slide16.xml.rels><?xml version="1.0" encoding="UTF-8" standalone="yes"?>
<Relationships xmlns="http://schemas.openxmlformats.org/package/2006/relationships"><Relationship Id="rId9" Type="http://schemas.openxmlformats.org/officeDocument/2006/relationships/notesSlide" Target="../notesSlides/notesSlide15.xml"/><Relationship Id="rId8" Type="http://schemas.openxmlformats.org/officeDocument/2006/relationships/slideLayout" Target="../slideLayouts/slideLayout12.xml"/><Relationship Id="rId7" Type="http://schemas.openxmlformats.org/officeDocument/2006/relationships/tags" Target="../tags/tag136.xml"/><Relationship Id="rId6" Type="http://schemas.openxmlformats.org/officeDocument/2006/relationships/image" Target="../media/image31.png"/><Relationship Id="rId5" Type="http://schemas.openxmlformats.org/officeDocument/2006/relationships/tags" Target="../tags/tag135.xml"/><Relationship Id="rId4" Type="http://schemas.openxmlformats.org/officeDocument/2006/relationships/tags" Target="../tags/tag134.xml"/><Relationship Id="rId3" Type="http://schemas.openxmlformats.org/officeDocument/2006/relationships/image" Target="../media/image4.png"/><Relationship Id="rId2" Type="http://schemas.openxmlformats.org/officeDocument/2006/relationships/tags" Target="../tags/tag133.xml"/><Relationship Id="rId1" Type="http://schemas.openxmlformats.org/officeDocument/2006/relationships/image" Target="../media/image3.png"/></Relationships>
</file>

<file path=ppt/slides/_rels/slide17.xml.rels><?xml version="1.0" encoding="UTF-8" standalone="yes"?>
<Relationships xmlns="http://schemas.openxmlformats.org/package/2006/relationships"><Relationship Id="rId9" Type="http://schemas.openxmlformats.org/officeDocument/2006/relationships/image" Target="../media/image35.png"/><Relationship Id="rId8" Type="http://schemas.openxmlformats.org/officeDocument/2006/relationships/image" Target="../media/image34.png"/><Relationship Id="rId7" Type="http://schemas.openxmlformats.org/officeDocument/2006/relationships/image" Target="../media/image33.png"/><Relationship Id="rId6" Type="http://schemas.openxmlformats.org/officeDocument/2006/relationships/image" Target="../media/image32.png"/><Relationship Id="rId5" Type="http://schemas.openxmlformats.org/officeDocument/2006/relationships/tags" Target="../tags/tag139.xml"/><Relationship Id="rId4" Type="http://schemas.openxmlformats.org/officeDocument/2006/relationships/tags" Target="../tags/tag138.xml"/><Relationship Id="rId3" Type="http://schemas.openxmlformats.org/officeDocument/2006/relationships/image" Target="../media/image4.png"/><Relationship Id="rId2" Type="http://schemas.openxmlformats.org/officeDocument/2006/relationships/tags" Target="../tags/tag137.xml"/><Relationship Id="rId13" Type="http://schemas.openxmlformats.org/officeDocument/2006/relationships/notesSlide" Target="../notesSlides/notesSlide16.xml"/><Relationship Id="rId12" Type="http://schemas.openxmlformats.org/officeDocument/2006/relationships/slideLayout" Target="../slideLayouts/slideLayout12.xml"/><Relationship Id="rId11" Type="http://schemas.openxmlformats.org/officeDocument/2006/relationships/tags" Target="../tags/tag140.xml"/><Relationship Id="rId10" Type="http://schemas.openxmlformats.org/officeDocument/2006/relationships/image" Target="../media/image36.png"/><Relationship Id="rId1" Type="http://schemas.openxmlformats.org/officeDocument/2006/relationships/image" Target="../media/image3.png"/></Relationships>
</file>

<file path=ppt/slides/_rels/slide18.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tags" Target="../tags/tag144.xml"/><Relationship Id="rId7" Type="http://schemas.openxmlformats.org/officeDocument/2006/relationships/image" Target="../media/image38.png"/><Relationship Id="rId6" Type="http://schemas.openxmlformats.org/officeDocument/2006/relationships/image" Target="../media/image37.png"/><Relationship Id="rId5" Type="http://schemas.openxmlformats.org/officeDocument/2006/relationships/tags" Target="../tags/tag143.xml"/><Relationship Id="rId4" Type="http://schemas.openxmlformats.org/officeDocument/2006/relationships/tags" Target="../tags/tag142.xml"/><Relationship Id="rId3" Type="http://schemas.openxmlformats.org/officeDocument/2006/relationships/image" Target="../media/image4.png"/><Relationship Id="rId2" Type="http://schemas.openxmlformats.org/officeDocument/2006/relationships/tags" Target="../tags/tag141.xml"/><Relationship Id="rId10" Type="http://schemas.openxmlformats.org/officeDocument/2006/relationships/notesSlide" Target="../notesSlides/notesSlide17.xml"/><Relationship Id="rId1" Type="http://schemas.openxmlformats.org/officeDocument/2006/relationships/image" Target="../media/image3.png"/></Relationships>
</file>

<file path=ppt/slides/_rels/slide19.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tags" Target="../tags/tag148.xml"/><Relationship Id="rId7" Type="http://schemas.openxmlformats.org/officeDocument/2006/relationships/image" Target="../media/image40.png"/><Relationship Id="rId6" Type="http://schemas.openxmlformats.org/officeDocument/2006/relationships/image" Target="../media/image39.png"/><Relationship Id="rId5" Type="http://schemas.openxmlformats.org/officeDocument/2006/relationships/tags" Target="../tags/tag147.xml"/><Relationship Id="rId4" Type="http://schemas.openxmlformats.org/officeDocument/2006/relationships/tags" Target="../tags/tag146.xml"/><Relationship Id="rId3" Type="http://schemas.openxmlformats.org/officeDocument/2006/relationships/image" Target="../media/image4.png"/><Relationship Id="rId2" Type="http://schemas.openxmlformats.org/officeDocument/2006/relationships/tags" Target="../tags/tag145.xml"/><Relationship Id="rId10" Type="http://schemas.openxmlformats.org/officeDocument/2006/relationships/notesSlide" Target="../notesSlides/notesSlide18.xml"/><Relationship Id="rId1" Type="http://schemas.openxmlformats.org/officeDocument/2006/relationships/image" Target="../media/image3.png"/></Relationships>
</file>

<file path=ppt/slides/_rels/slide20.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tags" Target="../tags/tag152.xml"/><Relationship Id="rId7" Type="http://schemas.openxmlformats.org/officeDocument/2006/relationships/image" Target="../media/image41.png"/><Relationship Id="rId6" Type="http://schemas.openxmlformats.org/officeDocument/2006/relationships/image" Target="../media/image40.png"/><Relationship Id="rId5" Type="http://schemas.openxmlformats.org/officeDocument/2006/relationships/tags" Target="../tags/tag151.xml"/><Relationship Id="rId4" Type="http://schemas.openxmlformats.org/officeDocument/2006/relationships/tags" Target="../tags/tag150.xml"/><Relationship Id="rId3" Type="http://schemas.openxmlformats.org/officeDocument/2006/relationships/image" Target="../media/image4.png"/><Relationship Id="rId2" Type="http://schemas.openxmlformats.org/officeDocument/2006/relationships/tags" Target="../tags/tag149.xml"/><Relationship Id="rId10" Type="http://schemas.openxmlformats.org/officeDocument/2006/relationships/notesSlide" Target="../notesSlides/notesSlide19.xml"/><Relationship Id="rId1" Type="http://schemas.openxmlformats.org/officeDocument/2006/relationships/image" Target="../media/image3.png"/></Relationships>
</file>

<file path=ppt/slides/_rels/slide21.xml.rels><?xml version="1.0" encoding="UTF-8" standalone="yes"?>
<Relationships xmlns="http://schemas.openxmlformats.org/package/2006/relationships"><Relationship Id="rId9" Type="http://schemas.openxmlformats.org/officeDocument/2006/relationships/notesSlide" Target="../notesSlides/notesSlide20.xml"/><Relationship Id="rId8" Type="http://schemas.openxmlformats.org/officeDocument/2006/relationships/slideLayout" Target="../slideLayouts/slideLayout12.xml"/><Relationship Id="rId7" Type="http://schemas.openxmlformats.org/officeDocument/2006/relationships/tags" Target="../tags/tag156.xml"/><Relationship Id="rId6" Type="http://schemas.openxmlformats.org/officeDocument/2006/relationships/tags" Target="../tags/tag155.xml"/><Relationship Id="rId5" Type="http://schemas.openxmlformats.org/officeDocument/2006/relationships/tags" Target="../tags/tag154.xml"/><Relationship Id="rId4" Type="http://schemas.openxmlformats.org/officeDocument/2006/relationships/image" Target="../media/image4.png"/><Relationship Id="rId3" Type="http://schemas.openxmlformats.org/officeDocument/2006/relationships/tags" Target="../tags/tag153.xml"/><Relationship Id="rId2" Type="http://schemas.openxmlformats.org/officeDocument/2006/relationships/image" Target="../media/image3.png"/><Relationship Id="rId1" Type="http://schemas.openxmlformats.org/officeDocument/2006/relationships/image" Target="../media/image26.png"/></Relationships>
</file>

<file path=ppt/slides/_rels/slide22.xml.rels><?xml version="1.0" encoding="UTF-8" standalone="yes"?>
<Relationships xmlns="http://schemas.openxmlformats.org/package/2006/relationships"><Relationship Id="rId9" Type="http://schemas.openxmlformats.org/officeDocument/2006/relationships/notesSlide" Target="../notesSlides/notesSlide21.xml"/><Relationship Id="rId8" Type="http://schemas.openxmlformats.org/officeDocument/2006/relationships/slideLayout" Target="../slideLayouts/slideLayout12.xml"/><Relationship Id="rId7" Type="http://schemas.openxmlformats.org/officeDocument/2006/relationships/tags" Target="../tags/tag160.xml"/><Relationship Id="rId6" Type="http://schemas.openxmlformats.org/officeDocument/2006/relationships/tags" Target="../tags/tag159.xml"/><Relationship Id="rId5" Type="http://schemas.openxmlformats.org/officeDocument/2006/relationships/tags" Target="../tags/tag158.xml"/><Relationship Id="rId4" Type="http://schemas.openxmlformats.org/officeDocument/2006/relationships/image" Target="../media/image4.png"/><Relationship Id="rId3" Type="http://schemas.openxmlformats.org/officeDocument/2006/relationships/tags" Target="../tags/tag157.xml"/><Relationship Id="rId2" Type="http://schemas.openxmlformats.org/officeDocument/2006/relationships/image" Target="../media/image3.png"/><Relationship Id="rId1" Type="http://schemas.openxmlformats.org/officeDocument/2006/relationships/image" Target="../media/image26.png"/></Relationships>
</file>

<file path=ppt/slides/_rels/slide23.xml.rels><?xml version="1.0" encoding="UTF-8" standalone="yes"?>
<Relationships xmlns="http://schemas.openxmlformats.org/package/2006/relationships"><Relationship Id="rId9" Type="http://schemas.openxmlformats.org/officeDocument/2006/relationships/notesSlide" Target="../notesSlides/notesSlide22.xml"/><Relationship Id="rId8" Type="http://schemas.openxmlformats.org/officeDocument/2006/relationships/slideLayout" Target="../slideLayouts/slideLayout12.xml"/><Relationship Id="rId7" Type="http://schemas.openxmlformats.org/officeDocument/2006/relationships/tags" Target="../tags/tag164.xml"/><Relationship Id="rId6" Type="http://schemas.openxmlformats.org/officeDocument/2006/relationships/tags" Target="../tags/tag163.xml"/><Relationship Id="rId5" Type="http://schemas.openxmlformats.org/officeDocument/2006/relationships/tags" Target="../tags/tag162.xml"/><Relationship Id="rId4" Type="http://schemas.openxmlformats.org/officeDocument/2006/relationships/image" Target="../media/image4.png"/><Relationship Id="rId3" Type="http://schemas.openxmlformats.org/officeDocument/2006/relationships/tags" Target="../tags/tag161.xml"/><Relationship Id="rId2" Type="http://schemas.openxmlformats.org/officeDocument/2006/relationships/image" Target="../media/image3.png"/><Relationship Id="rId1" Type="http://schemas.openxmlformats.org/officeDocument/2006/relationships/image" Target="../media/image42.png"/></Relationships>
</file>

<file path=ppt/slides/_rels/slide24.xml.rels><?xml version="1.0" encoding="UTF-8" standalone="yes"?>
<Relationships xmlns="http://schemas.openxmlformats.org/package/2006/relationships"><Relationship Id="rId9" Type="http://schemas.openxmlformats.org/officeDocument/2006/relationships/notesSlide" Target="../notesSlides/notesSlide23.xml"/><Relationship Id="rId8" Type="http://schemas.openxmlformats.org/officeDocument/2006/relationships/slideLayout" Target="../slideLayouts/slideLayout12.xml"/><Relationship Id="rId7" Type="http://schemas.openxmlformats.org/officeDocument/2006/relationships/tags" Target="../tags/tag168.xml"/><Relationship Id="rId6" Type="http://schemas.openxmlformats.org/officeDocument/2006/relationships/image" Target="../media/image43.png"/><Relationship Id="rId5" Type="http://schemas.openxmlformats.org/officeDocument/2006/relationships/tags" Target="../tags/tag167.xml"/><Relationship Id="rId4" Type="http://schemas.openxmlformats.org/officeDocument/2006/relationships/tags" Target="../tags/tag166.xml"/><Relationship Id="rId3" Type="http://schemas.openxmlformats.org/officeDocument/2006/relationships/image" Target="../media/image4.png"/><Relationship Id="rId2" Type="http://schemas.openxmlformats.org/officeDocument/2006/relationships/tags" Target="../tags/tag165.xml"/><Relationship Id="rId1" Type="http://schemas.openxmlformats.org/officeDocument/2006/relationships/image" Target="../media/image3.png"/></Relationships>
</file>

<file path=ppt/slides/_rels/slide25.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tags" Target="../tags/tag172.xml"/><Relationship Id="rId7" Type="http://schemas.openxmlformats.org/officeDocument/2006/relationships/image" Target="../media/image45.png"/><Relationship Id="rId6" Type="http://schemas.openxmlformats.org/officeDocument/2006/relationships/image" Target="../media/image44.png"/><Relationship Id="rId5" Type="http://schemas.openxmlformats.org/officeDocument/2006/relationships/tags" Target="../tags/tag171.xml"/><Relationship Id="rId4" Type="http://schemas.openxmlformats.org/officeDocument/2006/relationships/tags" Target="../tags/tag170.xml"/><Relationship Id="rId3" Type="http://schemas.openxmlformats.org/officeDocument/2006/relationships/image" Target="../media/image4.png"/><Relationship Id="rId2" Type="http://schemas.openxmlformats.org/officeDocument/2006/relationships/tags" Target="../tags/tag169.xml"/><Relationship Id="rId10" Type="http://schemas.openxmlformats.org/officeDocument/2006/relationships/notesSlide" Target="../notesSlides/notesSlide24.xml"/><Relationship Id="rId1" Type="http://schemas.openxmlformats.org/officeDocument/2006/relationships/image" Target="../media/image3.png"/></Relationships>
</file>

<file path=ppt/slides/_rels/slide26.xml.rels><?xml version="1.0" encoding="UTF-8" standalone="yes"?>
<Relationships xmlns="http://schemas.openxmlformats.org/package/2006/relationships"><Relationship Id="rId9" Type="http://schemas.openxmlformats.org/officeDocument/2006/relationships/tags" Target="../tags/tag176.xml"/><Relationship Id="rId8" Type="http://schemas.openxmlformats.org/officeDocument/2006/relationships/image" Target="../media/image48.png"/><Relationship Id="rId7" Type="http://schemas.openxmlformats.org/officeDocument/2006/relationships/image" Target="../media/image47.png"/><Relationship Id="rId6" Type="http://schemas.openxmlformats.org/officeDocument/2006/relationships/image" Target="../media/image46.png"/><Relationship Id="rId5" Type="http://schemas.openxmlformats.org/officeDocument/2006/relationships/tags" Target="../tags/tag175.xml"/><Relationship Id="rId4" Type="http://schemas.openxmlformats.org/officeDocument/2006/relationships/tags" Target="../tags/tag174.xml"/><Relationship Id="rId3" Type="http://schemas.openxmlformats.org/officeDocument/2006/relationships/image" Target="../media/image4.png"/><Relationship Id="rId2" Type="http://schemas.openxmlformats.org/officeDocument/2006/relationships/tags" Target="../tags/tag173.xml"/><Relationship Id="rId11" Type="http://schemas.openxmlformats.org/officeDocument/2006/relationships/notesSlide" Target="../notesSlides/notesSlide25.xml"/><Relationship Id="rId10" Type="http://schemas.openxmlformats.org/officeDocument/2006/relationships/slideLayout" Target="../slideLayouts/slideLayout12.xml"/><Relationship Id="rId1" Type="http://schemas.openxmlformats.org/officeDocument/2006/relationships/image" Target="../media/image3.png"/></Relationships>
</file>

<file path=ppt/slides/_rels/slide27.xml.rels><?xml version="1.0" encoding="UTF-8" standalone="yes"?>
<Relationships xmlns="http://schemas.openxmlformats.org/package/2006/relationships"><Relationship Id="rId9" Type="http://schemas.openxmlformats.org/officeDocument/2006/relationships/notesSlide" Target="../notesSlides/notesSlide26.xml"/><Relationship Id="rId8" Type="http://schemas.openxmlformats.org/officeDocument/2006/relationships/slideLayout" Target="../slideLayouts/slideLayout12.xml"/><Relationship Id="rId7" Type="http://schemas.openxmlformats.org/officeDocument/2006/relationships/tags" Target="../tags/tag180.xml"/><Relationship Id="rId6" Type="http://schemas.openxmlformats.org/officeDocument/2006/relationships/image" Target="../media/image49.png"/><Relationship Id="rId5" Type="http://schemas.openxmlformats.org/officeDocument/2006/relationships/tags" Target="../tags/tag179.xml"/><Relationship Id="rId4" Type="http://schemas.openxmlformats.org/officeDocument/2006/relationships/tags" Target="../tags/tag178.xml"/><Relationship Id="rId3" Type="http://schemas.openxmlformats.org/officeDocument/2006/relationships/image" Target="../media/image4.png"/><Relationship Id="rId2" Type="http://schemas.openxmlformats.org/officeDocument/2006/relationships/tags" Target="../tags/tag177.xml"/><Relationship Id="rId1" Type="http://schemas.openxmlformats.org/officeDocument/2006/relationships/image" Target="../media/image3.png"/></Relationships>
</file>

<file path=ppt/slides/_rels/slide28.xml.rels><?xml version="1.0" encoding="UTF-8" standalone="yes"?>
<Relationships xmlns="http://schemas.openxmlformats.org/package/2006/relationships"><Relationship Id="rId9" Type="http://schemas.openxmlformats.org/officeDocument/2006/relationships/notesSlide" Target="../notesSlides/notesSlide27.xml"/><Relationship Id="rId8" Type="http://schemas.openxmlformats.org/officeDocument/2006/relationships/slideLayout" Target="../slideLayouts/slideLayout12.xml"/><Relationship Id="rId7" Type="http://schemas.openxmlformats.org/officeDocument/2006/relationships/tags" Target="../tags/tag184.xml"/><Relationship Id="rId6" Type="http://schemas.openxmlformats.org/officeDocument/2006/relationships/image" Target="../media/image50.png"/><Relationship Id="rId5" Type="http://schemas.openxmlformats.org/officeDocument/2006/relationships/tags" Target="../tags/tag183.xml"/><Relationship Id="rId4" Type="http://schemas.openxmlformats.org/officeDocument/2006/relationships/tags" Target="../tags/tag182.xml"/><Relationship Id="rId3" Type="http://schemas.openxmlformats.org/officeDocument/2006/relationships/image" Target="../media/image4.png"/><Relationship Id="rId2" Type="http://schemas.openxmlformats.org/officeDocument/2006/relationships/tags" Target="../tags/tag181.xml"/><Relationship Id="rId1" Type="http://schemas.openxmlformats.org/officeDocument/2006/relationships/image" Target="../media/image3.png"/></Relationships>
</file>

<file path=ppt/slides/_rels/slide29.xml.rels><?xml version="1.0" encoding="UTF-8" standalone="yes"?>
<Relationships xmlns="http://schemas.openxmlformats.org/package/2006/relationships"><Relationship Id="rId9" Type="http://schemas.openxmlformats.org/officeDocument/2006/relationships/notesSlide" Target="../notesSlides/notesSlide28.xml"/><Relationship Id="rId8" Type="http://schemas.openxmlformats.org/officeDocument/2006/relationships/slideLayout" Target="../slideLayouts/slideLayout12.xml"/><Relationship Id="rId7" Type="http://schemas.openxmlformats.org/officeDocument/2006/relationships/tags" Target="../tags/tag188.xml"/><Relationship Id="rId6" Type="http://schemas.openxmlformats.org/officeDocument/2006/relationships/image" Target="../media/image51.png"/><Relationship Id="rId5" Type="http://schemas.openxmlformats.org/officeDocument/2006/relationships/tags" Target="../tags/tag187.xml"/><Relationship Id="rId4" Type="http://schemas.openxmlformats.org/officeDocument/2006/relationships/tags" Target="../tags/tag186.xml"/><Relationship Id="rId3" Type="http://schemas.openxmlformats.org/officeDocument/2006/relationships/image" Target="../media/image4.png"/><Relationship Id="rId2" Type="http://schemas.openxmlformats.org/officeDocument/2006/relationships/tags" Target="../tags/tag185.xml"/><Relationship Id="rId1" Type="http://schemas.openxmlformats.org/officeDocument/2006/relationships/image" Target="../media/image3.png"/></Relationships>
</file>

<file path=ppt/slides/_rels/slide30.xml.rels><?xml version="1.0" encoding="UTF-8" standalone="yes"?>
<Relationships xmlns="http://schemas.openxmlformats.org/package/2006/relationships"><Relationship Id="rId9" Type="http://schemas.openxmlformats.org/officeDocument/2006/relationships/tags" Target="../tags/tag192.xml"/><Relationship Id="rId8" Type="http://schemas.openxmlformats.org/officeDocument/2006/relationships/image" Target="../media/image54.png"/><Relationship Id="rId7" Type="http://schemas.openxmlformats.org/officeDocument/2006/relationships/image" Target="../media/image53.png"/><Relationship Id="rId6" Type="http://schemas.openxmlformats.org/officeDocument/2006/relationships/image" Target="../media/image52.png"/><Relationship Id="rId5" Type="http://schemas.openxmlformats.org/officeDocument/2006/relationships/tags" Target="../tags/tag191.xml"/><Relationship Id="rId4" Type="http://schemas.openxmlformats.org/officeDocument/2006/relationships/tags" Target="../tags/tag190.xml"/><Relationship Id="rId3" Type="http://schemas.openxmlformats.org/officeDocument/2006/relationships/image" Target="../media/image4.png"/><Relationship Id="rId2" Type="http://schemas.openxmlformats.org/officeDocument/2006/relationships/tags" Target="../tags/tag189.xml"/><Relationship Id="rId11" Type="http://schemas.openxmlformats.org/officeDocument/2006/relationships/notesSlide" Target="../notesSlides/notesSlide29.xml"/><Relationship Id="rId10" Type="http://schemas.openxmlformats.org/officeDocument/2006/relationships/slideLayout" Target="../slideLayouts/slideLayout12.xml"/><Relationship Id="rId1" Type="http://schemas.openxmlformats.org/officeDocument/2006/relationships/image" Target="../media/image3.png"/></Relationships>
</file>

<file path=ppt/slides/_rels/slide31.xml.rels><?xml version="1.0" encoding="UTF-8" standalone="yes"?>
<Relationships xmlns="http://schemas.openxmlformats.org/package/2006/relationships"><Relationship Id="rId9" Type="http://schemas.openxmlformats.org/officeDocument/2006/relationships/notesSlide" Target="../notesSlides/notesSlide30.xml"/><Relationship Id="rId8" Type="http://schemas.openxmlformats.org/officeDocument/2006/relationships/slideLayout" Target="../slideLayouts/slideLayout12.xml"/><Relationship Id="rId7" Type="http://schemas.openxmlformats.org/officeDocument/2006/relationships/tags" Target="../tags/tag196.xml"/><Relationship Id="rId6" Type="http://schemas.openxmlformats.org/officeDocument/2006/relationships/image" Target="../media/image55.png"/><Relationship Id="rId5" Type="http://schemas.openxmlformats.org/officeDocument/2006/relationships/tags" Target="../tags/tag195.xml"/><Relationship Id="rId4" Type="http://schemas.openxmlformats.org/officeDocument/2006/relationships/tags" Target="../tags/tag194.xml"/><Relationship Id="rId3" Type="http://schemas.openxmlformats.org/officeDocument/2006/relationships/image" Target="../media/image4.png"/><Relationship Id="rId2" Type="http://schemas.openxmlformats.org/officeDocument/2006/relationships/tags" Target="../tags/tag193.xml"/><Relationship Id="rId1" Type="http://schemas.openxmlformats.org/officeDocument/2006/relationships/image" Target="../media/image3.png"/></Relationships>
</file>

<file path=ppt/slides/_rels/slide32.xml.rels><?xml version="1.0" encoding="UTF-8" standalone="yes"?>
<Relationships xmlns="http://schemas.openxmlformats.org/package/2006/relationships"><Relationship Id="rId9" Type="http://schemas.openxmlformats.org/officeDocument/2006/relationships/tags" Target="../tags/tag200.xml"/><Relationship Id="rId8" Type="http://schemas.openxmlformats.org/officeDocument/2006/relationships/image" Target="../media/image58.png"/><Relationship Id="rId7" Type="http://schemas.openxmlformats.org/officeDocument/2006/relationships/image" Target="../media/image57.png"/><Relationship Id="rId6" Type="http://schemas.openxmlformats.org/officeDocument/2006/relationships/tags" Target="../tags/tag199.xml"/><Relationship Id="rId5" Type="http://schemas.openxmlformats.org/officeDocument/2006/relationships/tags" Target="../tags/tag198.xml"/><Relationship Id="rId4" Type="http://schemas.openxmlformats.org/officeDocument/2006/relationships/image" Target="../media/image4.png"/><Relationship Id="rId3" Type="http://schemas.openxmlformats.org/officeDocument/2006/relationships/tags" Target="../tags/tag197.xml"/><Relationship Id="rId2" Type="http://schemas.openxmlformats.org/officeDocument/2006/relationships/image" Target="../media/image3.png"/><Relationship Id="rId11" Type="http://schemas.openxmlformats.org/officeDocument/2006/relationships/notesSlide" Target="../notesSlides/notesSlide31.xml"/><Relationship Id="rId10" Type="http://schemas.openxmlformats.org/officeDocument/2006/relationships/slideLayout" Target="../slideLayouts/slideLayout12.xml"/><Relationship Id="rId1" Type="http://schemas.openxmlformats.org/officeDocument/2006/relationships/image" Target="../media/image56.png"/></Relationships>
</file>

<file path=ppt/slides/_rels/slide33.xml.rels><?xml version="1.0" encoding="UTF-8" standalone="yes"?>
<Relationships xmlns="http://schemas.openxmlformats.org/package/2006/relationships"><Relationship Id="rId9" Type="http://schemas.openxmlformats.org/officeDocument/2006/relationships/notesSlide" Target="../notesSlides/notesSlide32.xml"/><Relationship Id="rId8" Type="http://schemas.openxmlformats.org/officeDocument/2006/relationships/slideLayout" Target="../slideLayouts/slideLayout12.xml"/><Relationship Id="rId7" Type="http://schemas.openxmlformats.org/officeDocument/2006/relationships/tags" Target="../tags/tag204.xml"/><Relationship Id="rId6" Type="http://schemas.openxmlformats.org/officeDocument/2006/relationships/image" Target="../media/image59.png"/><Relationship Id="rId5" Type="http://schemas.openxmlformats.org/officeDocument/2006/relationships/tags" Target="../tags/tag203.xml"/><Relationship Id="rId4" Type="http://schemas.openxmlformats.org/officeDocument/2006/relationships/tags" Target="../tags/tag202.xml"/><Relationship Id="rId3" Type="http://schemas.openxmlformats.org/officeDocument/2006/relationships/image" Target="../media/image4.png"/><Relationship Id="rId2" Type="http://schemas.openxmlformats.org/officeDocument/2006/relationships/tags" Target="../tags/tag201.xml"/><Relationship Id="rId1" Type="http://schemas.openxmlformats.org/officeDocument/2006/relationships/image" Target="../media/image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36.xml"/><Relationship Id="rId1" Type="http://schemas.openxmlformats.org/officeDocument/2006/relationships/image" Target="../media/image60.png"/></Relationships>
</file>

<file path=ppt/slides/_rels/slide37.xml.rels><?xml version="1.0" encoding="UTF-8" standalone="yes"?>
<Relationships xmlns="http://schemas.openxmlformats.org/package/2006/relationships"><Relationship Id="rId6" Type="http://schemas.openxmlformats.org/officeDocument/2006/relationships/notesSlide" Target="../notesSlides/notesSlide33.xml"/><Relationship Id="rId5" Type="http://schemas.openxmlformats.org/officeDocument/2006/relationships/slideLayout" Target="../slideLayouts/slideLayout36.xml"/><Relationship Id="rId4" Type="http://schemas.openxmlformats.org/officeDocument/2006/relationships/image" Target="../media/image64.png"/><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image" Target="../media/image61.png"/></Relationships>
</file>

<file path=ppt/slides/_rels/slide38.xml.rels><?xml version="1.0" encoding="UTF-8" standalone="yes"?>
<Relationships xmlns="http://schemas.openxmlformats.org/package/2006/relationships"><Relationship Id="rId6" Type="http://schemas.openxmlformats.org/officeDocument/2006/relationships/notesSlide" Target="../notesSlides/notesSlide34.xml"/><Relationship Id="rId5" Type="http://schemas.openxmlformats.org/officeDocument/2006/relationships/slideLayout" Target="../slideLayouts/slideLayout36.xml"/><Relationship Id="rId4" Type="http://schemas.openxmlformats.org/officeDocument/2006/relationships/image" Target="../media/image68.png"/><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image" Target="../media/image65.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36.xml"/><Relationship Id="rId1" Type="http://schemas.openxmlformats.org/officeDocument/2006/relationships/image" Target="../media/image69.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6.xml"/></Relationships>
</file>

<file path=ppt/slides/_rels/slide41.xml.rels><?xml version="1.0" encoding="UTF-8" standalone="yes"?>
<Relationships xmlns="http://schemas.openxmlformats.org/package/2006/relationships"><Relationship Id="rId6" Type="http://schemas.openxmlformats.org/officeDocument/2006/relationships/notesSlide" Target="../notesSlides/notesSlide37.xml"/><Relationship Id="rId5" Type="http://schemas.openxmlformats.org/officeDocument/2006/relationships/slideLayout" Target="../slideLayouts/slideLayout36.xml"/><Relationship Id="rId4" Type="http://schemas.openxmlformats.org/officeDocument/2006/relationships/image" Target="../media/image73.png"/><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image" Target="../media/image70.png"/></Relationships>
</file>

<file path=ppt/slides/_rels/slide42.xml.rels><?xml version="1.0" encoding="UTF-8" standalone="yes"?>
<Relationships xmlns="http://schemas.openxmlformats.org/package/2006/relationships"><Relationship Id="rId5" Type="http://schemas.openxmlformats.org/officeDocument/2006/relationships/notesSlide" Target="../notesSlides/notesSlide38.xml"/><Relationship Id="rId4" Type="http://schemas.openxmlformats.org/officeDocument/2006/relationships/slideLayout" Target="../slideLayouts/slideLayout36.xml"/><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image" Target="../media/image74.png"/></Relationships>
</file>

<file path=ppt/slides/_rels/slide43.xml.rels><?xml version="1.0" encoding="UTF-8" standalone="yes"?>
<Relationships xmlns="http://schemas.openxmlformats.org/package/2006/relationships"><Relationship Id="rId8" Type="http://schemas.openxmlformats.org/officeDocument/2006/relationships/notesSlide" Target="../notesSlides/notesSlide39.xml"/><Relationship Id="rId7" Type="http://schemas.openxmlformats.org/officeDocument/2006/relationships/slideLayout" Target="../slideLayouts/slideLayout36.xml"/><Relationship Id="rId6" Type="http://schemas.openxmlformats.org/officeDocument/2006/relationships/image" Target="../media/image82.png"/><Relationship Id="rId5" Type="http://schemas.openxmlformats.org/officeDocument/2006/relationships/image" Target="../media/image81.png"/><Relationship Id="rId4" Type="http://schemas.openxmlformats.org/officeDocument/2006/relationships/image" Target="../media/image80.png"/><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image" Target="../media/image77.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36.xml"/><Relationship Id="rId1" Type="http://schemas.openxmlformats.org/officeDocument/2006/relationships/image" Target="../media/image83.png"/></Relationships>
</file>

<file path=ppt/slides/_rels/slide45.xml.rels><?xml version="1.0" encoding="UTF-8" standalone="yes"?>
<Relationships xmlns="http://schemas.openxmlformats.org/package/2006/relationships"><Relationship Id="rId7" Type="http://schemas.openxmlformats.org/officeDocument/2006/relationships/notesSlide" Target="../notesSlides/notesSlide41.xml"/><Relationship Id="rId6" Type="http://schemas.openxmlformats.org/officeDocument/2006/relationships/slideLayout" Target="../slideLayouts/slideLayout36.xml"/><Relationship Id="rId5" Type="http://schemas.openxmlformats.org/officeDocument/2006/relationships/image" Target="../media/image88.png"/><Relationship Id="rId4" Type="http://schemas.openxmlformats.org/officeDocument/2006/relationships/image" Target="../media/image87.png"/><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image" Target="../media/image84.png"/></Relationships>
</file>

<file path=ppt/slides/_rels/slide46.xml.rels><?xml version="1.0" encoding="UTF-8" standalone="yes"?>
<Relationships xmlns="http://schemas.openxmlformats.org/package/2006/relationships"><Relationship Id="rId4" Type="http://schemas.openxmlformats.org/officeDocument/2006/relationships/notesSlide" Target="../notesSlides/notesSlide42.xml"/><Relationship Id="rId3" Type="http://schemas.openxmlformats.org/officeDocument/2006/relationships/slideLayout" Target="../slideLayouts/slideLayout36.xml"/><Relationship Id="rId2" Type="http://schemas.openxmlformats.org/officeDocument/2006/relationships/image" Target="../media/image90.png"/><Relationship Id="rId1" Type="http://schemas.openxmlformats.org/officeDocument/2006/relationships/image" Target="../media/image89.png"/></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36.xml"/><Relationship Id="rId1" Type="http://schemas.openxmlformats.org/officeDocument/2006/relationships/image" Target="../media/image91.png"/></Relationships>
</file>

<file path=ppt/slides/_rels/slide48.xml.rels><?xml version="1.0" encoding="UTF-8" standalone="yes"?>
<Relationships xmlns="http://schemas.openxmlformats.org/package/2006/relationships"><Relationship Id="rId4" Type="http://schemas.openxmlformats.org/officeDocument/2006/relationships/notesSlide" Target="../notesSlides/notesSlide43.xml"/><Relationship Id="rId3" Type="http://schemas.openxmlformats.org/officeDocument/2006/relationships/slideLayout" Target="../slideLayouts/slideLayout36.xml"/><Relationship Id="rId2" Type="http://schemas.openxmlformats.org/officeDocument/2006/relationships/image" Target="../media/image93.png"/><Relationship Id="rId1" Type="http://schemas.openxmlformats.org/officeDocument/2006/relationships/image" Target="../media/image92.png"/></Relationships>
</file>

<file path=ppt/slides/_rels/slide49.xml.rels><?xml version="1.0" encoding="UTF-8" standalone="yes"?>
<Relationships xmlns="http://schemas.openxmlformats.org/package/2006/relationships"><Relationship Id="rId9" Type="http://schemas.openxmlformats.org/officeDocument/2006/relationships/slideLayout" Target="../slideLayouts/slideLayout36.xml"/><Relationship Id="rId8" Type="http://schemas.openxmlformats.org/officeDocument/2006/relationships/image" Target="../media/image101.png"/><Relationship Id="rId7" Type="http://schemas.openxmlformats.org/officeDocument/2006/relationships/image" Target="../media/image100.png"/><Relationship Id="rId6" Type="http://schemas.openxmlformats.org/officeDocument/2006/relationships/image" Target="../media/image99.png"/><Relationship Id="rId5" Type="http://schemas.openxmlformats.org/officeDocument/2006/relationships/image" Target="../media/image98.png"/><Relationship Id="rId4" Type="http://schemas.openxmlformats.org/officeDocument/2006/relationships/image" Target="../media/image97.png"/><Relationship Id="rId3" Type="http://schemas.openxmlformats.org/officeDocument/2006/relationships/image" Target="../media/image96.png"/><Relationship Id="rId2" Type="http://schemas.openxmlformats.org/officeDocument/2006/relationships/image" Target="../media/image95.png"/><Relationship Id="rId10" Type="http://schemas.openxmlformats.org/officeDocument/2006/relationships/notesSlide" Target="../notesSlides/notesSlide44.xml"/><Relationship Id="rId1" Type="http://schemas.openxmlformats.org/officeDocument/2006/relationships/image" Target="../media/image94.png"/></Relationships>
</file>

<file path=ppt/slides/_rels/slide50.xml.rels><?xml version="1.0" encoding="UTF-8" standalone="yes"?>
<Relationships xmlns="http://schemas.openxmlformats.org/package/2006/relationships"><Relationship Id="rId6" Type="http://schemas.openxmlformats.org/officeDocument/2006/relationships/notesSlide" Target="../notesSlides/notesSlide45.xml"/><Relationship Id="rId5" Type="http://schemas.openxmlformats.org/officeDocument/2006/relationships/slideLayout" Target="../slideLayouts/slideLayout36.xml"/><Relationship Id="rId4" Type="http://schemas.openxmlformats.org/officeDocument/2006/relationships/image" Target="../media/image102.png"/><Relationship Id="rId3" Type="http://schemas.openxmlformats.org/officeDocument/2006/relationships/image" Target="../media/image101.png"/><Relationship Id="rId2" Type="http://schemas.openxmlformats.org/officeDocument/2006/relationships/image" Target="../media/image100.png"/><Relationship Id="rId1" Type="http://schemas.openxmlformats.org/officeDocument/2006/relationships/image" Target="../media/image99.png"/></Relationships>
</file>

<file path=ppt/slides/_rels/slide51.xml.rels><?xml version="1.0" encoding="UTF-8" standalone="yes"?>
<Relationships xmlns="http://schemas.openxmlformats.org/package/2006/relationships"><Relationship Id="rId6" Type="http://schemas.openxmlformats.org/officeDocument/2006/relationships/notesSlide" Target="../notesSlides/notesSlide46.xml"/><Relationship Id="rId5" Type="http://schemas.openxmlformats.org/officeDocument/2006/relationships/slideLayout" Target="../slideLayouts/slideLayout36.xml"/><Relationship Id="rId4" Type="http://schemas.openxmlformats.org/officeDocument/2006/relationships/image" Target="../media/image103.png"/><Relationship Id="rId3" Type="http://schemas.openxmlformats.org/officeDocument/2006/relationships/image" Target="../media/image101.png"/><Relationship Id="rId2" Type="http://schemas.openxmlformats.org/officeDocument/2006/relationships/image" Target="../media/image100.png"/><Relationship Id="rId1" Type="http://schemas.openxmlformats.org/officeDocument/2006/relationships/image" Target="../media/image99.png"/></Relationships>
</file>

<file path=ppt/slides/_rels/slide52.xml.rels><?xml version="1.0" encoding="UTF-8" standalone="yes"?>
<Relationships xmlns="http://schemas.openxmlformats.org/package/2006/relationships"><Relationship Id="rId4" Type="http://schemas.openxmlformats.org/officeDocument/2006/relationships/notesSlide" Target="../notesSlides/notesSlide47.xml"/><Relationship Id="rId3" Type="http://schemas.openxmlformats.org/officeDocument/2006/relationships/slideLayout" Target="../slideLayouts/slideLayout36.xml"/><Relationship Id="rId2" Type="http://schemas.openxmlformats.org/officeDocument/2006/relationships/image" Target="../media/image105.png"/><Relationship Id="rId1" Type="http://schemas.openxmlformats.org/officeDocument/2006/relationships/image" Target="../media/image104.png"/></Relationships>
</file>

<file path=ppt/slides/_rels/slide53.xml.rels><?xml version="1.0" encoding="UTF-8" standalone="yes"?>
<Relationships xmlns="http://schemas.openxmlformats.org/package/2006/relationships"><Relationship Id="rId5" Type="http://schemas.openxmlformats.org/officeDocument/2006/relationships/notesSlide" Target="../notesSlides/notesSlide48.xml"/><Relationship Id="rId4" Type="http://schemas.openxmlformats.org/officeDocument/2006/relationships/slideLayout" Target="../slideLayouts/slideLayout36.xml"/><Relationship Id="rId3" Type="http://schemas.openxmlformats.org/officeDocument/2006/relationships/image" Target="../media/image107.png"/><Relationship Id="rId2" Type="http://schemas.openxmlformats.org/officeDocument/2006/relationships/image" Target="../media/image106.png"/><Relationship Id="rId1" Type="http://schemas.openxmlformats.org/officeDocument/2006/relationships/image" Target="../media/image104.png"/></Relationships>
</file>

<file path=ppt/slides/_rels/slide54.xml.rels><?xml version="1.0" encoding="UTF-8" standalone="yes"?>
<Relationships xmlns="http://schemas.openxmlformats.org/package/2006/relationships"><Relationship Id="rId6" Type="http://schemas.openxmlformats.org/officeDocument/2006/relationships/notesSlide" Target="../notesSlides/notesSlide49.xml"/><Relationship Id="rId5" Type="http://schemas.openxmlformats.org/officeDocument/2006/relationships/slideLayout" Target="../slideLayouts/slideLayout36.xml"/><Relationship Id="rId4" Type="http://schemas.openxmlformats.org/officeDocument/2006/relationships/image" Target="../media/image111.png"/><Relationship Id="rId3" Type="http://schemas.openxmlformats.org/officeDocument/2006/relationships/image" Target="../media/image110.png"/><Relationship Id="rId2" Type="http://schemas.openxmlformats.org/officeDocument/2006/relationships/image" Target="../media/image109.png"/><Relationship Id="rId1" Type="http://schemas.openxmlformats.org/officeDocument/2006/relationships/image" Target="../media/image108.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6.xml"/></Relationships>
</file>

<file path=ppt/slides/_rels/slide56.xml.rels><?xml version="1.0" encoding="UTF-8" standalone="yes"?>
<Relationships xmlns="http://schemas.openxmlformats.org/package/2006/relationships"><Relationship Id="rId5" Type="http://schemas.openxmlformats.org/officeDocument/2006/relationships/notesSlide" Target="../notesSlides/notesSlide51.xml"/><Relationship Id="rId4" Type="http://schemas.openxmlformats.org/officeDocument/2006/relationships/slideLayout" Target="../slideLayouts/slideLayout35.xml"/><Relationship Id="rId3" Type="http://schemas.openxmlformats.org/officeDocument/2006/relationships/image" Target="../media/image114.png"/><Relationship Id="rId2" Type="http://schemas.openxmlformats.org/officeDocument/2006/relationships/image" Target="../media/image113.png"/><Relationship Id="rId1" Type="http://schemas.openxmlformats.org/officeDocument/2006/relationships/image" Target="../media/image112.png"/></Relationships>
</file>

<file path=ppt/slides/_rels/slide57.xml.rels><?xml version="1.0" encoding="UTF-8" standalone="yes"?>
<Relationships xmlns="http://schemas.openxmlformats.org/package/2006/relationships"><Relationship Id="rId4" Type="http://schemas.openxmlformats.org/officeDocument/2006/relationships/notesSlide" Target="../notesSlides/notesSlide52.xml"/><Relationship Id="rId3" Type="http://schemas.openxmlformats.org/officeDocument/2006/relationships/slideLayout" Target="../slideLayouts/slideLayout35.xml"/><Relationship Id="rId2" Type="http://schemas.openxmlformats.org/officeDocument/2006/relationships/image" Target="../media/image116.png"/><Relationship Id="rId1" Type="http://schemas.openxmlformats.org/officeDocument/2006/relationships/image" Target="../media/image115.png"/></Relationships>
</file>

<file path=ppt/slides/_rels/slide58.xml.rels><?xml version="1.0" encoding="UTF-8" standalone="yes"?>
<Relationships xmlns="http://schemas.openxmlformats.org/package/2006/relationships"><Relationship Id="rId4" Type="http://schemas.openxmlformats.org/officeDocument/2006/relationships/notesSlide" Target="../notesSlides/notesSlide53.xml"/><Relationship Id="rId3" Type="http://schemas.openxmlformats.org/officeDocument/2006/relationships/slideLayout" Target="../slideLayouts/slideLayout35.xml"/><Relationship Id="rId2" Type="http://schemas.openxmlformats.org/officeDocument/2006/relationships/image" Target="../media/image118.png"/><Relationship Id="rId1" Type="http://schemas.openxmlformats.org/officeDocument/2006/relationships/image" Target="../media/image117.png"/></Relationships>
</file>

<file path=ppt/slides/_rels/slide59.xml.rels><?xml version="1.0" encoding="UTF-8" standalone="yes"?>
<Relationships xmlns="http://schemas.openxmlformats.org/package/2006/relationships"><Relationship Id="rId4" Type="http://schemas.openxmlformats.org/officeDocument/2006/relationships/notesSlide" Target="../notesSlides/notesSlide54.xml"/><Relationship Id="rId3" Type="http://schemas.openxmlformats.org/officeDocument/2006/relationships/slideLayout" Target="../slideLayouts/slideLayout35.xml"/><Relationship Id="rId2" Type="http://schemas.openxmlformats.org/officeDocument/2006/relationships/image" Target="../media/image120.png"/><Relationship Id="rId1" Type="http://schemas.openxmlformats.org/officeDocument/2006/relationships/image" Target="../media/image119.png"/></Relationships>
</file>

<file path=ppt/slides/_rels/slide60.xml.rels><?xml version="1.0" encoding="UTF-8" standalone="yes"?>
<Relationships xmlns="http://schemas.openxmlformats.org/package/2006/relationships"><Relationship Id="rId5" Type="http://schemas.openxmlformats.org/officeDocument/2006/relationships/notesSlide" Target="../notesSlides/notesSlide55.xml"/><Relationship Id="rId4" Type="http://schemas.openxmlformats.org/officeDocument/2006/relationships/slideLayout" Target="../slideLayouts/slideLayout35.xml"/><Relationship Id="rId3" Type="http://schemas.openxmlformats.org/officeDocument/2006/relationships/image" Target="../media/image123.png"/><Relationship Id="rId2" Type="http://schemas.openxmlformats.org/officeDocument/2006/relationships/image" Target="../media/image122.png"/><Relationship Id="rId1" Type="http://schemas.openxmlformats.org/officeDocument/2006/relationships/image" Target="../media/image121.png"/></Relationships>
</file>

<file path=ppt/slides/_rels/slide61.xml.rels><?xml version="1.0" encoding="UTF-8" standalone="yes"?>
<Relationships xmlns="http://schemas.openxmlformats.org/package/2006/relationships"><Relationship Id="rId8" Type="http://schemas.openxmlformats.org/officeDocument/2006/relationships/notesSlide" Target="../notesSlides/notesSlide56.xml"/><Relationship Id="rId7" Type="http://schemas.openxmlformats.org/officeDocument/2006/relationships/slideLayout" Target="../slideLayouts/slideLayout36.xml"/><Relationship Id="rId6" Type="http://schemas.openxmlformats.org/officeDocument/2006/relationships/image" Target="../media/image129.png"/><Relationship Id="rId5" Type="http://schemas.openxmlformats.org/officeDocument/2006/relationships/image" Target="../media/image128.png"/><Relationship Id="rId4" Type="http://schemas.openxmlformats.org/officeDocument/2006/relationships/image" Target="../media/image127.png"/><Relationship Id="rId3" Type="http://schemas.openxmlformats.org/officeDocument/2006/relationships/image" Target="../media/image126.png"/><Relationship Id="rId2" Type="http://schemas.openxmlformats.org/officeDocument/2006/relationships/image" Target="../media/image125.png"/><Relationship Id="rId1" Type="http://schemas.openxmlformats.org/officeDocument/2006/relationships/image" Target="../media/image124.png"/></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3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3" name="图片 5" descr="剪影居中蓝 低版本"/>
          <p:cNvPicPr>
            <a:picLocks noChangeAspect="1"/>
          </p:cNvPicPr>
          <p:nvPr/>
        </p:nvPicPr>
        <p:blipFill>
          <a:blip r:embed="rId1"/>
          <a:stretch>
            <a:fillRect/>
          </a:stretch>
        </p:blipFill>
        <p:spPr>
          <a:xfrm>
            <a:off x="1353" y="4564099"/>
            <a:ext cx="12190495" cy="3776196"/>
          </a:xfrm>
          <a:prstGeom prst="rect">
            <a:avLst/>
          </a:prstGeom>
          <a:noFill/>
          <a:ln w="9525">
            <a:noFill/>
          </a:ln>
        </p:spPr>
      </p:pic>
      <p:sp>
        <p:nvSpPr>
          <p:cNvPr id="4" name="文本框 3"/>
          <p:cNvSpPr txBox="1"/>
          <p:nvPr/>
        </p:nvSpPr>
        <p:spPr>
          <a:xfrm>
            <a:off x="301625" y="1924685"/>
            <a:ext cx="11657330" cy="899160"/>
          </a:xfrm>
          <a:prstGeom prst="rect">
            <a:avLst/>
          </a:prstGeom>
          <a:noFill/>
        </p:spPr>
        <p:txBody>
          <a:bodyPr wrap="square" rtlCol="0">
            <a:noAutofit/>
          </a:bodyPr>
          <a:lstStyle/>
          <a:p>
            <a:pPr algn="ctr"/>
            <a:r>
              <a:rPr lang="en-US" altLang="zh-CN" sz="4000" b="1" spc="200" dirty="0">
                <a:latin typeface="Times New Roman" panose="02020503050405090304" charset="0"/>
                <a:ea typeface="+mn-ea"/>
                <a:cs typeface="Times New Roman" panose="02020503050405090304" charset="0"/>
                <a:sym typeface="+mn-ea"/>
              </a:rPr>
              <a:t>Topic8 Diffusion</a:t>
            </a:r>
            <a:endParaRPr lang="en-US" altLang="zh-CN" sz="4000" b="1" spc="200" dirty="0">
              <a:latin typeface="Times New Roman" panose="02020503050405090304" charset="0"/>
              <a:ea typeface="+mn-ea"/>
              <a:cs typeface="Times New Roman" panose="02020503050405090304" charset="0"/>
              <a:sym typeface="+mn-ea"/>
            </a:endParaRPr>
          </a:p>
          <a:p>
            <a:pPr algn="ctr"/>
            <a:endParaRPr lang="en-US" altLang="zh-CN" sz="2800" spc="200" dirty="0">
              <a:latin typeface="Times New Roman" panose="02020503050405090304" charset="0"/>
              <a:ea typeface="+mn-ea"/>
              <a:cs typeface="Times New Roman" panose="02020503050405090304" charset="0"/>
              <a:sym typeface="+mn-ea"/>
            </a:endParaRPr>
          </a:p>
        </p:txBody>
      </p:sp>
      <p:sp>
        <p:nvSpPr>
          <p:cNvPr id="8" name="文本框 7"/>
          <p:cNvSpPr txBox="1"/>
          <p:nvPr/>
        </p:nvSpPr>
        <p:spPr>
          <a:xfrm>
            <a:off x="3952840" y="3975735"/>
            <a:ext cx="4159250" cy="645160"/>
          </a:xfrm>
          <a:prstGeom prst="rect">
            <a:avLst/>
          </a:prstGeom>
          <a:noFill/>
        </p:spPr>
        <p:txBody>
          <a:bodyPr wrap="square" rtlCol="0">
            <a:spAutoFit/>
          </a:bodyPr>
          <a:lstStyle/>
          <a:p>
            <a:pPr algn="ctr"/>
            <a:r>
              <a:rPr lang="zh-CN" altLang="en-US" sz="1800" dirty="0">
                <a:latin typeface="+mn-ea"/>
                <a:ea typeface="+mn-ea"/>
                <a:cs typeface="+mn-ea"/>
              </a:rPr>
              <a:t>成员： 高语灿 李亦昕</a:t>
            </a:r>
            <a:r>
              <a:rPr lang="en-US" altLang="zh-CN" sz="1800" dirty="0">
                <a:latin typeface="+mn-ea"/>
                <a:ea typeface="+mn-ea"/>
                <a:cs typeface="+mn-ea"/>
              </a:rPr>
              <a:t> </a:t>
            </a:r>
            <a:r>
              <a:rPr lang="zh-CN" altLang="en-US" sz="1800" dirty="0">
                <a:latin typeface="+mn-ea"/>
                <a:ea typeface="+mn-ea"/>
                <a:cs typeface="+mn-ea"/>
              </a:rPr>
              <a:t>陈骄阳</a:t>
            </a:r>
            <a:r>
              <a:rPr lang="en-US" altLang="zh-CN" sz="1800" dirty="0">
                <a:latin typeface="+mn-ea"/>
                <a:ea typeface="+mn-ea"/>
                <a:cs typeface="+mn-ea"/>
              </a:rPr>
              <a:t>       2026.3.26</a:t>
            </a:r>
            <a:endParaRPr lang="en-US" altLang="zh-CN" sz="1800" dirty="0">
              <a:latin typeface="+mn-ea"/>
              <a:ea typeface="+mn-ea"/>
              <a:cs typeface="+mn-ea"/>
            </a:endParaRPr>
          </a:p>
        </p:txBody>
      </p:sp>
    </p:spTree>
    <p:custDataLst>
      <p:tags r:id="rId2"/>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4626610" y="1118235"/>
            <a:ext cx="7563485" cy="4804410"/>
          </a:xfrm>
          <a:prstGeom prst="rect">
            <a:avLst/>
          </a:prstGeom>
          <a:noFill/>
        </p:spPr>
        <p:txBody>
          <a:bodyPr wrap="square" rtlCol="0">
            <a:noAutofit/>
          </a:bodyPr>
          <a:lstStyle/>
          <a:p>
            <a:pPr marL="514350" indent="-514350">
              <a:buAutoNum type="arabicPeriod"/>
            </a:pPr>
            <a:r>
              <a:rPr lang="en-US" altLang="zh-CN" sz="2800" dirty="0">
                <a:latin typeface="Times New Roman Regular" panose="02020503050405090304" charset="0"/>
                <a:ea typeface="微软雅黑" charset="-122"/>
                <a:cs typeface="Times New Roman Regular" panose="02020503050405090304" charset="0"/>
              </a:rPr>
              <a:t>DDPM</a:t>
            </a:r>
            <a:endParaRPr lang="en-US" altLang="zh-CN" sz="2800" dirty="0">
              <a:latin typeface="Times New Roman Regular" panose="02020503050405090304" charset="0"/>
              <a:ea typeface="微软雅黑" charset="-122"/>
              <a:cs typeface="Times New Roman Regular" panose="02020503050405090304" charset="0"/>
            </a:endParaRPr>
          </a:p>
          <a:p>
            <a:pPr marL="514350" indent="-514350">
              <a:buAutoNum type="arabicPeriod"/>
            </a:pPr>
            <a:r>
              <a:rPr lang="zh-CN" altLang="en-US" sz="2800" dirty="0">
                <a:latin typeface="微软雅黑" charset="-122"/>
                <a:ea typeface="微软雅黑" charset="-122"/>
              </a:rPr>
              <a:t>图像生成</a:t>
            </a:r>
            <a:endParaRPr lang="en-US" altLang="zh-CN" sz="2800" dirty="0">
              <a:latin typeface="微软雅黑" charset="-122"/>
              <a:ea typeface="微软雅黑" charset="-122"/>
            </a:endParaRPr>
          </a:p>
          <a:p>
            <a:pPr marL="514350" indent="-514350">
              <a:buAutoNum type="arabicPeriod"/>
            </a:pPr>
            <a:r>
              <a:rPr lang="en-US" altLang="zh-CN" sz="2800" dirty="0">
                <a:latin typeface="Times New Roman Regular" panose="02020503050405090304" charset="0"/>
                <a:ea typeface="微软雅黑" charset="-122"/>
                <a:cs typeface="Times New Roman Regular" panose="02020503050405090304" charset="0"/>
              </a:rPr>
              <a:t>DDPM </a:t>
            </a:r>
            <a:r>
              <a:rPr lang="zh-CN" altLang="en-US" sz="2800" dirty="0">
                <a:latin typeface="Times New Roman Regular" panose="02020503050405090304" charset="0"/>
                <a:ea typeface="微软雅黑" charset="-122"/>
                <a:cs typeface="Times New Roman Regular" panose="02020503050405090304" charset="0"/>
              </a:rPr>
              <a:t>整体架构</a:t>
            </a:r>
            <a:endParaRPr lang="en-US" altLang="zh-CN" sz="2800" dirty="0">
              <a:latin typeface="Times New Roman Regular" panose="02020503050405090304" charset="0"/>
              <a:ea typeface="微软雅黑" charset="-122"/>
              <a:cs typeface="Times New Roman Regular" panose="02020503050405090304" charset="0"/>
            </a:endParaRPr>
          </a:p>
          <a:p>
            <a:pPr marL="514350" indent="-514350">
              <a:buAutoNum type="arabicPeriod"/>
            </a:pPr>
            <a:r>
              <a:rPr lang="en-US" altLang="zh-CN" sz="2800" dirty="0">
                <a:latin typeface="Times New Roman Regular" panose="02020503050405090304" charset="0"/>
                <a:ea typeface="微软雅黑" charset="-122"/>
                <a:cs typeface="Times New Roman Regular" panose="02020503050405090304" charset="0"/>
              </a:rPr>
              <a:t>DDPM </a:t>
            </a:r>
            <a:r>
              <a:rPr lang="zh-CN" altLang="en-US" sz="2800" dirty="0">
                <a:latin typeface="Times New Roman Regular" panose="02020503050405090304" charset="0"/>
                <a:ea typeface="微软雅黑" charset="-122"/>
                <a:cs typeface="Times New Roman Regular" panose="02020503050405090304" charset="0"/>
              </a:rPr>
              <a:t>具体算法</a:t>
            </a:r>
            <a:r>
              <a:rPr lang="en-US" altLang="zh-CN" sz="2800" dirty="0">
                <a:latin typeface="Times New Roman Regular" panose="02020503050405090304" charset="0"/>
                <a:ea typeface="微软雅黑" charset="-122"/>
                <a:cs typeface="Times New Roman Regular" panose="02020503050405090304" charset="0"/>
              </a:rPr>
              <a:t> </a:t>
            </a:r>
            <a:endParaRPr lang="en-US" altLang="zh-CN" sz="2800" dirty="0">
              <a:latin typeface="微软雅黑" charset="-122"/>
              <a:ea typeface="微软雅黑" charset="-122"/>
            </a:endParaRPr>
          </a:p>
          <a:p>
            <a:pPr marL="514350" indent="-514350">
              <a:buAutoNum type="arabicPeriod"/>
            </a:pPr>
            <a:r>
              <a:rPr lang="en-US" altLang="zh-CN" sz="2800" dirty="0">
                <a:latin typeface="Times New Roman Regular" panose="02020503050405090304" charset="0"/>
                <a:ea typeface="微软雅黑" charset="-122"/>
                <a:cs typeface="Times New Roman Regular" panose="02020503050405090304" charset="0"/>
              </a:rPr>
              <a:t>Parameter Efficient Methods</a:t>
            </a:r>
            <a:endParaRPr lang="en-US" altLang="zh-CN" sz="2800" dirty="0">
              <a:latin typeface="微软雅黑" charset="-122"/>
              <a:ea typeface="微软雅黑" charset="-122"/>
            </a:endParaRPr>
          </a:p>
          <a:p>
            <a:pPr marL="514350" indent="-514350">
              <a:buAutoNum type="arabicPeriod"/>
            </a:pPr>
            <a:r>
              <a:rPr lang="en-US" altLang="zh-CN" sz="2800" dirty="0">
                <a:latin typeface="Times New Roman Regular" panose="02020503050405090304" charset="0"/>
                <a:ea typeface="微软雅黑" charset="-122"/>
                <a:cs typeface="Times New Roman Regular" panose="02020503050405090304" charset="0"/>
              </a:rPr>
              <a:t>Efficient Sampling and Inference</a:t>
            </a:r>
            <a:endParaRPr lang="en-US" altLang="zh-CN" sz="2800" dirty="0">
              <a:latin typeface="Times New Roman Regular" panose="02020503050405090304" charset="0"/>
              <a:ea typeface="微软雅黑" charset="-122"/>
              <a:cs typeface="Times New Roman Regular" panose="02020503050405090304" charset="0"/>
            </a:endParaRPr>
          </a:p>
          <a:p>
            <a:pPr marL="514350" indent="-514350" algn="l">
              <a:buClrTx/>
              <a:buSzTx/>
              <a:buFontTx/>
              <a:buAutoNum type="arabicPeriod"/>
            </a:pPr>
            <a:r>
              <a:rPr lang="en-US" altLang="zh-CN" sz="2800" dirty="0">
                <a:latin typeface="Times New Roman Regular" panose="02020503050405090304" charset="0"/>
                <a:ea typeface="微软雅黑" charset="-122"/>
                <a:cs typeface="Times New Roman Regular" panose="02020503050405090304" charset="0"/>
              </a:rPr>
              <a:t>Architecture Of Diffusion Model</a:t>
            </a:r>
            <a:endParaRPr lang="en-US" altLang="zh-CN" sz="2800" dirty="0">
              <a:latin typeface="Times New Roman Regular" panose="02020503050405090304" charset="0"/>
              <a:ea typeface="微软雅黑" charset="-122"/>
              <a:cs typeface="Times New Roman Regular" panose="02020503050405090304" charset="0"/>
            </a:endParaRPr>
          </a:p>
          <a:p>
            <a:pPr marL="514350" indent="-514350" algn="l">
              <a:buClrTx/>
              <a:buSzTx/>
              <a:buFontTx/>
              <a:buAutoNum type="arabicPeriod"/>
            </a:pPr>
            <a:r>
              <a:rPr lang="en-US" altLang="zh-CN" sz="2800" dirty="0">
                <a:latin typeface="Times New Roman Regular" panose="02020503050405090304" charset="0"/>
                <a:ea typeface="微软雅黑" charset="-122"/>
                <a:cs typeface="Times New Roman Regular" panose="02020503050405090304" charset="0"/>
              </a:rPr>
              <a:t>Guidance and Controllable Generation</a:t>
            </a:r>
            <a:endParaRPr lang="en-US" altLang="zh-CN" sz="2800" dirty="0">
              <a:latin typeface="Times New Roman Regular" panose="02020503050405090304" charset="0"/>
              <a:ea typeface="微软雅黑" charset="-122"/>
              <a:cs typeface="Times New Roman Regular" panose="02020503050405090304" charset="0"/>
            </a:endParaRPr>
          </a:p>
          <a:p>
            <a:pPr marL="514350" indent="-514350" algn="l">
              <a:buClrTx/>
              <a:buSzTx/>
              <a:buFontTx/>
              <a:buAutoNum type="arabicPeriod"/>
            </a:pPr>
            <a:r>
              <a:rPr lang="en-US" altLang="zh-CN" sz="2800" dirty="0">
                <a:latin typeface="Times New Roman Regular" panose="02020503050405090304" charset="0"/>
                <a:ea typeface="微软雅黑" charset="-122"/>
                <a:cs typeface="Times New Roman Regular" panose="02020503050405090304" charset="0"/>
              </a:rPr>
              <a:t>Application Of Diffusion Models</a:t>
            </a:r>
            <a:endParaRPr lang="en-US" altLang="zh-CN" sz="2800" dirty="0">
              <a:latin typeface="Times New Roman Regular" panose="02020503050405090304" charset="0"/>
              <a:ea typeface="微软雅黑" charset="-122"/>
              <a:cs typeface="Times New Roman Regular" panose="02020503050405090304" charset="0"/>
            </a:endParaRPr>
          </a:p>
          <a:p>
            <a:pPr marL="514350" indent="-514350">
              <a:buAutoNum type="arabicPeriod"/>
            </a:pPr>
            <a:endParaRPr lang="zh-CN" altLang="en-US" sz="3200" dirty="0">
              <a:latin typeface="微软雅黑" charset="-122"/>
              <a:ea typeface="微软雅黑" charset="-122"/>
            </a:endParaRPr>
          </a:p>
        </p:txBody>
      </p:sp>
      <p:sp>
        <p:nvSpPr>
          <p:cNvPr id="9" name="矩形 8"/>
          <p:cNvSpPr/>
          <p:nvPr/>
        </p:nvSpPr>
        <p:spPr>
          <a:xfrm>
            <a:off x="1001299" y="2521731"/>
            <a:ext cx="3185487" cy="923330"/>
          </a:xfrm>
          <a:prstGeom prst="rect">
            <a:avLst/>
          </a:prstGeom>
          <a:noFill/>
        </p:spPr>
        <p:txBody>
          <a:bodyPr wrap="none" lIns="91440" tIns="45720" rIns="91440" bIns="45720">
            <a:spAutoFit/>
          </a:bodyPr>
          <a:lstStyle/>
          <a:p>
            <a:pPr algn="ctr"/>
            <a:r>
              <a:rPr lang="en-US" altLang="zh-CN" sz="5400" b="0" cap="none" spc="0" dirty="0">
                <a:ln w="0"/>
                <a:solidFill>
                  <a:schemeClr val="accent1"/>
                </a:solidFill>
                <a:effectLst>
                  <a:outerShdw blurRad="38100" dist="25400" dir="5400000" algn="ctr" rotWithShape="0">
                    <a:srgbClr val="6E747A">
                      <a:alpha val="43000"/>
                    </a:srgbClr>
                  </a:outerShdw>
                </a:effectLst>
              </a:rPr>
              <a:t>OUTLINE</a:t>
            </a:r>
            <a:endParaRPr lang="zh-CN" altLang="en-US" sz="5400" b="0" cap="none" spc="0" dirty="0">
              <a:ln w="0"/>
              <a:solidFill>
                <a:schemeClr val="accent1"/>
              </a:solidFill>
              <a:effectLst>
                <a:outerShdw blurRad="38100" dist="25400" dir="5400000" algn="ctr" rotWithShape="0">
                  <a:srgbClr val="6E747A">
                    <a:alpha val="43000"/>
                  </a:srgbClr>
                </a:outerShdw>
              </a:effectLst>
            </a:endParaRPr>
          </a:p>
        </p:txBody>
      </p:sp>
      <p:pic>
        <p:nvPicPr>
          <p:cNvPr id="6" name="图片 5" descr="剪影居中蓝 低版本"/>
          <p:cNvPicPr>
            <a:picLocks noChangeAspect="1"/>
          </p:cNvPicPr>
          <p:nvPr/>
        </p:nvPicPr>
        <p:blipFill>
          <a:blip r:embed="rId1"/>
          <a:stretch>
            <a:fillRect/>
          </a:stretch>
        </p:blipFill>
        <p:spPr>
          <a:xfrm>
            <a:off x="-281222" y="4952719"/>
            <a:ext cx="12190495" cy="3776196"/>
          </a:xfrm>
          <a:prstGeom prst="rect">
            <a:avLst/>
          </a:prstGeom>
          <a:noFill/>
          <a:ln w="9525">
            <a:noFill/>
          </a:ln>
        </p:spPr>
      </p:pic>
      <p:cxnSp>
        <p:nvCxnSpPr>
          <p:cNvPr id="4" name="直接连接符 3"/>
          <p:cNvCxnSpPr/>
          <p:nvPr/>
        </p:nvCxnSpPr>
        <p:spPr>
          <a:xfrm>
            <a:off x="4625746" y="2866834"/>
            <a:ext cx="6095866"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 name="直接连接符 1"/>
          <p:cNvCxnSpPr/>
          <p:nvPr>
            <p:custDataLst>
              <p:tags r:id="rId2"/>
            </p:custDataLst>
          </p:nvPr>
        </p:nvCxnSpPr>
        <p:spPr>
          <a:xfrm>
            <a:off x="4625111" y="3734244"/>
            <a:ext cx="6095866" cy="0"/>
          </a:xfrm>
          <a:prstGeom prst="line">
            <a:avLst/>
          </a:prstGeom>
          <a:ln w="38100"/>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idx="1"/>
          </p:nvPr>
        </p:nvSpPr>
        <p:spPr>
          <a:xfrm>
            <a:off x="547370" y="1462405"/>
            <a:ext cx="5796915" cy="456565"/>
          </a:xfrm>
        </p:spPr>
        <p:txBody>
          <a:bodyPr/>
          <a:lstStyle/>
          <a:p>
            <a:pPr marL="0" indent="0">
              <a:buNone/>
            </a:pPr>
            <a:r>
              <a:rPr lang="en-US" altLang="zh-CN" dirty="0">
                <a:solidFill>
                  <a:schemeClr val="tx1"/>
                </a:solidFill>
                <a:latin typeface="Times New Roman Regular" panose="02020503050405090304" charset="0"/>
                <a:cs typeface="Times New Roman Regular" panose="02020503050405090304" charset="0"/>
              </a:rPr>
              <a:t>Denoising Diffusion Probabilistic Models</a:t>
            </a:r>
            <a:endParaRPr lang="zh-CN" altLang="en-US" dirty="0">
              <a:solidFill>
                <a:schemeClr val="tx1"/>
              </a:solidFill>
              <a:latin typeface="Times New Roman Regular" panose="02020503050405090304" charset="0"/>
              <a:cs typeface="Times New Roman Regular" panose="02020503050405090304" charset="0"/>
            </a:endParaRPr>
          </a:p>
          <a:p>
            <a:pPr marL="457200" indent="-457200">
              <a:buAutoNum type="arabicPeriod"/>
            </a:pPr>
            <a:endParaRPr lang="zh-CN" altLang="en-US" dirty="0">
              <a:solidFill>
                <a:schemeClr val="tx1"/>
              </a:solidFill>
              <a:latin typeface="Times New Roman Regular" panose="02020503050405090304" charset="0"/>
              <a:cs typeface="Times New Roman Regular" panose="02020503050405090304" charset="0"/>
            </a:endParaRPr>
          </a:p>
          <a:p>
            <a:pPr marL="0" indent="0">
              <a:buNone/>
            </a:pPr>
            <a:endParaRPr lang="zh-CN" altLang="en-US" dirty="0">
              <a:solidFill>
                <a:schemeClr val="tx1"/>
              </a:solidFill>
              <a:latin typeface="宋体" charset="0"/>
              <a:ea typeface="宋体" charset="0"/>
              <a:cs typeface="宋体" charset="0"/>
            </a:endParaRPr>
          </a:p>
        </p:txBody>
      </p:sp>
      <p:pic>
        <p:nvPicPr>
          <p:cNvPr id="12" name="图片 2" descr="剪影蓝 低版本"/>
          <p:cNvPicPr>
            <a:picLocks noChangeAspect="1"/>
          </p:cNvPicPr>
          <p:nvPr/>
        </p:nvPicPr>
        <p:blipFill>
          <a:blip r:embed="rId1"/>
          <a:srcRect l="-8"/>
          <a:stretch>
            <a:fillRect/>
          </a:stretch>
        </p:blipFill>
        <p:spPr>
          <a:xfrm>
            <a:off x="1353" y="5378386"/>
            <a:ext cx="12190495" cy="2438099"/>
          </a:xfrm>
          <a:prstGeom prst="rect">
            <a:avLst/>
          </a:prstGeom>
          <a:noFill/>
          <a:ln w="9525">
            <a:noFill/>
          </a:ln>
        </p:spPr>
      </p:pic>
      <p:sp>
        <p:nvSpPr>
          <p:cNvPr id="13" name="矩形 12"/>
          <p:cNvSpPr/>
          <p:nvPr>
            <p:custDataLst>
              <p:tags r:id="rId2"/>
            </p:custDataLst>
          </p:nvPr>
        </p:nvSpPr>
        <p:spPr>
          <a:xfrm>
            <a:off x="1353" y="600"/>
            <a:ext cx="12190495" cy="840002"/>
          </a:xfrm>
          <a:prstGeom prst="rect">
            <a:avLst/>
          </a:prstGeom>
          <a:gradFill>
            <a:gsLst>
              <a:gs pos="0">
                <a:schemeClr val="bg1"/>
              </a:gs>
              <a:gs pos="50000">
                <a:srgbClr val="5399D4"/>
              </a:gs>
              <a:gs pos="100000">
                <a:srgbClr val="2E3C63"/>
              </a:gs>
            </a:gsLst>
          </a:gradFill>
          <a:effectLst/>
        </p:spPr>
        <p:style>
          <a:lnRef idx="0">
            <a:srgbClr val="FFFFFF"/>
          </a:lnRef>
          <a:fillRef idx="2">
            <a:schemeClr val="accent1"/>
          </a:fillRef>
          <a:effectRef idx="1">
            <a:schemeClr val="accent1"/>
          </a:effectRef>
          <a:fontRef idx="minor">
            <a:schemeClr val="lt1"/>
          </a:fontRef>
        </p:style>
        <p:txBody>
          <a:bodyPr rtlCol="0" anchor="ctr"/>
          <a:lstStyle/>
          <a:p>
            <a:pPr algn="ctr" fontAlgn="base"/>
            <a:endParaRPr lang="zh-CN" altLang="en-US" sz="100" strike="noStrike" noProof="1"/>
          </a:p>
        </p:txBody>
      </p:sp>
      <p:pic>
        <p:nvPicPr>
          <p:cNvPr id="14" name="图片 13" descr="国科大标准Logo横式一（白色）"/>
          <p:cNvPicPr>
            <a:picLocks noChangeAspect="1"/>
          </p:cNvPicPr>
          <p:nvPr/>
        </p:nvPicPr>
        <p:blipFill>
          <a:blip r:embed="rId3"/>
          <a:stretch>
            <a:fillRect/>
          </a:stretch>
        </p:blipFill>
        <p:spPr>
          <a:xfrm>
            <a:off x="9815971" y="187901"/>
            <a:ext cx="2167622" cy="457144"/>
          </a:xfrm>
          <a:prstGeom prst="rect">
            <a:avLst/>
          </a:prstGeom>
        </p:spPr>
      </p:pic>
      <p:grpSp>
        <p:nvGrpSpPr>
          <p:cNvPr id="2" name="组合 1"/>
          <p:cNvGrpSpPr/>
          <p:nvPr/>
        </p:nvGrpSpPr>
        <p:grpSpPr>
          <a:xfrm>
            <a:off x="46355" y="-46990"/>
            <a:ext cx="9291320" cy="919480"/>
            <a:chOff x="73" y="-74"/>
            <a:chExt cx="14632" cy="1448"/>
          </a:xfrm>
        </p:grpSpPr>
        <p:sp>
          <p:nvSpPr>
            <p:cNvPr id="3078" name="文本框 3"/>
            <p:cNvSpPr txBox="1"/>
            <p:nvPr>
              <p:custDataLst>
                <p:tags r:id="rId4"/>
              </p:custDataLst>
            </p:nvPr>
          </p:nvSpPr>
          <p:spPr>
            <a:xfrm>
              <a:off x="73" y="-74"/>
              <a:ext cx="1340" cy="1448"/>
            </a:xfrm>
            <a:prstGeom prst="rect">
              <a:avLst/>
            </a:prstGeom>
            <a:noFill/>
            <a:ln w="12700" cmpd="sng">
              <a:noFill/>
              <a:prstDash val="solid"/>
            </a:ln>
            <a:effectLst>
              <a:outerShdw dist="63500" dir="2700000" algn="tl" rotWithShape="0">
                <a:schemeClr val="bg1">
                  <a:alpha val="100000"/>
                </a:schemeClr>
              </a:outerShdw>
            </a:effectLst>
          </p:spPr>
          <p:txBody>
            <a:bodyPr wrap="square" anchor="t" anchorCtr="0"/>
            <a:lstStyle/>
            <a:p>
              <a:pPr>
                <a:lnSpc>
                  <a:spcPct val="130000"/>
                </a:lnSpc>
              </a:pPr>
              <a:r>
                <a:rPr lang="en-US" altLang="zh-CN" sz="4000" i="1" dirty="0">
                  <a:ln w="19050">
                    <a:noFill/>
                  </a:ln>
                  <a:gradFill>
                    <a:gsLst>
                      <a:gs pos="39000">
                        <a:srgbClr val="5399D4"/>
                      </a:gs>
                      <a:gs pos="100000">
                        <a:schemeClr val="bg1"/>
                      </a:gs>
                    </a:gsLst>
                    <a:lin ang="5400000" scaled="0"/>
                  </a:gradFill>
                  <a:latin typeface="Bauhaus 93" panose="04030905020B02020C02" charset="0"/>
                  <a:ea typeface="造字工房朗倩（非商用）常规体" charset="-122"/>
                  <a:cs typeface="Bauhaus 93" panose="04030905020B02020C02" charset="0"/>
                </a:rPr>
                <a:t>01</a:t>
              </a:r>
              <a:endParaRPr lang="en-US" altLang="zh-CN" sz="4000" i="1" dirty="0">
                <a:ln w="19050">
                  <a:noFill/>
                </a:ln>
                <a:gradFill>
                  <a:gsLst>
                    <a:gs pos="39000">
                      <a:srgbClr val="5399D4"/>
                    </a:gs>
                    <a:gs pos="100000">
                      <a:schemeClr val="bg1"/>
                    </a:gs>
                  </a:gsLst>
                  <a:lin ang="5400000" scaled="0"/>
                </a:gradFill>
                <a:latin typeface="Bauhaus 93" panose="04030905020B02020C02" charset="0"/>
                <a:ea typeface="造字工房朗倩（非商用）常规体" charset="-122"/>
                <a:cs typeface="Bauhaus 93" panose="04030905020B02020C02" charset="0"/>
              </a:endParaRPr>
            </a:p>
          </p:txBody>
        </p:sp>
        <p:sp>
          <p:nvSpPr>
            <p:cNvPr id="3" name="文本框 2"/>
            <p:cNvSpPr txBox="1"/>
            <p:nvPr>
              <p:custDataLst>
                <p:tags r:id="rId5"/>
              </p:custDataLst>
            </p:nvPr>
          </p:nvSpPr>
          <p:spPr>
            <a:xfrm>
              <a:off x="1413" y="239"/>
              <a:ext cx="13293" cy="847"/>
            </a:xfrm>
            <a:prstGeom prst="rect">
              <a:avLst/>
            </a:prstGeom>
            <a:noFill/>
          </p:spPr>
          <p:txBody>
            <a:bodyPr wrap="square" rtlCol="0">
              <a:noAutofit/>
            </a:bodyPr>
            <a:lstStyle/>
            <a:p>
              <a:r>
                <a:rPr lang="en-US" altLang="zh-CN" sz="3600" dirty="0">
                  <a:latin typeface="Times New Roman Regular" panose="02020503050405090304" charset="0"/>
                  <a:ea typeface="微软雅黑" charset="-122"/>
                  <a:cs typeface="Times New Roman Regular" panose="02020503050405090304" charset="0"/>
                </a:rPr>
                <a:t>DDPM</a:t>
              </a:r>
              <a:endParaRPr lang="en-US" altLang="zh-CN" sz="3600" dirty="0">
                <a:latin typeface="Times New Roman Regular" panose="02020503050405090304" charset="0"/>
                <a:ea typeface="微软雅黑" charset="-122"/>
                <a:cs typeface="Times New Roman Regular" panose="02020503050405090304" charset="0"/>
              </a:endParaRPr>
            </a:p>
          </p:txBody>
        </p:sp>
      </p:grpSp>
      <p:pic>
        <p:nvPicPr>
          <p:cNvPr id="4" name="图片 3"/>
          <p:cNvPicPr>
            <a:picLocks noChangeAspect="1"/>
          </p:cNvPicPr>
          <p:nvPr>
            <p:custDataLst>
              <p:tags r:id="rId6"/>
            </p:custDataLst>
          </p:nvPr>
        </p:nvPicPr>
        <p:blipFill>
          <a:blip r:embed="rId7"/>
          <a:stretch>
            <a:fillRect/>
          </a:stretch>
        </p:blipFill>
        <p:spPr>
          <a:xfrm>
            <a:off x="547370" y="2432685"/>
            <a:ext cx="5409565" cy="1985645"/>
          </a:xfrm>
          <a:prstGeom prst="rect">
            <a:avLst/>
          </a:prstGeom>
        </p:spPr>
      </p:pic>
      <p:pic>
        <p:nvPicPr>
          <p:cNvPr id="8" name="图片 7"/>
          <p:cNvPicPr>
            <a:picLocks noChangeAspect="1"/>
          </p:cNvPicPr>
          <p:nvPr>
            <p:custDataLst>
              <p:tags r:id="rId8"/>
            </p:custDataLst>
          </p:nvPr>
        </p:nvPicPr>
        <p:blipFill>
          <a:blip r:embed="rId9"/>
          <a:stretch>
            <a:fillRect/>
          </a:stretch>
        </p:blipFill>
        <p:spPr>
          <a:xfrm>
            <a:off x="6189980" y="1831340"/>
            <a:ext cx="5593080" cy="340550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图片 2" descr="剪影蓝 低版本"/>
          <p:cNvPicPr>
            <a:picLocks noChangeAspect="1"/>
          </p:cNvPicPr>
          <p:nvPr/>
        </p:nvPicPr>
        <p:blipFill>
          <a:blip r:embed="rId1"/>
          <a:srcRect l="-8"/>
          <a:stretch>
            <a:fillRect/>
          </a:stretch>
        </p:blipFill>
        <p:spPr>
          <a:xfrm>
            <a:off x="1353" y="5378386"/>
            <a:ext cx="12190495" cy="2438099"/>
          </a:xfrm>
          <a:prstGeom prst="rect">
            <a:avLst/>
          </a:prstGeom>
          <a:noFill/>
          <a:ln w="9525">
            <a:noFill/>
          </a:ln>
        </p:spPr>
      </p:pic>
      <p:sp>
        <p:nvSpPr>
          <p:cNvPr id="3" name="矩形 2"/>
          <p:cNvSpPr/>
          <p:nvPr>
            <p:custDataLst>
              <p:tags r:id="rId2"/>
            </p:custDataLst>
          </p:nvPr>
        </p:nvSpPr>
        <p:spPr>
          <a:xfrm>
            <a:off x="1353" y="600"/>
            <a:ext cx="12190495" cy="840002"/>
          </a:xfrm>
          <a:prstGeom prst="rect">
            <a:avLst/>
          </a:prstGeom>
          <a:gradFill>
            <a:gsLst>
              <a:gs pos="0">
                <a:schemeClr val="bg1"/>
              </a:gs>
              <a:gs pos="50000">
                <a:srgbClr val="5399D4"/>
              </a:gs>
              <a:gs pos="100000">
                <a:srgbClr val="2E3C63"/>
              </a:gs>
            </a:gsLst>
          </a:gradFill>
          <a:effectLst/>
        </p:spPr>
        <p:style>
          <a:lnRef idx="0">
            <a:srgbClr val="FFFFFF"/>
          </a:lnRef>
          <a:fillRef idx="2">
            <a:schemeClr val="accent1"/>
          </a:fillRef>
          <a:effectRef idx="1">
            <a:schemeClr val="accent1"/>
          </a:effectRef>
          <a:fontRef idx="minor">
            <a:schemeClr val="lt1"/>
          </a:fontRef>
        </p:style>
        <p:txBody>
          <a:bodyPr rtlCol="0" anchor="ctr"/>
          <a:lstStyle/>
          <a:p>
            <a:pPr algn="ctr" fontAlgn="base"/>
            <a:endParaRPr lang="zh-CN" altLang="en-US" sz="100" strike="noStrike" noProof="1"/>
          </a:p>
        </p:txBody>
      </p:sp>
      <p:pic>
        <p:nvPicPr>
          <p:cNvPr id="2" name="图片 1" descr="国科大标准Logo横式一（白色）"/>
          <p:cNvPicPr>
            <a:picLocks noChangeAspect="1"/>
          </p:cNvPicPr>
          <p:nvPr/>
        </p:nvPicPr>
        <p:blipFill>
          <a:blip r:embed="rId3"/>
          <a:stretch>
            <a:fillRect/>
          </a:stretch>
        </p:blipFill>
        <p:spPr>
          <a:xfrm>
            <a:off x="9815971" y="187901"/>
            <a:ext cx="2167622" cy="457144"/>
          </a:xfrm>
          <a:prstGeom prst="rect">
            <a:avLst/>
          </a:prstGeom>
        </p:spPr>
      </p:pic>
      <p:grpSp>
        <p:nvGrpSpPr>
          <p:cNvPr id="5" name="组合 4"/>
          <p:cNvGrpSpPr/>
          <p:nvPr/>
        </p:nvGrpSpPr>
        <p:grpSpPr>
          <a:xfrm>
            <a:off x="46355" y="-46990"/>
            <a:ext cx="9291320" cy="919480"/>
            <a:chOff x="73" y="-74"/>
            <a:chExt cx="14632" cy="1448"/>
          </a:xfrm>
        </p:grpSpPr>
        <p:sp>
          <p:nvSpPr>
            <p:cNvPr id="3078" name="文本框 3"/>
            <p:cNvSpPr txBox="1"/>
            <p:nvPr>
              <p:custDataLst>
                <p:tags r:id="rId4"/>
              </p:custDataLst>
            </p:nvPr>
          </p:nvSpPr>
          <p:spPr>
            <a:xfrm>
              <a:off x="73" y="-74"/>
              <a:ext cx="1340" cy="1448"/>
            </a:xfrm>
            <a:prstGeom prst="rect">
              <a:avLst/>
            </a:prstGeom>
            <a:noFill/>
            <a:ln w="12700" cmpd="sng">
              <a:noFill/>
              <a:prstDash val="solid"/>
            </a:ln>
            <a:effectLst>
              <a:outerShdw dist="63500" dir="2700000" algn="tl" rotWithShape="0">
                <a:schemeClr val="bg1">
                  <a:alpha val="100000"/>
                </a:schemeClr>
              </a:outerShdw>
            </a:effectLst>
          </p:spPr>
          <p:txBody>
            <a:bodyPr wrap="square" anchor="t" anchorCtr="0"/>
            <a:lstStyle/>
            <a:p>
              <a:pPr>
                <a:lnSpc>
                  <a:spcPct val="130000"/>
                </a:lnSpc>
              </a:pPr>
              <a:r>
                <a:rPr lang="en-US" altLang="zh-CN" sz="4000" i="1" dirty="0">
                  <a:ln w="19050">
                    <a:noFill/>
                  </a:ln>
                  <a:gradFill>
                    <a:gsLst>
                      <a:gs pos="39000">
                        <a:srgbClr val="5399D4"/>
                      </a:gs>
                      <a:gs pos="100000">
                        <a:schemeClr val="bg1"/>
                      </a:gs>
                    </a:gsLst>
                    <a:lin ang="5400000" scaled="0"/>
                  </a:gradFill>
                  <a:latin typeface="Bauhaus 93" panose="04030905020B02020C02" charset="0"/>
                  <a:ea typeface="造字工房朗倩（非商用）常规体" charset="-122"/>
                  <a:cs typeface="Bauhaus 93" panose="04030905020B02020C02" charset="0"/>
                </a:rPr>
                <a:t>02</a:t>
              </a:r>
              <a:endParaRPr lang="en-US" altLang="zh-CN" sz="4000" i="1" dirty="0">
                <a:ln w="19050">
                  <a:noFill/>
                </a:ln>
                <a:gradFill>
                  <a:gsLst>
                    <a:gs pos="39000">
                      <a:srgbClr val="5399D4"/>
                    </a:gs>
                    <a:gs pos="100000">
                      <a:schemeClr val="bg1"/>
                    </a:gs>
                  </a:gsLst>
                  <a:lin ang="5400000" scaled="0"/>
                </a:gradFill>
                <a:latin typeface="Bauhaus 93" panose="04030905020B02020C02" charset="0"/>
                <a:ea typeface="造字工房朗倩（非商用）常规体" charset="-122"/>
                <a:cs typeface="Bauhaus 93" panose="04030905020B02020C02" charset="0"/>
              </a:endParaRPr>
            </a:p>
          </p:txBody>
        </p:sp>
        <p:sp>
          <p:nvSpPr>
            <p:cNvPr id="4" name="文本框 3"/>
            <p:cNvSpPr txBox="1"/>
            <p:nvPr>
              <p:custDataLst>
                <p:tags r:id="rId5"/>
              </p:custDataLst>
            </p:nvPr>
          </p:nvSpPr>
          <p:spPr>
            <a:xfrm>
              <a:off x="1413" y="239"/>
              <a:ext cx="13293" cy="847"/>
            </a:xfrm>
            <a:prstGeom prst="rect">
              <a:avLst/>
            </a:prstGeom>
            <a:noFill/>
          </p:spPr>
          <p:txBody>
            <a:bodyPr wrap="square" rtlCol="0">
              <a:noAutofit/>
            </a:bodyPr>
            <a:lstStyle/>
            <a:p>
              <a:r>
                <a:rPr lang="zh-CN" altLang="en-US" sz="3600" dirty="0">
                  <a:latin typeface="微软雅黑" charset="-122"/>
                  <a:ea typeface="微软雅黑" charset="-122"/>
                </a:rPr>
                <a:t>前言——图像生成</a:t>
              </a:r>
              <a:endParaRPr lang="zh-CN" altLang="en-US" sz="3600" dirty="0">
                <a:latin typeface="微软雅黑" charset="-122"/>
                <a:ea typeface="微软雅黑" charset="-122"/>
              </a:endParaRPr>
            </a:p>
          </p:txBody>
        </p:sp>
      </p:grpSp>
      <p:sp>
        <p:nvSpPr>
          <p:cNvPr id="6" name="灯片编号占位符 5"/>
          <p:cNvSpPr>
            <a:spLocks noGrp="1"/>
          </p:cNvSpPr>
          <p:nvPr>
            <p:ph type="sldNum" sz="quarter" idx="12"/>
          </p:nvPr>
        </p:nvSpPr>
        <p:spPr/>
        <p:txBody>
          <a:bodyPr/>
          <a:lstStyle/>
          <a:p>
            <a:pPr fontAlgn="auto"/>
            <a:fld id="{49AE70B2-8BF9-45C0-BB95-33D1B9D3A854}" type="slidenum">
              <a:rPr lang="zh-CN" altLang="en-US" strike="noStrike" noProof="1" smtClean="0">
                <a:latin typeface="+mn-lt"/>
                <a:ea typeface="+mn-ea"/>
                <a:cs typeface="+mn-cs"/>
              </a:rPr>
            </a:fld>
            <a:endParaRPr lang="zh-CN" altLang="en-US" strike="noStrike" noProof="1"/>
          </a:p>
        </p:txBody>
      </p:sp>
      <p:sp>
        <p:nvSpPr>
          <p:cNvPr id="11" name="文本框 10"/>
          <p:cNvSpPr txBox="1"/>
          <p:nvPr/>
        </p:nvSpPr>
        <p:spPr>
          <a:xfrm>
            <a:off x="897255" y="1195070"/>
            <a:ext cx="9996170" cy="1074420"/>
          </a:xfrm>
          <a:prstGeom prst="rect">
            <a:avLst/>
          </a:prstGeom>
          <a:noFill/>
        </p:spPr>
        <p:txBody>
          <a:bodyPr wrap="square" rtlCol="0">
            <a:noAutofit/>
          </a:bodyPr>
          <a:lstStyle/>
          <a:p>
            <a:pPr marL="342900" indent="-342900">
              <a:buFont typeface="Wingdings" panose="05000000000000000000" pitchFamily="2" charset="2"/>
              <a:buChar char="l"/>
            </a:pPr>
            <a:r>
              <a:rPr lang="zh-CN" altLang="en-US" sz="2200" dirty="0">
                <a:latin typeface="Times New Roman Regular" panose="02020503050405090304" charset="0"/>
                <a:ea typeface="宋体" charset="0"/>
                <a:cs typeface="Times New Roman Regular" panose="02020503050405090304" charset="0"/>
              </a:rPr>
              <a:t>早期，在其他任务中，训练集本身会给出一个「标准答案」，指导AI的输出向标准答案靠拢。</a:t>
            </a:r>
            <a:endParaRPr lang="zh-CN" altLang="en-US" sz="2200" dirty="0">
              <a:latin typeface="Times New Roman Regular" panose="02020503050405090304" charset="0"/>
              <a:ea typeface="宋体" charset="0"/>
              <a:cs typeface="Times New Roman Regular" panose="02020503050405090304" charset="0"/>
            </a:endParaRPr>
          </a:p>
          <a:p>
            <a:pPr marL="342900" indent="-342900">
              <a:buFont typeface="Wingdings" panose="05000000000000000000" pitchFamily="2" charset="2"/>
              <a:buChar char="l"/>
            </a:pPr>
            <a:r>
              <a:rPr lang="zh-CN" altLang="en-US" sz="2200" dirty="0">
                <a:latin typeface="Times New Roman Regular" panose="02020503050405090304" charset="0"/>
                <a:ea typeface="宋体" charset="0"/>
                <a:cs typeface="Times New Roman Regular" panose="02020503050405090304" charset="0"/>
              </a:rPr>
              <a:t>相比其他任务，图像生成任务缺乏有效的指导。</a:t>
            </a:r>
            <a:endParaRPr lang="zh-CN" altLang="en-US" sz="2200" dirty="0">
              <a:latin typeface="Times New Roman Regular" panose="02020503050405090304" charset="0"/>
              <a:ea typeface="宋体" charset="0"/>
              <a:cs typeface="Times New Roman Regular" panose="02020503050405090304" charset="0"/>
            </a:endParaRPr>
          </a:p>
        </p:txBody>
      </p:sp>
      <p:pic>
        <p:nvPicPr>
          <p:cNvPr id="7" name="图片 6"/>
          <p:cNvPicPr>
            <a:picLocks noChangeAspect="1"/>
          </p:cNvPicPr>
          <p:nvPr>
            <p:custDataLst>
              <p:tags r:id="rId6"/>
            </p:custDataLst>
          </p:nvPr>
        </p:nvPicPr>
        <p:blipFill>
          <a:blip r:embed="rId7"/>
          <a:stretch>
            <a:fillRect/>
          </a:stretch>
        </p:blipFill>
        <p:spPr>
          <a:xfrm>
            <a:off x="1364615" y="2592070"/>
            <a:ext cx="8281035" cy="3280410"/>
          </a:xfrm>
          <a:prstGeom prst="rect">
            <a:avLst/>
          </a:prstGeom>
        </p:spPr>
      </p:pic>
    </p:spTree>
    <p:custDataLst>
      <p:tags r:id="rId8"/>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46355" y="-46990"/>
            <a:ext cx="9291320" cy="919480"/>
            <a:chOff x="73" y="-74"/>
            <a:chExt cx="14632" cy="1448"/>
          </a:xfrm>
        </p:grpSpPr>
        <p:sp>
          <p:nvSpPr>
            <p:cNvPr id="3078" name="文本框 3"/>
            <p:cNvSpPr txBox="1"/>
            <p:nvPr>
              <p:custDataLst>
                <p:tags r:id="rId1"/>
              </p:custDataLst>
            </p:nvPr>
          </p:nvSpPr>
          <p:spPr>
            <a:xfrm>
              <a:off x="73" y="-74"/>
              <a:ext cx="1340" cy="1448"/>
            </a:xfrm>
            <a:prstGeom prst="rect">
              <a:avLst/>
            </a:prstGeom>
            <a:noFill/>
            <a:ln w="12700" cmpd="sng">
              <a:noFill/>
              <a:prstDash val="solid"/>
            </a:ln>
            <a:effectLst>
              <a:outerShdw dist="63500" dir="2700000" algn="tl" rotWithShape="0">
                <a:schemeClr val="bg1">
                  <a:alpha val="100000"/>
                </a:schemeClr>
              </a:outerShdw>
            </a:effectLst>
          </p:spPr>
          <p:txBody>
            <a:bodyPr wrap="square" anchor="t" anchorCtr="0"/>
            <a:lstStyle/>
            <a:p>
              <a:pPr>
                <a:lnSpc>
                  <a:spcPct val="130000"/>
                </a:lnSpc>
              </a:pPr>
              <a:r>
                <a:rPr lang="en-US" altLang="zh-CN" sz="4000" i="1" dirty="0">
                  <a:ln w="19050">
                    <a:noFill/>
                  </a:ln>
                  <a:gradFill>
                    <a:gsLst>
                      <a:gs pos="39000">
                        <a:srgbClr val="5399D4"/>
                      </a:gs>
                      <a:gs pos="100000">
                        <a:schemeClr val="bg1"/>
                      </a:gs>
                    </a:gsLst>
                    <a:lin ang="5400000" scaled="0"/>
                  </a:gradFill>
                  <a:latin typeface="Bauhaus 93" panose="04030905020B02020C02" charset="0"/>
                  <a:ea typeface="造字工房朗倩（非商用）常规体" charset="-122"/>
                  <a:cs typeface="Bauhaus 93" panose="04030905020B02020C02" charset="0"/>
                </a:rPr>
                <a:t>02</a:t>
              </a:r>
              <a:endParaRPr lang="en-US" altLang="zh-CN" sz="4000" i="1" dirty="0">
                <a:ln w="19050">
                  <a:noFill/>
                </a:ln>
                <a:gradFill>
                  <a:gsLst>
                    <a:gs pos="39000">
                      <a:srgbClr val="5399D4"/>
                    </a:gs>
                    <a:gs pos="100000">
                      <a:schemeClr val="bg1"/>
                    </a:gs>
                  </a:gsLst>
                  <a:lin ang="5400000" scaled="0"/>
                </a:gradFill>
                <a:latin typeface="Bauhaus 93" panose="04030905020B02020C02" charset="0"/>
                <a:ea typeface="造字工房朗倩（非商用）常规体" charset="-122"/>
                <a:cs typeface="Bauhaus 93" panose="04030905020B02020C02" charset="0"/>
              </a:endParaRPr>
            </a:p>
          </p:txBody>
        </p:sp>
        <p:sp>
          <p:nvSpPr>
            <p:cNvPr id="3" name="文本框 2"/>
            <p:cNvSpPr txBox="1"/>
            <p:nvPr>
              <p:custDataLst>
                <p:tags r:id="rId2"/>
              </p:custDataLst>
            </p:nvPr>
          </p:nvSpPr>
          <p:spPr>
            <a:xfrm>
              <a:off x="1413" y="239"/>
              <a:ext cx="13293" cy="847"/>
            </a:xfrm>
            <a:prstGeom prst="rect">
              <a:avLst/>
            </a:prstGeom>
            <a:noFill/>
          </p:spPr>
          <p:txBody>
            <a:bodyPr wrap="square" rtlCol="0">
              <a:noAutofit/>
            </a:bodyPr>
            <a:lstStyle/>
            <a:p>
              <a:r>
                <a:rPr lang="en-US" altLang="zh-CN" sz="3600" dirty="0">
                  <a:latin typeface="Times New Roman Regular" panose="02020503050405090304" charset="0"/>
                  <a:ea typeface="微软雅黑" charset="-122"/>
                  <a:cs typeface="Times New Roman Regular" panose="02020503050405090304" charset="0"/>
                </a:rPr>
                <a:t>GAN &amp; VAE</a:t>
              </a:r>
              <a:endParaRPr lang="en-US" altLang="zh-CN" sz="3600" dirty="0">
                <a:latin typeface="Times New Roman Regular" panose="02020503050405090304" charset="0"/>
                <a:ea typeface="微软雅黑" charset="-122"/>
                <a:cs typeface="Times New Roman Regular" panose="02020503050405090304" charset="0"/>
              </a:endParaRPr>
            </a:p>
          </p:txBody>
        </p:sp>
      </p:grpSp>
      <p:sp>
        <p:nvSpPr>
          <p:cNvPr id="10" name="文本框 9"/>
          <p:cNvSpPr txBox="1"/>
          <p:nvPr>
            <p:custDataLst>
              <p:tags r:id="rId3"/>
            </p:custDataLst>
          </p:nvPr>
        </p:nvSpPr>
        <p:spPr>
          <a:xfrm>
            <a:off x="897255" y="1205865"/>
            <a:ext cx="9714865" cy="768350"/>
          </a:xfrm>
          <a:prstGeom prst="rect">
            <a:avLst/>
          </a:prstGeom>
          <a:noFill/>
        </p:spPr>
        <p:txBody>
          <a:bodyPr wrap="square" rtlCol="0">
            <a:spAutoFit/>
          </a:bodyPr>
          <a:lstStyle/>
          <a:p>
            <a:pPr marL="342900" indent="-342900">
              <a:buFont typeface="Wingdings" panose="05000000000000000000" charset="0"/>
              <a:buChar char=""/>
            </a:pPr>
            <a:r>
              <a:rPr lang="en-US" altLang="zh-CN" sz="2200" dirty="0">
                <a:latin typeface="微软雅黑" charset="-122"/>
                <a:ea typeface="微软雅黑" charset="-122"/>
              </a:rPr>
              <a:t>GAN</a:t>
            </a:r>
            <a:r>
              <a:rPr lang="zh-CN" altLang="en-US" sz="2200" dirty="0">
                <a:latin typeface="微软雅黑" charset="-122"/>
                <a:ea typeface="微软雅黑" charset="-122"/>
              </a:rPr>
              <a:t>（Generative adversarial network）：生成对抗模型，生成器与判别器互相对抗，共同进步。</a:t>
            </a:r>
            <a:endParaRPr lang="zh-CN" altLang="en-US" sz="2200" dirty="0">
              <a:latin typeface="微软雅黑" charset="-122"/>
              <a:ea typeface="微软雅黑" charset="-122"/>
            </a:endParaRPr>
          </a:p>
        </p:txBody>
      </p:sp>
      <p:pic>
        <p:nvPicPr>
          <p:cNvPr id="5" name="图片 4"/>
          <p:cNvPicPr>
            <a:picLocks noChangeAspect="1"/>
          </p:cNvPicPr>
          <p:nvPr>
            <p:custDataLst>
              <p:tags r:id="rId4"/>
            </p:custDataLst>
          </p:nvPr>
        </p:nvPicPr>
        <p:blipFill>
          <a:blip r:embed="rId5"/>
          <a:stretch>
            <a:fillRect/>
          </a:stretch>
        </p:blipFill>
        <p:spPr>
          <a:xfrm>
            <a:off x="2126615" y="2035810"/>
            <a:ext cx="7630795" cy="36957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latin typeface="Times New Roman Regular" panose="02020503050405090304" charset="0"/>
                <a:cs typeface="Times New Roman Regular" panose="02020503050405090304" charset="0"/>
                <a:sym typeface="+mn-ea"/>
              </a:rPr>
              <a:t>GAN &amp; VAE</a:t>
            </a:r>
            <a:endParaRPr lang="en-US" altLang="zh-CN" dirty="0">
              <a:latin typeface="Times New Roman Regular" panose="02020503050405090304" charset="0"/>
              <a:ea typeface="微软雅黑" charset="-122"/>
              <a:cs typeface="Times New Roman Regular" panose="02020503050405090304" charset="0"/>
            </a:endParaRPr>
          </a:p>
        </p:txBody>
      </p:sp>
      <p:sp>
        <p:nvSpPr>
          <p:cNvPr id="6" name="文本框 3"/>
          <p:cNvSpPr txBox="1"/>
          <p:nvPr>
            <p:custDataLst>
              <p:tags r:id="rId1"/>
            </p:custDataLst>
          </p:nvPr>
        </p:nvSpPr>
        <p:spPr>
          <a:xfrm>
            <a:off x="46644" y="-47231"/>
            <a:ext cx="850795" cy="919366"/>
          </a:xfrm>
          <a:prstGeom prst="rect">
            <a:avLst/>
          </a:prstGeom>
          <a:noFill/>
          <a:ln w="12700" cmpd="sng">
            <a:noFill/>
            <a:prstDash val="solid"/>
          </a:ln>
          <a:effectLst>
            <a:outerShdw dist="63500" dir="2700000" algn="tl" rotWithShape="0">
              <a:schemeClr val="bg1">
                <a:alpha val="100000"/>
              </a:schemeClr>
            </a:outerShdw>
          </a:effectLst>
        </p:spPr>
        <p:txBody>
          <a:bodyPr wrap="square" anchor="t" anchorCtr="0"/>
          <a:lstStyle/>
          <a:p>
            <a:pPr>
              <a:lnSpc>
                <a:spcPct val="130000"/>
              </a:lnSpc>
            </a:pPr>
            <a:r>
              <a:rPr lang="en-US" altLang="zh-CN" sz="4000" i="1" dirty="0">
                <a:ln w="19050">
                  <a:noFill/>
                </a:ln>
                <a:gradFill>
                  <a:gsLst>
                    <a:gs pos="39000">
                      <a:srgbClr val="5399D4"/>
                    </a:gs>
                    <a:gs pos="100000">
                      <a:schemeClr val="bg1"/>
                    </a:gs>
                  </a:gsLst>
                  <a:lin ang="5400000" scaled="0"/>
                </a:gradFill>
                <a:latin typeface="Bauhaus 93" panose="04030905020B02020C02" charset="0"/>
                <a:ea typeface="造字工房朗倩（非商用）常规体" charset="-122"/>
                <a:cs typeface="Bauhaus 93" panose="04030905020B02020C02" charset="0"/>
              </a:rPr>
              <a:t>02</a:t>
            </a:r>
            <a:endParaRPr lang="en-US" altLang="zh-CN" sz="4000" i="1" dirty="0">
              <a:ln w="19050">
                <a:noFill/>
              </a:ln>
              <a:gradFill>
                <a:gsLst>
                  <a:gs pos="39000">
                    <a:srgbClr val="5399D4"/>
                  </a:gs>
                  <a:gs pos="100000">
                    <a:schemeClr val="bg1"/>
                  </a:gs>
                </a:gsLst>
                <a:lin ang="5400000" scaled="0"/>
              </a:gradFill>
              <a:latin typeface="Bauhaus 93" panose="04030905020B02020C02" charset="0"/>
              <a:ea typeface="造字工房朗倩（非商用）常规体" charset="-122"/>
              <a:cs typeface="Bauhaus 93" panose="04030905020B02020C02" charset="0"/>
            </a:endParaRPr>
          </a:p>
        </p:txBody>
      </p:sp>
      <p:pic>
        <p:nvPicPr>
          <p:cNvPr id="7" name="内容占位符 6"/>
          <p:cNvPicPr>
            <a:picLocks noGrp="1" noChangeAspect="1"/>
          </p:cNvPicPr>
          <p:nvPr>
            <p:ph idx="1"/>
            <p:custDataLst>
              <p:tags r:id="rId2"/>
            </p:custDataLst>
          </p:nvPr>
        </p:nvPicPr>
        <p:blipFill>
          <a:blip r:embed="rId3"/>
          <a:stretch>
            <a:fillRect/>
          </a:stretch>
        </p:blipFill>
        <p:spPr>
          <a:xfrm>
            <a:off x="1269365" y="1878965"/>
            <a:ext cx="9314815" cy="3968750"/>
          </a:xfrm>
          <a:prstGeom prst="rect">
            <a:avLst/>
          </a:prstGeom>
        </p:spPr>
      </p:pic>
      <p:sp>
        <p:nvSpPr>
          <p:cNvPr id="10" name="文本框 9"/>
          <p:cNvSpPr txBox="1"/>
          <p:nvPr>
            <p:custDataLst>
              <p:tags r:id="rId4"/>
            </p:custDataLst>
          </p:nvPr>
        </p:nvSpPr>
        <p:spPr>
          <a:xfrm>
            <a:off x="943610" y="1110615"/>
            <a:ext cx="9714865" cy="768350"/>
          </a:xfrm>
          <a:prstGeom prst="rect">
            <a:avLst/>
          </a:prstGeom>
          <a:noFill/>
        </p:spPr>
        <p:txBody>
          <a:bodyPr wrap="square" rtlCol="0">
            <a:spAutoFit/>
          </a:bodyPr>
          <a:lstStyle/>
          <a:p>
            <a:pPr marL="342900" indent="-342900">
              <a:buFont typeface="Wingdings" panose="05000000000000000000" charset="0"/>
              <a:buChar char=""/>
            </a:pPr>
            <a:r>
              <a:rPr lang="en-US" altLang="zh-CN" sz="2200" dirty="0">
                <a:latin typeface="微软雅黑" charset="-122"/>
                <a:ea typeface="微软雅黑" charset="-122"/>
              </a:rPr>
              <a:t>VAE</a:t>
            </a:r>
            <a:r>
              <a:rPr lang="zh-CN" altLang="en-US" sz="2200" dirty="0">
                <a:latin typeface="微软雅黑" charset="-122"/>
                <a:ea typeface="微软雅黑" charset="-122"/>
              </a:rPr>
              <a:t>（Variational Autoencoder）：变分编码器，学习用图像生成向量，再用该向量生成图像。</a:t>
            </a:r>
            <a:endParaRPr lang="zh-CN" altLang="en-US" sz="2200" dirty="0">
              <a:latin typeface="微软雅黑" charset="-122"/>
              <a:ea typeface="微软雅黑"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latin typeface="Times New Roman Regular" panose="02020503050405090304" charset="0"/>
                <a:ea typeface="微软雅黑" charset="-122"/>
                <a:cs typeface="Times New Roman Regular" panose="02020503050405090304" charset="0"/>
              </a:rPr>
              <a:t>DDPM</a:t>
            </a:r>
            <a:r>
              <a:rPr lang="zh-CN" altLang="en-US" dirty="0">
                <a:latin typeface="Times New Roman Regular" panose="02020503050405090304" charset="0"/>
                <a:ea typeface="微软雅黑" charset="-122"/>
                <a:cs typeface="Times New Roman Regular" panose="02020503050405090304" charset="0"/>
              </a:rPr>
              <a:t>整体架构</a:t>
            </a:r>
            <a:endParaRPr lang="zh-CN" altLang="en-US" dirty="0">
              <a:latin typeface="Times New Roman Regular" panose="02020503050405090304" charset="0"/>
              <a:ea typeface="微软雅黑" charset="-122"/>
              <a:cs typeface="Times New Roman Regular" panose="02020503050405090304" charset="0"/>
            </a:endParaRPr>
          </a:p>
        </p:txBody>
      </p:sp>
      <p:sp>
        <p:nvSpPr>
          <p:cNvPr id="6" name="文本框 3"/>
          <p:cNvSpPr txBox="1"/>
          <p:nvPr>
            <p:custDataLst>
              <p:tags r:id="rId1"/>
            </p:custDataLst>
          </p:nvPr>
        </p:nvSpPr>
        <p:spPr>
          <a:xfrm>
            <a:off x="46644" y="-47231"/>
            <a:ext cx="850795" cy="919366"/>
          </a:xfrm>
          <a:prstGeom prst="rect">
            <a:avLst/>
          </a:prstGeom>
          <a:noFill/>
          <a:ln w="12700" cmpd="sng">
            <a:noFill/>
            <a:prstDash val="solid"/>
          </a:ln>
          <a:effectLst>
            <a:outerShdw dist="63500" dir="2700000" algn="tl" rotWithShape="0">
              <a:schemeClr val="bg1">
                <a:alpha val="100000"/>
              </a:schemeClr>
            </a:outerShdw>
          </a:effectLst>
        </p:spPr>
        <p:txBody>
          <a:bodyPr wrap="square" anchor="t" anchorCtr="0"/>
          <a:lstStyle/>
          <a:p>
            <a:pPr>
              <a:lnSpc>
                <a:spcPct val="130000"/>
              </a:lnSpc>
            </a:pPr>
            <a:r>
              <a:rPr lang="en-US" altLang="zh-CN" sz="4000" i="1" dirty="0">
                <a:ln w="19050">
                  <a:noFill/>
                </a:ln>
                <a:gradFill>
                  <a:gsLst>
                    <a:gs pos="39000">
                      <a:srgbClr val="5399D4"/>
                    </a:gs>
                    <a:gs pos="100000">
                      <a:schemeClr val="bg1"/>
                    </a:gs>
                  </a:gsLst>
                  <a:lin ang="5400000" scaled="0"/>
                </a:gradFill>
                <a:latin typeface="Bauhaus 93" panose="04030905020B02020C02" charset="0"/>
                <a:ea typeface="造字工房朗倩（非商用）常规体" charset="-122"/>
                <a:cs typeface="Bauhaus 93" panose="04030905020B02020C02" charset="0"/>
              </a:rPr>
              <a:t>03</a:t>
            </a:r>
            <a:endParaRPr lang="en-US" altLang="zh-CN" sz="4000" i="1" dirty="0">
              <a:ln w="19050">
                <a:noFill/>
              </a:ln>
              <a:gradFill>
                <a:gsLst>
                  <a:gs pos="39000">
                    <a:srgbClr val="5399D4"/>
                  </a:gs>
                  <a:gs pos="100000">
                    <a:schemeClr val="bg1"/>
                  </a:gs>
                </a:gsLst>
                <a:lin ang="5400000" scaled="0"/>
              </a:gradFill>
              <a:latin typeface="Bauhaus 93" panose="04030905020B02020C02" charset="0"/>
              <a:ea typeface="造字工房朗倩（非商用）常规体" charset="-122"/>
              <a:cs typeface="Bauhaus 93" panose="04030905020B02020C02" charset="0"/>
            </a:endParaRPr>
          </a:p>
        </p:txBody>
      </p:sp>
      <mc:AlternateContent xmlns:mc="http://schemas.openxmlformats.org/markup-compatibility/2006">
        <mc:Choice xmlns:a14="http://schemas.microsoft.com/office/drawing/2010/main" Requires="a14">
          <p:sp>
            <p:nvSpPr>
              <p:cNvPr id="12" name="文本框 11"/>
              <p:cNvSpPr txBox="1"/>
              <p:nvPr>
                <p:custDataLst>
                  <p:tags r:id="rId2"/>
                </p:custDataLst>
              </p:nvPr>
            </p:nvSpPr>
            <p:spPr>
              <a:xfrm>
                <a:off x="943610" y="1328420"/>
                <a:ext cx="10335895" cy="1784985"/>
              </a:xfrm>
              <a:prstGeom prst="rect">
                <a:avLst/>
              </a:prstGeom>
              <a:noFill/>
            </p:spPr>
            <p:txBody>
              <a:bodyPr wrap="square" rtlCol="0">
                <a:spAutoFit/>
              </a:bodyPr>
              <a:lstStyle/>
              <a:p>
                <a:pPr marL="342900" indent="-342900">
                  <a:buFont typeface="Wingdings" panose="05000000000000000000" charset="0"/>
                  <a:buChar char=""/>
                </a:pPr>
                <a:r>
                  <a:rPr lang="zh-CN" altLang="en-US" sz="2200" dirty="0">
                    <a:latin typeface="微软雅黑" charset="-122"/>
                    <a:ea typeface="微软雅黑" charset="-122"/>
                  </a:rPr>
                  <a:t>正向过程</a:t>
                </a:r>
                <a:r>
                  <a:rPr lang="en-US" altLang="zh-CN" sz="2200" dirty="0">
                    <a:latin typeface="微软雅黑" charset="-122"/>
                    <a:ea typeface="微软雅黑" charset="-122"/>
                  </a:rPr>
                  <a:t> &amp; </a:t>
                </a:r>
                <a:r>
                  <a:rPr lang="zh-CN" altLang="en-US" sz="2200" dirty="0">
                    <a:latin typeface="微软雅黑" charset="-122"/>
                    <a:ea typeface="微软雅黑" charset="-122"/>
                  </a:rPr>
                  <a:t>反向过程</a:t>
                </a:r>
                <a:endParaRPr lang="zh-CN" altLang="en-US" sz="2200" dirty="0">
                  <a:latin typeface="微软雅黑" charset="-122"/>
                  <a:ea typeface="微软雅黑" charset="-122"/>
                </a:endParaRPr>
              </a:p>
              <a:p>
                <a:pPr marL="342900" indent="-342900">
                  <a:buFont typeface="Wingdings" panose="05000000000000000000" charset="0"/>
                  <a:buChar char=""/>
                </a:pPr>
                <a:r>
                  <a:rPr lang="zh-CN" altLang="en-US" sz="2200" dirty="0">
                    <a:latin typeface="微软雅黑" charset="-122"/>
                    <a:ea typeface="微软雅黑" charset="-122"/>
                  </a:rPr>
                  <a:t>正向过程：</a:t>
                </a:r>
                <a14:m>
                  <m:oMath xmlns:m="http://schemas.openxmlformats.org/officeDocument/2006/math">
                    <m:sSub>
                      <m:sSubPr>
                        <m:ctrlPr>
                          <a:rPr lang="en-US" altLang="zh-CN" sz="2200" i="1" dirty="0">
                            <a:latin typeface="Cambria Math" panose="02040503050406030204" pitchFamily="18" charset="0"/>
                            <a:ea typeface="微软雅黑" charset="-122"/>
                            <a:cs typeface="DejaVu Math TeX Gyre" panose="02000503000000000000" charset="0"/>
                          </a:rPr>
                        </m:ctrlPr>
                      </m:sSubPr>
                      <m:e>
                        <m:r>
                          <a:rPr lang="en-US" altLang="zh-CN" sz="2200" i="1" dirty="0">
                            <a:latin typeface="Cambria Math" panose="02040503050406030204" pitchFamily="18" charset="0"/>
                            <a:ea typeface="微软雅黑" charset="-122"/>
                            <a:cs typeface="DejaVu Math TeX Gyre" panose="02000503000000000000" charset="0"/>
                          </a:rPr>
                          <m:t>𝑥</m:t>
                        </m:r>
                      </m:e>
                      <m:sub>
                        <m:r>
                          <a:rPr lang="en-US" altLang="zh-CN" sz="2200" i="1" dirty="0">
                            <a:latin typeface="Cambria Math" panose="02040503050406030204" pitchFamily="18" charset="0"/>
                            <a:ea typeface="微软雅黑" charset="-122"/>
                            <a:cs typeface="DejaVu Math TeX Gyre" panose="02000503000000000000" charset="0"/>
                          </a:rPr>
                          <m:t>0</m:t>
                        </m:r>
                      </m:sub>
                    </m:sSub>
                  </m:oMath>
                </a14:m>
                <a:r>
                  <a:rPr lang="zh-CN" altLang="en-US" sz="2200" dirty="0">
                    <a:latin typeface="DejaVu Math TeX Gyre" panose="02000503000000000000" charset="0"/>
                    <a:ea typeface="微软雅黑" charset="-122"/>
                    <a:cs typeface="DejaVu Math TeX Gyre" panose="02000503000000000000" charset="0"/>
                  </a:rPr>
                  <a:t>到</a:t>
                </a:r>
                <a14:m>
                  <m:oMath xmlns:m="http://schemas.openxmlformats.org/officeDocument/2006/math">
                    <m:sSub>
                      <m:sSubPr>
                        <m:ctrlPr>
                          <a:rPr lang="en-US" altLang="zh-CN" sz="2200" i="1" dirty="0">
                            <a:latin typeface="Cambria Math" panose="02040503050406030204" pitchFamily="18" charset="0"/>
                            <a:ea typeface="微软雅黑" charset="-122"/>
                            <a:cs typeface="DejaVu Math TeX Gyre" panose="02000503000000000000" charset="0"/>
                          </a:rPr>
                        </m:ctrlPr>
                      </m:sSubPr>
                      <m:e>
                        <m:r>
                          <a:rPr lang="en-US" altLang="zh-CN" sz="2200" i="1" dirty="0">
                            <a:latin typeface="Cambria Math" panose="02040503050406030204" pitchFamily="18" charset="0"/>
                            <a:ea typeface="微软雅黑" charset="-122"/>
                            <a:cs typeface="DejaVu Math TeX Gyre" panose="02000503000000000000" charset="0"/>
                          </a:rPr>
                          <m:t>𝑥</m:t>
                        </m:r>
                      </m:e>
                      <m:sub>
                        <m:r>
                          <a:rPr lang="en-US" altLang="zh-CN" sz="2200" i="1" dirty="0">
                            <a:latin typeface="Cambria Math" panose="02040503050406030204" pitchFamily="18" charset="0"/>
                            <a:ea typeface="微软雅黑" charset="-122"/>
                            <a:cs typeface="DejaVu Math TeX Gyre" panose="02000503000000000000" charset="0"/>
                          </a:rPr>
                          <m:t>𝑇</m:t>
                        </m:r>
                      </m:sub>
                    </m:sSub>
                  </m:oMath>
                </a14:m>
                <a:r>
                  <a:rPr lang="zh-CN" altLang="en-US" sz="2200" dirty="0">
                    <a:latin typeface="DejaVu Math TeX Gyre" panose="02000503000000000000" charset="0"/>
                    <a:ea typeface="微软雅黑" charset="-122"/>
                    <a:cs typeface="DejaVu Math TeX Gyre" panose="02000503000000000000" charset="0"/>
                  </a:rPr>
                  <a:t>逐步加噪，噪声是已知的，从原始图片逐步加噪至一组纯噪声。</a:t>
                </a:r>
                <a:endParaRPr lang="zh-CN" altLang="en-US" sz="2200" dirty="0">
                  <a:latin typeface="DejaVu Math TeX Gyre" panose="02000503000000000000" charset="0"/>
                  <a:ea typeface="微软雅黑" charset="-122"/>
                  <a:cs typeface="DejaVu Math TeX Gyre" panose="02000503000000000000" charset="0"/>
                </a:endParaRPr>
              </a:p>
              <a:p>
                <a:pPr marL="342900" indent="-342900">
                  <a:buFont typeface="Wingdings" panose="05000000000000000000" charset="0"/>
                  <a:buChar char=""/>
                </a:pPr>
                <a:r>
                  <a:rPr lang="zh-CN" altLang="en-US" sz="2200" dirty="0">
                    <a:latin typeface="DejaVu Math TeX Gyre" panose="02000503000000000000" charset="0"/>
                    <a:ea typeface="微软雅黑" charset="-122"/>
                    <a:cs typeface="DejaVu Math TeX Gyre" panose="02000503000000000000" charset="0"/>
                  </a:rPr>
                  <a:t>反向过程：</a:t>
                </a:r>
                <a14:m>
                  <m:oMath xmlns:m="http://schemas.openxmlformats.org/officeDocument/2006/math">
                    <m:sSub>
                      <m:sSubPr>
                        <m:ctrlPr>
                          <a:rPr lang="en-US" altLang="zh-CN" sz="2200" i="1" dirty="0">
                            <a:latin typeface="Cambria Math" panose="02040503050406030204" pitchFamily="18" charset="0"/>
                            <a:ea typeface="微软雅黑" charset="-122"/>
                            <a:cs typeface="DejaVu Math TeX Gyre" panose="02000503000000000000" charset="0"/>
                          </a:rPr>
                        </m:ctrlPr>
                      </m:sSubPr>
                      <m:e>
                        <m:r>
                          <a:rPr lang="en-US" altLang="zh-CN" sz="2200" i="1" dirty="0">
                            <a:latin typeface="Cambria Math" panose="02040503050406030204" pitchFamily="18" charset="0"/>
                            <a:ea typeface="微软雅黑" charset="-122"/>
                            <a:cs typeface="DejaVu Math TeX Gyre" panose="02000503000000000000" charset="0"/>
                          </a:rPr>
                          <m:t>𝑥</m:t>
                        </m:r>
                      </m:e>
                      <m:sub>
                        <m:r>
                          <a:rPr lang="en-US" altLang="zh-CN" sz="2200" i="1" dirty="0">
                            <a:latin typeface="Cambria Math" panose="02040503050406030204" pitchFamily="18" charset="0"/>
                            <a:ea typeface="微软雅黑" charset="-122"/>
                            <a:cs typeface="DejaVu Math TeX Gyre" panose="02000503000000000000" charset="0"/>
                          </a:rPr>
                          <m:t>𝑇</m:t>
                        </m:r>
                      </m:sub>
                    </m:sSub>
                  </m:oMath>
                </a14:m>
                <a:r>
                  <a:rPr lang="zh-CN" altLang="en-US" sz="2200" dirty="0">
                    <a:latin typeface="DejaVu Math TeX Gyre" panose="02000503000000000000" charset="0"/>
                    <a:ea typeface="微软雅黑" charset="-122"/>
                    <a:cs typeface="DejaVu Math TeX Gyre" panose="02000503000000000000" charset="0"/>
                  </a:rPr>
                  <a:t>到</a:t>
                </a:r>
                <a14:m>
                  <m:oMath xmlns:m="http://schemas.openxmlformats.org/officeDocument/2006/math">
                    <m:sSub>
                      <m:sSubPr>
                        <m:ctrlPr>
                          <a:rPr lang="en-US" altLang="zh-CN" sz="2200" i="1" dirty="0">
                            <a:latin typeface="Cambria Math" panose="02040503050406030204" pitchFamily="18" charset="0"/>
                            <a:ea typeface="微软雅黑" charset="-122"/>
                            <a:cs typeface="DejaVu Math TeX Gyre" panose="02000503000000000000" charset="0"/>
                          </a:rPr>
                        </m:ctrlPr>
                      </m:sSubPr>
                      <m:e>
                        <m:r>
                          <a:rPr lang="en-US" altLang="zh-CN" sz="2200" i="1" dirty="0">
                            <a:latin typeface="Cambria Math" panose="02040503050406030204" pitchFamily="18" charset="0"/>
                            <a:ea typeface="微软雅黑" charset="-122"/>
                            <a:cs typeface="DejaVu Math TeX Gyre" panose="02000503000000000000" charset="0"/>
                          </a:rPr>
                          <m:t>𝑥</m:t>
                        </m:r>
                      </m:e>
                      <m:sub>
                        <m:r>
                          <a:rPr lang="en-US" altLang="zh-CN" sz="2200" i="1" dirty="0">
                            <a:latin typeface="Cambria Math" panose="02040503050406030204" pitchFamily="18" charset="0"/>
                            <a:ea typeface="微软雅黑" charset="-122"/>
                            <a:cs typeface="DejaVu Math TeX Gyre" panose="02000503000000000000" charset="0"/>
                          </a:rPr>
                          <m:t>0</m:t>
                        </m:r>
                      </m:sub>
                    </m:sSub>
                  </m:oMath>
                </a14:m>
                <a:r>
                  <a:rPr lang="zh-CN" altLang="en-US" sz="2200" dirty="0">
                    <a:latin typeface="DejaVu Math TeX Gyre" panose="02000503000000000000" charset="0"/>
                    <a:ea typeface="微软雅黑" charset="-122"/>
                    <a:cs typeface="DejaVu Math TeX Gyre" panose="02000503000000000000" charset="0"/>
                  </a:rPr>
                  <a:t>将一组随机噪声还原为输入，学习一个去噪过程，直到还原一张图片。</a:t>
                </a:r>
                <a:endParaRPr lang="zh-CN" altLang="en-US" sz="2200" dirty="0">
                  <a:latin typeface="DejaVu Math TeX Gyre" panose="02000503000000000000" charset="0"/>
                  <a:ea typeface="微软雅黑" charset="-122"/>
                  <a:cs typeface="DejaVu Math TeX Gyre" panose="02000503000000000000" charset="0"/>
                </a:endParaRPr>
              </a:p>
            </p:txBody>
          </p:sp>
        </mc:Choice>
        <mc:Fallback>
          <p:sp>
            <p:nvSpPr>
              <p:cNvPr id="12" name="文本框 11"/>
              <p:cNvSpPr txBox="1">
                <a:spLocks noRot="1" noChangeAspect="1" noMove="1" noResize="1" noEditPoints="1" noAdjustHandles="1" noChangeArrowheads="1" noChangeShapeType="1" noTextEdit="1"/>
              </p:cNvSpPr>
              <p:nvPr>
                <p:custDataLst>
                  <p:tags r:id="rId3"/>
                </p:custDataLst>
              </p:nvPr>
            </p:nvSpPr>
            <p:spPr>
              <a:xfrm>
                <a:off x="943610" y="1328420"/>
                <a:ext cx="10335895" cy="1784985"/>
              </a:xfrm>
              <a:prstGeom prst="rect">
                <a:avLst/>
              </a:prstGeom>
              <a:blipFill rotWithShape="1">
                <a:blip r:embed="rId4"/>
                <a:stretch>
                  <a:fillRect r="-1450"/>
                </a:stretch>
              </a:blipFill>
            </p:spPr>
            <p:txBody>
              <a:bodyPr/>
              <a:lstStyle/>
              <a:p>
                <a:r>
                  <a:rPr lang="zh-CN" altLang="en-US">
                    <a:noFill/>
                  </a:rPr>
                  <a:t> </a:t>
                </a:r>
              </a:p>
            </p:txBody>
          </p:sp>
        </mc:Fallback>
      </mc:AlternateContent>
      <p:pic>
        <p:nvPicPr>
          <p:cNvPr id="13" name="图片 12"/>
          <p:cNvPicPr>
            <a:picLocks noChangeAspect="1"/>
          </p:cNvPicPr>
          <p:nvPr>
            <p:custDataLst>
              <p:tags r:id="rId5"/>
            </p:custDataLst>
          </p:nvPr>
        </p:nvPicPr>
        <p:blipFill>
          <a:blip r:embed="rId6"/>
          <a:stretch>
            <a:fillRect/>
          </a:stretch>
        </p:blipFill>
        <p:spPr>
          <a:xfrm>
            <a:off x="1384935" y="3429000"/>
            <a:ext cx="9639300" cy="16383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46355" y="-46990"/>
            <a:ext cx="9291320" cy="919480"/>
            <a:chOff x="73" y="-74"/>
            <a:chExt cx="14632" cy="1448"/>
          </a:xfrm>
        </p:grpSpPr>
        <p:sp>
          <p:nvSpPr>
            <p:cNvPr id="3078" name="文本框 3"/>
            <p:cNvSpPr txBox="1"/>
            <p:nvPr>
              <p:custDataLst>
                <p:tags r:id="rId1"/>
              </p:custDataLst>
            </p:nvPr>
          </p:nvSpPr>
          <p:spPr>
            <a:xfrm>
              <a:off x="73" y="-74"/>
              <a:ext cx="1340" cy="1448"/>
            </a:xfrm>
            <a:prstGeom prst="rect">
              <a:avLst/>
            </a:prstGeom>
            <a:noFill/>
            <a:ln w="12700" cmpd="sng">
              <a:noFill/>
              <a:prstDash val="solid"/>
            </a:ln>
            <a:effectLst>
              <a:outerShdw dist="63500" dir="2700000" algn="tl" rotWithShape="0">
                <a:schemeClr val="bg1">
                  <a:alpha val="100000"/>
                </a:schemeClr>
              </a:outerShdw>
            </a:effectLst>
          </p:spPr>
          <p:txBody>
            <a:bodyPr wrap="square" anchor="t" anchorCtr="0"/>
            <a:lstStyle/>
            <a:p>
              <a:pPr>
                <a:lnSpc>
                  <a:spcPct val="130000"/>
                </a:lnSpc>
              </a:pPr>
              <a:r>
                <a:rPr lang="en-US" altLang="zh-CN" sz="4000" i="1" dirty="0">
                  <a:ln w="19050">
                    <a:noFill/>
                  </a:ln>
                  <a:gradFill>
                    <a:gsLst>
                      <a:gs pos="39000">
                        <a:srgbClr val="5399D4"/>
                      </a:gs>
                      <a:gs pos="100000">
                        <a:schemeClr val="bg1"/>
                      </a:gs>
                    </a:gsLst>
                    <a:lin ang="5400000" scaled="0"/>
                  </a:gradFill>
                  <a:latin typeface="Bauhaus 93" panose="04030905020B02020C02" charset="0"/>
                  <a:ea typeface="造字工房朗倩（非商用）常规体" charset="-122"/>
                  <a:cs typeface="Bauhaus 93" panose="04030905020B02020C02" charset="0"/>
                </a:rPr>
                <a:t>04</a:t>
              </a:r>
              <a:endParaRPr lang="en-US" altLang="zh-CN" sz="4000" i="1" dirty="0">
                <a:ln w="19050">
                  <a:noFill/>
                </a:ln>
                <a:gradFill>
                  <a:gsLst>
                    <a:gs pos="39000">
                      <a:srgbClr val="5399D4"/>
                    </a:gs>
                    <a:gs pos="100000">
                      <a:schemeClr val="bg1"/>
                    </a:gs>
                  </a:gsLst>
                  <a:lin ang="5400000" scaled="0"/>
                </a:gradFill>
                <a:latin typeface="Bauhaus 93" panose="04030905020B02020C02" charset="0"/>
                <a:ea typeface="造字工房朗倩（非商用）常规体" charset="-122"/>
                <a:cs typeface="Bauhaus 93" panose="04030905020B02020C02" charset="0"/>
              </a:endParaRPr>
            </a:p>
          </p:txBody>
        </p:sp>
        <p:sp>
          <p:nvSpPr>
            <p:cNvPr id="3" name="文本框 2"/>
            <p:cNvSpPr txBox="1"/>
            <p:nvPr>
              <p:custDataLst>
                <p:tags r:id="rId2"/>
              </p:custDataLst>
            </p:nvPr>
          </p:nvSpPr>
          <p:spPr>
            <a:xfrm>
              <a:off x="1413" y="239"/>
              <a:ext cx="13293" cy="847"/>
            </a:xfrm>
            <a:prstGeom prst="rect">
              <a:avLst/>
            </a:prstGeom>
            <a:noFill/>
          </p:spPr>
          <p:txBody>
            <a:bodyPr wrap="square" rtlCol="0">
              <a:noAutofit/>
            </a:bodyPr>
            <a:lstStyle/>
            <a:p>
              <a:r>
                <a:rPr lang="en-US" altLang="zh-CN" sz="3600" dirty="0">
                  <a:latin typeface="Times New Roman Regular" panose="02020503050405090304" charset="0"/>
                  <a:ea typeface="微软雅黑" charset="-122"/>
                  <a:cs typeface="Times New Roman Regular" panose="02020503050405090304" charset="0"/>
                </a:rPr>
                <a:t>DDPM</a:t>
              </a:r>
              <a:r>
                <a:rPr lang="zh-CN" altLang="en-US" sz="3600" dirty="0">
                  <a:latin typeface="Times New Roman Regular" panose="02020503050405090304" charset="0"/>
                  <a:ea typeface="微软雅黑" charset="-122"/>
                  <a:cs typeface="Times New Roman Regular" panose="02020503050405090304" charset="0"/>
                </a:rPr>
                <a:t>具体算法</a:t>
              </a:r>
              <a:endParaRPr lang="zh-CN" altLang="en-US" sz="3600" dirty="0">
                <a:latin typeface="Times New Roman Regular" panose="02020503050405090304" charset="0"/>
                <a:ea typeface="微软雅黑" charset="-122"/>
                <a:cs typeface="Times New Roman Regular" panose="02020503050405090304" charset="0"/>
              </a:endParaRPr>
            </a:p>
          </p:txBody>
        </p:sp>
      </p:grpSp>
      <p:sp>
        <p:nvSpPr>
          <p:cNvPr id="10" name="文本框 9"/>
          <p:cNvSpPr txBox="1"/>
          <p:nvPr>
            <p:custDataLst>
              <p:tags r:id="rId3"/>
            </p:custDataLst>
          </p:nvPr>
        </p:nvSpPr>
        <p:spPr>
          <a:xfrm>
            <a:off x="717550" y="985520"/>
            <a:ext cx="1974850" cy="537845"/>
          </a:xfrm>
          <a:prstGeom prst="rect">
            <a:avLst/>
          </a:prstGeom>
          <a:noFill/>
        </p:spPr>
        <p:txBody>
          <a:bodyPr wrap="square" rtlCol="0">
            <a:noAutofit/>
          </a:bodyPr>
          <a:lstStyle/>
          <a:p>
            <a:pPr indent="0">
              <a:buFont typeface="Wingdings" panose="05000000000000000000" pitchFamily="2" charset="2"/>
              <a:buNone/>
            </a:pPr>
            <a:r>
              <a:rPr lang="zh-CN" altLang="en-US" sz="2400" dirty="0">
                <a:latin typeface="Times New Roman Regular" panose="02020503050405090304" charset="0"/>
                <a:ea typeface="微软雅黑" charset="-122"/>
                <a:cs typeface="Times New Roman Regular" panose="02020503050405090304" charset="0"/>
              </a:rPr>
              <a:t>正向过程</a:t>
            </a:r>
            <a:endParaRPr lang="zh-CN" altLang="en-US" sz="2400" dirty="0">
              <a:latin typeface="Times New Roman Regular" panose="02020503050405090304" charset="0"/>
              <a:ea typeface="微软雅黑" charset="-122"/>
              <a:cs typeface="Times New Roman Regular" panose="02020503050405090304" charset="0"/>
            </a:endParaRPr>
          </a:p>
        </p:txBody>
      </p:sp>
      <p:sp>
        <p:nvSpPr>
          <p:cNvPr id="13" name="文本框 12"/>
          <p:cNvSpPr txBox="1"/>
          <p:nvPr>
            <p:custDataLst>
              <p:tags r:id="rId4"/>
            </p:custDataLst>
          </p:nvPr>
        </p:nvSpPr>
        <p:spPr>
          <a:xfrm>
            <a:off x="717550" y="1636395"/>
            <a:ext cx="2602230" cy="429895"/>
          </a:xfrm>
          <a:prstGeom prst="rect">
            <a:avLst/>
          </a:prstGeom>
          <a:noFill/>
        </p:spPr>
        <p:txBody>
          <a:bodyPr wrap="square" rtlCol="0">
            <a:spAutoFit/>
          </a:bodyPr>
          <a:lstStyle/>
          <a:p>
            <a:pPr marL="342900" indent="-342900">
              <a:buFont typeface="Wingdings" panose="05000000000000000000" charset="0"/>
              <a:buChar char=""/>
            </a:pPr>
            <a:r>
              <a:rPr lang="zh-CN" altLang="en-US" sz="2200" dirty="0">
                <a:latin typeface="微软雅黑" charset="-122"/>
                <a:ea typeface="微软雅黑" charset="-122"/>
              </a:rPr>
              <a:t>满足马尔可夫链</a:t>
            </a:r>
            <a:endParaRPr lang="zh-CN" altLang="en-US" sz="2200" dirty="0">
              <a:latin typeface="微软雅黑" charset="-122"/>
              <a:ea typeface="微软雅黑" charset="-122"/>
            </a:endParaRPr>
          </a:p>
        </p:txBody>
      </p:sp>
      <mc:AlternateContent xmlns:mc="http://schemas.openxmlformats.org/markup-compatibility/2006">
        <mc:Choice xmlns:a14="http://schemas.microsoft.com/office/drawing/2010/main" Requires="a14">
          <p:sp>
            <p:nvSpPr>
              <p:cNvPr id="14" name="文本框 13"/>
              <p:cNvSpPr txBox="1"/>
              <p:nvPr>
                <p:custDataLst>
                  <p:tags r:id="rId5"/>
                </p:custDataLst>
              </p:nvPr>
            </p:nvSpPr>
            <p:spPr>
              <a:xfrm>
                <a:off x="897255" y="4686935"/>
                <a:ext cx="5598795" cy="768985"/>
              </a:xfrm>
              <a:prstGeom prst="rect">
                <a:avLst/>
              </a:prstGeom>
              <a:noFill/>
            </p:spPr>
            <p:txBody>
              <a:bodyPr wrap="square" rtlCol="0">
                <a:spAutoFit/>
              </a:bodyPr>
              <a:lstStyle/>
              <a:p>
                <a:pPr marL="342900" indent="-342900">
                  <a:buFont typeface="Wingdings" panose="05000000000000000000" charset="0"/>
                  <a:buChar char=""/>
                </a:pPr>
                <a:r>
                  <a:rPr lang="zh-CN" altLang="en-US" sz="2200" dirty="0">
                    <a:latin typeface="微软雅黑" charset="-122"/>
                    <a:ea typeface="微软雅黑" charset="-122"/>
                  </a:rPr>
                  <a:t>其中</a:t>
                </a:r>
                <a14:m>
                  <m:oMath xmlns:m="http://schemas.openxmlformats.org/officeDocument/2006/math">
                    <m:r>
                      <a:rPr lang="en-US" altLang="zh-CN" sz="2200" i="1" dirty="0">
                        <a:ln w="19050">
                          <a:noFill/>
                        </a:ln>
                        <a:solidFill>
                          <a:schemeClr val="tx1"/>
                        </a:solidFill>
                        <a:latin typeface="Cambria Math" panose="02040503050406030204" pitchFamily="18" charset="0"/>
                        <a:ea typeface="微软雅黑" charset="-122"/>
                        <a:cs typeface="DejaVu Math TeX Gyre" panose="02000503000000000000" charset="0"/>
                      </a:rPr>
                      <m:t>𝑞</m:t>
                    </m:r>
                    <m:r>
                      <a:rPr lang="en-US" altLang="zh-CN" sz="2200" i="1" dirty="0">
                        <a:ln w="19050">
                          <a:noFill/>
                        </a:ln>
                        <a:solidFill>
                          <a:schemeClr val="tx1"/>
                        </a:solidFill>
                        <a:latin typeface="Cambria Math" panose="02040503050406030204" pitchFamily="18" charset="0"/>
                        <a:ea typeface="微软雅黑" charset="-122"/>
                        <a:cs typeface="DejaVu Math TeX Gyre" panose="02000503000000000000" charset="0"/>
                      </a:rPr>
                      <m:t>(</m:t>
                    </m:r>
                    <m:sSub>
                      <m:sSubPr>
                        <m:ctrlPr>
                          <a:rPr lang="en-US" altLang="zh-CN" sz="2200" i="1" dirty="0">
                            <a:ln w="19050">
                              <a:noFill/>
                            </a:ln>
                            <a:solidFill>
                              <a:schemeClr val="tx1"/>
                            </a:solidFill>
                            <a:latin typeface="Cambria Math" panose="02040503050406030204" pitchFamily="18" charset="0"/>
                            <a:ea typeface="微软雅黑" charset="-122"/>
                            <a:cs typeface="DejaVu Math TeX Gyre" panose="02000503000000000000" charset="0"/>
                          </a:rPr>
                        </m:ctrlPr>
                      </m:sSubPr>
                      <m:e>
                        <m:r>
                          <a:rPr lang="en-US" altLang="zh-CN" sz="2200" i="1" dirty="0">
                            <a:ln w="19050">
                              <a:noFill/>
                            </a:ln>
                            <a:solidFill>
                              <a:schemeClr val="tx1"/>
                            </a:solidFill>
                            <a:latin typeface="Cambria Math" panose="02040503050406030204" pitchFamily="18" charset="0"/>
                            <a:ea typeface="微软雅黑" charset="-122"/>
                            <a:cs typeface="DejaVu Math TeX Gyre" panose="02000503000000000000" charset="0"/>
                          </a:rPr>
                          <m:t>𝑥</m:t>
                        </m:r>
                      </m:e>
                      <m:sub>
                        <m:r>
                          <a:rPr lang="en-US" altLang="zh-CN" sz="2200" i="1" dirty="0">
                            <a:ln w="19050">
                              <a:noFill/>
                            </a:ln>
                            <a:solidFill>
                              <a:schemeClr val="tx1"/>
                            </a:solidFill>
                            <a:latin typeface="Cambria Math" panose="02040503050406030204" pitchFamily="18" charset="0"/>
                            <a:ea typeface="微软雅黑" charset="-122"/>
                            <a:cs typeface="DejaVu Math TeX Gyre" panose="02000503000000000000" charset="0"/>
                          </a:rPr>
                          <m:t>1</m:t>
                        </m:r>
                        <m:r>
                          <a:rPr lang="en-US" altLang="zh-CN" sz="2200" i="1" dirty="0">
                            <a:ln w="19050">
                              <a:noFill/>
                            </a:ln>
                            <a:solidFill>
                              <a:schemeClr val="tx1"/>
                            </a:solidFill>
                            <a:latin typeface="Cambria Math" panose="02040503050406030204" pitchFamily="18" charset="0"/>
                            <a:ea typeface="微软雅黑" charset="-122"/>
                            <a:cs typeface="DejaVu Math TeX Gyre" panose="02000503000000000000" charset="0"/>
                          </a:rPr>
                          <m:t>:</m:t>
                        </m:r>
                        <m:r>
                          <a:rPr lang="en-US" altLang="zh-CN" sz="2200" i="1" dirty="0">
                            <a:ln w="19050">
                              <a:noFill/>
                            </a:ln>
                            <a:solidFill>
                              <a:schemeClr val="tx1"/>
                            </a:solidFill>
                            <a:latin typeface="Cambria Math" panose="02040503050406030204" pitchFamily="18" charset="0"/>
                            <a:ea typeface="微软雅黑" charset="-122"/>
                            <a:cs typeface="DejaVu Math TeX Gyre" panose="02000503000000000000" charset="0"/>
                          </a:rPr>
                          <m:t>𝑇</m:t>
                        </m:r>
                      </m:sub>
                    </m:sSub>
                    <m:r>
                      <a:rPr lang="en-US" altLang="zh-CN" sz="2200" i="1" dirty="0">
                        <a:ln w="19050">
                          <a:noFill/>
                        </a:ln>
                        <a:solidFill>
                          <a:schemeClr val="tx1"/>
                        </a:solidFill>
                        <a:latin typeface="Cambria Math" panose="02040503050406030204" pitchFamily="18" charset="0"/>
                        <a:ea typeface="微软雅黑" charset="-122"/>
                        <a:cs typeface="DejaVu Math TeX Gyre" panose="02000503000000000000" charset="0"/>
                      </a:rPr>
                      <m:t>|</m:t>
                    </m:r>
                    <m:sSub>
                      <m:sSubPr>
                        <m:ctrlPr>
                          <a:rPr lang="en-US" altLang="zh-CN" sz="2200" i="1" dirty="0">
                            <a:ln w="19050">
                              <a:noFill/>
                            </a:ln>
                            <a:solidFill>
                              <a:schemeClr val="tx1"/>
                            </a:solidFill>
                            <a:latin typeface="Cambria Math" panose="02040503050406030204" pitchFamily="18" charset="0"/>
                            <a:ea typeface="微软雅黑" charset="-122"/>
                            <a:cs typeface="DejaVu Math TeX Gyre" panose="02000503000000000000" charset="0"/>
                          </a:rPr>
                        </m:ctrlPr>
                      </m:sSubPr>
                      <m:e>
                        <m:r>
                          <a:rPr lang="en-US" altLang="zh-CN" sz="2200" i="1" dirty="0">
                            <a:ln w="19050">
                              <a:noFill/>
                            </a:ln>
                            <a:solidFill>
                              <a:schemeClr val="tx1"/>
                            </a:solidFill>
                            <a:latin typeface="Cambria Math" panose="02040503050406030204" pitchFamily="18" charset="0"/>
                            <a:ea typeface="微软雅黑" charset="-122"/>
                            <a:cs typeface="DejaVu Math TeX Gyre" panose="02000503000000000000" charset="0"/>
                          </a:rPr>
                          <m:t>𝑥</m:t>
                        </m:r>
                      </m:e>
                      <m:sub>
                        <m:r>
                          <a:rPr lang="en-US" altLang="zh-CN" sz="2200" i="1" dirty="0">
                            <a:ln w="19050">
                              <a:noFill/>
                            </a:ln>
                            <a:solidFill>
                              <a:schemeClr val="tx1"/>
                            </a:solidFill>
                            <a:latin typeface="Cambria Math" panose="02040503050406030204" pitchFamily="18" charset="0"/>
                            <a:ea typeface="微软雅黑" charset="-122"/>
                            <a:cs typeface="DejaVu Math TeX Gyre" panose="02000503000000000000" charset="0"/>
                          </a:rPr>
                          <m:t>0</m:t>
                        </m:r>
                      </m:sub>
                    </m:sSub>
                    <m:r>
                      <a:rPr lang="en-US" altLang="zh-CN" sz="2200" i="1" dirty="0">
                        <a:ln w="19050">
                          <a:noFill/>
                        </a:ln>
                        <a:solidFill>
                          <a:schemeClr val="tx1"/>
                        </a:solidFill>
                        <a:latin typeface="Cambria Math" panose="02040503050406030204" pitchFamily="18" charset="0"/>
                        <a:ea typeface="微软雅黑" charset="-122"/>
                        <a:cs typeface="DejaVu Math TeX Gyre" panose="02000503000000000000" charset="0"/>
                      </a:rPr>
                      <m:t>)</m:t>
                    </m:r>
                  </m:oMath>
                </a14:m>
                <a:r>
                  <a:rPr lang="zh-CN" altLang="en-US" sz="2200" dirty="0">
                    <a:ln w="19050">
                      <a:noFill/>
                    </a:ln>
                    <a:solidFill>
                      <a:schemeClr val="tx1"/>
                    </a:solidFill>
                    <a:latin typeface="DejaVu Math TeX Gyre" panose="02000503000000000000" charset="0"/>
                    <a:ea typeface="微软雅黑" charset="-122"/>
                    <a:cs typeface="DejaVu Math TeX Gyre" panose="02000503000000000000" charset="0"/>
                  </a:rPr>
                  <a:t>表示噪声图像概率分布</a:t>
                </a:r>
                <a:endParaRPr lang="zh-CN" altLang="en-US" sz="2200" dirty="0">
                  <a:ln w="19050">
                    <a:noFill/>
                  </a:ln>
                  <a:solidFill>
                    <a:schemeClr val="tx1"/>
                  </a:solidFill>
                  <a:latin typeface="DejaVu Math TeX Gyre" panose="02000503000000000000" charset="0"/>
                  <a:ea typeface="微软雅黑" charset="-122"/>
                  <a:cs typeface="DejaVu Math TeX Gyre" panose="02000503000000000000" charset="0"/>
                </a:endParaRPr>
              </a:p>
              <a:p>
                <a:pPr marL="342900" indent="-342900">
                  <a:buFont typeface="Wingdings" panose="05000000000000000000" charset="0"/>
                  <a:buChar char=""/>
                </a:pPr>
                <a14:m>
                  <m:oMath xmlns:m="http://schemas.openxmlformats.org/officeDocument/2006/math">
                    <m:r>
                      <a:rPr lang="en-US" altLang="zh-CN" sz="2200" i="1" dirty="0">
                        <a:ln w="19050">
                          <a:noFill/>
                        </a:ln>
                        <a:solidFill>
                          <a:schemeClr val="tx1"/>
                        </a:solidFill>
                        <a:latin typeface="Cambria Math" panose="02040503050406030204" pitchFamily="18" charset="0"/>
                        <a:ea typeface="微软雅黑" charset="-122"/>
                        <a:cs typeface="DejaVu Math TeX Gyre" panose="02000503000000000000" charset="0"/>
                      </a:rPr>
                      <m:t>𝛽</m:t>
                    </m:r>
                  </m:oMath>
                </a14:m>
                <a:r>
                  <a:rPr lang="zh-CN" altLang="en-US" sz="2200" dirty="0">
                    <a:ln w="19050">
                      <a:noFill/>
                    </a:ln>
                    <a:solidFill>
                      <a:schemeClr val="tx1"/>
                    </a:solidFill>
                    <a:latin typeface="DejaVu Math TeX Gyre" panose="02000503000000000000" charset="0"/>
                    <a:ea typeface="微软雅黑" charset="-122"/>
                    <a:cs typeface="DejaVu Math TeX Gyre" panose="02000503000000000000" charset="0"/>
                  </a:rPr>
                  <a:t>满足</a:t>
                </a:r>
                <a14:m>
                  <m:oMath xmlns:m="http://schemas.openxmlformats.org/officeDocument/2006/math">
                    <m:sSub>
                      <m:sSubPr>
                        <m:ctrlPr>
                          <a:rPr lang="en-US" altLang="zh-CN" sz="2200" i="1" dirty="0">
                            <a:ln w="19050">
                              <a:noFill/>
                            </a:ln>
                            <a:solidFill>
                              <a:schemeClr val="tx1"/>
                            </a:solidFill>
                            <a:latin typeface="Cambria Math" panose="02040503050406030204" pitchFamily="18" charset="0"/>
                            <a:ea typeface="微软雅黑" charset="-122"/>
                            <a:cs typeface="DejaVu Math TeX Gyre" panose="02000503000000000000" charset="0"/>
                          </a:rPr>
                        </m:ctrlPr>
                      </m:sSubPr>
                      <m:e>
                        <m:r>
                          <a:rPr lang="en-US" altLang="zh-CN" sz="2200" i="1" dirty="0">
                            <a:ln w="19050">
                              <a:noFill/>
                            </a:ln>
                            <a:solidFill>
                              <a:schemeClr val="tx1"/>
                            </a:solidFill>
                            <a:latin typeface="Cambria Math" panose="02040503050406030204" pitchFamily="18" charset="0"/>
                            <a:ea typeface="微软雅黑" charset="-122"/>
                            <a:cs typeface="DejaVu Math TeX Gyre" panose="02000503000000000000" charset="0"/>
                          </a:rPr>
                          <m:t>𝛽</m:t>
                        </m:r>
                      </m:e>
                      <m:sub>
                        <m:r>
                          <a:rPr lang="en-US" altLang="zh-CN" sz="2200" i="1" dirty="0">
                            <a:ln w="19050">
                              <a:noFill/>
                            </a:ln>
                            <a:solidFill>
                              <a:schemeClr val="tx1"/>
                            </a:solidFill>
                            <a:latin typeface="Cambria Math" panose="02040503050406030204" pitchFamily="18" charset="0"/>
                            <a:ea typeface="微软雅黑" charset="-122"/>
                            <a:cs typeface="DejaVu Math TeX Gyre" panose="02000503000000000000" charset="0"/>
                          </a:rPr>
                          <m:t>1</m:t>
                        </m:r>
                      </m:sub>
                    </m:sSub>
                    <m:r>
                      <a:rPr lang="en-US" altLang="zh-CN" sz="2200" i="1" dirty="0">
                        <a:ln w="19050">
                          <a:noFill/>
                        </a:ln>
                        <a:solidFill>
                          <a:schemeClr val="tx1"/>
                        </a:solidFill>
                        <a:latin typeface="Cambria Math" panose="02040503050406030204" pitchFamily="18" charset="0"/>
                        <a:ea typeface="微软雅黑" charset="-122"/>
                        <a:cs typeface="DejaVu Math TeX Gyre" panose="02000503000000000000" charset="0"/>
                      </a:rPr>
                      <m:t>&lt;</m:t>
                    </m:r>
                    <m:sSub>
                      <m:sSubPr>
                        <m:ctrlPr>
                          <a:rPr lang="en-US" altLang="zh-CN" sz="2200" i="1" dirty="0">
                            <a:ln w="19050">
                              <a:noFill/>
                            </a:ln>
                            <a:solidFill>
                              <a:schemeClr val="tx1"/>
                            </a:solidFill>
                            <a:latin typeface="Cambria Math" panose="02040503050406030204" pitchFamily="18" charset="0"/>
                            <a:ea typeface="微软雅黑" charset="-122"/>
                            <a:cs typeface="DejaVu Math TeX Gyre" panose="02000503000000000000" charset="0"/>
                          </a:rPr>
                        </m:ctrlPr>
                      </m:sSubPr>
                      <m:e>
                        <m:r>
                          <a:rPr lang="en-US" altLang="zh-CN" sz="2200" i="1" dirty="0">
                            <a:ln w="19050">
                              <a:noFill/>
                            </a:ln>
                            <a:solidFill>
                              <a:schemeClr val="tx1"/>
                            </a:solidFill>
                            <a:latin typeface="Cambria Math" panose="02040503050406030204" pitchFamily="18" charset="0"/>
                            <a:ea typeface="微软雅黑" charset="-122"/>
                            <a:cs typeface="DejaVu Math TeX Gyre" panose="02000503000000000000" charset="0"/>
                          </a:rPr>
                          <m:t>𝛽</m:t>
                        </m:r>
                      </m:e>
                      <m:sub>
                        <m:r>
                          <a:rPr lang="en-US" altLang="zh-CN" sz="2200" i="1" dirty="0">
                            <a:ln w="19050">
                              <a:noFill/>
                            </a:ln>
                            <a:solidFill>
                              <a:schemeClr val="tx1"/>
                            </a:solidFill>
                            <a:latin typeface="Cambria Math" panose="02040503050406030204" pitchFamily="18" charset="0"/>
                            <a:ea typeface="微软雅黑" charset="-122"/>
                            <a:cs typeface="DejaVu Math TeX Gyre" panose="02000503000000000000" charset="0"/>
                          </a:rPr>
                          <m:t>2</m:t>
                        </m:r>
                      </m:sub>
                    </m:sSub>
                    <m:r>
                      <a:rPr lang="en-US" altLang="zh-CN" sz="2200" i="1" dirty="0">
                        <a:ln w="19050">
                          <a:noFill/>
                        </a:ln>
                        <a:solidFill>
                          <a:schemeClr val="tx1"/>
                        </a:solidFill>
                        <a:latin typeface="Cambria Math" panose="02040503050406030204" pitchFamily="18" charset="0"/>
                        <a:ea typeface="微软雅黑" charset="-122"/>
                        <a:cs typeface="DejaVu Math TeX Gyre" panose="02000503000000000000" charset="0"/>
                      </a:rPr>
                      <m:t>&lt;...&lt;</m:t>
                    </m:r>
                    <m:sSub>
                      <m:sSubPr>
                        <m:ctrlPr>
                          <a:rPr lang="en-US" altLang="zh-CN" sz="2200" i="1" dirty="0">
                            <a:ln w="19050">
                              <a:noFill/>
                            </a:ln>
                            <a:solidFill>
                              <a:schemeClr val="tx1"/>
                            </a:solidFill>
                            <a:latin typeface="Cambria Math" panose="02040503050406030204" pitchFamily="18" charset="0"/>
                            <a:ea typeface="微软雅黑" charset="-122"/>
                            <a:cs typeface="DejaVu Math TeX Gyre" panose="02000503000000000000" charset="0"/>
                          </a:rPr>
                        </m:ctrlPr>
                      </m:sSubPr>
                      <m:e>
                        <m:r>
                          <a:rPr lang="en-US" altLang="zh-CN" sz="2200" i="1" dirty="0">
                            <a:ln w="19050">
                              <a:noFill/>
                            </a:ln>
                            <a:solidFill>
                              <a:schemeClr val="tx1"/>
                            </a:solidFill>
                            <a:latin typeface="Cambria Math" panose="02040503050406030204" pitchFamily="18" charset="0"/>
                            <a:ea typeface="微软雅黑" charset="-122"/>
                            <a:cs typeface="DejaVu Math TeX Gyre" panose="02000503000000000000" charset="0"/>
                          </a:rPr>
                          <m:t>𝛽</m:t>
                        </m:r>
                      </m:e>
                      <m:sub>
                        <m:r>
                          <a:rPr lang="en-US" altLang="zh-CN" sz="2200" i="1" dirty="0">
                            <a:ln w="19050">
                              <a:noFill/>
                            </a:ln>
                            <a:solidFill>
                              <a:schemeClr val="tx1"/>
                            </a:solidFill>
                            <a:latin typeface="Cambria Math" panose="02040503050406030204" pitchFamily="18" charset="0"/>
                            <a:ea typeface="微软雅黑" charset="-122"/>
                            <a:cs typeface="DejaVu Math TeX Gyre" panose="02000503000000000000" charset="0"/>
                          </a:rPr>
                          <m:t>𝑇</m:t>
                        </m:r>
                      </m:sub>
                    </m:sSub>
                  </m:oMath>
                </a14:m>
                <a:endParaRPr lang="zh-CN" altLang="en-US" sz="2200" i="1" dirty="0">
                  <a:ln w="19050">
                    <a:noFill/>
                  </a:ln>
                  <a:solidFill>
                    <a:schemeClr val="tx1"/>
                  </a:solidFill>
                  <a:latin typeface="DejaVu Math TeX Gyre" panose="02000503000000000000" charset="0"/>
                  <a:ea typeface="微软雅黑" charset="-122"/>
                  <a:cs typeface="DejaVu Math TeX Gyre" panose="02000503000000000000" charset="0"/>
                </a:endParaRPr>
              </a:p>
            </p:txBody>
          </p:sp>
        </mc:Choice>
        <mc:Fallback>
          <p:sp>
            <p:nvSpPr>
              <p:cNvPr id="14" name="文本框 13"/>
              <p:cNvSpPr txBox="1">
                <a:spLocks noRot="1" noChangeAspect="1" noMove="1" noResize="1" noEditPoints="1" noAdjustHandles="1" noChangeArrowheads="1" noChangeShapeType="1" noTextEdit="1"/>
              </p:cNvSpPr>
              <p:nvPr>
                <p:custDataLst>
                  <p:tags r:id="rId6"/>
                </p:custDataLst>
              </p:nvPr>
            </p:nvSpPr>
            <p:spPr>
              <a:xfrm>
                <a:off x="897255" y="4686935"/>
                <a:ext cx="5598795" cy="768985"/>
              </a:xfrm>
              <a:prstGeom prst="rect">
                <a:avLst/>
              </a:prstGeom>
              <a:blipFill rotWithShape="1">
                <a:blip r:embed="rId7"/>
                <a:stretch>
                  <a:fillRect b="-817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 name="文本框 14"/>
              <p:cNvSpPr txBox="1"/>
              <p:nvPr/>
            </p:nvSpPr>
            <p:spPr>
              <a:xfrm>
                <a:off x="239395" y="2251710"/>
                <a:ext cx="6409690" cy="1706880"/>
              </a:xfrm>
              <a:prstGeom prst="rect">
                <a:avLst/>
              </a:prstGeom>
              <a:noFill/>
              <a:ln w="12700" cmpd="sng">
                <a:noFill/>
                <a:prstDash val="solid"/>
              </a:ln>
              <a:effectLst>
                <a:outerShdw dist="63500" dir="2700000" algn="tl" rotWithShape="0">
                  <a:schemeClr val="bg1">
                    <a:alpha val="100000"/>
                  </a:schemeClr>
                </a:outerShdw>
              </a:effectLst>
            </p:spPr>
            <p:txBody>
              <a:bodyPr wrap="square" rtlCol="0" anchor="t" anchorCtr="0">
                <a:spAutoFit/>
              </a:bodyPr>
              <a:lstStyle/>
              <a:p>
                <a:pPr algn="l">
                  <a:lnSpc>
                    <a:spcPct val="130000"/>
                  </a:lnSpc>
                </a:pPr>
                <a14:m>
                  <m:oMathPara xmlns:m="http://schemas.openxmlformats.org/officeDocument/2006/math">
                    <m:oMathParaPr>
                      <m:jc m:val="centerGroup"/>
                    </m:oMathParaPr>
                    <m:oMath xmlns:m="http://schemas.openxmlformats.org/officeDocument/2006/math">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𝑞</m:t>
                      </m:r>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m:t>
                      </m:r>
                      <m:sSub>
                        <m:sSubPr>
                          <m:ctrlP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ctrlPr>
                        </m:sSubPr>
                        <m:e>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𝑥</m:t>
                          </m:r>
                        </m:e>
                        <m:sub>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1</m:t>
                          </m:r>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m:t>
                          </m:r>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𝑇</m:t>
                          </m:r>
                        </m:sub>
                      </m:sSub>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m:t>
                      </m:r>
                      <m:sSub>
                        <m:sSubPr>
                          <m:ctrlP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ctrlPr>
                        </m:sSubPr>
                        <m:e>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𝑥</m:t>
                          </m:r>
                        </m:e>
                        <m:sub>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0</m:t>
                          </m:r>
                        </m:sub>
                      </m:sSub>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m:t>
                      </m:r>
                      <m:nary>
                        <m:naryPr>
                          <m:chr m:val="∏"/>
                          <m:limLoc m:val="undOvr"/>
                          <m:ctrlP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ctrlPr>
                        </m:naryPr>
                        <m:sub>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𝑡</m:t>
                          </m:r>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m:t>
                          </m:r>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1</m:t>
                          </m:r>
                        </m:sub>
                        <m:sup>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𝑇</m:t>
                          </m:r>
                        </m:sup>
                        <m:e>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𝑞</m:t>
                          </m:r>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m:t>
                          </m:r>
                          <m:sSub>
                            <m:sSubPr>
                              <m:ctrlP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ctrlPr>
                            </m:sSubPr>
                            <m:e>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𝑥</m:t>
                              </m:r>
                            </m:e>
                            <m:sub>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𝑡</m:t>
                              </m:r>
                            </m:sub>
                          </m:sSub>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m:t>
                          </m:r>
                          <m:sSub>
                            <m:sSubPr>
                              <m:ctrlP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ctrlPr>
                            </m:sSubPr>
                            <m:e>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𝑥</m:t>
                              </m:r>
                            </m:e>
                            <m:sub>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𝑡</m:t>
                              </m:r>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m:t>
                              </m:r>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1</m:t>
                              </m:r>
                            </m:sub>
                          </m:sSub>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m:t>
                          </m:r>
                        </m:e>
                      </m:nary>
                    </m:oMath>
                  </m:oMathPara>
                </a14:m>
                <a:endParaRPr lang="en-US" altLang="zh-CN" sz="2400" i="1" dirty="0">
                  <a:ln w="19050">
                    <a:noFill/>
                  </a:ln>
                  <a:solidFill>
                    <a:schemeClr val="tx1"/>
                  </a:solidFill>
                  <a:latin typeface="DejaVu Math TeX Gyre" panose="02000503000000000000" charset="0"/>
                  <a:ea typeface="微软雅黑" charset="-122"/>
                  <a:cs typeface="DejaVu Math TeX Gyre" panose="02000503000000000000" charset="0"/>
                </a:endParaRPr>
              </a:p>
              <a:p>
                <a:pPr algn="l">
                  <a:lnSpc>
                    <a:spcPct val="130000"/>
                  </a:lnSpc>
                </a:pPr>
                <a14:m>
                  <m:oMathPara xmlns:m="http://schemas.openxmlformats.org/officeDocument/2006/math">
                    <m:oMathParaPr>
                      <m:jc m:val="centerGroup"/>
                    </m:oMathParaPr>
                    <m:oMath xmlns:m="http://schemas.openxmlformats.org/officeDocument/2006/math">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𝑞</m:t>
                      </m:r>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m:t>
                      </m:r>
                      <m:sSub>
                        <m:sSubPr>
                          <m:ctrlP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ctrlPr>
                        </m:sSubPr>
                        <m:e>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𝑥</m:t>
                          </m:r>
                        </m:e>
                        <m:sub>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𝑡</m:t>
                          </m:r>
                        </m:sub>
                      </m:sSub>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m:t>
                      </m:r>
                      <m:sSub>
                        <m:sSubPr>
                          <m:ctrlP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ctrlPr>
                        </m:sSubPr>
                        <m:e>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𝑥</m:t>
                          </m:r>
                        </m:e>
                        <m:sub>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𝑡</m:t>
                          </m:r>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m:t>
                          </m:r>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1</m:t>
                          </m:r>
                        </m:sub>
                      </m:sSub>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m:t>
                      </m:r>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𝑁</m:t>
                      </m:r>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m:t>
                      </m:r>
                      <m:sSub>
                        <m:sSubPr>
                          <m:ctrlP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ctrlPr>
                        </m:sSubPr>
                        <m:e>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𝑥</m:t>
                          </m:r>
                        </m:e>
                        <m:sub>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𝑡</m:t>
                          </m:r>
                        </m:sub>
                      </m:sSub>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m:t>
                      </m:r>
                      <m:rad>
                        <m:radPr>
                          <m:degHide m:val="on"/>
                          <m:ctrlP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ctrlPr>
                        </m:radPr>
                        <m:deg/>
                        <m:e>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1</m:t>
                          </m:r>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m:t>
                          </m:r>
                          <m:sSub>
                            <m:sSubPr>
                              <m:ctrlP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ctrlPr>
                            </m:sSubPr>
                            <m:e>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𝛽</m:t>
                              </m:r>
                            </m:e>
                            <m:sub>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𝑡</m:t>
                              </m:r>
                            </m:sub>
                          </m:sSub>
                        </m:e>
                      </m:rad>
                      <m:sSub>
                        <m:sSubPr>
                          <m:ctrlP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ctrlPr>
                        </m:sSubPr>
                        <m:e>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𝑥</m:t>
                          </m:r>
                        </m:e>
                        <m:sub>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𝑡</m:t>
                          </m:r>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m:t>
                          </m:r>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1</m:t>
                          </m:r>
                        </m:sub>
                      </m:sSub>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m:t>
                      </m:r>
                      <m:sSub>
                        <m:sSubPr>
                          <m:ctrlP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ctrlPr>
                        </m:sSubPr>
                        <m:e>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𝛽</m:t>
                          </m:r>
                        </m:e>
                        <m:sub>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𝑡</m:t>
                          </m:r>
                        </m:sub>
                      </m:sSub>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𝐼</m:t>
                      </m:r>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m:t>
                      </m:r>
                    </m:oMath>
                  </m:oMathPara>
                </a14:m>
                <a:endParaRPr lang="zh-CN" altLang="en-US" sz="2400" i="0" dirty="0">
                  <a:ln w="19050">
                    <a:noFill/>
                  </a:ln>
                  <a:solidFill>
                    <a:schemeClr val="tx1"/>
                  </a:solidFill>
                  <a:latin typeface="微软雅黑" charset="-122"/>
                  <a:ea typeface="微软雅黑" charset="-122"/>
                  <a:cs typeface="Bauhaus 93" panose="04030905020B02020C02" charset="0"/>
                </a:endParaRPr>
              </a:p>
            </p:txBody>
          </p:sp>
        </mc:Choice>
        <mc:Fallback>
          <p:sp>
            <p:nvSpPr>
              <p:cNvPr id="15" name="文本框 14"/>
              <p:cNvSpPr txBox="1">
                <a:spLocks noRot="1" noChangeAspect="1" noMove="1" noResize="1" noEditPoints="1" noAdjustHandles="1" noChangeArrowheads="1" noChangeShapeType="1" noTextEdit="1"/>
              </p:cNvSpPr>
              <p:nvPr/>
            </p:nvSpPr>
            <p:spPr>
              <a:xfrm>
                <a:off x="239395" y="2251710"/>
                <a:ext cx="6409690" cy="1706880"/>
              </a:xfrm>
              <a:prstGeom prst="rect">
                <a:avLst/>
              </a:prstGeom>
              <a:blipFill rotWithShape="1">
                <a:blip r:embed="rId8"/>
                <a:stretch>
                  <a:fillRect r="-693" b="-2604"/>
                </a:stretch>
              </a:blipFill>
              <a:ln w="12700" cmpd="sng">
                <a:noFill/>
                <a:prstDash val="solid"/>
              </a:ln>
              <a:effectLst>
                <a:outerShdw dist="63500" dir="2700000" algn="tl" rotWithShape="0">
                  <a:schemeClr val="bg1">
                    <a:alpha val="100000"/>
                  </a:schemeClr>
                </a:outerShdw>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9" name="文本框 18"/>
              <p:cNvSpPr txBox="1"/>
              <p:nvPr>
                <p:custDataLst>
                  <p:tags r:id="rId9"/>
                </p:custDataLst>
              </p:nvPr>
            </p:nvSpPr>
            <p:spPr>
              <a:xfrm>
                <a:off x="6960235" y="3420745"/>
                <a:ext cx="5231765" cy="2035810"/>
              </a:xfrm>
              <a:prstGeom prst="rect">
                <a:avLst/>
              </a:prstGeom>
              <a:noFill/>
            </p:spPr>
            <p:txBody>
              <a:bodyPr wrap="square" rtlCol="0">
                <a:noAutofit/>
              </a:bodyPr>
              <a:lstStyle/>
              <a:p>
                <a:pPr marL="342900" indent="-342900" algn="l">
                  <a:buFont typeface="Wingdings" panose="05000000000000000000" charset="0"/>
                  <a:buChar char=""/>
                </a:pPr>
                <a:r>
                  <a:rPr lang="zh-CN" altLang="en-US" sz="2200" dirty="0">
                    <a:latin typeface="DejaVu Math TeX Gyre" panose="02000503000000000000" charset="0"/>
                    <a:ea typeface="微软雅黑" charset="-122"/>
                    <a:cs typeface="DejaVu Math TeX Gyre" panose="02000503000000000000" charset="0"/>
                  </a:rPr>
                  <a:t>定义</a:t>
                </a:r>
                <a14:m>
                  <m:oMath xmlns:m="http://schemas.openxmlformats.org/officeDocument/2006/math">
                    <m:sSub>
                      <m:sSubPr>
                        <m:ctrlPr>
                          <a:rPr lang="en-US" altLang="zh-CN" sz="2200" i="1" dirty="0">
                            <a:latin typeface="Cambria Math" panose="02040503050406030204" pitchFamily="18" charset="0"/>
                            <a:ea typeface="微软雅黑" charset="-122"/>
                            <a:cs typeface="DejaVu Math TeX Gyre" panose="02000503000000000000" charset="0"/>
                          </a:rPr>
                        </m:ctrlPr>
                      </m:sSubPr>
                      <m:e>
                        <m:acc>
                          <m:accPr>
                            <m:chr m:val="̅"/>
                            <m:ctrlPr>
                              <a:rPr lang="en-US" altLang="zh-CN" sz="2200" i="1" dirty="0">
                                <a:latin typeface="Cambria Math" panose="02040503050406030204" pitchFamily="18" charset="0"/>
                                <a:ea typeface="微软雅黑" charset="-122"/>
                                <a:cs typeface="DejaVu Math TeX Gyre" panose="02000503000000000000" charset="0"/>
                              </a:rPr>
                            </m:ctrlPr>
                          </m:accPr>
                          <m:e>
                            <m:r>
                              <a:rPr lang="en-US" altLang="zh-CN" sz="2200" i="1" dirty="0">
                                <a:latin typeface="Cambria Math" panose="02040503050406030204" pitchFamily="18" charset="0"/>
                                <a:ea typeface="微软雅黑" charset="-122"/>
                                <a:cs typeface="DejaVu Math TeX Gyre" panose="02000503000000000000" charset="0"/>
                              </a:rPr>
                              <m:t>𝛼</m:t>
                            </m:r>
                          </m:e>
                        </m:acc>
                      </m:e>
                      <m:sub>
                        <m:r>
                          <a:rPr lang="en-US" altLang="zh-CN" sz="2200" i="1" dirty="0">
                            <a:latin typeface="Cambria Math" panose="02040503050406030204" pitchFamily="18" charset="0"/>
                            <a:ea typeface="微软雅黑" charset="-122"/>
                            <a:cs typeface="DejaVu Math TeX Gyre" panose="02000503000000000000" charset="0"/>
                          </a:rPr>
                          <m:t>𝑡</m:t>
                        </m:r>
                      </m:sub>
                    </m:sSub>
                    <m:r>
                      <a:rPr lang="en-US" altLang="zh-CN" sz="2200" i="1" dirty="0">
                        <a:latin typeface="Cambria Math" panose="02040503050406030204" pitchFamily="18" charset="0"/>
                        <a:ea typeface="微软雅黑" charset="-122"/>
                        <a:cs typeface="DejaVu Math TeX Gyre" panose="02000503000000000000" charset="0"/>
                      </a:rPr>
                      <m:t>=</m:t>
                    </m:r>
                    <m:nary>
                      <m:naryPr>
                        <m:chr m:val="∏"/>
                        <m:limLoc m:val="undOvr"/>
                        <m:ctrlPr>
                          <a:rPr lang="en-US" altLang="zh-CN" sz="2200" i="1" dirty="0">
                            <a:latin typeface="Cambria Math" panose="02040503050406030204" pitchFamily="18" charset="0"/>
                            <a:ea typeface="微软雅黑" charset="-122"/>
                            <a:cs typeface="DejaVu Math TeX Gyre" panose="02000503000000000000" charset="0"/>
                          </a:rPr>
                        </m:ctrlPr>
                      </m:naryPr>
                      <m:sub>
                        <m:r>
                          <a:rPr lang="en-US" altLang="zh-CN" sz="2200" i="1" dirty="0">
                            <a:latin typeface="Cambria Math" panose="02040503050406030204" pitchFamily="18" charset="0"/>
                            <a:ea typeface="微软雅黑" charset="-122"/>
                            <a:cs typeface="DejaVu Math TeX Gyre" panose="02000503000000000000" charset="0"/>
                          </a:rPr>
                          <m:t>𝑖</m:t>
                        </m:r>
                        <m:r>
                          <a:rPr lang="en-US" altLang="zh-CN" sz="2200" i="1" dirty="0">
                            <a:latin typeface="Cambria Math" panose="02040503050406030204" pitchFamily="18" charset="0"/>
                            <a:ea typeface="微软雅黑" charset="-122"/>
                            <a:cs typeface="DejaVu Math TeX Gyre" panose="02000503000000000000" charset="0"/>
                          </a:rPr>
                          <m:t>=</m:t>
                        </m:r>
                        <m:r>
                          <a:rPr lang="en-US" altLang="zh-CN" sz="2200" i="1" dirty="0">
                            <a:latin typeface="Cambria Math" panose="02040503050406030204" pitchFamily="18" charset="0"/>
                            <a:ea typeface="微软雅黑" charset="-122"/>
                            <a:cs typeface="DejaVu Math TeX Gyre" panose="02000503000000000000" charset="0"/>
                          </a:rPr>
                          <m:t>1</m:t>
                        </m:r>
                      </m:sub>
                      <m:sup>
                        <m:r>
                          <a:rPr lang="en-US" altLang="zh-CN" sz="2200" i="1" dirty="0">
                            <a:latin typeface="Cambria Math" panose="02040503050406030204" pitchFamily="18" charset="0"/>
                            <a:ea typeface="微软雅黑" charset="-122"/>
                            <a:cs typeface="DejaVu Math TeX Gyre" panose="02000503000000000000" charset="0"/>
                          </a:rPr>
                          <m:t>𝑇</m:t>
                        </m:r>
                      </m:sup>
                      <m:e>
                        <m:sSub>
                          <m:sSubPr>
                            <m:ctrlPr>
                              <a:rPr lang="en-US" altLang="zh-CN" sz="2200" i="1" dirty="0">
                                <a:latin typeface="Cambria Math" panose="02040503050406030204" pitchFamily="18" charset="0"/>
                                <a:ea typeface="微软雅黑" charset="-122"/>
                                <a:cs typeface="DejaVu Math TeX Gyre" panose="02000503000000000000" charset="0"/>
                              </a:rPr>
                            </m:ctrlPr>
                          </m:sSubPr>
                          <m:e>
                            <m:r>
                              <a:rPr lang="en-US" altLang="zh-CN" sz="2200" i="1" dirty="0">
                                <a:latin typeface="Cambria Math" panose="02040503050406030204" pitchFamily="18" charset="0"/>
                                <a:ea typeface="微软雅黑" charset="-122"/>
                                <a:cs typeface="DejaVu Math TeX Gyre" panose="02000503000000000000" charset="0"/>
                              </a:rPr>
                              <m:t>𝛼</m:t>
                            </m:r>
                          </m:e>
                          <m:sub>
                            <m:r>
                              <a:rPr lang="en-US" altLang="zh-CN" sz="2200" i="1" dirty="0">
                                <a:latin typeface="Cambria Math" panose="02040503050406030204" pitchFamily="18" charset="0"/>
                                <a:ea typeface="微软雅黑" charset="-122"/>
                                <a:cs typeface="DejaVu Math TeX Gyre" panose="02000503000000000000" charset="0"/>
                              </a:rPr>
                              <m:t>𝑖</m:t>
                            </m:r>
                          </m:sub>
                        </m:sSub>
                      </m:e>
                    </m:nary>
                  </m:oMath>
                </a14:m>
                <a:r>
                  <a:rPr lang="zh-CN" altLang="en-US" sz="2200" dirty="0">
                    <a:latin typeface="DejaVu Math TeX Gyre" panose="02000503000000000000" charset="0"/>
                    <a:ea typeface="微软雅黑" charset="-122"/>
                    <a:cs typeface="DejaVu Math TeX Gyre" panose="02000503000000000000" charset="0"/>
                  </a:rPr>
                  <a:t>，得到：</a:t>
                </a:r>
                <a:endParaRPr lang="zh-CN" altLang="en-US" sz="2200" dirty="0">
                  <a:latin typeface="DejaVu Math TeX Gyre" panose="02000503000000000000" charset="0"/>
                  <a:ea typeface="微软雅黑" charset="-122"/>
                  <a:cs typeface="DejaVu Math TeX Gyre" panose="02000503000000000000" charset="0"/>
                </a:endParaRPr>
              </a:p>
              <a:p>
                <a:pPr indent="0" algn="l">
                  <a:buFont typeface="Wingdings" panose="05000000000000000000" charset="0"/>
                  <a:buNone/>
                </a:pPr>
                <a:endParaRPr lang="zh-CN" altLang="en-US" sz="2200" dirty="0">
                  <a:latin typeface="DejaVu Math TeX Gyre" panose="02000503000000000000" charset="0"/>
                  <a:ea typeface="微软雅黑" charset="-122"/>
                  <a:cs typeface="DejaVu Math TeX Gyre" panose="02000503000000000000" charset="0"/>
                </a:endParaRPr>
              </a:p>
              <a:p>
                <a:pPr indent="0" algn="l">
                  <a:buFont typeface="Wingdings" panose="05000000000000000000" charset="0"/>
                  <a:buNone/>
                </a:pPr>
                <a14:m>
                  <m:oMathPara xmlns:m="http://schemas.openxmlformats.org/officeDocument/2006/math">
                    <m:oMathParaPr>
                      <m:jc m:val="centerGroup"/>
                    </m:oMathParaPr>
                    <m:oMath xmlns:m="http://schemas.openxmlformats.org/officeDocument/2006/math">
                      <m:r>
                        <a:rPr lang="en-US" altLang="zh-CN" sz="2200" i="1" dirty="0">
                          <a:latin typeface="Cambria Math" panose="02040503050406030204" pitchFamily="18" charset="0"/>
                          <a:ea typeface="微软雅黑" charset="-122"/>
                          <a:cs typeface="DejaVu Math TeX Gyre" panose="02000503000000000000" charset="0"/>
                        </a:rPr>
                        <m:t>𝑞</m:t>
                      </m:r>
                      <m:r>
                        <a:rPr lang="en-US" altLang="zh-CN" sz="2200" i="1" dirty="0">
                          <a:latin typeface="Cambria Math" panose="02040503050406030204" pitchFamily="18" charset="0"/>
                          <a:ea typeface="微软雅黑" charset="-122"/>
                          <a:cs typeface="DejaVu Math TeX Gyre" panose="02000503000000000000" charset="0"/>
                        </a:rPr>
                        <m:t>(</m:t>
                      </m:r>
                      <m:sSub>
                        <m:sSubPr>
                          <m:ctrlPr>
                            <a:rPr lang="en-US" altLang="zh-CN" sz="2200" i="1" dirty="0">
                              <a:latin typeface="Cambria Math" panose="02040503050406030204" pitchFamily="18" charset="0"/>
                              <a:ea typeface="微软雅黑" charset="-122"/>
                              <a:cs typeface="DejaVu Math TeX Gyre" panose="02000503000000000000" charset="0"/>
                            </a:rPr>
                          </m:ctrlPr>
                        </m:sSubPr>
                        <m:e>
                          <m:r>
                            <a:rPr lang="en-US" altLang="zh-CN" sz="2200" i="1" dirty="0">
                              <a:latin typeface="Cambria Math" panose="02040503050406030204" pitchFamily="18" charset="0"/>
                              <a:ea typeface="微软雅黑" charset="-122"/>
                              <a:cs typeface="DejaVu Math TeX Gyre" panose="02000503000000000000" charset="0"/>
                            </a:rPr>
                            <m:t>𝑥</m:t>
                          </m:r>
                        </m:e>
                        <m:sub>
                          <m:r>
                            <a:rPr lang="en-US" altLang="zh-CN" sz="2200" i="1" dirty="0">
                              <a:latin typeface="Cambria Math" panose="02040503050406030204" pitchFamily="18" charset="0"/>
                              <a:ea typeface="微软雅黑" charset="-122"/>
                              <a:cs typeface="DejaVu Math TeX Gyre" panose="02000503000000000000" charset="0"/>
                            </a:rPr>
                            <m:t>𝑡</m:t>
                          </m:r>
                        </m:sub>
                      </m:sSub>
                      <m:r>
                        <a:rPr lang="en-US" altLang="zh-CN" sz="2200" i="1" dirty="0">
                          <a:latin typeface="Cambria Math" panose="02040503050406030204" pitchFamily="18" charset="0"/>
                          <a:ea typeface="微软雅黑" charset="-122"/>
                          <a:cs typeface="DejaVu Math TeX Gyre" panose="02000503000000000000" charset="0"/>
                        </a:rPr>
                        <m:t>|</m:t>
                      </m:r>
                      <m:sSub>
                        <m:sSubPr>
                          <m:ctrlPr>
                            <a:rPr lang="en-US" altLang="zh-CN" sz="2200" i="1" dirty="0">
                              <a:latin typeface="Cambria Math" panose="02040503050406030204" pitchFamily="18" charset="0"/>
                              <a:ea typeface="微软雅黑" charset="-122"/>
                              <a:cs typeface="DejaVu Math TeX Gyre" panose="02000503000000000000" charset="0"/>
                            </a:rPr>
                          </m:ctrlPr>
                        </m:sSubPr>
                        <m:e>
                          <m:r>
                            <a:rPr lang="en-US" altLang="zh-CN" sz="2200" i="1" dirty="0">
                              <a:latin typeface="Cambria Math" panose="02040503050406030204" pitchFamily="18" charset="0"/>
                              <a:ea typeface="微软雅黑" charset="-122"/>
                              <a:cs typeface="DejaVu Math TeX Gyre" panose="02000503000000000000" charset="0"/>
                            </a:rPr>
                            <m:t>𝑥</m:t>
                          </m:r>
                        </m:e>
                        <m:sub>
                          <m:r>
                            <a:rPr lang="en-US" altLang="zh-CN" sz="2200" i="1" dirty="0">
                              <a:latin typeface="Cambria Math" panose="02040503050406030204" pitchFamily="18" charset="0"/>
                              <a:ea typeface="微软雅黑" charset="-122"/>
                              <a:cs typeface="DejaVu Math TeX Gyre" panose="02000503000000000000" charset="0"/>
                            </a:rPr>
                            <m:t>𝑜</m:t>
                          </m:r>
                        </m:sub>
                      </m:sSub>
                      <m:r>
                        <a:rPr lang="en-US" altLang="zh-CN" sz="2200" i="1" dirty="0">
                          <a:latin typeface="Cambria Math" panose="02040503050406030204" pitchFamily="18" charset="0"/>
                          <a:ea typeface="微软雅黑" charset="-122"/>
                          <a:cs typeface="DejaVu Math TeX Gyre" panose="02000503000000000000" charset="0"/>
                        </a:rPr>
                        <m:t>)=</m:t>
                      </m:r>
                      <m:r>
                        <a:rPr lang="en-US" altLang="zh-CN" sz="2200" i="1" dirty="0">
                          <a:latin typeface="Cambria Math" panose="02040503050406030204" pitchFamily="18" charset="0"/>
                          <a:ea typeface="微软雅黑" charset="-122"/>
                          <a:cs typeface="DejaVu Math TeX Gyre" panose="02000503000000000000" charset="0"/>
                        </a:rPr>
                        <m:t>𝑁</m:t>
                      </m:r>
                      <m:r>
                        <a:rPr lang="en-US" altLang="zh-CN" sz="2200" i="1" dirty="0">
                          <a:latin typeface="Cambria Math" panose="02040503050406030204" pitchFamily="18" charset="0"/>
                          <a:ea typeface="微软雅黑" charset="-122"/>
                          <a:cs typeface="DejaVu Math TeX Gyre" panose="02000503000000000000" charset="0"/>
                        </a:rPr>
                        <m:t>(</m:t>
                      </m:r>
                      <m:sSub>
                        <m:sSubPr>
                          <m:ctrlPr>
                            <a:rPr lang="en-US" altLang="zh-CN" sz="2200" i="1" dirty="0">
                              <a:latin typeface="Cambria Math" panose="02040503050406030204" pitchFamily="18" charset="0"/>
                              <a:ea typeface="微软雅黑" charset="-122"/>
                              <a:cs typeface="DejaVu Math TeX Gyre" panose="02000503000000000000" charset="0"/>
                            </a:rPr>
                          </m:ctrlPr>
                        </m:sSubPr>
                        <m:e>
                          <m:r>
                            <a:rPr lang="en-US" altLang="zh-CN" sz="2200" i="1" dirty="0">
                              <a:latin typeface="Cambria Math" panose="02040503050406030204" pitchFamily="18" charset="0"/>
                              <a:ea typeface="微软雅黑" charset="-122"/>
                              <a:cs typeface="DejaVu Math TeX Gyre" panose="02000503000000000000" charset="0"/>
                            </a:rPr>
                            <m:t>𝑥</m:t>
                          </m:r>
                        </m:e>
                        <m:sub>
                          <m:r>
                            <a:rPr lang="en-US" altLang="zh-CN" sz="2200" i="1" dirty="0">
                              <a:latin typeface="Cambria Math" panose="02040503050406030204" pitchFamily="18" charset="0"/>
                              <a:ea typeface="微软雅黑" charset="-122"/>
                              <a:cs typeface="DejaVu Math TeX Gyre" panose="02000503000000000000" charset="0"/>
                            </a:rPr>
                            <m:t>𝑡</m:t>
                          </m:r>
                        </m:sub>
                      </m:sSub>
                      <m:r>
                        <a:rPr lang="en-US" altLang="zh-CN" sz="2200" i="1" dirty="0">
                          <a:latin typeface="Cambria Math" panose="02040503050406030204" pitchFamily="18" charset="0"/>
                          <a:ea typeface="微软雅黑" charset="-122"/>
                          <a:cs typeface="DejaVu Math TeX Gyre" panose="02000503000000000000" charset="0"/>
                        </a:rPr>
                        <m:t>;</m:t>
                      </m:r>
                      <m:rad>
                        <m:radPr>
                          <m:degHide m:val="on"/>
                          <m:ctrlPr>
                            <a:rPr lang="en-US" altLang="zh-CN" sz="2200" i="1" dirty="0">
                              <a:latin typeface="Cambria Math" panose="02040503050406030204" pitchFamily="18" charset="0"/>
                              <a:ea typeface="微软雅黑" charset="-122"/>
                              <a:cs typeface="DejaVu Math TeX Gyre" panose="02000503000000000000" charset="0"/>
                            </a:rPr>
                          </m:ctrlPr>
                        </m:radPr>
                        <m:deg/>
                        <m:e>
                          <m:sSub>
                            <m:sSubPr>
                              <m:ctrlPr>
                                <a:rPr lang="en-US" altLang="zh-CN" sz="2200" i="1" dirty="0">
                                  <a:latin typeface="Cambria Math" panose="02040503050406030204" pitchFamily="18" charset="0"/>
                                  <a:ea typeface="微软雅黑" charset="-122"/>
                                  <a:cs typeface="DejaVu Math TeX Gyre" panose="02000503000000000000" charset="0"/>
                                </a:rPr>
                              </m:ctrlPr>
                            </m:sSubPr>
                            <m:e>
                              <m:acc>
                                <m:accPr>
                                  <m:chr m:val="̅"/>
                                  <m:ctrlPr>
                                    <a:rPr lang="en-US" altLang="zh-CN" sz="2200" i="1" dirty="0">
                                      <a:latin typeface="Cambria Math" panose="02040503050406030204" pitchFamily="18" charset="0"/>
                                      <a:ea typeface="微软雅黑" charset="-122"/>
                                      <a:cs typeface="DejaVu Math TeX Gyre" panose="02000503000000000000" charset="0"/>
                                    </a:rPr>
                                  </m:ctrlPr>
                                </m:accPr>
                                <m:e>
                                  <m:r>
                                    <a:rPr lang="en-US" altLang="zh-CN" sz="2200" i="1" dirty="0">
                                      <a:latin typeface="Cambria Math" panose="02040503050406030204" pitchFamily="18" charset="0"/>
                                      <a:ea typeface="微软雅黑" charset="-122"/>
                                      <a:cs typeface="DejaVu Math TeX Gyre" panose="02000503000000000000" charset="0"/>
                                    </a:rPr>
                                    <m:t>𝛼</m:t>
                                  </m:r>
                                </m:e>
                              </m:acc>
                            </m:e>
                            <m:sub>
                              <m:r>
                                <a:rPr lang="en-US" altLang="zh-CN" sz="2200" i="1" dirty="0">
                                  <a:latin typeface="Cambria Math" panose="02040503050406030204" pitchFamily="18" charset="0"/>
                                  <a:ea typeface="微软雅黑" charset="-122"/>
                                  <a:cs typeface="DejaVu Math TeX Gyre" panose="02000503000000000000" charset="0"/>
                                </a:rPr>
                                <m:t>𝑡</m:t>
                              </m:r>
                            </m:sub>
                          </m:sSub>
                        </m:e>
                      </m:rad>
                      <m:sSub>
                        <m:sSubPr>
                          <m:ctrlPr>
                            <a:rPr lang="en-US" altLang="zh-CN" sz="2200" i="1" dirty="0">
                              <a:latin typeface="Cambria Math" panose="02040503050406030204" pitchFamily="18" charset="0"/>
                              <a:ea typeface="微软雅黑" charset="-122"/>
                              <a:cs typeface="DejaVu Math TeX Gyre" panose="02000503000000000000" charset="0"/>
                            </a:rPr>
                          </m:ctrlPr>
                        </m:sSubPr>
                        <m:e>
                          <m:r>
                            <a:rPr lang="en-US" altLang="zh-CN" sz="2200" i="1" dirty="0">
                              <a:latin typeface="Cambria Math" panose="02040503050406030204" pitchFamily="18" charset="0"/>
                              <a:ea typeface="微软雅黑" charset="-122"/>
                              <a:cs typeface="DejaVu Math TeX Gyre" panose="02000503000000000000" charset="0"/>
                            </a:rPr>
                            <m:t>𝑥</m:t>
                          </m:r>
                        </m:e>
                        <m:sub>
                          <m:r>
                            <a:rPr lang="en-US" altLang="zh-CN" sz="2200" i="1" dirty="0">
                              <a:latin typeface="Cambria Math" panose="02040503050406030204" pitchFamily="18" charset="0"/>
                              <a:ea typeface="微软雅黑" charset="-122"/>
                              <a:cs typeface="DejaVu Math TeX Gyre" panose="02000503000000000000" charset="0"/>
                            </a:rPr>
                            <m:t>𝑜</m:t>
                          </m:r>
                        </m:sub>
                      </m:sSub>
                      <m:r>
                        <a:rPr lang="en-US" altLang="zh-CN" sz="2200" i="1" dirty="0">
                          <a:latin typeface="Cambria Math" panose="02040503050406030204" pitchFamily="18" charset="0"/>
                          <a:ea typeface="微软雅黑" charset="-122"/>
                          <a:cs typeface="DejaVu Math TeX Gyre" panose="02000503000000000000" charset="0"/>
                        </a:rPr>
                        <m:t>,(</m:t>
                      </m:r>
                      <m:r>
                        <a:rPr lang="en-US" altLang="zh-CN" sz="2200" i="1" dirty="0">
                          <a:latin typeface="Cambria Math" panose="02040503050406030204" pitchFamily="18" charset="0"/>
                          <a:ea typeface="微软雅黑" charset="-122"/>
                          <a:cs typeface="DejaVu Math TeX Gyre" panose="02000503000000000000" charset="0"/>
                        </a:rPr>
                        <m:t>1</m:t>
                      </m:r>
                      <m:r>
                        <a:rPr lang="en-US" altLang="zh-CN" sz="2200" i="1" dirty="0">
                          <a:latin typeface="Cambria Math" panose="02040503050406030204" pitchFamily="18" charset="0"/>
                          <a:ea typeface="微软雅黑" charset="-122"/>
                          <a:cs typeface="DejaVu Math TeX Gyre" panose="02000503000000000000" charset="0"/>
                        </a:rPr>
                        <m:t>−</m:t>
                      </m:r>
                      <m:sSub>
                        <m:sSubPr>
                          <m:ctrlPr>
                            <a:rPr lang="en-US" altLang="zh-CN" sz="2200" i="1" dirty="0">
                              <a:latin typeface="Cambria Math" panose="02040503050406030204" pitchFamily="18" charset="0"/>
                              <a:ea typeface="微软雅黑" charset="-122"/>
                              <a:cs typeface="DejaVu Math TeX Gyre" panose="02000503000000000000" charset="0"/>
                            </a:rPr>
                          </m:ctrlPr>
                        </m:sSubPr>
                        <m:e>
                          <m:acc>
                            <m:accPr>
                              <m:chr m:val="̅"/>
                              <m:ctrlPr>
                                <a:rPr lang="en-US" altLang="zh-CN" sz="2200" i="1" dirty="0">
                                  <a:latin typeface="Cambria Math" panose="02040503050406030204" pitchFamily="18" charset="0"/>
                                  <a:ea typeface="微软雅黑" charset="-122"/>
                                  <a:cs typeface="DejaVu Math TeX Gyre" panose="02000503000000000000" charset="0"/>
                                </a:rPr>
                              </m:ctrlPr>
                            </m:accPr>
                            <m:e>
                              <m:r>
                                <a:rPr lang="en-US" altLang="zh-CN" sz="2200" i="1" dirty="0">
                                  <a:latin typeface="Cambria Math" panose="02040503050406030204" pitchFamily="18" charset="0"/>
                                  <a:ea typeface="微软雅黑" charset="-122"/>
                                  <a:cs typeface="DejaVu Math TeX Gyre" panose="02000503000000000000" charset="0"/>
                                </a:rPr>
                                <m:t>𝛼</m:t>
                              </m:r>
                            </m:e>
                          </m:acc>
                        </m:e>
                        <m:sub>
                          <m:r>
                            <a:rPr lang="en-US" altLang="zh-CN" sz="2200" i="1" dirty="0">
                              <a:latin typeface="Cambria Math" panose="02040503050406030204" pitchFamily="18" charset="0"/>
                              <a:ea typeface="微软雅黑" charset="-122"/>
                              <a:cs typeface="DejaVu Math TeX Gyre" panose="02000503000000000000" charset="0"/>
                            </a:rPr>
                            <m:t>𝑡</m:t>
                          </m:r>
                        </m:sub>
                      </m:sSub>
                      <m:r>
                        <a:rPr lang="en-US" altLang="zh-CN" sz="2200" i="1" dirty="0">
                          <a:latin typeface="Cambria Math" panose="02040503050406030204" pitchFamily="18" charset="0"/>
                          <a:ea typeface="微软雅黑" charset="-122"/>
                          <a:cs typeface="DejaVu Math TeX Gyre" panose="02000503000000000000" charset="0"/>
                        </a:rPr>
                        <m:t>)</m:t>
                      </m:r>
                      <m:r>
                        <a:rPr lang="en-US" altLang="zh-CN" sz="2200" i="1" dirty="0">
                          <a:latin typeface="Cambria Math" panose="02040503050406030204" pitchFamily="18" charset="0"/>
                          <a:ea typeface="微软雅黑" charset="-122"/>
                          <a:cs typeface="DejaVu Math TeX Gyre" panose="02000503000000000000" charset="0"/>
                        </a:rPr>
                        <m:t>𝐼</m:t>
                      </m:r>
                      <m:r>
                        <a:rPr lang="en-US" altLang="zh-CN" sz="2200" i="1" dirty="0">
                          <a:latin typeface="Cambria Math" panose="02040503050406030204" pitchFamily="18" charset="0"/>
                          <a:ea typeface="微软雅黑" charset="-122"/>
                          <a:cs typeface="DejaVu Math TeX Gyre" panose="02000503000000000000" charset="0"/>
                        </a:rPr>
                        <m:t>)</m:t>
                      </m:r>
                    </m:oMath>
                  </m:oMathPara>
                </a14:m>
                <a:endParaRPr lang="zh-CN" altLang="en-US" sz="2200" dirty="0">
                  <a:latin typeface="DejaVu Math TeX Gyre" panose="02000503000000000000" charset="0"/>
                  <a:ea typeface="微软雅黑" charset="-122"/>
                  <a:cs typeface="DejaVu Math TeX Gyre" panose="02000503000000000000" charset="0"/>
                </a:endParaRPr>
              </a:p>
              <a:p>
                <a:pPr indent="0" algn="l">
                  <a:buFont typeface="Wingdings" panose="05000000000000000000" charset="0"/>
                  <a:buNone/>
                </a:pPr>
                <a:endParaRPr lang="zh-CN" altLang="en-US" sz="2200" dirty="0">
                  <a:latin typeface="DejaVu Math TeX Gyre" panose="02000503000000000000" charset="0"/>
                  <a:ea typeface="微软雅黑" charset="-122"/>
                  <a:cs typeface="DejaVu Math TeX Gyre" panose="02000503000000000000" charset="0"/>
                </a:endParaRPr>
              </a:p>
            </p:txBody>
          </p:sp>
        </mc:Choice>
        <mc:Fallback>
          <p:sp>
            <p:nvSpPr>
              <p:cNvPr id="19" name="文本框 18"/>
              <p:cNvSpPr txBox="1">
                <a:spLocks noRot="1" noChangeAspect="1" noMove="1" noResize="1" noEditPoints="1" noAdjustHandles="1" noChangeArrowheads="1" noChangeShapeType="1" noTextEdit="1"/>
              </p:cNvSpPr>
              <p:nvPr>
                <p:custDataLst>
                  <p:tags r:id="rId10"/>
                </p:custDataLst>
              </p:nvPr>
            </p:nvSpPr>
            <p:spPr>
              <a:xfrm>
                <a:off x="6960235" y="3420745"/>
                <a:ext cx="5231765" cy="2035810"/>
              </a:xfrm>
              <a:prstGeom prst="rect">
                <a:avLst/>
              </a:prstGeom>
              <a:blipFill rotWithShape="1">
                <a:blip r:embed="rId11"/>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0" name="文本框 19"/>
              <p:cNvSpPr txBox="1"/>
              <p:nvPr/>
            </p:nvSpPr>
            <p:spPr>
              <a:xfrm>
                <a:off x="7103745" y="2066290"/>
                <a:ext cx="4064000" cy="1169035"/>
              </a:xfrm>
              <a:prstGeom prst="rect">
                <a:avLst/>
              </a:prstGeom>
              <a:noFill/>
              <a:ln w="12700" cmpd="sng">
                <a:noFill/>
                <a:prstDash val="solid"/>
              </a:ln>
              <a:effectLst>
                <a:outerShdw dist="63500" dir="2700000" algn="tl" rotWithShape="0">
                  <a:schemeClr val="bg1">
                    <a:alpha val="100000"/>
                  </a:schemeClr>
                </a:outerShdw>
              </a:effectLst>
            </p:spPr>
            <p:txBody>
              <a:bodyPr wrap="square" rtlCol="0" anchor="t" anchorCtr="0">
                <a:noAutofit/>
              </a:bodyPr>
              <a:lstStyle/>
              <a:p>
                <a:pPr algn="l">
                  <a:lnSpc>
                    <a:spcPct val="130000"/>
                  </a:lnSpc>
                </a:pPr>
                <a14:m>
                  <m:oMathPara xmlns:m="http://schemas.openxmlformats.org/officeDocument/2006/math">
                    <m:oMathParaPr>
                      <m:jc m:val="centerGroup"/>
                    </m:oMathParaPr>
                    <m:oMath xmlns:m="http://schemas.openxmlformats.org/officeDocument/2006/math">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𝜖</m:t>
                      </m:r>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m:t>
                      </m:r>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𝑁</m:t>
                      </m:r>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m:t>
                      </m:r>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0</m:t>
                      </m:r>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m:t>
                      </m:r>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𝐼</m:t>
                      </m:r>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m:t>
                      </m:r>
                    </m:oMath>
                  </m:oMathPara>
                </a14:m>
                <a:endParaRPr lang="en-US" altLang="zh-CN" sz="2400" i="1" dirty="0">
                  <a:ln w="19050">
                    <a:noFill/>
                  </a:ln>
                  <a:solidFill>
                    <a:schemeClr val="tx1"/>
                  </a:solidFill>
                  <a:latin typeface="DejaVu Math TeX Gyre" panose="02000503000000000000" charset="0"/>
                  <a:ea typeface="微软雅黑" charset="-122"/>
                  <a:cs typeface="DejaVu Math TeX Gyre" panose="02000503000000000000" charset="0"/>
                </a:endParaRPr>
              </a:p>
              <a:p>
                <a:pPr algn="l">
                  <a:lnSpc>
                    <a:spcPct val="130000"/>
                  </a:lnSpc>
                </a:pPr>
                <a14:m>
                  <m:oMathPara xmlns:m="http://schemas.openxmlformats.org/officeDocument/2006/math">
                    <m:oMathParaPr>
                      <m:jc m:val="centerGroup"/>
                    </m:oMathParaPr>
                    <m:oMath xmlns:m="http://schemas.openxmlformats.org/officeDocument/2006/math">
                      <m:sSub>
                        <m:sSubPr>
                          <m:ctrlP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ctrlPr>
                        </m:sSubPr>
                        <m:e>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𝛼</m:t>
                          </m:r>
                        </m:e>
                        <m:sub>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𝑡</m:t>
                          </m:r>
                        </m:sub>
                      </m:sSub>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m:t>
                      </m:r>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1</m:t>
                      </m:r>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m:t>
                      </m:r>
                      <m:sSub>
                        <m:sSubPr>
                          <m:ctrlP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ctrlPr>
                        </m:sSubPr>
                        <m:e>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𝛽</m:t>
                          </m:r>
                        </m:e>
                        <m:sub>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𝑡</m:t>
                          </m:r>
                        </m:sub>
                      </m:sSub>
                    </m:oMath>
                  </m:oMathPara>
                </a14:m>
                <a:endParaRPr lang="en-US" altLang="zh-CN" sz="2400" i="1" dirty="0">
                  <a:ln w="19050">
                    <a:noFill/>
                  </a:ln>
                  <a:solidFill>
                    <a:schemeClr val="tx1"/>
                  </a:solidFill>
                  <a:latin typeface="DejaVu Math TeX Gyre" panose="02000503000000000000" charset="0"/>
                  <a:ea typeface="微软雅黑" charset="-122"/>
                  <a:cs typeface="DejaVu Math TeX Gyre" panose="02000503000000000000" charset="0"/>
                </a:endParaRPr>
              </a:p>
              <a:p>
                <a:pPr algn="l">
                  <a:lnSpc>
                    <a:spcPct val="130000"/>
                  </a:lnSpc>
                </a:pPr>
                <a:endParaRPr lang="en-US" altLang="zh-CN" sz="2400" i="0" dirty="0">
                  <a:ln w="19050">
                    <a:noFill/>
                  </a:ln>
                  <a:solidFill>
                    <a:schemeClr val="tx1"/>
                  </a:solidFill>
                  <a:latin typeface="微软雅黑" charset="-122"/>
                  <a:ea typeface="微软雅黑" charset="-122"/>
                  <a:cs typeface="Bauhaus 93" panose="04030905020B02020C02" charset="0"/>
                </a:endParaRPr>
              </a:p>
            </p:txBody>
          </p:sp>
        </mc:Choice>
        <mc:Fallback>
          <p:sp>
            <p:nvSpPr>
              <p:cNvPr id="20" name="文本框 19"/>
              <p:cNvSpPr txBox="1">
                <a:spLocks noRot="1" noChangeAspect="1" noMove="1" noResize="1" noEditPoints="1" noAdjustHandles="1" noChangeArrowheads="1" noChangeShapeType="1" noTextEdit="1"/>
              </p:cNvSpPr>
              <p:nvPr/>
            </p:nvSpPr>
            <p:spPr>
              <a:xfrm>
                <a:off x="7103745" y="2066290"/>
                <a:ext cx="4064000" cy="1169035"/>
              </a:xfrm>
              <a:prstGeom prst="rect">
                <a:avLst/>
              </a:prstGeom>
              <a:blipFill rotWithShape="1">
                <a:blip r:embed="rId12"/>
                <a:stretch>
                  <a:fillRect r="-1094" b="-43726"/>
                </a:stretch>
              </a:blipFill>
              <a:ln w="12700" cmpd="sng">
                <a:noFill/>
                <a:prstDash val="solid"/>
              </a:ln>
              <a:effectLst>
                <a:outerShdw dist="63500" dir="2700000" algn="tl" rotWithShape="0">
                  <a:schemeClr val="bg1">
                    <a:alpha val="100000"/>
                  </a:schemeClr>
                </a:outerShdw>
              </a:effectLst>
            </p:spPr>
            <p:txBody>
              <a:bodyPr/>
              <a:lstStyle/>
              <a:p>
                <a:r>
                  <a:rPr lang="zh-CN" altLang="en-US">
                    <a:noFill/>
                  </a:rPr>
                  <a:t> </a:t>
                </a:r>
              </a:p>
            </p:txBody>
          </p:sp>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46355" y="-46990"/>
            <a:ext cx="9291320" cy="919480"/>
            <a:chOff x="73" y="-74"/>
            <a:chExt cx="14632" cy="1448"/>
          </a:xfrm>
        </p:grpSpPr>
        <p:sp>
          <p:nvSpPr>
            <p:cNvPr id="3078" name="文本框 3"/>
            <p:cNvSpPr txBox="1"/>
            <p:nvPr>
              <p:custDataLst>
                <p:tags r:id="rId1"/>
              </p:custDataLst>
            </p:nvPr>
          </p:nvSpPr>
          <p:spPr>
            <a:xfrm>
              <a:off x="73" y="-74"/>
              <a:ext cx="1340" cy="1448"/>
            </a:xfrm>
            <a:prstGeom prst="rect">
              <a:avLst/>
            </a:prstGeom>
            <a:noFill/>
            <a:ln w="12700" cmpd="sng">
              <a:noFill/>
              <a:prstDash val="solid"/>
            </a:ln>
            <a:effectLst>
              <a:outerShdw dist="63500" dir="2700000" algn="tl" rotWithShape="0">
                <a:schemeClr val="bg1">
                  <a:alpha val="100000"/>
                </a:schemeClr>
              </a:outerShdw>
            </a:effectLst>
          </p:spPr>
          <p:txBody>
            <a:bodyPr wrap="square" anchor="t" anchorCtr="0"/>
            <a:lstStyle/>
            <a:p>
              <a:pPr>
                <a:lnSpc>
                  <a:spcPct val="130000"/>
                </a:lnSpc>
              </a:pPr>
              <a:r>
                <a:rPr lang="en-US" altLang="zh-CN" sz="4000" i="1" dirty="0">
                  <a:ln w="19050">
                    <a:noFill/>
                  </a:ln>
                  <a:gradFill>
                    <a:gsLst>
                      <a:gs pos="39000">
                        <a:srgbClr val="5399D4"/>
                      </a:gs>
                      <a:gs pos="100000">
                        <a:schemeClr val="bg1"/>
                      </a:gs>
                    </a:gsLst>
                    <a:lin ang="5400000" scaled="0"/>
                  </a:gradFill>
                  <a:latin typeface="Bauhaus 93" panose="04030905020B02020C02" charset="0"/>
                  <a:ea typeface="造字工房朗倩（非商用）常规体" charset="-122"/>
                  <a:cs typeface="Bauhaus 93" panose="04030905020B02020C02" charset="0"/>
                </a:rPr>
                <a:t>04</a:t>
              </a:r>
              <a:endParaRPr lang="en-US" altLang="zh-CN" sz="4000" i="1" dirty="0">
                <a:ln w="19050">
                  <a:noFill/>
                </a:ln>
                <a:gradFill>
                  <a:gsLst>
                    <a:gs pos="39000">
                      <a:srgbClr val="5399D4"/>
                    </a:gs>
                    <a:gs pos="100000">
                      <a:schemeClr val="bg1"/>
                    </a:gs>
                  </a:gsLst>
                  <a:lin ang="5400000" scaled="0"/>
                </a:gradFill>
                <a:latin typeface="Bauhaus 93" panose="04030905020B02020C02" charset="0"/>
                <a:ea typeface="造字工房朗倩（非商用）常规体" charset="-122"/>
                <a:cs typeface="Bauhaus 93" panose="04030905020B02020C02" charset="0"/>
              </a:endParaRPr>
            </a:p>
          </p:txBody>
        </p:sp>
        <p:sp>
          <p:nvSpPr>
            <p:cNvPr id="3" name="文本框 2"/>
            <p:cNvSpPr txBox="1"/>
            <p:nvPr>
              <p:custDataLst>
                <p:tags r:id="rId2"/>
              </p:custDataLst>
            </p:nvPr>
          </p:nvSpPr>
          <p:spPr>
            <a:xfrm>
              <a:off x="1413" y="239"/>
              <a:ext cx="13293" cy="847"/>
            </a:xfrm>
            <a:prstGeom prst="rect">
              <a:avLst/>
            </a:prstGeom>
            <a:noFill/>
          </p:spPr>
          <p:txBody>
            <a:bodyPr wrap="square" rtlCol="0">
              <a:noAutofit/>
            </a:bodyPr>
            <a:lstStyle/>
            <a:p>
              <a:r>
                <a:rPr lang="en-US" altLang="zh-CN" sz="3600" dirty="0">
                  <a:latin typeface="Times New Roman Regular" panose="02020503050405090304" charset="0"/>
                  <a:ea typeface="微软雅黑" charset="-122"/>
                  <a:cs typeface="Times New Roman Regular" panose="02020503050405090304" charset="0"/>
                </a:rPr>
                <a:t>DDPM</a:t>
              </a:r>
              <a:r>
                <a:rPr lang="zh-CN" altLang="en-US" sz="3600" dirty="0">
                  <a:latin typeface="Times New Roman Regular" panose="02020503050405090304" charset="0"/>
                  <a:ea typeface="微软雅黑" charset="-122"/>
                  <a:cs typeface="Times New Roman Regular" panose="02020503050405090304" charset="0"/>
                </a:rPr>
                <a:t>具体算法</a:t>
              </a:r>
              <a:endParaRPr lang="zh-CN" altLang="en-US" sz="3600" dirty="0">
                <a:latin typeface="Times New Roman Regular" panose="02020503050405090304" charset="0"/>
                <a:ea typeface="微软雅黑" charset="-122"/>
                <a:cs typeface="Times New Roman Regular" panose="02020503050405090304" charset="0"/>
              </a:endParaRPr>
            </a:p>
          </p:txBody>
        </p:sp>
      </p:grpSp>
      <p:sp>
        <p:nvSpPr>
          <p:cNvPr id="10" name="文本框 9"/>
          <p:cNvSpPr txBox="1"/>
          <p:nvPr>
            <p:custDataLst>
              <p:tags r:id="rId3"/>
            </p:custDataLst>
          </p:nvPr>
        </p:nvSpPr>
        <p:spPr>
          <a:xfrm>
            <a:off x="717550" y="985520"/>
            <a:ext cx="1974850" cy="537845"/>
          </a:xfrm>
          <a:prstGeom prst="rect">
            <a:avLst/>
          </a:prstGeom>
          <a:noFill/>
        </p:spPr>
        <p:txBody>
          <a:bodyPr wrap="square" rtlCol="0">
            <a:noAutofit/>
          </a:bodyPr>
          <a:lstStyle/>
          <a:p>
            <a:pPr indent="0">
              <a:buFont typeface="Wingdings" panose="05000000000000000000" pitchFamily="2" charset="2"/>
              <a:buNone/>
            </a:pPr>
            <a:r>
              <a:rPr lang="zh-CN" altLang="en-US" sz="2400" dirty="0">
                <a:latin typeface="Times New Roman Regular" panose="02020503050405090304" charset="0"/>
                <a:ea typeface="微软雅黑" charset="-122"/>
                <a:cs typeface="Times New Roman Regular" panose="02020503050405090304" charset="0"/>
              </a:rPr>
              <a:t>反向过程</a:t>
            </a:r>
            <a:endParaRPr lang="zh-CN" altLang="en-US" sz="2400" dirty="0">
              <a:latin typeface="Times New Roman Regular" panose="02020503050405090304" charset="0"/>
              <a:ea typeface="微软雅黑" charset="-122"/>
              <a:cs typeface="Times New Roman Regular" panose="02020503050405090304" charset="0"/>
            </a:endParaRPr>
          </a:p>
        </p:txBody>
      </p:sp>
      <mc:AlternateContent xmlns:mc="http://schemas.openxmlformats.org/markup-compatibility/2006">
        <mc:Choice xmlns:a14="http://schemas.microsoft.com/office/drawing/2010/main" Requires="a14">
          <p:sp>
            <p:nvSpPr>
              <p:cNvPr id="13" name="文本框 12"/>
              <p:cNvSpPr txBox="1"/>
              <p:nvPr>
                <p:custDataLst>
                  <p:tags r:id="rId4"/>
                </p:custDataLst>
              </p:nvPr>
            </p:nvSpPr>
            <p:spPr>
              <a:xfrm>
                <a:off x="1477645" y="1612265"/>
                <a:ext cx="7280275" cy="430530"/>
              </a:xfrm>
              <a:prstGeom prst="rect">
                <a:avLst/>
              </a:prstGeom>
              <a:noFill/>
            </p:spPr>
            <p:txBody>
              <a:bodyPr wrap="square" rtlCol="0">
                <a:spAutoFit/>
              </a:bodyPr>
              <a:lstStyle/>
              <a:p>
                <a:pPr marL="342900" indent="-342900">
                  <a:buFont typeface="Wingdings" panose="05000000000000000000" charset="0"/>
                  <a:buChar char=""/>
                </a:pPr>
                <a:r>
                  <a:rPr lang="zh-CN" altLang="en-US" sz="2200" dirty="0">
                    <a:latin typeface="微软雅黑" charset="-122"/>
                    <a:ea typeface="微软雅黑" charset="-122"/>
                  </a:rPr>
                  <a:t>使用</a:t>
                </a:r>
                <a14:m>
                  <m:oMath xmlns:m="http://schemas.openxmlformats.org/officeDocument/2006/math">
                    <m:sSub>
                      <m:sSubPr>
                        <m:ctrlPr>
                          <a:rPr lang="en-US" altLang="zh-CN" sz="2200" i="1" dirty="0">
                            <a:latin typeface="Cambria Math" panose="02040503050406030204" pitchFamily="18" charset="0"/>
                            <a:ea typeface="微软雅黑" charset="-122"/>
                            <a:cs typeface="DejaVu Math TeX Gyre" panose="02000503000000000000" charset="0"/>
                          </a:rPr>
                        </m:ctrlPr>
                      </m:sSubPr>
                      <m:e>
                        <m:r>
                          <a:rPr lang="en-US" altLang="zh-CN" sz="2200" i="1" dirty="0">
                            <a:latin typeface="Cambria Math" panose="02040503050406030204" pitchFamily="18" charset="0"/>
                            <a:ea typeface="微软雅黑" charset="-122"/>
                            <a:cs typeface="DejaVu Math TeX Gyre" panose="02000503000000000000" charset="0"/>
                          </a:rPr>
                          <m:t>𝑝</m:t>
                        </m:r>
                      </m:e>
                      <m:sub>
                        <m:r>
                          <a:rPr lang="en-US" altLang="zh-CN" sz="2200" i="1" dirty="0">
                            <a:latin typeface="Cambria Math" panose="02040503050406030204" pitchFamily="18" charset="0"/>
                            <a:ea typeface="微软雅黑" charset="-122"/>
                            <a:cs typeface="DejaVu Math TeX Gyre" panose="02000503000000000000" charset="0"/>
                          </a:rPr>
                          <m:t>𝜃</m:t>
                        </m:r>
                      </m:sub>
                    </m:sSub>
                    <m:r>
                      <a:rPr lang="en-US" altLang="zh-CN" sz="2200" i="1" dirty="0">
                        <a:latin typeface="Cambria Math" panose="02040503050406030204" pitchFamily="18" charset="0"/>
                        <a:ea typeface="微软雅黑" charset="-122"/>
                        <a:cs typeface="DejaVu Math TeX Gyre" panose="02000503000000000000" charset="0"/>
                      </a:rPr>
                      <m:t>(</m:t>
                    </m:r>
                    <m:sSub>
                      <m:sSubPr>
                        <m:ctrlPr>
                          <a:rPr lang="en-US" altLang="zh-CN" sz="2200" i="1" dirty="0">
                            <a:latin typeface="Cambria Math" panose="02040503050406030204" pitchFamily="18" charset="0"/>
                            <a:ea typeface="微软雅黑" charset="-122"/>
                            <a:cs typeface="DejaVu Math TeX Gyre" panose="02000503000000000000" charset="0"/>
                          </a:rPr>
                        </m:ctrlPr>
                      </m:sSubPr>
                      <m:e>
                        <m:r>
                          <a:rPr lang="en-US" altLang="zh-CN" sz="2200" i="1" dirty="0">
                            <a:latin typeface="Cambria Math" panose="02040503050406030204" pitchFamily="18" charset="0"/>
                            <a:ea typeface="微软雅黑" charset="-122"/>
                            <a:cs typeface="DejaVu Math TeX Gyre" panose="02000503000000000000" charset="0"/>
                          </a:rPr>
                          <m:t>𝑥</m:t>
                        </m:r>
                      </m:e>
                      <m:sub>
                        <m:r>
                          <a:rPr lang="en-US" altLang="zh-CN" sz="2200" i="1" dirty="0">
                            <a:latin typeface="Cambria Math" panose="02040503050406030204" pitchFamily="18" charset="0"/>
                            <a:ea typeface="微软雅黑" charset="-122"/>
                            <a:cs typeface="DejaVu Math TeX Gyre" panose="02000503000000000000" charset="0"/>
                          </a:rPr>
                          <m:t>𝑡</m:t>
                        </m:r>
                        <m:r>
                          <a:rPr lang="en-US" altLang="zh-CN" sz="2200" i="1" dirty="0">
                            <a:latin typeface="Cambria Math" panose="02040503050406030204" pitchFamily="18" charset="0"/>
                            <a:ea typeface="微软雅黑" charset="-122"/>
                            <a:cs typeface="DejaVu Math TeX Gyre" panose="02000503000000000000" charset="0"/>
                          </a:rPr>
                          <m:t>−</m:t>
                        </m:r>
                        <m:r>
                          <a:rPr lang="en-US" altLang="zh-CN" sz="2200" i="1" dirty="0">
                            <a:latin typeface="Cambria Math" panose="02040503050406030204" pitchFamily="18" charset="0"/>
                            <a:ea typeface="微软雅黑" charset="-122"/>
                            <a:cs typeface="DejaVu Math TeX Gyre" panose="02000503000000000000" charset="0"/>
                          </a:rPr>
                          <m:t>1</m:t>
                        </m:r>
                      </m:sub>
                    </m:sSub>
                    <m:r>
                      <a:rPr lang="en-US" altLang="zh-CN" sz="2200" i="1" dirty="0">
                        <a:latin typeface="Cambria Math" panose="02040503050406030204" pitchFamily="18" charset="0"/>
                        <a:ea typeface="微软雅黑" charset="-122"/>
                        <a:cs typeface="DejaVu Math TeX Gyre" panose="02000503000000000000" charset="0"/>
                      </a:rPr>
                      <m:t>|</m:t>
                    </m:r>
                    <m:sSub>
                      <m:sSubPr>
                        <m:ctrlPr>
                          <a:rPr lang="en-US" altLang="zh-CN" sz="2200" i="1" dirty="0">
                            <a:latin typeface="Cambria Math" panose="02040503050406030204" pitchFamily="18" charset="0"/>
                            <a:ea typeface="微软雅黑" charset="-122"/>
                            <a:cs typeface="DejaVu Math TeX Gyre" panose="02000503000000000000" charset="0"/>
                          </a:rPr>
                        </m:ctrlPr>
                      </m:sSubPr>
                      <m:e>
                        <m:r>
                          <a:rPr lang="en-US" altLang="zh-CN" sz="2200" i="1" dirty="0">
                            <a:latin typeface="Cambria Math" panose="02040503050406030204" pitchFamily="18" charset="0"/>
                            <a:ea typeface="微软雅黑" charset="-122"/>
                            <a:cs typeface="DejaVu Math TeX Gyre" panose="02000503000000000000" charset="0"/>
                          </a:rPr>
                          <m:t>𝑥</m:t>
                        </m:r>
                      </m:e>
                      <m:sub>
                        <m:r>
                          <a:rPr lang="en-US" altLang="zh-CN" sz="2200" i="1" dirty="0">
                            <a:latin typeface="Cambria Math" panose="02040503050406030204" pitchFamily="18" charset="0"/>
                            <a:ea typeface="微软雅黑" charset="-122"/>
                            <a:cs typeface="DejaVu Math TeX Gyre" panose="02000503000000000000" charset="0"/>
                          </a:rPr>
                          <m:t>𝑡</m:t>
                        </m:r>
                      </m:sub>
                    </m:sSub>
                    <m:r>
                      <a:rPr lang="en-US" altLang="zh-CN" sz="2200" i="1" dirty="0">
                        <a:latin typeface="Cambria Math" panose="02040503050406030204" pitchFamily="18" charset="0"/>
                        <a:ea typeface="微软雅黑" charset="-122"/>
                        <a:cs typeface="DejaVu Math TeX Gyre" panose="02000503000000000000" charset="0"/>
                      </a:rPr>
                      <m:t>)</m:t>
                    </m:r>
                  </m:oMath>
                </a14:m>
                <a:r>
                  <a:rPr lang="zh-CN" altLang="en-US" sz="2200" dirty="0">
                    <a:latin typeface="DejaVu Math TeX Gyre" panose="02000503000000000000" charset="0"/>
                    <a:ea typeface="微软雅黑" charset="-122"/>
                    <a:cs typeface="DejaVu Math TeX Gyre" panose="02000503000000000000" charset="0"/>
                  </a:rPr>
                  <a:t>拟合反向过程</a:t>
                </a:r>
                <a14:m>
                  <m:oMath xmlns:m="http://schemas.openxmlformats.org/officeDocument/2006/math">
                    <m:r>
                      <a:rPr lang="en-US" altLang="zh-CN" sz="2200" i="1" dirty="0">
                        <a:latin typeface="Cambria Math" panose="02040503050406030204" pitchFamily="18" charset="0"/>
                        <a:ea typeface="微软雅黑" charset="-122"/>
                        <a:cs typeface="DejaVu Math TeX Gyre" panose="02000503000000000000" charset="0"/>
                      </a:rPr>
                      <m:t>𝑞</m:t>
                    </m:r>
                    <m:r>
                      <a:rPr lang="en-US" altLang="zh-CN" sz="2200" i="1" dirty="0">
                        <a:latin typeface="Cambria Math" panose="02040503050406030204" pitchFamily="18" charset="0"/>
                        <a:ea typeface="微软雅黑" charset="-122"/>
                        <a:cs typeface="DejaVu Math TeX Gyre" panose="02000503000000000000" charset="0"/>
                      </a:rPr>
                      <m:t>(</m:t>
                    </m:r>
                    <m:sSub>
                      <m:sSubPr>
                        <m:ctrlPr>
                          <a:rPr lang="en-US" altLang="zh-CN" sz="2200" i="1" dirty="0">
                            <a:latin typeface="Cambria Math" panose="02040503050406030204" pitchFamily="18" charset="0"/>
                            <a:ea typeface="微软雅黑" charset="-122"/>
                            <a:cs typeface="DejaVu Math TeX Gyre" panose="02000503000000000000" charset="0"/>
                          </a:rPr>
                        </m:ctrlPr>
                      </m:sSubPr>
                      <m:e>
                        <m:r>
                          <a:rPr lang="en-US" altLang="zh-CN" sz="2200" i="1" dirty="0">
                            <a:latin typeface="Cambria Math" panose="02040503050406030204" pitchFamily="18" charset="0"/>
                            <a:ea typeface="微软雅黑" charset="-122"/>
                            <a:cs typeface="DejaVu Math TeX Gyre" panose="02000503000000000000" charset="0"/>
                          </a:rPr>
                          <m:t>𝑥</m:t>
                        </m:r>
                      </m:e>
                      <m:sub>
                        <m:r>
                          <a:rPr lang="en-US" altLang="zh-CN" sz="2200" i="1" dirty="0">
                            <a:latin typeface="Cambria Math" panose="02040503050406030204" pitchFamily="18" charset="0"/>
                            <a:ea typeface="微软雅黑" charset="-122"/>
                            <a:cs typeface="DejaVu Math TeX Gyre" panose="02000503000000000000" charset="0"/>
                          </a:rPr>
                          <m:t>𝑡</m:t>
                        </m:r>
                        <m:r>
                          <a:rPr lang="en-US" altLang="zh-CN" sz="2200" i="1" dirty="0">
                            <a:latin typeface="Cambria Math" panose="02040503050406030204" pitchFamily="18" charset="0"/>
                            <a:ea typeface="微软雅黑" charset="-122"/>
                            <a:cs typeface="DejaVu Math TeX Gyre" panose="02000503000000000000" charset="0"/>
                          </a:rPr>
                          <m:t>−</m:t>
                        </m:r>
                        <m:r>
                          <a:rPr lang="en-US" altLang="zh-CN" sz="2200" i="1" dirty="0">
                            <a:latin typeface="Cambria Math" panose="02040503050406030204" pitchFamily="18" charset="0"/>
                            <a:ea typeface="微软雅黑" charset="-122"/>
                            <a:cs typeface="DejaVu Math TeX Gyre" panose="02000503000000000000" charset="0"/>
                          </a:rPr>
                          <m:t>1</m:t>
                        </m:r>
                      </m:sub>
                    </m:sSub>
                    <m:r>
                      <a:rPr lang="en-US" altLang="zh-CN" sz="2200" i="1" dirty="0">
                        <a:latin typeface="Cambria Math" panose="02040503050406030204" pitchFamily="18" charset="0"/>
                        <a:ea typeface="微软雅黑" charset="-122"/>
                        <a:cs typeface="DejaVu Math TeX Gyre" panose="02000503000000000000" charset="0"/>
                      </a:rPr>
                      <m:t>|</m:t>
                    </m:r>
                    <m:sSub>
                      <m:sSubPr>
                        <m:ctrlPr>
                          <a:rPr lang="en-US" altLang="zh-CN" sz="2200" i="1" dirty="0">
                            <a:latin typeface="Cambria Math" panose="02040503050406030204" pitchFamily="18" charset="0"/>
                            <a:ea typeface="微软雅黑" charset="-122"/>
                            <a:cs typeface="DejaVu Math TeX Gyre" panose="02000503000000000000" charset="0"/>
                          </a:rPr>
                        </m:ctrlPr>
                      </m:sSubPr>
                      <m:e>
                        <m:r>
                          <a:rPr lang="en-US" altLang="zh-CN" sz="2200" i="1" dirty="0">
                            <a:latin typeface="Cambria Math" panose="02040503050406030204" pitchFamily="18" charset="0"/>
                            <a:ea typeface="微软雅黑" charset="-122"/>
                            <a:cs typeface="DejaVu Math TeX Gyre" panose="02000503000000000000" charset="0"/>
                          </a:rPr>
                          <m:t>𝑥</m:t>
                        </m:r>
                      </m:e>
                      <m:sub>
                        <m:r>
                          <a:rPr lang="en-US" altLang="zh-CN" sz="2200" i="1" dirty="0">
                            <a:latin typeface="Cambria Math" panose="02040503050406030204" pitchFamily="18" charset="0"/>
                            <a:ea typeface="微软雅黑" charset="-122"/>
                            <a:cs typeface="DejaVu Math TeX Gyre" panose="02000503000000000000" charset="0"/>
                          </a:rPr>
                          <m:t>𝑡</m:t>
                        </m:r>
                      </m:sub>
                    </m:sSub>
                    <m:r>
                      <a:rPr lang="en-US" altLang="zh-CN" sz="2200" i="1" dirty="0">
                        <a:latin typeface="Cambria Math" panose="02040503050406030204" pitchFamily="18" charset="0"/>
                        <a:ea typeface="微软雅黑" charset="-122"/>
                        <a:cs typeface="DejaVu Math TeX Gyre" panose="02000503000000000000" charset="0"/>
                      </a:rPr>
                      <m:t>)</m:t>
                    </m:r>
                  </m:oMath>
                </a14:m>
                <a:endParaRPr lang="zh-CN" altLang="en-US" sz="2200" dirty="0">
                  <a:latin typeface="DejaVu Math TeX Gyre" panose="02000503000000000000" charset="0"/>
                  <a:ea typeface="微软雅黑" charset="-122"/>
                  <a:cs typeface="DejaVu Math TeX Gyre" panose="02000503000000000000" charset="0"/>
                </a:endParaRPr>
              </a:p>
            </p:txBody>
          </p:sp>
        </mc:Choice>
        <mc:Fallback>
          <p:sp>
            <p:nvSpPr>
              <p:cNvPr id="13" name="文本框 12"/>
              <p:cNvSpPr txBox="1">
                <a:spLocks noRot="1" noChangeAspect="1" noMove="1" noResize="1" noEditPoints="1" noAdjustHandles="1" noChangeArrowheads="1" noChangeShapeType="1" noTextEdit="1"/>
              </p:cNvSpPr>
              <p:nvPr>
                <p:custDataLst>
                  <p:tags r:id="rId5"/>
                </p:custDataLst>
              </p:nvPr>
            </p:nvSpPr>
            <p:spPr>
              <a:xfrm>
                <a:off x="1477645" y="1612265"/>
                <a:ext cx="7280275" cy="430530"/>
              </a:xfrm>
              <a:prstGeom prst="rect">
                <a:avLst/>
              </a:prstGeom>
              <a:blipFill rotWithShape="1">
                <a:blip r:embed="rId6"/>
                <a:stretch>
                  <a:fillRect b="-191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 name="文本框 14"/>
              <p:cNvSpPr txBox="1"/>
              <p:nvPr/>
            </p:nvSpPr>
            <p:spPr>
              <a:xfrm>
                <a:off x="1720215" y="2042795"/>
                <a:ext cx="6409690" cy="785495"/>
              </a:xfrm>
              <a:prstGeom prst="rect">
                <a:avLst/>
              </a:prstGeom>
              <a:noFill/>
              <a:ln w="12700" cmpd="sng">
                <a:noFill/>
                <a:prstDash val="solid"/>
              </a:ln>
              <a:effectLst>
                <a:outerShdw dist="63500" dir="2700000" algn="tl" rotWithShape="0">
                  <a:schemeClr val="bg1">
                    <a:alpha val="100000"/>
                  </a:schemeClr>
                </a:outerShdw>
              </a:effectLst>
            </p:spPr>
            <p:txBody>
              <a:bodyPr wrap="square" rtlCol="0" anchor="t" anchorCtr="0">
                <a:noAutofit/>
              </a:bodyPr>
              <a:lstStyle/>
              <a:p>
                <a:pPr algn="l">
                  <a:lnSpc>
                    <a:spcPct val="130000"/>
                  </a:lnSpc>
                </a:pPr>
                <a14:m>
                  <m:oMathPara xmlns:m="http://schemas.openxmlformats.org/officeDocument/2006/math">
                    <m:oMathParaPr>
                      <m:jc m:val="centerGroup"/>
                    </m:oMathParaPr>
                    <m:oMath xmlns:m="http://schemas.openxmlformats.org/officeDocument/2006/math">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𝑞</m:t>
                      </m:r>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m:t>
                      </m:r>
                      <m:sSub>
                        <m:sSubPr>
                          <m:ctrlP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ctrlPr>
                        </m:sSubPr>
                        <m:e>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𝑥</m:t>
                          </m:r>
                        </m:e>
                        <m:sub>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𝑡</m:t>
                          </m:r>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m:t>
                          </m:r>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1</m:t>
                          </m:r>
                        </m:sub>
                      </m:sSub>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m:t>
                      </m:r>
                      <m:sSub>
                        <m:sSubPr>
                          <m:ctrlP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ctrlPr>
                        </m:sSubPr>
                        <m:e>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𝑥</m:t>
                          </m:r>
                        </m:e>
                        <m:sub>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𝑡</m:t>
                          </m:r>
                        </m:sub>
                      </m:sSub>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m:t>
                      </m:r>
                      <m:sSub>
                        <m:sSubPr>
                          <m:ctrlP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ctrlPr>
                        </m:sSubPr>
                        <m:e>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𝑥</m:t>
                          </m:r>
                        </m:e>
                        <m:sub>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0</m:t>
                          </m:r>
                        </m:sub>
                      </m:sSub>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m:t>
                      </m:r>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𝑁</m:t>
                      </m:r>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m:t>
                      </m:r>
                      <m:sSub>
                        <m:sSubPr>
                          <m:ctrlP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ctrlPr>
                        </m:sSubPr>
                        <m:e>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𝑥</m:t>
                          </m:r>
                        </m:e>
                        <m:sub>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𝑡</m:t>
                          </m:r>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m:t>
                          </m:r>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1</m:t>
                          </m:r>
                        </m:sub>
                      </m:sSub>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m:t>
                      </m:r>
                      <m:sSub>
                        <m:sSubPr>
                          <m:ctrlP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ctrlPr>
                        </m:sSubPr>
                        <m:e>
                          <m:acc>
                            <m:accPr>
                              <m:chr m:val="̃"/>
                              <m:ctrlP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ctrlPr>
                            </m:accPr>
                            <m:e>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𝜇</m:t>
                              </m:r>
                            </m:e>
                          </m:acc>
                        </m:e>
                        <m:sub>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𝑡</m:t>
                          </m:r>
                        </m:sub>
                      </m:sSub>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m:t>
                      </m:r>
                      <m:sSub>
                        <m:sSubPr>
                          <m:ctrlP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ctrlPr>
                        </m:sSubPr>
                        <m:e>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𝑥</m:t>
                          </m:r>
                        </m:e>
                        <m:sub>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𝑡</m:t>
                          </m:r>
                        </m:sub>
                      </m:sSub>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m:t>
                      </m:r>
                      <m:sSub>
                        <m:sSubPr>
                          <m:ctrlP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ctrlPr>
                        </m:sSubPr>
                        <m:e>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𝑥</m:t>
                          </m:r>
                        </m:e>
                        <m:sub>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0</m:t>
                          </m:r>
                        </m:sub>
                      </m:sSub>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m:t>
                      </m:r>
                      <m:sSub>
                        <m:sSubPr>
                          <m:ctrlP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ctrlPr>
                        </m:sSubPr>
                        <m:e>
                          <m:acc>
                            <m:accPr>
                              <m:chr m:val="̃"/>
                              <m:ctrlP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ctrlPr>
                            </m:accPr>
                            <m:e>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𝛽</m:t>
                              </m:r>
                            </m:e>
                          </m:acc>
                        </m:e>
                        <m:sub>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𝑡</m:t>
                          </m:r>
                        </m:sub>
                      </m:sSub>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𝐼</m:t>
                      </m:r>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m:t>
                      </m:r>
                    </m:oMath>
                  </m:oMathPara>
                </a14:m>
                <a:endParaRPr lang="en-US" altLang="zh-CN" sz="2400" i="1" dirty="0">
                  <a:ln w="19050">
                    <a:noFill/>
                  </a:ln>
                  <a:solidFill>
                    <a:schemeClr val="tx1"/>
                  </a:solidFill>
                  <a:latin typeface="DejaVu Math TeX Gyre" panose="02000503000000000000" charset="0"/>
                  <a:ea typeface="微软雅黑" charset="-122"/>
                  <a:cs typeface="DejaVu Math TeX Gyre" panose="02000503000000000000" charset="0"/>
                </a:endParaRPr>
              </a:p>
              <a:p>
                <a:pPr algn="l">
                  <a:lnSpc>
                    <a:spcPct val="130000"/>
                  </a:lnSpc>
                </a:pPr>
                <a:endParaRPr lang="zh-CN" altLang="en-US" sz="2400" i="0" dirty="0">
                  <a:ln w="19050">
                    <a:noFill/>
                  </a:ln>
                  <a:solidFill>
                    <a:schemeClr val="tx1"/>
                  </a:solidFill>
                  <a:latin typeface="微软雅黑" charset="-122"/>
                  <a:ea typeface="微软雅黑" charset="-122"/>
                  <a:cs typeface="Bauhaus 93" panose="04030905020B02020C02" charset="0"/>
                </a:endParaRPr>
              </a:p>
            </p:txBody>
          </p:sp>
        </mc:Choice>
        <mc:Fallback>
          <p:sp>
            <p:nvSpPr>
              <p:cNvPr id="15" name="文本框 14"/>
              <p:cNvSpPr txBox="1">
                <a:spLocks noRot="1" noChangeAspect="1" noMove="1" noResize="1" noEditPoints="1" noAdjustHandles="1" noChangeArrowheads="1" noChangeShapeType="1" noTextEdit="1"/>
              </p:cNvSpPr>
              <p:nvPr/>
            </p:nvSpPr>
            <p:spPr>
              <a:xfrm>
                <a:off x="1720215" y="2042795"/>
                <a:ext cx="6409690" cy="785495"/>
              </a:xfrm>
              <a:prstGeom prst="rect">
                <a:avLst/>
              </a:prstGeom>
              <a:blipFill rotWithShape="1">
                <a:blip r:embed="rId7"/>
                <a:stretch>
                  <a:fillRect r="-693" b="-42926"/>
                </a:stretch>
              </a:blipFill>
              <a:ln w="12700" cmpd="sng">
                <a:noFill/>
                <a:prstDash val="solid"/>
              </a:ln>
              <a:effectLst>
                <a:outerShdw dist="63500" dir="2700000" algn="tl" rotWithShape="0">
                  <a:schemeClr val="bg1">
                    <a:alpha val="100000"/>
                  </a:schemeClr>
                </a:outerShdw>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0" name="文本框 19"/>
              <p:cNvSpPr txBox="1"/>
              <p:nvPr/>
            </p:nvSpPr>
            <p:spPr>
              <a:xfrm>
                <a:off x="1477645" y="4201160"/>
                <a:ext cx="9872980" cy="1169035"/>
              </a:xfrm>
              <a:prstGeom prst="rect">
                <a:avLst/>
              </a:prstGeom>
              <a:noFill/>
              <a:ln w="12700" cmpd="sng">
                <a:noFill/>
                <a:prstDash val="solid"/>
              </a:ln>
              <a:effectLst>
                <a:outerShdw dist="63500" dir="2700000" algn="tl" rotWithShape="0">
                  <a:schemeClr val="bg1">
                    <a:alpha val="100000"/>
                  </a:schemeClr>
                </a:outerShdw>
              </a:effectLst>
            </p:spPr>
            <p:txBody>
              <a:bodyPr wrap="square" rtlCol="0" anchor="t" anchorCtr="0">
                <a:noAutofit/>
              </a:bodyPr>
              <a:lstStyle/>
              <a:p>
                <a:pPr algn="l">
                  <a:lnSpc>
                    <a:spcPct val="130000"/>
                  </a:lnSpc>
                </a:pPr>
                <a14:m>
                  <m:oMath xmlns:m="http://schemas.openxmlformats.org/officeDocument/2006/math">
                    <m:sSub>
                      <m:sSubPr>
                        <m:ctrlP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ctrlPr>
                      </m:sSubPr>
                      <m:e>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𝜇</m:t>
                        </m:r>
                      </m:e>
                      <m:sub>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𝜃</m:t>
                        </m:r>
                      </m:sub>
                    </m:sSub>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m:t>
                    </m:r>
                    <m:f>
                      <m:fPr>
                        <m:ctrlP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ctrlPr>
                      </m:fPr>
                      <m:num>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1</m:t>
                        </m:r>
                      </m:num>
                      <m:den>
                        <m:rad>
                          <m:radPr>
                            <m:degHide m:val="on"/>
                            <m:ctrlP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ctrlPr>
                          </m:radPr>
                          <m:deg/>
                          <m:e>
                            <m:sSub>
                              <m:sSubPr>
                                <m:ctrlP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ctrlPr>
                              </m:sSubPr>
                              <m:e>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𝛼</m:t>
                                </m:r>
                              </m:e>
                              <m:sub>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𝑡</m:t>
                                </m:r>
                              </m:sub>
                            </m:sSub>
                          </m:e>
                        </m:rad>
                      </m:den>
                    </m:f>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m:t>
                    </m:r>
                    <m:sSub>
                      <m:sSubPr>
                        <m:ctrlP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ctrlPr>
                      </m:sSubPr>
                      <m:e>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𝑥</m:t>
                        </m:r>
                      </m:e>
                      <m:sub>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𝑡</m:t>
                        </m:r>
                      </m:sub>
                    </m:sSub>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m:t>
                    </m:r>
                    <m:f>
                      <m:fPr>
                        <m:ctrlP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ctrlPr>
                      </m:fPr>
                      <m:num>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1</m:t>
                        </m:r>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m:t>
                        </m:r>
                        <m:sSub>
                          <m:sSubPr>
                            <m:ctrlP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ctrlPr>
                          </m:sSubPr>
                          <m:e>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𝛼</m:t>
                            </m:r>
                          </m:e>
                          <m:sub>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𝑡</m:t>
                            </m:r>
                          </m:sub>
                        </m:sSub>
                      </m:num>
                      <m:den>
                        <m:rad>
                          <m:radPr>
                            <m:degHide m:val="on"/>
                            <m:ctrlP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ctrlPr>
                          </m:radPr>
                          <m:deg/>
                          <m:e>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1</m:t>
                            </m:r>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m:t>
                            </m:r>
                            <m:sSub>
                              <m:sSubPr>
                                <m:ctrlP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ctrlPr>
                              </m:sSubPr>
                              <m:e>
                                <m:acc>
                                  <m:accPr>
                                    <m:chr m:val="̅"/>
                                    <m:ctrlP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ctrlPr>
                                  </m:accPr>
                                  <m:e>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𝛼</m:t>
                                    </m:r>
                                  </m:e>
                                </m:acc>
                              </m:e>
                              <m:sub>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𝑡</m:t>
                                </m:r>
                              </m:sub>
                            </m:sSub>
                          </m:e>
                        </m:rad>
                      </m:den>
                    </m:f>
                    <m:sSub>
                      <m:sSubPr>
                        <m:ctrlP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ctrlPr>
                      </m:sSubPr>
                      <m:e>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𝜖</m:t>
                        </m:r>
                      </m:e>
                      <m:sub>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𝜃</m:t>
                        </m:r>
                      </m:sub>
                    </m:sSub>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m:t>
                    </m:r>
                    <m:sSub>
                      <m:sSubPr>
                        <m:ctrlP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ctrlPr>
                      </m:sSubPr>
                      <m:e>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𝑥</m:t>
                        </m:r>
                      </m:e>
                      <m:sub>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𝑡</m:t>
                        </m:r>
                      </m:sub>
                    </m:sSub>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m:t>
                    </m:r>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𝑡</m:t>
                    </m:r>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m:t>
                    </m:r>
                  </m:oMath>
                </a14:m>
                <a:r>
                  <a:rPr lang="zh-CN" altLang="en-US" sz="2400" dirty="0">
                    <a:ln w="19050">
                      <a:noFill/>
                    </a:ln>
                    <a:solidFill>
                      <a:schemeClr val="tx1"/>
                    </a:solidFill>
                    <a:latin typeface="DejaVu Math TeX Gyre" panose="02000503000000000000" charset="0"/>
                    <a:ea typeface="微软雅黑" charset="-122"/>
                    <a:cs typeface="DejaVu Math TeX Gyre" panose="02000503000000000000" charset="0"/>
                  </a:rPr>
                  <a:t>，</a:t>
                </a:r>
                <a14:m>
                  <m:oMath xmlns:m="http://schemas.openxmlformats.org/officeDocument/2006/math">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𝑡</m:t>
                    </m:r>
                  </m:oMath>
                </a14:m>
                <a:r>
                  <a:rPr lang="zh-CN" altLang="en-US" sz="2400" dirty="0">
                    <a:ln w="19050">
                      <a:noFill/>
                    </a:ln>
                    <a:solidFill>
                      <a:schemeClr val="tx1"/>
                    </a:solidFill>
                    <a:latin typeface="DejaVu Math TeX Gyre" panose="02000503000000000000" charset="0"/>
                    <a:ea typeface="微软雅黑" charset="-122"/>
                    <a:cs typeface="DejaVu Math TeX Gyre" panose="02000503000000000000" charset="0"/>
                  </a:rPr>
                  <a:t>和</a:t>
                </a:r>
                <a14:m>
                  <m:oMath xmlns:m="http://schemas.openxmlformats.org/officeDocument/2006/math">
                    <m:sSub>
                      <m:sSubPr>
                        <m:ctrlP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ctrlPr>
                      </m:sSubPr>
                      <m:e>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𝑥</m:t>
                        </m:r>
                      </m:e>
                      <m:sub>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𝑡</m:t>
                        </m:r>
                      </m:sub>
                    </m:sSub>
                  </m:oMath>
                </a14:m>
                <a:r>
                  <a:rPr lang="zh-CN" altLang="en-US" sz="2400" dirty="0">
                    <a:ln w="19050">
                      <a:noFill/>
                    </a:ln>
                    <a:solidFill>
                      <a:schemeClr val="tx1"/>
                    </a:solidFill>
                    <a:latin typeface="DejaVu Math TeX Gyre" panose="02000503000000000000" charset="0"/>
                    <a:ea typeface="微软雅黑" charset="-122"/>
                    <a:cs typeface="DejaVu Math TeX Gyre" panose="02000503000000000000" charset="0"/>
                  </a:rPr>
                  <a:t>已知，只需拟合</a:t>
                </a:r>
                <a14:m>
                  <m:oMath xmlns:m="http://schemas.openxmlformats.org/officeDocument/2006/math">
                    <m:sSub>
                      <m:sSubPr>
                        <m:ctrlP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ctrlPr>
                      </m:sSubPr>
                      <m:e>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𝜖</m:t>
                        </m:r>
                      </m:e>
                      <m:sub>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𝜃</m:t>
                        </m:r>
                      </m:sub>
                    </m:sSub>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m:t>
                    </m:r>
                    <m:sSub>
                      <m:sSubPr>
                        <m:ctrlP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ctrlPr>
                      </m:sSubPr>
                      <m:e>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𝑥</m:t>
                        </m:r>
                      </m:e>
                      <m:sub>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𝑡</m:t>
                        </m:r>
                      </m:sub>
                    </m:sSub>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m:t>
                    </m:r>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𝑡</m:t>
                    </m:r>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m:t>
                    </m:r>
                  </m:oMath>
                </a14:m>
                <a:endParaRPr lang="en-US" altLang="zh-CN" sz="2400" i="1" dirty="0">
                  <a:ln w="19050">
                    <a:noFill/>
                  </a:ln>
                  <a:solidFill>
                    <a:schemeClr val="tx1"/>
                  </a:solidFill>
                  <a:latin typeface="DejaVu Math TeX Gyre" panose="02000503000000000000" charset="0"/>
                  <a:ea typeface="微软雅黑" charset="-122"/>
                  <a:cs typeface="DejaVu Math TeX Gyre" panose="02000503000000000000" charset="0"/>
                </a:endParaRPr>
              </a:p>
              <a:p>
                <a:pPr algn="l">
                  <a:lnSpc>
                    <a:spcPct val="130000"/>
                  </a:lnSpc>
                </a:pPr>
                <a:endParaRPr lang="en-US" altLang="zh-CN" sz="2400" i="1" dirty="0">
                  <a:ln w="19050">
                    <a:noFill/>
                  </a:ln>
                  <a:solidFill>
                    <a:schemeClr val="tx1"/>
                  </a:solidFill>
                  <a:latin typeface="DejaVu Math TeX Gyre" panose="02000503000000000000" charset="0"/>
                  <a:ea typeface="微软雅黑" charset="-122"/>
                  <a:cs typeface="DejaVu Math TeX Gyre" panose="02000503000000000000" charset="0"/>
                </a:endParaRPr>
              </a:p>
              <a:p>
                <a:pPr algn="l">
                  <a:lnSpc>
                    <a:spcPct val="130000"/>
                  </a:lnSpc>
                </a:pPr>
                <a:endParaRPr lang="en-US" altLang="zh-CN" sz="2400" i="0" dirty="0">
                  <a:ln w="19050">
                    <a:noFill/>
                  </a:ln>
                  <a:solidFill>
                    <a:schemeClr val="tx1"/>
                  </a:solidFill>
                  <a:latin typeface="微软雅黑" charset="-122"/>
                  <a:ea typeface="微软雅黑" charset="-122"/>
                  <a:cs typeface="Bauhaus 93" panose="04030905020B02020C02" charset="0"/>
                </a:endParaRPr>
              </a:p>
            </p:txBody>
          </p:sp>
        </mc:Choice>
        <mc:Fallback>
          <p:sp>
            <p:nvSpPr>
              <p:cNvPr id="20" name="文本框 19"/>
              <p:cNvSpPr txBox="1">
                <a:spLocks noRot="1" noChangeAspect="1" noMove="1" noResize="1" noEditPoints="1" noAdjustHandles="1" noChangeArrowheads="1" noChangeShapeType="1" noTextEdit="1"/>
              </p:cNvSpPr>
              <p:nvPr/>
            </p:nvSpPr>
            <p:spPr>
              <a:xfrm>
                <a:off x="1477645" y="4201160"/>
                <a:ext cx="9872980" cy="1169035"/>
              </a:xfrm>
              <a:prstGeom prst="rect">
                <a:avLst/>
              </a:prstGeom>
              <a:blipFill rotWithShape="1">
                <a:blip r:embed="rId8"/>
                <a:stretch>
                  <a:fillRect r="-450" b="-56328"/>
                </a:stretch>
              </a:blipFill>
              <a:ln w="12700" cmpd="sng">
                <a:noFill/>
                <a:prstDash val="solid"/>
              </a:ln>
              <a:effectLst>
                <a:outerShdw dist="63500" dir="2700000" algn="tl" rotWithShape="0">
                  <a:schemeClr val="bg1">
                    <a:alpha val="100000"/>
                  </a:schemeClr>
                </a:outerShdw>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文本框 4"/>
              <p:cNvSpPr txBox="1"/>
              <p:nvPr>
                <p:custDataLst>
                  <p:tags r:id="rId9"/>
                </p:custDataLst>
              </p:nvPr>
            </p:nvSpPr>
            <p:spPr>
              <a:xfrm>
                <a:off x="1871980" y="3347720"/>
                <a:ext cx="6556375" cy="785495"/>
              </a:xfrm>
              <a:prstGeom prst="rect">
                <a:avLst/>
              </a:prstGeom>
              <a:noFill/>
              <a:ln w="12700" cmpd="sng">
                <a:noFill/>
                <a:prstDash val="solid"/>
              </a:ln>
              <a:effectLst>
                <a:outerShdw dist="63500" dir="2700000" algn="tl" rotWithShape="0">
                  <a:schemeClr val="bg1">
                    <a:alpha val="100000"/>
                  </a:schemeClr>
                </a:outerShdw>
              </a:effectLst>
            </p:spPr>
            <p:txBody>
              <a:bodyPr wrap="square" rtlCol="0" anchor="t" anchorCtr="0">
                <a:noAutofit/>
              </a:bodyPr>
              <a:lstStyle/>
              <a:p>
                <a:pPr algn="l">
                  <a:lnSpc>
                    <a:spcPct val="130000"/>
                  </a:lnSpc>
                </a:pPr>
                <a14:m>
                  <m:oMathPara xmlns:m="http://schemas.openxmlformats.org/officeDocument/2006/math">
                    <m:oMathParaPr>
                      <m:jc m:val="centerGroup"/>
                    </m:oMathParaPr>
                    <m:oMath xmlns:m="http://schemas.openxmlformats.org/officeDocument/2006/math">
                      <m:sSub>
                        <m:sSubPr>
                          <m:ctrlP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ctrlPr>
                        </m:sSubPr>
                        <m:e>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𝑝</m:t>
                          </m:r>
                        </m:e>
                        <m:sub>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𝜃</m:t>
                          </m:r>
                        </m:sub>
                      </m:sSub>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m:t>
                      </m:r>
                      <m:sSub>
                        <m:sSubPr>
                          <m:ctrlP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ctrlPr>
                        </m:sSubPr>
                        <m:e>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𝑥</m:t>
                          </m:r>
                        </m:e>
                        <m:sub>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𝑡</m:t>
                          </m:r>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m:t>
                          </m:r>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1</m:t>
                          </m:r>
                        </m:sub>
                      </m:sSub>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m:t>
                      </m:r>
                      <m:sSub>
                        <m:sSubPr>
                          <m:ctrlP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ctrlPr>
                        </m:sSubPr>
                        <m:e>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𝑥</m:t>
                          </m:r>
                        </m:e>
                        <m:sub>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𝑡</m:t>
                          </m:r>
                        </m:sub>
                      </m:sSub>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m:t>
                      </m:r>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𝑁</m:t>
                      </m:r>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m:t>
                      </m:r>
                      <m:sSub>
                        <m:sSubPr>
                          <m:ctrlP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ctrlPr>
                        </m:sSubPr>
                        <m:e>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𝑥</m:t>
                          </m:r>
                        </m:e>
                        <m:sub>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𝑡</m:t>
                          </m:r>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m:t>
                          </m:r>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1</m:t>
                          </m:r>
                        </m:sub>
                      </m:sSub>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m:t>
                      </m:r>
                      <m:sSub>
                        <m:sSubPr>
                          <m:ctrlP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ctrlPr>
                        </m:sSubPr>
                        <m:e>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𝜇</m:t>
                          </m:r>
                        </m:e>
                        <m:sub>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𝜃</m:t>
                          </m:r>
                        </m:sub>
                      </m:sSub>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m:t>
                      </m:r>
                      <m:sSub>
                        <m:sSubPr>
                          <m:ctrlP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ctrlPr>
                        </m:sSubPr>
                        <m:e>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𝑥</m:t>
                          </m:r>
                        </m:e>
                        <m:sub>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𝑡</m:t>
                          </m:r>
                        </m:sub>
                      </m:sSub>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m:t>
                      </m:r>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𝑡</m:t>
                      </m:r>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m:t>
                      </m:r>
                      <m:nary>
                        <m:naryPr>
                          <m:chr m:val="∑"/>
                          <m:limLoc m:val="undOvr"/>
                          <m:supHide m:val="on"/>
                          <m:ctrlP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ctrlPr>
                        </m:naryPr>
                        <m:sub>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𝜃</m:t>
                          </m:r>
                        </m:sub>
                        <m:sup/>
                        <m:e>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m:t>
                          </m:r>
                          <m:sSub>
                            <m:sSubPr>
                              <m:ctrlP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ctrlPr>
                            </m:sSubPr>
                            <m:e>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𝑥</m:t>
                              </m:r>
                            </m:e>
                            <m:sub>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𝑡</m:t>
                              </m:r>
                            </m:sub>
                          </m:sSub>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m:t>
                          </m:r>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𝑡</m:t>
                          </m:r>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m:t>
                          </m:r>
                        </m:e>
                      </m:nary>
                      <m:r>
                        <a:rPr lang="en-US" altLang="zh-CN" sz="2400" i="1" dirty="0">
                          <a:ln w="19050">
                            <a:noFill/>
                          </a:ln>
                          <a:solidFill>
                            <a:schemeClr val="tx1"/>
                          </a:solidFill>
                          <a:latin typeface="Cambria Math" panose="02040503050406030204" pitchFamily="18" charset="0"/>
                          <a:ea typeface="微软雅黑" charset="-122"/>
                          <a:cs typeface="DejaVu Math TeX Gyre" panose="02000503000000000000" charset="0"/>
                        </a:rPr>
                        <m:t>)</m:t>
                      </m:r>
                    </m:oMath>
                  </m:oMathPara>
                </a14:m>
                <a:endParaRPr lang="en-US" altLang="zh-CN" sz="2400" i="1" dirty="0">
                  <a:ln w="19050">
                    <a:noFill/>
                  </a:ln>
                  <a:solidFill>
                    <a:schemeClr val="tx1"/>
                  </a:solidFill>
                  <a:latin typeface="DejaVu Math TeX Gyre" panose="02000503000000000000" charset="0"/>
                  <a:ea typeface="微软雅黑" charset="-122"/>
                  <a:cs typeface="DejaVu Math TeX Gyre" panose="02000503000000000000" charset="0"/>
                </a:endParaRPr>
              </a:p>
              <a:p>
                <a:pPr algn="l">
                  <a:lnSpc>
                    <a:spcPct val="130000"/>
                  </a:lnSpc>
                </a:pPr>
                <a:endParaRPr lang="zh-CN" altLang="en-US" sz="2400" i="0" dirty="0">
                  <a:ln w="19050">
                    <a:noFill/>
                  </a:ln>
                  <a:solidFill>
                    <a:schemeClr val="tx1"/>
                  </a:solidFill>
                  <a:latin typeface="微软雅黑" charset="-122"/>
                  <a:ea typeface="微软雅黑" charset="-122"/>
                  <a:cs typeface="Bauhaus 93" panose="04030905020B02020C02" charset="0"/>
                </a:endParaRPr>
              </a:p>
            </p:txBody>
          </p:sp>
        </mc:Choice>
        <mc:Fallback>
          <p:sp>
            <p:nvSpPr>
              <p:cNvPr id="5" name="文本框 4"/>
              <p:cNvSpPr txBox="1">
                <a:spLocks noRot="1" noChangeAspect="1" noMove="1" noResize="1" noEditPoints="1" noAdjustHandles="1" noChangeArrowheads="1" noChangeShapeType="1" noTextEdit="1"/>
              </p:cNvSpPr>
              <p:nvPr>
                <p:custDataLst>
                  <p:tags r:id="rId10"/>
                </p:custDataLst>
              </p:nvPr>
            </p:nvSpPr>
            <p:spPr>
              <a:xfrm>
                <a:off x="1871980" y="3347720"/>
                <a:ext cx="6556375" cy="785495"/>
              </a:xfrm>
              <a:prstGeom prst="rect">
                <a:avLst/>
              </a:prstGeom>
              <a:blipFill rotWithShape="1">
                <a:blip r:embed="rId11"/>
                <a:stretch>
                  <a:fillRect r="-678" b="-56831"/>
                </a:stretch>
              </a:blipFill>
              <a:ln w="12700" cmpd="sng">
                <a:noFill/>
                <a:prstDash val="solid"/>
              </a:ln>
              <a:effectLst>
                <a:outerShdw dist="63500" dir="2700000" algn="tl" rotWithShape="0">
                  <a:schemeClr val="bg1">
                    <a:alpha val="100000"/>
                  </a:schemeClr>
                </a:outerShdw>
              </a:effectLst>
            </p:spPr>
            <p:txBody>
              <a:bodyPr/>
              <a:lstStyle/>
              <a:p>
                <a:r>
                  <a:rPr lang="zh-CN" altLang="en-US">
                    <a:noFill/>
                  </a:rPr>
                  <a:t> </a:t>
                </a:r>
              </a:p>
            </p:txBody>
          </p:sp>
        </mc:Fallback>
      </mc:AlternateContent>
      <p:sp>
        <p:nvSpPr>
          <p:cNvPr id="6" name="文本框 5"/>
          <p:cNvSpPr txBox="1"/>
          <p:nvPr>
            <p:custDataLst>
              <p:tags r:id="rId12"/>
            </p:custDataLst>
          </p:nvPr>
        </p:nvSpPr>
        <p:spPr>
          <a:xfrm>
            <a:off x="2018665" y="2849880"/>
            <a:ext cx="2107565" cy="429895"/>
          </a:xfrm>
          <a:prstGeom prst="rect">
            <a:avLst/>
          </a:prstGeom>
          <a:noFill/>
        </p:spPr>
        <p:txBody>
          <a:bodyPr wrap="square" rtlCol="0">
            <a:spAutoFit/>
          </a:bodyPr>
          <a:lstStyle/>
          <a:p>
            <a:pPr indent="0">
              <a:buFont typeface="Wingdings" panose="05000000000000000000" charset="0"/>
              <a:buNone/>
            </a:pPr>
            <a:r>
              <a:rPr lang="zh-CN" altLang="en-US" sz="2200" dirty="0">
                <a:latin typeface="DejaVu Math TeX Gyre" panose="02000503000000000000" charset="0"/>
                <a:ea typeface="微软雅黑" charset="-122"/>
                <a:cs typeface="DejaVu Math TeX Gyre" panose="02000503000000000000" charset="0"/>
              </a:rPr>
              <a:t>推导出：</a:t>
            </a:r>
            <a:endParaRPr lang="zh-CN" altLang="en-US" sz="2200" dirty="0">
              <a:latin typeface="DejaVu Math TeX Gyre" panose="02000503000000000000" charset="0"/>
              <a:ea typeface="微软雅黑" charset="-122"/>
              <a:cs typeface="DejaVu Math TeX Gyre" panose="02000503000000000000"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46355" y="-46990"/>
            <a:ext cx="9291320" cy="919480"/>
            <a:chOff x="73" y="-74"/>
            <a:chExt cx="14632" cy="1448"/>
          </a:xfrm>
        </p:grpSpPr>
        <p:sp>
          <p:nvSpPr>
            <p:cNvPr id="3078" name="文本框 3"/>
            <p:cNvSpPr txBox="1"/>
            <p:nvPr>
              <p:custDataLst>
                <p:tags r:id="rId1"/>
              </p:custDataLst>
            </p:nvPr>
          </p:nvSpPr>
          <p:spPr>
            <a:xfrm>
              <a:off x="73" y="-74"/>
              <a:ext cx="1340" cy="1448"/>
            </a:xfrm>
            <a:prstGeom prst="rect">
              <a:avLst/>
            </a:prstGeom>
            <a:noFill/>
            <a:ln w="12700" cmpd="sng">
              <a:noFill/>
              <a:prstDash val="solid"/>
            </a:ln>
            <a:effectLst>
              <a:outerShdw dist="63500" dir="2700000" algn="tl" rotWithShape="0">
                <a:schemeClr val="bg1">
                  <a:alpha val="100000"/>
                </a:schemeClr>
              </a:outerShdw>
            </a:effectLst>
          </p:spPr>
          <p:txBody>
            <a:bodyPr wrap="square" anchor="t" anchorCtr="0"/>
            <a:lstStyle/>
            <a:p>
              <a:pPr>
                <a:lnSpc>
                  <a:spcPct val="130000"/>
                </a:lnSpc>
              </a:pPr>
              <a:r>
                <a:rPr lang="en-US" altLang="zh-CN" sz="4000" i="1" dirty="0">
                  <a:ln w="19050">
                    <a:noFill/>
                  </a:ln>
                  <a:gradFill>
                    <a:gsLst>
                      <a:gs pos="39000">
                        <a:srgbClr val="5399D4"/>
                      </a:gs>
                      <a:gs pos="100000">
                        <a:schemeClr val="bg1"/>
                      </a:gs>
                    </a:gsLst>
                    <a:lin ang="5400000" scaled="0"/>
                  </a:gradFill>
                  <a:latin typeface="Bauhaus 93" panose="04030905020B02020C02" charset="0"/>
                  <a:ea typeface="造字工房朗倩（非商用）常规体" charset="-122"/>
                  <a:cs typeface="Bauhaus 93" panose="04030905020B02020C02" charset="0"/>
                </a:rPr>
                <a:t>04</a:t>
              </a:r>
              <a:endParaRPr lang="en-US" altLang="zh-CN" sz="4000" i="1" dirty="0">
                <a:ln w="19050">
                  <a:noFill/>
                </a:ln>
                <a:gradFill>
                  <a:gsLst>
                    <a:gs pos="39000">
                      <a:srgbClr val="5399D4"/>
                    </a:gs>
                    <a:gs pos="100000">
                      <a:schemeClr val="bg1"/>
                    </a:gs>
                  </a:gsLst>
                  <a:lin ang="5400000" scaled="0"/>
                </a:gradFill>
                <a:latin typeface="Bauhaus 93" panose="04030905020B02020C02" charset="0"/>
                <a:ea typeface="造字工房朗倩（非商用）常规体" charset="-122"/>
                <a:cs typeface="Bauhaus 93" panose="04030905020B02020C02" charset="0"/>
              </a:endParaRPr>
            </a:p>
          </p:txBody>
        </p:sp>
        <p:sp>
          <p:nvSpPr>
            <p:cNvPr id="3" name="文本框 2"/>
            <p:cNvSpPr txBox="1"/>
            <p:nvPr>
              <p:custDataLst>
                <p:tags r:id="rId2"/>
              </p:custDataLst>
            </p:nvPr>
          </p:nvSpPr>
          <p:spPr>
            <a:xfrm>
              <a:off x="1413" y="239"/>
              <a:ext cx="13293" cy="847"/>
            </a:xfrm>
            <a:prstGeom prst="rect">
              <a:avLst/>
            </a:prstGeom>
            <a:noFill/>
          </p:spPr>
          <p:txBody>
            <a:bodyPr wrap="square" rtlCol="0">
              <a:noAutofit/>
            </a:bodyPr>
            <a:lstStyle/>
            <a:p>
              <a:r>
                <a:rPr lang="en-US" altLang="zh-CN" sz="3600" dirty="0">
                  <a:latin typeface="Times New Roman Regular" panose="02020503050405090304" charset="0"/>
                  <a:ea typeface="微软雅黑" charset="-122"/>
                  <a:cs typeface="Times New Roman Regular" panose="02020503050405090304" charset="0"/>
                </a:rPr>
                <a:t>DDPM</a:t>
              </a:r>
              <a:r>
                <a:rPr lang="zh-CN" altLang="en-US" sz="3600" dirty="0">
                  <a:latin typeface="Times New Roman Regular" panose="02020503050405090304" charset="0"/>
                  <a:ea typeface="微软雅黑" charset="-122"/>
                  <a:cs typeface="Times New Roman Regular" panose="02020503050405090304" charset="0"/>
                </a:rPr>
                <a:t>具体算法</a:t>
              </a:r>
              <a:endParaRPr lang="zh-CN" altLang="en-US" sz="3600" dirty="0">
                <a:latin typeface="Times New Roman Regular" panose="02020503050405090304" charset="0"/>
                <a:ea typeface="微软雅黑" charset="-122"/>
                <a:cs typeface="Times New Roman Regular" panose="02020503050405090304" charset="0"/>
              </a:endParaRPr>
            </a:p>
          </p:txBody>
        </p:sp>
      </p:grpSp>
      <p:sp>
        <p:nvSpPr>
          <p:cNvPr id="10" name="文本框 9"/>
          <p:cNvSpPr txBox="1"/>
          <p:nvPr>
            <p:custDataLst>
              <p:tags r:id="rId3"/>
            </p:custDataLst>
          </p:nvPr>
        </p:nvSpPr>
        <p:spPr>
          <a:xfrm>
            <a:off x="717550" y="985520"/>
            <a:ext cx="1974850" cy="537845"/>
          </a:xfrm>
          <a:prstGeom prst="rect">
            <a:avLst/>
          </a:prstGeom>
          <a:noFill/>
        </p:spPr>
        <p:txBody>
          <a:bodyPr wrap="square" rtlCol="0">
            <a:noAutofit/>
          </a:bodyPr>
          <a:lstStyle/>
          <a:p>
            <a:pPr indent="0">
              <a:buFont typeface="Wingdings" panose="05000000000000000000" pitchFamily="2" charset="2"/>
              <a:buNone/>
            </a:pPr>
            <a:r>
              <a:rPr lang="zh-CN" altLang="en-US" sz="2400" dirty="0">
                <a:latin typeface="Times New Roman Regular" panose="02020503050405090304" charset="0"/>
                <a:ea typeface="微软雅黑" charset="-122"/>
                <a:cs typeface="Times New Roman Regular" panose="02020503050405090304" charset="0"/>
              </a:rPr>
              <a:t>训练算法</a:t>
            </a:r>
            <a:endParaRPr lang="zh-CN" altLang="en-US" sz="2400" dirty="0">
              <a:latin typeface="Times New Roman Regular" panose="02020503050405090304" charset="0"/>
              <a:ea typeface="微软雅黑" charset="-122"/>
              <a:cs typeface="Times New Roman Regular" panose="02020503050405090304" charset="0"/>
            </a:endParaRPr>
          </a:p>
        </p:txBody>
      </p:sp>
      <p:sp>
        <p:nvSpPr>
          <p:cNvPr id="6" name="文本框 5"/>
          <p:cNvSpPr txBox="1"/>
          <p:nvPr>
            <p:custDataLst>
              <p:tags r:id="rId4"/>
            </p:custDataLst>
          </p:nvPr>
        </p:nvSpPr>
        <p:spPr>
          <a:xfrm>
            <a:off x="1770380" y="5401310"/>
            <a:ext cx="8214360" cy="921385"/>
          </a:xfrm>
          <a:prstGeom prst="rect">
            <a:avLst/>
          </a:prstGeom>
          <a:noFill/>
        </p:spPr>
        <p:txBody>
          <a:bodyPr wrap="square" rtlCol="0">
            <a:noAutofit/>
          </a:bodyPr>
          <a:lstStyle/>
          <a:p>
            <a:pPr marL="342900" indent="-342900">
              <a:buFont typeface="Wingdings" panose="05000000000000000000" charset="0"/>
              <a:buChar char=""/>
            </a:pPr>
            <a:r>
              <a:rPr lang="zh-CN" altLang="en-US" sz="2200" dirty="0">
                <a:latin typeface="DejaVu Math TeX Gyre" panose="02000503000000000000" charset="0"/>
                <a:ea typeface="微软雅黑" charset="-122"/>
                <a:cs typeface="DejaVu Math TeX Gyre" panose="02000503000000000000" charset="0"/>
              </a:rPr>
              <a:t>预测噪声与</a:t>
            </a:r>
            <a:r>
              <a:rPr lang="en-US" altLang="zh-CN" sz="2200" dirty="0">
                <a:latin typeface="DejaVu Math TeX Gyre" panose="02000503000000000000" charset="0"/>
                <a:ea typeface="微软雅黑" charset="-122"/>
                <a:cs typeface="DejaVu Math TeX Gyre" panose="02000503000000000000" charset="0"/>
              </a:rPr>
              <a:t>GaussianDiffusion</a:t>
            </a:r>
            <a:r>
              <a:rPr lang="zh-CN" altLang="en-US" sz="2200" dirty="0">
                <a:latin typeface="DejaVu Math TeX Gyre" panose="02000503000000000000" charset="0"/>
                <a:ea typeface="微软雅黑" charset="-122"/>
                <a:cs typeface="DejaVu Math TeX Gyre" panose="02000503000000000000" charset="0"/>
              </a:rPr>
              <a:t>采样催急噪声求</a:t>
            </a:r>
            <a:r>
              <a:rPr lang="en-US" altLang="zh-CN" sz="2200" dirty="0">
                <a:latin typeface="DejaVu Math TeX Gyre" panose="02000503000000000000" charset="0"/>
                <a:ea typeface="微软雅黑" charset="-122"/>
                <a:cs typeface="DejaVu Math TeX Gyre" panose="02000503000000000000" charset="0"/>
              </a:rPr>
              <a:t>L2</a:t>
            </a:r>
            <a:r>
              <a:rPr lang="zh-CN" altLang="en-US" sz="2200" dirty="0">
                <a:latin typeface="DejaVu Math TeX Gyre" panose="02000503000000000000" charset="0"/>
                <a:ea typeface="微软雅黑" charset="-122"/>
                <a:cs typeface="DejaVu Math TeX Gyre" panose="02000503000000000000" charset="0"/>
              </a:rPr>
              <a:t>损失，计算梯度，更新权重</a:t>
            </a:r>
            <a:endParaRPr lang="zh-CN" altLang="en-US" sz="2200" dirty="0">
              <a:latin typeface="DejaVu Math TeX Gyre" panose="02000503000000000000" charset="0"/>
              <a:ea typeface="微软雅黑" charset="-122"/>
              <a:cs typeface="DejaVu Math TeX Gyre" panose="02000503000000000000" charset="0"/>
            </a:endParaRPr>
          </a:p>
        </p:txBody>
      </p:sp>
      <p:pic>
        <p:nvPicPr>
          <p:cNvPr id="7" name="图片 6"/>
          <p:cNvPicPr>
            <a:picLocks noChangeAspect="1"/>
          </p:cNvPicPr>
          <p:nvPr>
            <p:custDataLst>
              <p:tags r:id="rId5"/>
            </p:custDataLst>
          </p:nvPr>
        </p:nvPicPr>
        <p:blipFill>
          <a:blip r:embed="rId6"/>
          <a:stretch>
            <a:fillRect/>
          </a:stretch>
        </p:blipFill>
        <p:spPr>
          <a:xfrm>
            <a:off x="1988820" y="1523365"/>
            <a:ext cx="7532370" cy="373888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46355" y="-46990"/>
            <a:ext cx="9291320" cy="919480"/>
            <a:chOff x="73" y="-74"/>
            <a:chExt cx="14632" cy="1448"/>
          </a:xfrm>
        </p:grpSpPr>
        <p:sp>
          <p:nvSpPr>
            <p:cNvPr id="3078" name="文本框 3"/>
            <p:cNvSpPr txBox="1"/>
            <p:nvPr>
              <p:custDataLst>
                <p:tags r:id="rId1"/>
              </p:custDataLst>
            </p:nvPr>
          </p:nvSpPr>
          <p:spPr>
            <a:xfrm>
              <a:off x="73" y="-74"/>
              <a:ext cx="1340" cy="1448"/>
            </a:xfrm>
            <a:prstGeom prst="rect">
              <a:avLst/>
            </a:prstGeom>
            <a:noFill/>
            <a:ln w="12700" cmpd="sng">
              <a:noFill/>
              <a:prstDash val="solid"/>
            </a:ln>
            <a:effectLst>
              <a:outerShdw dist="63500" dir="2700000" algn="tl" rotWithShape="0">
                <a:schemeClr val="bg1">
                  <a:alpha val="100000"/>
                </a:schemeClr>
              </a:outerShdw>
            </a:effectLst>
          </p:spPr>
          <p:txBody>
            <a:bodyPr wrap="square" anchor="t" anchorCtr="0"/>
            <a:lstStyle/>
            <a:p>
              <a:pPr>
                <a:lnSpc>
                  <a:spcPct val="130000"/>
                </a:lnSpc>
              </a:pPr>
              <a:r>
                <a:rPr lang="en-US" altLang="zh-CN" sz="4000" i="1" dirty="0">
                  <a:ln w="19050">
                    <a:noFill/>
                  </a:ln>
                  <a:gradFill>
                    <a:gsLst>
                      <a:gs pos="39000">
                        <a:srgbClr val="5399D4"/>
                      </a:gs>
                      <a:gs pos="100000">
                        <a:schemeClr val="bg1"/>
                      </a:gs>
                    </a:gsLst>
                    <a:lin ang="5400000" scaled="0"/>
                  </a:gradFill>
                  <a:latin typeface="Bauhaus 93" panose="04030905020B02020C02" charset="0"/>
                  <a:ea typeface="造字工房朗倩（非商用）常规体" charset="-122"/>
                  <a:cs typeface="Bauhaus 93" panose="04030905020B02020C02" charset="0"/>
                </a:rPr>
                <a:t>04</a:t>
              </a:r>
              <a:endParaRPr lang="en-US" altLang="zh-CN" sz="4000" i="1" dirty="0">
                <a:ln w="19050">
                  <a:noFill/>
                </a:ln>
                <a:gradFill>
                  <a:gsLst>
                    <a:gs pos="39000">
                      <a:srgbClr val="5399D4"/>
                    </a:gs>
                    <a:gs pos="100000">
                      <a:schemeClr val="bg1"/>
                    </a:gs>
                  </a:gsLst>
                  <a:lin ang="5400000" scaled="0"/>
                </a:gradFill>
                <a:latin typeface="Bauhaus 93" panose="04030905020B02020C02" charset="0"/>
                <a:ea typeface="造字工房朗倩（非商用）常规体" charset="-122"/>
                <a:cs typeface="Bauhaus 93" panose="04030905020B02020C02" charset="0"/>
              </a:endParaRPr>
            </a:p>
          </p:txBody>
        </p:sp>
        <p:sp>
          <p:nvSpPr>
            <p:cNvPr id="3" name="文本框 2"/>
            <p:cNvSpPr txBox="1"/>
            <p:nvPr>
              <p:custDataLst>
                <p:tags r:id="rId2"/>
              </p:custDataLst>
            </p:nvPr>
          </p:nvSpPr>
          <p:spPr>
            <a:xfrm>
              <a:off x="1413" y="239"/>
              <a:ext cx="13293" cy="847"/>
            </a:xfrm>
            <a:prstGeom prst="rect">
              <a:avLst/>
            </a:prstGeom>
            <a:noFill/>
          </p:spPr>
          <p:txBody>
            <a:bodyPr wrap="square" rtlCol="0">
              <a:noAutofit/>
            </a:bodyPr>
            <a:lstStyle/>
            <a:p>
              <a:r>
                <a:rPr lang="en-US" altLang="zh-CN" sz="3600" dirty="0">
                  <a:latin typeface="Times New Roman Regular" panose="02020503050405090304" charset="0"/>
                  <a:ea typeface="微软雅黑" charset="-122"/>
                  <a:cs typeface="Times New Roman Regular" panose="02020503050405090304" charset="0"/>
                </a:rPr>
                <a:t>DDPM</a:t>
              </a:r>
              <a:r>
                <a:rPr lang="zh-CN" altLang="en-US" sz="3600" dirty="0">
                  <a:latin typeface="Times New Roman Regular" panose="02020503050405090304" charset="0"/>
                  <a:ea typeface="微软雅黑" charset="-122"/>
                  <a:cs typeface="Times New Roman Regular" panose="02020503050405090304" charset="0"/>
                </a:rPr>
                <a:t>具体算法</a:t>
              </a:r>
              <a:endParaRPr lang="zh-CN" altLang="en-US" sz="3600" dirty="0">
                <a:latin typeface="Times New Roman Regular" panose="02020503050405090304" charset="0"/>
                <a:ea typeface="微软雅黑" charset="-122"/>
                <a:cs typeface="Times New Roman Regular" panose="02020503050405090304" charset="0"/>
              </a:endParaRPr>
            </a:p>
          </p:txBody>
        </p:sp>
      </p:grpSp>
      <p:sp>
        <p:nvSpPr>
          <p:cNvPr id="10" name="文本框 9"/>
          <p:cNvSpPr txBox="1"/>
          <p:nvPr>
            <p:custDataLst>
              <p:tags r:id="rId3"/>
            </p:custDataLst>
          </p:nvPr>
        </p:nvSpPr>
        <p:spPr>
          <a:xfrm>
            <a:off x="717550" y="985520"/>
            <a:ext cx="1974850" cy="537845"/>
          </a:xfrm>
          <a:prstGeom prst="rect">
            <a:avLst/>
          </a:prstGeom>
          <a:noFill/>
        </p:spPr>
        <p:txBody>
          <a:bodyPr wrap="square" rtlCol="0">
            <a:noAutofit/>
          </a:bodyPr>
          <a:lstStyle/>
          <a:p>
            <a:pPr indent="0">
              <a:buFont typeface="Wingdings" panose="05000000000000000000" pitchFamily="2" charset="2"/>
              <a:buNone/>
            </a:pPr>
            <a:r>
              <a:rPr lang="zh-CN" altLang="en-US" sz="2400" dirty="0">
                <a:latin typeface="Times New Roman Regular" panose="02020503050405090304" charset="0"/>
                <a:ea typeface="微软雅黑" charset="-122"/>
                <a:cs typeface="Times New Roman Regular" panose="02020503050405090304" charset="0"/>
              </a:rPr>
              <a:t>采样算法</a:t>
            </a:r>
            <a:endParaRPr lang="zh-CN" altLang="en-US" sz="2400" dirty="0">
              <a:latin typeface="Times New Roman Regular" panose="02020503050405090304" charset="0"/>
              <a:ea typeface="微软雅黑" charset="-122"/>
              <a:cs typeface="Times New Roman Regular" panose="02020503050405090304" charset="0"/>
            </a:endParaRPr>
          </a:p>
        </p:txBody>
      </p:sp>
      <mc:AlternateContent xmlns:mc="http://schemas.openxmlformats.org/markup-compatibility/2006">
        <mc:Choice xmlns:a14="http://schemas.microsoft.com/office/drawing/2010/main" Requires="a14">
          <p:sp>
            <p:nvSpPr>
              <p:cNvPr id="6" name="文本框 5"/>
              <p:cNvSpPr txBox="1"/>
              <p:nvPr>
                <p:custDataLst>
                  <p:tags r:id="rId4"/>
                </p:custDataLst>
              </p:nvPr>
            </p:nvSpPr>
            <p:spPr>
              <a:xfrm>
                <a:off x="1770380" y="5401310"/>
                <a:ext cx="8214360" cy="921385"/>
              </a:xfrm>
              <a:prstGeom prst="rect">
                <a:avLst/>
              </a:prstGeom>
              <a:noFill/>
            </p:spPr>
            <p:txBody>
              <a:bodyPr wrap="square" rtlCol="0">
                <a:noAutofit/>
              </a:bodyPr>
              <a:lstStyle/>
              <a:p>
                <a:pPr marL="342900" indent="-342900">
                  <a:buFont typeface="Wingdings" panose="05000000000000000000" charset="0"/>
                  <a:buChar char=""/>
                </a:pPr>
                <a:r>
                  <a:rPr lang="zh-CN" altLang="en-US" sz="2200" dirty="0">
                    <a:latin typeface="DejaVu Math TeX Gyre" panose="02000503000000000000" charset="0"/>
                    <a:ea typeface="微软雅黑" charset="-122"/>
                    <a:cs typeface="DejaVu Math TeX Gyre" panose="02000503000000000000" charset="0"/>
                  </a:rPr>
                  <a:t>循环执行去噪声操作，最后生成的</a:t>
                </a:r>
                <a14:m>
                  <m:oMath xmlns:m="http://schemas.openxmlformats.org/officeDocument/2006/math">
                    <m:sSub>
                      <m:sSubPr>
                        <m:ctrlPr>
                          <a:rPr lang="en-US" altLang="zh-CN" sz="2200" i="1" dirty="0">
                            <a:latin typeface="Cambria Math" panose="02040503050406030204" pitchFamily="18" charset="0"/>
                            <a:ea typeface="微软雅黑" charset="-122"/>
                            <a:cs typeface="DejaVu Math TeX Gyre" panose="02000503000000000000" charset="0"/>
                          </a:rPr>
                        </m:ctrlPr>
                      </m:sSubPr>
                      <m:e>
                        <m:r>
                          <a:rPr lang="en-US" altLang="zh-CN" sz="2200" i="1" dirty="0">
                            <a:latin typeface="Cambria Math" panose="02040503050406030204" pitchFamily="18" charset="0"/>
                            <a:ea typeface="微软雅黑" charset="-122"/>
                            <a:cs typeface="DejaVu Math TeX Gyre" panose="02000503000000000000" charset="0"/>
                          </a:rPr>
                          <m:t>𝑥</m:t>
                        </m:r>
                      </m:e>
                      <m:sub>
                        <m:r>
                          <a:rPr lang="en-US" altLang="zh-CN" sz="2200" i="1" dirty="0">
                            <a:latin typeface="Cambria Math" panose="02040503050406030204" pitchFamily="18" charset="0"/>
                            <a:ea typeface="微软雅黑" charset="-122"/>
                            <a:cs typeface="DejaVu Math TeX Gyre" panose="02000503000000000000" charset="0"/>
                          </a:rPr>
                          <m:t>𝑜</m:t>
                        </m:r>
                      </m:sub>
                    </m:sSub>
                  </m:oMath>
                </a14:m>
                <a:r>
                  <a:rPr lang="zh-CN" altLang="en-US" sz="2200" dirty="0">
                    <a:latin typeface="DejaVu Math TeX Gyre" panose="02000503000000000000" charset="0"/>
                    <a:ea typeface="微软雅黑" charset="-122"/>
                    <a:cs typeface="DejaVu Math TeX Gyre" panose="02000503000000000000" charset="0"/>
                  </a:rPr>
                  <a:t>就是生成出来的图像。</a:t>
                </a:r>
                <a:endParaRPr lang="zh-CN" altLang="en-US" sz="2200" dirty="0">
                  <a:latin typeface="DejaVu Math TeX Gyre" panose="02000503000000000000" charset="0"/>
                  <a:ea typeface="微软雅黑" charset="-122"/>
                  <a:cs typeface="DejaVu Math TeX Gyre" panose="02000503000000000000" charset="0"/>
                </a:endParaRPr>
              </a:p>
            </p:txBody>
          </p:sp>
        </mc:Choice>
        <mc:Fallback>
          <p:sp>
            <p:nvSpPr>
              <p:cNvPr id="6" name="文本框 5"/>
              <p:cNvSpPr txBox="1">
                <a:spLocks noRot="1" noChangeAspect="1" noMove="1" noResize="1" noEditPoints="1" noAdjustHandles="1" noChangeArrowheads="1" noChangeShapeType="1" noTextEdit="1"/>
              </p:cNvSpPr>
              <p:nvPr>
                <p:custDataLst>
                  <p:tags r:id="rId5"/>
                </p:custDataLst>
              </p:nvPr>
            </p:nvSpPr>
            <p:spPr>
              <a:xfrm>
                <a:off x="1770380" y="5401310"/>
                <a:ext cx="8214360" cy="921385"/>
              </a:xfrm>
              <a:prstGeom prst="rect">
                <a:avLst/>
              </a:prstGeom>
              <a:blipFill rotWithShape="1">
                <a:blip r:embed="rId6"/>
                <a:stretch>
                  <a:fillRect/>
                </a:stretch>
              </a:blipFill>
            </p:spPr>
            <p:txBody>
              <a:bodyPr/>
              <a:lstStyle/>
              <a:p>
                <a:r>
                  <a:rPr lang="zh-CN" altLang="en-US">
                    <a:noFill/>
                  </a:rPr>
                  <a:t> </a:t>
                </a:r>
              </a:p>
            </p:txBody>
          </p:sp>
        </mc:Fallback>
      </mc:AlternateContent>
      <p:pic>
        <p:nvPicPr>
          <p:cNvPr id="4" name="图片 3"/>
          <p:cNvPicPr>
            <a:picLocks noChangeAspect="1"/>
          </p:cNvPicPr>
          <p:nvPr>
            <p:custDataLst>
              <p:tags r:id="rId7"/>
            </p:custDataLst>
          </p:nvPr>
        </p:nvPicPr>
        <p:blipFill>
          <a:blip r:embed="rId8"/>
          <a:stretch>
            <a:fillRect/>
          </a:stretch>
        </p:blipFill>
        <p:spPr>
          <a:xfrm>
            <a:off x="1950085" y="1523365"/>
            <a:ext cx="7533005" cy="375666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descr="剪影居中蓝 低版本"/>
          <p:cNvPicPr>
            <a:picLocks noChangeAspect="1"/>
          </p:cNvPicPr>
          <p:nvPr/>
        </p:nvPicPr>
        <p:blipFill>
          <a:blip r:embed="rId1"/>
          <a:stretch>
            <a:fillRect/>
          </a:stretch>
        </p:blipFill>
        <p:spPr>
          <a:xfrm>
            <a:off x="1353" y="4564099"/>
            <a:ext cx="12190495" cy="3776196"/>
          </a:xfrm>
          <a:prstGeom prst="rect">
            <a:avLst/>
          </a:prstGeom>
          <a:noFill/>
          <a:ln w="9525">
            <a:noFill/>
          </a:ln>
        </p:spPr>
      </p:pic>
      <p:sp>
        <p:nvSpPr>
          <p:cNvPr id="3" name="内容占位符 2"/>
          <p:cNvSpPr>
            <a:spLocks noGrp="1"/>
          </p:cNvSpPr>
          <p:nvPr>
            <p:ph sz="half" idx="1"/>
            <p:custDataLst>
              <p:tags r:id="rId2"/>
            </p:custDataLst>
          </p:nvPr>
        </p:nvSpPr>
        <p:spPr>
          <a:xfrm>
            <a:off x="726598" y="2247158"/>
            <a:ext cx="5176530" cy="4748400"/>
          </a:xfrm>
        </p:spPr>
        <p:txBody>
          <a:bodyPr/>
          <a:lstStyle/>
          <a:p>
            <a:r>
              <a:rPr lang="en-US" altLang="zh-CN" sz="2000" b="1" dirty="0">
                <a:solidFill>
                  <a:schemeClr val="tx1"/>
                </a:solidFill>
              </a:rPr>
              <a:t>Parameter Efficient Methods</a:t>
            </a:r>
            <a:endParaRPr lang="zh-CN" altLang="en-US" sz="2000" b="1" dirty="0">
              <a:solidFill>
                <a:schemeClr val="tx1"/>
              </a:solidFill>
            </a:endParaRPr>
          </a:p>
          <a:p>
            <a:r>
              <a:rPr lang="en-US" altLang="zh-CN" sz="2000" b="1" dirty="0">
                <a:solidFill>
                  <a:schemeClr val="tx1"/>
                </a:solidFill>
              </a:rPr>
              <a:t>Efficient Sampling and Inference</a:t>
            </a:r>
            <a:endParaRPr lang="zh-CN" altLang="en-US" sz="2000" b="1" dirty="0">
              <a:solidFill>
                <a:schemeClr val="tx1"/>
              </a:solidFill>
            </a:endParaRPr>
          </a:p>
          <a:p>
            <a:pPr marL="0" indent="0">
              <a:buNone/>
            </a:pPr>
            <a:endParaRPr lang="zh-CN" altLang="en-US" sz="2000" b="1" dirty="0">
              <a:solidFill>
                <a:schemeClr val="tx1"/>
              </a:solidFill>
            </a:endParaRPr>
          </a:p>
          <a:p>
            <a:endParaRPr lang="zh-CN" altLang="en-US" sz="2000" b="1" dirty="0">
              <a:solidFill>
                <a:schemeClr val="tx1"/>
              </a:solidFill>
            </a:endParaRPr>
          </a:p>
        </p:txBody>
      </p:sp>
      <p:sp>
        <p:nvSpPr>
          <p:cNvPr id="9" name="矩形 8"/>
          <p:cNvSpPr/>
          <p:nvPr/>
        </p:nvSpPr>
        <p:spPr>
          <a:xfrm>
            <a:off x="726598" y="1200062"/>
            <a:ext cx="3185487" cy="923330"/>
          </a:xfrm>
          <a:prstGeom prst="rect">
            <a:avLst/>
          </a:prstGeom>
          <a:noFill/>
        </p:spPr>
        <p:txBody>
          <a:bodyPr wrap="none" lIns="91440" tIns="45720" rIns="91440" bIns="45720">
            <a:spAutoFit/>
          </a:bodyPr>
          <a:lstStyle/>
          <a:p>
            <a:pPr algn="ctr"/>
            <a:r>
              <a:rPr lang="en-US" altLang="zh-CN" sz="5400" b="0" cap="none" spc="0" dirty="0">
                <a:ln w="0"/>
                <a:solidFill>
                  <a:schemeClr val="accent1"/>
                </a:solidFill>
                <a:effectLst>
                  <a:outerShdw blurRad="38100" dist="25400" dir="5400000" algn="ctr" rotWithShape="0">
                    <a:srgbClr val="6E747A">
                      <a:alpha val="43000"/>
                    </a:srgbClr>
                  </a:outerShdw>
                </a:effectLst>
              </a:rPr>
              <a:t>OUTLINE</a:t>
            </a:r>
            <a:endParaRPr lang="zh-CN" altLang="en-US" sz="5400" b="0" cap="none" spc="0" dirty="0">
              <a:ln w="0"/>
              <a:solidFill>
                <a:schemeClr val="accent1"/>
              </a:solidFill>
              <a:effectLst>
                <a:outerShdw blurRad="38100" dist="25400" dir="5400000" algn="ctr" rotWithShape="0">
                  <a:srgbClr val="6E747A">
                    <a:alpha val="43000"/>
                  </a:srgbClr>
                </a:outerShdw>
              </a:effectLst>
            </a:endParaRPr>
          </a:p>
        </p:txBody>
      </p:sp>
      <p:pic>
        <p:nvPicPr>
          <p:cNvPr id="8" name="图片 1" descr="国科大标准Logo横式一（蓝色）"/>
          <p:cNvPicPr>
            <a:picLocks noChangeAspect="1"/>
          </p:cNvPicPr>
          <p:nvPr/>
        </p:nvPicPr>
        <p:blipFill>
          <a:blip r:embed="rId3"/>
          <a:stretch>
            <a:fillRect/>
          </a:stretch>
        </p:blipFill>
        <p:spPr>
          <a:xfrm>
            <a:off x="301354" y="272029"/>
            <a:ext cx="2992068" cy="626985"/>
          </a:xfrm>
          <a:prstGeom prst="rect">
            <a:avLst/>
          </a:prstGeom>
          <a:noFill/>
          <a:ln w="9525">
            <a:noFill/>
          </a:ln>
        </p:spPr>
      </p:pic>
      <p:sp>
        <p:nvSpPr>
          <p:cNvPr id="17" name="灯片编号占位符 16"/>
          <p:cNvSpPr>
            <a:spLocks noGrp="1"/>
          </p:cNvSpPr>
          <p:nvPr>
            <p:ph type="sldNum" sz="quarter" idx="12"/>
          </p:nvPr>
        </p:nvSpPr>
        <p:spPr/>
        <p:txBody>
          <a:bodyPr>
            <a:noAutofit/>
          </a:bodyPr>
          <a:lstStyle/>
          <a:p>
            <a:pPr algn="l" fontAlgn="auto"/>
            <a:fld id="{49AE70B2-8BF9-45C0-BB95-33D1B9D3A854}" type="slidenum">
              <a:rPr lang="zh-CN" altLang="en-US" sz="1800" strike="noStrike" noProof="1" smtClean="0">
                <a:solidFill>
                  <a:schemeClr val="tx1"/>
                </a:solidFill>
                <a:latin typeface="+mn-lt"/>
                <a:ea typeface="+mn-ea"/>
                <a:cs typeface="+mn-cs"/>
              </a:rPr>
            </a:fld>
            <a:endParaRPr lang="zh-CN" altLang="en-US" sz="1800" strike="noStrike" noProof="1">
              <a:solidFill>
                <a:schemeClr val="tx1"/>
              </a:solidFill>
              <a:latin typeface="+mn-lt"/>
              <a:ea typeface="+mn-ea"/>
              <a:cs typeface="+mn-c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图片 2" descr="剪影蓝 低版本"/>
          <p:cNvPicPr>
            <a:picLocks noChangeAspect="1"/>
          </p:cNvPicPr>
          <p:nvPr/>
        </p:nvPicPr>
        <p:blipFill>
          <a:blip r:embed="rId1"/>
          <a:srcRect l="-8"/>
          <a:stretch>
            <a:fillRect/>
          </a:stretch>
        </p:blipFill>
        <p:spPr>
          <a:xfrm>
            <a:off x="1505" y="5378386"/>
            <a:ext cx="12190495" cy="2438099"/>
          </a:xfrm>
          <a:prstGeom prst="rect">
            <a:avLst/>
          </a:prstGeom>
          <a:noFill/>
          <a:ln w="9525">
            <a:noFill/>
          </a:ln>
        </p:spPr>
      </p:pic>
      <p:sp>
        <p:nvSpPr>
          <p:cNvPr id="22" name="文本框 21"/>
          <p:cNvSpPr txBox="1"/>
          <p:nvPr/>
        </p:nvSpPr>
        <p:spPr>
          <a:xfrm>
            <a:off x="154297" y="-42999"/>
            <a:ext cx="552421" cy="874984"/>
          </a:xfrm>
          <a:prstGeom prst="rect">
            <a:avLst/>
          </a:prstGeom>
          <a:noFill/>
          <a:effectLst>
            <a:reflection blurRad="12700" stA="0" endPos="65000" dist="50800" dir="5400000" sy="-100000" algn="bl" rotWithShape="0"/>
          </a:effectLst>
        </p:spPr>
        <p:txBody>
          <a:bodyPr wrap="square" rtlCol="0">
            <a:noAutofit/>
          </a:bodyPr>
          <a:lstStyle/>
          <a:p>
            <a:r>
              <a:rPr lang="en-US" altLang="zh-CN" sz="5400" b="1" dirty="0">
                <a:solidFill>
                  <a:schemeClr val="bg1"/>
                </a:solidFill>
                <a:effectLst>
                  <a:glow>
                    <a:schemeClr val="accent1">
                      <a:alpha val="40000"/>
                    </a:schemeClr>
                  </a:glow>
                </a:effectLst>
                <a:latin typeface="Times New Roman" panose="02020503050405090304" charset="0"/>
                <a:ea typeface="微软雅黑" charset="-122"/>
                <a:cs typeface="Times New Roman" panose="02020503050405090304" charset="0"/>
              </a:rPr>
              <a:t>1</a:t>
            </a:r>
            <a:endParaRPr lang="en-US" altLang="zh-CN" sz="5400" b="1" dirty="0">
              <a:solidFill>
                <a:schemeClr val="bg1"/>
              </a:solidFill>
              <a:effectLst>
                <a:glow>
                  <a:schemeClr val="accent1">
                    <a:alpha val="40000"/>
                  </a:schemeClr>
                </a:glow>
              </a:effectLst>
              <a:latin typeface="Times New Roman" panose="02020503050405090304" charset="0"/>
              <a:ea typeface="微软雅黑" charset="-122"/>
              <a:cs typeface="Times New Roman" panose="02020503050405090304" charset="0"/>
            </a:endParaRPr>
          </a:p>
        </p:txBody>
      </p:sp>
      <p:sp>
        <p:nvSpPr>
          <p:cNvPr id="2" name="文本框 1"/>
          <p:cNvSpPr txBox="1"/>
          <p:nvPr/>
        </p:nvSpPr>
        <p:spPr>
          <a:xfrm>
            <a:off x="1094740" y="259715"/>
            <a:ext cx="6096000" cy="521970"/>
          </a:xfrm>
          <a:prstGeom prst="rect">
            <a:avLst/>
          </a:prstGeom>
          <a:noFill/>
        </p:spPr>
        <p:txBody>
          <a:bodyPr wrap="square" rtlCol="0" anchor="t">
            <a:spAutoFit/>
          </a:bodyPr>
          <a:lstStyle/>
          <a:p>
            <a:r>
              <a:rPr sz="2800" b="1">
                <a:solidFill>
                  <a:srgbClr val="000000"/>
                </a:solidFill>
                <a:latin typeface="微软雅黑" charset="-122"/>
                <a:ea typeface="微软雅黑" charset="-122"/>
                <a:cs typeface="微软雅黑" charset="-122"/>
                <a:sym typeface="+mn-ea"/>
              </a:rPr>
              <a:t>1.1 从变化率到梯度的直观引入</a:t>
            </a:r>
            <a:endParaRPr lang="zh-CN" altLang="en-US" sz="2800" b="1">
              <a:solidFill>
                <a:srgbClr val="000000"/>
              </a:solidFill>
              <a:latin typeface="微软雅黑" charset="-122"/>
              <a:ea typeface="微软雅黑" charset="-122"/>
              <a:cs typeface="微软雅黑" charset="-122"/>
              <a:sym typeface="+mn-ea"/>
            </a:endParaRPr>
          </a:p>
        </p:txBody>
      </p:sp>
      <p:sp>
        <p:nvSpPr>
          <p:cNvPr id="13" name="矩形 12"/>
          <p:cNvSpPr/>
          <p:nvPr>
            <p:custDataLst>
              <p:tags r:id="rId2"/>
            </p:custDataLst>
          </p:nvPr>
        </p:nvSpPr>
        <p:spPr>
          <a:xfrm>
            <a:off x="1353" y="600"/>
            <a:ext cx="12190495" cy="840002"/>
          </a:xfrm>
          <a:prstGeom prst="rect">
            <a:avLst/>
          </a:prstGeom>
          <a:gradFill>
            <a:gsLst>
              <a:gs pos="0">
                <a:schemeClr val="bg1"/>
              </a:gs>
              <a:gs pos="50000">
                <a:srgbClr val="5399D4"/>
              </a:gs>
              <a:gs pos="100000">
                <a:srgbClr val="2E3C63"/>
              </a:gs>
            </a:gsLst>
          </a:gradFill>
          <a:effectLst/>
        </p:spPr>
        <p:style>
          <a:lnRef idx="0">
            <a:srgbClr val="FFFFFF"/>
          </a:lnRef>
          <a:fillRef idx="2">
            <a:schemeClr val="accent1"/>
          </a:fillRef>
          <a:effectRef idx="1">
            <a:schemeClr val="accent1"/>
          </a:effectRef>
          <a:fontRef idx="minor">
            <a:schemeClr val="lt1"/>
          </a:fontRef>
        </p:style>
        <p:txBody>
          <a:bodyPr rtlCol="0" anchor="ctr"/>
          <a:lstStyle/>
          <a:p>
            <a:pPr algn="ctr" fontAlgn="base"/>
            <a:endParaRPr lang="zh-CN" altLang="en-US" sz="100" strike="noStrike" noProof="1"/>
          </a:p>
        </p:txBody>
      </p:sp>
      <p:pic>
        <p:nvPicPr>
          <p:cNvPr id="15" name="图片 14" descr="国科大标准Logo横式一（白色）"/>
          <p:cNvPicPr>
            <a:picLocks noChangeAspect="1"/>
          </p:cNvPicPr>
          <p:nvPr/>
        </p:nvPicPr>
        <p:blipFill>
          <a:blip r:embed="rId3"/>
          <a:stretch>
            <a:fillRect/>
          </a:stretch>
        </p:blipFill>
        <p:spPr>
          <a:xfrm>
            <a:off x="9815971" y="187901"/>
            <a:ext cx="2167622" cy="457144"/>
          </a:xfrm>
          <a:prstGeom prst="rect">
            <a:avLst/>
          </a:prstGeom>
        </p:spPr>
      </p:pic>
      <p:sp>
        <p:nvSpPr>
          <p:cNvPr id="3078" name="文本框 3"/>
          <p:cNvSpPr txBox="1"/>
          <p:nvPr>
            <p:custDataLst>
              <p:tags r:id="rId4"/>
            </p:custDataLst>
          </p:nvPr>
        </p:nvSpPr>
        <p:spPr>
          <a:xfrm>
            <a:off x="46644" y="-47231"/>
            <a:ext cx="850795" cy="919366"/>
          </a:xfrm>
          <a:prstGeom prst="rect">
            <a:avLst/>
          </a:prstGeom>
          <a:noFill/>
          <a:ln w="12700" cmpd="sng">
            <a:noFill/>
            <a:prstDash val="solid"/>
          </a:ln>
          <a:effectLst>
            <a:outerShdw dist="63500" dir="2700000" algn="tl" rotWithShape="0">
              <a:schemeClr val="bg1">
                <a:alpha val="100000"/>
              </a:schemeClr>
            </a:outerShdw>
          </a:effectLst>
        </p:spPr>
        <p:txBody>
          <a:bodyPr wrap="square" anchor="t" anchorCtr="0"/>
          <a:lstStyle/>
          <a:p>
            <a:pPr>
              <a:lnSpc>
                <a:spcPct val="130000"/>
              </a:lnSpc>
            </a:pPr>
            <a:r>
              <a:rPr lang="en-US" altLang="zh-CN" sz="4000" i="1" dirty="0">
                <a:ln w="19050">
                  <a:noFill/>
                </a:ln>
                <a:gradFill>
                  <a:gsLst>
                    <a:gs pos="39000">
                      <a:srgbClr val="5399D4"/>
                    </a:gs>
                    <a:gs pos="100000">
                      <a:schemeClr val="bg1"/>
                    </a:gs>
                  </a:gsLst>
                  <a:lin ang="5400000" scaled="0"/>
                </a:gradFill>
                <a:latin typeface="Bauhaus 93" panose="04030905020B02020C02" charset="0"/>
                <a:ea typeface="造字工房朗倩（非商用）常规体" charset="-122"/>
                <a:cs typeface="Bauhaus 93" panose="04030905020B02020C02" charset="0"/>
              </a:rPr>
              <a:t>01</a:t>
            </a:r>
            <a:endParaRPr lang="en-US" altLang="zh-CN" sz="4000" i="1" dirty="0">
              <a:ln w="19050">
                <a:noFill/>
              </a:ln>
              <a:gradFill>
                <a:gsLst>
                  <a:gs pos="39000">
                    <a:srgbClr val="5399D4"/>
                  </a:gs>
                  <a:gs pos="100000">
                    <a:schemeClr val="bg1"/>
                  </a:gs>
                </a:gsLst>
                <a:lin ang="5400000" scaled="0"/>
              </a:gradFill>
              <a:latin typeface="Bauhaus 93" panose="04030905020B02020C02" charset="0"/>
              <a:ea typeface="造字工房朗倩（非商用）常规体" charset="-122"/>
              <a:cs typeface="Bauhaus 93" panose="04030905020B02020C02" charset="0"/>
            </a:endParaRPr>
          </a:p>
        </p:txBody>
      </p:sp>
      <p:sp>
        <p:nvSpPr>
          <p:cNvPr id="16" name="文本框 15"/>
          <p:cNvSpPr txBox="1"/>
          <p:nvPr>
            <p:custDataLst>
              <p:tags r:id="rId5"/>
            </p:custDataLst>
          </p:nvPr>
        </p:nvSpPr>
        <p:spPr>
          <a:xfrm>
            <a:off x="897439" y="151711"/>
            <a:ext cx="8441283" cy="537779"/>
          </a:xfrm>
          <a:prstGeom prst="rect">
            <a:avLst/>
          </a:prstGeom>
          <a:noFill/>
        </p:spPr>
        <p:txBody>
          <a:bodyPr wrap="square" rtlCol="0">
            <a:noAutofit/>
          </a:bodyPr>
          <a:lstStyle/>
          <a:p>
            <a:r>
              <a:rPr lang="en-US" altLang="zh-CN" sz="3600" b="1" dirty="0">
                <a:solidFill>
                  <a:schemeClr val="tx1"/>
                </a:solidFill>
              </a:rPr>
              <a:t>Parameter Efficient Methods</a:t>
            </a:r>
            <a:endParaRPr lang="zh-CN" altLang="en-US" sz="3600" b="1" dirty="0">
              <a:solidFill>
                <a:schemeClr val="tx1"/>
              </a:solidFill>
            </a:endParaRPr>
          </a:p>
        </p:txBody>
      </p:sp>
      <p:sp>
        <p:nvSpPr>
          <p:cNvPr id="17" name="灯片编号占位符 16"/>
          <p:cNvSpPr>
            <a:spLocks noGrp="1"/>
          </p:cNvSpPr>
          <p:nvPr>
            <p:ph type="sldNum" sz="quarter" idx="12"/>
          </p:nvPr>
        </p:nvSpPr>
        <p:spPr/>
        <p:txBody>
          <a:bodyPr>
            <a:noAutofit/>
          </a:bodyPr>
          <a:lstStyle/>
          <a:p>
            <a:pPr algn="l" fontAlgn="auto"/>
            <a:fld id="{49AE70B2-8BF9-45C0-BB95-33D1B9D3A854}" type="slidenum">
              <a:rPr lang="zh-CN" altLang="en-US" sz="1800" strike="noStrike" noProof="1" smtClean="0">
                <a:solidFill>
                  <a:schemeClr val="tx1"/>
                </a:solidFill>
                <a:latin typeface="+mn-lt"/>
                <a:ea typeface="+mn-ea"/>
                <a:cs typeface="+mn-cs"/>
              </a:rPr>
            </a:fld>
            <a:endParaRPr lang="zh-CN" altLang="en-US" sz="1800" strike="noStrike" noProof="1">
              <a:solidFill>
                <a:schemeClr val="tx1"/>
              </a:solidFill>
              <a:latin typeface="+mn-lt"/>
              <a:ea typeface="+mn-ea"/>
              <a:cs typeface="+mn-cs"/>
            </a:endParaRPr>
          </a:p>
        </p:txBody>
      </p:sp>
      <p:sp>
        <p:nvSpPr>
          <p:cNvPr id="14" name="文本框 13"/>
          <p:cNvSpPr txBox="1"/>
          <p:nvPr/>
        </p:nvSpPr>
        <p:spPr>
          <a:xfrm>
            <a:off x="560172" y="870585"/>
            <a:ext cx="7586322" cy="658835"/>
          </a:xfrm>
          <a:prstGeom prst="rect">
            <a:avLst/>
          </a:prstGeom>
          <a:noFill/>
        </p:spPr>
        <p:txBody>
          <a:bodyPr wrap="square" rtlCol="0" anchor="t">
            <a:spAutoFit/>
          </a:bodyPr>
          <a:lstStyle/>
          <a:p>
            <a:pPr lvl="1" indent="-457200" algn="l" defTabSz="914400" fontAlgn="base">
              <a:lnSpc>
                <a:spcPct val="150000"/>
              </a:lnSpc>
              <a:buClrTx/>
              <a:buSzTx/>
              <a:buFont typeface="Wingdings" panose="05000000000000000000" pitchFamily="2" charset="2"/>
              <a:buChar char="Ø"/>
            </a:pPr>
            <a:r>
              <a:rPr lang="en-US" altLang="zh-CN" sz="2800" dirty="0">
                <a:solidFill>
                  <a:sysClr val="windowText" lastClr="000000"/>
                </a:solidFill>
                <a:latin typeface="Arial" panose="020B0604020202090204" pitchFamily="34" charset="0"/>
                <a:ea typeface="微软雅黑" charset="-122"/>
                <a:sym typeface="+mn-ea"/>
              </a:rPr>
              <a:t>1</a:t>
            </a:r>
            <a:r>
              <a:rPr lang="zh-CN" altLang="en-US" sz="2800" dirty="0">
                <a:solidFill>
                  <a:sysClr val="windowText" lastClr="000000"/>
                </a:solidFill>
                <a:latin typeface="Arial" panose="020B0604020202090204" pitchFamily="34" charset="0"/>
                <a:ea typeface="微软雅黑" charset="-122"/>
                <a:sym typeface="+mn-ea"/>
              </a:rPr>
              <a:t>.</a:t>
            </a:r>
            <a:r>
              <a:rPr lang="en-US" altLang="zh-CN" sz="2800" dirty="0">
                <a:solidFill>
                  <a:sysClr val="windowText" lastClr="000000"/>
                </a:solidFill>
                <a:latin typeface="Arial" panose="020B0604020202090204" pitchFamily="34" charset="0"/>
                <a:ea typeface="微软雅黑" charset="-122"/>
                <a:sym typeface="+mn-ea"/>
              </a:rPr>
              <a:t>1 ControlNet</a:t>
            </a:r>
            <a:endParaRPr lang="zh-CN" altLang="en-US" sz="2800" dirty="0">
              <a:solidFill>
                <a:sysClr val="windowText" lastClr="000000"/>
              </a:solidFill>
              <a:latin typeface="Arial" panose="020B0604020202090204" pitchFamily="34" charset="0"/>
              <a:ea typeface="微软雅黑" charset="-122"/>
              <a:sym typeface="+mn-ea"/>
            </a:endParaRPr>
          </a:p>
        </p:txBody>
      </p:sp>
      <p:sp>
        <p:nvSpPr>
          <p:cNvPr id="20" name="TextBox 4"/>
          <p:cNvSpPr txBox="1"/>
          <p:nvPr/>
        </p:nvSpPr>
        <p:spPr>
          <a:xfrm>
            <a:off x="6278171" y="2471954"/>
            <a:ext cx="5298825" cy="1169551"/>
          </a:xfrm>
          <a:prstGeom prst="rect">
            <a:avLst/>
          </a:prstGeom>
          <a:noFill/>
        </p:spPr>
        <p:txBody>
          <a:bodyPr wrap="square" lIns="73152" tIns="54864" rIns="73152" bIns="54864" anchor="ctr">
            <a:spAutoFit/>
          </a:bodyPr>
          <a:lstStyle/>
          <a:p>
            <a:pPr marL="285750" indent="-285750">
              <a:lnSpc>
                <a:spcPts val="2080"/>
              </a:lnSpc>
              <a:buFont typeface="Arial" panose="020B0604020202090204" pitchFamily="34" charset="0"/>
              <a:buChar char="•"/>
            </a:pPr>
            <a:r>
              <a:rPr lang="en-US" altLang="zh-CN" sz="1600" dirty="0">
                <a:solidFill>
                  <a:schemeClr val="tx1">
                    <a:lumMod val="65000"/>
                    <a:lumOff val="35000"/>
                  </a:schemeClr>
                </a:solidFill>
                <a:latin typeface="微软雅黑" charset="-122"/>
                <a:ea typeface="微软雅黑" charset="-122"/>
              </a:rPr>
              <a:t>ControlNet</a:t>
            </a:r>
            <a:r>
              <a:rPr lang="zh-CN" altLang="en-US" sz="1600" dirty="0">
                <a:solidFill>
                  <a:schemeClr val="tx1">
                    <a:lumMod val="65000"/>
                    <a:lumOff val="35000"/>
                  </a:schemeClr>
                </a:solidFill>
                <a:latin typeface="微软雅黑" charset="-122"/>
                <a:ea typeface="微软雅黑" charset="-122"/>
              </a:rPr>
              <a:t>作为</a:t>
            </a:r>
            <a:r>
              <a:rPr lang="en-US" altLang="zh-CN" sz="1600" dirty="0">
                <a:solidFill>
                  <a:schemeClr val="tx1">
                    <a:lumMod val="65000"/>
                    <a:lumOff val="35000"/>
                  </a:schemeClr>
                </a:solidFill>
                <a:latin typeface="微软雅黑" charset="-122"/>
                <a:ea typeface="微软雅黑" charset="-122"/>
              </a:rPr>
              <a:t>Stable Diffusion</a:t>
            </a:r>
            <a:r>
              <a:rPr lang="zh-CN" altLang="en-US" sz="1600" dirty="0">
                <a:solidFill>
                  <a:schemeClr val="tx1">
                    <a:lumMod val="65000"/>
                    <a:lumOff val="35000"/>
                  </a:schemeClr>
                </a:solidFill>
                <a:latin typeface="微软雅黑" charset="-122"/>
                <a:ea typeface="微软雅黑" charset="-122"/>
              </a:rPr>
              <a:t>等大模型的辅助神经网络模块，通过引入额外的约束条件，精准引导图像的构图、姿态与结构，从而有效降低</a:t>
            </a:r>
            <a:r>
              <a:rPr lang="en-US" altLang="zh-CN" sz="1600" dirty="0">
                <a:solidFill>
                  <a:schemeClr val="tx1">
                    <a:lumMod val="65000"/>
                    <a:lumOff val="35000"/>
                  </a:schemeClr>
                </a:solidFill>
                <a:latin typeface="微软雅黑" charset="-122"/>
                <a:ea typeface="微软雅黑" charset="-122"/>
              </a:rPr>
              <a:t>AIGC</a:t>
            </a:r>
            <a:r>
              <a:rPr lang="zh-CN" altLang="en-US" sz="1600" dirty="0">
                <a:solidFill>
                  <a:schemeClr val="tx1">
                    <a:lumMod val="65000"/>
                    <a:lumOff val="35000"/>
                  </a:schemeClr>
                </a:solidFill>
                <a:latin typeface="微软雅黑" charset="-122"/>
                <a:ea typeface="微软雅黑" charset="-122"/>
              </a:rPr>
              <a:t>图像生成的随机性，实现高度可控的生成过程</a:t>
            </a:r>
            <a:endParaRPr lang="en-US" altLang="zh-CN" sz="1600" dirty="0">
              <a:solidFill>
                <a:schemeClr val="tx1">
                  <a:lumMod val="65000"/>
                  <a:lumOff val="35000"/>
                </a:schemeClr>
              </a:solidFill>
              <a:latin typeface="微软雅黑" charset="-122"/>
              <a:ea typeface="微软雅黑" charset="-122"/>
            </a:endParaRPr>
          </a:p>
        </p:txBody>
      </p:sp>
      <p:pic>
        <p:nvPicPr>
          <p:cNvPr id="8" name="图片 7"/>
          <p:cNvPicPr>
            <a:picLocks noChangeAspect="1"/>
          </p:cNvPicPr>
          <p:nvPr/>
        </p:nvPicPr>
        <p:blipFill>
          <a:blip r:embed="rId6"/>
          <a:stretch>
            <a:fillRect/>
          </a:stretch>
        </p:blipFill>
        <p:spPr>
          <a:xfrm>
            <a:off x="1676781" y="1498326"/>
            <a:ext cx="3663036" cy="4568878"/>
          </a:xfrm>
          <a:prstGeom prst="rect">
            <a:avLst/>
          </a:prstGeom>
        </p:spPr>
      </p:pic>
    </p:spTree>
    <p:custDataLst>
      <p:tags r:id="rId7"/>
    </p:custDataLst>
  </p:cSld>
  <p:clrMapOvr>
    <a:masterClrMapping/>
  </p:clrMapOvr>
  <p:transition advTm="58970"/>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图片 2" descr="剪影蓝 低版本"/>
          <p:cNvPicPr>
            <a:picLocks noChangeAspect="1"/>
          </p:cNvPicPr>
          <p:nvPr/>
        </p:nvPicPr>
        <p:blipFill>
          <a:blip r:embed="rId1"/>
          <a:srcRect l="-8"/>
          <a:stretch>
            <a:fillRect/>
          </a:stretch>
        </p:blipFill>
        <p:spPr>
          <a:xfrm>
            <a:off x="1505" y="5378386"/>
            <a:ext cx="12190495" cy="2438099"/>
          </a:xfrm>
          <a:prstGeom prst="rect">
            <a:avLst/>
          </a:prstGeom>
          <a:noFill/>
          <a:ln w="9525">
            <a:noFill/>
          </a:ln>
        </p:spPr>
      </p:pic>
      <p:sp>
        <p:nvSpPr>
          <p:cNvPr id="22" name="文本框 21"/>
          <p:cNvSpPr txBox="1"/>
          <p:nvPr/>
        </p:nvSpPr>
        <p:spPr>
          <a:xfrm>
            <a:off x="154297" y="-42999"/>
            <a:ext cx="552421" cy="874984"/>
          </a:xfrm>
          <a:prstGeom prst="rect">
            <a:avLst/>
          </a:prstGeom>
          <a:noFill/>
          <a:effectLst>
            <a:reflection blurRad="12700" stA="0" endPos="65000" dist="50800" dir="5400000" sy="-100000" algn="bl" rotWithShape="0"/>
          </a:effectLst>
        </p:spPr>
        <p:txBody>
          <a:bodyPr wrap="square" rtlCol="0">
            <a:noAutofit/>
          </a:bodyPr>
          <a:lstStyle/>
          <a:p>
            <a:r>
              <a:rPr lang="en-US" altLang="zh-CN" sz="5400" b="1" dirty="0">
                <a:solidFill>
                  <a:schemeClr val="bg1"/>
                </a:solidFill>
                <a:effectLst>
                  <a:glow>
                    <a:schemeClr val="accent1">
                      <a:alpha val="40000"/>
                    </a:schemeClr>
                  </a:glow>
                </a:effectLst>
                <a:latin typeface="Times New Roman" panose="02020503050405090304" charset="0"/>
                <a:ea typeface="微软雅黑" charset="-122"/>
                <a:cs typeface="Times New Roman" panose="02020503050405090304" charset="0"/>
              </a:rPr>
              <a:t>1</a:t>
            </a:r>
            <a:endParaRPr lang="en-US" altLang="zh-CN" sz="5400" b="1" dirty="0">
              <a:solidFill>
                <a:schemeClr val="bg1"/>
              </a:solidFill>
              <a:effectLst>
                <a:glow>
                  <a:schemeClr val="accent1">
                    <a:alpha val="40000"/>
                  </a:schemeClr>
                </a:glow>
              </a:effectLst>
              <a:latin typeface="Times New Roman" panose="02020503050405090304" charset="0"/>
              <a:ea typeface="微软雅黑" charset="-122"/>
              <a:cs typeface="Times New Roman" panose="02020503050405090304" charset="0"/>
            </a:endParaRPr>
          </a:p>
        </p:txBody>
      </p:sp>
      <p:sp>
        <p:nvSpPr>
          <p:cNvPr id="2" name="文本框 1"/>
          <p:cNvSpPr txBox="1"/>
          <p:nvPr/>
        </p:nvSpPr>
        <p:spPr>
          <a:xfrm>
            <a:off x="1094740" y="259715"/>
            <a:ext cx="6096000" cy="521970"/>
          </a:xfrm>
          <a:prstGeom prst="rect">
            <a:avLst/>
          </a:prstGeom>
          <a:noFill/>
        </p:spPr>
        <p:txBody>
          <a:bodyPr wrap="square" rtlCol="0" anchor="t">
            <a:spAutoFit/>
          </a:bodyPr>
          <a:lstStyle/>
          <a:p>
            <a:r>
              <a:rPr sz="2800" b="1">
                <a:solidFill>
                  <a:srgbClr val="000000"/>
                </a:solidFill>
                <a:latin typeface="微软雅黑" charset="-122"/>
                <a:ea typeface="微软雅黑" charset="-122"/>
                <a:cs typeface="微软雅黑" charset="-122"/>
                <a:sym typeface="+mn-ea"/>
              </a:rPr>
              <a:t>1.1 从变化率到梯度的直观引入</a:t>
            </a:r>
            <a:endParaRPr lang="zh-CN" altLang="en-US" sz="2800" b="1">
              <a:solidFill>
                <a:srgbClr val="000000"/>
              </a:solidFill>
              <a:latin typeface="微软雅黑" charset="-122"/>
              <a:ea typeface="微软雅黑" charset="-122"/>
              <a:cs typeface="微软雅黑" charset="-122"/>
              <a:sym typeface="+mn-ea"/>
            </a:endParaRPr>
          </a:p>
        </p:txBody>
      </p:sp>
      <p:sp>
        <p:nvSpPr>
          <p:cNvPr id="13" name="矩形 12"/>
          <p:cNvSpPr/>
          <p:nvPr>
            <p:custDataLst>
              <p:tags r:id="rId2"/>
            </p:custDataLst>
          </p:nvPr>
        </p:nvSpPr>
        <p:spPr>
          <a:xfrm>
            <a:off x="1353" y="600"/>
            <a:ext cx="12190495" cy="840002"/>
          </a:xfrm>
          <a:prstGeom prst="rect">
            <a:avLst/>
          </a:prstGeom>
          <a:gradFill>
            <a:gsLst>
              <a:gs pos="0">
                <a:schemeClr val="bg1"/>
              </a:gs>
              <a:gs pos="50000">
                <a:srgbClr val="5399D4"/>
              </a:gs>
              <a:gs pos="100000">
                <a:srgbClr val="2E3C63"/>
              </a:gs>
            </a:gsLst>
          </a:gradFill>
          <a:effectLst/>
        </p:spPr>
        <p:style>
          <a:lnRef idx="0">
            <a:srgbClr val="FFFFFF"/>
          </a:lnRef>
          <a:fillRef idx="2">
            <a:schemeClr val="accent1"/>
          </a:fillRef>
          <a:effectRef idx="1">
            <a:schemeClr val="accent1"/>
          </a:effectRef>
          <a:fontRef idx="minor">
            <a:schemeClr val="lt1"/>
          </a:fontRef>
        </p:style>
        <p:txBody>
          <a:bodyPr rtlCol="0" anchor="ctr"/>
          <a:lstStyle/>
          <a:p>
            <a:pPr algn="ctr" fontAlgn="base"/>
            <a:endParaRPr lang="zh-CN" altLang="en-US" sz="100" strike="noStrike" noProof="1"/>
          </a:p>
        </p:txBody>
      </p:sp>
      <p:pic>
        <p:nvPicPr>
          <p:cNvPr id="15" name="图片 14" descr="国科大标准Logo横式一（白色）"/>
          <p:cNvPicPr>
            <a:picLocks noChangeAspect="1"/>
          </p:cNvPicPr>
          <p:nvPr/>
        </p:nvPicPr>
        <p:blipFill>
          <a:blip r:embed="rId3"/>
          <a:stretch>
            <a:fillRect/>
          </a:stretch>
        </p:blipFill>
        <p:spPr>
          <a:xfrm>
            <a:off x="9815971" y="187901"/>
            <a:ext cx="2167622" cy="457144"/>
          </a:xfrm>
          <a:prstGeom prst="rect">
            <a:avLst/>
          </a:prstGeom>
        </p:spPr>
      </p:pic>
      <p:sp>
        <p:nvSpPr>
          <p:cNvPr id="3078" name="文本框 3"/>
          <p:cNvSpPr txBox="1"/>
          <p:nvPr>
            <p:custDataLst>
              <p:tags r:id="rId4"/>
            </p:custDataLst>
          </p:nvPr>
        </p:nvSpPr>
        <p:spPr>
          <a:xfrm>
            <a:off x="46644" y="-47231"/>
            <a:ext cx="850795" cy="919366"/>
          </a:xfrm>
          <a:prstGeom prst="rect">
            <a:avLst/>
          </a:prstGeom>
          <a:noFill/>
          <a:ln w="12700" cmpd="sng">
            <a:noFill/>
            <a:prstDash val="solid"/>
          </a:ln>
          <a:effectLst>
            <a:outerShdw dist="63500" dir="2700000" algn="tl" rotWithShape="0">
              <a:schemeClr val="bg1">
                <a:alpha val="100000"/>
              </a:schemeClr>
            </a:outerShdw>
          </a:effectLst>
        </p:spPr>
        <p:txBody>
          <a:bodyPr wrap="square" anchor="t" anchorCtr="0"/>
          <a:lstStyle/>
          <a:p>
            <a:pPr>
              <a:lnSpc>
                <a:spcPct val="130000"/>
              </a:lnSpc>
            </a:pPr>
            <a:r>
              <a:rPr lang="en-US" altLang="zh-CN" sz="4000" i="1" dirty="0">
                <a:ln w="19050">
                  <a:noFill/>
                </a:ln>
                <a:gradFill>
                  <a:gsLst>
                    <a:gs pos="39000">
                      <a:srgbClr val="5399D4"/>
                    </a:gs>
                    <a:gs pos="100000">
                      <a:schemeClr val="bg1"/>
                    </a:gs>
                  </a:gsLst>
                  <a:lin ang="5400000" scaled="0"/>
                </a:gradFill>
                <a:latin typeface="Bauhaus 93" panose="04030905020B02020C02" charset="0"/>
                <a:ea typeface="造字工房朗倩（非商用）常规体" charset="-122"/>
                <a:cs typeface="Bauhaus 93" panose="04030905020B02020C02" charset="0"/>
              </a:rPr>
              <a:t>01</a:t>
            </a:r>
            <a:endParaRPr lang="en-US" altLang="zh-CN" sz="4000" i="1" dirty="0">
              <a:ln w="19050">
                <a:noFill/>
              </a:ln>
              <a:gradFill>
                <a:gsLst>
                  <a:gs pos="39000">
                    <a:srgbClr val="5399D4"/>
                  </a:gs>
                  <a:gs pos="100000">
                    <a:schemeClr val="bg1"/>
                  </a:gs>
                </a:gsLst>
                <a:lin ang="5400000" scaled="0"/>
              </a:gradFill>
              <a:latin typeface="Bauhaus 93" panose="04030905020B02020C02" charset="0"/>
              <a:ea typeface="造字工房朗倩（非商用）常规体" charset="-122"/>
              <a:cs typeface="Bauhaus 93" panose="04030905020B02020C02" charset="0"/>
            </a:endParaRPr>
          </a:p>
        </p:txBody>
      </p:sp>
      <p:sp>
        <p:nvSpPr>
          <p:cNvPr id="16" name="文本框 15"/>
          <p:cNvSpPr txBox="1"/>
          <p:nvPr>
            <p:custDataLst>
              <p:tags r:id="rId5"/>
            </p:custDataLst>
          </p:nvPr>
        </p:nvSpPr>
        <p:spPr>
          <a:xfrm>
            <a:off x="897439" y="151711"/>
            <a:ext cx="8441283" cy="537779"/>
          </a:xfrm>
          <a:prstGeom prst="rect">
            <a:avLst/>
          </a:prstGeom>
          <a:noFill/>
        </p:spPr>
        <p:txBody>
          <a:bodyPr wrap="square" rtlCol="0">
            <a:noAutofit/>
          </a:bodyPr>
          <a:lstStyle/>
          <a:p>
            <a:r>
              <a:rPr lang="en-US" altLang="zh-CN" sz="3600" b="1" dirty="0">
                <a:solidFill>
                  <a:schemeClr val="tx1"/>
                </a:solidFill>
              </a:rPr>
              <a:t>Parameter Efficient Methods</a:t>
            </a:r>
            <a:endParaRPr lang="zh-CN" altLang="en-US" sz="3600" b="1" dirty="0">
              <a:solidFill>
                <a:schemeClr val="tx1"/>
              </a:solidFill>
            </a:endParaRPr>
          </a:p>
        </p:txBody>
      </p:sp>
      <p:sp>
        <p:nvSpPr>
          <p:cNvPr id="17" name="灯片编号占位符 16"/>
          <p:cNvSpPr>
            <a:spLocks noGrp="1"/>
          </p:cNvSpPr>
          <p:nvPr>
            <p:ph type="sldNum" sz="quarter" idx="12"/>
          </p:nvPr>
        </p:nvSpPr>
        <p:spPr/>
        <p:txBody>
          <a:bodyPr>
            <a:noAutofit/>
          </a:bodyPr>
          <a:lstStyle/>
          <a:p>
            <a:pPr algn="l" fontAlgn="auto"/>
            <a:fld id="{49AE70B2-8BF9-45C0-BB95-33D1B9D3A854}" type="slidenum">
              <a:rPr lang="zh-CN" altLang="en-US" sz="1800" strike="noStrike" noProof="1" smtClean="0">
                <a:solidFill>
                  <a:schemeClr val="tx1"/>
                </a:solidFill>
                <a:latin typeface="+mn-lt"/>
                <a:ea typeface="+mn-ea"/>
                <a:cs typeface="+mn-cs"/>
              </a:rPr>
            </a:fld>
            <a:endParaRPr lang="zh-CN" altLang="en-US" sz="1800" strike="noStrike" noProof="1">
              <a:solidFill>
                <a:schemeClr val="tx1"/>
              </a:solidFill>
              <a:latin typeface="+mn-lt"/>
              <a:ea typeface="+mn-ea"/>
              <a:cs typeface="+mn-cs"/>
            </a:endParaRPr>
          </a:p>
        </p:txBody>
      </p:sp>
      <p:sp>
        <p:nvSpPr>
          <p:cNvPr id="14" name="文本框 13"/>
          <p:cNvSpPr txBox="1"/>
          <p:nvPr/>
        </p:nvSpPr>
        <p:spPr>
          <a:xfrm>
            <a:off x="706755" y="870585"/>
            <a:ext cx="7586322" cy="658835"/>
          </a:xfrm>
          <a:prstGeom prst="rect">
            <a:avLst/>
          </a:prstGeom>
          <a:noFill/>
        </p:spPr>
        <p:txBody>
          <a:bodyPr wrap="square" rtlCol="0" anchor="t">
            <a:spAutoFit/>
          </a:bodyPr>
          <a:lstStyle/>
          <a:p>
            <a:pPr lvl="1" indent="-457200" algn="l" defTabSz="914400" fontAlgn="base">
              <a:lnSpc>
                <a:spcPct val="150000"/>
              </a:lnSpc>
              <a:buClrTx/>
              <a:buSzTx/>
              <a:buFont typeface="Wingdings" panose="05000000000000000000" pitchFamily="2" charset="2"/>
              <a:buChar char="Ø"/>
            </a:pPr>
            <a:r>
              <a:rPr lang="en-US" altLang="zh-CN" sz="2800" dirty="0">
                <a:solidFill>
                  <a:sysClr val="windowText" lastClr="000000"/>
                </a:solidFill>
                <a:latin typeface="Arial" panose="020B0604020202090204" pitchFamily="34" charset="0"/>
                <a:ea typeface="微软雅黑" charset="-122"/>
                <a:sym typeface="+mn-ea"/>
              </a:rPr>
              <a:t>1</a:t>
            </a:r>
            <a:r>
              <a:rPr lang="zh-CN" altLang="en-US" sz="2800" dirty="0">
                <a:solidFill>
                  <a:sysClr val="windowText" lastClr="000000"/>
                </a:solidFill>
                <a:latin typeface="Arial" panose="020B0604020202090204" pitchFamily="34" charset="0"/>
                <a:ea typeface="微软雅黑" charset="-122"/>
                <a:sym typeface="+mn-ea"/>
              </a:rPr>
              <a:t>.</a:t>
            </a:r>
            <a:r>
              <a:rPr lang="en-US" altLang="zh-CN" sz="2800" dirty="0">
                <a:solidFill>
                  <a:sysClr val="windowText" lastClr="000000"/>
                </a:solidFill>
                <a:latin typeface="Arial" panose="020B0604020202090204" pitchFamily="34" charset="0"/>
                <a:ea typeface="微软雅黑" charset="-122"/>
                <a:sym typeface="+mn-ea"/>
              </a:rPr>
              <a:t>1 ControlNet</a:t>
            </a:r>
            <a:endParaRPr lang="zh-CN" altLang="en-US" sz="2800" dirty="0">
              <a:solidFill>
                <a:sysClr val="windowText" lastClr="000000"/>
              </a:solidFill>
              <a:latin typeface="Arial" panose="020B0604020202090204" pitchFamily="34" charset="0"/>
              <a:ea typeface="微软雅黑" charset="-122"/>
              <a:sym typeface="+mn-ea"/>
            </a:endParaRPr>
          </a:p>
        </p:txBody>
      </p:sp>
      <p:pic>
        <p:nvPicPr>
          <p:cNvPr id="8" name="图片 7"/>
          <p:cNvPicPr>
            <a:picLocks noChangeAspect="1"/>
          </p:cNvPicPr>
          <p:nvPr/>
        </p:nvPicPr>
        <p:blipFill>
          <a:blip r:embed="rId6"/>
          <a:stretch>
            <a:fillRect/>
          </a:stretch>
        </p:blipFill>
        <p:spPr>
          <a:xfrm>
            <a:off x="472041" y="2882954"/>
            <a:ext cx="2233504" cy="2758040"/>
          </a:xfrm>
          <a:prstGeom prst="rect">
            <a:avLst/>
          </a:prstGeom>
        </p:spPr>
      </p:pic>
      <p:pic>
        <p:nvPicPr>
          <p:cNvPr id="10" name="图片 9"/>
          <p:cNvPicPr>
            <a:picLocks noChangeAspect="1"/>
          </p:cNvPicPr>
          <p:nvPr/>
        </p:nvPicPr>
        <p:blipFill>
          <a:blip r:embed="rId7"/>
          <a:stretch>
            <a:fillRect/>
          </a:stretch>
        </p:blipFill>
        <p:spPr>
          <a:xfrm>
            <a:off x="3176082" y="2906299"/>
            <a:ext cx="2277962" cy="2734696"/>
          </a:xfrm>
          <a:prstGeom prst="rect">
            <a:avLst/>
          </a:prstGeom>
        </p:spPr>
      </p:pic>
      <p:pic>
        <p:nvPicPr>
          <p:cNvPr id="12" name="图片 11"/>
          <p:cNvPicPr>
            <a:picLocks noChangeAspect="1"/>
          </p:cNvPicPr>
          <p:nvPr/>
        </p:nvPicPr>
        <p:blipFill>
          <a:blip r:embed="rId8"/>
          <a:stretch>
            <a:fillRect/>
          </a:stretch>
        </p:blipFill>
        <p:spPr>
          <a:xfrm>
            <a:off x="5991050" y="2906299"/>
            <a:ext cx="2307926" cy="2734696"/>
          </a:xfrm>
          <a:prstGeom prst="rect">
            <a:avLst/>
          </a:prstGeom>
        </p:spPr>
      </p:pic>
      <p:pic>
        <p:nvPicPr>
          <p:cNvPr id="21" name="图片 20"/>
          <p:cNvPicPr>
            <a:picLocks noChangeAspect="1"/>
          </p:cNvPicPr>
          <p:nvPr/>
        </p:nvPicPr>
        <p:blipFill>
          <a:blip r:embed="rId9"/>
          <a:stretch>
            <a:fillRect/>
          </a:stretch>
        </p:blipFill>
        <p:spPr>
          <a:xfrm>
            <a:off x="8877138" y="2882954"/>
            <a:ext cx="2256578" cy="2758040"/>
          </a:xfrm>
          <a:prstGeom prst="rect">
            <a:avLst/>
          </a:prstGeom>
        </p:spPr>
      </p:pic>
      <p:sp>
        <p:nvSpPr>
          <p:cNvPr id="23" name="矩形: 圆角 22"/>
          <p:cNvSpPr/>
          <p:nvPr/>
        </p:nvSpPr>
        <p:spPr>
          <a:xfrm>
            <a:off x="368383" y="1715559"/>
            <a:ext cx="2233503" cy="8896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Reference Image</a:t>
            </a:r>
            <a:endParaRPr lang="zh-CN" altLang="en-US" dirty="0"/>
          </a:p>
        </p:txBody>
      </p:sp>
      <p:sp>
        <p:nvSpPr>
          <p:cNvPr id="26" name="矩形: 圆角 25"/>
          <p:cNvSpPr/>
          <p:nvPr/>
        </p:nvSpPr>
        <p:spPr>
          <a:xfrm>
            <a:off x="3185975" y="1713740"/>
            <a:ext cx="2494670" cy="88964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Preprocessor (Canny /Depth / </a:t>
            </a:r>
            <a:r>
              <a:rPr lang="en-US" altLang="zh-CN" dirty="0" err="1"/>
              <a:t>OpenPose</a:t>
            </a:r>
            <a:r>
              <a:rPr lang="en-US" altLang="zh-CN" dirty="0"/>
              <a:t>)</a:t>
            </a:r>
            <a:endParaRPr lang="zh-CN" altLang="en-US" dirty="0"/>
          </a:p>
        </p:txBody>
      </p:sp>
      <p:sp>
        <p:nvSpPr>
          <p:cNvPr id="27" name="矩形: 圆角 26"/>
          <p:cNvSpPr/>
          <p:nvPr/>
        </p:nvSpPr>
        <p:spPr>
          <a:xfrm>
            <a:off x="9184568" y="1715559"/>
            <a:ext cx="2494670" cy="88964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ControlNet + SD Inference</a:t>
            </a:r>
            <a:endParaRPr lang="zh-CN" altLang="en-US" dirty="0"/>
          </a:p>
        </p:txBody>
      </p:sp>
      <p:sp>
        <p:nvSpPr>
          <p:cNvPr id="28" name="矩形: 圆角 27"/>
          <p:cNvSpPr/>
          <p:nvPr/>
        </p:nvSpPr>
        <p:spPr>
          <a:xfrm>
            <a:off x="6210300" y="1713739"/>
            <a:ext cx="2494670" cy="88964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Conditioning Map</a:t>
            </a:r>
            <a:endParaRPr lang="zh-CN" altLang="en-US" dirty="0"/>
          </a:p>
        </p:txBody>
      </p:sp>
      <p:cxnSp>
        <p:nvCxnSpPr>
          <p:cNvPr id="25" name="直接箭头连接符 24"/>
          <p:cNvCxnSpPr>
            <a:stCxn id="23" idx="3"/>
            <a:endCxn id="26" idx="1"/>
          </p:cNvCxnSpPr>
          <p:nvPr/>
        </p:nvCxnSpPr>
        <p:spPr>
          <a:xfrm flipV="1">
            <a:off x="2601886" y="2158564"/>
            <a:ext cx="584089" cy="1818"/>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a:stCxn id="26" idx="3"/>
            <a:endCxn id="28" idx="1"/>
          </p:cNvCxnSpPr>
          <p:nvPr/>
        </p:nvCxnSpPr>
        <p:spPr>
          <a:xfrm flipV="1">
            <a:off x="5680645" y="2158563"/>
            <a:ext cx="529655" cy="1"/>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34" name="直接箭头连接符 33"/>
          <p:cNvCxnSpPr>
            <a:stCxn id="28" idx="3"/>
            <a:endCxn id="27" idx="1"/>
          </p:cNvCxnSpPr>
          <p:nvPr/>
        </p:nvCxnSpPr>
        <p:spPr>
          <a:xfrm>
            <a:off x="8704970" y="2158563"/>
            <a:ext cx="479598" cy="182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Tree>
    <p:custDataLst>
      <p:tags r:id="rId10"/>
    </p:custDataLst>
  </p:cSld>
  <p:clrMapOvr>
    <a:masterClrMapping/>
  </p:clrMapOvr>
  <p:transition advTm="58970"/>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图片 2" descr="剪影蓝 低版本"/>
          <p:cNvPicPr>
            <a:picLocks noChangeAspect="1"/>
          </p:cNvPicPr>
          <p:nvPr/>
        </p:nvPicPr>
        <p:blipFill>
          <a:blip r:embed="rId1"/>
          <a:srcRect l="-8"/>
          <a:stretch>
            <a:fillRect/>
          </a:stretch>
        </p:blipFill>
        <p:spPr>
          <a:xfrm>
            <a:off x="1505" y="5378386"/>
            <a:ext cx="12190495" cy="2438099"/>
          </a:xfrm>
          <a:prstGeom prst="rect">
            <a:avLst/>
          </a:prstGeom>
          <a:noFill/>
          <a:ln w="9525">
            <a:noFill/>
          </a:ln>
        </p:spPr>
      </p:pic>
      <p:sp>
        <p:nvSpPr>
          <p:cNvPr id="22" name="文本框 21"/>
          <p:cNvSpPr txBox="1"/>
          <p:nvPr/>
        </p:nvSpPr>
        <p:spPr>
          <a:xfrm>
            <a:off x="154297" y="-42999"/>
            <a:ext cx="552421" cy="874984"/>
          </a:xfrm>
          <a:prstGeom prst="rect">
            <a:avLst/>
          </a:prstGeom>
          <a:noFill/>
          <a:effectLst>
            <a:reflection blurRad="12700" stA="0" endPos="65000" dist="50800" dir="5400000" sy="-100000" algn="bl" rotWithShape="0"/>
          </a:effectLst>
        </p:spPr>
        <p:txBody>
          <a:bodyPr wrap="square" rtlCol="0">
            <a:noAutofit/>
          </a:bodyPr>
          <a:lstStyle/>
          <a:p>
            <a:r>
              <a:rPr lang="en-US" altLang="zh-CN" sz="5400" b="1" dirty="0">
                <a:solidFill>
                  <a:schemeClr val="bg1"/>
                </a:solidFill>
                <a:effectLst>
                  <a:glow>
                    <a:schemeClr val="accent1">
                      <a:alpha val="40000"/>
                    </a:schemeClr>
                  </a:glow>
                </a:effectLst>
                <a:latin typeface="Times New Roman" panose="02020503050405090304" charset="0"/>
                <a:ea typeface="微软雅黑" charset="-122"/>
                <a:cs typeface="Times New Roman" panose="02020503050405090304" charset="0"/>
              </a:rPr>
              <a:t>1</a:t>
            </a:r>
            <a:endParaRPr lang="en-US" altLang="zh-CN" sz="5400" b="1" dirty="0">
              <a:solidFill>
                <a:schemeClr val="bg1"/>
              </a:solidFill>
              <a:effectLst>
                <a:glow>
                  <a:schemeClr val="accent1">
                    <a:alpha val="40000"/>
                  </a:schemeClr>
                </a:glow>
              </a:effectLst>
              <a:latin typeface="Times New Roman" panose="02020503050405090304" charset="0"/>
              <a:ea typeface="微软雅黑" charset="-122"/>
              <a:cs typeface="Times New Roman" panose="02020503050405090304" charset="0"/>
            </a:endParaRPr>
          </a:p>
        </p:txBody>
      </p:sp>
      <p:sp>
        <p:nvSpPr>
          <p:cNvPr id="2" name="文本框 1"/>
          <p:cNvSpPr txBox="1"/>
          <p:nvPr/>
        </p:nvSpPr>
        <p:spPr>
          <a:xfrm>
            <a:off x="1094740" y="259715"/>
            <a:ext cx="6096000" cy="521970"/>
          </a:xfrm>
          <a:prstGeom prst="rect">
            <a:avLst/>
          </a:prstGeom>
          <a:noFill/>
        </p:spPr>
        <p:txBody>
          <a:bodyPr wrap="square" rtlCol="0" anchor="t">
            <a:spAutoFit/>
          </a:bodyPr>
          <a:lstStyle/>
          <a:p>
            <a:r>
              <a:rPr sz="2800" b="1">
                <a:solidFill>
                  <a:srgbClr val="000000"/>
                </a:solidFill>
                <a:latin typeface="微软雅黑" charset="-122"/>
                <a:ea typeface="微软雅黑" charset="-122"/>
                <a:cs typeface="微软雅黑" charset="-122"/>
                <a:sym typeface="+mn-ea"/>
              </a:rPr>
              <a:t>1.1 从变化率到梯度的直观引入</a:t>
            </a:r>
            <a:endParaRPr lang="zh-CN" altLang="en-US" sz="2800" b="1">
              <a:solidFill>
                <a:srgbClr val="000000"/>
              </a:solidFill>
              <a:latin typeface="微软雅黑" charset="-122"/>
              <a:ea typeface="微软雅黑" charset="-122"/>
              <a:cs typeface="微软雅黑" charset="-122"/>
              <a:sym typeface="+mn-ea"/>
            </a:endParaRPr>
          </a:p>
        </p:txBody>
      </p:sp>
      <p:sp>
        <p:nvSpPr>
          <p:cNvPr id="13" name="矩形 12"/>
          <p:cNvSpPr/>
          <p:nvPr>
            <p:custDataLst>
              <p:tags r:id="rId2"/>
            </p:custDataLst>
          </p:nvPr>
        </p:nvSpPr>
        <p:spPr>
          <a:xfrm>
            <a:off x="1353" y="600"/>
            <a:ext cx="12190495" cy="840002"/>
          </a:xfrm>
          <a:prstGeom prst="rect">
            <a:avLst/>
          </a:prstGeom>
          <a:gradFill>
            <a:gsLst>
              <a:gs pos="0">
                <a:schemeClr val="bg1"/>
              </a:gs>
              <a:gs pos="50000">
                <a:srgbClr val="5399D4"/>
              </a:gs>
              <a:gs pos="100000">
                <a:srgbClr val="2E3C63"/>
              </a:gs>
            </a:gsLst>
          </a:gradFill>
          <a:effectLst/>
        </p:spPr>
        <p:style>
          <a:lnRef idx="0">
            <a:srgbClr val="FFFFFF"/>
          </a:lnRef>
          <a:fillRef idx="2">
            <a:schemeClr val="accent1"/>
          </a:fillRef>
          <a:effectRef idx="1">
            <a:schemeClr val="accent1"/>
          </a:effectRef>
          <a:fontRef idx="minor">
            <a:schemeClr val="lt1"/>
          </a:fontRef>
        </p:style>
        <p:txBody>
          <a:bodyPr rtlCol="0" anchor="ctr"/>
          <a:lstStyle/>
          <a:p>
            <a:pPr algn="ctr" fontAlgn="base"/>
            <a:endParaRPr lang="zh-CN" altLang="en-US" sz="100" strike="noStrike" noProof="1"/>
          </a:p>
        </p:txBody>
      </p:sp>
      <p:pic>
        <p:nvPicPr>
          <p:cNvPr id="15" name="图片 14" descr="国科大标准Logo横式一（白色）"/>
          <p:cNvPicPr>
            <a:picLocks noChangeAspect="1"/>
          </p:cNvPicPr>
          <p:nvPr/>
        </p:nvPicPr>
        <p:blipFill>
          <a:blip r:embed="rId3"/>
          <a:stretch>
            <a:fillRect/>
          </a:stretch>
        </p:blipFill>
        <p:spPr>
          <a:xfrm>
            <a:off x="9815971" y="187901"/>
            <a:ext cx="2167622" cy="457144"/>
          </a:xfrm>
          <a:prstGeom prst="rect">
            <a:avLst/>
          </a:prstGeom>
        </p:spPr>
      </p:pic>
      <p:sp>
        <p:nvSpPr>
          <p:cNvPr id="3078" name="文本框 3"/>
          <p:cNvSpPr txBox="1"/>
          <p:nvPr>
            <p:custDataLst>
              <p:tags r:id="rId4"/>
            </p:custDataLst>
          </p:nvPr>
        </p:nvSpPr>
        <p:spPr>
          <a:xfrm>
            <a:off x="46644" y="-47231"/>
            <a:ext cx="850795" cy="919366"/>
          </a:xfrm>
          <a:prstGeom prst="rect">
            <a:avLst/>
          </a:prstGeom>
          <a:noFill/>
          <a:ln w="12700" cmpd="sng">
            <a:noFill/>
            <a:prstDash val="solid"/>
          </a:ln>
          <a:effectLst>
            <a:outerShdw dist="63500" dir="2700000" algn="tl" rotWithShape="0">
              <a:schemeClr val="bg1">
                <a:alpha val="100000"/>
              </a:schemeClr>
            </a:outerShdw>
          </a:effectLst>
        </p:spPr>
        <p:txBody>
          <a:bodyPr wrap="square" anchor="t" anchorCtr="0"/>
          <a:lstStyle/>
          <a:p>
            <a:pPr>
              <a:lnSpc>
                <a:spcPct val="130000"/>
              </a:lnSpc>
            </a:pPr>
            <a:r>
              <a:rPr lang="en-US" altLang="zh-CN" sz="4000" i="1" dirty="0">
                <a:ln w="19050">
                  <a:noFill/>
                </a:ln>
                <a:gradFill>
                  <a:gsLst>
                    <a:gs pos="39000">
                      <a:srgbClr val="5399D4"/>
                    </a:gs>
                    <a:gs pos="100000">
                      <a:schemeClr val="bg1"/>
                    </a:gs>
                  </a:gsLst>
                  <a:lin ang="5400000" scaled="0"/>
                </a:gradFill>
                <a:latin typeface="Bauhaus 93" panose="04030905020B02020C02" charset="0"/>
                <a:ea typeface="造字工房朗倩（非商用）常规体" charset="-122"/>
                <a:cs typeface="Bauhaus 93" panose="04030905020B02020C02" charset="0"/>
              </a:rPr>
              <a:t>01</a:t>
            </a:r>
            <a:endParaRPr lang="en-US" altLang="zh-CN" sz="4000" i="1" dirty="0">
              <a:ln w="19050">
                <a:noFill/>
              </a:ln>
              <a:gradFill>
                <a:gsLst>
                  <a:gs pos="39000">
                    <a:srgbClr val="5399D4"/>
                  </a:gs>
                  <a:gs pos="100000">
                    <a:schemeClr val="bg1"/>
                  </a:gs>
                </a:gsLst>
                <a:lin ang="5400000" scaled="0"/>
              </a:gradFill>
              <a:latin typeface="Bauhaus 93" panose="04030905020B02020C02" charset="0"/>
              <a:ea typeface="造字工房朗倩（非商用）常规体" charset="-122"/>
              <a:cs typeface="Bauhaus 93" panose="04030905020B02020C02" charset="0"/>
            </a:endParaRPr>
          </a:p>
        </p:txBody>
      </p:sp>
      <p:sp>
        <p:nvSpPr>
          <p:cNvPr id="16" name="文本框 15"/>
          <p:cNvSpPr txBox="1"/>
          <p:nvPr>
            <p:custDataLst>
              <p:tags r:id="rId5"/>
            </p:custDataLst>
          </p:nvPr>
        </p:nvSpPr>
        <p:spPr>
          <a:xfrm>
            <a:off x="897439" y="151711"/>
            <a:ext cx="8441283" cy="537779"/>
          </a:xfrm>
          <a:prstGeom prst="rect">
            <a:avLst/>
          </a:prstGeom>
          <a:noFill/>
        </p:spPr>
        <p:txBody>
          <a:bodyPr wrap="square" rtlCol="0">
            <a:noAutofit/>
          </a:bodyPr>
          <a:lstStyle/>
          <a:p>
            <a:r>
              <a:rPr lang="en-US" altLang="zh-CN" sz="3600" b="1" dirty="0">
                <a:solidFill>
                  <a:schemeClr val="tx1"/>
                </a:solidFill>
              </a:rPr>
              <a:t>Parameter Efficient Methods</a:t>
            </a:r>
            <a:endParaRPr lang="zh-CN" altLang="en-US" sz="3600" b="1" dirty="0">
              <a:solidFill>
                <a:schemeClr val="tx1"/>
              </a:solidFill>
            </a:endParaRPr>
          </a:p>
        </p:txBody>
      </p:sp>
      <p:sp>
        <p:nvSpPr>
          <p:cNvPr id="17" name="灯片编号占位符 16"/>
          <p:cNvSpPr>
            <a:spLocks noGrp="1"/>
          </p:cNvSpPr>
          <p:nvPr>
            <p:ph type="sldNum" sz="quarter" idx="12"/>
          </p:nvPr>
        </p:nvSpPr>
        <p:spPr/>
        <p:txBody>
          <a:bodyPr>
            <a:noAutofit/>
          </a:bodyPr>
          <a:lstStyle/>
          <a:p>
            <a:pPr algn="l" fontAlgn="auto"/>
            <a:fld id="{49AE70B2-8BF9-45C0-BB95-33D1B9D3A854}" type="slidenum">
              <a:rPr lang="zh-CN" altLang="en-US" sz="1800" strike="noStrike" noProof="1" smtClean="0">
                <a:solidFill>
                  <a:schemeClr val="tx1"/>
                </a:solidFill>
                <a:latin typeface="+mn-lt"/>
                <a:ea typeface="+mn-ea"/>
                <a:cs typeface="+mn-cs"/>
              </a:rPr>
            </a:fld>
            <a:endParaRPr lang="zh-CN" altLang="en-US" sz="1800" strike="noStrike" noProof="1">
              <a:solidFill>
                <a:schemeClr val="tx1"/>
              </a:solidFill>
              <a:latin typeface="+mn-lt"/>
              <a:ea typeface="+mn-ea"/>
              <a:cs typeface="+mn-cs"/>
            </a:endParaRPr>
          </a:p>
        </p:txBody>
      </p:sp>
      <p:sp>
        <p:nvSpPr>
          <p:cNvPr id="14" name="文本框 13"/>
          <p:cNvSpPr txBox="1"/>
          <p:nvPr/>
        </p:nvSpPr>
        <p:spPr>
          <a:xfrm>
            <a:off x="706755" y="870585"/>
            <a:ext cx="7586322" cy="658835"/>
          </a:xfrm>
          <a:prstGeom prst="rect">
            <a:avLst/>
          </a:prstGeom>
          <a:noFill/>
        </p:spPr>
        <p:txBody>
          <a:bodyPr wrap="square" rtlCol="0" anchor="t">
            <a:spAutoFit/>
          </a:bodyPr>
          <a:lstStyle/>
          <a:p>
            <a:pPr lvl="1" indent="-457200" algn="l" defTabSz="914400" fontAlgn="base">
              <a:lnSpc>
                <a:spcPct val="150000"/>
              </a:lnSpc>
              <a:buClrTx/>
              <a:buSzTx/>
              <a:buFont typeface="Wingdings" panose="05000000000000000000" pitchFamily="2" charset="2"/>
              <a:buChar char="Ø"/>
            </a:pPr>
            <a:r>
              <a:rPr lang="en-US" altLang="zh-CN" sz="2800" dirty="0">
                <a:solidFill>
                  <a:sysClr val="windowText" lastClr="000000"/>
                </a:solidFill>
                <a:latin typeface="Arial" panose="020B0604020202090204" pitchFamily="34" charset="0"/>
                <a:ea typeface="微软雅黑" charset="-122"/>
                <a:sym typeface="+mn-ea"/>
              </a:rPr>
              <a:t>1</a:t>
            </a:r>
            <a:r>
              <a:rPr lang="zh-CN" altLang="en-US" sz="2800" dirty="0">
                <a:solidFill>
                  <a:sysClr val="windowText" lastClr="000000"/>
                </a:solidFill>
                <a:latin typeface="Arial" panose="020B0604020202090204" pitchFamily="34" charset="0"/>
                <a:ea typeface="微软雅黑" charset="-122"/>
                <a:sym typeface="+mn-ea"/>
              </a:rPr>
              <a:t>.</a:t>
            </a:r>
            <a:r>
              <a:rPr lang="en-US" altLang="zh-CN" sz="2800" dirty="0">
                <a:solidFill>
                  <a:sysClr val="windowText" lastClr="000000"/>
                </a:solidFill>
                <a:latin typeface="Arial" panose="020B0604020202090204" pitchFamily="34" charset="0"/>
                <a:ea typeface="微软雅黑" charset="-122"/>
                <a:sym typeface="+mn-ea"/>
              </a:rPr>
              <a:t>1 ControlNet</a:t>
            </a:r>
            <a:endParaRPr lang="zh-CN" altLang="en-US" sz="2800" dirty="0">
              <a:solidFill>
                <a:sysClr val="windowText" lastClr="000000"/>
              </a:solidFill>
              <a:latin typeface="Arial" panose="020B0604020202090204" pitchFamily="34" charset="0"/>
              <a:ea typeface="微软雅黑" charset="-122"/>
              <a:sym typeface="+mn-ea"/>
            </a:endParaRPr>
          </a:p>
        </p:txBody>
      </p:sp>
      <p:pic>
        <p:nvPicPr>
          <p:cNvPr id="24" name="图片 23"/>
          <p:cNvPicPr>
            <a:picLocks noChangeAspect="1"/>
          </p:cNvPicPr>
          <p:nvPr/>
        </p:nvPicPr>
        <p:blipFill>
          <a:blip r:embed="rId6"/>
          <a:stretch>
            <a:fillRect/>
          </a:stretch>
        </p:blipFill>
        <p:spPr>
          <a:xfrm>
            <a:off x="2087967" y="2054992"/>
            <a:ext cx="7334096" cy="3229576"/>
          </a:xfrm>
          <a:prstGeom prst="rect">
            <a:avLst/>
          </a:prstGeom>
        </p:spPr>
      </p:pic>
      <p:sp>
        <p:nvSpPr>
          <p:cNvPr id="29" name="文本框 28"/>
          <p:cNvSpPr txBox="1"/>
          <p:nvPr/>
        </p:nvSpPr>
        <p:spPr>
          <a:xfrm>
            <a:off x="1327993" y="1592604"/>
            <a:ext cx="4179346" cy="338554"/>
          </a:xfrm>
          <a:prstGeom prst="rect">
            <a:avLst/>
          </a:prstGeom>
          <a:noFill/>
        </p:spPr>
        <p:txBody>
          <a:bodyPr wrap="square">
            <a:spAutoFit/>
          </a:bodyPr>
          <a:lstStyle/>
          <a:p>
            <a:r>
              <a:rPr lang="en-US" altLang="zh-CN" sz="1600" dirty="0">
                <a:solidFill>
                  <a:schemeClr val="tx1">
                    <a:lumMod val="65000"/>
                    <a:lumOff val="35000"/>
                  </a:schemeClr>
                </a:solidFill>
                <a:latin typeface="微软雅黑" charset="-122"/>
                <a:ea typeface="微软雅黑" charset="-122"/>
              </a:rPr>
              <a:t>ControlNet</a:t>
            </a:r>
            <a:r>
              <a:rPr lang="zh-CN" altLang="en-US" sz="1600" dirty="0">
                <a:solidFill>
                  <a:schemeClr val="tx1">
                    <a:lumMod val="65000"/>
                    <a:lumOff val="35000"/>
                  </a:schemeClr>
                </a:solidFill>
                <a:latin typeface="微软雅黑" charset="-122"/>
                <a:ea typeface="微软雅黑" charset="-122"/>
              </a:rPr>
              <a:t>模型的最小单元结构示意图</a:t>
            </a:r>
            <a:endParaRPr lang="zh-CN" altLang="en-US" sz="1600" dirty="0">
              <a:solidFill>
                <a:schemeClr val="tx1">
                  <a:lumMod val="65000"/>
                  <a:lumOff val="35000"/>
                </a:schemeClr>
              </a:solidFill>
              <a:latin typeface="微软雅黑" charset="-122"/>
              <a:ea typeface="微软雅黑" charset="-122"/>
            </a:endParaRPr>
          </a:p>
        </p:txBody>
      </p:sp>
      <p:sp>
        <p:nvSpPr>
          <p:cNvPr id="30" name="矩形 29"/>
          <p:cNvSpPr/>
          <p:nvPr/>
        </p:nvSpPr>
        <p:spPr>
          <a:xfrm>
            <a:off x="1994211" y="2163848"/>
            <a:ext cx="2326504" cy="324455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p:cNvSpPr/>
          <p:nvPr/>
        </p:nvSpPr>
        <p:spPr>
          <a:xfrm>
            <a:off x="4701345" y="2163847"/>
            <a:ext cx="4107607" cy="324455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文本框 32"/>
          <p:cNvSpPr txBox="1"/>
          <p:nvPr/>
        </p:nvSpPr>
        <p:spPr>
          <a:xfrm>
            <a:off x="154297" y="2668324"/>
            <a:ext cx="1736687" cy="2062103"/>
          </a:xfrm>
          <a:prstGeom prst="rect">
            <a:avLst/>
          </a:prstGeom>
          <a:noFill/>
        </p:spPr>
        <p:txBody>
          <a:bodyPr wrap="square">
            <a:spAutoFit/>
          </a:bodyPr>
          <a:lstStyle/>
          <a:p>
            <a:r>
              <a:rPr lang="zh-CN" altLang="en-US" sz="1600" dirty="0">
                <a:solidFill>
                  <a:schemeClr val="tx1">
                    <a:lumMod val="65000"/>
                    <a:lumOff val="35000"/>
                  </a:schemeClr>
                </a:solidFill>
                <a:latin typeface="微软雅黑" charset="-122"/>
                <a:ea typeface="微软雅黑" charset="-122"/>
              </a:rPr>
              <a:t>锁定副本</a:t>
            </a:r>
            <a:r>
              <a:rPr lang="en-US" altLang="zh-CN" sz="1600" dirty="0">
                <a:solidFill>
                  <a:schemeClr val="tx1">
                    <a:lumMod val="65000"/>
                    <a:lumOff val="35000"/>
                  </a:schemeClr>
                </a:solidFill>
                <a:latin typeface="微软雅黑" charset="-122"/>
                <a:ea typeface="微软雅黑" charset="-122"/>
              </a:rPr>
              <a:t>(Locked): </a:t>
            </a:r>
            <a:r>
              <a:rPr lang="zh-CN" altLang="en-US" sz="1600" dirty="0">
                <a:solidFill>
                  <a:schemeClr val="tx1">
                    <a:lumMod val="65000"/>
                    <a:lumOff val="35000"/>
                  </a:schemeClr>
                </a:solidFill>
                <a:latin typeface="微软雅黑" charset="-122"/>
                <a:ea typeface="微软雅黑" charset="-122"/>
              </a:rPr>
              <a:t>冻结参数。保护了预训练模型从数十亿图像中学习到的常识和生成能力</a:t>
            </a:r>
            <a:r>
              <a:rPr lang="en-US" altLang="zh-CN" sz="1600" dirty="0">
                <a:solidFill>
                  <a:schemeClr val="tx1">
                    <a:lumMod val="65000"/>
                    <a:lumOff val="35000"/>
                  </a:schemeClr>
                </a:solidFill>
                <a:latin typeface="微软雅黑" charset="-122"/>
                <a:ea typeface="微软雅黑" charset="-122"/>
              </a:rPr>
              <a:t>,</a:t>
            </a:r>
            <a:r>
              <a:rPr lang="zh-CN" altLang="en-US" sz="1600" dirty="0">
                <a:solidFill>
                  <a:schemeClr val="tx1">
                    <a:lumMod val="65000"/>
                    <a:lumOff val="35000"/>
                  </a:schemeClr>
                </a:solidFill>
                <a:latin typeface="微软雅黑" charset="-122"/>
                <a:ea typeface="微软雅黑" charset="-122"/>
              </a:rPr>
              <a:t>避免了灾难性遗忘。</a:t>
            </a:r>
            <a:endParaRPr lang="zh-CN" altLang="en-US" sz="1600" dirty="0">
              <a:solidFill>
                <a:schemeClr val="tx1">
                  <a:lumMod val="65000"/>
                  <a:lumOff val="35000"/>
                </a:schemeClr>
              </a:solidFill>
              <a:latin typeface="微软雅黑" charset="-122"/>
              <a:ea typeface="微软雅黑" charset="-122"/>
            </a:endParaRPr>
          </a:p>
        </p:txBody>
      </p:sp>
      <p:cxnSp>
        <p:nvCxnSpPr>
          <p:cNvPr id="6" name="连接符: 肘形 5"/>
          <p:cNvCxnSpPr>
            <a:stCxn id="30" idx="0"/>
            <a:endCxn id="33" idx="0"/>
          </p:cNvCxnSpPr>
          <p:nvPr/>
        </p:nvCxnSpPr>
        <p:spPr>
          <a:xfrm rot="16200000" flipH="1" flipV="1">
            <a:off x="1837814" y="1348675"/>
            <a:ext cx="504476" cy="2134822"/>
          </a:xfrm>
          <a:prstGeom prst="bentConnector3">
            <a:avLst>
              <a:gd name="adj1" fmla="val -45314"/>
            </a:avLst>
          </a:prstGeom>
          <a:ln>
            <a:tailEnd type="triangle"/>
          </a:ln>
        </p:spPr>
        <p:style>
          <a:lnRef idx="1">
            <a:schemeClr val="accent6"/>
          </a:lnRef>
          <a:fillRef idx="0">
            <a:schemeClr val="accent6"/>
          </a:fillRef>
          <a:effectRef idx="0">
            <a:schemeClr val="accent6"/>
          </a:effectRef>
          <a:fontRef idx="minor">
            <a:schemeClr val="tx1"/>
          </a:fontRef>
        </p:style>
      </p:cxnSp>
      <p:sp>
        <p:nvSpPr>
          <p:cNvPr id="35" name="文本框 34"/>
          <p:cNvSpPr txBox="1"/>
          <p:nvPr/>
        </p:nvSpPr>
        <p:spPr>
          <a:xfrm>
            <a:off x="9515819" y="3124405"/>
            <a:ext cx="2206871" cy="1323439"/>
          </a:xfrm>
          <a:prstGeom prst="rect">
            <a:avLst/>
          </a:prstGeom>
          <a:noFill/>
        </p:spPr>
        <p:txBody>
          <a:bodyPr wrap="square">
            <a:spAutoFit/>
          </a:bodyPr>
          <a:lstStyle/>
          <a:p>
            <a:r>
              <a:rPr lang="zh-CN" altLang="en-US" sz="1600" dirty="0">
                <a:solidFill>
                  <a:schemeClr val="tx1">
                    <a:lumMod val="65000"/>
                    <a:lumOff val="35000"/>
                  </a:schemeClr>
                </a:solidFill>
                <a:latin typeface="微软雅黑" charset="-122"/>
                <a:ea typeface="微软雅黑" charset="-122"/>
              </a:rPr>
              <a:t>可训练副本 </a:t>
            </a:r>
            <a:r>
              <a:rPr lang="en-US" altLang="zh-CN" sz="1600" dirty="0">
                <a:solidFill>
                  <a:schemeClr val="tx1">
                    <a:lumMod val="65000"/>
                    <a:lumOff val="35000"/>
                  </a:schemeClr>
                </a:solidFill>
                <a:latin typeface="微软雅黑" charset="-122"/>
                <a:ea typeface="微软雅黑" charset="-122"/>
              </a:rPr>
              <a:t>(Trainable Copy):</a:t>
            </a:r>
            <a:r>
              <a:rPr lang="zh-CN" altLang="en-US" sz="1600" dirty="0">
                <a:solidFill>
                  <a:schemeClr val="tx1">
                    <a:lumMod val="65000"/>
                    <a:lumOff val="35000"/>
                  </a:schemeClr>
                </a:solidFill>
                <a:latin typeface="微软雅黑" charset="-122"/>
                <a:ea typeface="微软雅黑" charset="-122"/>
              </a:rPr>
              <a:t>使用新数据进行微调</a:t>
            </a:r>
            <a:r>
              <a:rPr lang="en-US" altLang="zh-CN" sz="1600" dirty="0">
                <a:solidFill>
                  <a:schemeClr val="tx1">
                    <a:lumMod val="65000"/>
                    <a:lumOff val="35000"/>
                  </a:schemeClr>
                </a:solidFill>
                <a:latin typeface="微软雅黑" charset="-122"/>
                <a:ea typeface="微软雅黑" charset="-122"/>
              </a:rPr>
              <a:t>,</a:t>
            </a:r>
            <a:r>
              <a:rPr lang="zh-CN" altLang="en-US" sz="1600" dirty="0">
                <a:solidFill>
                  <a:schemeClr val="tx1">
                    <a:lumMod val="65000"/>
                    <a:lumOff val="35000"/>
                  </a:schemeClr>
                </a:solidFill>
                <a:latin typeface="微软雅黑" charset="-122"/>
                <a:ea typeface="微软雅黑" charset="-122"/>
              </a:rPr>
              <a:t>专门负责学习输入的控制条件。</a:t>
            </a:r>
            <a:endParaRPr lang="zh-CN" altLang="en-US" sz="1600" dirty="0">
              <a:solidFill>
                <a:schemeClr val="tx1">
                  <a:lumMod val="65000"/>
                  <a:lumOff val="35000"/>
                </a:schemeClr>
              </a:solidFill>
              <a:latin typeface="微软雅黑" charset="-122"/>
              <a:ea typeface="微软雅黑" charset="-122"/>
            </a:endParaRPr>
          </a:p>
        </p:txBody>
      </p:sp>
      <p:cxnSp>
        <p:nvCxnSpPr>
          <p:cNvPr id="20" name="直接箭头连接符 19"/>
          <p:cNvCxnSpPr>
            <a:stCxn id="32" idx="3"/>
            <a:endCxn id="35" idx="1"/>
          </p:cNvCxnSpPr>
          <p:nvPr/>
        </p:nvCxnSpPr>
        <p:spPr>
          <a:xfrm>
            <a:off x="8808952" y="3786125"/>
            <a:ext cx="706867" cy="0"/>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spTree>
    <p:custDataLst>
      <p:tags r:id="rId7"/>
    </p:custDataLst>
  </p:cSld>
  <p:clrMapOvr>
    <a:masterClrMapping/>
  </p:clrMapOvr>
  <p:transition advTm="58970"/>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图片 2" descr="剪影蓝 低版本"/>
          <p:cNvPicPr>
            <a:picLocks noChangeAspect="1"/>
          </p:cNvPicPr>
          <p:nvPr/>
        </p:nvPicPr>
        <p:blipFill>
          <a:blip r:embed="rId1"/>
          <a:srcRect l="-8"/>
          <a:stretch>
            <a:fillRect/>
          </a:stretch>
        </p:blipFill>
        <p:spPr>
          <a:xfrm>
            <a:off x="1505" y="5378386"/>
            <a:ext cx="12190495" cy="2438099"/>
          </a:xfrm>
          <a:prstGeom prst="rect">
            <a:avLst/>
          </a:prstGeom>
          <a:noFill/>
          <a:ln w="9525">
            <a:noFill/>
          </a:ln>
        </p:spPr>
      </p:pic>
      <p:sp>
        <p:nvSpPr>
          <p:cNvPr id="22" name="文本框 21"/>
          <p:cNvSpPr txBox="1"/>
          <p:nvPr/>
        </p:nvSpPr>
        <p:spPr>
          <a:xfrm>
            <a:off x="154297" y="-42999"/>
            <a:ext cx="552421" cy="874984"/>
          </a:xfrm>
          <a:prstGeom prst="rect">
            <a:avLst/>
          </a:prstGeom>
          <a:noFill/>
          <a:effectLst>
            <a:reflection blurRad="12700" stA="0" endPos="65000" dist="50800" dir="5400000" sy="-100000" algn="bl" rotWithShape="0"/>
          </a:effectLst>
        </p:spPr>
        <p:txBody>
          <a:bodyPr wrap="square" rtlCol="0">
            <a:noAutofit/>
          </a:bodyPr>
          <a:lstStyle/>
          <a:p>
            <a:r>
              <a:rPr lang="en-US" altLang="zh-CN" sz="5400" b="1" dirty="0">
                <a:solidFill>
                  <a:schemeClr val="bg1"/>
                </a:solidFill>
                <a:effectLst>
                  <a:glow>
                    <a:schemeClr val="accent1">
                      <a:alpha val="40000"/>
                    </a:schemeClr>
                  </a:glow>
                </a:effectLst>
                <a:latin typeface="Times New Roman" panose="02020503050405090304" charset="0"/>
                <a:ea typeface="微软雅黑" charset="-122"/>
                <a:cs typeface="Times New Roman" panose="02020503050405090304" charset="0"/>
              </a:rPr>
              <a:t>1</a:t>
            </a:r>
            <a:endParaRPr lang="en-US" altLang="zh-CN" sz="5400" b="1" dirty="0">
              <a:solidFill>
                <a:schemeClr val="bg1"/>
              </a:solidFill>
              <a:effectLst>
                <a:glow>
                  <a:schemeClr val="accent1">
                    <a:alpha val="40000"/>
                  </a:schemeClr>
                </a:glow>
              </a:effectLst>
              <a:latin typeface="Times New Roman" panose="02020503050405090304" charset="0"/>
              <a:ea typeface="微软雅黑" charset="-122"/>
              <a:cs typeface="Times New Roman" panose="02020503050405090304" charset="0"/>
            </a:endParaRPr>
          </a:p>
        </p:txBody>
      </p:sp>
      <p:sp>
        <p:nvSpPr>
          <p:cNvPr id="2" name="文本框 1"/>
          <p:cNvSpPr txBox="1"/>
          <p:nvPr/>
        </p:nvSpPr>
        <p:spPr>
          <a:xfrm>
            <a:off x="1094740" y="259715"/>
            <a:ext cx="6096000" cy="521970"/>
          </a:xfrm>
          <a:prstGeom prst="rect">
            <a:avLst/>
          </a:prstGeom>
          <a:noFill/>
        </p:spPr>
        <p:txBody>
          <a:bodyPr wrap="square" rtlCol="0" anchor="t">
            <a:spAutoFit/>
          </a:bodyPr>
          <a:lstStyle/>
          <a:p>
            <a:r>
              <a:rPr sz="2800" b="1">
                <a:solidFill>
                  <a:srgbClr val="000000"/>
                </a:solidFill>
                <a:latin typeface="微软雅黑" charset="-122"/>
                <a:ea typeface="微软雅黑" charset="-122"/>
                <a:cs typeface="微软雅黑" charset="-122"/>
                <a:sym typeface="+mn-ea"/>
              </a:rPr>
              <a:t>1.1 从变化率到梯度的直观引入</a:t>
            </a:r>
            <a:endParaRPr lang="zh-CN" altLang="en-US" sz="2800" b="1">
              <a:solidFill>
                <a:srgbClr val="000000"/>
              </a:solidFill>
              <a:latin typeface="微软雅黑" charset="-122"/>
              <a:ea typeface="微软雅黑" charset="-122"/>
              <a:cs typeface="微软雅黑" charset="-122"/>
              <a:sym typeface="+mn-ea"/>
            </a:endParaRPr>
          </a:p>
        </p:txBody>
      </p:sp>
      <p:sp>
        <p:nvSpPr>
          <p:cNvPr id="13" name="矩形 12"/>
          <p:cNvSpPr/>
          <p:nvPr>
            <p:custDataLst>
              <p:tags r:id="rId2"/>
            </p:custDataLst>
          </p:nvPr>
        </p:nvSpPr>
        <p:spPr>
          <a:xfrm>
            <a:off x="1353" y="600"/>
            <a:ext cx="12190495" cy="840002"/>
          </a:xfrm>
          <a:prstGeom prst="rect">
            <a:avLst/>
          </a:prstGeom>
          <a:gradFill>
            <a:gsLst>
              <a:gs pos="0">
                <a:schemeClr val="bg1"/>
              </a:gs>
              <a:gs pos="50000">
                <a:srgbClr val="5399D4"/>
              </a:gs>
              <a:gs pos="100000">
                <a:srgbClr val="2E3C63"/>
              </a:gs>
            </a:gsLst>
          </a:gradFill>
          <a:effectLst/>
        </p:spPr>
        <p:style>
          <a:lnRef idx="0">
            <a:srgbClr val="FFFFFF"/>
          </a:lnRef>
          <a:fillRef idx="2">
            <a:schemeClr val="accent1"/>
          </a:fillRef>
          <a:effectRef idx="1">
            <a:schemeClr val="accent1"/>
          </a:effectRef>
          <a:fontRef idx="minor">
            <a:schemeClr val="lt1"/>
          </a:fontRef>
        </p:style>
        <p:txBody>
          <a:bodyPr rtlCol="0" anchor="ctr"/>
          <a:lstStyle/>
          <a:p>
            <a:pPr algn="ctr" fontAlgn="base"/>
            <a:endParaRPr lang="zh-CN" altLang="en-US" sz="100" strike="noStrike" noProof="1"/>
          </a:p>
        </p:txBody>
      </p:sp>
      <p:pic>
        <p:nvPicPr>
          <p:cNvPr id="15" name="图片 14" descr="国科大标准Logo横式一（白色）"/>
          <p:cNvPicPr>
            <a:picLocks noChangeAspect="1"/>
          </p:cNvPicPr>
          <p:nvPr/>
        </p:nvPicPr>
        <p:blipFill>
          <a:blip r:embed="rId3"/>
          <a:stretch>
            <a:fillRect/>
          </a:stretch>
        </p:blipFill>
        <p:spPr>
          <a:xfrm>
            <a:off x="9815971" y="187901"/>
            <a:ext cx="2167622" cy="457144"/>
          </a:xfrm>
          <a:prstGeom prst="rect">
            <a:avLst/>
          </a:prstGeom>
        </p:spPr>
      </p:pic>
      <p:sp>
        <p:nvSpPr>
          <p:cNvPr id="3078" name="文本框 3"/>
          <p:cNvSpPr txBox="1"/>
          <p:nvPr>
            <p:custDataLst>
              <p:tags r:id="rId4"/>
            </p:custDataLst>
          </p:nvPr>
        </p:nvSpPr>
        <p:spPr>
          <a:xfrm>
            <a:off x="46644" y="-47231"/>
            <a:ext cx="850795" cy="919366"/>
          </a:xfrm>
          <a:prstGeom prst="rect">
            <a:avLst/>
          </a:prstGeom>
          <a:noFill/>
          <a:ln w="12700" cmpd="sng">
            <a:noFill/>
            <a:prstDash val="solid"/>
          </a:ln>
          <a:effectLst>
            <a:outerShdw dist="63500" dir="2700000" algn="tl" rotWithShape="0">
              <a:schemeClr val="bg1">
                <a:alpha val="100000"/>
              </a:schemeClr>
            </a:outerShdw>
          </a:effectLst>
        </p:spPr>
        <p:txBody>
          <a:bodyPr wrap="square" anchor="t" anchorCtr="0"/>
          <a:lstStyle/>
          <a:p>
            <a:pPr>
              <a:lnSpc>
                <a:spcPct val="130000"/>
              </a:lnSpc>
            </a:pPr>
            <a:r>
              <a:rPr lang="en-US" altLang="zh-CN" sz="4000" i="1" dirty="0">
                <a:ln w="19050">
                  <a:noFill/>
                </a:ln>
                <a:gradFill>
                  <a:gsLst>
                    <a:gs pos="39000">
                      <a:srgbClr val="5399D4"/>
                    </a:gs>
                    <a:gs pos="100000">
                      <a:schemeClr val="bg1"/>
                    </a:gs>
                  </a:gsLst>
                  <a:lin ang="5400000" scaled="0"/>
                </a:gradFill>
                <a:latin typeface="Bauhaus 93" panose="04030905020B02020C02" charset="0"/>
                <a:ea typeface="造字工房朗倩（非商用）常规体" charset="-122"/>
                <a:cs typeface="Bauhaus 93" panose="04030905020B02020C02" charset="0"/>
              </a:rPr>
              <a:t>01</a:t>
            </a:r>
            <a:endParaRPr lang="en-US" altLang="zh-CN" sz="4000" i="1" dirty="0">
              <a:ln w="19050">
                <a:noFill/>
              </a:ln>
              <a:gradFill>
                <a:gsLst>
                  <a:gs pos="39000">
                    <a:srgbClr val="5399D4"/>
                  </a:gs>
                  <a:gs pos="100000">
                    <a:schemeClr val="bg1"/>
                  </a:gs>
                </a:gsLst>
                <a:lin ang="5400000" scaled="0"/>
              </a:gradFill>
              <a:latin typeface="Bauhaus 93" panose="04030905020B02020C02" charset="0"/>
              <a:ea typeface="造字工房朗倩（非商用）常规体" charset="-122"/>
              <a:cs typeface="Bauhaus 93" panose="04030905020B02020C02" charset="0"/>
            </a:endParaRPr>
          </a:p>
        </p:txBody>
      </p:sp>
      <p:sp>
        <p:nvSpPr>
          <p:cNvPr id="16" name="文本框 15"/>
          <p:cNvSpPr txBox="1"/>
          <p:nvPr>
            <p:custDataLst>
              <p:tags r:id="rId5"/>
            </p:custDataLst>
          </p:nvPr>
        </p:nvSpPr>
        <p:spPr>
          <a:xfrm>
            <a:off x="897439" y="151711"/>
            <a:ext cx="8441283" cy="537779"/>
          </a:xfrm>
          <a:prstGeom prst="rect">
            <a:avLst/>
          </a:prstGeom>
          <a:noFill/>
        </p:spPr>
        <p:txBody>
          <a:bodyPr wrap="square" rtlCol="0">
            <a:noAutofit/>
          </a:bodyPr>
          <a:lstStyle/>
          <a:p>
            <a:r>
              <a:rPr lang="en-US" altLang="zh-CN" sz="3600" b="1" dirty="0">
                <a:solidFill>
                  <a:schemeClr val="tx1"/>
                </a:solidFill>
              </a:rPr>
              <a:t>Parameter Efficient Methods</a:t>
            </a:r>
            <a:endParaRPr lang="zh-CN" altLang="en-US" sz="3600" b="1" dirty="0">
              <a:solidFill>
                <a:schemeClr val="tx1"/>
              </a:solidFill>
            </a:endParaRPr>
          </a:p>
        </p:txBody>
      </p:sp>
      <p:sp>
        <p:nvSpPr>
          <p:cNvPr id="17" name="灯片编号占位符 16"/>
          <p:cNvSpPr>
            <a:spLocks noGrp="1"/>
          </p:cNvSpPr>
          <p:nvPr>
            <p:ph type="sldNum" sz="quarter" idx="12"/>
          </p:nvPr>
        </p:nvSpPr>
        <p:spPr/>
        <p:txBody>
          <a:bodyPr>
            <a:noAutofit/>
          </a:bodyPr>
          <a:lstStyle/>
          <a:p>
            <a:pPr algn="l" fontAlgn="auto"/>
            <a:fld id="{49AE70B2-8BF9-45C0-BB95-33D1B9D3A854}" type="slidenum">
              <a:rPr lang="zh-CN" altLang="en-US" sz="1800" strike="noStrike" noProof="1" smtClean="0">
                <a:solidFill>
                  <a:schemeClr val="tx1"/>
                </a:solidFill>
                <a:latin typeface="+mn-lt"/>
                <a:ea typeface="+mn-ea"/>
                <a:cs typeface="+mn-cs"/>
              </a:rPr>
            </a:fld>
            <a:endParaRPr lang="zh-CN" altLang="en-US" sz="1800" strike="noStrike" noProof="1">
              <a:solidFill>
                <a:schemeClr val="tx1"/>
              </a:solidFill>
              <a:latin typeface="+mn-lt"/>
              <a:ea typeface="+mn-ea"/>
              <a:cs typeface="+mn-cs"/>
            </a:endParaRPr>
          </a:p>
        </p:txBody>
      </p:sp>
      <p:sp>
        <p:nvSpPr>
          <p:cNvPr id="14" name="文本框 13"/>
          <p:cNvSpPr txBox="1"/>
          <p:nvPr/>
        </p:nvSpPr>
        <p:spPr>
          <a:xfrm>
            <a:off x="706755" y="870585"/>
            <a:ext cx="7586322" cy="658835"/>
          </a:xfrm>
          <a:prstGeom prst="rect">
            <a:avLst/>
          </a:prstGeom>
          <a:noFill/>
        </p:spPr>
        <p:txBody>
          <a:bodyPr wrap="square" rtlCol="0" anchor="t">
            <a:spAutoFit/>
          </a:bodyPr>
          <a:lstStyle/>
          <a:p>
            <a:pPr lvl="1" indent="-457200" algn="l" defTabSz="914400" fontAlgn="base">
              <a:lnSpc>
                <a:spcPct val="150000"/>
              </a:lnSpc>
              <a:buClrTx/>
              <a:buSzTx/>
              <a:buFont typeface="Wingdings" panose="05000000000000000000" pitchFamily="2" charset="2"/>
              <a:buChar char="Ø"/>
            </a:pPr>
            <a:r>
              <a:rPr lang="en-US" altLang="zh-CN" sz="2800" dirty="0">
                <a:solidFill>
                  <a:sysClr val="windowText" lastClr="000000"/>
                </a:solidFill>
                <a:latin typeface="Arial" panose="020B0604020202090204" pitchFamily="34" charset="0"/>
                <a:ea typeface="微软雅黑" charset="-122"/>
                <a:sym typeface="+mn-ea"/>
              </a:rPr>
              <a:t>1</a:t>
            </a:r>
            <a:r>
              <a:rPr lang="zh-CN" altLang="en-US" sz="2800" dirty="0">
                <a:solidFill>
                  <a:sysClr val="windowText" lastClr="000000"/>
                </a:solidFill>
                <a:latin typeface="Arial" panose="020B0604020202090204" pitchFamily="34" charset="0"/>
                <a:ea typeface="微软雅黑" charset="-122"/>
                <a:sym typeface="+mn-ea"/>
              </a:rPr>
              <a:t>.</a:t>
            </a:r>
            <a:r>
              <a:rPr lang="en-US" altLang="zh-CN" sz="2800" dirty="0">
                <a:solidFill>
                  <a:sysClr val="windowText" lastClr="000000"/>
                </a:solidFill>
                <a:latin typeface="Arial" panose="020B0604020202090204" pitchFamily="34" charset="0"/>
                <a:ea typeface="微软雅黑" charset="-122"/>
                <a:sym typeface="+mn-ea"/>
              </a:rPr>
              <a:t>1 ControlNet</a:t>
            </a:r>
            <a:endParaRPr lang="zh-CN" altLang="en-US" sz="2800" dirty="0">
              <a:solidFill>
                <a:sysClr val="windowText" lastClr="000000"/>
              </a:solidFill>
              <a:latin typeface="Arial" panose="020B0604020202090204" pitchFamily="34" charset="0"/>
              <a:ea typeface="微软雅黑" charset="-122"/>
              <a:sym typeface="+mn-ea"/>
            </a:endParaRPr>
          </a:p>
        </p:txBody>
      </p:sp>
      <p:pic>
        <p:nvPicPr>
          <p:cNvPr id="24" name="图片 23"/>
          <p:cNvPicPr>
            <a:picLocks noChangeAspect="1"/>
          </p:cNvPicPr>
          <p:nvPr/>
        </p:nvPicPr>
        <p:blipFill>
          <a:blip r:embed="rId6"/>
          <a:stretch>
            <a:fillRect/>
          </a:stretch>
        </p:blipFill>
        <p:spPr>
          <a:xfrm>
            <a:off x="2087967" y="2054992"/>
            <a:ext cx="6930390" cy="3229576"/>
          </a:xfrm>
          <a:prstGeom prst="rect">
            <a:avLst/>
          </a:prstGeom>
        </p:spPr>
      </p:pic>
      <p:sp>
        <p:nvSpPr>
          <p:cNvPr id="29" name="文本框 28"/>
          <p:cNvSpPr txBox="1"/>
          <p:nvPr/>
        </p:nvSpPr>
        <p:spPr>
          <a:xfrm>
            <a:off x="1327993" y="1592604"/>
            <a:ext cx="4179346" cy="338554"/>
          </a:xfrm>
          <a:prstGeom prst="rect">
            <a:avLst/>
          </a:prstGeom>
          <a:noFill/>
        </p:spPr>
        <p:txBody>
          <a:bodyPr wrap="square">
            <a:spAutoFit/>
          </a:bodyPr>
          <a:lstStyle/>
          <a:p>
            <a:r>
              <a:rPr lang="en-US" altLang="zh-CN" sz="1600" dirty="0">
                <a:solidFill>
                  <a:schemeClr val="tx1">
                    <a:lumMod val="65000"/>
                    <a:lumOff val="35000"/>
                  </a:schemeClr>
                </a:solidFill>
                <a:latin typeface="微软雅黑" charset="-122"/>
                <a:ea typeface="微软雅黑" charset="-122"/>
              </a:rPr>
              <a:t>ControlNet</a:t>
            </a:r>
            <a:r>
              <a:rPr lang="zh-CN" altLang="en-US" sz="1600" dirty="0">
                <a:solidFill>
                  <a:schemeClr val="tx1">
                    <a:lumMod val="65000"/>
                    <a:lumOff val="35000"/>
                  </a:schemeClr>
                </a:solidFill>
                <a:latin typeface="微软雅黑" charset="-122"/>
                <a:ea typeface="微软雅黑" charset="-122"/>
              </a:rPr>
              <a:t>模型的最小单元结构示意图</a:t>
            </a:r>
            <a:endParaRPr lang="zh-CN" altLang="en-US" sz="1600" dirty="0">
              <a:solidFill>
                <a:schemeClr val="tx1">
                  <a:lumMod val="65000"/>
                  <a:lumOff val="35000"/>
                </a:schemeClr>
              </a:solidFill>
              <a:latin typeface="微软雅黑" charset="-122"/>
              <a:ea typeface="微软雅黑" charset="-122"/>
            </a:endParaRPr>
          </a:p>
        </p:txBody>
      </p:sp>
      <p:sp>
        <p:nvSpPr>
          <p:cNvPr id="32" name="矩形 31"/>
          <p:cNvSpPr/>
          <p:nvPr/>
        </p:nvSpPr>
        <p:spPr>
          <a:xfrm>
            <a:off x="6321383" y="2576621"/>
            <a:ext cx="1738714" cy="37692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文本框 34"/>
          <p:cNvSpPr txBox="1"/>
          <p:nvPr/>
        </p:nvSpPr>
        <p:spPr>
          <a:xfrm>
            <a:off x="9599581" y="3131171"/>
            <a:ext cx="2206871" cy="1077218"/>
          </a:xfrm>
          <a:prstGeom prst="rect">
            <a:avLst/>
          </a:prstGeom>
          <a:noFill/>
        </p:spPr>
        <p:txBody>
          <a:bodyPr wrap="square">
            <a:spAutoFit/>
          </a:bodyPr>
          <a:lstStyle/>
          <a:p>
            <a:r>
              <a:rPr lang="en-US" altLang="zh-CN" sz="1600" dirty="0">
                <a:solidFill>
                  <a:schemeClr val="tx1">
                    <a:lumMod val="65000"/>
                    <a:lumOff val="35000"/>
                  </a:schemeClr>
                </a:solidFill>
                <a:latin typeface="微软雅黑" charset="-122"/>
                <a:ea typeface="微软雅黑" charset="-122"/>
              </a:rPr>
              <a:t>1×1</a:t>
            </a:r>
            <a:r>
              <a:rPr lang="zh-CN" altLang="en-US" sz="1600" dirty="0">
                <a:solidFill>
                  <a:schemeClr val="tx1">
                    <a:lumMod val="65000"/>
                    <a:lumOff val="35000"/>
                  </a:schemeClr>
                </a:solidFill>
                <a:latin typeface="微软雅黑" charset="-122"/>
                <a:ea typeface="微软雅黑" charset="-122"/>
              </a:rPr>
              <a:t>卷积，并且在微调训练时权重和偏置都初始化为零（</a:t>
            </a:r>
            <a:r>
              <a:rPr lang="en-US" altLang="zh-CN" sz="1600" dirty="0">
                <a:solidFill>
                  <a:schemeClr val="tx1">
                    <a:lumMod val="65000"/>
                    <a:lumOff val="35000"/>
                  </a:schemeClr>
                </a:solidFill>
                <a:latin typeface="微软雅黑" charset="-122"/>
                <a:ea typeface="微软雅黑" charset="-122"/>
              </a:rPr>
              <a:t>zero</a:t>
            </a:r>
            <a:r>
              <a:rPr lang="zh-CN" altLang="en-US" sz="1600" dirty="0">
                <a:solidFill>
                  <a:schemeClr val="tx1">
                    <a:lumMod val="65000"/>
                    <a:lumOff val="35000"/>
                  </a:schemeClr>
                </a:solidFill>
                <a:latin typeface="微软雅黑" charset="-122"/>
                <a:ea typeface="微软雅黑" charset="-122"/>
              </a:rPr>
              <a:t>初始化）</a:t>
            </a:r>
            <a:endParaRPr lang="zh-CN" altLang="en-US" sz="1600" dirty="0">
              <a:solidFill>
                <a:schemeClr val="tx1">
                  <a:lumMod val="65000"/>
                  <a:lumOff val="35000"/>
                </a:schemeClr>
              </a:solidFill>
              <a:latin typeface="微软雅黑" charset="-122"/>
              <a:ea typeface="微软雅黑" charset="-122"/>
            </a:endParaRPr>
          </a:p>
        </p:txBody>
      </p:sp>
      <p:cxnSp>
        <p:nvCxnSpPr>
          <p:cNvPr id="8" name="连接符: 肘形 7"/>
          <p:cNvCxnSpPr>
            <a:endCxn id="35" idx="0"/>
          </p:cNvCxnSpPr>
          <p:nvPr/>
        </p:nvCxnSpPr>
        <p:spPr>
          <a:xfrm>
            <a:off x="8060099" y="2743812"/>
            <a:ext cx="2642918" cy="387359"/>
          </a:xfrm>
          <a:prstGeom prst="bentConnector2">
            <a:avLst/>
          </a:prstGeom>
          <a:ln>
            <a:tailEnd type="triangle"/>
          </a:ln>
        </p:spPr>
        <p:style>
          <a:lnRef idx="1">
            <a:schemeClr val="accent6"/>
          </a:lnRef>
          <a:fillRef idx="0">
            <a:schemeClr val="accent6"/>
          </a:fillRef>
          <a:effectRef idx="0">
            <a:schemeClr val="accent6"/>
          </a:effectRef>
          <a:fontRef idx="minor">
            <a:schemeClr val="tx1"/>
          </a:fontRef>
        </p:style>
      </p:cxnSp>
    </p:spTree>
    <p:custDataLst>
      <p:tags r:id="rId7"/>
    </p:custDataLst>
  </p:cSld>
  <p:clrMapOvr>
    <a:masterClrMapping/>
  </p:clrMapOvr>
  <p:transition advTm="58970"/>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图片 2" descr="剪影蓝 低版本"/>
          <p:cNvPicPr>
            <a:picLocks noChangeAspect="1"/>
          </p:cNvPicPr>
          <p:nvPr/>
        </p:nvPicPr>
        <p:blipFill>
          <a:blip r:embed="rId1"/>
          <a:srcRect l="-8"/>
          <a:stretch>
            <a:fillRect/>
          </a:stretch>
        </p:blipFill>
        <p:spPr>
          <a:xfrm>
            <a:off x="1505" y="5378386"/>
            <a:ext cx="12190495" cy="2438099"/>
          </a:xfrm>
          <a:prstGeom prst="rect">
            <a:avLst/>
          </a:prstGeom>
          <a:noFill/>
          <a:ln w="9525">
            <a:noFill/>
          </a:ln>
        </p:spPr>
      </p:pic>
      <p:sp>
        <p:nvSpPr>
          <p:cNvPr id="22" name="文本框 21"/>
          <p:cNvSpPr txBox="1"/>
          <p:nvPr/>
        </p:nvSpPr>
        <p:spPr>
          <a:xfrm>
            <a:off x="154297" y="-42999"/>
            <a:ext cx="552421" cy="874984"/>
          </a:xfrm>
          <a:prstGeom prst="rect">
            <a:avLst/>
          </a:prstGeom>
          <a:noFill/>
          <a:effectLst>
            <a:reflection blurRad="12700" stA="0" endPos="65000" dist="50800" dir="5400000" sy="-100000" algn="bl" rotWithShape="0"/>
          </a:effectLst>
        </p:spPr>
        <p:txBody>
          <a:bodyPr wrap="square" rtlCol="0">
            <a:noAutofit/>
          </a:bodyPr>
          <a:lstStyle/>
          <a:p>
            <a:r>
              <a:rPr lang="en-US" altLang="zh-CN" sz="5400" b="1" dirty="0">
                <a:solidFill>
                  <a:schemeClr val="bg1"/>
                </a:solidFill>
                <a:effectLst>
                  <a:glow>
                    <a:schemeClr val="accent1">
                      <a:alpha val="40000"/>
                    </a:schemeClr>
                  </a:glow>
                </a:effectLst>
                <a:latin typeface="Times New Roman" panose="02020503050405090304" charset="0"/>
                <a:ea typeface="微软雅黑" charset="-122"/>
                <a:cs typeface="Times New Roman" panose="02020503050405090304" charset="0"/>
              </a:rPr>
              <a:t>1</a:t>
            </a:r>
            <a:endParaRPr lang="en-US" altLang="zh-CN" sz="5400" b="1" dirty="0">
              <a:solidFill>
                <a:schemeClr val="bg1"/>
              </a:solidFill>
              <a:effectLst>
                <a:glow>
                  <a:schemeClr val="accent1">
                    <a:alpha val="40000"/>
                  </a:schemeClr>
                </a:glow>
              </a:effectLst>
              <a:latin typeface="Times New Roman" panose="02020503050405090304" charset="0"/>
              <a:ea typeface="微软雅黑" charset="-122"/>
              <a:cs typeface="Times New Roman" panose="02020503050405090304" charset="0"/>
            </a:endParaRPr>
          </a:p>
        </p:txBody>
      </p:sp>
      <p:sp>
        <p:nvSpPr>
          <p:cNvPr id="2" name="文本框 1"/>
          <p:cNvSpPr txBox="1"/>
          <p:nvPr/>
        </p:nvSpPr>
        <p:spPr>
          <a:xfrm>
            <a:off x="1094740" y="259715"/>
            <a:ext cx="6096000" cy="521970"/>
          </a:xfrm>
          <a:prstGeom prst="rect">
            <a:avLst/>
          </a:prstGeom>
          <a:noFill/>
        </p:spPr>
        <p:txBody>
          <a:bodyPr wrap="square" rtlCol="0" anchor="t">
            <a:spAutoFit/>
          </a:bodyPr>
          <a:lstStyle/>
          <a:p>
            <a:r>
              <a:rPr sz="2800" b="1">
                <a:solidFill>
                  <a:srgbClr val="000000"/>
                </a:solidFill>
                <a:latin typeface="微软雅黑" charset="-122"/>
                <a:ea typeface="微软雅黑" charset="-122"/>
                <a:cs typeface="微软雅黑" charset="-122"/>
                <a:sym typeface="+mn-ea"/>
              </a:rPr>
              <a:t>1.1 从变化率到梯度的直观引入</a:t>
            </a:r>
            <a:endParaRPr lang="zh-CN" altLang="en-US" sz="2800" b="1">
              <a:solidFill>
                <a:srgbClr val="000000"/>
              </a:solidFill>
              <a:latin typeface="微软雅黑" charset="-122"/>
              <a:ea typeface="微软雅黑" charset="-122"/>
              <a:cs typeface="微软雅黑" charset="-122"/>
              <a:sym typeface="+mn-ea"/>
            </a:endParaRPr>
          </a:p>
        </p:txBody>
      </p:sp>
      <p:sp>
        <p:nvSpPr>
          <p:cNvPr id="13" name="矩形 12"/>
          <p:cNvSpPr/>
          <p:nvPr>
            <p:custDataLst>
              <p:tags r:id="rId2"/>
            </p:custDataLst>
          </p:nvPr>
        </p:nvSpPr>
        <p:spPr>
          <a:xfrm>
            <a:off x="1353" y="600"/>
            <a:ext cx="12190495" cy="840002"/>
          </a:xfrm>
          <a:prstGeom prst="rect">
            <a:avLst/>
          </a:prstGeom>
          <a:gradFill>
            <a:gsLst>
              <a:gs pos="0">
                <a:schemeClr val="bg1"/>
              </a:gs>
              <a:gs pos="50000">
                <a:srgbClr val="5399D4"/>
              </a:gs>
              <a:gs pos="100000">
                <a:srgbClr val="2E3C63"/>
              </a:gs>
            </a:gsLst>
          </a:gradFill>
          <a:effectLst/>
        </p:spPr>
        <p:style>
          <a:lnRef idx="0">
            <a:srgbClr val="FFFFFF"/>
          </a:lnRef>
          <a:fillRef idx="2">
            <a:schemeClr val="accent1"/>
          </a:fillRef>
          <a:effectRef idx="1">
            <a:schemeClr val="accent1"/>
          </a:effectRef>
          <a:fontRef idx="minor">
            <a:schemeClr val="lt1"/>
          </a:fontRef>
        </p:style>
        <p:txBody>
          <a:bodyPr rtlCol="0" anchor="ctr"/>
          <a:lstStyle/>
          <a:p>
            <a:pPr algn="ctr" fontAlgn="base"/>
            <a:endParaRPr lang="zh-CN" altLang="en-US" sz="100" strike="noStrike" noProof="1"/>
          </a:p>
        </p:txBody>
      </p:sp>
      <p:pic>
        <p:nvPicPr>
          <p:cNvPr id="15" name="图片 14" descr="国科大标准Logo横式一（白色）"/>
          <p:cNvPicPr>
            <a:picLocks noChangeAspect="1"/>
          </p:cNvPicPr>
          <p:nvPr/>
        </p:nvPicPr>
        <p:blipFill>
          <a:blip r:embed="rId3"/>
          <a:stretch>
            <a:fillRect/>
          </a:stretch>
        </p:blipFill>
        <p:spPr>
          <a:xfrm>
            <a:off x="9815971" y="187901"/>
            <a:ext cx="2167622" cy="457144"/>
          </a:xfrm>
          <a:prstGeom prst="rect">
            <a:avLst/>
          </a:prstGeom>
        </p:spPr>
      </p:pic>
      <p:sp>
        <p:nvSpPr>
          <p:cNvPr id="3078" name="文本框 3"/>
          <p:cNvSpPr txBox="1"/>
          <p:nvPr>
            <p:custDataLst>
              <p:tags r:id="rId4"/>
            </p:custDataLst>
          </p:nvPr>
        </p:nvSpPr>
        <p:spPr>
          <a:xfrm>
            <a:off x="46644" y="-47231"/>
            <a:ext cx="850795" cy="919366"/>
          </a:xfrm>
          <a:prstGeom prst="rect">
            <a:avLst/>
          </a:prstGeom>
          <a:noFill/>
          <a:ln w="12700" cmpd="sng">
            <a:noFill/>
            <a:prstDash val="solid"/>
          </a:ln>
          <a:effectLst>
            <a:outerShdw dist="63500" dir="2700000" algn="tl" rotWithShape="0">
              <a:schemeClr val="bg1">
                <a:alpha val="100000"/>
              </a:schemeClr>
            </a:outerShdw>
          </a:effectLst>
        </p:spPr>
        <p:txBody>
          <a:bodyPr wrap="square" anchor="t" anchorCtr="0"/>
          <a:lstStyle/>
          <a:p>
            <a:pPr>
              <a:lnSpc>
                <a:spcPct val="130000"/>
              </a:lnSpc>
            </a:pPr>
            <a:r>
              <a:rPr lang="en-US" altLang="zh-CN" sz="4000" i="1" dirty="0">
                <a:ln w="19050">
                  <a:noFill/>
                </a:ln>
                <a:gradFill>
                  <a:gsLst>
                    <a:gs pos="39000">
                      <a:srgbClr val="5399D4"/>
                    </a:gs>
                    <a:gs pos="100000">
                      <a:schemeClr val="bg1"/>
                    </a:gs>
                  </a:gsLst>
                  <a:lin ang="5400000" scaled="0"/>
                </a:gradFill>
                <a:latin typeface="Bauhaus 93" panose="04030905020B02020C02" charset="0"/>
                <a:ea typeface="造字工房朗倩（非商用）常规体" charset="-122"/>
                <a:cs typeface="Bauhaus 93" panose="04030905020B02020C02" charset="0"/>
              </a:rPr>
              <a:t>01</a:t>
            </a:r>
            <a:endParaRPr lang="en-US" altLang="zh-CN" sz="4000" i="1" dirty="0">
              <a:ln w="19050">
                <a:noFill/>
              </a:ln>
              <a:gradFill>
                <a:gsLst>
                  <a:gs pos="39000">
                    <a:srgbClr val="5399D4"/>
                  </a:gs>
                  <a:gs pos="100000">
                    <a:schemeClr val="bg1"/>
                  </a:gs>
                </a:gsLst>
                <a:lin ang="5400000" scaled="0"/>
              </a:gradFill>
              <a:latin typeface="Bauhaus 93" panose="04030905020B02020C02" charset="0"/>
              <a:ea typeface="造字工房朗倩（非商用）常规体" charset="-122"/>
              <a:cs typeface="Bauhaus 93" panose="04030905020B02020C02" charset="0"/>
            </a:endParaRPr>
          </a:p>
        </p:txBody>
      </p:sp>
      <p:sp>
        <p:nvSpPr>
          <p:cNvPr id="16" name="文本框 15"/>
          <p:cNvSpPr txBox="1"/>
          <p:nvPr>
            <p:custDataLst>
              <p:tags r:id="rId5"/>
            </p:custDataLst>
          </p:nvPr>
        </p:nvSpPr>
        <p:spPr>
          <a:xfrm>
            <a:off x="897439" y="151711"/>
            <a:ext cx="8441283" cy="537779"/>
          </a:xfrm>
          <a:prstGeom prst="rect">
            <a:avLst/>
          </a:prstGeom>
          <a:noFill/>
        </p:spPr>
        <p:txBody>
          <a:bodyPr wrap="square" rtlCol="0">
            <a:noAutofit/>
          </a:bodyPr>
          <a:lstStyle/>
          <a:p>
            <a:r>
              <a:rPr lang="en-US" altLang="zh-CN" sz="3600" b="1" dirty="0">
                <a:solidFill>
                  <a:schemeClr val="tx1"/>
                </a:solidFill>
              </a:rPr>
              <a:t>Parameter Efficient Methods</a:t>
            </a:r>
            <a:endParaRPr lang="zh-CN" altLang="en-US" sz="3600" b="1" dirty="0">
              <a:solidFill>
                <a:schemeClr val="tx1"/>
              </a:solidFill>
            </a:endParaRPr>
          </a:p>
        </p:txBody>
      </p:sp>
      <p:sp>
        <p:nvSpPr>
          <p:cNvPr id="17" name="灯片编号占位符 16"/>
          <p:cNvSpPr>
            <a:spLocks noGrp="1"/>
          </p:cNvSpPr>
          <p:nvPr>
            <p:ph type="sldNum" sz="quarter" idx="12"/>
          </p:nvPr>
        </p:nvSpPr>
        <p:spPr/>
        <p:txBody>
          <a:bodyPr>
            <a:noAutofit/>
          </a:bodyPr>
          <a:lstStyle/>
          <a:p>
            <a:pPr algn="l" fontAlgn="auto"/>
            <a:fld id="{49AE70B2-8BF9-45C0-BB95-33D1B9D3A854}" type="slidenum">
              <a:rPr lang="zh-CN" altLang="en-US" sz="1800" strike="noStrike" noProof="1" smtClean="0">
                <a:solidFill>
                  <a:schemeClr val="tx1"/>
                </a:solidFill>
                <a:latin typeface="+mn-lt"/>
                <a:ea typeface="+mn-ea"/>
                <a:cs typeface="+mn-cs"/>
              </a:rPr>
            </a:fld>
            <a:endParaRPr lang="zh-CN" altLang="en-US" sz="1800" strike="noStrike" noProof="1">
              <a:solidFill>
                <a:schemeClr val="tx1"/>
              </a:solidFill>
              <a:latin typeface="+mn-lt"/>
              <a:ea typeface="+mn-ea"/>
              <a:cs typeface="+mn-cs"/>
            </a:endParaRPr>
          </a:p>
        </p:txBody>
      </p:sp>
      <p:sp>
        <p:nvSpPr>
          <p:cNvPr id="14" name="文本框 13"/>
          <p:cNvSpPr txBox="1"/>
          <p:nvPr/>
        </p:nvSpPr>
        <p:spPr>
          <a:xfrm>
            <a:off x="706755" y="870585"/>
            <a:ext cx="7586322" cy="658835"/>
          </a:xfrm>
          <a:prstGeom prst="rect">
            <a:avLst/>
          </a:prstGeom>
          <a:noFill/>
        </p:spPr>
        <p:txBody>
          <a:bodyPr wrap="square" rtlCol="0" anchor="t">
            <a:spAutoFit/>
          </a:bodyPr>
          <a:lstStyle/>
          <a:p>
            <a:pPr lvl="1" indent="-457200" algn="l" defTabSz="914400" fontAlgn="base">
              <a:lnSpc>
                <a:spcPct val="150000"/>
              </a:lnSpc>
              <a:buClrTx/>
              <a:buSzTx/>
              <a:buFont typeface="Wingdings" panose="05000000000000000000" pitchFamily="2" charset="2"/>
              <a:buChar char="Ø"/>
            </a:pPr>
            <a:r>
              <a:rPr lang="en-US" altLang="zh-CN" sz="2800" dirty="0">
                <a:solidFill>
                  <a:sysClr val="windowText" lastClr="000000"/>
                </a:solidFill>
                <a:latin typeface="Arial" panose="020B0604020202090204" pitchFamily="34" charset="0"/>
                <a:ea typeface="微软雅黑" charset="-122"/>
                <a:sym typeface="+mn-ea"/>
              </a:rPr>
              <a:t>1</a:t>
            </a:r>
            <a:r>
              <a:rPr lang="zh-CN" altLang="en-US" sz="2800" dirty="0">
                <a:solidFill>
                  <a:sysClr val="windowText" lastClr="000000"/>
                </a:solidFill>
                <a:latin typeface="Arial" panose="020B0604020202090204" pitchFamily="34" charset="0"/>
                <a:ea typeface="微软雅黑" charset="-122"/>
                <a:sym typeface="+mn-ea"/>
              </a:rPr>
              <a:t>.</a:t>
            </a:r>
            <a:r>
              <a:rPr lang="en-US" altLang="zh-CN" sz="2800" dirty="0">
                <a:solidFill>
                  <a:sysClr val="windowText" lastClr="000000"/>
                </a:solidFill>
                <a:latin typeface="Arial" panose="020B0604020202090204" pitchFamily="34" charset="0"/>
                <a:ea typeface="微软雅黑" charset="-122"/>
                <a:sym typeface="+mn-ea"/>
              </a:rPr>
              <a:t>1 ControlNet</a:t>
            </a:r>
            <a:endParaRPr lang="zh-CN" altLang="en-US" sz="2800" dirty="0">
              <a:solidFill>
                <a:sysClr val="windowText" lastClr="000000"/>
              </a:solidFill>
              <a:latin typeface="Arial" panose="020B0604020202090204" pitchFamily="34" charset="0"/>
              <a:ea typeface="微软雅黑" charset="-122"/>
              <a:sym typeface="+mn-ea"/>
            </a:endParaRPr>
          </a:p>
        </p:txBody>
      </p:sp>
      <p:sp>
        <p:nvSpPr>
          <p:cNvPr id="29" name="文本框 28"/>
          <p:cNvSpPr txBox="1"/>
          <p:nvPr/>
        </p:nvSpPr>
        <p:spPr>
          <a:xfrm>
            <a:off x="1094740" y="1743399"/>
            <a:ext cx="4179346" cy="338554"/>
          </a:xfrm>
          <a:prstGeom prst="rect">
            <a:avLst/>
          </a:prstGeom>
          <a:noFill/>
        </p:spPr>
        <p:txBody>
          <a:bodyPr wrap="square">
            <a:spAutoFit/>
          </a:bodyPr>
          <a:lstStyle/>
          <a:p>
            <a:r>
              <a:rPr lang="en-US" altLang="zh-CN" sz="1600" dirty="0">
                <a:solidFill>
                  <a:schemeClr val="tx1">
                    <a:lumMod val="65000"/>
                    <a:lumOff val="35000"/>
                  </a:schemeClr>
                </a:solidFill>
                <a:latin typeface="微软雅黑" charset="-122"/>
                <a:ea typeface="微软雅黑" charset="-122"/>
              </a:rPr>
              <a:t>“zero convolution</a:t>
            </a:r>
            <a:r>
              <a:rPr lang="zh-CN" altLang="en-US" sz="1600" dirty="0">
                <a:solidFill>
                  <a:schemeClr val="tx1">
                    <a:lumMod val="65000"/>
                    <a:lumOff val="35000"/>
                  </a:schemeClr>
                </a:solidFill>
                <a:latin typeface="微软雅黑" charset="-122"/>
                <a:ea typeface="微软雅黑" charset="-122"/>
              </a:rPr>
              <a:t>模块”有效性分析</a:t>
            </a:r>
            <a:endParaRPr lang="zh-CN" altLang="en-US" sz="1600" dirty="0">
              <a:solidFill>
                <a:schemeClr val="tx1">
                  <a:lumMod val="65000"/>
                  <a:lumOff val="35000"/>
                </a:schemeClr>
              </a:solidFill>
              <a:latin typeface="微软雅黑" charset="-122"/>
              <a:ea typeface="微软雅黑" charset="-122"/>
            </a:endParaRPr>
          </a:p>
        </p:txBody>
      </p:sp>
      <p:pic>
        <p:nvPicPr>
          <p:cNvPr id="4" name="图片 3"/>
          <p:cNvPicPr>
            <a:picLocks noChangeAspect="1"/>
          </p:cNvPicPr>
          <p:nvPr/>
        </p:nvPicPr>
        <p:blipFill>
          <a:blip r:embed="rId6"/>
          <a:stretch>
            <a:fillRect/>
          </a:stretch>
        </p:blipFill>
        <p:spPr>
          <a:xfrm>
            <a:off x="771856" y="2295932"/>
            <a:ext cx="3630158" cy="2756423"/>
          </a:xfrm>
          <a:prstGeom prst="rect">
            <a:avLst/>
          </a:prstGeom>
        </p:spPr>
      </p:pic>
      <p:pic>
        <p:nvPicPr>
          <p:cNvPr id="6" name="图片 5"/>
          <p:cNvPicPr>
            <a:picLocks noChangeAspect="1"/>
          </p:cNvPicPr>
          <p:nvPr/>
        </p:nvPicPr>
        <p:blipFill>
          <a:blip r:embed="rId7"/>
          <a:stretch>
            <a:fillRect/>
          </a:stretch>
        </p:blipFill>
        <p:spPr>
          <a:xfrm>
            <a:off x="7407299" y="1745239"/>
            <a:ext cx="1262049" cy="402782"/>
          </a:xfrm>
          <a:prstGeom prst="rect">
            <a:avLst/>
          </a:prstGeom>
        </p:spPr>
      </p:pic>
      <p:pic>
        <p:nvPicPr>
          <p:cNvPr id="9" name="图片 8"/>
          <p:cNvPicPr>
            <a:picLocks noChangeAspect="1"/>
          </p:cNvPicPr>
          <p:nvPr/>
        </p:nvPicPr>
        <p:blipFill>
          <a:blip r:embed="rId8"/>
          <a:stretch>
            <a:fillRect/>
          </a:stretch>
        </p:blipFill>
        <p:spPr>
          <a:xfrm>
            <a:off x="8038323" y="2204147"/>
            <a:ext cx="2355971" cy="622332"/>
          </a:xfrm>
          <a:prstGeom prst="rect">
            <a:avLst/>
          </a:prstGeom>
        </p:spPr>
      </p:pic>
      <p:pic>
        <p:nvPicPr>
          <p:cNvPr id="11" name="图片 10"/>
          <p:cNvPicPr>
            <a:picLocks noChangeAspect="1"/>
          </p:cNvPicPr>
          <p:nvPr/>
        </p:nvPicPr>
        <p:blipFill>
          <a:blip r:embed="rId9"/>
          <a:stretch>
            <a:fillRect/>
          </a:stretch>
        </p:blipFill>
        <p:spPr>
          <a:xfrm>
            <a:off x="8701488" y="2853942"/>
            <a:ext cx="2228965" cy="565179"/>
          </a:xfrm>
          <a:prstGeom prst="rect">
            <a:avLst/>
          </a:prstGeom>
        </p:spPr>
      </p:pic>
      <p:pic>
        <p:nvPicPr>
          <p:cNvPr id="18" name="图片 17"/>
          <p:cNvPicPr>
            <a:picLocks noChangeAspect="1"/>
          </p:cNvPicPr>
          <p:nvPr/>
        </p:nvPicPr>
        <p:blipFill>
          <a:blip r:embed="rId10"/>
          <a:stretch>
            <a:fillRect/>
          </a:stretch>
        </p:blipFill>
        <p:spPr>
          <a:xfrm>
            <a:off x="7569515" y="3755252"/>
            <a:ext cx="789676" cy="618007"/>
          </a:xfrm>
          <a:prstGeom prst="rect">
            <a:avLst/>
          </a:prstGeom>
        </p:spPr>
      </p:pic>
      <p:sp>
        <p:nvSpPr>
          <p:cNvPr id="31" name="文本框 30"/>
          <p:cNvSpPr txBox="1"/>
          <p:nvPr/>
        </p:nvSpPr>
        <p:spPr>
          <a:xfrm>
            <a:off x="6244770" y="1683222"/>
            <a:ext cx="6187904" cy="458908"/>
          </a:xfrm>
          <a:prstGeom prst="rect">
            <a:avLst/>
          </a:prstGeom>
          <a:noFill/>
        </p:spPr>
        <p:txBody>
          <a:bodyPr wrap="square">
            <a:spAutoFit/>
          </a:bodyPr>
          <a:lstStyle/>
          <a:p>
            <a:pPr marL="285750" indent="-285750">
              <a:lnSpc>
                <a:spcPct val="150000"/>
              </a:lnSpc>
              <a:spcBef>
                <a:spcPts val="600"/>
              </a:spcBef>
              <a:spcAft>
                <a:spcPts val="0"/>
              </a:spcAft>
              <a:buFont typeface="Arial" panose="020B0604020202090204" pitchFamily="34" charset="0"/>
              <a:buChar char="•"/>
            </a:pPr>
            <a:r>
              <a:rPr lang="zh-CN" altLang="en-US" sz="1800" dirty="0">
                <a:solidFill>
                  <a:schemeClr val="tx1">
                    <a:lumMod val="65000"/>
                    <a:lumOff val="35000"/>
                  </a:schemeClr>
                </a:solidFill>
                <a:latin typeface="微软雅黑" charset="-122"/>
                <a:ea typeface="微软雅黑" charset="-122"/>
              </a:rPr>
              <a:t>假设</a:t>
            </a:r>
            <a:endParaRPr lang="en-US" altLang="zh-CN" sz="1800" dirty="0">
              <a:solidFill>
                <a:schemeClr val="tx1">
                  <a:lumMod val="65000"/>
                  <a:lumOff val="35000"/>
                </a:schemeClr>
              </a:solidFill>
              <a:latin typeface="微软雅黑" charset="-122"/>
              <a:ea typeface="微软雅黑" charset="-122"/>
            </a:endParaRPr>
          </a:p>
        </p:txBody>
      </p:sp>
      <p:sp>
        <p:nvSpPr>
          <p:cNvPr id="33" name="文本框 32"/>
          <p:cNvSpPr txBox="1"/>
          <p:nvPr/>
        </p:nvSpPr>
        <p:spPr>
          <a:xfrm>
            <a:off x="6244770" y="2277276"/>
            <a:ext cx="6187904" cy="458908"/>
          </a:xfrm>
          <a:prstGeom prst="rect">
            <a:avLst/>
          </a:prstGeom>
          <a:noFill/>
        </p:spPr>
        <p:txBody>
          <a:bodyPr wrap="square">
            <a:spAutoFit/>
          </a:bodyPr>
          <a:lstStyle/>
          <a:p>
            <a:pPr marL="285750" indent="-285750">
              <a:lnSpc>
                <a:spcPct val="150000"/>
              </a:lnSpc>
              <a:spcBef>
                <a:spcPts val="600"/>
              </a:spcBef>
              <a:spcAft>
                <a:spcPts val="0"/>
              </a:spcAft>
              <a:buFont typeface="Arial" panose="020B0604020202090204" pitchFamily="34" charset="0"/>
              <a:buChar char="•"/>
            </a:pPr>
            <a:r>
              <a:rPr lang="zh-CN" altLang="en-US" sz="1800" dirty="0">
                <a:solidFill>
                  <a:schemeClr val="tx1">
                    <a:lumMod val="65000"/>
                    <a:lumOff val="35000"/>
                  </a:schemeClr>
                </a:solidFill>
                <a:latin typeface="微软雅黑" charset="-122"/>
                <a:ea typeface="微软雅黑" charset="-122"/>
              </a:rPr>
              <a:t>根据求导可得</a:t>
            </a:r>
            <a:endParaRPr lang="en-US" altLang="zh-CN" sz="1800" dirty="0">
              <a:solidFill>
                <a:schemeClr val="tx1">
                  <a:lumMod val="65000"/>
                  <a:lumOff val="35000"/>
                </a:schemeClr>
              </a:solidFill>
              <a:latin typeface="微软雅黑" charset="-122"/>
              <a:ea typeface="微软雅黑" charset="-122"/>
            </a:endParaRPr>
          </a:p>
        </p:txBody>
      </p:sp>
      <p:sp>
        <p:nvSpPr>
          <p:cNvPr id="34" name="文本框 33"/>
          <p:cNvSpPr txBox="1"/>
          <p:nvPr/>
        </p:nvSpPr>
        <p:spPr>
          <a:xfrm>
            <a:off x="6244770" y="2848690"/>
            <a:ext cx="6187904" cy="458908"/>
          </a:xfrm>
          <a:prstGeom prst="rect">
            <a:avLst/>
          </a:prstGeom>
          <a:noFill/>
        </p:spPr>
        <p:txBody>
          <a:bodyPr wrap="square">
            <a:spAutoFit/>
          </a:bodyPr>
          <a:lstStyle/>
          <a:p>
            <a:pPr marL="285750" indent="-285750">
              <a:lnSpc>
                <a:spcPct val="150000"/>
              </a:lnSpc>
              <a:spcBef>
                <a:spcPts val="600"/>
              </a:spcBef>
              <a:spcAft>
                <a:spcPts val="0"/>
              </a:spcAft>
              <a:buFont typeface="Arial" panose="020B0604020202090204" pitchFamily="34" charset="0"/>
              <a:buChar char="•"/>
            </a:pPr>
            <a:r>
              <a:rPr lang="zh-CN" altLang="en-US" sz="1800" dirty="0">
                <a:solidFill>
                  <a:schemeClr val="tx1">
                    <a:lumMod val="65000"/>
                    <a:lumOff val="35000"/>
                  </a:schemeClr>
                </a:solidFill>
                <a:latin typeface="微软雅黑" charset="-122"/>
                <a:ea typeface="微软雅黑" charset="-122"/>
              </a:rPr>
              <a:t>当</a:t>
            </a:r>
            <a:r>
              <a:rPr lang="en-US" altLang="zh-CN" sz="1800" dirty="0">
                <a:solidFill>
                  <a:schemeClr val="tx1">
                    <a:lumMod val="65000"/>
                    <a:lumOff val="35000"/>
                  </a:schemeClr>
                </a:solidFill>
                <a:latin typeface="微软雅黑" charset="-122"/>
                <a:ea typeface="微软雅黑" charset="-122"/>
              </a:rPr>
              <a:t>w=0 </a:t>
            </a:r>
            <a:r>
              <a:rPr lang="zh-CN" altLang="en-US" sz="1800" dirty="0">
                <a:solidFill>
                  <a:schemeClr val="tx1">
                    <a:lumMod val="65000"/>
                    <a:lumOff val="35000"/>
                  </a:schemeClr>
                </a:solidFill>
                <a:latin typeface="微软雅黑" charset="-122"/>
                <a:ea typeface="微软雅黑" charset="-122"/>
              </a:rPr>
              <a:t>并且</a:t>
            </a:r>
            <a:r>
              <a:rPr lang="en-US" altLang="zh-CN" sz="1800" dirty="0">
                <a:solidFill>
                  <a:schemeClr val="tx1">
                    <a:lumMod val="65000"/>
                    <a:lumOff val="35000"/>
                  </a:schemeClr>
                </a:solidFill>
                <a:latin typeface="微软雅黑" charset="-122"/>
                <a:ea typeface="微软雅黑" charset="-122"/>
              </a:rPr>
              <a:t>x</a:t>
            </a:r>
            <a:r>
              <a:rPr lang="zh-CN" altLang="en-US" sz="1800" dirty="0">
                <a:solidFill>
                  <a:schemeClr val="tx1">
                    <a:lumMod val="65000"/>
                    <a:lumOff val="35000"/>
                  </a:schemeClr>
                </a:solidFill>
                <a:latin typeface="微软雅黑" charset="-122"/>
                <a:ea typeface="微软雅黑" charset="-122"/>
              </a:rPr>
              <a:t>≠</a:t>
            </a:r>
            <a:r>
              <a:rPr lang="en-US" altLang="zh-CN" sz="1800" dirty="0">
                <a:solidFill>
                  <a:schemeClr val="tx1">
                    <a:lumMod val="65000"/>
                    <a:lumOff val="35000"/>
                  </a:schemeClr>
                </a:solidFill>
                <a:latin typeface="微软雅黑" charset="-122"/>
                <a:ea typeface="微软雅黑" charset="-122"/>
              </a:rPr>
              <a:t>0</a:t>
            </a:r>
            <a:r>
              <a:rPr lang="zh-CN" altLang="en-US" sz="1800" dirty="0">
                <a:solidFill>
                  <a:schemeClr val="tx1">
                    <a:lumMod val="65000"/>
                    <a:lumOff val="35000"/>
                  </a:schemeClr>
                </a:solidFill>
                <a:latin typeface="微软雅黑" charset="-122"/>
                <a:ea typeface="微软雅黑" charset="-122"/>
              </a:rPr>
              <a:t>，有</a:t>
            </a:r>
            <a:endParaRPr lang="en-US" altLang="zh-CN" sz="1800" dirty="0">
              <a:solidFill>
                <a:schemeClr val="tx1">
                  <a:lumMod val="65000"/>
                  <a:lumOff val="35000"/>
                </a:schemeClr>
              </a:solidFill>
              <a:latin typeface="微软雅黑" charset="-122"/>
              <a:ea typeface="微软雅黑" charset="-122"/>
            </a:endParaRPr>
          </a:p>
        </p:txBody>
      </p:sp>
      <p:sp>
        <p:nvSpPr>
          <p:cNvPr id="36" name="文本框 35"/>
          <p:cNvSpPr txBox="1"/>
          <p:nvPr/>
        </p:nvSpPr>
        <p:spPr>
          <a:xfrm>
            <a:off x="6244770" y="3303585"/>
            <a:ext cx="6187904" cy="458908"/>
          </a:xfrm>
          <a:prstGeom prst="rect">
            <a:avLst/>
          </a:prstGeom>
          <a:noFill/>
        </p:spPr>
        <p:txBody>
          <a:bodyPr wrap="square">
            <a:spAutoFit/>
          </a:bodyPr>
          <a:lstStyle/>
          <a:p>
            <a:pPr marL="285750" indent="-285750">
              <a:lnSpc>
                <a:spcPct val="150000"/>
              </a:lnSpc>
              <a:spcBef>
                <a:spcPts val="600"/>
              </a:spcBef>
              <a:spcAft>
                <a:spcPts val="0"/>
              </a:spcAft>
              <a:buFont typeface="Arial" panose="020B0604020202090204" pitchFamily="34" charset="0"/>
              <a:buChar char="•"/>
            </a:pPr>
            <a:r>
              <a:rPr lang="zh-CN" altLang="en-US" sz="1800" dirty="0">
                <a:solidFill>
                  <a:schemeClr val="tx1">
                    <a:lumMod val="65000"/>
                    <a:lumOff val="35000"/>
                  </a:schemeClr>
                </a:solidFill>
                <a:latin typeface="微软雅黑" charset="-122"/>
                <a:ea typeface="微软雅黑" charset="-122"/>
              </a:rPr>
              <a:t>一次梯度下降后，有</a:t>
            </a:r>
            <a:r>
              <a:rPr lang="en-US" altLang="zh-CN" sz="1800" dirty="0">
                <a:solidFill>
                  <a:schemeClr val="tx1">
                    <a:lumMod val="65000"/>
                    <a:lumOff val="35000"/>
                  </a:schemeClr>
                </a:solidFill>
                <a:latin typeface="微软雅黑" charset="-122"/>
                <a:ea typeface="微软雅黑" charset="-122"/>
              </a:rPr>
              <a:t>w</a:t>
            </a:r>
            <a:r>
              <a:rPr lang="zh-CN" altLang="en-US" sz="1800" dirty="0">
                <a:solidFill>
                  <a:schemeClr val="tx1">
                    <a:lumMod val="65000"/>
                    <a:lumOff val="35000"/>
                  </a:schemeClr>
                </a:solidFill>
                <a:latin typeface="微软雅黑" charset="-122"/>
                <a:ea typeface="微软雅黑" charset="-122"/>
              </a:rPr>
              <a:t>≠</a:t>
            </a:r>
            <a:r>
              <a:rPr lang="en-US" altLang="zh-CN" sz="1800" dirty="0">
                <a:solidFill>
                  <a:schemeClr val="tx1">
                    <a:lumMod val="65000"/>
                    <a:lumOff val="35000"/>
                  </a:schemeClr>
                </a:solidFill>
                <a:latin typeface="微软雅黑" charset="-122"/>
                <a:ea typeface="微软雅黑" charset="-122"/>
              </a:rPr>
              <a:t>0</a:t>
            </a:r>
            <a:endParaRPr lang="en-US" altLang="zh-CN" sz="1800" dirty="0">
              <a:solidFill>
                <a:schemeClr val="tx1">
                  <a:lumMod val="65000"/>
                  <a:lumOff val="35000"/>
                </a:schemeClr>
              </a:solidFill>
              <a:latin typeface="微软雅黑" charset="-122"/>
              <a:ea typeface="微软雅黑" charset="-122"/>
            </a:endParaRPr>
          </a:p>
        </p:txBody>
      </p:sp>
      <p:sp>
        <p:nvSpPr>
          <p:cNvPr id="37" name="文本框 36"/>
          <p:cNvSpPr txBox="1"/>
          <p:nvPr/>
        </p:nvSpPr>
        <p:spPr>
          <a:xfrm>
            <a:off x="6244770" y="3834802"/>
            <a:ext cx="6187904" cy="458908"/>
          </a:xfrm>
          <a:prstGeom prst="rect">
            <a:avLst/>
          </a:prstGeom>
          <a:noFill/>
        </p:spPr>
        <p:txBody>
          <a:bodyPr wrap="square">
            <a:spAutoFit/>
          </a:bodyPr>
          <a:lstStyle/>
          <a:p>
            <a:pPr marL="285750" indent="-285750">
              <a:lnSpc>
                <a:spcPct val="150000"/>
              </a:lnSpc>
              <a:spcBef>
                <a:spcPts val="600"/>
              </a:spcBef>
              <a:spcAft>
                <a:spcPts val="0"/>
              </a:spcAft>
              <a:buFont typeface="Arial" panose="020B0604020202090204" pitchFamily="34" charset="0"/>
              <a:buChar char="•"/>
            </a:pPr>
            <a:r>
              <a:rPr lang="zh-CN" altLang="en-US" sz="1800" dirty="0">
                <a:solidFill>
                  <a:schemeClr val="tx1">
                    <a:lumMod val="65000"/>
                    <a:lumOff val="35000"/>
                  </a:schemeClr>
                </a:solidFill>
                <a:latin typeface="微软雅黑" charset="-122"/>
                <a:ea typeface="微软雅黑" charset="-122"/>
              </a:rPr>
              <a:t>则有：</a:t>
            </a:r>
            <a:endParaRPr lang="en-US" altLang="zh-CN" sz="1800" dirty="0">
              <a:solidFill>
                <a:schemeClr val="tx1">
                  <a:lumMod val="65000"/>
                  <a:lumOff val="35000"/>
                </a:schemeClr>
              </a:solidFill>
              <a:latin typeface="微软雅黑" charset="-122"/>
              <a:ea typeface="微软雅黑" charset="-122"/>
            </a:endParaRPr>
          </a:p>
        </p:txBody>
      </p:sp>
    </p:spTree>
    <p:custDataLst>
      <p:tags r:id="rId11"/>
    </p:custDataLst>
  </p:cSld>
  <p:clrMapOvr>
    <a:masterClrMapping/>
  </p:clrMapOvr>
  <p:transition advTm="58970"/>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图片 2" descr="剪影蓝 低版本"/>
          <p:cNvPicPr>
            <a:picLocks noChangeAspect="1"/>
          </p:cNvPicPr>
          <p:nvPr/>
        </p:nvPicPr>
        <p:blipFill>
          <a:blip r:embed="rId1"/>
          <a:srcRect l="-8"/>
          <a:stretch>
            <a:fillRect/>
          </a:stretch>
        </p:blipFill>
        <p:spPr>
          <a:xfrm>
            <a:off x="1505" y="5378386"/>
            <a:ext cx="12190495" cy="2438099"/>
          </a:xfrm>
          <a:prstGeom prst="rect">
            <a:avLst/>
          </a:prstGeom>
          <a:noFill/>
          <a:ln w="9525">
            <a:noFill/>
          </a:ln>
        </p:spPr>
      </p:pic>
      <p:sp>
        <p:nvSpPr>
          <p:cNvPr id="22" name="文本框 21"/>
          <p:cNvSpPr txBox="1"/>
          <p:nvPr/>
        </p:nvSpPr>
        <p:spPr>
          <a:xfrm>
            <a:off x="154297" y="-42999"/>
            <a:ext cx="552421" cy="874984"/>
          </a:xfrm>
          <a:prstGeom prst="rect">
            <a:avLst/>
          </a:prstGeom>
          <a:noFill/>
          <a:effectLst>
            <a:reflection blurRad="12700" stA="0" endPos="65000" dist="50800" dir="5400000" sy="-100000" algn="bl" rotWithShape="0"/>
          </a:effectLst>
        </p:spPr>
        <p:txBody>
          <a:bodyPr wrap="square" rtlCol="0">
            <a:noAutofit/>
          </a:bodyPr>
          <a:lstStyle/>
          <a:p>
            <a:r>
              <a:rPr lang="en-US" altLang="zh-CN" sz="5400" b="1" dirty="0">
                <a:solidFill>
                  <a:schemeClr val="bg1"/>
                </a:solidFill>
                <a:effectLst>
                  <a:glow>
                    <a:schemeClr val="accent1">
                      <a:alpha val="40000"/>
                    </a:schemeClr>
                  </a:glow>
                </a:effectLst>
                <a:latin typeface="Times New Roman" panose="02020503050405090304" charset="0"/>
                <a:ea typeface="微软雅黑" charset="-122"/>
                <a:cs typeface="Times New Roman" panose="02020503050405090304" charset="0"/>
              </a:rPr>
              <a:t>1</a:t>
            </a:r>
            <a:endParaRPr lang="en-US" altLang="zh-CN" sz="5400" b="1" dirty="0">
              <a:solidFill>
                <a:schemeClr val="bg1"/>
              </a:solidFill>
              <a:effectLst>
                <a:glow>
                  <a:schemeClr val="accent1">
                    <a:alpha val="40000"/>
                  </a:schemeClr>
                </a:glow>
              </a:effectLst>
              <a:latin typeface="Times New Roman" panose="02020503050405090304" charset="0"/>
              <a:ea typeface="微软雅黑" charset="-122"/>
              <a:cs typeface="Times New Roman" panose="02020503050405090304" charset="0"/>
            </a:endParaRPr>
          </a:p>
        </p:txBody>
      </p:sp>
      <p:sp>
        <p:nvSpPr>
          <p:cNvPr id="2" name="文本框 1"/>
          <p:cNvSpPr txBox="1"/>
          <p:nvPr/>
        </p:nvSpPr>
        <p:spPr>
          <a:xfrm>
            <a:off x="1094740" y="259715"/>
            <a:ext cx="6096000" cy="521970"/>
          </a:xfrm>
          <a:prstGeom prst="rect">
            <a:avLst/>
          </a:prstGeom>
          <a:noFill/>
        </p:spPr>
        <p:txBody>
          <a:bodyPr wrap="square" rtlCol="0" anchor="t">
            <a:spAutoFit/>
          </a:bodyPr>
          <a:lstStyle/>
          <a:p>
            <a:r>
              <a:rPr sz="2800" b="1">
                <a:solidFill>
                  <a:srgbClr val="000000"/>
                </a:solidFill>
                <a:latin typeface="微软雅黑" charset="-122"/>
                <a:ea typeface="微软雅黑" charset="-122"/>
                <a:cs typeface="微软雅黑" charset="-122"/>
                <a:sym typeface="+mn-ea"/>
              </a:rPr>
              <a:t>1.1 从变化率到梯度的直观引入</a:t>
            </a:r>
            <a:endParaRPr lang="zh-CN" altLang="en-US" sz="2800" b="1">
              <a:solidFill>
                <a:srgbClr val="000000"/>
              </a:solidFill>
              <a:latin typeface="微软雅黑" charset="-122"/>
              <a:ea typeface="微软雅黑" charset="-122"/>
              <a:cs typeface="微软雅黑" charset="-122"/>
              <a:sym typeface="+mn-ea"/>
            </a:endParaRPr>
          </a:p>
        </p:txBody>
      </p:sp>
      <p:sp>
        <p:nvSpPr>
          <p:cNvPr id="13" name="矩形 12"/>
          <p:cNvSpPr/>
          <p:nvPr>
            <p:custDataLst>
              <p:tags r:id="rId2"/>
            </p:custDataLst>
          </p:nvPr>
        </p:nvSpPr>
        <p:spPr>
          <a:xfrm>
            <a:off x="1353" y="600"/>
            <a:ext cx="12190495" cy="840002"/>
          </a:xfrm>
          <a:prstGeom prst="rect">
            <a:avLst/>
          </a:prstGeom>
          <a:gradFill>
            <a:gsLst>
              <a:gs pos="0">
                <a:schemeClr val="bg1"/>
              </a:gs>
              <a:gs pos="50000">
                <a:srgbClr val="5399D4"/>
              </a:gs>
              <a:gs pos="100000">
                <a:srgbClr val="2E3C63"/>
              </a:gs>
            </a:gsLst>
          </a:gradFill>
          <a:effectLst/>
        </p:spPr>
        <p:style>
          <a:lnRef idx="0">
            <a:srgbClr val="FFFFFF"/>
          </a:lnRef>
          <a:fillRef idx="2">
            <a:schemeClr val="accent1"/>
          </a:fillRef>
          <a:effectRef idx="1">
            <a:schemeClr val="accent1"/>
          </a:effectRef>
          <a:fontRef idx="minor">
            <a:schemeClr val="lt1"/>
          </a:fontRef>
        </p:style>
        <p:txBody>
          <a:bodyPr rtlCol="0" anchor="ctr"/>
          <a:lstStyle/>
          <a:p>
            <a:pPr algn="ctr" fontAlgn="base"/>
            <a:endParaRPr lang="zh-CN" altLang="en-US" sz="100" strike="noStrike" noProof="1"/>
          </a:p>
        </p:txBody>
      </p:sp>
      <p:pic>
        <p:nvPicPr>
          <p:cNvPr id="15" name="图片 14" descr="国科大标准Logo横式一（白色）"/>
          <p:cNvPicPr>
            <a:picLocks noChangeAspect="1"/>
          </p:cNvPicPr>
          <p:nvPr/>
        </p:nvPicPr>
        <p:blipFill>
          <a:blip r:embed="rId3"/>
          <a:stretch>
            <a:fillRect/>
          </a:stretch>
        </p:blipFill>
        <p:spPr>
          <a:xfrm>
            <a:off x="9815971" y="187901"/>
            <a:ext cx="2167622" cy="457144"/>
          </a:xfrm>
          <a:prstGeom prst="rect">
            <a:avLst/>
          </a:prstGeom>
        </p:spPr>
      </p:pic>
      <p:sp>
        <p:nvSpPr>
          <p:cNvPr id="3078" name="文本框 3"/>
          <p:cNvSpPr txBox="1"/>
          <p:nvPr>
            <p:custDataLst>
              <p:tags r:id="rId4"/>
            </p:custDataLst>
          </p:nvPr>
        </p:nvSpPr>
        <p:spPr>
          <a:xfrm>
            <a:off x="46644" y="-47231"/>
            <a:ext cx="850795" cy="919366"/>
          </a:xfrm>
          <a:prstGeom prst="rect">
            <a:avLst/>
          </a:prstGeom>
          <a:noFill/>
          <a:ln w="12700" cmpd="sng">
            <a:noFill/>
            <a:prstDash val="solid"/>
          </a:ln>
          <a:effectLst>
            <a:outerShdw dist="63500" dir="2700000" algn="tl" rotWithShape="0">
              <a:schemeClr val="bg1">
                <a:alpha val="100000"/>
              </a:schemeClr>
            </a:outerShdw>
          </a:effectLst>
        </p:spPr>
        <p:txBody>
          <a:bodyPr wrap="square" anchor="t" anchorCtr="0"/>
          <a:lstStyle/>
          <a:p>
            <a:pPr>
              <a:lnSpc>
                <a:spcPct val="130000"/>
              </a:lnSpc>
            </a:pPr>
            <a:r>
              <a:rPr lang="en-US" altLang="zh-CN" sz="4000" i="1" dirty="0">
                <a:ln w="19050">
                  <a:noFill/>
                </a:ln>
                <a:gradFill>
                  <a:gsLst>
                    <a:gs pos="39000">
                      <a:srgbClr val="5399D4"/>
                    </a:gs>
                    <a:gs pos="100000">
                      <a:schemeClr val="bg1"/>
                    </a:gs>
                  </a:gsLst>
                  <a:lin ang="5400000" scaled="0"/>
                </a:gradFill>
                <a:latin typeface="Bauhaus 93" panose="04030905020B02020C02" charset="0"/>
                <a:ea typeface="造字工房朗倩（非商用）常规体" charset="-122"/>
                <a:cs typeface="Bauhaus 93" panose="04030905020B02020C02" charset="0"/>
              </a:rPr>
              <a:t>01</a:t>
            </a:r>
            <a:endParaRPr lang="en-US" altLang="zh-CN" sz="4000" i="1" dirty="0">
              <a:ln w="19050">
                <a:noFill/>
              </a:ln>
              <a:gradFill>
                <a:gsLst>
                  <a:gs pos="39000">
                    <a:srgbClr val="5399D4"/>
                  </a:gs>
                  <a:gs pos="100000">
                    <a:schemeClr val="bg1"/>
                  </a:gs>
                </a:gsLst>
                <a:lin ang="5400000" scaled="0"/>
              </a:gradFill>
              <a:latin typeface="Bauhaus 93" panose="04030905020B02020C02" charset="0"/>
              <a:ea typeface="造字工房朗倩（非商用）常规体" charset="-122"/>
              <a:cs typeface="Bauhaus 93" panose="04030905020B02020C02" charset="0"/>
            </a:endParaRPr>
          </a:p>
        </p:txBody>
      </p:sp>
      <p:sp>
        <p:nvSpPr>
          <p:cNvPr id="16" name="文本框 15"/>
          <p:cNvSpPr txBox="1"/>
          <p:nvPr>
            <p:custDataLst>
              <p:tags r:id="rId5"/>
            </p:custDataLst>
          </p:nvPr>
        </p:nvSpPr>
        <p:spPr>
          <a:xfrm>
            <a:off x="897439" y="151711"/>
            <a:ext cx="8441283" cy="537779"/>
          </a:xfrm>
          <a:prstGeom prst="rect">
            <a:avLst/>
          </a:prstGeom>
          <a:noFill/>
        </p:spPr>
        <p:txBody>
          <a:bodyPr wrap="square" rtlCol="0">
            <a:noAutofit/>
          </a:bodyPr>
          <a:lstStyle/>
          <a:p>
            <a:r>
              <a:rPr lang="en-US" altLang="zh-CN" sz="3600" b="1" dirty="0">
                <a:solidFill>
                  <a:schemeClr val="tx1"/>
                </a:solidFill>
              </a:rPr>
              <a:t>Parameter Efficient Methods</a:t>
            </a:r>
            <a:endParaRPr lang="zh-CN" altLang="en-US" sz="3600" b="1" dirty="0">
              <a:solidFill>
                <a:schemeClr val="tx1"/>
              </a:solidFill>
            </a:endParaRPr>
          </a:p>
        </p:txBody>
      </p:sp>
      <p:sp>
        <p:nvSpPr>
          <p:cNvPr id="17" name="灯片编号占位符 16"/>
          <p:cNvSpPr>
            <a:spLocks noGrp="1"/>
          </p:cNvSpPr>
          <p:nvPr>
            <p:ph type="sldNum" sz="quarter" idx="12"/>
          </p:nvPr>
        </p:nvSpPr>
        <p:spPr/>
        <p:txBody>
          <a:bodyPr>
            <a:noAutofit/>
          </a:bodyPr>
          <a:lstStyle/>
          <a:p>
            <a:pPr algn="l" fontAlgn="auto"/>
            <a:fld id="{49AE70B2-8BF9-45C0-BB95-33D1B9D3A854}" type="slidenum">
              <a:rPr lang="zh-CN" altLang="en-US" sz="1800" strike="noStrike" noProof="1" smtClean="0">
                <a:solidFill>
                  <a:schemeClr val="tx1"/>
                </a:solidFill>
                <a:latin typeface="+mn-lt"/>
                <a:ea typeface="+mn-ea"/>
                <a:cs typeface="+mn-cs"/>
              </a:rPr>
            </a:fld>
            <a:endParaRPr lang="zh-CN" altLang="en-US" sz="1800" strike="noStrike" noProof="1">
              <a:solidFill>
                <a:schemeClr val="tx1"/>
              </a:solidFill>
              <a:latin typeface="+mn-lt"/>
              <a:ea typeface="+mn-ea"/>
              <a:cs typeface="+mn-cs"/>
            </a:endParaRPr>
          </a:p>
        </p:txBody>
      </p:sp>
      <p:sp>
        <p:nvSpPr>
          <p:cNvPr id="14" name="文本框 13"/>
          <p:cNvSpPr txBox="1"/>
          <p:nvPr/>
        </p:nvSpPr>
        <p:spPr>
          <a:xfrm>
            <a:off x="706755" y="870585"/>
            <a:ext cx="7586322" cy="658835"/>
          </a:xfrm>
          <a:prstGeom prst="rect">
            <a:avLst/>
          </a:prstGeom>
          <a:noFill/>
        </p:spPr>
        <p:txBody>
          <a:bodyPr wrap="square" rtlCol="0" anchor="t">
            <a:spAutoFit/>
          </a:bodyPr>
          <a:lstStyle/>
          <a:p>
            <a:pPr lvl="1" indent="-457200" algn="l" defTabSz="914400" fontAlgn="base">
              <a:lnSpc>
                <a:spcPct val="150000"/>
              </a:lnSpc>
              <a:buClrTx/>
              <a:buSzTx/>
              <a:buFont typeface="Wingdings" panose="05000000000000000000" pitchFamily="2" charset="2"/>
              <a:buChar char="Ø"/>
            </a:pPr>
            <a:r>
              <a:rPr lang="en-US" altLang="zh-CN" sz="2800" dirty="0">
                <a:solidFill>
                  <a:sysClr val="windowText" lastClr="000000"/>
                </a:solidFill>
                <a:latin typeface="Arial" panose="020B0604020202090204" pitchFamily="34" charset="0"/>
                <a:ea typeface="微软雅黑" charset="-122"/>
                <a:sym typeface="+mn-ea"/>
              </a:rPr>
              <a:t>1</a:t>
            </a:r>
            <a:r>
              <a:rPr lang="zh-CN" altLang="en-US" sz="2800" dirty="0">
                <a:solidFill>
                  <a:sysClr val="windowText" lastClr="000000"/>
                </a:solidFill>
                <a:latin typeface="Arial" panose="020B0604020202090204" pitchFamily="34" charset="0"/>
                <a:ea typeface="微软雅黑" charset="-122"/>
                <a:sym typeface="+mn-ea"/>
              </a:rPr>
              <a:t>.</a:t>
            </a:r>
            <a:r>
              <a:rPr lang="en-US" altLang="zh-CN" sz="2800" dirty="0">
                <a:solidFill>
                  <a:sysClr val="windowText" lastClr="000000"/>
                </a:solidFill>
                <a:latin typeface="Arial" panose="020B0604020202090204" pitchFamily="34" charset="0"/>
                <a:ea typeface="微软雅黑" charset="-122"/>
                <a:sym typeface="+mn-ea"/>
              </a:rPr>
              <a:t>1 ControlNet</a:t>
            </a:r>
            <a:endParaRPr lang="zh-CN" altLang="en-US" sz="2800" dirty="0">
              <a:solidFill>
                <a:sysClr val="windowText" lastClr="000000"/>
              </a:solidFill>
              <a:latin typeface="Arial" panose="020B0604020202090204" pitchFamily="34" charset="0"/>
              <a:ea typeface="微软雅黑" charset="-122"/>
              <a:sym typeface="+mn-ea"/>
            </a:endParaRPr>
          </a:p>
        </p:txBody>
      </p:sp>
      <p:sp>
        <p:nvSpPr>
          <p:cNvPr id="29" name="文本框 28"/>
          <p:cNvSpPr txBox="1"/>
          <p:nvPr/>
        </p:nvSpPr>
        <p:spPr>
          <a:xfrm>
            <a:off x="897439" y="1743399"/>
            <a:ext cx="5431703" cy="338554"/>
          </a:xfrm>
          <a:prstGeom prst="rect">
            <a:avLst/>
          </a:prstGeom>
          <a:noFill/>
        </p:spPr>
        <p:txBody>
          <a:bodyPr wrap="square">
            <a:spAutoFit/>
          </a:bodyPr>
          <a:lstStyle/>
          <a:p>
            <a:r>
              <a:rPr lang="en-US" altLang="zh-CN" sz="1600" dirty="0">
                <a:solidFill>
                  <a:schemeClr val="tx1">
                    <a:lumMod val="65000"/>
                    <a:lumOff val="35000"/>
                  </a:schemeClr>
                </a:solidFill>
                <a:latin typeface="微软雅黑" charset="-122"/>
                <a:ea typeface="微软雅黑" charset="-122"/>
              </a:rPr>
              <a:t>Stable Diffusion</a:t>
            </a:r>
            <a:r>
              <a:rPr lang="zh-CN" altLang="en-US" sz="1600" dirty="0">
                <a:solidFill>
                  <a:schemeClr val="tx1">
                    <a:lumMod val="65000"/>
                    <a:lumOff val="35000"/>
                  </a:schemeClr>
                </a:solidFill>
                <a:latin typeface="微软雅黑" charset="-122"/>
                <a:ea typeface="微软雅黑" charset="-122"/>
              </a:rPr>
              <a:t>等扩散模型的图像生成过程表达为</a:t>
            </a:r>
            <a:endParaRPr lang="zh-CN" altLang="en-US" sz="1600" dirty="0">
              <a:solidFill>
                <a:schemeClr val="tx1">
                  <a:lumMod val="65000"/>
                  <a:lumOff val="35000"/>
                </a:schemeClr>
              </a:solidFill>
              <a:latin typeface="微软雅黑" charset="-122"/>
              <a:ea typeface="微软雅黑" charset="-122"/>
            </a:endParaRPr>
          </a:p>
        </p:txBody>
      </p:sp>
      <p:pic>
        <p:nvPicPr>
          <p:cNvPr id="7" name="图片 6"/>
          <p:cNvPicPr>
            <a:picLocks noChangeAspect="1"/>
          </p:cNvPicPr>
          <p:nvPr/>
        </p:nvPicPr>
        <p:blipFill>
          <a:blip r:embed="rId6"/>
          <a:stretch>
            <a:fillRect/>
          </a:stretch>
        </p:blipFill>
        <p:spPr>
          <a:xfrm>
            <a:off x="993441" y="2217646"/>
            <a:ext cx="5239697" cy="578972"/>
          </a:xfrm>
          <a:prstGeom prst="rect">
            <a:avLst/>
          </a:prstGeom>
        </p:spPr>
      </p:pic>
      <p:pic>
        <p:nvPicPr>
          <p:cNvPr id="10" name="图片 9"/>
          <p:cNvPicPr>
            <a:picLocks noChangeAspect="1"/>
          </p:cNvPicPr>
          <p:nvPr/>
        </p:nvPicPr>
        <p:blipFill>
          <a:blip r:embed="rId7"/>
          <a:stretch>
            <a:fillRect/>
          </a:stretch>
        </p:blipFill>
        <p:spPr>
          <a:xfrm>
            <a:off x="2684339" y="2824726"/>
            <a:ext cx="2439093" cy="3267465"/>
          </a:xfrm>
          <a:prstGeom prst="rect">
            <a:avLst/>
          </a:prstGeom>
        </p:spPr>
      </p:pic>
    </p:spTree>
    <p:custDataLst>
      <p:tags r:id="rId8"/>
    </p:custDataLst>
  </p:cSld>
  <p:clrMapOvr>
    <a:masterClrMapping/>
  </p:clrMapOvr>
  <p:transition advTm="58970"/>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图片 2" descr="剪影蓝 低版本"/>
          <p:cNvPicPr>
            <a:picLocks noChangeAspect="1"/>
          </p:cNvPicPr>
          <p:nvPr/>
        </p:nvPicPr>
        <p:blipFill>
          <a:blip r:embed="rId1"/>
          <a:srcRect l="-8"/>
          <a:stretch>
            <a:fillRect/>
          </a:stretch>
        </p:blipFill>
        <p:spPr>
          <a:xfrm>
            <a:off x="1505" y="5378386"/>
            <a:ext cx="12190495" cy="2438099"/>
          </a:xfrm>
          <a:prstGeom prst="rect">
            <a:avLst/>
          </a:prstGeom>
          <a:noFill/>
          <a:ln w="9525">
            <a:noFill/>
          </a:ln>
        </p:spPr>
      </p:pic>
      <p:sp>
        <p:nvSpPr>
          <p:cNvPr id="22" name="文本框 21"/>
          <p:cNvSpPr txBox="1"/>
          <p:nvPr/>
        </p:nvSpPr>
        <p:spPr>
          <a:xfrm>
            <a:off x="154297" y="-42999"/>
            <a:ext cx="552421" cy="874984"/>
          </a:xfrm>
          <a:prstGeom prst="rect">
            <a:avLst/>
          </a:prstGeom>
          <a:noFill/>
          <a:effectLst>
            <a:reflection blurRad="12700" stA="0" endPos="65000" dist="50800" dir="5400000" sy="-100000" algn="bl" rotWithShape="0"/>
          </a:effectLst>
        </p:spPr>
        <p:txBody>
          <a:bodyPr wrap="square" rtlCol="0">
            <a:noAutofit/>
          </a:bodyPr>
          <a:lstStyle/>
          <a:p>
            <a:r>
              <a:rPr lang="en-US" altLang="zh-CN" sz="5400" b="1" dirty="0">
                <a:solidFill>
                  <a:schemeClr val="bg1"/>
                </a:solidFill>
                <a:effectLst>
                  <a:glow>
                    <a:schemeClr val="accent1">
                      <a:alpha val="40000"/>
                    </a:schemeClr>
                  </a:glow>
                </a:effectLst>
                <a:latin typeface="Times New Roman" panose="02020503050405090304" charset="0"/>
                <a:ea typeface="微软雅黑" charset="-122"/>
                <a:cs typeface="Times New Roman" panose="02020503050405090304" charset="0"/>
              </a:rPr>
              <a:t>1</a:t>
            </a:r>
            <a:endParaRPr lang="en-US" altLang="zh-CN" sz="5400" b="1" dirty="0">
              <a:solidFill>
                <a:schemeClr val="bg1"/>
              </a:solidFill>
              <a:effectLst>
                <a:glow>
                  <a:schemeClr val="accent1">
                    <a:alpha val="40000"/>
                  </a:schemeClr>
                </a:glow>
              </a:effectLst>
              <a:latin typeface="Times New Roman" panose="02020503050405090304" charset="0"/>
              <a:ea typeface="微软雅黑" charset="-122"/>
              <a:cs typeface="Times New Roman" panose="02020503050405090304" charset="0"/>
            </a:endParaRPr>
          </a:p>
        </p:txBody>
      </p:sp>
      <p:sp>
        <p:nvSpPr>
          <p:cNvPr id="2" name="文本框 1"/>
          <p:cNvSpPr txBox="1"/>
          <p:nvPr/>
        </p:nvSpPr>
        <p:spPr>
          <a:xfrm>
            <a:off x="1094740" y="259715"/>
            <a:ext cx="6096000" cy="521970"/>
          </a:xfrm>
          <a:prstGeom prst="rect">
            <a:avLst/>
          </a:prstGeom>
          <a:noFill/>
        </p:spPr>
        <p:txBody>
          <a:bodyPr wrap="square" rtlCol="0" anchor="t">
            <a:spAutoFit/>
          </a:bodyPr>
          <a:lstStyle/>
          <a:p>
            <a:r>
              <a:rPr sz="2800" b="1">
                <a:solidFill>
                  <a:srgbClr val="000000"/>
                </a:solidFill>
                <a:latin typeface="微软雅黑" charset="-122"/>
                <a:ea typeface="微软雅黑" charset="-122"/>
                <a:cs typeface="微软雅黑" charset="-122"/>
                <a:sym typeface="+mn-ea"/>
              </a:rPr>
              <a:t>1.1 从变化率到梯度的直观引入</a:t>
            </a:r>
            <a:endParaRPr lang="zh-CN" altLang="en-US" sz="2800" b="1">
              <a:solidFill>
                <a:srgbClr val="000000"/>
              </a:solidFill>
              <a:latin typeface="微软雅黑" charset="-122"/>
              <a:ea typeface="微软雅黑" charset="-122"/>
              <a:cs typeface="微软雅黑" charset="-122"/>
              <a:sym typeface="+mn-ea"/>
            </a:endParaRPr>
          </a:p>
        </p:txBody>
      </p:sp>
      <p:sp>
        <p:nvSpPr>
          <p:cNvPr id="13" name="矩形 12"/>
          <p:cNvSpPr/>
          <p:nvPr>
            <p:custDataLst>
              <p:tags r:id="rId2"/>
            </p:custDataLst>
          </p:nvPr>
        </p:nvSpPr>
        <p:spPr>
          <a:xfrm>
            <a:off x="1353" y="600"/>
            <a:ext cx="12190495" cy="840002"/>
          </a:xfrm>
          <a:prstGeom prst="rect">
            <a:avLst/>
          </a:prstGeom>
          <a:gradFill>
            <a:gsLst>
              <a:gs pos="0">
                <a:schemeClr val="bg1"/>
              </a:gs>
              <a:gs pos="50000">
                <a:srgbClr val="5399D4"/>
              </a:gs>
              <a:gs pos="100000">
                <a:srgbClr val="2E3C63"/>
              </a:gs>
            </a:gsLst>
          </a:gradFill>
          <a:effectLst/>
        </p:spPr>
        <p:style>
          <a:lnRef idx="0">
            <a:srgbClr val="FFFFFF"/>
          </a:lnRef>
          <a:fillRef idx="2">
            <a:schemeClr val="accent1"/>
          </a:fillRef>
          <a:effectRef idx="1">
            <a:schemeClr val="accent1"/>
          </a:effectRef>
          <a:fontRef idx="minor">
            <a:schemeClr val="lt1"/>
          </a:fontRef>
        </p:style>
        <p:txBody>
          <a:bodyPr rtlCol="0" anchor="ctr"/>
          <a:lstStyle/>
          <a:p>
            <a:pPr algn="ctr" fontAlgn="base"/>
            <a:endParaRPr lang="zh-CN" altLang="en-US" sz="100" strike="noStrike" noProof="1"/>
          </a:p>
        </p:txBody>
      </p:sp>
      <p:pic>
        <p:nvPicPr>
          <p:cNvPr id="15" name="图片 14" descr="国科大标准Logo横式一（白色）"/>
          <p:cNvPicPr>
            <a:picLocks noChangeAspect="1"/>
          </p:cNvPicPr>
          <p:nvPr/>
        </p:nvPicPr>
        <p:blipFill>
          <a:blip r:embed="rId3"/>
          <a:stretch>
            <a:fillRect/>
          </a:stretch>
        </p:blipFill>
        <p:spPr>
          <a:xfrm>
            <a:off x="9815971" y="187901"/>
            <a:ext cx="2167622" cy="457144"/>
          </a:xfrm>
          <a:prstGeom prst="rect">
            <a:avLst/>
          </a:prstGeom>
        </p:spPr>
      </p:pic>
      <p:sp>
        <p:nvSpPr>
          <p:cNvPr id="3078" name="文本框 3"/>
          <p:cNvSpPr txBox="1"/>
          <p:nvPr>
            <p:custDataLst>
              <p:tags r:id="rId4"/>
            </p:custDataLst>
          </p:nvPr>
        </p:nvSpPr>
        <p:spPr>
          <a:xfrm>
            <a:off x="46644" y="-47231"/>
            <a:ext cx="850795" cy="919366"/>
          </a:xfrm>
          <a:prstGeom prst="rect">
            <a:avLst/>
          </a:prstGeom>
          <a:noFill/>
          <a:ln w="12700" cmpd="sng">
            <a:noFill/>
            <a:prstDash val="solid"/>
          </a:ln>
          <a:effectLst>
            <a:outerShdw dist="63500" dir="2700000" algn="tl" rotWithShape="0">
              <a:schemeClr val="bg1">
                <a:alpha val="100000"/>
              </a:schemeClr>
            </a:outerShdw>
          </a:effectLst>
        </p:spPr>
        <p:txBody>
          <a:bodyPr wrap="square" anchor="t" anchorCtr="0"/>
          <a:lstStyle/>
          <a:p>
            <a:pPr>
              <a:lnSpc>
                <a:spcPct val="130000"/>
              </a:lnSpc>
            </a:pPr>
            <a:r>
              <a:rPr lang="en-US" altLang="zh-CN" sz="4000" i="1" dirty="0">
                <a:ln w="19050">
                  <a:noFill/>
                </a:ln>
                <a:gradFill>
                  <a:gsLst>
                    <a:gs pos="39000">
                      <a:srgbClr val="5399D4"/>
                    </a:gs>
                    <a:gs pos="100000">
                      <a:schemeClr val="bg1"/>
                    </a:gs>
                  </a:gsLst>
                  <a:lin ang="5400000" scaled="0"/>
                </a:gradFill>
                <a:latin typeface="Bauhaus 93" panose="04030905020B02020C02" charset="0"/>
                <a:ea typeface="造字工房朗倩（非商用）常规体" charset="-122"/>
                <a:cs typeface="Bauhaus 93" panose="04030905020B02020C02" charset="0"/>
              </a:rPr>
              <a:t>01</a:t>
            </a:r>
            <a:endParaRPr lang="en-US" altLang="zh-CN" sz="4000" i="1" dirty="0">
              <a:ln w="19050">
                <a:noFill/>
              </a:ln>
              <a:gradFill>
                <a:gsLst>
                  <a:gs pos="39000">
                    <a:srgbClr val="5399D4"/>
                  </a:gs>
                  <a:gs pos="100000">
                    <a:schemeClr val="bg1"/>
                  </a:gs>
                </a:gsLst>
                <a:lin ang="5400000" scaled="0"/>
              </a:gradFill>
              <a:latin typeface="Bauhaus 93" panose="04030905020B02020C02" charset="0"/>
              <a:ea typeface="造字工房朗倩（非商用）常规体" charset="-122"/>
              <a:cs typeface="Bauhaus 93" panose="04030905020B02020C02" charset="0"/>
            </a:endParaRPr>
          </a:p>
        </p:txBody>
      </p:sp>
      <p:sp>
        <p:nvSpPr>
          <p:cNvPr id="16" name="文本框 15"/>
          <p:cNvSpPr txBox="1"/>
          <p:nvPr>
            <p:custDataLst>
              <p:tags r:id="rId5"/>
            </p:custDataLst>
          </p:nvPr>
        </p:nvSpPr>
        <p:spPr>
          <a:xfrm>
            <a:off x="897439" y="151711"/>
            <a:ext cx="8441283" cy="537779"/>
          </a:xfrm>
          <a:prstGeom prst="rect">
            <a:avLst/>
          </a:prstGeom>
          <a:noFill/>
        </p:spPr>
        <p:txBody>
          <a:bodyPr wrap="square" rtlCol="0">
            <a:noAutofit/>
          </a:bodyPr>
          <a:lstStyle/>
          <a:p>
            <a:r>
              <a:rPr lang="en-US" altLang="zh-CN" sz="3600" b="1" dirty="0">
                <a:solidFill>
                  <a:schemeClr val="tx1"/>
                </a:solidFill>
              </a:rPr>
              <a:t>Parameter Efficient Methods</a:t>
            </a:r>
            <a:endParaRPr lang="zh-CN" altLang="en-US" sz="3600" b="1" dirty="0">
              <a:solidFill>
                <a:schemeClr val="tx1"/>
              </a:solidFill>
            </a:endParaRPr>
          </a:p>
        </p:txBody>
      </p:sp>
      <p:sp>
        <p:nvSpPr>
          <p:cNvPr id="17" name="灯片编号占位符 16"/>
          <p:cNvSpPr>
            <a:spLocks noGrp="1"/>
          </p:cNvSpPr>
          <p:nvPr>
            <p:ph type="sldNum" sz="quarter" idx="12"/>
          </p:nvPr>
        </p:nvSpPr>
        <p:spPr/>
        <p:txBody>
          <a:bodyPr>
            <a:noAutofit/>
          </a:bodyPr>
          <a:lstStyle/>
          <a:p>
            <a:pPr algn="l" fontAlgn="auto"/>
            <a:fld id="{49AE70B2-8BF9-45C0-BB95-33D1B9D3A854}" type="slidenum">
              <a:rPr lang="zh-CN" altLang="en-US" sz="1800" strike="noStrike" noProof="1" smtClean="0">
                <a:solidFill>
                  <a:schemeClr val="tx1"/>
                </a:solidFill>
                <a:latin typeface="+mn-lt"/>
                <a:ea typeface="+mn-ea"/>
                <a:cs typeface="+mn-cs"/>
              </a:rPr>
            </a:fld>
            <a:endParaRPr lang="zh-CN" altLang="en-US" sz="1800" strike="noStrike" noProof="1">
              <a:solidFill>
                <a:schemeClr val="tx1"/>
              </a:solidFill>
              <a:latin typeface="+mn-lt"/>
              <a:ea typeface="+mn-ea"/>
              <a:cs typeface="+mn-cs"/>
            </a:endParaRPr>
          </a:p>
        </p:txBody>
      </p:sp>
      <p:sp>
        <p:nvSpPr>
          <p:cNvPr id="14" name="文本框 13"/>
          <p:cNvSpPr txBox="1"/>
          <p:nvPr/>
        </p:nvSpPr>
        <p:spPr>
          <a:xfrm>
            <a:off x="706755" y="870585"/>
            <a:ext cx="7586322" cy="658835"/>
          </a:xfrm>
          <a:prstGeom prst="rect">
            <a:avLst/>
          </a:prstGeom>
          <a:noFill/>
        </p:spPr>
        <p:txBody>
          <a:bodyPr wrap="square" rtlCol="0" anchor="t">
            <a:spAutoFit/>
          </a:bodyPr>
          <a:lstStyle/>
          <a:p>
            <a:pPr lvl="1" indent="-457200" algn="l" defTabSz="914400" fontAlgn="base">
              <a:lnSpc>
                <a:spcPct val="150000"/>
              </a:lnSpc>
              <a:buClrTx/>
              <a:buSzTx/>
              <a:buFont typeface="Wingdings" panose="05000000000000000000" pitchFamily="2" charset="2"/>
              <a:buChar char="Ø"/>
            </a:pPr>
            <a:r>
              <a:rPr lang="en-US" altLang="zh-CN" sz="2800" dirty="0">
                <a:solidFill>
                  <a:sysClr val="windowText" lastClr="000000"/>
                </a:solidFill>
                <a:latin typeface="Arial" panose="020B0604020202090204" pitchFamily="34" charset="0"/>
                <a:ea typeface="微软雅黑" charset="-122"/>
                <a:sym typeface="+mn-ea"/>
              </a:rPr>
              <a:t>1</a:t>
            </a:r>
            <a:r>
              <a:rPr lang="zh-CN" altLang="en-US" sz="2800" dirty="0">
                <a:solidFill>
                  <a:sysClr val="windowText" lastClr="000000"/>
                </a:solidFill>
                <a:latin typeface="Arial" panose="020B0604020202090204" pitchFamily="34" charset="0"/>
                <a:ea typeface="微软雅黑" charset="-122"/>
                <a:sym typeface="+mn-ea"/>
              </a:rPr>
              <a:t>.</a:t>
            </a:r>
            <a:r>
              <a:rPr lang="en-US" altLang="zh-CN" sz="2800" dirty="0">
                <a:solidFill>
                  <a:sysClr val="windowText" lastClr="000000"/>
                </a:solidFill>
                <a:latin typeface="Arial" panose="020B0604020202090204" pitchFamily="34" charset="0"/>
                <a:ea typeface="微软雅黑" charset="-122"/>
                <a:sym typeface="+mn-ea"/>
              </a:rPr>
              <a:t>1 ControlNet</a:t>
            </a:r>
            <a:endParaRPr lang="zh-CN" altLang="en-US" sz="2800" dirty="0">
              <a:solidFill>
                <a:sysClr val="windowText" lastClr="000000"/>
              </a:solidFill>
              <a:latin typeface="Arial" panose="020B0604020202090204" pitchFamily="34" charset="0"/>
              <a:ea typeface="微软雅黑" charset="-122"/>
              <a:sym typeface="+mn-ea"/>
            </a:endParaRPr>
          </a:p>
        </p:txBody>
      </p:sp>
      <p:sp>
        <p:nvSpPr>
          <p:cNvPr id="29" name="文本框 28"/>
          <p:cNvSpPr txBox="1"/>
          <p:nvPr/>
        </p:nvSpPr>
        <p:spPr>
          <a:xfrm>
            <a:off x="897439" y="1743399"/>
            <a:ext cx="11213126" cy="338554"/>
          </a:xfrm>
          <a:prstGeom prst="rect">
            <a:avLst/>
          </a:prstGeom>
          <a:noFill/>
        </p:spPr>
        <p:txBody>
          <a:bodyPr wrap="square">
            <a:spAutoFit/>
          </a:bodyPr>
          <a:lstStyle/>
          <a:p>
            <a:r>
              <a:rPr lang="zh-CN" altLang="en-US" sz="1600" dirty="0">
                <a:solidFill>
                  <a:schemeClr val="tx1">
                    <a:lumMod val="65000"/>
                    <a:lumOff val="35000"/>
                  </a:schemeClr>
                </a:solidFill>
                <a:latin typeface="微软雅黑" charset="-122"/>
                <a:ea typeface="微软雅黑" charset="-122"/>
              </a:rPr>
              <a:t>在使用</a:t>
            </a:r>
            <a:r>
              <a:rPr lang="en-US" altLang="zh-CN" sz="1600" dirty="0">
                <a:solidFill>
                  <a:schemeClr val="tx1">
                    <a:lumMod val="65000"/>
                    <a:lumOff val="35000"/>
                  </a:schemeClr>
                </a:solidFill>
                <a:latin typeface="微软雅黑" charset="-122"/>
                <a:ea typeface="微软雅黑" charset="-122"/>
              </a:rPr>
              <a:t>ControlNet</a:t>
            </a:r>
            <a:r>
              <a:rPr lang="zh-CN" altLang="en-US" sz="1600" dirty="0">
                <a:solidFill>
                  <a:schemeClr val="tx1">
                    <a:lumMod val="65000"/>
                    <a:lumOff val="35000"/>
                  </a:schemeClr>
                </a:solidFill>
                <a:latin typeface="微软雅黑" charset="-122"/>
                <a:ea typeface="微软雅黑" charset="-122"/>
              </a:rPr>
              <a:t>之后，</a:t>
            </a:r>
            <a:r>
              <a:rPr lang="en-US" altLang="zh-CN" sz="1600" dirty="0">
                <a:solidFill>
                  <a:schemeClr val="tx1">
                    <a:lumMod val="65000"/>
                    <a:lumOff val="35000"/>
                  </a:schemeClr>
                </a:solidFill>
                <a:latin typeface="微软雅黑" charset="-122"/>
                <a:ea typeface="微软雅黑" charset="-122"/>
              </a:rPr>
              <a:t>Stable Diffusion</a:t>
            </a:r>
            <a:r>
              <a:rPr lang="zh-CN" altLang="en-US" sz="1600" dirty="0">
                <a:solidFill>
                  <a:schemeClr val="tx1">
                    <a:lumMod val="65000"/>
                    <a:lumOff val="35000"/>
                  </a:schemeClr>
                </a:solidFill>
                <a:latin typeface="微软雅黑" charset="-122"/>
                <a:ea typeface="微软雅黑" charset="-122"/>
              </a:rPr>
              <a:t>等扩散模型 </a:t>
            </a:r>
            <a:r>
              <a:rPr lang="en-US" altLang="zh-CN" sz="1600" dirty="0">
                <a:solidFill>
                  <a:schemeClr val="tx1">
                    <a:lumMod val="65000"/>
                    <a:lumOff val="35000"/>
                  </a:schemeClr>
                </a:solidFill>
                <a:latin typeface="微软雅黑" charset="-122"/>
                <a:ea typeface="微软雅黑" charset="-122"/>
              </a:rPr>
              <a:t>+ ControlNet</a:t>
            </a:r>
            <a:r>
              <a:rPr lang="zh-CN" altLang="en-US" sz="1600" dirty="0">
                <a:solidFill>
                  <a:schemeClr val="tx1">
                    <a:lumMod val="65000"/>
                    <a:lumOff val="35000"/>
                  </a:schemeClr>
                </a:solidFill>
                <a:latin typeface="微软雅黑" charset="-122"/>
                <a:ea typeface="微软雅黑" charset="-122"/>
              </a:rPr>
              <a:t>模型整体的图像生成表达式转化成为：</a:t>
            </a:r>
            <a:endParaRPr lang="zh-CN" altLang="en-US" sz="1600" dirty="0">
              <a:solidFill>
                <a:schemeClr val="tx1">
                  <a:lumMod val="65000"/>
                  <a:lumOff val="35000"/>
                </a:schemeClr>
              </a:solidFill>
              <a:latin typeface="微软雅黑" charset="-122"/>
              <a:ea typeface="微软雅黑" charset="-122"/>
            </a:endParaRPr>
          </a:p>
        </p:txBody>
      </p:sp>
      <p:pic>
        <p:nvPicPr>
          <p:cNvPr id="4" name="图片 3"/>
          <p:cNvPicPr>
            <a:picLocks noChangeAspect="1"/>
          </p:cNvPicPr>
          <p:nvPr/>
        </p:nvPicPr>
        <p:blipFill>
          <a:blip r:embed="rId6"/>
          <a:stretch>
            <a:fillRect/>
          </a:stretch>
        </p:blipFill>
        <p:spPr>
          <a:xfrm>
            <a:off x="1043769" y="2179974"/>
            <a:ext cx="8395969" cy="680755"/>
          </a:xfrm>
          <a:prstGeom prst="rect">
            <a:avLst/>
          </a:prstGeom>
        </p:spPr>
      </p:pic>
      <p:pic>
        <p:nvPicPr>
          <p:cNvPr id="6" name="图片 5"/>
          <p:cNvPicPr>
            <a:picLocks noChangeAspect="1"/>
          </p:cNvPicPr>
          <p:nvPr/>
        </p:nvPicPr>
        <p:blipFill>
          <a:blip r:embed="rId7"/>
          <a:stretch>
            <a:fillRect/>
          </a:stretch>
        </p:blipFill>
        <p:spPr>
          <a:xfrm>
            <a:off x="2204022" y="2979411"/>
            <a:ext cx="3780296" cy="3063541"/>
          </a:xfrm>
          <a:prstGeom prst="rect">
            <a:avLst/>
          </a:prstGeom>
        </p:spPr>
      </p:pic>
    </p:spTree>
    <p:custDataLst>
      <p:tags r:id="rId8"/>
    </p:custDataLst>
  </p:cSld>
  <p:clrMapOvr>
    <a:masterClrMapping/>
  </p:clrMapOvr>
  <p:transition advTm="58970"/>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图片 2" descr="剪影蓝 低版本"/>
          <p:cNvPicPr>
            <a:picLocks noChangeAspect="1"/>
          </p:cNvPicPr>
          <p:nvPr/>
        </p:nvPicPr>
        <p:blipFill>
          <a:blip r:embed="rId1"/>
          <a:srcRect l="-8"/>
          <a:stretch>
            <a:fillRect/>
          </a:stretch>
        </p:blipFill>
        <p:spPr>
          <a:xfrm>
            <a:off x="1505" y="5378386"/>
            <a:ext cx="12190495" cy="2438099"/>
          </a:xfrm>
          <a:prstGeom prst="rect">
            <a:avLst/>
          </a:prstGeom>
          <a:noFill/>
          <a:ln w="9525">
            <a:noFill/>
          </a:ln>
        </p:spPr>
      </p:pic>
      <p:sp>
        <p:nvSpPr>
          <p:cNvPr id="22" name="文本框 21"/>
          <p:cNvSpPr txBox="1"/>
          <p:nvPr/>
        </p:nvSpPr>
        <p:spPr>
          <a:xfrm>
            <a:off x="154297" y="-42999"/>
            <a:ext cx="552421" cy="874984"/>
          </a:xfrm>
          <a:prstGeom prst="rect">
            <a:avLst/>
          </a:prstGeom>
          <a:noFill/>
          <a:effectLst>
            <a:reflection blurRad="12700" stA="0" endPos="65000" dist="50800" dir="5400000" sy="-100000" algn="bl" rotWithShape="0"/>
          </a:effectLst>
        </p:spPr>
        <p:txBody>
          <a:bodyPr wrap="square" rtlCol="0">
            <a:noAutofit/>
          </a:bodyPr>
          <a:lstStyle/>
          <a:p>
            <a:r>
              <a:rPr lang="en-US" altLang="zh-CN" sz="5400" b="1" dirty="0">
                <a:solidFill>
                  <a:schemeClr val="bg1"/>
                </a:solidFill>
                <a:effectLst>
                  <a:glow>
                    <a:schemeClr val="accent1">
                      <a:alpha val="40000"/>
                    </a:schemeClr>
                  </a:glow>
                </a:effectLst>
                <a:latin typeface="Times New Roman" panose="02020503050405090304" charset="0"/>
                <a:ea typeface="微软雅黑" charset="-122"/>
                <a:cs typeface="Times New Roman" panose="02020503050405090304" charset="0"/>
              </a:rPr>
              <a:t>1</a:t>
            </a:r>
            <a:endParaRPr lang="en-US" altLang="zh-CN" sz="5400" b="1" dirty="0">
              <a:solidFill>
                <a:schemeClr val="bg1"/>
              </a:solidFill>
              <a:effectLst>
                <a:glow>
                  <a:schemeClr val="accent1">
                    <a:alpha val="40000"/>
                  </a:schemeClr>
                </a:glow>
              </a:effectLst>
              <a:latin typeface="Times New Roman" panose="02020503050405090304" charset="0"/>
              <a:ea typeface="微软雅黑" charset="-122"/>
              <a:cs typeface="Times New Roman" panose="02020503050405090304" charset="0"/>
            </a:endParaRPr>
          </a:p>
        </p:txBody>
      </p:sp>
      <p:sp>
        <p:nvSpPr>
          <p:cNvPr id="2" name="文本框 1"/>
          <p:cNvSpPr txBox="1"/>
          <p:nvPr/>
        </p:nvSpPr>
        <p:spPr>
          <a:xfrm>
            <a:off x="1094740" y="259715"/>
            <a:ext cx="6096000" cy="521970"/>
          </a:xfrm>
          <a:prstGeom prst="rect">
            <a:avLst/>
          </a:prstGeom>
          <a:noFill/>
        </p:spPr>
        <p:txBody>
          <a:bodyPr wrap="square" rtlCol="0" anchor="t">
            <a:spAutoFit/>
          </a:bodyPr>
          <a:lstStyle/>
          <a:p>
            <a:r>
              <a:rPr sz="2800" b="1">
                <a:solidFill>
                  <a:srgbClr val="000000"/>
                </a:solidFill>
                <a:latin typeface="微软雅黑" charset="-122"/>
                <a:ea typeface="微软雅黑" charset="-122"/>
                <a:cs typeface="微软雅黑" charset="-122"/>
                <a:sym typeface="+mn-ea"/>
              </a:rPr>
              <a:t>1.1 从变化率到梯度的直观引入</a:t>
            </a:r>
            <a:endParaRPr lang="zh-CN" altLang="en-US" sz="2800" b="1">
              <a:solidFill>
                <a:srgbClr val="000000"/>
              </a:solidFill>
              <a:latin typeface="微软雅黑" charset="-122"/>
              <a:ea typeface="微软雅黑" charset="-122"/>
              <a:cs typeface="微软雅黑" charset="-122"/>
              <a:sym typeface="+mn-ea"/>
            </a:endParaRPr>
          </a:p>
        </p:txBody>
      </p:sp>
      <p:sp>
        <p:nvSpPr>
          <p:cNvPr id="13" name="矩形 12"/>
          <p:cNvSpPr/>
          <p:nvPr>
            <p:custDataLst>
              <p:tags r:id="rId2"/>
            </p:custDataLst>
          </p:nvPr>
        </p:nvSpPr>
        <p:spPr>
          <a:xfrm>
            <a:off x="1353" y="600"/>
            <a:ext cx="12190495" cy="840002"/>
          </a:xfrm>
          <a:prstGeom prst="rect">
            <a:avLst/>
          </a:prstGeom>
          <a:gradFill>
            <a:gsLst>
              <a:gs pos="0">
                <a:schemeClr val="bg1"/>
              </a:gs>
              <a:gs pos="50000">
                <a:srgbClr val="5399D4"/>
              </a:gs>
              <a:gs pos="100000">
                <a:srgbClr val="2E3C63"/>
              </a:gs>
            </a:gsLst>
          </a:gradFill>
          <a:effectLst/>
        </p:spPr>
        <p:style>
          <a:lnRef idx="0">
            <a:srgbClr val="FFFFFF"/>
          </a:lnRef>
          <a:fillRef idx="2">
            <a:schemeClr val="accent1"/>
          </a:fillRef>
          <a:effectRef idx="1">
            <a:schemeClr val="accent1"/>
          </a:effectRef>
          <a:fontRef idx="minor">
            <a:schemeClr val="lt1"/>
          </a:fontRef>
        </p:style>
        <p:txBody>
          <a:bodyPr rtlCol="0" anchor="ctr"/>
          <a:lstStyle/>
          <a:p>
            <a:pPr algn="ctr" fontAlgn="base"/>
            <a:endParaRPr lang="zh-CN" altLang="en-US" sz="100" strike="noStrike" noProof="1"/>
          </a:p>
        </p:txBody>
      </p:sp>
      <p:pic>
        <p:nvPicPr>
          <p:cNvPr id="15" name="图片 14" descr="国科大标准Logo横式一（白色）"/>
          <p:cNvPicPr>
            <a:picLocks noChangeAspect="1"/>
          </p:cNvPicPr>
          <p:nvPr/>
        </p:nvPicPr>
        <p:blipFill>
          <a:blip r:embed="rId3"/>
          <a:stretch>
            <a:fillRect/>
          </a:stretch>
        </p:blipFill>
        <p:spPr>
          <a:xfrm>
            <a:off x="9815971" y="187901"/>
            <a:ext cx="2167622" cy="457144"/>
          </a:xfrm>
          <a:prstGeom prst="rect">
            <a:avLst/>
          </a:prstGeom>
        </p:spPr>
      </p:pic>
      <p:sp>
        <p:nvSpPr>
          <p:cNvPr id="3078" name="文本框 3"/>
          <p:cNvSpPr txBox="1"/>
          <p:nvPr>
            <p:custDataLst>
              <p:tags r:id="rId4"/>
            </p:custDataLst>
          </p:nvPr>
        </p:nvSpPr>
        <p:spPr>
          <a:xfrm>
            <a:off x="46644" y="-47231"/>
            <a:ext cx="850795" cy="919366"/>
          </a:xfrm>
          <a:prstGeom prst="rect">
            <a:avLst/>
          </a:prstGeom>
          <a:noFill/>
          <a:ln w="12700" cmpd="sng">
            <a:noFill/>
            <a:prstDash val="solid"/>
          </a:ln>
          <a:effectLst>
            <a:outerShdw dist="63500" dir="2700000" algn="tl" rotWithShape="0">
              <a:schemeClr val="bg1">
                <a:alpha val="100000"/>
              </a:schemeClr>
            </a:outerShdw>
          </a:effectLst>
        </p:spPr>
        <p:txBody>
          <a:bodyPr wrap="square" anchor="t" anchorCtr="0"/>
          <a:lstStyle/>
          <a:p>
            <a:pPr>
              <a:lnSpc>
                <a:spcPct val="130000"/>
              </a:lnSpc>
            </a:pPr>
            <a:r>
              <a:rPr lang="en-US" altLang="zh-CN" sz="4000" i="1" dirty="0">
                <a:ln w="19050">
                  <a:noFill/>
                </a:ln>
                <a:gradFill>
                  <a:gsLst>
                    <a:gs pos="39000">
                      <a:srgbClr val="5399D4"/>
                    </a:gs>
                    <a:gs pos="100000">
                      <a:schemeClr val="bg1"/>
                    </a:gs>
                  </a:gsLst>
                  <a:lin ang="5400000" scaled="0"/>
                </a:gradFill>
                <a:latin typeface="Bauhaus 93" panose="04030905020B02020C02" charset="0"/>
                <a:ea typeface="造字工房朗倩（非商用）常规体" charset="-122"/>
                <a:cs typeface="Bauhaus 93" panose="04030905020B02020C02" charset="0"/>
              </a:rPr>
              <a:t>01</a:t>
            </a:r>
            <a:endParaRPr lang="en-US" altLang="zh-CN" sz="4000" i="1" dirty="0">
              <a:ln w="19050">
                <a:noFill/>
              </a:ln>
              <a:gradFill>
                <a:gsLst>
                  <a:gs pos="39000">
                    <a:srgbClr val="5399D4"/>
                  </a:gs>
                  <a:gs pos="100000">
                    <a:schemeClr val="bg1"/>
                  </a:gs>
                </a:gsLst>
                <a:lin ang="5400000" scaled="0"/>
              </a:gradFill>
              <a:latin typeface="Bauhaus 93" panose="04030905020B02020C02" charset="0"/>
              <a:ea typeface="造字工房朗倩（非商用）常规体" charset="-122"/>
              <a:cs typeface="Bauhaus 93" panose="04030905020B02020C02" charset="0"/>
            </a:endParaRPr>
          </a:p>
        </p:txBody>
      </p:sp>
      <p:sp>
        <p:nvSpPr>
          <p:cNvPr id="16" name="文本框 15"/>
          <p:cNvSpPr txBox="1"/>
          <p:nvPr>
            <p:custDataLst>
              <p:tags r:id="rId5"/>
            </p:custDataLst>
          </p:nvPr>
        </p:nvSpPr>
        <p:spPr>
          <a:xfrm>
            <a:off x="897439" y="151711"/>
            <a:ext cx="8441283" cy="537779"/>
          </a:xfrm>
          <a:prstGeom prst="rect">
            <a:avLst/>
          </a:prstGeom>
          <a:noFill/>
        </p:spPr>
        <p:txBody>
          <a:bodyPr wrap="square" rtlCol="0">
            <a:noAutofit/>
          </a:bodyPr>
          <a:lstStyle/>
          <a:p>
            <a:r>
              <a:rPr lang="en-US" altLang="zh-CN" sz="3600" b="1" dirty="0">
                <a:solidFill>
                  <a:schemeClr val="tx1"/>
                </a:solidFill>
              </a:rPr>
              <a:t>Parameter Efficient Methods</a:t>
            </a:r>
            <a:endParaRPr lang="zh-CN" altLang="en-US" sz="3600" b="1" dirty="0">
              <a:solidFill>
                <a:schemeClr val="tx1"/>
              </a:solidFill>
            </a:endParaRPr>
          </a:p>
        </p:txBody>
      </p:sp>
      <p:sp>
        <p:nvSpPr>
          <p:cNvPr id="17" name="灯片编号占位符 16"/>
          <p:cNvSpPr>
            <a:spLocks noGrp="1"/>
          </p:cNvSpPr>
          <p:nvPr>
            <p:ph type="sldNum" sz="quarter" idx="12"/>
          </p:nvPr>
        </p:nvSpPr>
        <p:spPr/>
        <p:txBody>
          <a:bodyPr>
            <a:noAutofit/>
          </a:bodyPr>
          <a:lstStyle/>
          <a:p>
            <a:pPr algn="l" fontAlgn="auto"/>
            <a:fld id="{49AE70B2-8BF9-45C0-BB95-33D1B9D3A854}" type="slidenum">
              <a:rPr lang="zh-CN" altLang="en-US" sz="1800" strike="noStrike" noProof="1" smtClean="0">
                <a:solidFill>
                  <a:schemeClr val="tx1"/>
                </a:solidFill>
                <a:latin typeface="+mn-lt"/>
                <a:ea typeface="+mn-ea"/>
                <a:cs typeface="+mn-cs"/>
              </a:rPr>
            </a:fld>
            <a:endParaRPr lang="zh-CN" altLang="en-US" sz="1800" strike="noStrike" noProof="1">
              <a:solidFill>
                <a:schemeClr val="tx1"/>
              </a:solidFill>
              <a:latin typeface="+mn-lt"/>
              <a:ea typeface="+mn-ea"/>
              <a:cs typeface="+mn-cs"/>
            </a:endParaRPr>
          </a:p>
        </p:txBody>
      </p:sp>
      <p:sp>
        <p:nvSpPr>
          <p:cNvPr id="14" name="文本框 13"/>
          <p:cNvSpPr txBox="1"/>
          <p:nvPr/>
        </p:nvSpPr>
        <p:spPr>
          <a:xfrm>
            <a:off x="706755" y="870585"/>
            <a:ext cx="7586322" cy="658835"/>
          </a:xfrm>
          <a:prstGeom prst="rect">
            <a:avLst/>
          </a:prstGeom>
          <a:noFill/>
        </p:spPr>
        <p:txBody>
          <a:bodyPr wrap="square" rtlCol="0" anchor="t">
            <a:spAutoFit/>
          </a:bodyPr>
          <a:lstStyle/>
          <a:p>
            <a:pPr lvl="1" indent="-457200" algn="l" defTabSz="914400" fontAlgn="base">
              <a:lnSpc>
                <a:spcPct val="150000"/>
              </a:lnSpc>
              <a:buClrTx/>
              <a:buSzTx/>
              <a:buFont typeface="Wingdings" panose="05000000000000000000" pitchFamily="2" charset="2"/>
              <a:buChar char="Ø"/>
            </a:pPr>
            <a:r>
              <a:rPr lang="en-US" altLang="zh-CN" sz="2800" dirty="0">
                <a:solidFill>
                  <a:sysClr val="windowText" lastClr="000000"/>
                </a:solidFill>
                <a:latin typeface="Arial" panose="020B0604020202090204" pitchFamily="34" charset="0"/>
                <a:ea typeface="微软雅黑" charset="-122"/>
                <a:sym typeface="+mn-ea"/>
              </a:rPr>
              <a:t>1</a:t>
            </a:r>
            <a:r>
              <a:rPr lang="zh-CN" altLang="en-US" sz="2800" dirty="0">
                <a:solidFill>
                  <a:sysClr val="windowText" lastClr="000000"/>
                </a:solidFill>
                <a:latin typeface="Arial" panose="020B0604020202090204" pitchFamily="34" charset="0"/>
                <a:ea typeface="微软雅黑" charset="-122"/>
                <a:sym typeface="+mn-ea"/>
              </a:rPr>
              <a:t>.</a:t>
            </a:r>
            <a:r>
              <a:rPr lang="en-US" altLang="zh-CN" sz="2800" dirty="0">
                <a:solidFill>
                  <a:sysClr val="windowText" lastClr="000000"/>
                </a:solidFill>
                <a:latin typeface="Arial" panose="020B0604020202090204" pitchFamily="34" charset="0"/>
                <a:ea typeface="微软雅黑" charset="-122"/>
                <a:sym typeface="+mn-ea"/>
              </a:rPr>
              <a:t>1 ControlNet</a:t>
            </a:r>
            <a:endParaRPr lang="zh-CN" altLang="en-US" sz="2800" dirty="0">
              <a:solidFill>
                <a:sysClr val="windowText" lastClr="000000"/>
              </a:solidFill>
              <a:latin typeface="Arial" panose="020B0604020202090204" pitchFamily="34" charset="0"/>
              <a:ea typeface="微软雅黑" charset="-122"/>
              <a:sym typeface="+mn-ea"/>
            </a:endParaRPr>
          </a:p>
        </p:txBody>
      </p:sp>
      <p:sp>
        <p:nvSpPr>
          <p:cNvPr id="29" name="文本框 28"/>
          <p:cNvSpPr txBox="1"/>
          <p:nvPr/>
        </p:nvSpPr>
        <p:spPr>
          <a:xfrm>
            <a:off x="897439" y="1743399"/>
            <a:ext cx="11213126" cy="338554"/>
          </a:xfrm>
          <a:prstGeom prst="rect">
            <a:avLst/>
          </a:prstGeom>
          <a:noFill/>
        </p:spPr>
        <p:txBody>
          <a:bodyPr wrap="square">
            <a:spAutoFit/>
          </a:bodyPr>
          <a:lstStyle/>
          <a:p>
            <a:r>
              <a:rPr lang="zh-CN" altLang="en-US" sz="1600" dirty="0">
                <a:solidFill>
                  <a:schemeClr val="tx1">
                    <a:lumMod val="65000"/>
                    <a:lumOff val="35000"/>
                  </a:schemeClr>
                </a:solidFill>
                <a:latin typeface="微软雅黑" charset="-122"/>
                <a:ea typeface="微软雅黑" charset="-122"/>
              </a:rPr>
              <a:t>训练开始前</a:t>
            </a:r>
            <a:r>
              <a:rPr lang="en-US" altLang="zh-CN" sz="1600" dirty="0">
                <a:solidFill>
                  <a:schemeClr val="tx1">
                    <a:lumMod val="65000"/>
                    <a:lumOff val="35000"/>
                  </a:schemeClr>
                </a:solidFill>
                <a:latin typeface="微软雅黑" charset="-122"/>
                <a:ea typeface="微软雅黑" charset="-122"/>
              </a:rPr>
              <a:t>zero convolution</a:t>
            </a:r>
            <a:r>
              <a:rPr lang="zh-CN" altLang="en-US" sz="1600" dirty="0">
                <a:solidFill>
                  <a:schemeClr val="tx1">
                    <a:lumMod val="65000"/>
                    <a:lumOff val="35000"/>
                  </a:schemeClr>
                </a:solidFill>
                <a:latin typeface="微软雅黑" charset="-122"/>
                <a:ea typeface="微软雅黑" charset="-122"/>
              </a:rPr>
              <a:t>模块的输出都为零，所以</a:t>
            </a:r>
            <a:r>
              <a:rPr lang="en-US" altLang="zh-CN" sz="1600" dirty="0">
                <a:solidFill>
                  <a:schemeClr val="tx1">
                    <a:lumMod val="65000"/>
                    <a:lumOff val="35000"/>
                  </a:schemeClr>
                </a:solidFill>
                <a:latin typeface="微软雅黑" charset="-122"/>
                <a:ea typeface="微软雅黑" charset="-122"/>
              </a:rPr>
              <a:t>ControlNet</a:t>
            </a:r>
            <a:r>
              <a:rPr lang="zh-CN" altLang="en-US" sz="1600" dirty="0">
                <a:solidFill>
                  <a:schemeClr val="tx1">
                    <a:lumMod val="65000"/>
                    <a:lumOff val="35000"/>
                  </a:schemeClr>
                </a:solidFill>
                <a:latin typeface="微软雅黑" charset="-122"/>
                <a:ea typeface="微软雅黑" charset="-122"/>
              </a:rPr>
              <a:t>未经训练时的初始输出为</a:t>
            </a:r>
            <a:r>
              <a:rPr lang="en-US" altLang="zh-CN" sz="1600" dirty="0">
                <a:solidFill>
                  <a:schemeClr val="tx1">
                    <a:lumMod val="65000"/>
                    <a:lumOff val="35000"/>
                  </a:schemeClr>
                </a:solidFill>
                <a:latin typeface="微软雅黑" charset="-122"/>
                <a:ea typeface="微软雅黑" charset="-122"/>
              </a:rPr>
              <a:t>0</a:t>
            </a:r>
            <a:r>
              <a:rPr lang="zh-CN" altLang="en-US" sz="1600" dirty="0">
                <a:solidFill>
                  <a:schemeClr val="tx1">
                    <a:lumMod val="65000"/>
                    <a:lumOff val="35000"/>
                  </a:schemeClr>
                </a:solidFill>
                <a:latin typeface="微软雅黑" charset="-122"/>
                <a:ea typeface="微软雅黑" charset="-122"/>
              </a:rPr>
              <a:t>： </a:t>
            </a:r>
            <a:endParaRPr lang="zh-CN" altLang="en-US" sz="1600" dirty="0">
              <a:solidFill>
                <a:schemeClr val="tx1">
                  <a:lumMod val="65000"/>
                  <a:lumOff val="35000"/>
                </a:schemeClr>
              </a:solidFill>
              <a:latin typeface="微软雅黑" charset="-122"/>
              <a:ea typeface="微软雅黑" charset="-122"/>
            </a:endParaRPr>
          </a:p>
        </p:txBody>
      </p:sp>
      <p:pic>
        <p:nvPicPr>
          <p:cNvPr id="6" name="图片 5"/>
          <p:cNvPicPr>
            <a:picLocks noChangeAspect="1"/>
          </p:cNvPicPr>
          <p:nvPr/>
        </p:nvPicPr>
        <p:blipFill>
          <a:blip r:embed="rId6"/>
          <a:stretch>
            <a:fillRect/>
          </a:stretch>
        </p:blipFill>
        <p:spPr>
          <a:xfrm>
            <a:off x="563686" y="2224395"/>
            <a:ext cx="3780296" cy="3063541"/>
          </a:xfrm>
          <a:prstGeom prst="rect">
            <a:avLst/>
          </a:prstGeom>
        </p:spPr>
      </p:pic>
      <p:pic>
        <p:nvPicPr>
          <p:cNvPr id="5" name="图片 4"/>
          <p:cNvPicPr>
            <a:picLocks noChangeAspect="1"/>
          </p:cNvPicPr>
          <p:nvPr/>
        </p:nvPicPr>
        <p:blipFill>
          <a:blip r:embed="rId7"/>
          <a:stretch>
            <a:fillRect/>
          </a:stretch>
        </p:blipFill>
        <p:spPr>
          <a:xfrm>
            <a:off x="4866624" y="3107221"/>
            <a:ext cx="6852905" cy="1085880"/>
          </a:xfrm>
          <a:prstGeom prst="rect">
            <a:avLst/>
          </a:prstGeom>
        </p:spPr>
      </p:pic>
    </p:spTree>
    <p:custDataLst>
      <p:tags r:id="rId8"/>
    </p:custDataLst>
  </p:cSld>
  <p:clrMapOvr>
    <a:masterClrMapping/>
  </p:clrMapOvr>
  <p:transition advTm="58970"/>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图片 17"/>
          <p:cNvPicPr>
            <a:picLocks noChangeAspect="1"/>
          </p:cNvPicPr>
          <p:nvPr/>
        </p:nvPicPr>
        <p:blipFill>
          <a:blip r:embed="rId1"/>
          <a:stretch>
            <a:fillRect/>
          </a:stretch>
        </p:blipFill>
        <p:spPr>
          <a:xfrm>
            <a:off x="2944887" y="1347899"/>
            <a:ext cx="4245853" cy="4770939"/>
          </a:xfrm>
          <a:prstGeom prst="rect">
            <a:avLst/>
          </a:prstGeom>
        </p:spPr>
      </p:pic>
      <p:pic>
        <p:nvPicPr>
          <p:cNvPr id="3074" name="图片 2" descr="剪影蓝 低版本"/>
          <p:cNvPicPr>
            <a:picLocks noChangeAspect="1"/>
          </p:cNvPicPr>
          <p:nvPr/>
        </p:nvPicPr>
        <p:blipFill>
          <a:blip r:embed="rId2"/>
          <a:srcRect l="-8"/>
          <a:stretch>
            <a:fillRect/>
          </a:stretch>
        </p:blipFill>
        <p:spPr>
          <a:xfrm>
            <a:off x="1505" y="5378386"/>
            <a:ext cx="12190495" cy="2438099"/>
          </a:xfrm>
          <a:prstGeom prst="rect">
            <a:avLst/>
          </a:prstGeom>
          <a:noFill/>
          <a:ln w="9525">
            <a:noFill/>
          </a:ln>
        </p:spPr>
      </p:pic>
      <p:sp>
        <p:nvSpPr>
          <p:cNvPr id="22" name="文本框 21"/>
          <p:cNvSpPr txBox="1"/>
          <p:nvPr/>
        </p:nvSpPr>
        <p:spPr>
          <a:xfrm>
            <a:off x="154297" y="-42999"/>
            <a:ext cx="552421" cy="874984"/>
          </a:xfrm>
          <a:prstGeom prst="rect">
            <a:avLst/>
          </a:prstGeom>
          <a:noFill/>
          <a:effectLst>
            <a:reflection blurRad="12700" stA="0" endPos="65000" dist="50800" dir="5400000" sy="-100000" algn="bl" rotWithShape="0"/>
          </a:effectLst>
        </p:spPr>
        <p:txBody>
          <a:bodyPr wrap="square" rtlCol="0">
            <a:noAutofit/>
          </a:bodyPr>
          <a:lstStyle/>
          <a:p>
            <a:r>
              <a:rPr lang="en-US" altLang="zh-CN" sz="5400" b="1" dirty="0">
                <a:solidFill>
                  <a:schemeClr val="bg1"/>
                </a:solidFill>
                <a:effectLst>
                  <a:glow>
                    <a:schemeClr val="accent1">
                      <a:alpha val="40000"/>
                    </a:schemeClr>
                  </a:glow>
                </a:effectLst>
                <a:latin typeface="Times New Roman" panose="02020503050405090304" charset="0"/>
                <a:ea typeface="微软雅黑" charset="-122"/>
                <a:cs typeface="Times New Roman" panose="02020503050405090304" charset="0"/>
              </a:rPr>
              <a:t>1</a:t>
            </a:r>
            <a:endParaRPr lang="en-US" altLang="zh-CN" sz="5400" b="1" dirty="0">
              <a:solidFill>
                <a:schemeClr val="bg1"/>
              </a:solidFill>
              <a:effectLst>
                <a:glow>
                  <a:schemeClr val="accent1">
                    <a:alpha val="40000"/>
                  </a:schemeClr>
                </a:glow>
              </a:effectLst>
              <a:latin typeface="Times New Roman" panose="02020503050405090304" charset="0"/>
              <a:ea typeface="微软雅黑" charset="-122"/>
              <a:cs typeface="Times New Roman" panose="02020503050405090304" charset="0"/>
            </a:endParaRPr>
          </a:p>
        </p:txBody>
      </p:sp>
      <p:sp>
        <p:nvSpPr>
          <p:cNvPr id="2" name="文本框 1"/>
          <p:cNvSpPr txBox="1"/>
          <p:nvPr/>
        </p:nvSpPr>
        <p:spPr>
          <a:xfrm>
            <a:off x="1094740" y="259715"/>
            <a:ext cx="6096000" cy="521970"/>
          </a:xfrm>
          <a:prstGeom prst="rect">
            <a:avLst/>
          </a:prstGeom>
          <a:noFill/>
        </p:spPr>
        <p:txBody>
          <a:bodyPr wrap="square" rtlCol="0" anchor="t">
            <a:spAutoFit/>
          </a:bodyPr>
          <a:lstStyle/>
          <a:p>
            <a:r>
              <a:rPr sz="2800" b="1">
                <a:solidFill>
                  <a:srgbClr val="000000"/>
                </a:solidFill>
                <a:latin typeface="微软雅黑" charset="-122"/>
                <a:ea typeface="微软雅黑" charset="-122"/>
                <a:cs typeface="微软雅黑" charset="-122"/>
                <a:sym typeface="+mn-ea"/>
              </a:rPr>
              <a:t>1.1 从变化率到梯度的直观引入</a:t>
            </a:r>
            <a:endParaRPr lang="zh-CN" altLang="en-US" sz="2800" b="1">
              <a:solidFill>
                <a:srgbClr val="000000"/>
              </a:solidFill>
              <a:latin typeface="微软雅黑" charset="-122"/>
              <a:ea typeface="微软雅黑" charset="-122"/>
              <a:cs typeface="微软雅黑" charset="-122"/>
              <a:sym typeface="+mn-ea"/>
            </a:endParaRPr>
          </a:p>
        </p:txBody>
      </p:sp>
      <p:sp>
        <p:nvSpPr>
          <p:cNvPr id="13" name="矩形 12"/>
          <p:cNvSpPr/>
          <p:nvPr>
            <p:custDataLst>
              <p:tags r:id="rId3"/>
            </p:custDataLst>
          </p:nvPr>
        </p:nvSpPr>
        <p:spPr>
          <a:xfrm>
            <a:off x="1353" y="600"/>
            <a:ext cx="12190495" cy="840002"/>
          </a:xfrm>
          <a:prstGeom prst="rect">
            <a:avLst/>
          </a:prstGeom>
          <a:gradFill>
            <a:gsLst>
              <a:gs pos="0">
                <a:schemeClr val="bg1"/>
              </a:gs>
              <a:gs pos="50000">
                <a:srgbClr val="5399D4"/>
              </a:gs>
              <a:gs pos="100000">
                <a:srgbClr val="2E3C63"/>
              </a:gs>
            </a:gsLst>
          </a:gradFill>
          <a:effectLst/>
        </p:spPr>
        <p:style>
          <a:lnRef idx="0">
            <a:srgbClr val="FFFFFF"/>
          </a:lnRef>
          <a:fillRef idx="2">
            <a:schemeClr val="accent1"/>
          </a:fillRef>
          <a:effectRef idx="1">
            <a:schemeClr val="accent1"/>
          </a:effectRef>
          <a:fontRef idx="minor">
            <a:schemeClr val="lt1"/>
          </a:fontRef>
        </p:style>
        <p:txBody>
          <a:bodyPr rtlCol="0" anchor="ctr"/>
          <a:lstStyle/>
          <a:p>
            <a:pPr algn="ctr" fontAlgn="base"/>
            <a:endParaRPr lang="zh-CN" altLang="en-US" sz="100" strike="noStrike" noProof="1"/>
          </a:p>
        </p:txBody>
      </p:sp>
      <p:pic>
        <p:nvPicPr>
          <p:cNvPr id="15" name="图片 14" descr="国科大标准Logo横式一（白色）"/>
          <p:cNvPicPr>
            <a:picLocks noChangeAspect="1"/>
          </p:cNvPicPr>
          <p:nvPr/>
        </p:nvPicPr>
        <p:blipFill>
          <a:blip r:embed="rId4"/>
          <a:stretch>
            <a:fillRect/>
          </a:stretch>
        </p:blipFill>
        <p:spPr>
          <a:xfrm>
            <a:off x="9815971" y="187901"/>
            <a:ext cx="2167622" cy="457144"/>
          </a:xfrm>
          <a:prstGeom prst="rect">
            <a:avLst/>
          </a:prstGeom>
        </p:spPr>
      </p:pic>
      <p:sp>
        <p:nvSpPr>
          <p:cNvPr id="3078" name="文本框 3"/>
          <p:cNvSpPr txBox="1"/>
          <p:nvPr>
            <p:custDataLst>
              <p:tags r:id="rId5"/>
            </p:custDataLst>
          </p:nvPr>
        </p:nvSpPr>
        <p:spPr>
          <a:xfrm>
            <a:off x="46644" y="-47231"/>
            <a:ext cx="850795" cy="919366"/>
          </a:xfrm>
          <a:prstGeom prst="rect">
            <a:avLst/>
          </a:prstGeom>
          <a:noFill/>
          <a:ln w="12700" cmpd="sng">
            <a:noFill/>
            <a:prstDash val="solid"/>
          </a:ln>
          <a:effectLst>
            <a:outerShdw dist="63500" dir="2700000" algn="tl" rotWithShape="0">
              <a:schemeClr val="bg1">
                <a:alpha val="100000"/>
              </a:schemeClr>
            </a:outerShdw>
          </a:effectLst>
        </p:spPr>
        <p:txBody>
          <a:bodyPr wrap="square" anchor="t" anchorCtr="0"/>
          <a:lstStyle/>
          <a:p>
            <a:pPr>
              <a:lnSpc>
                <a:spcPct val="130000"/>
              </a:lnSpc>
            </a:pPr>
            <a:r>
              <a:rPr lang="en-US" altLang="zh-CN" sz="4000" i="1" dirty="0">
                <a:ln w="19050">
                  <a:noFill/>
                </a:ln>
                <a:gradFill>
                  <a:gsLst>
                    <a:gs pos="39000">
                      <a:srgbClr val="5399D4"/>
                    </a:gs>
                    <a:gs pos="100000">
                      <a:schemeClr val="bg1"/>
                    </a:gs>
                  </a:gsLst>
                  <a:lin ang="5400000" scaled="0"/>
                </a:gradFill>
                <a:latin typeface="Bauhaus 93" panose="04030905020B02020C02" charset="0"/>
                <a:ea typeface="造字工房朗倩（非商用）常规体" charset="-122"/>
                <a:cs typeface="Bauhaus 93" panose="04030905020B02020C02" charset="0"/>
              </a:rPr>
              <a:t>01</a:t>
            </a:r>
            <a:endParaRPr lang="en-US" altLang="zh-CN" sz="4000" i="1" dirty="0">
              <a:ln w="19050">
                <a:noFill/>
              </a:ln>
              <a:gradFill>
                <a:gsLst>
                  <a:gs pos="39000">
                    <a:srgbClr val="5399D4"/>
                  </a:gs>
                  <a:gs pos="100000">
                    <a:schemeClr val="bg1"/>
                  </a:gs>
                </a:gsLst>
                <a:lin ang="5400000" scaled="0"/>
              </a:gradFill>
              <a:latin typeface="Bauhaus 93" panose="04030905020B02020C02" charset="0"/>
              <a:ea typeface="造字工房朗倩（非商用）常规体" charset="-122"/>
              <a:cs typeface="Bauhaus 93" panose="04030905020B02020C02" charset="0"/>
            </a:endParaRPr>
          </a:p>
        </p:txBody>
      </p:sp>
      <p:sp>
        <p:nvSpPr>
          <p:cNvPr id="16" name="文本框 15"/>
          <p:cNvSpPr txBox="1"/>
          <p:nvPr>
            <p:custDataLst>
              <p:tags r:id="rId6"/>
            </p:custDataLst>
          </p:nvPr>
        </p:nvSpPr>
        <p:spPr>
          <a:xfrm>
            <a:off x="897439" y="151711"/>
            <a:ext cx="8441283" cy="537779"/>
          </a:xfrm>
          <a:prstGeom prst="rect">
            <a:avLst/>
          </a:prstGeom>
          <a:noFill/>
        </p:spPr>
        <p:txBody>
          <a:bodyPr wrap="square" rtlCol="0">
            <a:noAutofit/>
          </a:bodyPr>
          <a:lstStyle/>
          <a:p>
            <a:r>
              <a:rPr lang="en-US" altLang="zh-CN" sz="3600" b="1" dirty="0">
                <a:solidFill>
                  <a:schemeClr val="tx1"/>
                </a:solidFill>
              </a:rPr>
              <a:t>Parameter Efficient Methods</a:t>
            </a:r>
            <a:endParaRPr lang="zh-CN" altLang="en-US" sz="3600" b="1" dirty="0">
              <a:solidFill>
                <a:schemeClr val="tx1"/>
              </a:solidFill>
            </a:endParaRPr>
          </a:p>
        </p:txBody>
      </p:sp>
      <p:sp>
        <p:nvSpPr>
          <p:cNvPr id="17" name="灯片编号占位符 16"/>
          <p:cNvSpPr>
            <a:spLocks noGrp="1"/>
          </p:cNvSpPr>
          <p:nvPr>
            <p:ph type="sldNum" sz="quarter" idx="12"/>
          </p:nvPr>
        </p:nvSpPr>
        <p:spPr/>
        <p:txBody>
          <a:bodyPr>
            <a:noAutofit/>
          </a:bodyPr>
          <a:lstStyle/>
          <a:p>
            <a:pPr algn="l" fontAlgn="auto"/>
            <a:fld id="{49AE70B2-8BF9-45C0-BB95-33D1B9D3A854}" type="slidenum">
              <a:rPr lang="zh-CN" altLang="en-US" sz="1800" strike="noStrike" noProof="1" smtClean="0">
                <a:solidFill>
                  <a:schemeClr val="tx1"/>
                </a:solidFill>
                <a:latin typeface="+mn-lt"/>
                <a:ea typeface="+mn-ea"/>
                <a:cs typeface="+mn-cs"/>
              </a:rPr>
            </a:fld>
            <a:endParaRPr lang="zh-CN" altLang="en-US" sz="1800" strike="noStrike" noProof="1">
              <a:solidFill>
                <a:schemeClr val="tx1"/>
              </a:solidFill>
              <a:latin typeface="+mn-lt"/>
              <a:ea typeface="+mn-ea"/>
              <a:cs typeface="+mn-cs"/>
            </a:endParaRPr>
          </a:p>
        </p:txBody>
      </p:sp>
      <p:sp>
        <p:nvSpPr>
          <p:cNvPr id="14" name="文本框 13"/>
          <p:cNvSpPr txBox="1"/>
          <p:nvPr/>
        </p:nvSpPr>
        <p:spPr>
          <a:xfrm>
            <a:off x="706755" y="870585"/>
            <a:ext cx="7586322" cy="658835"/>
          </a:xfrm>
          <a:prstGeom prst="rect">
            <a:avLst/>
          </a:prstGeom>
          <a:noFill/>
        </p:spPr>
        <p:txBody>
          <a:bodyPr wrap="square" rtlCol="0" anchor="t">
            <a:spAutoFit/>
          </a:bodyPr>
          <a:lstStyle/>
          <a:p>
            <a:pPr lvl="1" indent="-457200" algn="l" defTabSz="914400" fontAlgn="base">
              <a:lnSpc>
                <a:spcPct val="150000"/>
              </a:lnSpc>
              <a:buClrTx/>
              <a:buSzTx/>
              <a:buFont typeface="Wingdings" panose="05000000000000000000" pitchFamily="2" charset="2"/>
              <a:buChar char="Ø"/>
            </a:pPr>
            <a:r>
              <a:rPr lang="en-US" altLang="zh-CN" sz="2800" dirty="0">
                <a:solidFill>
                  <a:sysClr val="windowText" lastClr="000000"/>
                </a:solidFill>
                <a:latin typeface="Arial" panose="020B0604020202090204" pitchFamily="34" charset="0"/>
                <a:ea typeface="微软雅黑" charset="-122"/>
                <a:sym typeface="+mn-ea"/>
              </a:rPr>
              <a:t>1</a:t>
            </a:r>
            <a:r>
              <a:rPr lang="zh-CN" altLang="en-US" sz="2800" dirty="0">
                <a:solidFill>
                  <a:sysClr val="windowText" lastClr="000000"/>
                </a:solidFill>
                <a:latin typeface="Arial" panose="020B0604020202090204" pitchFamily="34" charset="0"/>
                <a:ea typeface="微软雅黑" charset="-122"/>
                <a:sym typeface="+mn-ea"/>
              </a:rPr>
              <a:t>.</a:t>
            </a:r>
            <a:r>
              <a:rPr lang="en-US" altLang="zh-CN" sz="2800" dirty="0">
                <a:solidFill>
                  <a:sysClr val="windowText" lastClr="000000"/>
                </a:solidFill>
                <a:latin typeface="Arial" panose="020B0604020202090204" pitchFamily="34" charset="0"/>
                <a:ea typeface="微软雅黑" charset="-122"/>
                <a:sym typeface="+mn-ea"/>
              </a:rPr>
              <a:t>1 ControlNet</a:t>
            </a:r>
            <a:endParaRPr lang="zh-CN" altLang="en-US" sz="2800" dirty="0">
              <a:solidFill>
                <a:sysClr val="windowText" lastClr="000000"/>
              </a:solidFill>
              <a:latin typeface="Arial" panose="020B0604020202090204" pitchFamily="34" charset="0"/>
              <a:ea typeface="微软雅黑" charset="-122"/>
              <a:sym typeface="+mn-ea"/>
            </a:endParaRPr>
          </a:p>
        </p:txBody>
      </p:sp>
      <p:sp>
        <p:nvSpPr>
          <p:cNvPr id="19" name="矩形 18"/>
          <p:cNvSpPr/>
          <p:nvPr/>
        </p:nvSpPr>
        <p:spPr>
          <a:xfrm>
            <a:off x="4939313" y="2511668"/>
            <a:ext cx="1738714" cy="169736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7"/>
    </p:custDataLst>
  </p:cSld>
  <p:clrMapOvr>
    <a:masterClrMapping/>
  </p:clrMapOvr>
  <p:transition advTm="58970"/>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图片 19"/>
          <p:cNvPicPr>
            <a:picLocks noChangeAspect="1"/>
          </p:cNvPicPr>
          <p:nvPr/>
        </p:nvPicPr>
        <p:blipFill>
          <a:blip r:embed="rId1"/>
          <a:stretch>
            <a:fillRect/>
          </a:stretch>
        </p:blipFill>
        <p:spPr>
          <a:xfrm>
            <a:off x="2944887" y="1347899"/>
            <a:ext cx="4245853" cy="4770939"/>
          </a:xfrm>
          <a:prstGeom prst="rect">
            <a:avLst/>
          </a:prstGeom>
        </p:spPr>
      </p:pic>
      <p:pic>
        <p:nvPicPr>
          <p:cNvPr id="3074" name="图片 2" descr="剪影蓝 低版本"/>
          <p:cNvPicPr>
            <a:picLocks noChangeAspect="1"/>
          </p:cNvPicPr>
          <p:nvPr/>
        </p:nvPicPr>
        <p:blipFill>
          <a:blip r:embed="rId2"/>
          <a:srcRect l="-8"/>
          <a:stretch>
            <a:fillRect/>
          </a:stretch>
        </p:blipFill>
        <p:spPr>
          <a:xfrm>
            <a:off x="1505" y="5378386"/>
            <a:ext cx="12190495" cy="2438099"/>
          </a:xfrm>
          <a:prstGeom prst="rect">
            <a:avLst/>
          </a:prstGeom>
          <a:noFill/>
          <a:ln w="9525">
            <a:noFill/>
          </a:ln>
        </p:spPr>
      </p:pic>
      <p:sp>
        <p:nvSpPr>
          <p:cNvPr id="22" name="文本框 21"/>
          <p:cNvSpPr txBox="1"/>
          <p:nvPr/>
        </p:nvSpPr>
        <p:spPr>
          <a:xfrm>
            <a:off x="154297" y="-42999"/>
            <a:ext cx="552421" cy="874984"/>
          </a:xfrm>
          <a:prstGeom prst="rect">
            <a:avLst/>
          </a:prstGeom>
          <a:noFill/>
          <a:effectLst>
            <a:reflection blurRad="12700" stA="0" endPos="65000" dist="50800" dir="5400000" sy="-100000" algn="bl" rotWithShape="0"/>
          </a:effectLst>
        </p:spPr>
        <p:txBody>
          <a:bodyPr wrap="square" rtlCol="0">
            <a:noAutofit/>
          </a:bodyPr>
          <a:lstStyle/>
          <a:p>
            <a:r>
              <a:rPr lang="en-US" altLang="zh-CN" sz="5400" b="1" dirty="0">
                <a:solidFill>
                  <a:schemeClr val="bg1"/>
                </a:solidFill>
                <a:effectLst>
                  <a:glow>
                    <a:schemeClr val="accent1">
                      <a:alpha val="40000"/>
                    </a:schemeClr>
                  </a:glow>
                </a:effectLst>
                <a:latin typeface="Times New Roman" panose="02020503050405090304" charset="0"/>
                <a:ea typeface="微软雅黑" charset="-122"/>
                <a:cs typeface="Times New Roman" panose="02020503050405090304" charset="0"/>
              </a:rPr>
              <a:t>1</a:t>
            </a:r>
            <a:endParaRPr lang="en-US" altLang="zh-CN" sz="5400" b="1" dirty="0">
              <a:solidFill>
                <a:schemeClr val="bg1"/>
              </a:solidFill>
              <a:effectLst>
                <a:glow>
                  <a:schemeClr val="accent1">
                    <a:alpha val="40000"/>
                  </a:schemeClr>
                </a:glow>
              </a:effectLst>
              <a:latin typeface="Times New Roman" panose="02020503050405090304" charset="0"/>
              <a:ea typeface="微软雅黑" charset="-122"/>
              <a:cs typeface="Times New Roman" panose="02020503050405090304" charset="0"/>
            </a:endParaRPr>
          </a:p>
        </p:txBody>
      </p:sp>
      <p:sp>
        <p:nvSpPr>
          <p:cNvPr id="2" name="文本框 1"/>
          <p:cNvSpPr txBox="1"/>
          <p:nvPr/>
        </p:nvSpPr>
        <p:spPr>
          <a:xfrm>
            <a:off x="1094740" y="259715"/>
            <a:ext cx="6096000" cy="521970"/>
          </a:xfrm>
          <a:prstGeom prst="rect">
            <a:avLst/>
          </a:prstGeom>
          <a:noFill/>
        </p:spPr>
        <p:txBody>
          <a:bodyPr wrap="square" rtlCol="0" anchor="t">
            <a:spAutoFit/>
          </a:bodyPr>
          <a:lstStyle/>
          <a:p>
            <a:r>
              <a:rPr sz="2800" b="1">
                <a:solidFill>
                  <a:srgbClr val="000000"/>
                </a:solidFill>
                <a:latin typeface="微软雅黑" charset="-122"/>
                <a:ea typeface="微软雅黑" charset="-122"/>
                <a:cs typeface="微软雅黑" charset="-122"/>
                <a:sym typeface="+mn-ea"/>
              </a:rPr>
              <a:t>1.1 从变化率到梯度的直观引入</a:t>
            </a:r>
            <a:endParaRPr lang="zh-CN" altLang="en-US" sz="2800" b="1">
              <a:solidFill>
                <a:srgbClr val="000000"/>
              </a:solidFill>
              <a:latin typeface="微软雅黑" charset="-122"/>
              <a:ea typeface="微软雅黑" charset="-122"/>
              <a:cs typeface="微软雅黑" charset="-122"/>
              <a:sym typeface="+mn-ea"/>
            </a:endParaRPr>
          </a:p>
        </p:txBody>
      </p:sp>
      <p:sp>
        <p:nvSpPr>
          <p:cNvPr id="13" name="矩形 12"/>
          <p:cNvSpPr/>
          <p:nvPr>
            <p:custDataLst>
              <p:tags r:id="rId3"/>
            </p:custDataLst>
          </p:nvPr>
        </p:nvSpPr>
        <p:spPr>
          <a:xfrm>
            <a:off x="1353" y="600"/>
            <a:ext cx="12190495" cy="840002"/>
          </a:xfrm>
          <a:prstGeom prst="rect">
            <a:avLst/>
          </a:prstGeom>
          <a:gradFill>
            <a:gsLst>
              <a:gs pos="0">
                <a:schemeClr val="bg1"/>
              </a:gs>
              <a:gs pos="50000">
                <a:srgbClr val="5399D4"/>
              </a:gs>
              <a:gs pos="100000">
                <a:srgbClr val="2E3C63"/>
              </a:gs>
            </a:gsLst>
          </a:gradFill>
          <a:effectLst/>
        </p:spPr>
        <p:style>
          <a:lnRef idx="0">
            <a:srgbClr val="FFFFFF"/>
          </a:lnRef>
          <a:fillRef idx="2">
            <a:schemeClr val="accent1"/>
          </a:fillRef>
          <a:effectRef idx="1">
            <a:schemeClr val="accent1"/>
          </a:effectRef>
          <a:fontRef idx="minor">
            <a:schemeClr val="lt1"/>
          </a:fontRef>
        </p:style>
        <p:txBody>
          <a:bodyPr rtlCol="0" anchor="ctr"/>
          <a:lstStyle/>
          <a:p>
            <a:pPr algn="ctr" fontAlgn="base"/>
            <a:endParaRPr lang="zh-CN" altLang="en-US" sz="100" strike="noStrike" noProof="1"/>
          </a:p>
        </p:txBody>
      </p:sp>
      <p:pic>
        <p:nvPicPr>
          <p:cNvPr id="15" name="图片 14" descr="国科大标准Logo横式一（白色）"/>
          <p:cNvPicPr>
            <a:picLocks noChangeAspect="1"/>
          </p:cNvPicPr>
          <p:nvPr/>
        </p:nvPicPr>
        <p:blipFill>
          <a:blip r:embed="rId4"/>
          <a:stretch>
            <a:fillRect/>
          </a:stretch>
        </p:blipFill>
        <p:spPr>
          <a:xfrm>
            <a:off x="9815971" y="187901"/>
            <a:ext cx="2167622" cy="457144"/>
          </a:xfrm>
          <a:prstGeom prst="rect">
            <a:avLst/>
          </a:prstGeom>
        </p:spPr>
      </p:pic>
      <p:sp>
        <p:nvSpPr>
          <p:cNvPr id="3078" name="文本框 3"/>
          <p:cNvSpPr txBox="1"/>
          <p:nvPr>
            <p:custDataLst>
              <p:tags r:id="rId5"/>
            </p:custDataLst>
          </p:nvPr>
        </p:nvSpPr>
        <p:spPr>
          <a:xfrm>
            <a:off x="46644" y="-47231"/>
            <a:ext cx="850795" cy="919366"/>
          </a:xfrm>
          <a:prstGeom prst="rect">
            <a:avLst/>
          </a:prstGeom>
          <a:noFill/>
          <a:ln w="12700" cmpd="sng">
            <a:noFill/>
            <a:prstDash val="solid"/>
          </a:ln>
          <a:effectLst>
            <a:outerShdw dist="63500" dir="2700000" algn="tl" rotWithShape="0">
              <a:schemeClr val="bg1">
                <a:alpha val="100000"/>
              </a:schemeClr>
            </a:outerShdw>
          </a:effectLst>
        </p:spPr>
        <p:txBody>
          <a:bodyPr wrap="square" anchor="t" anchorCtr="0"/>
          <a:lstStyle/>
          <a:p>
            <a:pPr>
              <a:lnSpc>
                <a:spcPct val="130000"/>
              </a:lnSpc>
            </a:pPr>
            <a:r>
              <a:rPr lang="en-US" altLang="zh-CN" sz="4000" i="1" dirty="0">
                <a:ln w="19050">
                  <a:noFill/>
                </a:ln>
                <a:gradFill>
                  <a:gsLst>
                    <a:gs pos="39000">
                      <a:srgbClr val="5399D4"/>
                    </a:gs>
                    <a:gs pos="100000">
                      <a:schemeClr val="bg1"/>
                    </a:gs>
                  </a:gsLst>
                  <a:lin ang="5400000" scaled="0"/>
                </a:gradFill>
                <a:latin typeface="Bauhaus 93" panose="04030905020B02020C02" charset="0"/>
                <a:ea typeface="造字工房朗倩（非商用）常规体" charset="-122"/>
                <a:cs typeface="Bauhaus 93" panose="04030905020B02020C02" charset="0"/>
              </a:rPr>
              <a:t>01</a:t>
            </a:r>
            <a:endParaRPr lang="en-US" altLang="zh-CN" sz="4000" i="1" dirty="0">
              <a:ln w="19050">
                <a:noFill/>
              </a:ln>
              <a:gradFill>
                <a:gsLst>
                  <a:gs pos="39000">
                    <a:srgbClr val="5399D4"/>
                  </a:gs>
                  <a:gs pos="100000">
                    <a:schemeClr val="bg1"/>
                  </a:gs>
                </a:gsLst>
                <a:lin ang="5400000" scaled="0"/>
              </a:gradFill>
              <a:latin typeface="Bauhaus 93" panose="04030905020B02020C02" charset="0"/>
              <a:ea typeface="造字工房朗倩（非商用）常规体" charset="-122"/>
              <a:cs typeface="Bauhaus 93" panose="04030905020B02020C02" charset="0"/>
            </a:endParaRPr>
          </a:p>
        </p:txBody>
      </p:sp>
      <p:sp>
        <p:nvSpPr>
          <p:cNvPr id="16" name="文本框 15"/>
          <p:cNvSpPr txBox="1"/>
          <p:nvPr>
            <p:custDataLst>
              <p:tags r:id="rId6"/>
            </p:custDataLst>
          </p:nvPr>
        </p:nvSpPr>
        <p:spPr>
          <a:xfrm>
            <a:off x="897439" y="151711"/>
            <a:ext cx="8441283" cy="537779"/>
          </a:xfrm>
          <a:prstGeom prst="rect">
            <a:avLst/>
          </a:prstGeom>
          <a:noFill/>
        </p:spPr>
        <p:txBody>
          <a:bodyPr wrap="square" rtlCol="0">
            <a:noAutofit/>
          </a:bodyPr>
          <a:lstStyle/>
          <a:p>
            <a:r>
              <a:rPr lang="en-US" altLang="zh-CN" sz="3600" b="1" dirty="0">
                <a:solidFill>
                  <a:schemeClr val="tx1"/>
                </a:solidFill>
              </a:rPr>
              <a:t>Parameter Efficient Methods</a:t>
            </a:r>
            <a:endParaRPr lang="zh-CN" altLang="en-US" sz="3600" b="1" dirty="0">
              <a:solidFill>
                <a:schemeClr val="tx1"/>
              </a:solidFill>
            </a:endParaRPr>
          </a:p>
        </p:txBody>
      </p:sp>
      <p:sp>
        <p:nvSpPr>
          <p:cNvPr id="17" name="灯片编号占位符 16"/>
          <p:cNvSpPr>
            <a:spLocks noGrp="1"/>
          </p:cNvSpPr>
          <p:nvPr>
            <p:ph type="sldNum" sz="quarter" idx="12"/>
          </p:nvPr>
        </p:nvSpPr>
        <p:spPr/>
        <p:txBody>
          <a:bodyPr>
            <a:noAutofit/>
          </a:bodyPr>
          <a:lstStyle/>
          <a:p>
            <a:pPr algn="l" fontAlgn="auto"/>
            <a:fld id="{49AE70B2-8BF9-45C0-BB95-33D1B9D3A854}" type="slidenum">
              <a:rPr lang="zh-CN" altLang="en-US" sz="1800" strike="noStrike" noProof="1" smtClean="0">
                <a:solidFill>
                  <a:schemeClr val="tx1"/>
                </a:solidFill>
                <a:latin typeface="+mn-lt"/>
                <a:ea typeface="+mn-ea"/>
                <a:cs typeface="+mn-cs"/>
              </a:rPr>
            </a:fld>
            <a:endParaRPr lang="zh-CN" altLang="en-US" sz="1800" strike="noStrike" noProof="1">
              <a:solidFill>
                <a:schemeClr val="tx1"/>
              </a:solidFill>
              <a:latin typeface="+mn-lt"/>
              <a:ea typeface="+mn-ea"/>
              <a:cs typeface="+mn-cs"/>
            </a:endParaRPr>
          </a:p>
        </p:txBody>
      </p:sp>
      <p:sp>
        <p:nvSpPr>
          <p:cNvPr id="14" name="文本框 13"/>
          <p:cNvSpPr txBox="1"/>
          <p:nvPr/>
        </p:nvSpPr>
        <p:spPr>
          <a:xfrm>
            <a:off x="706755" y="870585"/>
            <a:ext cx="7586322" cy="658835"/>
          </a:xfrm>
          <a:prstGeom prst="rect">
            <a:avLst/>
          </a:prstGeom>
          <a:noFill/>
        </p:spPr>
        <p:txBody>
          <a:bodyPr wrap="square" rtlCol="0" anchor="t">
            <a:spAutoFit/>
          </a:bodyPr>
          <a:lstStyle/>
          <a:p>
            <a:pPr lvl="1" indent="-457200" algn="l" defTabSz="914400" fontAlgn="base">
              <a:lnSpc>
                <a:spcPct val="150000"/>
              </a:lnSpc>
              <a:buClrTx/>
              <a:buSzTx/>
              <a:buFont typeface="Wingdings" panose="05000000000000000000" pitchFamily="2" charset="2"/>
              <a:buChar char="Ø"/>
            </a:pPr>
            <a:r>
              <a:rPr lang="en-US" altLang="zh-CN" sz="2800" dirty="0">
                <a:solidFill>
                  <a:sysClr val="windowText" lastClr="000000"/>
                </a:solidFill>
                <a:latin typeface="Arial" panose="020B0604020202090204" pitchFamily="34" charset="0"/>
                <a:ea typeface="微软雅黑" charset="-122"/>
                <a:sym typeface="+mn-ea"/>
              </a:rPr>
              <a:t>1</a:t>
            </a:r>
            <a:r>
              <a:rPr lang="zh-CN" altLang="en-US" sz="2800" dirty="0">
                <a:solidFill>
                  <a:sysClr val="windowText" lastClr="000000"/>
                </a:solidFill>
                <a:latin typeface="Arial" panose="020B0604020202090204" pitchFamily="34" charset="0"/>
                <a:ea typeface="微软雅黑" charset="-122"/>
                <a:sym typeface="+mn-ea"/>
              </a:rPr>
              <a:t>.</a:t>
            </a:r>
            <a:r>
              <a:rPr lang="en-US" altLang="zh-CN" sz="2800" dirty="0">
                <a:solidFill>
                  <a:sysClr val="windowText" lastClr="000000"/>
                </a:solidFill>
                <a:latin typeface="Arial" panose="020B0604020202090204" pitchFamily="34" charset="0"/>
                <a:ea typeface="微软雅黑" charset="-122"/>
                <a:sym typeface="+mn-ea"/>
              </a:rPr>
              <a:t>1 ControlNet</a:t>
            </a:r>
            <a:endParaRPr lang="zh-CN" altLang="en-US" sz="2800" dirty="0">
              <a:solidFill>
                <a:sysClr val="windowText" lastClr="000000"/>
              </a:solidFill>
              <a:latin typeface="Arial" panose="020B0604020202090204" pitchFamily="34" charset="0"/>
              <a:ea typeface="微软雅黑" charset="-122"/>
              <a:sym typeface="+mn-ea"/>
            </a:endParaRPr>
          </a:p>
        </p:txBody>
      </p:sp>
      <p:sp>
        <p:nvSpPr>
          <p:cNvPr id="21" name="矩形 20"/>
          <p:cNvSpPr/>
          <p:nvPr/>
        </p:nvSpPr>
        <p:spPr>
          <a:xfrm>
            <a:off x="4939313" y="2511668"/>
            <a:ext cx="1738714" cy="169736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7"/>
    </p:custDataLst>
  </p:cSld>
  <p:clrMapOvr>
    <a:masterClrMapping/>
  </p:clrMapOvr>
  <p:transition advTm="58970"/>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1914589" y="2465434"/>
            <a:ext cx="8138998" cy="3570237"/>
          </a:xfrm>
          <a:prstGeom prst="rect">
            <a:avLst/>
          </a:prstGeom>
        </p:spPr>
      </p:pic>
      <p:pic>
        <p:nvPicPr>
          <p:cNvPr id="3074" name="图片 2" descr="剪影蓝 低版本"/>
          <p:cNvPicPr>
            <a:picLocks noChangeAspect="1"/>
          </p:cNvPicPr>
          <p:nvPr/>
        </p:nvPicPr>
        <p:blipFill>
          <a:blip r:embed="rId2"/>
          <a:srcRect l="-8"/>
          <a:stretch>
            <a:fillRect/>
          </a:stretch>
        </p:blipFill>
        <p:spPr>
          <a:xfrm>
            <a:off x="1505" y="5378386"/>
            <a:ext cx="12190495" cy="2438099"/>
          </a:xfrm>
          <a:prstGeom prst="rect">
            <a:avLst/>
          </a:prstGeom>
          <a:noFill/>
          <a:ln w="9525">
            <a:noFill/>
          </a:ln>
        </p:spPr>
      </p:pic>
      <p:sp>
        <p:nvSpPr>
          <p:cNvPr id="22" name="文本框 21"/>
          <p:cNvSpPr txBox="1"/>
          <p:nvPr/>
        </p:nvSpPr>
        <p:spPr>
          <a:xfrm>
            <a:off x="154297" y="-42999"/>
            <a:ext cx="552421" cy="874984"/>
          </a:xfrm>
          <a:prstGeom prst="rect">
            <a:avLst/>
          </a:prstGeom>
          <a:noFill/>
          <a:effectLst>
            <a:reflection blurRad="12700" stA="0" endPos="65000" dist="50800" dir="5400000" sy="-100000" algn="bl" rotWithShape="0"/>
          </a:effectLst>
        </p:spPr>
        <p:txBody>
          <a:bodyPr wrap="square" rtlCol="0">
            <a:noAutofit/>
          </a:bodyPr>
          <a:lstStyle/>
          <a:p>
            <a:r>
              <a:rPr lang="en-US" altLang="zh-CN" sz="5400" b="1" dirty="0">
                <a:solidFill>
                  <a:schemeClr val="bg1"/>
                </a:solidFill>
                <a:effectLst>
                  <a:glow>
                    <a:schemeClr val="accent1">
                      <a:alpha val="40000"/>
                    </a:schemeClr>
                  </a:glow>
                </a:effectLst>
                <a:latin typeface="Times New Roman" panose="02020503050405090304" charset="0"/>
                <a:ea typeface="微软雅黑" charset="-122"/>
                <a:cs typeface="Times New Roman" panose="02020503050405090304" charset="0"/>
              </a:rPr>
              <a:t>1</a:t>
            </a:r>
            <a:endParaRPr lang="en-US" altLang="zh-CN" sz="5400" b="1" dirty="0">
              <a:solidFill>
                <a:schemeClr val="bg1"/>
              </a:solidFill>
              <a:effectLst>
                <a:glow>
                  <a:schemeClr val="accent1">
                    <a:alpha val="40000"/>
                  </a:schemeClr>
                </a:glow>
              </a:effectLst>
              <a:latin typeface="Times New Roman" panose="02020503050405090304" charset="0"/>
              <a:ea typeface="微软雅黑" charset="-122"/>
              <a:cs typeface="Times New Roman" panose="02020503050405090304" charset="0"/>
            </a:endParaRPr>
          </a:p>
        </p:txBody>
      </p:sp>
      <p:sp>
        <p:nvSpPr>
          <p:cNvPr id="2" name="文本框 1"/>
          <p:cNvSpPr txBox="1"/>
          <p:nvPr/>
        </p:nvSpPr>
        <p:spPr>
          <a:xfrm>
            <a:off x="1094740" y="259715"/>
            <a:ext cx="6096000" cy="521970"/>
          </a:xfrm>
          <a:prstGeom prst="rect">
            <a:avLst/>
          </a:prstGeom>
          <a:noFill/>
        </p:spPr>
        <p:txBody>
          <a:bodyPr wrap="square" rtlCol="0" anchor="t">
            <a:spAutoFit/>
          </a:bodyPr>
          <a:lstStyle/>
          <a:p>
            <a:r>
              <a:rPr sz="2800" b="1">
                <a:solidFill>
                  <a:srgbClr val="000000"/>
                </a:solidFill>
                <a:latin typeface="微软雅黑" charset="-122"/>
                <a:ea typeface="微软雅黑" charset="-122"/>
                <a:cs typeface="微软雅黑" charset="-122"/>
                <a:sym typeface="+mn-ea"/>
              </a:rPr>
              <a:t>1.1 从变化率到梯度的直观引入</a:t>
            </a:r>
            <a:endParaRPr lang="zh-CN" altLang="en-US" sz="2800" b="1">
              <a:solidFill>
                <a:srgbClr val="000000"/>
              </a:solidFill>
              <a:latin typeface="微软雅黑" charset="-122"/>
              <a:ea typeface="微软雅黑" charset="-122"/>
              <a:cs typeface="微软雅黑" charset="-122"/>
              <a:sym typeface="+mn-ea"/>
            </a:endParaRPr>
          </a:p>
        </p:txBody>
      </p:sp>
      <p:sp>
        <p:nvSpPr>
          <p:cNvPr id="13" name="矩形 12"/>
          <p:cNvSpPr/>
          <p:nvPr>
            <p:custDataLst>
              <p:tags r:id="rId3"/>
            </p:custDataLst>
          </p:nvPr>
        </p:nvSpPr>
        <p:spPr>
          <a:xfrm>
            <a:off x="1353" y="600"/>
            <a:ext cx="12190495" cy="840002"/>
          </a:xfrm>
          <a:prstGeom prst="rect">
            <a:avLst/>
          </a:prstGeom>
          <a:gradFill>
            <a:gsLst>
              <a:gs pos="0">
                <a:schemeClr val="bg1"/>
              </a:gs>
              <a:gs pos="50000">
                <a:srgbClr val="5399D4"/>
              </a:gs>
              <a:gs pos="100000">
                <a:srgbClr val="2E3C63"/>
              </a:gs>
            </a:gsLst>
          </a:gradFill>
          <a:effectLst/>
        </p:spPr>
        <p:style>
          <a:lnRef idx="0">
            <a:srgbClr val="FFFFFF"/>
          </a:lnRef>
          <a:fillRef idx="2">
            <a:schemeClr val="accent1"/>
          </a:fillRef>
          <a:effectRef idx="1">
            <a:schemeClr val="accent1"/>
          </a:effectRef>
          <a:fontRef idx="minor">
            <a:schemeClr val="lt1"/>
          </a:fontRef>
        </p:style>
        <p:txBody>
          <a:bodyPr rtlCol="0" anchor="ctr"/>
          <a:lstStyle/>
          <a:p>
            <a:pPr algn="ctr" fontAlgn="base"/>
            <a:endParaRPr lang="zh-CN" altLang="en-US" sz="100" strike="noStrike" noProof="1"/>
          </a:p>
        </p:txBody>
      </p:sp>
      <p:pic>
        <p:nvPicPr>
          <p:cNvPr id="15" name="图片 14" descr="国科大标准Logo横式一（白色）"/>
          <p:cNvPicPr>
            <a:picLocks noChangeAspect="1"/>
          </p:cNvPicPr>
          <p:nvPr/>
        </p:nvPicPr>
        <p:blipFill>
          <a:blip r:embed="rId4"/>
          <a:stretch>
            <a:fillRect/>
          </a:stretch>
        </p:blipFill>
        <p:spPr>
          <a:xfrm>
            <a:off x="9815971" y="187901"/>
            <a:ext cx="2167622" cy="457144"/>
          </a:xfrm>
          <a:prstGeom prst="rect">
            <a:avLst/>
          </a:prstGeom>
        </p:spPr>
      </p:pic>
      <p:sp>
        <p:nvSpPr>
          <p:cNvPr id="3078" name="文本框 3"/>
          <p:cNvSpPr txBox="1"/>
          <p:nvPr>
            <p:custDataLst>
              <p:tags r:id="rId5"/>
            </p:custDataLst>
          </p:nvPr>
        </p:nvSpPr>
        <p:spPr>
          <a:xfrm>
            <a:off x="46644" y="-47231"/>
            <a:ext cx="850795" cy="919366"/>
          </a:xfrm>
          <a:prstGeom prst="rect">
            <a:avLst/>
          </a:prstGeom>
          <a:noFill/>
          <a:ln w="12700" cmpd="sng">
            <a:noFill/>
            <a:prstDash val="solid"/>
          </a:ln>
          <a:effectLst>
            <a:outerShdw dist="63500" dir="2700000" algn="tl" rotWithShape="0">
              <a:schemeClr val="bg1">
                <a:alpha val="100000"/>
              </a:schemeClr>
            </a:outerShdw>
          </a:effectLst>
        </p:spPr>
        <p:txBody>
          <a:bodyPr wrap="square" anchor="t" anchorCtr="0"/>
          <a:lstStyle/>
          <a:p>
            <a:pPr>
              <a:lnSpc>
                <a:spcPct val="130000"/>
              </a:lnSpc>
            </a:pPr>
            <a:r>
              <a:rPr lang="en-US" altLang="zh-CN" sz="4000" i="1" dirty="0">
                <a:ln w="19050">
                  <a:noFill/>
                </a:ln>
                <a:gradFill>
                  <a:gsLst>
                    <a:gs pos="39000">
                      <a:srgbClr val="5399D4"/>
                    </a:gs>
                    <a:gs pos="100000">
                      <a:schemeClr val="bg1"/>
                    </a:gs>
                  </a:gsLst>
                  <a:lin ang="5400000" scaled="0"/>
                </a:gradFill>
                <a:latin typeface="Bauhaus 93" panose="04030905020B02020C02" charset="0"/>
                <a:ea typeface="造字工房朗倩（非商用）常规体" charset="-122"/>
                <a:cs typeface="Bauhaus 93" panose="04030905020B02020C02" charset="0"/>
              </a:rPr>
              <a:t>01</a:t>
            </a:r>
            <a:endParaRPr lang="en-US" altLang="zh-CN" sz="4000" i="1" dirty="0">
              <a:ln w="19050">
                <a:noFill/>
              </a:ln>
              <a:gradFill>
                <a:gsLst>
                  <a:gs pos="39000">
                    <a:srgbClr val="5399D4"/>
                  </a:gs>
                  <a:gs pos="100000">
                    <a:schemeClr val="bg1"/>
                  </a:gs>
                </a:gsLst>
                <a:lin ang="5400000" scaled="0"/>
              </a:gradFill>
              <a:latin typeface="Bauhaus 93" panose="04030905020B02020C02" charset="0"/>
              <a:ea typeface="造字工房朗倩（非商用）常规体" charset="-122"/>
              <a:cs typeface="Bauhaus 93" panose="04030905020B02020C02" charset="0"/>
            </a:endParaRPr>
          </a:p>
        </p:txBody>
      </p:sp>
      <p:sp>
        <p:nvSpPr>
          <p:cNvPr id="16" name="文本框 15"/>
          <p:cNvSpPr txBox="1"/>
          <p:nvPr>
            <p:custDataLst>
              <p:tags r:id="rId6"/>
            </p:custDataLst>
          </p:nvPr>
        </p:nvSpPr>
        <p:spPr>
          <a:xfrm>
            <a:off x="897439" y="151711"/>
            <a:ext cx="8441283" cy="537779"/>
          </a:xfrm>
          <a:prstGeom prst="rect">
            <a:avLst/>
          </a:prstGeom>
          <a:noFill/>
        </p:spPr>
        <p:txBody>
          <a:bodyPr wrap="square" rtlCol="0">
            <a:noAutofit/>
          </a:bodyPr>
          <a:lstStyle/>
          <a:p>
            <a:r>
              <a:rPr lang="en-US" altLang="zh-CN" sz="3600" b="1" dirty="0">
                <a:solidFill>
                  <a:schemeClr val="tx1"/>
                </a:solidFill>
              </a:rPr>
              <a:t>Parameter Efficient Methods</a:t>
            </a:r>
            <a:endParaRPr lang="zh-CN" altLang="en-US" sz="3600" b="1" dirty="0">
              <a:solidFill>
                <a:schemeClr val="tx1"/>
              </a:solidFill>
            </a:endParaRPr>
          </a:p>
        </p:txBody>
      </p:sp>
      <p:sp>
        <p:nvSpPr>
          <p:cNvPr id="17" name="灯片编号占位符 16"/>
          <p:cNvSpPr>
            <a:spLocks noGrp="1"/>
          </p:cNvSpPr>
          <p:nvPr>
            <p:ph type="sldNum" sz="quarter" idx="12"/>
          </p:nvPr>
        </p:nvSpPr>
        <p:spPr/>
        <p:txBody>
          <a:bodyPr>
            <a:noAutofit/>
          </a:bodyPr>
          <a:lstStyle/>
          <a:p>
            <a:pPr algn="l" fontAlgn="auto"/>
            <a:fld id="{49AE70B2-8BF9-45C0-BB95-33D1B9D3A854}" type="slidenum">
              <a:rPr lang="zh-CN" altLang="en-US" sz="1800" strike="noStrike" noProof="1" smtClean="0">
                <a:solidFill>
                  <a:schemeClr val="tx1"/>
                </a:solidFill>
                <a:latin typeface="+mn-lt"/>
                <a:ea typeface="+mn-ea"/>
                <a:cs typeface="+mn-cs"/>
              </a:rPr>
            </a:fld>
            <a:endParaRPr lang="zh-CN" altLang="en-US" sz="1800" strike="noStrike" noProof="1">
              <a:solidFill>
                <a:schemeClr val="tx1"/>
              </a:solidFill>
              <a:latin typeface="+mn-lt"/>
              <a:ea typeface="+mn-ea"/>
              <a:cs typeface="+mn-cs"/>
            </a:endParaRPr>
          </a:p>
        </p:txBody>
      </p:sp>
      <p:sp>
        <p:nvSpPr>
          <p:cNvPr id="14" name="文本框 13"/>
          <p:cNvSpPr txBox="1"/>
          <p:nvPr/>
        </p:nvSpPr>
        <p:spPr>
          <a:xfrm>
            <a:off x="706755" y="870585"/>
            <a:ext cx="7586322" cy="658835"/>
          </a:xfrm>
          <a:prstGeom prst="rect">
            <a:avLst/>
          </a:prstGeom>
          <a:noFill/>
        </p:spPr>
        <p:txBody>
          <a:bodyPr wrap="square" rtlCol="0" anchor="t">
            <a:spAutoFit/>
          </a:bodyPr>
          <a:lstStyle/>
          <a:p>
            <a:pPr lvl="1" indent="-457200" algn="l" defTabSz="914400" fontAlgn="base">
              <a:lnSpc>
                <a:spcPct val="150000"/>
              </a:lnSpc>
              <a:buClrTx/>
              <a:buSzTx/>
              <a:buFont typeface="Wingdings" panose="05000000000000000000" pitchFamily="2" charset="2"/>
              <a:buChar char="Ø"/>
            </a:pPr>
            <a:r>
              <a:rPr lang="en-US" altLang="zh-CN" sz="2800" dirty="0">
                <a:solidFill>
                  <a:sysClr val="windowText" lastClr="000000"/>
                </a:solidFill>
                <a:latin typeface="Arial" panose="020B0604020202090204" pitchFamily="34" charset="0"/>
                <a:ea typeface="微软雅黑" charset="-122"/>
                <a:sym typeface="+mn-ea"/>
              </a:rPr>
              <a:t>1</a:t>
            </a:r>
            <a:r>
              <a:rPr lang="zh-CN" altLang="en-US" sz="2800" dirty="0">
                <a:solidFill>
                  <a:sysClr val="windowText" lastClr="000000"/>
                </a:solidFill>
                <a:latin typeface="Arial" panose="020B0604020202090204" pitchFamily="34" charset="0"/>
                <a:ea typeface="微软雅黑" charset="-122"/>
                <a:sym typeface="+mn-ea"/>
              </a:rPr>
              <a:t>.</a:t>
            </a:r>
            <a:r>
              <a:rPr lang="en-US" altLang="zh-CN" sz="2800" dirty="0">
                <a:solidFill>
                  <a:sysClr val="windowText" lastClr="000000"/>
                </a:solidFill>
                <a:latin typeface="Arial" panose="020B0604020202090204" pitchFamily="34" charset="0"/>
                <a:ea typeface="微软雅黑" charset="-122"/>
                <a:sym typeface="+mn-ea"/>
              </a:rPr>
              <a:t>1 ControlNet</a:t>
            </a:r>
            <a:endParaRPr lang="zh-CN" altLang="en-US" sz="2800" dirty="0">
              <a:solidFill>
                <a:sysClr val="windowText" lastClr="000000"/>
              </a:solidFill>
              <a:latin typeface="Arial" panose="020B0604020202090204" pitchFamily="34" charset="0"/>
              <a:ea typeface="微软雅黑" charset="-122"/>
              <a:sym typeface="+mn-ea"/>
            </a:endParaRPr>
          </a:p>
        </p:txBody>
      </p:sp>
      <p:sp>
        <p:nvSpPr>
          <p:cNvPr id="18" name="文本框 17"/>
          <p:cNvSpPr txBox="1"/>
          <p:nvPr/>
        </p:nvSpPr>
        <p:spPr>
          <a:xfrm>
            <a:off x="1225506" y="1541147"/>
            <a:ext cx="9838036" cy="584775"/>
          </a:xfrm>
          <a:prstGeom prst="rect">
            <a:avLst/>
          </a:prstGeom>
          <a:noFill/>
        </p:spPr>
        <p:txBody>
          <a:bodyPr wrap="square">
            <a:spAutoFit/>
          </a:bodyPr>
          <a:lstStyle/>
          <a:p>
            <a:r>
              <a:rPr lang="en-US" altLang="zh-CN" sz="1600" dirty="0">
                <a:solidFill>
                  <a:schemeClr val="tx1">
                    <a:lumMod val="65000"/>
                    <a:lumOff val="35000"/>
                  </a:schemeClr>
                </a:solidFill>
                <a:latin typeface="微软雅黑" charset="-122"/>
                <a:ea typeface="微软雅黑" charset="-122"/>
              </a:rPr>
              <a:t>ControlNet </a:t>
            </a:r>
            <a:r>
              <a:rPr lang="zh-CN" altLang="en-US" sz="1600" dirty="0">
                <a:solidFill>
                  <a:schemeClr val="tx1">
                    <a:lumMod val="65000"/>
                    <a:lumOff val="35000"/>
                  </a:schemeClr>
                </a:solidFill>
                <a:latin typeface="微软雅黑" charset="-122"/>
                <a:ea typeface="微软雅黑" charset="-122"/>
              </a:rPr>
              <a:t>并没有复制整个 </a:t>
            </a:r>
            <a:r>
              <a:rPr lang="en-US" altLang="zh-CN" sz="1600" dirty="0">
                <a:solidFill>
                  <a:schemeClr val="tx1">
                    <a:lumMod val="65000"/>
                    <a:lumOff val="35000"/>
                  </a:schemeClr>
                </a:solidFill>
                <a:latin typeface="微软雅黑" charset="-122"/>
                <a:ea typeface="微软雅黑" charset="-122"/>
              </a:rPr>
              <a:t>U-Net</a:t>
            </a:r>
            <a:r>
              <a:rPr lang="zh-CN" altLang="en-US" sz="1600" dirty="0">
                <a:solidFill>
                  <a:schemeClr val="tx1">
                    <a:lumMod val="65000"/>
                    <a:lumOff val="35000"/>
                  </a:schemeClr>
                </a:solidFill>
                <a:latin typeface="微软雅黑" charset="-122"/>
                <a:ea typeface="微软雅黑" charset="-122"/>
              </a:rPr>
              <a:t>，为了节省 </a:t>
            </a:r>
            <a:r>
              <a:rPr lang="en-US" altLang="zh-CN" sz="1600" dirty="0">
                <a:solidFill>
                  <a:schemeClr val="tx1">
                    <a:lumMod val="65000"/>
                    <a:lumOff val="35000"/>
                  </a:schemeClr>
                </a:solidFill>
                <a:latin typeface="微软雅黑" charset="-122"/>
                <a:ea typeface="微软雅黑" charset="-122"/>
              </a:rPr>
              <a:t>50%</a:t>
            </a:r>
            <a:r>
              <a:rPr lang="zh-CN" altLang="en-US" sz="1600" dirty="0">
                <a:solidFill>
                  <a:schemeClr val="tx1">
                    <a:lumMod val="65000"/>
                    <a:lumOff val="35000"/>
                  </a:schemeClr>
                </a:solidFill>
                <a:latin typeface="微软雅黑" charset="-122"/>
                <a:ea typeface="微软雅黑" charset="-122"/>
              </a:rPr>
              <a:t>的计算量</a:t>
            </a:r>
            <a:r>
              <a:rPr lang="en-US" altLang="zh-CN" sz="1600" dirty="0">
                <a:solidFill>
                  <a:schemeClr val="tx1">
                    <a:lumMod val="65000"/>
                    <a:lumOff val="35000"/>
                  </a:schemeClr>
                </a:solidFill>
                <a:latin typeface="微软雅黑" charset="-122"/>
                <a:ea typeface="微软雅黑" charset="-122"/>
              </a:rPr>
              <a:t>,</a:t>
            </a:r>
            <a:r>
              <a:rPr lang="zh-CN" altLang="en-US" sz="1600" dirty="0">
                <a:solidFill>
                  <a:schemeClr val="tx1">
                    <a:lumMod val="65000"/>
                    <a:lumOff val="35000"/>
                  </a:schemeClr>
                </a:solidFill>
                <a:latin typeface="微软雅黑" charset="-122"/>
                <a:ea typeface="微软雅黑" charset="-122"/>
              </a:rPr>
              <a:t>它仅复制了包含特征提取的</a:t>
            </a:r>
            <a:r>
              <a:rPr lang="en-US" altLang="zh-CN" sz="1600" dirty="0">
                <a:solidFill>
                  <a:schemeClr val="tx1">
                    <a:lumMod val="65000"/>
                    <a:lumOff val="35000"/>
                  </a:schemeClr>
                </a:solidFill>
                <a:latin typeface="微软雅黑" charset="-122"/>
                <a:ea typeface="微软雅黑" charset="-122"/>
              </a:rPr>
              <a:t>12</a:t>
            </a:r>
            <a:r>
              <a:rPr lang="zh-CN" altLang="en-US" sz="1600" dirty="0">
                <a:solidFill>
                  <a:schemeClr val="tx1">
                    <a:lumMod val="65000"/>
                    <a:lumOff val="35000"/>
                  </a:schemeClr>
                </a:solidFill>
                <a:latin typeface="微软雅黑" charset="-122"/>
                <a:ea typeface="微软雅黑" charset="-122"/>
              </a:rPr>
              <a:t>个 </a:t>
            </a:r>
            <a:r>
              <a:rPr lang="en-US" altLang="zh-CN" sz="1600" dirty="0">
                <a:solidFill>
                  <a:schemeClr val="tx1">
                    <a:lumMod val="65000"/>
                    <a:lumOff val="35000"/>
                  </a:schemeClr>
                </a:solidFill>
                <a:latin typeface="微软雅黑" charset="-122"/>
                <a:ea typeface="微软雅黑" charset="-122"/>
              </a:rPr>
              <a:t>Encoder Block(</a:t>
            </a:r>
            <a:r>
              <a:rPr lang="zh-CN" altLang="en-US" sz="1600" dirty="0">
                <a:solidFill>
                  <a:schemeClr val="tx1">
                    <a:lumMod val="65000"/>
                    <a:lumOff val="35000"/>
                  </a:schemeClr>
                </a:solidFill>
                <a:latin typeface="微软雅黑" charset="-122"/>
                <a:ea typeface="微软雅黑" charset="-122"/>
              </a:rPr>
              <a:t>对应 </a:t>
            </a:r>
            <a:r>
              <a:rPr lang="en-US" altLang="zh-CN" sz="1600" dirty="0">
                <a:solidFill>
                  <a:schemeClr val="tx1">
                    <a:lumMod val="65000"/>
                    <a:lumOff val="35000"/>
                  </a:schemeClr>
                </a:solidFill>
                <a:latin typeface="微软雅黑" charset="-122"/>
                <a:ea typeface="微软雅黑" charset="-122"/>
              </a:rPr>
              <a:t>64x64 </a:t>
            </a:r>
            <a:r>
              <a:rPr lang="zh-CN" altLang="en-US" sz="1600" dirty="0">
                <a:solidFill>
                  <a:schemeClr val="tx1">
                    <a:lumMod val="65000"/>
                    <a:lumOff val="35000"/>
                  </a:schemeClr>
                </a:solidFill>
                <a:latin typeface="微软雅黑" charset="-122"/>
                <a:ea typeface="微软雅黑" charset="-122"/>
              </a:rPr>
              <a:t>到</a:t>
            </a:r>
            <a:r>
              <a:rPr lang="en-US" altLang="zh-CN" sz="1600" dirty="0">
                <a:solidFill>
                  <a:schemeClr val="tx1">
                    <a:lumMod val="65000"/>
                    <a:lumOff val="35000"/>
                  </a:schemeClr>
                </a:solidFill>
                <a:latin typeface="微软雅黑" charset="-122"/>
                <a:ea typeface="微软雅黑" charset="-122"/>
              </a:rPr>
              <a:t>8x8 </a:t>
            </a:r>
            <a:r>
              <a:rPr lang="zh-CN" altLang="en-US" sz="1600" dirty="0">
                <a:solidFill>
                  <a:schemeClr val="tx1">
                    <a:lumMod val="65000"/>
                    <a:lumOff val="35000"/>
                  </a:schemeClr>
                </a:solidFill>
                <a:latin typeface="微软雅黑" charset="-122"/>
                <a:ea typeface="微软雅黑" charset="-122"/>
              </a:rPr>
              <a:t>的四种分辨率</a:t>
            </a:r>
            <a:r>
              <a:rPr lang="en-US" altLang="zh-CN" sz="1600" dirty="0">
                <a:solidFill>
                  <a:schemeClr val="tx1">
                    <a:lumMod val="65000"/>
                    <a:lumOff val="35000"/>
                  </a:schemeClr>
                </a:solidFill>
                <a:latin typeface="微软雅黑" charset="-122"/>
                <a:ea typeface="微软雅黑" charset="-122"/>
              </a:rPr>
              <a:t>)</a:t>
            </a:r>
            <a:r>
              <a:rPr lang="zh-CN" altLang="en-US" sz="1600" dirty="0">
                <a:solidFill>
                  <a:schemeClr val="tx1">
                    <a:lumMod val="65000"/>
                    <a:lumOff val="35000"/>
                  </a:schemeClr>
                </a:solidFill>
                <a:latin typeface="微软雅黑" charset="-122"/>
                <a:ea typeface="微软雅黑" charset="-122"/>
              </a:rPr>
              <a:t>和</a:t>
            </a:r>
            <a:r>
              <a:rPr lang="en-US" altLang="zh-CN" sz="1600" dirty="0">
                <a:solidFill>
                  <a:schemeClr val="tx1">
                    <a:lumMod val="65000"/>
                    <a:lumOff val="35000"/>
                  </a:schemeClr>
                </a:solidFill>
                <a:latin typeface="微软雅黑" charset="-122"/>
                <a:ea typeface="微软雅黑" charset="-122"/>
              </a:rPr>
              <a:t>1</a:t>
            </a:r>
            <a:r>
              <a:rPr lang="zh-CN" altLang="en-US" sz="1600" dirty="0">
                <a:solidFill>
                  <a:schemeClr val="tx1">
                    <a:lumMod val="65000"/>
                    <a:lumOff val="35000"/>
                  </a:schemeClr>
                </a:solidFill>
                <a:latin typeface="微软雅黑" charset="-122"/>
                <a:ea typeface="微软雅黑" charset="-122"/>
              </a:rPr>
              <a:t>个</a:t>
            </a:r>
            <a:r>
              <a:rPr lang="en-US" altLang="zh-CN" sz="1600" dirty="0">
                <a:solidFill>
                  <a:schemeClr val="tx1">
                    <a:lumMod val="65000"/>
                    <a:lumOff val="35000"/>
                  </a:schemeClr>
                </a:solidFill>
                <a:latin typeface="微软雅黑" charset="-122"/>
                <a:ea typeface="微软雅黑" charset="-122"/>
              </a:rPr>
              <a:t>Middle Block. </a:t>
            </a:r>
            <a:endParaRPr lang="zh-CN" altLang="en-US" sz="1600" dirty="0">
              <a:solidFill>
                <a:schemeClr val="tx1">
                  <a:lumMod val="65000"/>
                  <a:lumOff val="35000"/>
                </a:schemeClr>
              </a:solidFill>
              <a:latin typeface="微软雅黑" charset="-122"/>
              <a:ea typeface="微软雅黑" charset="-122"/>
            </a:endParaRPr>
          </a:p>
        </p:txBody>
      </p:sp>
    </p:spTree>
    <p:custDataLst>
      <p:tags r:id="rId7"/>
    </p:custDataLst>
  </p:cSld>
  <p:clrMapOvr>
    <a:masterClrMapping/>
  </p:clrMapOvr>
  <p:transition advTm="58970"/>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图片 2" descr="剪影蓝 低版本"/>
          <p:cNvPicPr>
            <a:picLocks noChangeAspect="1"/>
          </p:cNvPicPr>
          <p:nvPr/>
        </p:nvPicPr>
        <p:blipFill>
          <a:blip r:embed="rId1"/>
          <a:srcRect l="-8"/>
          <a:stretch>
            <a:fillRect/>
          </a:stretch>
        </p:blipFill>
        <p:spPr>
          <a:xfrm>
            <a:off x="1505" y="5378386"/>
            <a:ext cx="12190495" cy="2438099"/>
          </a:xfrm>
          <a:prstGeom prst="rect">
            <a:avLst/>
          </a:prstGeom>
          <a:noFill/>
          <a:ln w="9525">
            <a:noFill/>
          </a:ln>
        </p:spPr>
      </p:pic>
      <p:sp>
        <p:nvSpPr>
          <p:cNvPr id="22" name="文本框 21"/>
          <p:cNvSpPr txBox="1"/>
          <p:nvPr/>
        </p:nvSpPr>
        <p:spPr>
          <a:xfrm>
            <a:off x="154297" y="-42999"/>
            <a:ext cx="552421" cy="874984"/>
          </a:xfrm>
          <a:prstGeom prst="rect">
            <a:avLst/>
          </a:prstGeom>
          <a:noFill/>
          <a:effectLst>
            <a:reflection blurRad="12700" stA="0" endPos="65000" dist="50800" dir="5400000" sy="-100000" algn="bl" rotWithShape="0"/>
          </a:effectLst>
        </p:spPr>
        <p:txBody>
          <a:bodyPr wrap="square" rtlCol="0">
            <a:noAutofit/>
          </a:bodyPr>
          <a:lstStyle/>
          <a:p>
            <a:r>
              <a:rPr lang="en-US" altLang="zh-CN" sz="5400" b="1" dirty="0">
                <a:solidFill>
                  <a:schemeClr val="bg1"/>
                </a:solidFill>
                <a:effectLst>
                  <a:glow>
                    <a:schemeClr val="accent1">
                      <a:alpha val="40000"/>
                    </a:schemeClr>
                  </a:glow>
                </a:effectLst>
                <a:latin typeface="Times New Roman" panose="02020503050405090304" charset="0"/>
                <a:ea typeface="微软雅黑" charset="-122"/>
                <a:cs typeface="Times New Roman" panose="02020503050405090304" charset="0"/>
              </a:rPr>
              <a:t>1</a:t>
            </a:r>
            <a:endParaRPr lang="en-US" altLang="zh-CN" sz="5400" b="1" dirty="0">
              <a:solidFill>
                <a:schemeClr val="bg1"/>
              </a:solidFill>
              <a:effectLst>
                <a:glow>
                  <a:schemeClr val="accent1">
                    <a:alpha val="40000"/>
                  </a:schemeClr>
                </a:glow>
              </a:effectLst>
              <a:latin typeface="Times New Roman" panose="02020503050405090304" charset="0"/>
              <a:ea typeface="微软雅黑" charset="-122"/>
              <a:cs typeface="Times New Roman" panose="02020503050405090304" charset="0"/>
            </a:endParaRPr>
          </a:p>
        </p:txBody>
      </p:sp>
      <p:sp>
        <p:nvSpPr>
          <p:cNvPr id="2" name="文本框 1"/>
          <p:cNvSpPr txBox="1"/>
          <p:nvPr/>
        </p:nvSpPr>
        <p:spPr>
          <a:xfrm>
            <a:off x="1094740" y="259715"/>
            <a:ext cx="6096000" cy="521970"/>
          </a:xfrm>
          <a:prstGeom prst="rect">
            <a:avLst/>
          </a:prstGeom>
          <a:noFill/>
        </p:spPr>
        <p:txBody>
          <a:bodyPr wrap="square" rtlCol="0" anchor="t">
            <a:spAutoFit/>
          </a:bodyPr>
          <a:lstStyle/>
          <a:p>
            <a:r>
              <a:rPr sz="2800" b="1">
                <a:solidFill>
                  <a:srgbClr val="000000"/>
                </a:solidFill>
                <a:latin typeface="微软雅黑" charset="-122"/>
                <a:ea typeface="微软雅黑" charset="-122"/>
                <a:cs typeface="微软雅黑" charset="-122"/>
                <a:sym typeface="+mn-ea"/>
              </a:rPr>
              <a:t>1.1 从变化率到梯度的直观引入</a:t>
            </a:r>
            <a:endParaRPr lang="zh-CN" altLang="en-US" sz="2800" b="1">
              <a:solidFill>
                <a:srgbClr val="000000"/>
              </a:solidFill>
              <a:latin typeface="微软雅黑" charset="-122"/>
              <a:ea typeface="微软雅黑" charset="-122"/>
              <a:cs typeface="微软雅黑" charset="-122"/>
              <a:sym typeface="+mn-ea"/>
            </a:endParaRPr>
          </a:p>
        </p:txBody>
      </p:sp>
      <p:sp>
        <p:nvSpPr>
          <p:cNvPr id="13" name="矩形 12"/>
          <p:cNvSpPr/>
          <p:nvPr>
            <p:custDataLst>
              <p:tags r:id="rId2"/>
            </p:custDataLst>
          </p:nvPr>
        </p:nvSpPr>
        <p:spPr>
          <a:xfrm>
            <a:off x="1353" y="600"/>
            <a:ext cx="12190495" cy="840002"/>
          </a:xfrm>
          <a:prstGeom prst="rect">
            <a:avLst/>
          </a:prstGeom>
          <a:gradFill>
            <a:gsLst>
              <a:gs pos="0">
                <a:schemeClr val="bg1"/>
              </a:gs>
              <a:gs pos="50000">
                <a:srgbClr val="5399D4"/>
              </a:gs>
              <a:gs pos="100000">
                <a:srgbClr val="2E3C63"/>
              </a:gs>
            </a:gsLst>
          </a:gradFill>
          <a:effectLst/>
        </p:spPr>
        <p:style>
          <a:lnRef idx="0">
            <a:srgbClr val="FFFFFF"/>
          </a:lnRef>
          <a:fillRef idx="2">
            <a:schemeClr val="accent1"/>
          </a:fillRef>
          <a:effectRef idx="1">
            <a:schemeClr val="accent1"/>
          </a:effectRef>
          <a:fontRef idx="minor">
            <a:schemeClr val="lt1"/>
          </a:fontRef>
        </p:style>
        <p:txBody>
          <a:bodyPr rtlCol="0" anchor="ctr"/>
          <a:lstStyle/>
          <a:p>
            <a:pPr algn="ctr" fontAlgn="base"/>
            <a:endParaRPr lang="zh-CN" altLang="en-US" sz="100" strike="noStrike" noProof="1"/>
          </a:p>
        </p:txBody>
      </p:sp>
      <p:pic>
        <p:nvPicPr>
          <p:cNvPr id="15" name="图片 14" descr="国科大标准Logo横式一（白色）"/>
          <p:cNvPicPr>
            <a:picLocks noChangeAspect="1"/>
          </p:cNvPicPr>
          <p:nvPr/>
        </p:nvPicPr>
        <p:blipFill>
          <a:blip r:embed="rId3"/>
          <a:stretch>
            <a:fillRect/>
          </a:stretch>
        </p:blipFill>
        <p:spPr>
          <a:xfrm>
            <a:off x="9815971" y="187901"/>
            <a:ext cx="2167622" cy="457144"/>
          </a:xfrm>
          <a:prstGeom prst="rect">
            <a:avLst/>
          </a:prstGeom>
        </p:spPr>
      </p:pic>
      <p:sp>
        <p:nvSpPr>
          <p:cNvPr id="3078" name="文本框 3"/>
          <p:cNvSpPr txBox="1"/>
          <p:nvPr>
            <p:custDataLst>
              <p:tags r:id="rId4"/>
            </p:custDataLst>
          </p:nvPr>
        </p:nvSpPr>
        <p:spPr>
          <a:xfrm>
            <a:off x="46644" y="-47231"/>
            <a:ext cx="850795" cy="919366"/>
          </a:xfrm>
          <a:prstGeom prst="rect">
            <a:avLst/>
          </a:prstGeom>
          <a:noFill/>
          <a:ln w="12700" cmpd="sng">
            <a:noFill/>
            <a:prstDash val="solid"/>
          </a:ln>
          <a:effectLst>
            <a:outerShdw dist="63500" dir="2700000" algn="tl" rotWithShape="0">
              <a:schemeClr val="bg1">
                <a:alpha val="100000"/>
              </a:schemeClr>
            </a:outerShdw>
          </a:effectLst>
        </p:spPr>
        <p:txBody>
          <a:bodyPr wrap="square" anchor="t" anchorCtr="0"/>
          <a:lstStyle/>
          <a:p>
            <a:pPr>
              <a:lnSpc>
                <a:spcPct val="130000"/>
              </a:lnSpc>
            </a:pPr>
            <a:r>
              <a:rPr lang="en-US" altLang="zh-CN" sz="4000" i="1" dirty="0">
                <a:ln w="19050">
                  <a:noFill/>
                </a:ln>
                <a:gradFill>
                  <a:gsLst>
                    <a:gs pos="39000">
                      <a:srgbClr val="5399D4"/>
                    </a:gs>
                    <a:gs pos="100000">
                      <a:schemeClr val="bg1"/>
                    </a:gs>
                  </a:gsLst>
                  <a:lin ang="5400000" scaled="0"/>
                </a:gradFill>
                <a:latin typeface="Bauhaus 93" panose="04030905020B02020C02" charset="0"/>
                <a:ea typeface="造字工房朗倩（非商用）常规体" charset="-122"/>
                <a:cs typeface="Bauhaus 93" panose="04030905020B02020C02" charset="0"/>
              </a:rPr>
              <a:t>01</a:t>
            </a:r>
            <a:endParaRPr lang="en-US" altLang="zh-CN" sz="4000" i="1" dirty="0">
              <a:ln w="19050">
                <a:noFill/>
              </a:ln>
              <a:gradFill>
                <a:gsLst>
                  <a:gs pos="39000">
                    <a:srgbClr val="5399D4"/>
                  </a:gs>
                  <a:gs pos="100000">
                    <a:schemeClr val="bg1"/>
                  </a:gs>
                </a:gsLst>
                <a:lin ang="5400000" scaled="0"/>
              </a:gradFill>
              <a:latin typeface="Bauhaus 93" panose="04030905020B02020C02" charset="0"/>
              <a:ea typeface="造字工房朗倩（非商用）常规体" charset="-122"/>
              <a:cs typeface="Bauhaus 93" panose="04030905020B02020C02" charset="0"/>
            </a:endParaRPr>
          </a:p>
        </p:txBody>
      </p:sp>
      <p:sp>
        <p:nvSpPr>
          <p:cNvPr id="16" name="文本框 15"/>
          <p:cNvSpPr txBox="1"/>
          <p:nvPr>
            <p:custDataLst>
              <p:tags r:id="rId5"/>
            </p:custDataLst>
          </p:nvPr>
        </p:nvSpPr>
        <p:spPr>
          <a:xfrm>
            <a:off x="897439" y="151711"/>
            <a:ext cx="8441283" cy="537779"/>
          </a:xfrm>
          <a:prstGeom prst="rect">
            <a:avLst/>
          </a:prstGeom>
          <a:noFill/>
        </p:spPr>
        <p:txBody>
          <a:bodyPr wrap="square" rtlCol="0">
            <a:noAutofit/>
          </a:bodyPr>
          <a:lstStyle/>
          <a:p>
            <a:r>
              <a:rPr lang="en-US" altLang="zh-CN" sz="3600" b="1" dirty="0">
                <a:solidFill>
                  <a:schemeClr val="tx1"/>
                </a:solidFill>
              </a:rPr>
              <a:t>Parameter Efficient Methods</a:t>
            </a:r>
            <a:endParaRPr lang="zh-CN" altLang="en-US" sz="3600" b="1" dirty="0">
              <a:solidFill>
                <a:schemeClr val="tx1"/>
              </a:solidFill>
            </a:endParaRPr>
          </a:p>
        </p:txBody>
      </p:sp>
      <p:sp>
        <p:nvSpPr>
          <p:cNvPr id="17" name="灯片编号占位符 16"/>
          <p:cNvSpPr>
            <a:spLocks noGrp="1"/>
          </p:cNvSpPr>
          <p:nvPr>
            <p:ph type="sldNum" sz="quarter" idx="12"/>
          </p:nvPr>
        </p:nvSpPr>
        <p:spPr/>
        <p:txBody>
          <a:bodyPr>
            <a:noAutofit/>
          </a:bodyPr>
          <a:lstStyle/>
          <a:p>
            <a:pPr algn="l" fontAlgn="auto"/>
            <a:fld id="{49AE70B2-8BF9-45C0-BB95-33D1B9D3A854}" type="slidenum">
              <a:rPr lang="zh-CN" altLang="en-US" sz="1800" strike="noStrike" noProof="1" smtClean="0">
                <a:solidFill>
                  <a:schemeClr val="tx1"/>
                </a:solidFill>
                <a:latin typeface="+mn-lt"/>
                <a:ea typeface="+mn-ea"/>
                <a:cs typeface="+mn-cs"/>
              </a:rPr>
            </a:fld>
            <a:endParaRPr lang="zh-CN" altLang="en-US" sz="1800" strike="noStrike" noProof="1">
              <a:solidFill>
                <a:schemeClr val="tx1"/>
              </a:solidFill>
              <a:latin typeface="+mn-lt"/>
              <a:ea typeface="+mn-ea"/>
              <a:cs typeface="+mn-cs"/>
            </a:endParaRPr>
          </a:p>
        </p:txBody>
      </p:sp>
      <p:sp>
        <p:nvSpPr>
          <p:cNvPr id="14" name="文本框 13"/>
          <p:cNvSpPr txBox="1"/>
          <p:nvPr/>
        </p:nvSpPr>
        <p:spPr>
          <a:xfrm>
            <a:off x="706755" y="870585"/>
            <a:ext cx="7586322" cy="658835"/>
          </a:xfrm>
          <a:prstGeom prst="rect">
            <a:avLst/>
          </a:prstGeom>
          <a:noFill/>
        </p:spPr>
        <p:txBody>
          <a:bodyPr wrap="square" rtlCol="0" anchor="t">
            <a:spAutoFit/>
          </a:bodyPr>
          <a:lstStyle/>
          <a:p>
            <a:pPr lvl="1" indent="-457200" algn="l" defTabSz="914400" fontAlgn="base">
              <a:lnSpc>
                <a:spcPct val="150000"/>
              </a:lnSpc>
              <a:buClrTx/>
              <a:buSzTx/>
              <a:buFont typeface="Wingdings" panose="05000000000000000000" pitchFamily="2" charset="2"/>
              <a:buChar char="Ø"/>
            </a:pPr>
            <a:r>
              <a:rPr lang="en-US" altLang="zh-CN" sz="2800" dirty="0">
                <a:solidFill>
                  <a:sysClr val="windowText" lastClr="000000"/>
                </a:solidFill>
                <a:latin typeface="Arial" panose="020B0604020202090204" pitchFamily="34" charset="0"/>
                <a:ea typeface="微软雅黑" charset="-122"/>
                <a:sym typeface="+mn-ea"/>
              </a:rPr>
              <a:t>1</a:t>
            </a:r>
            <a:r>
              <a:rPr lang="zh-CN" altLang="en-US" sz="2800" dirty="0">
                <a:solidFill>
                  <a:sysClr val="windowText" lastClr="000000"/>
                </a:solidFill>
                <a:latin typeface="Arial" panose="020B0604020202090204" pitchFamily="34" charset="0"/>
                <a:ea typeface="微软雅黑" charset="-122"/>
                <a:sym typeface="+mn-ea"/>
              </a:rPr>
              <a:t>.</a:t>
            </a:r>
            <a:r>
              <a:rPr lang="en-US" altLang="zh-CN" sz="2800" dirty="0">
                <a:solidFill>
                  <a:sysClr val="windowText" lastClr="000000"/>
                </a:solidFill>
                <a:latin typeface="Arial" panose="020B0604020202090204" pitchFamily="34" charset="0"/>
                <a:ea typeface="微软雅黑" charset="-122"/>
                <a:sym typeface="+mn-ea"/>
              </a:rPr>
              <a:t>1 ControlNet</a:t>
            </a:r>
            <a:endParaRPr lang="zh-CN" altLang="en-US" sz="2800" dirty="0">
              <a:solidFill>
                <a:sysClr val="windowText" lastClr="000000"/>
              </a:solidFill>
              <a:latin typeface="Arial" panose="020B0604020202090204" pitchFamily="34" charset="0"/>
              <a:ea typeface="微软雅黑" charset="-122"/>
              <a:sym typeface="+mn-ea"/>
            </a:endParaRPr>
          </a:p>
        </p:txBody>
      </p:sp>
      <p:sp>
        <p:nvSpPr>
          <p:cNvPr id="18" name="文本框 17"/>
          <p:cNvSpPr txBox="1"/>
          <p:nvPr/>
        </p:nvSpPr>
        <p:spPr>
          <a:xfrm>
            <a:off x="1225506" y="1541147"/>
            <a:ext cx="9838036" cy="584775"/>
          </a:xfrm>
          <a:prstGeom prst="rect">
            <a:avLst/>
          </a:prstGeom>
          <a:noFill/>
        </p:spPr>
        <p:txBody>
          <a:bodyPr wrap="square">
            <a:spAutoFit/>
          </a:bodyPr>
          <a:lstStyle/>
          <a:p>
            <a:r>
              <a:rPr lang="en-US" altLang="zh-CN" sz="1600" dirty="0">
                <a:solidFill>
                  <a:schemeClr val="tx1">
                    <a:lumMod val="65000"/>
                    <a:lumOff val="35000"/>
                  </a:schemeClr>
                </a:solidFill>
                <a:latin typeface="微软雅黑" charset="-122"/>
                <a:ea typeface="微软雅黑" charset="-122"/>
              </a:rPr>
              <a:t>ControlNet </a:t>
            </a:r>
            <a:r>
              <a:rPr lang="zh-CN" altLang="en-US" sz="1600" dirty="0">
                <a:solidFill>
                  <a:schemeClr val="tx1">
                    <a:lumMod val="65000"/>
                    <a:lumOff val="35000"/>
                  </a:schemeClr>
                </a:solidFill>
                <a:latin typeface="微软雅黑" charset="-122"/>
                <a:ea typeface="微软雅黑" charset="-122"/>
              </a:rPr>
              <a:t>放弃了笨重的 </a:t>
            </a:r>
            <a:r>
              <a:rPr lang="en-US" altLang="zh-CN" sz="1600" dirty="0">
                <a:solidFill>
                  <a:schemeClr val="tx1">
                    <a:lumMod val="65000"/>
                    <a:lumOff val="35000"/>
                  </a:schemeClr>
                </a:solidFill>
                <a:latin typeface="微软雅黑" charset="-122"/>
                <a:ea typeface="微软雅黑" charset="-122"/>
              </a:rPr>
              <a:t>VAE,</a:t>
            </a:r>
            <a:r>
              <a:rPr lang="zh-CN" altLang="en-US" sz="1600" dirty="0">
                <a:solidFill>
                  <a:schemeClr val="tx1">
                    <a:lumMod val="65000"/>
                    <a:lumOff val="35000"/>
                  </a:schemeClr>
                </a:solidFill>
                <a:latin typeface="微软雅黑" charset="-122"/>
                <a:ea typeface="微软雅黑" charset="-122"/>
              </a:rPr>
              <a:t>专门训练了一个极小的</a:t>
            </a:r>
            <a:r>
              <a:rPr lang="en-US" altLang="zh-CN" sz="1600" dirty="0">
                <a:solidFill>
                  <a:schemeClr val="tx1">
                    <a:lumMod val="65000"/>
                    <a:lumOff val="35000"/>
                  </a:schemeClr>
                </a:solidFill>
                <a:latin typeface="微软雅黑" charset="-122"/>
                <a:ea typeface="微软雅黑" charset="-122"/>
              </a:rPr>
              <a:t>4</a:t>
            </a:r>
            <a:r>
              <a:rPr lang="zh-CN" altLang="en-US" sz="1600" dirty="0">
                <a:solidFill>
                  <a:schemeClr val="tx1">
                    <a:lumMod val="65000"/>
                    <a:lumOff val="35000"/>
                  </a:schemeClr>
                </a:solidFill>
                <a:latin typeface="微软雅黑" charset="-122"/>
                <a:ea typeface="微软雅黑" charset="-122"/>
              </a:rPr>
              <a:t>层卷积网络。它能以极高的性价比将条件图像下采样</a:t>
            </a:r>
            <a:r>
              <a:rPr lang="en-US" altLang="zh-CN" sz="1600" dirty="0">
                <a:solidFill>
                  <a:schemeClr val="tx1">
                    <a:lumMod val="65000"/>
                    <a:lumOff val="35000"/>
                  </a:schemeClr>
                </a:solidFill>
                <a:latin typeface="微软雅黑" charset="-122"/>
                <a:ea typeface="微软雅黑" charset="-122"/>
              </a:rPr>
              <a:t>8</a:t>
            </a:r>
            <a:r>
              <a:rPr lang="zh-CN" altLang="en-US" sz="1600" dirty="0">
                <a:solidFill>
                  <a:schemeClr val="tx1">
                    <a:lumMod val="65000"/>
                    <a:lumOff val="35000"/>
                  </a:schemeClr>
                </a:solidFill>
                <a:latin typeface="微软雅黑" charset="-122"/>
                <a:ea typeface="微软雅黑" charset="-122"/>
              </a:rPr>
              <a:t>倍</a:t>
            </a:r>
            <a:r>
              <a:rPr lang="en-US" altLang="zh-CN" sz="1600" dirty="0">
                <a:solidFill>
                  <a:schemeClr val="tx1">
                    <a:lumMod val="65000"/>
                    <a:lumOff val="35000"/>
                  </a:schemeClr>
                </a:solidFill>
                <a:latin typeface="微软雅黑" charset="-122"/>
                <a:ea typeface="微软雅黑" charset="-122"/>
              </a:rPr>
              <a:t>,</a:t>
            </a:r>
            <a:r>
              <a:rPr lang="zh-CN" altLang="en-US" sz="1600" dirty="0">
                <a:solidFill>
                  <a:schemeClr val="tx1">
                    <a:lumMod val="65000"/>
                    <a:lumOff val="35000"/>
                  </a:schemeClr>
                </a:solidFill>
                <a:latin typeface="微软雅黑" charset="-122"/>
                <a:ea typeface="微软雅黑" charset="-122"/>
              </a:rPr>
              <a:t>完美对齐 </a:t>
            </a:r>
            <a:r>
              <a:rPr lang="en-US" altLang="zh-CN" sz="1600" dirty="0">
                <a:solidFill>
                  <a:schemeClr val="tx1">
                    <a:lumMod val="65000"/>
                    <a:lumOff val="35000"/>
                  </a:schemeClr>
                </a:solidFill>
                <a:latin typeface="微软雅黑" charset="-122"/>
                <a:ea typeface="微软雅黑" charset="-122"/>
              </a:rPr>
              <a:t>SD 1.5 </a:t>
            </a:r>
            <a:r>
              <a:rPr lang="zh-CN" altLang="en-US" sz="1600" dirty="0">
                <a:solidFill>
                  <a:schemeClr val="tx1">
                    <a:lumMod val="65000"/>
                    <a:lumOff val="35000"/>
                  </a:schemeClr>
                </a:solidFill>
                <a:latin typeface="微软雅黑" charset="-122"/>
                <a:ea typeface="微软雅黑" charset="-122"/>
              </a:rPr>
              <a:t>的 </a:t>
            </a:r>
            <a:r>
              <a:rPr lang="en-US" altLang="zh-CN" sz="1600" dirty="0">
                <a:solidFill>
                  <a:schemeClr val="tx1">
                    <a:lumMod val="65000"/>
                    <a:lumOff val="35000"/>
                  </a:schemeClr>
                </a:solidFill>
                <a:latin typeface="微软雅黑" charset="-122"/>
                <a:ea typeface="微软雅黑" charset="-122"/>
              </a:rPr>
              <a:t>64x64 </a:t>
            </a:r>
            <a:r>
              <a:rPr lang="zh-CN" altLang="en-US" sz="1600" dirty="0">
                <a:solidFill>
                  <a:schemeClr val="tx1">
                    <a:lumMod val="65000"/>
                    <a:lumOff val="35000"/>
                  </a:schemeClr>
                </a:solidFill>
                <a:latin typeface="微软雅黑" charset="-122"/>
                <a:ea typeface="微软雅黑" charset="-122"/>
              </a:rPr>
              <a:t>隐空间维度</a:t>
            </a:r>
            <a:r>
              <a:rPr lang="en-US" altLang="zh-CN" sz="1600" dirty="0">
                <a:solidFill>
                  <a:schemeClr val="tx1">
                    <a:lumMod val="65000"/>
                    <a:lumOff val="35000"/>
                  </a:schemeClr>
                </a:solidFill>
                <a:latin typeface="微软雅黑" charset="-122"/>
                <a:ea typeface="微软雅黑" charset="-122"/>
              </a:rPr>
              <a:t>,</a:t>
            </a:r>
            <a:r>
              <a:rPr lang="zh-CN" altLang="en-US" sz="1600" dirty="0">
                <a:solidFill>
                  <a:schemeClr val="tx1">
                    <a:lumMod val="65000"/>
                    <a:lumOff val="35000"/>
                  </a:schemeClr>
                </a:solidFill>
                <a:latin typeface="微软雅黑" charset="-122"/>
                <a:ea typeface="微软雅黑" charset="-122"/>
              </a:rPr>
              <a:t>同时避免了 </a:t>
            </a:r>
            <a:r>
              <a:rPr lang="en-US" altLang="zh-CN" sz="1600" dirty="0">
                <a:solidFill>
                  <a:schemeClr val="tx1">
                    <a:lumMod val="65000"/>
                    <a:lumOff val="35000"/>
                  </a:schemeClr>
                </a:solidFill>
                <a:latin typeface="微软雅黑" charset="-122"/>
                <a:ea typeface="微软雅黑" charset="-122"/>
              </a:rPr>
              <a:t>VAE </a:t>
            </a:r>
            <a:r>
              <a:rPr lang="zh-CN" altLang="en-US" sz="1600" dirty="0">
                <a:solidFill>
                  <a:schemeClr val="tx1">
                    <a:lumMod val="65000"/>
                    <a:lumOff val="35000"/>
                  </a:schemeClr>
                </a:solidFill>
                <a:latin typeface="微软雅黑" charset="-122"/>
                <a:ea typeface="微软雅黑" charset="-122"/>
              </a:rPr>
              <a:t>压缩导致的边缘信息丢失</a:t>
            </a:r>
            <a:r>
              <a:rPr lang="en-US" altLang="zh-CN" sz="1600" dirty="0">
                <a:solidFill>
                  <a:schemeClr val="tx1">
                    <a:lumMod val="65000"/>
                    <a:lumOff val="35000"/>
                  </a:schemeClr>
                </a:solidFill>
                <a:latin typeface="微软雅黑" charset="-122"/>
                <a:ea typeface="微软雅黑" charset="-122"/>
              </a:rPr>
              <a:t> </a:t>
            </a:r>
            <a:endParaRPr lang="zh-CN" altLang="en-US" sz="1600" dirty="0">
              <a:solidFill>
                <a:schemeClr val="tx1">
                  <a:lumMod val="65000"/>
                  <a:lumOff val="35000"/>
                </a:schemeClr>
              </a:solidFill>
              <a:latin typeface="微软雅黑" charset="-122"/>
              <a:ea typeface="微软雅黑" charset="-122"/>
            </a:endParaRPr>
          </a:p>
        </p:txBody>
      </p:sp>
      <p:pic>
        <p:nvPicPr>
          <p:cNvPr id="5" name="图片 4"/>
          <p:cNvPicPr>
            <a:picLocks noChangeAspect="1"/>
          </p:cNvPicPr>
          <p:nvPr/>
        </p:nvPicPr>
        <p:blipFill>
          <a:blip r:embed="rId6"/>
          <a:stretch>
            <a:fillRect/>
          </a:stretch>
        </p:blipFill>
        <p:spPr>
          <a:xfrm>
            <a:off x="1464668" y="2365892"/>
            <a:ext cx="9262663" cy="2772524"/>
          </a:xfrm>
          <a:prstGeom prst="rect">
            <a:avLst/>
          </a:prstGeom>
        </p:spPr>
      </p:pic>
    </p:spTree>
    <p:custDataLst>
      <p:tags r:id="rId7"/>
    </p:custDataLst>
  </p:cSld>
  <p:clrMapOvr>
    <a:masterClrMapping/>
  </p:clrMapOvr>
  <p:transition advTm="58970"/>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图片 2" descr="剪影蓝 低版本"/>
          <p:cNvPicPr>
            <a:picLocks noChangeAspect="1"/>
          </p:cNvPicPr>
          <p:nvPr/>
        </p:nvPicPr>
        <p:blipFill>
          <a:blip r:embed="rId1"/>
          <a:srcRect l="-8"/>
          <a:stretch>
            <a:fillRect/>
          </a:stretch>
        </p:blipFill>
        <p:spPr>
          <a:xfrm>
            <a:off x="1505" y="5378386"/>
            <a:ext cx="12190495" cy="2438099"/>
          </a:xfrm>
          <a:prstGeom prst="rect">
            <a:avLst/>
          </a:prstGeom>
          <a:noFill/>
          <a:ln w="9525">
            <a:noFill/>
          </a:ln>
        </p:spPr>
      </p:pic>
      <p:sp>
        <p:nvSpPr>
          <p:cNvPr id="22" name="文本框 21"/>
          <p:cNvSpPr txBox="1"/>
          <p:nvPr/>
        </p:nvSpPr>
        <p:spPr>
          <a:xfrm>
            <a:off x="154297" y="-42999"/>
            <a:ext cx="552421" cy="874984"/>
          </a:xfrm>
          <a:prstGeom prst="rect">
            <a:avLst/>
          </a:prstGeom>
          <a:noFill/>
          <a:effectLst>
            <a:reflection blurRad="12700" stA="0" endPos="65000" dist="50800" dir="5400000" sy="-100000" algn="bl" rotWithShape="0"/>
          </a:effectLst>
        </p:spPr>
        <p:txBody>
          <a:bodyPr wrap="square" rtlCol="0">
            <a:noAutofit/>
          </a:bodyPr>
          <a:lstStyle/>
          <a:p>
            <a:r>
              <a:rPr lang="en-US" altLang="zh-CN" sz="5400" b="1" dirty="0">
                <a:solidFill>
                  <a:schemeClr val="bg1"/>
                </a:solidFill>
                <a:effectLst>
                  <a:glow>
                    <a:schemeClr val="accent1">
                      <a:alpha val="40000"/>
                    </a:schemeClr>
                  </a:glow>
                </a:effectLst>
                <a:latin typeface="Times New Roman" panose="02020503050405090304" charset="0"/>
                <a:ea typeface="微软雅黑" charset="-122"/>
                <a:cs typeface="Times New Roman" panose="02020503050405090304" charset="0"/>
              </a:rPr>
              <a:t>1</a:t>
            </a:r>
            <a:endParaRPr lang="en-US" altLang="zh-CN" sz="5400" b="1" dirty="0">
              <a:solidFill>
                <a:schemeClr val="bg1"/>
              </a:solidFill>
              <a:effectLst>
                <a:glow>
                  <a:schemeClr val="accent1">
                    <a:alpha val="40000"/>
                  </a:schemeClr>
                </a:glow>
              </a:effectLst>
              <a:latin typeface="Times New Roman" panose="02020503050405090304" charset="0"/>
              <a:ea typeface="微软雅黑" charset="-122"/>
              <a:cs typeface="Times New Roman" panose="02020503050405090304" charset="0"/>
            </a:endParaRPr>
          </a:p>
        </p:txBody>
      </p:sp>
      <p:sp>
        <p:nvSpPr>
          <p:cNvPr id="2" name="文本框 1"/>
          <p:cNvSpPr txBox="1"/>
          <p:nvPr/>
        </p:nvSpPr>
        <p:spPr>
          <a:xfrm>
            <a:off x="1094740" y="259715"/>
            <a:ext cx="6096000" cy="521970"/>
          </a:xfrm>
          <a:prstGeom prst="rect">
            <a:avLst/>
          </a:prstGeom>
          <a:noFill/>
        </p:spPr>
        <p:txBody>
          <a:bodyPr wrap="square" rtlCol="0" anchor="t">
            <a:spAutoFit/>
          </a:bodyPr>
          <a:lstStyle/>
          <a:p>
            <a:r>
              <a:rPr sz="2800" b="1">
                <a:solidFill>
                  <a:srgbClr val="000000"/>
                </a:solidFill>
                <a:latin typeface="微软雅黑" charset="-122"/>
                <a:ea typeface="微软雅黑" charset="-122"/>
                <a:cs typeface="微软雅黑" charset="-122"/>
                <a:sym typeface="+mn-ea"/>
              </a:rPr>
              <a:t>1.1 从变化率到梯度的直观引入</a:t>
            </a:r>
            <a:endParaRPr lang="zh-CN" altLang="en-US" sz="2800" b="1">
              <a:solidFill>
                <a:srgbClr val="000000"/>
              </a:solidFill>
              <a:latin typeface="微软雅黑" charset="-122"/>
              <a:ea typeface="微软雅黑" charset="-122"/>
              <a:cs typeface="微软雅黑" charset="-122"/>
              <a:sym typeface="+mn-ea"/>
            </a:endParaRPr>
          </a:p>
        </p:txBody>
      </p:sp>
      <p:sp>
        <p:nvSpPr>
          <p:cNvPr id="13" name="矩形 12"/>
          <p:cNvSpPr/>
          <p:nvPr>
            <p:custDataLst>
              <p:tags r:id="rId2"/>
            </p:custDataLst>
          </p:nvPr>
        </p:nvSpPr>
        <p:spPr>
          <a:xfrm>
            <a:off x="1353" y="600"/>
            <a:ext cx="12190495" cy="840002"/>
          </a:xfrm>
          <a:prstGeom prst="rect">
            <a:avLst/>
          </a:prstGeom>
          <a:gradFill>
            <a:gsLst>
              <a:gs pos="0">
                <a:schemeClr val="bg1"/>
              </a:gs>
              <a:gs pos="50000">
                <a:srgbClr val="5399D4"/>
              </a:gs>
              <a:gs pos="100000">
                <a:srgbClr val="2E3C63"/>
              </a:gs>
            </a:gsLst>
          </a:gradFill>
          <a:effectLst/>
        </p:spPr>
        <p:style>
          <a:lnRef idx="0">
            <a:srgbClr val="FFFFFF"/>
          </a:lnRef>
          <a:fillRef idx="2">
            <a:schemeClr val="accent1"/>
          </a:fillRef>
          <a:effectRef idx="1">
            <a:schemeClr val="accent1"/>
          </a:effectRef>
          <a:fontRef idx="minor">
            <a:schemeClr val="lt1"/>
          </a:fontRef>
        </p:style>
        <p:txBody>
          <a:bodyPr rtlCol="0" anchor="ctr"/>
          <a:lstStyle/>
          <a:p>
            <a:pPr algn="ctr" fontAlgn="base"/>
            <a:endParaRPr lang="zh-CN" altLang="en-US" sz="100" strike="noStrike" noProof="1"/>
          </a:p>
        </p:txBody>
      </p:sp>
      <p:pic>
        <p:nvPicPr>
          <p:cNvPr id="15" name="图片 14" descr="国科大标准Logo横式一（白色）"/>
          <p:cNvPicPr>
            <a:picLocks noChangeAspect="1"/>
          </p:cNvPicPr>
          <p:nvPr/>
        </p:nvPicPr>
        <p:blipFill>
          <a:blip r:embed="rId3"/>
          <a:stretch>
            <a:fillRect/>
          </a:stretch>
        </p:blipFill>
        <p:spPr>
          <a:xfrm>
            <a:off x="9815971" y="187901"/>
            <a:ext cx="2167622" cy="457144"/>
          </a:xfrm>
          <a:prstGeom prst="rect">
            <a:avLst/>
          </a:prstGeom>
        </p:spPr>
      </p:pic>
      <p:sp>
        <p:nvSpPr>
          <p:cNvPr id="3078" name="文本框 3"/>
          <p:cNvSpPr txBox="1"/>
          <p:nvPr>
            <p:custDataLst>
              <p:tags r:id="rId4"/>
            </p:custDataLst>
          </p:nvPr>
        </p:nvSpPr>
        <p:spPr>
          <a:xfrm>
            <a:off x="46644" y="-47231"/>
            <a:ext cx="850795" cy="919366"/>
          </a:xfrm>
          <a:prstGeom prst="rect">
            <a:avLst/>
          </a:prstGeom>
          <a:noFill/>
          <a:ln w="12700" cmpd="sng">
            <a:noFill/>
            <a:prstDash val="solid"/>
          </a:ln>
          <a:effectLst>
            <a:outerShdw dist="63500" dir="2700000" algn="tl" rotWithShape="0">
              <a:schemeClr val="bg1">
                <a:alpha val="100000"/>
              </a:schemeClr>
            </a:outerShdw>
          </a:effectLst>
        </p:spPr>
        <p:txBody>
          <a:bodyPr wrap="square" anchor="t" anchorCtr="0"/>
          <a:lstStyle/>
          <a:p>
            <a:pPr>
              <a:lnSpc>
                <a:spcPct val="130000"/>
              </a:lnSpc>
            </a:pPr>
            <a:r>
              <a:rPr lang="en-US" altLang="zh-CN" sz="4000" i="1" dirty="0">
                <a:ln w="19050">
                  <a:noFill/>
                </a:ln>
                <a:gradFill>
                  <a:gsLst>
                    <a:gs pos="39000">
                      <a:srgbClr val="5399D4"/>
                    </a:gs>
                    <a:gs pos="100000">
                      <a:schemeClr val="bg1"/>
                    </a:gs>
                  </a:gsLst>
                  <a:lin ang="5400000" scaled="0"/>
                </a:gradFill>
                <a:latin typeface="Bauhaus 93" panose="04030905020B02020C02" charset="0"/>
                <a:ea typeface="造字工房朗倩（非商用）常规体" charset="-122"/>
                <a:cs typeface="Bauhaus 93" panose="04030905020B02020C02" charset="0"/>
              </a:rPr>
              <a:t>01</a:t>
            </a:r>
            <a:endParaRPr lang="en-US" altLang="zh-CN" sz="4000" i="1" dirty="0">
              <a:ln w="19050">
                <a:noFill/>
              </a:ln>
              <a:gradFill>
                <a:gsLst>
                  <a:gs pos="39000">
                    <a:srgbClr val="5399D4"/>
                  </a:gs>
                  <a:gs pos="100000">
                    <a:schemeClr val="bg1"/>
                  </a:gs>
                </a:gsLst>
                <a:lin ang="5400000" scaled="0"/>
              </a:gradFill>
              <a:latin typeface="Bauhaus 93" panose="04030905020B02020C02" charset="0"/>
              <a:ea typeface="造字工房朗倩（非商用）常规体" charset="-122"/>
              <a:cs typeface="Bauhaus 93" panose="04030905020B02020C02" charset="0"/>
            </a:endParaRPr>
          </a:p>
        </p:txBody>
      </p:sp>
      <p:sp>
        <p:nvSpPr>
          <p:cNvPr id="16" name="文本框 15"/>
          <p:cNvSpPr txBox="1"/>
          <p:nvPr>
            <p:custDataLst>
              <p:tags r:id="rId5"/>
            </p:custDataLst>
          </p:nvPr>
        </p:nvSpPr>
        <p:spPr>
          <a:xfrm>
            <a:off x="897439" y="151711"/>
            <a:ext cx="8441283" cy="537779"/>
          </a:xfrm>
          <a:prstGeom prst="rect">
            <a:avLst/>
          </a:prstGeom>
          <a:noFill/>
        </p:spPr>
        <p:txBody>
          <a:bodyPr wrap="square" rtlCol="0">
            <a:noAutofit/>
          </a:bodyPr>
          <a:lstStyle/>
          <a:p>
            <a:r>
              <a:rPr lang="en-US" altLang="zh-CN" sz="3600" b="1" dirty="0">
                <a:solidFill>
                  <a:schemeClr val="tx1"/>
                </a:solidFill>
              </a:rPr>
              <a:t>Parameter Efficient Methods</a:t>
            </a:r>
            <a:endParaRPr lang="zh-CN" altLang="en-US" sz="3600" b="1" dirty="0">
              <a:solidFill>
                <a:schemeClr val="tx1"/>
              </a:solidFill>
            </a:endParaRPr>
          </a:p>
        </p:txBody>
      </p:sp>
      <p:sp>
        <p:nvSpPr>
          <p:cNvPr id="17" name="灯片编号占位符 16"/>
          <p:cNvSpPr>
            <a:spLocks noGrp="1"/>
          </p:cNvSpPr>
          <p:nvPr>
            <p:ph type="sldNum" sz="quarter" idx="12"/>
          </p:nvPr>
        </p:nvSpPr>
        <p:spPr/>
        <p:txBody>
          <a:bodyPr>
            <a:noAutofit/>
          </a:bodyPr>
          <a:lstStyle/>
          <a:p>
            <a:pPr algn="l" fontAlgn="auto"/>
            <a:fld id="{49AE70B2-8BF9-45C0-BB95-33D1B9D3A854}" type="slidenum">
              <a:rPr lang="zh-CN" altLang="en-US" sz="1800" strike="noStrike" noProof="1" smtClean="0">
                <a:solidFill>
                  <a:schemeClr val="tx1"/>
                </a:solidFill>
                <a:latin typeface="+mn-lt"/>
                <a:ea typeface="+mn-ea"/>
                <a:cs typeface="+mn-cs"/>
              </a:rPr>
            </a:fld>
            <a:endParaRPr lang="zh-CN" altLang="en-US" sz="1800" strike="noStrike" noProof="1">
              <a:solidFill>
                <a:schemeClr val="tx1"/>
              </a:solidFill>
              <a:latin typeface="+mn-lt"/>
              <a:ea typeface="+mn-ea"/>
              <a:cs typeface="+mn-cs"/>
            </a:endParaRPr>
          </a:p>
        </p:txBody>
      </p:sp>
      <p:sp>
        <p:nvSpPr>
          <p:cNvPr id="14" name="文本框 13"/>
          <p:cNvSpPr txBox="1"/>
          <p:nvPr/>
        </p:nvSpPr>
        <p:spPr>
          <a:xfrm>
            <a:off x="706755" y="870585"/>
            <a:ext cx="7586322" cy="658835"/>
          </a:xfrm>
          <a:prstGeom prst="rect">
            <a:avLst/>
          </a:prstGeom>
          <a:noFill/>
        </p:spPr>
        <p:txBody>
          <a:bodyPr wrap="square" rtlCol="0" anchor="t">
            <a:spAutoFit/>
          </a:bodyPr>
          <a:lstStyle/>
          <a:p>
            <a:pPr lvl="1" indent="-457200" algn="l" defTabSz="914400" fontAlgn="base">
              <a:lnSpc>
                <a:spcPct val="150000"/>
              </a:lnSpc>
              <a:buClrTx/>
              <a:buSzTx/>
              <a:buFont typeface="Wingdings" panose="05000000000000000000" pitchFamily="2" charset="2"/>
              <a:buChar char="Ø"/>
            </a:pPr>
            <a:r>
              <a:rPr lang="en-US" altLang="zh-CN" sz="2800" dirty="0">
                <a:solidFill>
                  <a:sysClr val="windowText" lastClr="000000"/>
                </a:solidFill>
                <a:latin typeface="Arial" panose="020B0604020202090204" pitchFamily="34" charset="0"/>
                <a:ea typeface="微软雅黑" charset="-122"/>
                <a:sym typeface="+mn-ea"/>
              </a:rPr>
              <a:t>1</a:t>
            </a:r>
            <a:r>
              <a:rPr lang="zh-CN" altLang="en-US" sz="2800" dirty="0">
                <a:solidFill>
                  <a:sysClr val="windowText" lastClr="000000"/>
                </a:solidFill>
                <a:latin typeface="Arial" panose="020B0604020202090204" pitchFamily="34" charset="0"/>
                <a:ea typeface="微软雅黑" charset="-122"/>
                <a:sym typeface="+mn-ea"/>
              </a:rPr>
              <a:t>.</a:t>
            </a:r>
            <a:r>
              <a:rPr lang="en-US" altLang="zh-CN" sz="2800" dirty="0">
                <a:solidFill>
                  <a:sysClr val="windowText" lastClr="000000"/>
                </a:solidFill>
                <a:latin typeface="Arial" panose="020B0604020202090204" pitchFamily="34" charset="0"/>
                <a:ea typeface="微软雅黑" charset="-122"/>
                <a:sym typeface="+mn-ea"/>
              </a:rPr>
              <a:t>1 ControlNet</a:t>
            </a:r>
            <a:endParaRPr lang="zh-CN" altLang="en-US" sz="2800" dirty="0">
              <a:solidFill>
                <a:sysClr val="windowText" lastClr="000000"/>
              </a:solidFill>
              <a:latin typeface="Arial" panose="020B0604020202090204" pitchFamily="34" charset="0"/>
              <a:ea typeface="微软雅黑" charset="-122"/>
              <a:sym typeface="+mn-ea"/>
            </a:endParaRPr>
          </a:p>
        </p:txBody>
      </p:sp>
      <mc:AlternateContent xmlns:mc="http://schemas.openxmlformats.org/markup-compatibility/2006">
        <mc:Choice xmlns:a14="http://schemas.microsoft.com/office/drawing/2010/main" Requires="a14">
          <p:sp>
            <p:nvSpPr>
              <p:cNvPr id="18" name="文本框 17"/>
              <p:cNvSpPr txBox="1"/>
              <p:nvPr/>
            </p:nvSpPr>
            <p:spPr>
              <a:xfrm>
                <a:off x="1150243" y="2190313"/>
                <a:ext cx="7325181" cy="810735"/>
              </a:xfrm>
              <a:prstGeom prst="rect">
                <a:avLst/>
              </a:prstGeom>
              <a:noFill/>
            </p:spPr>
            <p:txBody>
              <a:bodyPr wrap="square">
                <a:spAutoFit/>
              </a:bodyPr>
              <a:lstStyle/>
              <a:p>
                <a:pPr>
                  <a:lnSpc>
                    <a:spcPct val="150000"/>
                  </a:lnSpc>
                </a:pPr>
                <a:r>
                  <a:rPr lang="en-US" altLang="zh-CN" sz="1600" dirty="0">
                    <a:solidFill>
                      <a:schemeClr val="tx1">
                        <a:lumMod val="65000"/>
                        <a:lumOff val="35000"/>
                      </a:schemeClr>
                    </a:solidFill>
                    <a:latin typeface="微软雅黑" charset="-122"/>
                    <a:ea typeface="微软雅黑" charset="-122"/>
                  </a:rPr>
                  <a:t>ControlNet</a:t>
                </a:r>
                <a:r>
                  <a:rPr lang="zh-CN" altLang="en-US" sz="1600" dirty="0">
                    <a:solidFill>
                      <a:schemeClr val="tx1">
                        <a:lumMod val="65000"/>
                        <a:lumOff val="35000"/>
                      </a:schemeClr>
                    </a:solidFill>
                    <a:latin typeface="微软雅黑" charset="-122"/>
                    <a:ea typeface="微软雅黑" charset="-122"/>
                  </a:rPr>
                  <a:t>训练时的损失函数依旧采用经典</a:t>
                </a:r>
                <a:r>
                  <a:rPr lang="en-US" altLang="zh-CN" sz="1600" dirty="0">
                    <a:solidFill>
                      <a:schemeClr val="tx1">
                        <a:lumMod val="65000"/>
                        <a:lumOff val="35000"/>
                      </a:schemeClr>
                    </a:solidFill>
                    <a:latin typeface="微软雅黑" charset="-122"/>
                    <a:ea typeface="微软雅黑" charset="-122"/>
                  </a:rPr>
                  <a:t>SD</a:t>
                </a:r>
                <a:r>
                  <a:rPr lang="zh-CN" altLang="en-US" sz="1600" dirty="0">
                    <a:solidFill>
                      <a:schemeClr val="tx1">
                        <a:lumMod val="65000"/>
                        <a:lumOff val="35000"/>
                      </a:schemeClr>
                    </a:solidFill>
                    <a:latin typeface="微软雅黑" charset="-122"/>
                    <a:ea typeface="微软雅黑" charset="-122"/>
                  </a:rPr>
                  <a:t>系列扩散模型所用的拟合噪声的</a:t>
                </a:r>
                <a14:m>
                  <m:oMath xmlns:m="http://schemas.openxmlformats.org/officeDocument/2006/math">
                    <m:sSup>
                      <m:sSupPr>
                        <m:ctrlPr>
                          <a:rPr lang="en-US" altLang="zh-CN" sz="1600" i="1" smtClean="0">
                            <a:solidFill>
                              <a:schemeClr val="tx1">
                                <a:lumMod val="65000"/>
                                <a:lumOff val="35000"/>
                              </a:schemeClr>
                            </a:solidFill>
                            <a:latin typeface="Cambria Math" panose="02040503050406030204" pitchFamily="18" charset="0"/>
                            <a:ea typeface="微软雅黑" charset="-122"/>
                          </a:rPr>
                        </m:ctrlPr>
                      </m:sSupPr>
                      <m:e>
                        <m:r>
                          <a:rPr lang="en-US" altLang="zh-CN" sz="1600" b="0" i="1" smtClean="0">
                            <a:solidFill>
                              <a:schemeClr val="tx1">
                                <a:lumMod val="65000"/>
                                <a:lumOff val="35000"/>
                              </a:schemeClr>
                            </a:solidFill>
                            <a:latin typeface="Cambria Math" panose="02040503050406030204" pitchFamily="18" charset="0"/>
                            <a:ea typeface="微软雅黑" charset="-122"/>
                          </a:rPr>
                          <m:t>𝐿</m:t>
                        </m:r>
                      </m:e>
                      <m:sup>
                        <m:r>
                          <a:rPr lang="en-US" altLang="zh-CN" sz="1600" b="0" i="1" smtClean="0">
                            <a:solidFill>
                              <a:schemeClr val="tx1">
                                <a:lumMod val="65000"/>
                                <a:lumOff val="35000"/>
                              </a:schemeClr>
                            </a:solidFill>
                            <a:latin typeface="Cambria Math" panose="02040503050406030204" pitchFamily="18" charset="0"/>
                            <a:ea typeface="微软雅黑" charset="-122"/>
                          </a:rPr>
                          <m:t>𝑠𝑖𝑚𝑝𝑙𝑒</m:t>
                        </m:r>
                      </m:sup>
                    </m:sSup>
                  </m:oMath>
                </a14:m>
                <a:r>
                  <a:rPr lang="zh-CN" altLang="en-US" sz="1600" dirty="0">
                    <a:solidFill>
                      <a:schemeClr val="tx1">
                        <a:lumMod val="65000"/>
                        <a:lumOff val="35000"/>
                      </a:schemeClr>
                    </a:solidFill>
                    <a:latin typeface="微软雅黑" charset="-122"/>
                    <a:ea typeface="微软雅黑" charset="-122"/>
                  </a:rPr>
                  <a:t>，作为</a:t>
                </a:r>
                <a:r>
                  <a:rPr lang="en-US" altLang="zh-CN" sz="1600" dirty="0">
                    <a:solidFill>
                      <a:schemeClr val="tx1">
                        <a:lumMod val="65000"/>
                        <a:lumOff val="35000"/>
                      </a:schemeClr>
                    </a:solidFill>
                    <a:latin typeface="微软雅黑" charset="-122"/>
                    <a:ea typeface="微软雅黑" charset="-122"/>
                  </a:rPr>
                  <a:t>ControlNet</a:t>
                </a:r>
                <a:r>
                  <a:rPr lang="zh-CN" altLang="en-US" sz="1600" dirty="0">
                    <a:solidFill>
                      <a:schemeClr val="tx1">
                        <a:lumMod val="65000"/>
                        <a:lumOff val="35000"/>
                      </a:schemeClr>
                    </a:solidFill>
                    <a:latin typeface="微软雅黑" charset="-122"/>
                    <a:ea typeface="微软雅黑" charset="-122"/>
                  </a:rPr>
                  <a:t>的总体学习目标：</a:t>
                </a:r>
                <a:endParaRPr lang="zh-CN" altLang="en-US" sz="1600" dirty="0">
                  <a:solidFill>
                    <a:schemeClr val="tx1">
                      <a:lumMod val="65000"/>
                      <a:lumOff val="35000"/>
                    </a:schemeClr>
                  </a:solidFill>
                  <a:latin typeface="微软雅黑" charset="-122"/>
                  <a:ea typeface="微软雅黑" charset="-122"/>
                </a:endParaRPr>
              </a:p>
            </p:txBody>
          </p:sp>
        </mc:Choice>
        <mc:Fallback>
          <p:sp>
            <p:nvSpPr>
              <p:cNvPr id="18" name="文本框 17"/>
              <p:cNvSpPr txBox="1">
                <a:spLocks noRot="1" noChangeAspect="1" noMove="1" noResize="1" noEditPoints="1" noAdjustHandles="1" noChangeArrowheads="1" noChangeShapeType="1" noTextEdit="1"/>
              </p:cNvSpPr>
              <p:nvPr/>
            </p:nvSpPr>
            <p:spPr>
              <a:xfrm>
                <a:off x="1150243" y="2190313"/>
                <a:ext cx="7325181" cy="810735"/>
              </a:xfrm>
              <a:prstGeom prst="rect">
                <a:avLst/>
              </a:prstGeom>
              <a:blipFill rotWithShape="1">
                <a:blip r:embed="rId6"/>
                <a:stretch>
                  <a:fillRect l="-4" t="-24" r="1" b="-3598"/>
                </a:stretch>
              </a:blipFill>
            </p:spPr>
            <p:txBody>
              <a:bodyPr/>
              <a:lstStyle/>
              <a:p>
                <a:r>
                  <a:rPr lang="zh-CN" altLang="en-US">
                    <a:noFill/>
                  </a:rPr>
                  <a:t> </a:t>
                </a:r>
              </a:p>
            </p:txBody>
          </p:sp>
        </mc:Fallback>
      </mc:AlternateContent>
      <p:pic>
        <p:nvPicPr>
          <p:cNvPr id="4" name="图片 3"/>
          <p:cNvPicPr>
            <a:picLocks noChangeAspect="1"/>
          </p:cNvPicPr>
          <p:nvPr/>
        </p:nvPicPr>
        <p:blipFill>
          <a:blip r:embed="rId7"/>
          <a:stretch>
            <a:fillRect/>
          </a:stretch>
        </p:blipFill>
        <p:spPr>
          <a:xfrm>
            <a:off x="1750784" y="3200291"/>
            <a:ext cx="7445283" cy="1140059"/>
          </a:xfrm>
          <a:prstGeom prst="rect">
            <a:avLst/>
          </a:prstGeom>
        </p:spPr>
      </p:pic>
      <p:sp>
        <p:nvSpPr>
          <p:cNvPr id="19" name="文本框 18"/>
          <p:cNvSpPr txBox="1"/>
          <p:nvPr/>
        </p:nvSpPr>
        <p:spPr>
          <a:xfrm>
            <a:off x="1198973" y="1651114"/>
            <a:ext cx="6187904" cy="338554"/>
          </a:xfrm>
          <a:prstGeom prst="rect">
            <a:avLst/>
          </a:prstGeom>
          <a:noFill/>
        </p:spPr>
        <p:txBody>
          <a:bodyPr wrap="square">
            <a:spAutoFit/>
          </a:bodyPr>
          <a:lstStyle/>
          <a:p>
            <a:pPr marL="285750" indent="-285750">
              <a:buFont typeface="Arial" panose="020B0604020202090204" pitchFamily="34" charset="0"/>
              <a:buChar char="•"/>
            </a:pPr>
            <a:r>
              <a:rPr lang="en-US" altLang="zh-CN" sz="1600" dirty="0">
                <a:solidFill>
                  <a:schemeClr val="tx1">
                    <a:lumMod val="65000"/>
                    <a:lumOff val="35000"/>
                  </a:schemeClr>
                </a:solidFill>
                <a:latin typeface="微软雅黑" charset="-122"/>
                <a:ea typeface="微软雅黑" charset="-122"/>
              </a:rPr>
              <a:t>ControlNet</a:t>
            </a:r>
            <a:r>
              <a:rPr lang="zh-CN" altLang="en-US" sz="1600" dirty="0">
                <a:solidFill>
                  <a:schemeClr val="tx1">
                    <a:lumMod val="65000"/>
                    <a:lumOff val="35000"/>
                  </a:schemeClr>
                </a:solidFill>
                <a:latin typeface="微软雅黑" charset="-122"/>
                <a:ea typeface="微软雅黑" charset="-122"/>
              </a:rPr>
              <a:t>训练的损失函数和策略</a:t>
            </a:r>
            <a:endParaRPr lang="zh-CN" altLang="en-US" sz="1600" dirty="0">
              <a:solidFill>
                <a:schemeClr val="tx1">
                  <a:lumMod val="65000"/>
                  <a:lumOff val="35000"/>
                </a:schemeClr>
              </a:solidFill>
              <a:latin typeface="微软雅黑" charset="-122"/>
              <a:ea typeface="微软雅黑" charset="-122"/>
            </a:endParaRPr>
          </a:p>
        </p:txBody>
      </p:sp>
    </p:spTree>
    <p:custDataLst>
      <p:tags r:id="rId8"/>
    </p:custDataLst>
  </p:cSld>
  <p:clrMapOvr>
    <a:masterClrMapping/>
  </p:clrMapOvr>
  <p:transition advTm="58970"/>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图片 2" descr="剪影蓝 低版本"/>
          <p:cNvPicPr>
            <a:picLocks noChangeAspect="1"/>
          </p:cNvPicPr>
          <p:nvPr/>
        </p:nvPicPr>
        <p:blipFill>
          <a:blip r:embed="rId1"/>
          <a:srcRect l="-8"/>
          <a:stretch>
            <a:fillRect/>
          </a:stretch>
        </p:blipFill>
        <p:spPr>
          <a:xfrm>
            <a:off x="1505" y="5378386"/>
            <a:ext cx="12190495" cy="2438099"/>
          </a:xfrm>
          <a:prstGeom prst="rect">
            <a:avLst/>
          </a:prstGeom>
          <a:noFill/>
          <a:ln w="9525">
            <a:noFill/>
          </a:ln>
        </p:spPr>
      </p:pic>
      <p:sp>
        <p:nvSpPr>
          <p:cNvPr id="22" name="文本框 21"/>
          <p:cNvSpPr txBox="1"/>
          <p:nvPr/>
        </p:nvSpPr>
        <p:spPr>
          <a:xfrm>
            <a:off x="154297" y="-42999"/>
            <a:ext cx="552421" cy="874984"/>
          </a:xfrm>
          <a:prstGeom prst="rect">
            <a:avLst/>
          </a:prstGeom>
          <a:noFill/>
          <a:effectLst>
            <a:reflection blurRad="12700" stA="0" endPos="65000" dist="50800" dir="5400000" sy="-100000" algn="bl" rotWithShape="0"/>
          </a:effectLst>
        </p:spPr>
        <p:txBody>
          <a:bodyPr wrap="square" rtlCol="0">
            <a:noAutofit/>
          </a:bodyPr>
          <a:lstStyle/>
          <a:p>
            <a:r>
              <a:rPr lang="en-US" altLang="zh-CN" sz="5400" b="1" dirty="0">
                <a:solidFill>
                  <a:schemeClr val="bg1"/>
                </a:solidFill>
                <a:effectLst>
                  <a:glow>
                    <a:schemeClr val="accent1">
                      <a:alpha val="40000"/>
                    </a:schemeClr>
                  </a:glow>
                </a:effectLst>
                <a:latin typeface="Times New Roman" panose="02020503050405090304" charset="0"/>
                <a:ea typeface="微软雅黑" charset="-122"/>
                <a:cs typeface="Times New Roman" panose="02020503050405090304" charset="0"/>
              </a:rPr>
              <a:t>1</a:t>
            </a:r>
            <a:endParaRPr lang="en-US" altLang="zh-CN" sz="5400" b="1" dirty="0">
              <a:solidFill>
                <a:schemeClr val="bg1"/>
              </a:solidFill>
              <a:effectLst>
                <a:glow>
                  <a:schemeClr val="accent1">
                    <a:alpha val="40000"/>
                  </a:schemeClr>
                </a:glow>
              </a:effectLst>
              <a:latin typeface="Times New Roman" panose="02020503050405090304" charset="0"/>
              <a:ea typeface="微软雅黑" charset="-122"/>
              <a:cs typeface="Times New Roman" panose="02020503050405090304" charset="0"/>
            </a:endParaRPr>
          </a:p>
        </p:txBody>
      </p:sp>
      <p:sp>
        <p:nvSpPr>
          <p:cNvPr id="2" name="文本框 1"/>
          <p:cNvSpPr txBox="1"/>
          <p:nvPr/>
        </p:nvSpPr>
        <p:spPr>
          <a:xfrm>
            <a:off x="1094740" y="259715"/>
            <a:ext cx="6096000" cy="521970"/>
          </a:xfrm>
          <a:prstGeom prst="rect">
            <a:avLst/>
          </a:prstGeom>
          <a:noFill/>
        </p:spPr>
        <p:txBody>
          <a:bodyPr wrap="square" rtlCol="0" anchor="t">
            <a:spAutoFit/>
          </a:bodyPr>
          <a:lstStyle/>
          <a:p>
            <a:r>
              <a:rPr sz="2800" b="1">
                <a:solidFill>
                  <a:srgbClr val="000000"/>
                </a:solidFill>
                <a:latin typeface="微软雅黑" charset="-122"/>
                <a:ea typeface="微软雅黑" charset="-122"/>
                <a:cs typeface="微软雅黑" charset="-122"/>
                <a:sym typeface="+mn-ea"/>
              </a:rPr>
              <a:t>1.1 从变化率到梯度的直观引入</a:t>
            </a:r>
            <a:endParaRPr lang="zh-CN" altLang="en-US" sz="2800" b="1">
              <a:solidFill>
                <a:srgbClr val="000000"/>
              </a:solidFill>
              <a:latin typeface="微软雅黑" charset="-122"/>
              <a:ea typeface="微软雅黑" charset="-122"/>
              <a:cs typeface="微软雅黑" charset="-122"/>
              <a:sym typeface="+mn-ea"/>
            </a:endParaRPr>
          </a:p>
        </p:txBody>
      </p:sp>
      <p:sp>
        <p:nvSpPr>
          <p:cNvPr id="13" name="矩形 12"/>
          <p:cNvSpPr/>
          <p:nvPr>
            <p:custDataLst>
              <p:tags r:id="rId2"/>
            </p:custDataLst>
          </p:nvPr>
        </p:nvSpPr>
        <p:spPr>
          <a:xfrm>
            <a:off x="1353" y="600"/>
            <a:ext cx="12190495" cy="840002"/>
          </a:xfrm>
          <a:prstGeom prst="rect">
            <a:avLst/>
          </a:prstGeom>
          <a:gradFill>
            <a:gsLst>
              <a:gs pos="0">
                <a:schemeClr val="bg1"/>
              </a:gs>
              <a:gs pos="50000">
                <a:srgbClr val="5399D4"/>
              </a:gs>
              <a:gs pos="100000">
                <a:srgbClr val="2E3C63"/>
              </a:gs>
            </a:gsLst>
          </a:gradFill>
          <a:effectLst/>
        </p:spPr>
        <p:style>
          <a:lnRef idx="0">
            <a:srgbClr val="FFFFFF"/>
          </a:lnRef>
          <a:fillRef idx="2">
            <a:schemeClr val="accent1"/>
          </a:fillRef>
          <a:effectRef idx="1">
            <a:schemeClr val="accent1"/>
          </a:effectRef>
          <a:fontRef idx="minor">
            <a:schemeClr val="lt1"/>
          </a:fontRef>
        </p:style>
        <p:txBody>
          <a:bodyPr rtlCol="0" anchor="ctr"/>
          <a:lstStyle/>
          <a:p>
            <a:pPr algn="ctr" fontAlgn="base"/>
            <a:endParaRPr lang="zh-CN" altLang="en-US" sz="100" strike="noStrike" noProof="1"/>
          </a:p>
        </p:txBody>
      </p:sp>
      <p:pic>
        <p:nvPicPr>
          <p:cNvPr id="15" name="图片 14" descr="国科大标准Logo横式一（白色）"/>
          <p:cNvPicPr>
            <a:picLocks noChangeAspect="1"/>
          </p:cNvPicPr>
          <p:nvPr/>
        </p:nvPicPr>
        <p:blipFill>
          <a:blip r:embed="rId3"/>
          <a:stretch>
            <a:fillRect/>
          </a:stretch>
        </p:blipFill>
        <p:spPr>
          <a:xfrm>
            <a:off x="9815971" y="187901"/>
            <a:ext cx="2167622" cy="457144"/>
          </a:xfrm>
          <a:prstGeom prst="rect">
            <a:avLst/>
          </a:prstGeom>
        </p:spPr>
      </p:pic>
      <p:sp>
        <p:nvSpPr>
          <p:cNvPr id="3078" name="文本框 3"/>
          <p:cNvSpPr txBox="1"/>
          <p:nvPr>
            <p:custDataLst>
              <p:tags r:id="rId4"/>
            </p:custDataLst>
          </p:nvPr>
        </p:nvSpPr>
        <p:spPr>
          <a:xfrm>
            <a:off x="46644" y="-47231"/>
            <a:ext cx="850795" cy="919366"/>
          </a:xfrm>
          <a:prstGeom prst="rect">
            <a:avLst/>
          </a:prstGeom>
          <a:noFill/>
          <a:ln w="12700" cmpd="sng">
            <a:noFill/>
            <a:prstDash val="solid"/>
          </a:ln>
          <a:effectLst>
            <a:outerShdw dist="63500" dir="2700000" algn="tl" rotWithShape="0">
              <a:schemeClr val="bg1">
                <a:alpha val="100000"/>
              </a:schemeClr>
            </a:outerShdw>
          </a:effectLst>
        </p:spPr>
        <p:txBody>
          <a:bodyPr wrap="square" anchor="t" anchorCtr="0"/>
          <a:lstStyle/>
          <a:p>
            <a:pPr>
              <a:lnSpc>
                <a:spcPct val="130000"/>
              </a:lnSpc>
            </a:pPr>
            <a:r>
              <a:rPr lang="en-US" altLang="zh-CN" sz="4000" i="1" dirty="0">
                <a:ln w="19050">
                  <a:noFill/>
                </a:ln>
                <a:gradFill>
                  <a:gsLst>
                    <a:gs pos="39000">
                      <a:srgbClr val="5399D4"/>
                    </a:gs>
                    <a:gs pos="100000">
                      <a:schemeClr val="bg1"/>
                    </a:gs>
                  </a:gsLst>
                  <a:lin ang="5400000" scaled="0"/>
                </a:gradFill>
                <a:latin typeface="Bauhaus 93" panose="04030905020B02020C02" charset="0"/>
                <a:ea typeface="造字工房朗倩（非商用）常规体" charset="-122"/>
                <a:cs typeface="Bauhaus 93" panose="04030905020B02020C02" charset="0"/>
              </a:rPr>
              <a:t>01</a:t>
            </a:r>
            <a:endParaRPr lang="en-US" altLang="zh-CN" sz="4000" i="1" dirty="0">
              <a:ln w="19050">
                <a:noFill/>
              </a:ln>
              <a:gradFill>
                <a:gsLst>
                  <a:gs pos="39000">
                    <a:srgbClr val="5399D4"/>
                  </a:gs>
                  <a:gs pos="100000">
                    <a:schemeClr val="bg1"/>
                  </a:gs>
                </a:gsLst>
                <a:lin ang="5400000" scaled="0"/>
              </a:gradFill>
              <a:latin typeface="Bauhaus 93" panose="04030905020B02020C02" charset="0"/>
              <a:ea typeface="造字工房朗倩（非商用）常规体" charset="-122"/>
              <a:cs typeface="Bauhaus 93" panose="04030905020B02020C02" charset="0"/>
            </a:endParaRPr>
          </a:p>
        </p:txBody>
      </p:sp>
      <p:sp>
        <p:nvSpPr>
          <p:cNvPr id="16" name="文本框 15"/>
          <p:cNvSpPr txBox="1"/>
          <p:nvPr>
            <p:custDataLst>
              <p:tags r:id="rId5"/>
            </p:custDataLst>
          </p:nvPr>
        </p:nvSpPr>
        <p:spPr>
          <a:xfrm>
            <a:off x="897439" y="151711"/>
            <a:ext cx="8441283" cy="537779"/>
          </a:xfrm>
          <a:prstGeom prst="rect">
            <a:avLst/>
          </a:prstGeom>
          <a:noFill/>
        </p:spPr>
        <p:txBody>
          <a:bodyPr wrap="square" rtlCol="0">
            <a:noAutofit/>
          </a:bodyPr>
          <a:lstStyle/>
          <a:p>
            <a:r>
              <a:rPr lang="en-US" altLang="zh-CN" sz="3600" b="1" dirty="0">
                <a:solidFill>
                  <a:schemeClr val="tx1"/>
                </a:solidFill>
              </a:rPr>
              <a:t>Parameter Efficient Methods</a:t>
            </a:r>
            <a:endParaRPr lang="zh-CN" altLang="en-US" sz="3600" b="1" dirty="0">
              <a:solidFill>
                <a:schemeClr val="tx1"/>
              </a:solidFill>
            </a:endParaRPr>
          </a:p>
        </p:txBody>
      </p:sp>
      <p:sp>
        <p:nvSpPr>
          <p:cNvPr id="17" name="灯片编号占位符 16"/>
          <p:cNvSpPr>
            <a:spLocks noGrp="1"/>
          </p:cNvSpPr>
          <p:nvPr>
            <p:ph type="sldNum" sz="quarter" idx="12"/>
          </p:nvPr>
        </p:nvSpPr>
        <p:spPr/>
        <p:txBody>
          <a:bodyPr>
            <a:noAutofit/>
          </a:bodyPr>
          <a:lstStyle/>
          <a:p>
            <a:pPr algn="l" fontAlgn="auto"/>
            <a:fld id="{49AE70B2-8BF9-45C0-BB95-33D1B9D3A854}" type="slidenum">
              <a:rPr lang="zh-CN" altLang="en-US" sz="1800" strike="noStrike" noProof="1" smtClean="0">
                <a:solidFill>
                  <a:schemeClr val="tx1"/>
                </a:solidFill>
                <a:latin typeface="+mn-lt"/>
                <a:ea typeface="+mn-ea"/>
                <a:cs typeface="+mn-cs"/>
              </a:rPr>
            </a:fld>
            <a:endParaRPr lang="zh-CN" altLang="en-US" sz="1800" strike="noStrike" noProof="1">
              <a:solidFill>
                <a:schemeClr val="tx1"/>
              </a:solidFill>
              <a:latin typeface="+mn-lt"/>
              <a:ea typeface="+mn-ea"/>
              <a:cs typeface="+mn-cs"/>
            </a:endParaRPr>
          </a:p>
        </p:txBody>
      </p:sp>
      <p:sp>
        <p:nvSpPr>
          <p:cNvPr id="14" name="文本框 13"/>
          <p:cNvSpPr txBox="1"/>
          <p:nvPr/>
        </p:nvSpPr>
        <p:spPr>
          <a:xfrm>
            <a:off x="706755" y="870585"/>
            <a:ext cx="7586322" cy="658835"/>
          </a:xfrm>
          <a:prstGeom prst="rect">
            <a:avLst/>
          </a:prstGeom>
          <a:noFill/>
        </p:spPr>
        <p:txBody>
          <a:bodyPr wrap="square" rtlCol="0" anchor="t">
            <a:spAutoFit/>
          </a:bodyPr>
          <a:lstStyle/>
          <a:p>
            <a:pPr lvl="1" indent="-457200" algn="l" defTabSz="914400" fontAlgn="base">
              <a:lnSpc>
                <a:spcPct val="150000"/>
              </a:lnSpc>
              <a:buClrTx/>
              <a:buSzTx/>
              <a:buFont typeface="Wingdings" panose="05000000000000000000" pitchFamily="2" charset="2"/>
              <a:buChar char="Ø"/>
            </a:pPr>
            <a:r>
              <a:rPr lang="en-US" altLang="zh-CN" sz="2800" dirty="0">
                <a:solidFill>
                  <a:sysClr val="windowText" lastClr="000000"/>
                </a:solidFill>
                <a:latin typeface="Arial" panose="020B0604020202090204" pitchFamily="34" charset="0"/>
                <a:ea typeface="微软雅黑" charset="-122"/>
                <a:sym typeface="+mn-ea"/>
              </a:rPr>
              <a:t>1</a:t>
            </a:r>
            <a:r>
              <a:rPr lang="zh-CN" altLang="en-US" sz="2800" dirty="0">
                <a:solidFill>
                  <a:sysClr val="windowText" lastClr="000000"/>
                </a:solidFill>
                <a:latin typeface="Arial" panose="020B0604020202090204" pitchFamily="34" charset="0"/>
                <a:ea typeface="微软雅黑" charset="-122"/>
                <a:sym typeface="+mn-ea"/>
              </a:rPr>
              <a:t>.</a:t>
            </a:r>
            <a:r>
              <a:rPr lang="en-US" altLang="zh-CN" sz="2800" dirty="0">
                <a:solidFill>
                  <a:sysClr val="windowText" lastClr="000000"/>
                </a:solidFill>
                <a:latin typeface="Arial" panose="020B0604020202090204" pitchFamily="34" charset="0"/>
                <a:ea typeface="微软雅黑" charset="-122"/>
                <a:sym typeface="+mn-ea"/>
              </a:rPr>
              <a:t>1 ControlNet</a:t>
            </a:r>
            <a:endParaRPr lang="zh-CN" altLang="en-US" sz="2800" dirty="0">
              <a:solidFill>
                <a:sysClr val="windowText" lastClr="000000"/>
              </a:solidFill>
              <a:latin typeface="Arial" panose="020B0604020202090204" pitchFamily="34" charset="0"/>
              <a:ea typeface="微软雅黑" charset="-122"/>
              <a:sym typeface="+mn-ea"/>
            </a:endParaRPr>
          </a:p>
        </p:txBody>
      </p:sp>
      <p:sp>
        <p:nvSpPr>
          <p:cNvPr id="18" name="文本框 17"/>
          <p:cNvSpPr txBox="1"/>
          <p:nvPr/>
        </p:nvSpPr>
        <p:spPr>
          <a:xfrm>
            <a:off x="1150243" y="2190313"/>
            <a:ext cx="7325181" cy="418191"/>
          </a:xfrm>
          <a:prstGeom prst="rect">
            <a:avLst/>
          </a:prstGeom>
          <a:noFill/>
        </p:spPr>
        <p:txBody>
          <a:bodyPr wrap="square">
            <a:spAutoFit/>
          </a:bodyPr>
          <a:lstStyle/>
          <a:p>
            <a:pPr>
              <a:lnSpc>
                <a:spcPct val="150000"/>
              </a:lnSpc>
            </a:pPr>
            <a:r>
              <a:rPr lang="en-US" altLang="zh-CN" sz="1600" dirty="0">
                <a:solidFill>
                  <a:schemeClr val="tx1">
                    <a:lumMod val="65000"/>
                    <a:lumOff val="35000"/>
                  </a:schemeClr>
                </a:solidFill>
                <a:latin typeface="微软雅黑" charset="-122"/>
                <a:ea typeface="微软雅黑" charset="-122"/>
              </a:rPr>
              <a:t>Stable Diffusion</a:t>
            </a:r>
            <a:r>
              <a:rPr lang="zh-CN" altLang="en-US" sz="1600" dirty="0">
                <a:solidFill>
                  <a:schemeClr val="tx1">
                    <a:lumMod val="65000"/>
                    <a:lumOff val="35000"/>
                  </a:schemeClr>
                </a:solidFill>
                <a:latin typeface="微软雅黑" charset="-122"/>
                <a:ea typeface="微软雅黑" charset="-122"/>
              </a:rPr>
              <a:t>模型在推理阶段会采用</a:t>
            </a:r>
            <a:r>
              <a:rPr lang="en-US" altLang="zh-CN" sz="1600" dirty="0">
                <a:solidFill>
                  <a:schemeClr val="tx1">
                    <a:lumMod val="65000"/>
                    <a:lumOff val="35000"/>
                  </a:schemeClr>
                </a:solidFill>
                <a:latin typeface="微软雅黑" charset="-122"/>
                <a:ea typeface="微软雅黑" charset="-122"/>
              </a:rPr>
              <a:t>classifier-free guidance</a:t>
            </a:r>
            <a:r>
              <a:rPr lang="zh-CN" altLang="en-US" sz="1600" dirty="0">
                <a:solidFill>
                  <a:schemeClr val="tx1">
                    <a:lumMod val="65000"/>
                    <a:lumOff val="35000"/>
                  </a:schemeClr>
                </a:solidFill>
                <a:latin typeface="微软雅黑" charset="-122"/>
                <a:ea typeface="微软雅黑" charset="-122"/>
              </a:rPr>
              <a:t>（</a:t>
            </a:r>
            <a:r>
              <a:rPr lang="en-US" altLang="zh-CN" sz="1600" dirty="0">
                <a:solidFill>
                  <a:schemeClr val="tx1">
                    <a:lumMod val="65000"/>
                    <a:lumOff val="35000"/>
                  </a:schemeClr>
                </a:solidFill>
                <a:latin typeface="微软雅黑" charset="-122"/>
                <a:ea typeface="微软雅黑" charset="-122"/>
              </a:rPr>
              <a:t>CFG</a:t>
            </a:r>
            <a:r>
              <a:rPr lang="zh-CN" altLang="en-US" sz="1600" dirty="0">
                <a:solidFill>
                  <a:schemeClr val="tx1">
                    <a:lumMod val="65000"/>
                    <a:lumOff val="35000"/>
                  </a:schemeClr>
                </a:solidFill>
                <a:latin typeface="微软雅黑" charset="-122"/>
                <a:ea typeface="微软雅黑" charset="-122"/>
              </a:rPr>
              <a:t>）技术：</a:t>
            </a:r>
            <a:endParaRPr lang="zh-CN" altLang="en-US" sz="1600" dirty="0">
              <a:solidFill>
                <a:schemeClr val="tx1">
                  <a:lumMod val="65000"/>
                  <a:lumOff val="35000"/>
                </a:schemeClr>
              </a:solidFill>
              <a:latin typeface="微软雅黑" charset="-122"/>
              <a:ea typeface="微软雅黑" charset="-122"/>
            </a:endParaRPr>
          </a:p>
        </p:txBody>
      </p:sp>
      <p:sp>
        <p:nvSpPr>
          <p:cNvPr id="19" name="文本框 18"/>
          <p:cNvSpPr txBox="1"/>
          <p:nvPr/>
        </p:nvSpPr>
        <p:spPr>
          <a:xfrm>
            <a:off x="1198973" y="1651114"/>
            <a:ext cx="6187904" cy="338554"/>
          </a:xfrm>
          <a:prstGeom prst="rect">
            <a:avLst/>
          </a:prstGeom>
          <a:noFill/>
        </p:spPr>
        <p:txBody>
          <a:bodyPr wrap="square">
            <a:spAutoFit/>
          </a:bodyPr>
          <a:lstStyle/>
          <a:p>
            <a:pPr marL="285750" indent="-285750">
              <a:buFont typeface="Arial" panose="020B0604020202090204" pitchFamily="34" charset="0"/>
              <a:buChar char="•"/>
            </a:pPr>
            <a:r>
              <a:rPr lang="en-US" altLang="zh-CN" sz="1600" dirty="0">
                <a:solidFill>
                  <a:schemeClr val="tx1">
                    <a:lumMod val="65000"/>
                    <a:lumOff val="35000"/>
                  </a:schemeClr>
                </a:solidFill>
                <a:latin typeface="微软雅黑" charset="-122"/>
                <a:ea typeface="微软雅黑" charset="-122"/>
              </a:rPr>
              <a:t>ControlNet</a:t>
            </a:r>
            <a:r>
              <a:rPr lang="zh-CN" altLang="en-US" sz="1600" dirty="0">
                <a:solidFill>
                  <a:schemeClr val="tx1">
                    <a:lumMod val="65000"/>
                    <a:lumOff val="35000"/>
                  </a:schemeClr>
                </a:solidFill>
                <a:latin typeface="微软雅黑" charset="-122"/>
                <a:ea typeface="微软雅黑" charset="-122"/>
              </a:rPr>
              <a:t>模型的推理过程</a:t>
            </a:r>
            <a:endParaRPr lang="zh-CN" altLang="en-US" sz="1600" dirty="0">
              <a:solidFill>
                <a:schemeClr val="tx1">
                  <a:lumMod val="65000"/>
                  <a:lumOff val="35000"/>
                </a:schemeClr>
              </a:solidFill>
              <a:latin typeface="微软雅黑" charset="-122"/>
              <a:ea typeface="微软雅黑" charset="-122"/>
            </a:endParaRPr>
          </a:p>
        </p:txBody>
      </p:sp>
      <p:pic>
        <p:nvPicPr>
          <p:cNvPr id="5" name="图片 4"/>
          <p:cNvPicPr>
            <a:picLocks noChangeAspect="1"/>
          </p:cNvPicPr>
          <p:nvPr/>
        </p:nvPicPr>
        <p:blipFill>
          <a:blip r:embed="rId6"/>
          <a:stretch>
            <a:fillRect/>
          </a:stretch>
        </p:blipFill>
        <p:spPr>
          <a:xfrm>
            <a:off x="2364019" y="2632463"/>
            <a:ext cx="5022858" cy="954062"/>
          </a:xfrm>
          <a:prstGeom prst="rect">
            <a:avLst/>
          </a:prstGeom>
        </p:spPr>
      </p:pic>
      <p:pic>
        <p:nvPicPr>
          <p:cNvPr id="7" name="图片 6"/>
          <p:cNvPicPr>
            <a:picLocks noChangeAspect="1"/>
          </p:cNvPicPr>
          <p:nvPr/>
        </p:nvPicPr>
        <p:blipFill>
          <a:blip r:embed="rId7"/>
          <a:stretch>
            <a:fillRect/>
          </a:stretch>
        </p:blipFill>
        <p:spPr>
          <a:xfrm>
            <a:off x="2634472" y="3701894"/>
            <a:ext cx="4091599" cy="657285"/>
          </a:xfrm>
          <a:prstGeom prst="rect">
            <a:avLst/>
          </a:prstGeom>
        </p:spPr>
      </p:pic>
      <p:pic>
        <p:nvPicPr>
          <p:cNvPr id="9" name="图片 8"/>
          <p:cNvPicPr>
            <a:picLocks noChangeAspect="1"/>
          </p:cNvPicPr>
          <p:nvPr/>
        </p:nvPicPr>
        <p:blipFill>
          <a:blip r:embed="rId8"/>
          <a:stretch>
            <a:fillRect/>
          </a:stretch>
        </p:blipFill>
        <p:spPr>
          <a:xfrm>
            <a:off x="2931815" y="4689568"/>
            <a:ext cx="3762036" cy="596623"/>
          </a:xfrm>
          <a:prstGeom prst="rect">
            <a:avLst/>
          </a:prstGeom>
        </p:spPr>
      </p:pic>
    </p:spTree>
    <p:custDataLst>
      <p:tags r:id="rId9"/>
    </p:custDataLst>
  </p:cSld>
  <p:clrMapOvr>
    <a:masterClrMapping/>
  </p:clrMapOvr>
  <p:transition advTm="58970"/>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图片 2" descr="剪影蓝 低版本"/>
          <p:cNvPicPr>
            <a:picLocks noChangeAspect="1"/>
          </p:cNvPicPr>
          <p:nvPr/>
        </p:nvPicPr>
        <p:blipFill>
          <a:blip r:embed="rId1"/>
          <a:srcRect l="-8"/>
          <a:stretch>
            <a:fillRect/>
          </a:stretch>
        </p:blipFill>
        <p:spPr>
          <a:xfrm>
            <a:off x="1505" y="5378386"/>
            <a:ext cx="12190495" cy="2438099"/>
          </a:xfrm>
          <a:prstGeom prst="rect">
            <a:avLst/>
          </a:prstGeom>
          <a:noFill/>
          <a:ln w="9525">
            <a:noFill/>
          </a:ln>
        </p:spPr>
      </p:pic>
      <p:sp>
        <p:nvSpPr>
          <p:cNvPr id="22" name="文本框 21"/>
          <p:cNvSpPr txBox="1"/>
          <p:nvPr/>
        </p:nvSpPr>
        <p:spPr>
          <a:xfrm>
            <a:off x="154297" y="-42999"/>
            <a:ext cx="552421" cy="874984"/>
          </a:xfrm>
          <a:prstGeom prst="rect">
            <a:avLst/>
          </a:prstGeom>
          <a:noFill/>
          <a:effectLst>
            <a:reflection blurRad="12700" stA="0" endPos="65000" dist="50800" dir="5400000" sy="-100000" algn="bl" rotWithShape="0"/>
          </a:effectLst>
        </p:spPr>
        <p:txBody>
          <a:bodyPr wrap="square" rtlCol="0">
            <a:noAutofit/>
          </a:bodyPr>
          <a:lstStyle/>
          <a:p>
            <a:r>
              <a:rPr lang="en-US" altLang="zh-CN" sz="5400" b="1" dirty="0">
                <a:solidFill>
                  <a:schemeClr val="bg1"/>
                </a:solidFill>
                <a:effectLst>
                  <a:glow>
                    <a:schemeClr val="accent1">
                      <a:alpha val="40000"/>
                    </a:schemeClr>
                  </a:glow>
                </a:effectLst>
                <a:latin typeface="Times New Roman" panose="02020503050405090304" charset="0"/>
                <a:ea typeface="微软雅黑" charset="-122"/>
                <a:cs typeface="Times New Roman" panose="02020503050405090304" charset="0"/>
              </a:rPr>
              <a:t>1</a:t>
            </a:r>
            <a:endParaRPr lang="en-US" altLang="zh-CN" sz="5400" b="1" dirty="0">
              <a:solidFill>
                <a:schemeClr val="bg1"/>
              </a:solidFill>
              <a:effectLst>
                <a:glow>
                  <a:schemeClr val="accent1">
                    <a:alpha val="40000"/>
                  </a:schemeClr>
                </a:glow>
              </a:effectLst>
              <a:latin typeface="Times New Roman" panose="02020503050405090304" charset="0"/>
              <a:ea typeface="微软雅黑" charset="-122"/>
              <a:cs typeface="Times New Roman" panose="02020503050405090304" charset="0"/>
            </a:endParaRPr>
          </a:p>
        </p:txBody>
      </p:sp>
      <p:sp>
        <p:nvSpPr>
          <p:cNvPr id="2" name="文本框 1"/>
          <p:cNvSpPr txBox="1"/>
          <p:nvPr/>
        </p:nvSpPr>
        <p:spPr>
          <a:xfrm>
            <a:off x="1094740" y="259715"/>
            <a:ext cx="6096000" cy="521970"/>
          </a:xfrm>
          <a:prstGeom prst="rect">
            <a:avLst/>
          </a:prstGeom>
          <a:noFill/>
        </p:spPr>
        <p:txBody>
          <a:bodyPr wrap="square" rtlCol="0" anchor="t">
            <a:spAutoFit/>
          </a:bodyPr>
          <a:lstStyle/>
          <a:p>
            <a:r>
              <a:rPr sz="2800" b="1">
                <a:solidFill>
                  <a:srgbClr val="000000"/>
                </a:solidFill>
                <a:latin typeface="微软雅黑" charset="-122"/>
                <a:ea typeface="微软雅黑" charset="-122"/>
                <a:cs typeface="微软雅黑" charset="-122"/>
                <a:sym typeface="+mn-ea"/>
              </a:rPr>
              <a:t>1.1 从变化率到梯度的直观引入</a:t>
            </a:r>
            <a:endParaRPr lang="zh-CN" altLang="en-US" sz="2800" b="1">
              <a:solidFill>
                <a:srgbClr val="000000"/>
              </a:solidFill>
              <a:latin typeface="微软雅黑" charset="-122"/>
              <a:ea typeface="微软雅黑" charset="-122"/>
              <a:cs typeface="微软雅黑" charset="-122"/>
              <a:sym typeface="+mn-ea"/>
            </a:endParaRPr>
          </a:p>
        </p:txBody>
      </p:sp>
      <p:sp>
        <p:nvSpPr>
          <p:cNvPr id="13" name="矩形 12"/>
          <p:cNvSpPr/>
          <p:nvPr>
            <p:custDataLst>
              <p:tags r:id="rId2"/>
            </p:custDataLst>
          </p:nvPr>
        </p:nvSpPr>
        <p:spPr>
          <a:xfrm>
            <a:off x="1353" y="600"/>
            <a:ext cx="12190495" cy="840002"/>
          </a:xfrm>
          <a:prstGeom prst="rect">
            <a:avLst/>
          </a:prstGeom>
          <a:gradFill>
            <a:gsLst>
              <a:gs pos="0">
                <a:schemeClr val="bg1"/>
              </a:gs>
              <a:gs pos="50000">
                <a:srgbClr val="5399D4"/>
              </a:gs>
              <a:gs pos="100000">
                <a:srgbClr val="2E3C63"/>
              </a:gs>
            </a:gsLst>
          </a:gradFill>
          <a:effectLst/>
        </p:spPr>
        <p:style>
          <a:lnRef idx="0">
            <a:srgbClr val="FFFFFF"/>
          </a:lnRef>
          <a:fillRef idx="2">
            <a:schemeClr val="accent1"/>
          </a:fillRef>
          <a:effectRef idx="1">
            <a:schemeClr val="accent1"/>
          </a:effectRef>
          <a:fontRef idx="minor">
            <a:schemeClr val="lt1"/>
          </a:fontRef>
        </p:style>
        <p:txBody>
          <a:bodyPr rtlCol="0" anchor="ctr"/>
          <a:lstStyle/>
          <a:p>
            <a:pPr algn="ctr" fontAlgn="base"/>
            <a:endParaRPr lang="zh-CN" altLang="en-US" sz="100" strike="noStrike" noProof="1"/>
          </a:p>
        </p:txBody>
      </p:sp>
      <p:pic>
        <p:nvPicPr>
          <p:cNvPr id="15" name="图片 14" descr="国科大标准Logo横式一（白色）"/>
          <p:cNvPicPr>
            <a:picLocks noChangeAspect="1"/>
          </p:cNvPicPr>
          <p:nvPr/>
        </p:nvPicPr>
        <p:blipFill>
          <a:blip r:embed="rId3"/>
          <a:stretch>
            <a:fillRect/>
          </a:stretch>
        </p:blipFill>
        <p:spPr>
          <a:xfrm>
            <a:off x="9815971" y="187901"/>
            <a:ext cx="2167622" cy="457144"/>
          </a:xfrm>
          <a:prstGeom prst="rect">
            <a:avLst/>
          </a:prstGeom>
        </p:spPr>
      </p:pic>
      <p:sp>
        <p:nvSpPr>
          <p:cNvPr id="3078" name="文本框 3"/>
          <p:cNvSpPr txBox="1"/>
          <p:nvPr>
            <p:custDataLst>
              <p:tags r:id="rId4"/>
            </p:custDataLst>
          </p:nvPr>
        </p:nvSpPr>
        <p:spPr>
          <a:xfrm>
            <a:off x="46644" y="-47231"/>
            <a:ext cx="850795" cy="919366"/>
          </a:xfrm>
          <a:prstGeom prst="rect">
            <a:avLst/>
          </a:prstGeom>
          <a:noFill/>
          <a:ln w="12700" cmpd="sng">
            <a:noFill/>
            <a:prstDash val="solid"/>
          </a:ln>
          <a:effectLst>
            <a:outerShdw dist="63500" dir="2700000" algn="tl" rotWithShape="0">
              <a:schemeClr val="bg1">
                <a:alpha val="100000"/>
              </a:schemeClr>
            </a:outerShdw>
          </a:effectLst>
        </p:spPr>
        <p:txBody>
          <a:bodyPr wrap="square" anchor="t" anchorCtr="0"/>
          <a:lstStyle/>
          <a:p>
            <a:pPr>
              <a:lnSpc>
                <a:spcPct val="130000"/>
              </a:lnSpc>
            </a:pPr>
            <a:r>
              <a:rPr lang="en-US" altLang="zh-CN" sz="4000" i="1" dirty="0">
                <a:ln w="19050">
                  <a:noFill/>
                </a:ln>
                <a:gradFill>
                  <a:gsLst>
                    <a:gs pos="39000">
                      <a:srgbClr val="5399D4"/>
                    </a:gs>
                    <a:gs pos="100000">
                      <a:schemeClr val="bg1"/>
                    </a:gs>
                  </a:gsLst>
                  <a:lin ang="5400000" scaled="0"/>
                </a:gradFill>
                <a:latin typeface="Bauhaus 93" panose="04030905020B02020C02" charset="0"/>
                <a:ea typeface="造字工房朗倩（非商用）常规体" charset="-122"/>
                <a:cs typeface="Bauhaus 93" panose="04030905020B02020C02" charset="0"/>
              </a:rPr>
              <a:t>02</a:t>
            </a:r>
            <a:endParaRPr lang="en-US" altLang="zh-CN" sz="4000" i="1" dirty="0">
              <a:ln w="19050">
                <a:noFill/>
              </a:ln>
              <a:gradFill>
                <a:gsLst>
                  <a:gs pos="39000">
                    <a:srgbClr val="5399D4"/>
                  </a:gs>
                  <a:gs pos="100000">
                    <a:schemeClr val="bg1"/>
                  </a:gs>
                </a:gsLst>
                <a:lin ang="5400000" scaled="0"/>
              </a:gradFill>
              <a:latin typeface="Bauhaus 93" panose="04030905020B02020C02" charset="0"/>
              <a:ea typeface="造字工房朗倩（非商用）常规体" charset="-122"/>
              <a:cs typeface="Bauhaus 93" panose="04030905020B02020C02" charset="0"/>
            </a:endParaRPr>
          </a:p>
        </p:txBody>
      </p:sp>
      <p:sp>
        <p:nvSpPr>
          <p:cNvPr id="16" name="文本框 15"/>
          <p:cNvSpPr txBox="1"/>
          <p:nvPr>
            <p:custDataLst>
              <p:tags r:id="rId5"/>
            </p:custDataLst>
          </p:nvPr>
        </p:nvSpPr>
        <p:spPr>
          <a:xfrm>
            <a:off x="897439" y="151711"/>
            <a:ext cx="8441283" cy="537779"/>
          </a:xfrm>
          <a:prstGeom prst="rect">
            <a:avLst/>
          </a:prstGeom>
          <a:noFill/>
        </p:spPr>
        <p:txBody>
          <a:bodyPr wrap="square" rtlCol="0">
            <a:noAutofit/>
          </a:bodyPr>
          <a:lstStyle/>
          <a:p>
            <a:r>
              <a:rPr lang="en-US" altLang="zh-CN" sz="3600" b="1" dirty="0">
                <a:solidFill>
                  <a:schemeClr val="tx1"/>
                </a:solidFill>
              </a:rPr>
              <a:t>Efficient Sampling and Inference</a:t>
            </a:r>
            <a:endParaRPr lang="zh-CN" altLang="en-US" sz="3600" b="1" dirty="0">
              <a:solidFill>
                <a:schemeClr val="tx1"/>
              </a:solidFill>
            </a:endParaRPr>
          </a:p>
          <a:p>
            <a:endParaRPr lang="zh-CN" altLang="en-US" sz="3600" b="1" dirty="0">
              <a:solidFill>
                <a:schemeClr val="tx1"/>
              </a:solidFill>
            </a:endParaRPr>
          </a:p>
        </p:txBody>
      </p:sp>
      <p:sp>
        <p:nvSpPr>
          <p:cNvPr id="17" name="灯片编号占位符 16"/>
          <p:cNvSpPr>
            <a:spLocks noGrp="1"/>
          </p:cNvSpPr>
          <p:nvPr>
            <p:ph type="sldNum" sz="quarter" idx="12"/>
          </p:nvPr>
        </p:nvSpPr>
        <p:spPr/>
        <p:txBody>
          <a:bodyPr>
            <a:noAutofit/>
          </a:bodyPr>
          <a:lstStyle/>
          <a:p>
            <a:pPr algn="l" fontAlgn="auto"/>
            <a:fld id="{49AE70B2-8BF9-45C0-BB95-33D1B9D3A854}" type="slidenum">
              <a:rPr lang="zh-CN" altLang="en-US" sz="1800" strike="noStrike" noProof="1" smtClean="0">
                <a:solidFill>
                  <a:schemeClr val="tx1"/>
                </a:solidFill>
                <a:latin typeface="+mn-lt"/>
                <a:ea typeface="+mn-ea"/>
                <a:cs typeface="+mn-cs"/>
              </a:rPr>
            </a:fld>
            <a:endParaRPr lang="zh-CN" altLang="en-US" sz="1800" strike="noStrike" noProof="1">
              <a:solidFill>
                <a:schemeClr val="tx1"/>
              </a:solidFill>
              <a:latin typeface="+mn-lt"/>
              <a:ea typeface="+mn-ea"/>
              <a:cs typeface="+mn-cs"/>
            </a:endParaRPr>
          </a:p>
        </p:txBody>
      </p:sp>
      <p:sp>
        <p:nvSpPr>
          <p:cNvPr id="14" name="文本框 13"/>
          <p:cNvSpPr txBox="1"/>
          <p:nvPr/>
        </p:nvSpPr>
        <p:spPr>
          <a:xfrm>
            <a:off x="560171" y="870585"/>
            <a:ext cx="9086399" cy="661848"/>
          </a:xfrm>
          <a:prstGeom prst="rect">
            <a:avLst/>
          </a:prstGeom>
          <a:noFill/>
        </p:spPr>
        <p:txBody>
          <a:bodyPr wrap="square" rtlCol="0" anchor="t">
            <a:spAutoFit/>
          </a:bodyPr>
          <a:lstStyle/>
          <a:p>
            <a:pPr lvl="1" indent="-457200" defTabSz="914400" fontAlgn="base">
              <a:lnSpc>
                <a:spcPct val="150000"/>
              </a:lnSpc>
              <a:buFont typeface="Wingdings" panose="05000000000000000000" pitchFamily="2" charset="2"/>
              <a:buChar char="Ø"/>
            </a:pPr>
            <a:r>
              <a:rPr lang="en-US" altLang="zh-CN" sz="2800" dirty="0">
                <a:solidFill>
                  <a:sysClr val="windowText" lastClr="000000"/>
                </a:solidFill>
                <a:latin typeface="Arial" panose="020B0604020202090204" pitchFamily="34" charset="0"/>
                <a:ea typeface="微软雅黑" charset="-122"/>
                <a:sym typeface="+mn-ea"/>
              </a:rPr>
              <a:t>2</a:t>
            </a:r>
            <a:r>
              <a:rPr lang="zh-CN" altLang="en-US" sz="2800" dirty="0">
                <a:solidFill>
                  <a:sysClr val="windowText" lastClr="000000"/>
                </a:solidFill>
                <a:latin typeface="Arial" panose="020B0604020202090204" pitchFamily="34" charset="0"/>
                <a:ea typeface="微软雅黑" charset="-122"/>
                <a:sym typeface="+mn-ea"/>
              </a:rPr>
              <a:t>.</a:t>
            </a:r>
            <a:r>
              <a:rPr lang="en-US" altLang="zh-CN" sz="2800" dirty="0">
                <a:solidFill>
                  <a:sysClr val="windowText" lastClr="000000"/>
                </a:solidFill>
                <a:latin typeface="Arial" panose="020B0604020202090204" pitchFamily="34" charset="0"/>
                <a:ea typeface="微软雅黑" charset="-122"/>
                <a:sym typeface="+mn-ea"/>
              </a:rPr>
              <a:t>1  </a:t>
            </a:r>
            <a:r>
              <a:rPr lang="zh-CN" altLang="en-US" sz="2800" dirty="0">
                <a:solidFill>
                  <a:sysClr val="windowText" lastClr="000000"/>
                </a:solidFill>
                <a:latin typeface="Arial" panose="020B0604020202090204" pitchFamily="34" charset="0"/>
                <a:ea typeface="微软雅黑" charset="-122"/>
              </a:rPr>
              <a:t>加速扩散模型采样的通用方法</a:t>
            </a:r>
            <a:r>
              <a:rPr lang="en-US" altLang="zh-CN" sz="2800" dirty="0">
                <a:solidFill>
                  <a:sysClr val="windowText" lastClr="000000"/>
                </a:solidFill>
                <a:latin typeface="Arial" panose="020B0604020202090204" pitchFamily="34" charset="0"/>
                <a:ea typeface="微软雅黑" charset="-122"/>
                <a:sym typeface="+mn-ea"/>
              </a:rPr>
              <a:t>DDIM</a:t>
            </a:r>
            <a:endParaRPr lang="zh-CN" altLang="en-US" sz="2800" dirty="0">
              <a:solidFill>
                <a:sysClr val="windowText" lastClr="000000"/>
              </a:solidFill>
              <a:latin typeface="Arial" panose="020B0604020202090204" pitchFamily="34" charset="0"/>
              <a:ea typeface="微软雅黑" charset="-122"/>
              <a:sym typeface="+mn-ea"/>
            </a:endParaRPr>
          </a:p>
        </p:txBody>
      </p:sp>
      <p:sp>
        <p:nvSpPr>
          <p:cNvPr id="20" name="TextBox 4"/>
          <p:cNvSpPr txBox="1"/>
          <p:nvPr/>
        </p:nvSpPr>
        <p:spPr>
          <a:xfrm>
            <a:off x="1094740" y="1955709"/>
            <a:ext cx="7113201" cy="1169551"/>
          </a:xfrm>
          <a:prstGeom prst="rect">
            <a:avLst/>
          </a:prstGeom>
          <a:noFill/>
        </p:spPr>
        <p:txBody>
          <a:bodyPr wrap="square" lIns="73152" tIns="54864" rIns="73152" bIns="54864" anchor="ctr">
            <a:spAutoFit/>
          </a:bodyPr>
          <a:lstStyle/>
          <a:p>
            <a:pPr marL="285750" indent="-285750">
              <a:lnSpc>
                <a:spcPts val="2080"/>
              </a:lnSpc>
              <a:buFont typeface="Arial" panose="020B0604020202090204" pitchFamily="34" charset="0"/>
              <a:buChar char="•"/>
            </a:pPr>
            <a:r>
              <a:rPr lang="zh-CN" altLang="en-US" sz="1600" dirty="0">
                <a:solidFill>
                  <a:schemeClr val="tx1">
                    <a:lumMod val="65000"/>
                    <a:lumOff val="35000"/>
                  </a:schemeClr>
                </a:solidFill>
                <a:latin typeface="微软雅黑" charset="-122"/>
                <a:ea typeface="微软雅黑" charset="-122"/>
              </a:rPr>
              <a:t>去噪扩散隐式模型（</a:t>
            </a:r>
            <a:r>
              <a:rPr lang="en-US" altLang="zh-CN" sz="1600" dirty="0">
                <a:solidFill>
                  <a:schemeClr val="tx1">
                    <a:lumMod val="65000"/>
                    <a:lumOff val="35000"/>
                  </a:schemeClr>
                </a:solidFill>
                <a:latin typeface="微软雅黑" charset="-122"/>
                <a:ea typeface="微软雅黑" charset="-122"/>
              </a:rPr>
              <a:t>DDIM</a:t>
            </a:r>
            <a:r>
              <a:rPr lang="zh-CN" altLang="en-US" sz="1600" dirty="0">
                <a:solidFill>
                  <a:schemeClr val="tx1">
                    <a:lumMod val="65000"/>
                    <a:lumOff val="35000"/>
                  </a:schemeClr>
                </a:solidFill>
                <a:latin typeface="微软雅黑" charset="-122"/>
                <a:ea typeface="微软雅黑" charset="-122"/>
              </a:rPr>
              <a:t>）是对传统去噪扩散概率模型（</a:t>
            </a:r>
            <a:r>
              <a:rPr lang="en-US" altLang="zh-CN" sz="1600" dirty="0">
                <a:solidFill>
                  <a:schemeClr val="tx1">
                    <a:lumMod val="65000"/>
                    <a:lumOff val="35000"/>
                  </a:schemeClr>
                </a:solidFill>
                <a:latin typeface="微软雅黑" charset="-122"/>
                <a:ea typeface="微软雅黑" charset="-122"/>
              </a:rPr>
              <a:t>DDPM</a:t>
            </a:r>
            <a:r>
              <a:rPr lang="zh-CN" altLang="en-US" sz="1600" dirty="0">
                <a:solidFill>
                  <a:schemeClr val="tx1">
                    <a:lumMod val="65000"/>
                    <a:lumOff val="35000"/>
                  </a:schemeClr>
                </a:solidFill>
                <a:latin typeface="微软雅黑" charset="-122"/>
                <a:ea typeface="微软雅黑" charset="-122"/>
              </a:rPr>
              <a:t>）的进阶优化，主要包含两大贡献：一是通过修改采样公式实现“跳步”去噪，大幅提升了模型的图像生成速度；二是推广了原有的数学模型，允许在采样时自定义噪声强度，从而在同一个训练好的模型上实现多样的采样效果</a:t>
            </a:r>
            <a:endParaRPr lang="en-US" altLang="zh-CN" sz="1600" dirty="0">
              <a:solidFill>
                <a:schemeClr val="tx1">
                  <a:lumMod val="65000"/>
                  <a:lumOff val="35000"/>
                </a:schemeClr>
              </a:solidFill>
              <a:latin typeface="微软雅黑" charset="-122"/>
              <a:ea typeface="微软雅黑" charset="-122"/>
            </a:endParaRPr>
          </a:p>
        </p:txBody>
      </p:sp>
      <p:pic>
        <p:nvPicPr>
          <p:cNvPr id="4" name="图片 3"/>
          <p:cNvPicPr>
            <a:picLocks noChangeAspect="1"/>
          </p:cNvPicPr>
          <p:nvPr/>
        </p:nvPicPr>
        <p:blipFill>
          <a:blip r:embed="rId6"/>
          <a:stretch>
            <a:fillRect/>
          </a:stretch>
        </p:blipFill>
        <p:spPr>
          <a:xfrm>
            <a:off x="472041" y="3557657"/>
            <a:ext cx="8880809" cy="1771943"/>
          </a:xfrm>
          <a:prstGeom prst="rect">
            <a:avLst/>
          </a:prstGeom>
        </p:spPr>
      </p:pic>
    </p:spTree>
    <p:custDataLst>
      <p:tags r:id="rId7"/>
    </p:custDataLst>
  </p:cSld>
  <p:clrMapOvr>
    <a:masterClrMapping/>
  </p:clrMapOvr>
  <p:transition advTm="58970"/>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图片 2" descr="剪影蓝 低版本"/>
          <p:cNvPicPr>
            <a:picLocks noChangeAspect="1"/>
          </p:cNvPicPr>
          <p:nvPr/>
        </p:nvPicPr>
        <p:blipFill>
          <a:blip r:embed="rId1"/>
          <a:srcRect l="-8"/>
          <a:stretch>
            <a:fillRect/>
          </a:stretch>
        </p:blipFill>
        <p:spPr>
          <a:xfrm>
            <a:off x="1505" y="5378386"/>
            <a:ext cx="12190495" cy="2438099"/>
          </a:xfrm>
          <a:prstGeom prst="rect">
            <a:avLst/>
          </a:prstGeom>
          <a:noFill/>
          <a:ln w="9525">
            <a:noFill/>
          </a:ln>
        </p:spPr>
      </p:pic>
      <p:sp>
        <p:nvSpPr>
          <p:cNvPr id="22" name="文本框 21"/>
          <p:cNvSpPr txBox="1"/>
          <p:nvPr/>
        </p:nvSpPr>
        <p:spPr>
          <a:xfrm>
            <a:off x="154297" y="-42999"/>
            <a:ext cx="552421" cy="874984"/>
          </a:xfrm>
          <a:prstGeom prst="rect">
            <a:avLst/>
          </a:prstGeom>
          <a:noFill/>
          <a:effectLst>
            <a:reflection blurRad="12700" stA="0" endPos="65000" dist="50800" dir="5400000" sy="-100000" algn="bl" rotWithShape="0"/>
          </a:effectLst>
        </p:spPr>
        <p:txBody>
          <a:bodyPr wrap="square" rtlCol="0">
            <a:noAutofit/>
          </a:bodyPr>
          <a:lstStyle/>
          <a:p>
            <a:r>
              <a:rPr lang="en-US" altLang="zh-CN" sz="5400" b="1" dirty="0">
                <a:solidFill>
                  <a:schemeClr val="bg1"/>
                </a:solidFill>
                <a:effectLst>
                  <a:glow>
                    <a:schemeClr val="accent1">
                      <a:alpha val="40000"/>
                    </a:schemeClr>
                  </a:glow>
                </a:effectLst>
                <a:latin typeface="Times New Roman" panose="02020503050405090304" charset="0"/>
                <a:ea typeface="微软雅黑" charset="-122"/>
                <a:cs typeface="Times New Roman" panose="02020503050405090304" charset="0"/>
              </a:rPr>
              <a:t>1</a:t>
            </a:r>
            <a:endParaRPr lang="en-US" altLang="zh-CN" sz="5400" b="1" dirty="0">
              <a:solidFill>
                <a:schemeClr val="bg1"/>
              </a:solidFill>
              <a:effectLst>
                <a:glow>
                  <a:schemeClr val="accent1">
                    <a:alpha val="40000"/>
                  </a:schemeClr>
                </a:glow>
              </a:effectLst>
              <a:latin typeface="Times New Roman" panose="02020503050405090304" charset="0"/>
              <a:ea typeface="微软雅黑" charset="-122"/>
              <a:cs typeface="Times New Roman" panose="02020503050405090304" charset="0"/>
            </a:endParaRPr>
          </a:p>
        </p:txBody>
      </p:sp>
      <p:sp>
        <p:nvSpPr>
          <p:cNvPr id="2" name="文本框 1"/>
          <p:cNvSpPr txBox="1"/>
          <p:nvPr/>
        </p:nvSpPr>
        <p:spPr>
          <a:xfrm>
            <a:off x="1094740" y="259715"/>
            <a:ext cx="6096000" cy="521970"/>
          </a:xfrm>
          <a:prstGeom prst="rect">
            <a:avLst/>
          </a:prstGeom>
          <a:noFill/>
        </p:spPr>
        <p:txBody>
          <a:bodyPr wrap="square" rtlCol="0" anchor="t">
            <a:spAutoFit/>
          </a:bodyPr>
          <a:lstStyle/>
          <a:p>
            <a:r>
              <a:rPr sz="2800" b="1">
                <a:solidFill>
                  <a:srgbClr val="000000"/>
                </a:solidFill>
                <a:latin typeface="微软雅黑" charset="-122"/>
                <a:ea typeface="微软雅黑" charset="-122"/>
                <a:cs typeface="微软雅黑" charset="-122"/>
                <a:sym typeface="+mn-ea"/>
              </a:rPr>
              <a:t>1.1 从变化率到梯度的直观引入</a:t>
            </a:r>
            <a:endParaRPr lang="zh-CN" altLang="en-US" sz="2800" b="1">
              <a:solidFill>
                <a:srgbClr val="000000"/>
              </a:solidFill>
              <a:latin typeface="微软雅黑" charset="-122"/>
              <a:ea typeface="微软雅黑" charset="-122"/>
              <a:cs typeface="微软雅黑" charset="-122"/>
              <a:sym typeface="+mn-ea"/>
            </a:endParaRPr>
          </a:p>
        </p:txBody>
      </p:sp>
      <p:sp>
        <p:nvSpPr>
          <p:cNvPr id="13" name="矩形 12"/>
          <p:cNvSpPr/>
          <p:nvPr>
            <p:custDataLst>
              <p:tags r:id="rId2"/>
            </p:custDataLst>
          </p:nvPr>
        </p:nvSpPr>
        <p:spPr>
          <a:xfrm>
            <a:off x="1353" y="600"/>
            <a:ext cx="12190495" cy="840002"/>
          </a:xfrm>
          <a:prstGeom prst="rect">
            <a:avLst/>
          </a:prstGeom>
          <a:gradFill>
            <a:gsLst>
              <a:gs pos="0">
                <a:schemeClr val="bg1"/>
              </a:gs>
              <a:gs pos="50000">
                <a:srgbClr val="5399D4"/>
              </a:gs>
              <a:gs pos="100000">
                <a:srgbClr val="2E3C63"/>
              </a:gs>
            </a:gsLst>
          </a:gradFill>
          <a:effectLst/>
        </p:spPr>
        <p:style>
          <a:lnRef idx="0">
            <a:srgbClr val="FFFFFF"/>
          </a:lnRef>
          <a:fillRef idx="2">
            <a:schemeClr val="accent1"/>
          </a:fillRef>
          <a:effectRef idx="1">
            <a:schemeClr val="accent1"/>
          </a:effectRef>
          <a:fontRef idx="minor">
            <a:schemeClr val="lt1"/>
          </a:fontRef>
        </p:style>
        <p:txBody>
          <a:bodyPr rtlCol="0" anchor="ctr"/>
          <a:lstStyle/>
          <a:p>
            <a:pPr algn="ctr" fontAlgn="base"/>
            <a:endParaRPr lang="zh-CN" altLang="en-US" sz="100" strike="noStrike" noProof="1"/>
          </a:p>
        </p:txBody>
      </p:sp>
      <p:pic>
        <p:nvPicPr>
          <p:cNvPr id="15" name="图片 14" descr="国科大标准Logo横式一（白色）"/>
          <p:cNvPicPr>
            <a:picLocks noChangeAspect="1"/>
          </p:cNvPicPr>
          <p:nvPr/>
        </p:nvPicPr>
        <p:blipFill>
          <a:blip r:embed="rId3"/>
          <a:stretch>
            <a:fillRect/>
          </a:stretch>
        </p:blipFill>
        <p:spPr>
          <a:xfrm>
            <a:off x="9815971" y="187901"/>
            <a:ext cx="2167622" cy="457144"/>
          </a:xfrm>
          <a:prstGeom prst="rect">
            <a:avLst/>
          </a:prstGeom>
        </p:spPr>
      </p:pic>
      <p:sp>
        <p:nvSpPr>
          <p:cNvPr id="3078" name="文本框 3"/>
          <p:cNvSpPr txBox="1"/>
          <p:nvPr>
            <p:custDataLst>
              <p:tags r:id="rId4"/>
            </p:custDataLst>
          </p:nvPr>
        </p:nvSpPr>
        <p:spPr>
          <a:xfrm>
            <a:off x="46644" y="-47231"/>
            <a:ext cx="850795" cy="919366"/>
          </a:xfrm>
          <a:prstGeom prst="rect">
            <a:avLst/>
          </a:prstGeom>
          <a:noFill/>
          <a:ln w="12700" cmpd="sng">
            <a:noFill/>
            <a:prstDash val="solid"/>
          </a:ln>
          <a:effectLst>
            <a:outerShdw dist="63500" dir="2700000" algn="tl" rotWithShape="0">
              <a:schemeClr val="bg1">
                <a:alpha val="100000"/>
              </a:schemeClr>
            </a:outerShdw>
          </a:effectLst>
        </p:spPr>
        <p:txBody>
          <a:bodyPr wrap="square" anchor="t" anchorCtr="0"/>
          <a:lstStyle/>
          <a:p>
            <a:pPr>
              <a:lnSpc>
                <a:spcPct val="130000"/>
              </a:lnSpc>
            </a:pPr>
            <a:r>
              <a:rPr lang="en-US" altLang="zh-CN" sz="4000" i="1" dirty="0">
                <a:ln w="19050">
                  <a:noFill/>
                </a:ln>
                <a:gradFill>
                  <a:gsLst>
                    <a:gs pos="39000">
                      <a:srgbClr val="5399D4"/>
                    </a:gs>
                    <a:gs pos="100000">
                      <a:schemeClr val="bg1"/>
                    </a:gs>
                  </a:gsLst>
                  <a:lin ang="5400000" scaled="0"/>
                </a:gradFill>
                <a:latin typeface="Bauhaus 93" panose="04030905020B02020C02" charset="0"/>
                <a:ea typeface="造字工房朗倩（非商用）常规体" charset="-122"/>
                <a:cs typeface="Bauhaus 93" panose="04030905020B02020C02" charset="0"/>
              </a:rPr>
              <a:t>02</a:t>
            </a:r>
            <a:endParaRPr lang="en-US" altLang="zh-CN" sz="4000" i="1" dirty="0">
              <a:ln w="19050">
                <a:noFill/>
              </a:ln>
              <a:gradFill>
                <a:gsLst>
                  <a:gs pos="39000">
                    <a:srgbClr val="5399D4"/>
                  </a:gs>
                  <a:gs pos="100000">
                    <a:schemeClr val="bg1"/>
                  </a:gs>
                </a:gsLst>
                <a:lin ang="5400000" scaled="0"/>
              </a:gradFill>
              <a:latin typeface="Bauhaus 93" panose="04030905020B02020C02" charset="0"/>
              <a:ea typeface="造字工房朗倩（非商用）常规体" charset="-122"/>
              <a:cs typeface="Bauhaus 93" panose="04030905020B02020C02" charset="0"/>
            </a:endParaRPr>
          </a:p>
        </p:txBody>
      </p:sp>
      <p:sp>
        <p:nvSpPr>
          <p:cNvPr id="16" name="文本框 15"/>
          <p:cNvSpPr txBox="1"/>
          <p:nvPr>
            <p:custDataLst>
              <p:tags r:id="rId5"/>
            </p:custDataLst>
          </p:nvPr>
        </p:nvSpPr>
        <p:spPr>
          <a:xfrm>
            <a:off x="897439" y="151711"/>
            <a:ext cx="8441283" cy="537779"/>
          </a:xfrm>
          <a:prstGeom prst="rect">
            <a:avLst/>
          </a:prstGeom>
          <a:noFill/>
        </p:spPr>
        <p:txBody>
          <a:bodyPr wrap="square" rtlCol="0">
            <a:noAutofit/>
          </a:bodyPr>
          <a:lstStyle/>
          <a:p>
            <a:r>
              <a:rPr lang="en-US" altLang="zh-CN" sz="3600" b="1" dirty="0">
                <a:solidFill>
                  <a:schemeClr val="tx1"/>
                </a:solidFill>
              </a:rPr>
              <a:t>Efficient Sampling and Inference</a:t>
            </a:r>
            <a:endParaRPr lang="zh-CN" altLang="en-US" sz="3600" b="1" dirty="0">
              <a:solidFill>
                <a:schemeClr val="tx1"/>
              </a:solidFill>
            </a:endParaRPr>
          </a:p>
          <a:p>
            <a:endParaRPr lang="zh-CN" altLang="en-US" sz="3600" b="1" dirty="0">
              <a:solidFill>
                <a:schemeClr val="tx1"/>
              </a:solidFill>
            </a:endParaRPr>
          </a:p>
        </p:txBody>
      </p:sp>
      <p:sp>
        <p:nvSpPr>
          <p:cNvPr id="17" name="灯片编号占位符 16"/>
          <p:cNvSpPr>
            <a:spLocks noGrp="1"/>
          </p:cNvSpPr>
          <p:nvPr>
            <p:ph type="sldNum" sz="quarter" idx="12"/>
          </p:nvPr>
        </p:nvSpPr>
        <p:spPr/>
        <p:txBody>
          <a:bodyPr>
            <a:noAutofit/>
          </a:bodyPr>
          <a:lstStyle/>
          <a:p>
            <a:pPr algn="l" fontAlgn="auto"/>
            <a:fld id="{49AE70B2-8BF9-45C0-BB95-33D1B9D3A854}" type="slidenum">
              <a:rPr lang="zh-CN" altLang="en-US" sz="1800" strike="noStrike" noProof="1" smtClean="0">
                <a:solidFill>
                  <a:schemeClr val="tx1"/>
                </a:solidFill>
                <a:latin typeface="+mn-lt"/>
                <a:ea typeface="+mn-ea"/>
                <a:cs typeface="+mn-cs"/>
              </a:rPr>
            </a:fld>
            <a:endParaRPr lang="zh-CN" altLang="en-US" sz="1800" strike="noStrike" noProof="1">
              <a:solidFill>
                <a:schemeClr val="tx1"/>
              </a:solidFill>
              <a:latin typeface="+mn-lt"/>
              <a:ea typeface="+mn-ea"/>
              <a:cs typeface="+mn-cs"/>
            </a:endParaRPr>
          </a:p>
        </p:txBody>
      </p:sp>
      <p:sp>
        <p:nvSpPr>
          <p:cNvPr id="14" name="文本框 13"/>
          <p:cNvSpPr txBox="1"/>
          <p:nvPr/>
        </p:nvSpPr>
        <p:spPr>
          <a:xfrm>
            <a:off x="560171" y="870585"/>
            <a:ext cx="9086399" cy="661848"/>
          </a:xfrm>
          <a:prstGeom prst="rect">
            <a:avLst/>
          </a:prstGeom>
          <a:noFill/>
        </p:spPr>
        <p:txBody>
          <a:bodyPr wrap="square" rtlCol="0" anchor="t">
            <a:spAutoFit/>
          </a:bodyPr>
          <a:lstStyle/>
          <a:p>
            <a:pPr lvl="1" indent="-457200" defTabSz="914400" fontAlgn="base">
              <a:lnSpc>
                <a:spcPct val="150000"/>
              </a:lnSpc>
              <a:buFont typeface="Wingdings" panose="05000000000000000000" pitchFamily="2" charset="2"/>
              <a:buChar char="Ø"/>
            </a:pPr>
            <a:r>
              <a:rPr lang="en-US" altLang="zh-CN" sz="2800" dirty="0">
                <a:solidFill>
                  <a:sysClr val="windowText" lastClr="000000"/>
                </a:solidFill>
                <a:latin typeface="Arial" panose="020B0604020202090204" pitchFamily="34" charset="0"/>
                <a:ea typeface="微软雅黑" charset="-122"/>
                <a:sym typeface="+mn-ea"/>
              </a:rPr>
              <a:t>2</a:t>
            </a:r>
            <a:r>
              <a:rPr lang="zh-CN" altLang="en-US" sz="2800" dirty="0">
                <a:solidFill>
                  <a:sysClr val="windowText" lastClr="000000"/>
                </a:solidFill>
                <a:latin typeface="Arial" panose="020B0604020202090204" pitchFamily="34" charset="0"/>
                <a:ea typeface="微软雅黑" charset="-122"/>
                <a:sym typeface="+mn-ea"/>
              </a:rPr>
              <a:t>.</a:t>
            </a:r>
            <a:r>
              <a:rPr lang="en-US" altLang="zh-CN" sz="2800" dirty="0">
                <a:solidFill>
                  <a:sysClr val="windowText" lastClr="000000"/>
                </a:solidFill>
                <a:latin typeface="Arial" panose="020B0604020202090204" pitchFamily="34" charset="0"/>
                <a:ea typeface="微软雅黑" charset="-122"/>
                <a:sym typeface="+mn-ea"/>
              </a:rPr>
              <a:t>1  </a:t>
            </a:r>
            <a:r>
              <a:rPr lang="zh-CN" altLang="en-US" sz="2800" dirty="0">
                <a:solidFill>
                  <a:sysClr val="windowText" lastClr="000000"/>
                </a:solidFill>
                <a:latin typeface="Arial" panose="020B0604020202090204" pitchFamily="34" charset="0"/>
                <a:ea typeface="微软雅黑" charset="-122"/>
              </a:rPr>
              <a:t>加速扩散模型采样的通用方法</a:t>
            </a:r>
            <a:r>
              <a:rPr lang="en-US" altLang="zh-CN" sz="2800" dirty="0">
                <a:solidFill>
                  <a:sysClr val="windowText" lastClr="000000"/>
                </a:solidFill>
                <a:latin typeface="Arial" panose="020B0604020202090204" pitchFamily="34" charset="0"/>
                <a:ea typeface="微软雅黑" charset="-122"/>
                <a:sym typeface="+mn-ea"/>
              </a:rPr>
              <a:t>DDIM</a:t>
            </a:r>
            <a:endParaRPr lang="zh-CN" altLang="en-US" sz="2800" dirty="0">
              <a:solidFill>
                <a:sysClr val="windowText" lastClr="000000"/>
              </a:solidFill>
              <a:latin typeface="Arial" panose="020B0604020202090204" pitchFamily="34" charset="0"/>
              <a:ea typeface="微软雅黑" charset="-122"/>
              <a:sym typeface="+mn-ea"/>
            </a:endParaRPr>
          </a:p>
        </p:txBody>
      </p:sp>
      <p:pic>
        <p:nvPicPr>
          <p:cNvPr id="5" name="图片 4"/>
          <p:cNvPicPr>
            <a:picLocks noChangeAspect="1"/>
          </p:cNvPicPr>
          <p:nvPr/>
        </p:nvPicPr>
        <p:blipFill>
          <a:blip r:embed="rId6"/>
          <a:stretch>
            <a:fillRect/>
          </a:stretch>
        </p:blipFill>
        <p:spPr>
          <a:xfrm>
            <a:off x="905713" y="1861394"/>
            <a:ext cx="6474053" cy="3969106"/>
          </a:xfrm>
          <a:prstGeom prst="rect">
            <a:avLst/>
          </a:prstGeom>
        </p:spPr>
      </p:pic>
      <p:sp>
        <p:nvSpPr>
          <p:cNvPr id="18" name="文本框 17"/>
          <p:cNvSpPr txBox="1"/>
          <p:nvPr/>
        </p:nvSpPr>
        <p:spPr>
          <a:xfrm>
            <a:off x="1198973" y="1651114"/>
            <a:ext cx="6187904" cy="338554"/>
          </a:xfrm>
          <a:prstGeom prst="rect">
            <a:avLst/>
          </a:prstGeom>
          <a:noFill/>
        </p:spPr>
        <p:txBody>
          <a:bodyPr wrap="square">
            <a:spAutoFit/>
          </a:bodyPr>
          <a:lstStyle/>
          <a:p>
            <a:pPr marL="285750" indent="-285750">
              <a:buFont typeface="Arial" panose="020B0604020202090204" pitchFamily="34" charset="0"/>
              <a:buChar char="•"/>
            </a:pPr>
            <a:r>
              <a:rPr lang="zh-CN" altLang="en-US" sz="1600" dirty="0">
                <a:solidFill>
                  <a:schemeClr val="tx1">
                    <a:lumMod val="65000"/>
                    <a:lumOff val="35000"/>
                  </a:schemeClr>
                </a:solidFill>
                <a:latin typeface="微软雅黑" charset="-122"/>
                <a:ea typeface="微软雅黑" charset="-122"/>
              </a:rPr>
              <a:t>回顾</a:t>
            </a:r>
            <a:r>
              <a:rPr lang="en-US" altLang="zh-CN" sz="1600" dirty="0">
                <a:solidFill>
                  <a:schemeClr val="tx1">
                    <a:lumMod val="65000"/>
                    <a:lumOff val="35000"/>
                  </a:schemeClr>
                </a:solidFill>
                <a:latin typeface="微软雅黑" charset="-122"/>
                <a:ea typeface="微软雅黑" charset="-122"/>
              </a:rPr>
              <a:t>DDPM</a:t>
            </a:r>
            <a:endParaRPr lang="zh-CN" altLang="en-US" sz="1600" dirty="0">
              <a:solidFill>
                <a:schemeClr val="tx1">
                  <a:lumMod val="65000"/>
                  <a:lumOff val="35000"/>
                </a:schemeClr>
              </a:solidFill>
              <a:latin typeface="微软雅黑" charset="-122"/>
              <a:ea typeface="微软雅黑" charset="-122"/>
            </a:endParaRPr>
          </a:p>
        </p:txBody>
      </p:sp>
    </p:spTree>
    <p:custDataLst>
      <p:tags r:id="rId7"/>
    </p:custDataLst>
  </p:cSld>
  <p:clrMapOvr>
    <a:masterClrMapping/>
  </p:clrMapOvr>
  <p:transition advTm="58970"/>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图片 2" descr="剪影蓝 低版本"/>
          <p:cNvPicPr>
            <a:picLocks noChangeAspect="1"/>
          </p:cNvPicPr>
          <p:nvPr/>
        </p:nvPicPr>
        <p:blipFill>
          <a:blip r:embed="rId1"/>
          <a:srcRect l="-8"/>
          <a:stretch>
            <a:fillRect/>
          </a:stretch>
        </p:blipFill>
        <p:spPr>
          <a:xfrm>
            <a:off x="1505" y="5378386"/>
            <a:ext cx="12190495" cy="2438099"/>
          </a:xfrm>
          <a:prstGeom prst="rect">
            <a:avLst/>
          </a:prstGeom>
          <a:noFill/>
          <a:ln w="9525">
            <a:noFill/>
          </a:ln>
        </p:spPr>
      </p:pic>
      <p:sp>
        <p:nvSpPr>
          <p:cNvPr id="22" name="文本框 21"/>
          <p:cNvSpPr txBox="1"/>
          <p:nvPr/>
        </p:nvSpPr>
        <p:spPr>
          <a:xfrm>
            <a:off x="154297" y="-42999"/>
            <a:ext cx="552421" cy="874984"/>
          </a:xfrm>
          <a:prstGeom prst="rect">
            <a:avLst/>
          </a:prstGeom>
          <a:noFill/>
          <a:effectLst>
            <a:reflection blurRad="12700" stA="0" endPos="65000" dist="50800" dir="5400000" sy="-100000" algn="bl" rotWithShape="0"/>
          </a:effectLst>
        </p:spPr>
        <p:txBody>
          <a:bodyPr wrap="square" rtlCol="0">
            <a:noAutofit/>
          </a:bodyPr>
          <a:lstStyle/>
          <a:p>
            <a:r>
              <a:rPr lang="en-US" altLang="zh-CN" sz="5400" b="1" dirty="0">
                <a:solidFill>
                  <a:schemeClr val="bg1"/>
                </a:solidFill>
                <a:effectLst>
                  <a:glow>
                    <a:schemeClr val="accent1">
                      <a:alpha val="40000"/>
                    </a:schemeClr>
                  </a:glow>
                </a:effectLst>
                <a:latin typeface="Times New Roman" panose="02020503050405090304" charset="0"/>
                <a:ea typeface="微软雅黑" charset="-122"/>
                <a:cs typeface="Times New Roman" panose="02020503050405090304" charset="0"/>
              </a:rPr>
              <a:t>1</a:t>
            </a:r>
            <a:endParaRPr lang="en-US" altLang="zh-CN" sz="5400" b="1" dirty="0">
              <a:solidFill>
                <a:schemeClr val="bg1"/>
              </a:solidFill>
              <a:effectLst>
                <a:glow>
                  <a:schemeClr val="accent1">
                    <a:alpha val="40000"/>
                  </a:schemeClr>
                </a:glow>
              </a:effectLst>
              <a:latin typeface="Times New Roman" panose="02020503050405090304" charset="0"/>
              <a:ea typeface="微软雅黑" charset="-122"/>
              <a:cs typeface="Times New Roman" panose="02020503050405090304" charset="0"/>
            </a:endParaRPr>
          </a:p>
        </p:txBody>
      </p:sp>
      <p:sp>
        <p:nvSpPr>
          <p:cNvPr id="2" name="文本框 1"/>
          <p:cNvSpPr txBox="1"/>
          <p:nvPr/>
        </p:nvSpPr>
        <p:spPr>
          <a:xfrm>
            <a:off x="1094740" y="259715"/>
            <a:ext cx="6096000" cy="521970"/>
          </a:xfrm>
          <a:prstGeom prst="rect">
            <a:avLst/>
          </a:prstGeom>
          <a:noFill/>
        </p:spPr>
        <p:txBody>
          <a:bodyPr wrap="square" rtlCol="0" anchor="t">
            <a:spAutoFit/>
          </a:bodyPr>
          <a:lstStyle/>
          <a:p>
            <a:r>
              <a:rPr sz="2800" b="1">
                <a:solidFill>
                  <a:srgbClr val="000000"/>
                </a:solidFill>
                <a:latin typeface="微软雅黑" charset="-122"/>
                <a:ea typeface="微软雅黑" charset="-122"/>
                <a:cs typeface="微软雅黑" charset="-122"/>
                <a:sym typeface="+mn-ea"/>
              </a:rPr>
              <a:t>1.1 从变化率到梯度的直观引入</a:t>
            </a:r>
            <a:endParaRPr lang="zh-CN" altLang="en-US" sz="2800" b="1">
              <a:solidFill>
                <a:srgbClr val="000000"/>
              </a:solidFill>
              <a:latin typeface="微软雅黑" charset="-122"/>
              <a:ea typeface="微软雅黑" charset="-122"/>
              <a:cs typeface="微软雅黑" charset="-122"/>
              <a:sym typeface="+mn-ea"/>
            </a:endParaRPr>
          </a:p>
        </p:txBody>
      </p:sp>
      <p:sp>
        <p:nvSpPr>
          <p:cNvPr id="13" name="矩形 12"/>
          <p:cNvSpPr/>
          <p:nvPr>
            <p:custDataLst>
              <p:tags r:id="rId2"/>
            </p:custDataLst>
          </p:nvPr>
        </p:nvSpPr>
        <p:spPr>
          <a:xfrm>
            <a:off x="1353" y="600"/>
            <a:ext cx="12190495" cy="840002"/>
          </a:xfrm>
          <a:prstGeom prst="rect">
            <a:avLst/>
          </a:prstGeom>
          <a:gradFill>
            <a:gsLst>
              <a:gs pos="0">
                <a:schemeClr val="bg1"/>
              </a:gs>
              <a:gs pos="50000">
                <a:srgbClr val="5399D4"/>
              </a:gs>
              <a:gs pos="100000">
                <a:srgbClr val="2E3C63"/>
              </a:gs>
            </a:gsLst>
          </a:gradFill>
          <a:effectLst/>
        </p:spPr>
        <p:style>
          <a:lnRef idx="0">
            <a:srgbClr val="FFFFFF"/>
          </a:lnRef>
          <a:fillRef idx="2">
            <a:schemeClr val="accent1"/>
          </a:fillRef>
          <a:effectRef idx="1">
            <a:schemeClr val="accent1"/>
          </a:effectRef>
          <a:fontRef idx="minor">
            <a:schemeClr val="lt1"/>
          </a:fontRef>
        </p:style>
        <p:txBody>
          <a:bodyPr rtlCol="0" anchor="ctr"/>
          <a:lstStyle/>
          <a:p>
            <a:pPr algn="ctr" fontAlgn="base"/>
            <a:endParaRPr lang="zh-CN" altLang="en-US" sz="100" strike="noStrike" noProof="1"/>
          </a:p>
        </p:txBody>
      </p:sp>
      <p:pic>
        <p:nvPicPr>
          <p:cNvPr id="15" name="图片 14" descr="国科大标准Logo横式一（白色）"/>
          <p:cNvPicPr>
            <a:picLocks noChangeAspect="1"/>
          </p:cNvPicPr>
          <p:nvPr/>
        </p:nvPicPr>
        <p:blipFill>
          <a:blip r:embed="rId3"/>
          <a:stretch>
            <a:fillRect/>
          </a:stretch>
        </p:blipFill>
        <p:spPr>
          <a:xfrm>
            <a:off x="9815971" y="187901"/>
            <a:ext cx="2167622" cy="457144"/>
          </a:xfrm>
          <a:prstGeom prst="rect">
            <a:avLst/>
          </a:prstGeom>
        </p:spPr>
      </p:pic>
      <p:sp>
        <p:nvSpPr>
          <p:cNvPr id="3078" name="文本框 3"/>
          <p:cNvSpPr txBox="1"/>
          <p:nvPr>
            <p:custDataLst>
              <p:tags r:id="rId4"/>
            </p:custDataLst>
          </p:nvPr>
        </p:nvSpPr>
        <p:spPr>
          <a:xfrm>
            <a:off x="46644" y="-47231"/>
            <a:ext cx="850795" cy="919366"/>
          </a:xfrm>
          <a:prstGeom prst="rect">
            <a:avLst/>
          </a:prstGeom>
          <a:noFill/>
          <a:ln w="12700" cmpd="sng">
            <a:noFill/>
            <a:prstDash val="solid"/>
          </a:ln>
          <a:effectLst>
            <a:outerShdw dist="63500" dir="2700000" algn="tl" rotWithShape="0">
              <a:schemeClr val="bg1">
                <a:alpha val="100000"/>
              </a:schemeClr>
            </a:outerShdw>
          </a:effectLst>
        </p:spPr>
        <p:txBody>
          <a:bodyPr wrap="square" anchor="t" anchorCtr="0"/>
          <a:lstStyle/>
          <a:p>
            <a:pPr>
              <a:lnSpc>
                <a:spcPct val="130000"/>
              </a:lnSpc>
            </a:pPr>
            <a:r>
              <a:rPr lang="en-US" altLang="zh-CN" sz="4000" i="1" dirty="0">
                <a:ln w="19050">
                  <a:noFill/>
                </a:ln>
                <a:gradFill>
                  <a:gsLst>
                    <a:gs pos="39000">
                      <a:srgbClr val="5399D4"/>
                    </a:gs>
                    <a:gs pos="100000">
                      <a:schemeClr val="bg1"/>
                    </a:gs>
                  </a:gsLst>
                  <a:lin ang="5400000" scaled="0"/>
                </a:gradFill>
                <a:latin typeface="Bauhaus 93" panose="04030905020B02020C02" charset="0"/>
                <a:ea typeface="造字工房朗倩（非商用）常规体" charset="-122"/>
                <a:cs typeface="Bauhaus 93" panose="04030905020B02020C02" charset="0"/>
              </a:rPr>
              <a:t>02</a:t>
            </a:r>
            <a:endParaRPr lang="en-US" altLang="zh-CN" sz="4000" i="1" dirty="0">
              <a:ln w="19050">
                <a:noFill/>
              </a:ln>
              <a:gradFill>
                <a:gsLst>
                  <a:gs pos="39000">
                    <a:srgbClr val="5399D4"/>
                  </a:gs>
                  <a:gs pos="100000">
                    <a:schemeClr val="bg1"/>
                  </a:gs>
                </a:gsLst>
                <a:lin ang="5400000" scaled="0"/>
              </a:gradFill>
              <a:latin typeface="Bauhaus 93" panose="04030905020B02020C02" charset="0"/>
              <a:ea typeface="造字工房朗倩（非商用）常规体" charset="-122"/>
              <a:cs typeface="Bauhaus 93" panose="04030905020B02020C02" charset="0"/>
            </a:endParaRPr>
          </a:p>
        </p:txBody>
      </p:sp>
      <p:sp>
        <p:nvSpPr>
          <p:cNvPr id="16" name="文本框 15"/>
          <p:cNvSpPr txBox="1"/>
          <p:nvPr>
            <p:custDataLst>
              <p:tags r:id="rId5"/>
            </p:custDataLst>
          </p:nvPr>
        </p:nvSpPr>
        <p:spPr>
          <a:xfrm>
            <a:off x="897439" y="151711"/>
            <a:ext cx="8441283" cy="537779"/>
          </a:xfrm>
          <a:prstGeom prst="rect">
            <a:avLst/>
          </a:prstGeom>
          <a:noFill/>
        </p:spPr>
        <p:txBody>
          <a:bodyPr wrap="square" rtlCol="0">
            <a:noAutofit/>
          </a:bodyPr>
          <a:lstStyle/>
          <a:p>
            <a:r>
              <a:rPr lang="en-US" altLang="zh-CN" sz="3600" b="1" dirty="0">
                <a:solidFill>
                  <a:schemeClr val="tx1"/>
                </a:solidFill>
              </a:rPr>
              <a:t>Efficient Sampling and Inference</a:t>
            </a:r>
            <a:endParaRPr lang="zh-CN" altLang="en-US" sz="3600" b="1" dirty="0">
              <a:solidFill>
                <a:schemeClr val="tx1"/>
              </a:solidFill>
            </a:endParaRPr>
          </a:p>
          <a:p>
            <a:endParaRPr lang="zh-CN" altLang="en-US" sz="3600" b="1" dirty="0">
              <a:solidFill>
                <a:schemeClr val="tx1"/>
              </a:solidFill>
            </a:endParaRPr>
          </a:p>
        </p:txBody>
      </p:sp>
      <p:sp>
        <p:nvSpPr>
          <p:cNvPr id="17" name="灯片编号占位符 16"/>
          <p:cNvSpPr>
            <a:spLocks noGrp="1"/>
          </p:cNvSpPr>
          <p:nvPr>
            <p:ph type="sldNum" sz="quarter" idx="12"/>
          </p:nvPr>
        </p:nvSpPr>
        <p:spPr/>
        <p:txBody>
          <a:bodyPr>
            <a:noAutofit/>
          </a:bodyPr>
          <a:lstStyle/>
          <a:p>
            <a:pPr algn="l" fontAlgn="auto"/>
            <a:fld id="{49AE70B2-8BF9-45C0-BB95-33D1B9D3A854}" type="slidenum">
              <a:rPr lang="zh-CN" altLang="en-US" sz="1800" strike="noStrike" noProof="1" smtClean="0">
                <a:solidFill>
                  <a:schemeClr val="tx1"/>
                </a:solidFill>
                <a:latin typeface="+mn-lt"/>
                <a:ea typeface="+mn-ea"/>
                <a:cs typeface="+mn-cs"/>
              </a:rPr>
            </a:fld>
            <a:endParaRPr lang="zh-CN" altLang="en-US" sz="1800" strike="noStrike" noProof="1">
              <a:solidFill>
                <a:schemeClr val="tx1"/>
              </a:solidFill>
              <a:latin typeface="+mn-lt"/>
              <a:ea typeface="+mn-ea"/>
              <a:cs typeface="+mn-cs"/>
            </a:endParaRPr>
          </a:p>
        </p:txBody>
      </p:sp>
      <p:sp>
        <p:nvSpPr>
          <p:cNvPr id="14" name="文本框 13"/>
          <p:cNvSpPr txBox="1"/>
          <p:nvPr/>
        </p:nvSpPr>
        <p:spPr>
          <a:xfrm>
            <a:off x="560171" y="870585"/>
            <a:ext cx="9086399" cy="661848"/>
          </a:xfrm>
          <a:prstGeom prst="rect">
            <a:avLst/>
          </a:prstGeom>
          <a:noFill/>
        </p:spPr>
        <p:txBody>
          <a:bodyPr wrap="square" rtlCol="0" anchor="t">
            <a:spAutoFit/>
          </a:bodyPr>
          <a:lstStyle/>
          <a:p>
            <a:pPr lvl="1" indent="-457200" defTabSz="914400" fontAlgn="base">
              <a:lnSpc>
                <a:spcPct val="150000"/>
              </a:lnSpc>
              <a:buFont typeface="Wingdings" panose="05000000000000000000" pitchFamily="2" charset="2"/>
              <a:buChar char="Ø"/>
            </a:pPr>
            <a:r>
              <a:rPr lang="en-US" altLang="zh-CN" sz="2800" dirty="0">
                <a:solidFill>
                  <a:sysClr val="windowText" lastClr="000000"/>
                </a:solidFill>
                <a:latin typeface="Arial" panose="020B0604020202090204" pitchFamily="34" charset="0"/>
                <a:ea typeface="微软雅黑" charset="-122"/>
                <a:sym typeface="+mn-ea"/>
              </a:rPr>
              <a:t>2</a:t>
            </a:r>
            <a:r>
              <a:rPr lang="zh-CN" altLang="en-US" sz="2800" dirty="0">
                <a:solidFill>
                  <a:sysClr val="windowText" lastClr="000000"/>
                </a:solidFill>
                <a:latin typeface="Arial" panose="020B0604020202090204" pitchFamily="34" charset="0"/>
                <a:ea typeface="微软雅黑" charset="-122"/>
                <a:sym typeface="+mn-ea"/>
              </a:rPr>
              <a:t>.</a:t>
            </a:r>
            <a:r>
              <a:rPr lang="en-US" altLang="zh-CN" sz="2800" dirty="0">
                <a:solidFill>
                  <a:sysClr val="windowText" lastClr="000000"/>
                </a:solidFill>
                <a:latin typeface="Arial" panose="020B0604020202090204" pitchFamily="34" charset="0"/>
                <a:ea typeface="微软雅黑" charset="-122"/>
                <a:sym typeface="+mn-ea"/>
              </a:rPr>
              <a:t>1  </a:t>
            </a:r>
            <a:r>
              <a:rPr lang="zh-CN" altLang="en-US" sz="2800" dirty="0">
                <a:solidFill>
                  <a:sysClr val="windowText" lastClr="000000"/>
                </a:solidFill>
                <a:latin typeface="Arial" panose="020B0604020202090204" pitchFamily="34" charset="0"/>
                <a:ea typeface="微软雅黑" charset="-122"/>
              </a:rPr>
              <a:t>加速扩散模型采样的通用方法</a:t>
            </a:r>
            <a:r>
              <a:rPr lang="en-US" altLang="zh-CN" sz="2800" dirty="0">
                <a:solidFill>
                  <a:sysClr val="windowText" lastClr="000000"/>
                </a:solidFill>
                <a:latin typeface="Arial" panose="020B0604020202090204" pitchFamily="34" charset="0"/>
                <a:ea typeface="微软雅黑" charset="-122"/>
                <a:sym typeface="+mn-ea"/>
              </a:rPr>
              <a:t>DDIM</a:t>
            </a:r>
            <a:endParaRPr lang="zh-CN" altLang="en-US" sz="2800" dirty="0">
              <a:solidFill>
                <a:sysClr val="windowText" lastClr="000000"/>
              </a:solidFill>
              <a:latin typeface="Arial" panose="020B0604020202090204" pitchFamily="34" charset="0"/>
              <a:ea typeface="微软雅黑" charset="-122"/>
              <a:sym typeface="+mn-ea"/>
            </a:endParaRPr>
          </a:p>
        </p:txBody>
      </p:sp>
      <p:sp>
        <p:nvSpPr>
          <p:cNvPr id="18" name="文本框 17"/>
          <p:cNvSpPr txBox="1"/>
          <p:nvPr/>
        </p:nvSpPr>
        <p:spPr>
          <a:xfrm>
            <a:off x="1198973" y="1651114"/>
            <a:ext cx="6187904" cy="338554"/>
          </a:xfrm>
          <a:prstGeom prst="rect">
            <a:avLst/>
          </a:prstGeom>
          <a:noFill/>
        </p:spPr>
        <p:txBody>
          <a:bodyPr wrap="square">
            <a:spAutoFit/>
          </a:bodyPr>
          <a:lstStyle/>
          <a:p>
            <a:pPr marL="285750" indent="-285750">
              <a:buFont typeface="Arial" panose="020B0604020202090204" pitchFamily="34" charset="0"/>
              <a:buChar char="•"/>
            </a:pPr>
            <a:r>
              <a:rPr lang="zh-CN" altLang="en-US" sz="1600" dirty="0">
                <a:solidFill>
                  <a:schemeClr val="tx1">
                    <a:lumMod val="65000"/>
                    <a:lumOff val="35000"/>
                  </a:schemeClr>
                </a:solidFill>
                <a:latin typeface="微软雅黑" charset="-122"/>
                <a:ea typeface="微软雅黑" charset="-122"/>
              </a:rPr>
              <a:t>回顾</a:t>
            </a:r>
            <a:r>
              <a:rPr lang="en-US" altLang="zh-CN" sz="1600" dirty="0">
                <a:solidFill>
                  <a:schemeClr val="tx1">
                    <a:lumMod val="65000"/>
                    <a:lumOff val="35000"/>
                  </a:schemeClr>
                </a:solidFill>
                <a:latin typeface="微软雅黑" charset="-122"/>
                <a:ea typeface="微软雅黑" charset="-122"/>
              </a:rPr>
              <a:t>DDPM</a:t>
            </a:r>
            <a:endParaRPr lang="zh-CN" altLang="en-US" sz="1600" dirty="0">
              <a:solidFill>
                <a:schemeClr val="tx1">
                  <a:lumMod val="65000"/>
                  <a:lumOff val="35000"/>
                </a:schemeClr>
              </a:solidFill>
              <a:latin typeface="微软雅黑" charset="-122"/>
              <a:ea typeface="微软雅黑" charset="-122"/>
            </a:endParaRPr>
          </a:p>
        </p:txBody>
      </p:sp>
      <p:pic>
        <p:nvPicPr>
          <p:cNvPr id="4" name="图片 3"/>
          <p:cNvPicPr>
            <a:picLocks noChangeAspect="1"/>
          </p:cNvPicPr>
          <p:nvPr/>
        </p:nvPicPr>
        <p:blipFill>
          <a:blip r:embed="rId6"/>
          <a:stretch>
            <a:fillRect/>
          </a:stretch>
        </p:blipFill>
        <p:spPr>
          <a:xfrm>
            <a:off x="1637936" y="2239779"/>
            <a:ext cx="7575939" cy="3048157"/>
          </a:xfrm>
          <a:prstGeom prst="rect">
            <a:avLst/>
          </a:prstGeom>
        </p:spPr>
      </p:pic>
    </p:spTree>
    <p:custDataLst>
      <p:tags r:id="rId7"/>
    </p:custDataLst>
  </p:cSld>
  <p:clrMapOvr>
    <a:masterClrMapping/>
  </p:clrMapOvr>
  <p:transition advTm="58970"/>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图片 2" descr="剪影蓝 低版本"/>
          <p:cNvPicPr>
            <a:picLocks noChangeAspect="1"/>
          </p:cNvPicPr>
          <p:nvPr/>
        </p:nvPicPr>
        <p:blipFill>
          <a:blip r:embed="rId1"/>
          <a:srcRect l="-8"/>
          <a:stretch>
            <a:fillRect/>
          </a:stretch>
        </p:blipFill>
        <p:spPr>
          <a:xfrm>
            <a:off x="1505" y="5378386"/>
            <a:ext cx="12190495" cy="2438099"/>
          </a:xfrm>
          <a:prstGeom prst="rect">
            <a:avLst/>
          </a:prstGeom>
          <a:noFill/>
          <a:ln w="9525">
            <a:noFill/>
          </a:ln>
        </p:spPr>
      </p:pic>
      <p:sp>
        <p:nvSpPr>
          <p:cNvPr id="22" name="文本框 21"/>
          <p:cNvSpPr txBox="1"/>
          <p:nvPr/>
        </p:nvSpPr>
        <p:spPr>
          <a:xfrm>
            <a:off x="154297" y="-42999"/>
            <a:ext cx="552421" cy="874984"/>
          </a:xfrm>
          <a:prstGeom prst="rect">
            <a:avLst/>
          </a:prstGeom>
          <a:noFill/>
          <a:effectLst>
            <a:reflection blurRad="12700" stA="0" endPos="65000" dist="50800" dir="5400000" sy="-100000" algn="bl" rotWithShape="0"/>
          </a:effectLst>
        </p:spPr>
        <p:txBody>
          <a:bodyPr wrap="square" rtlCol="0">
            <a:noAutofit/>
          </a:bodyPr>
          <a:lstStyle/>
          <a:p>
            <a:r>
              <a:rPr lang="en-US" altLang="zh-CN" sz="5400" b="1" dirty="0">
                <a:solidFill>
                  <a:schemeClr val="bg1"/>
                </a:solidFill>
                <a:effectLst>
                  <a:glow>
                    <a:schemeClr val="accent1">
                      <a:alpha val="40000"/>
                    </a:schemeClr>
                  </a:glow>
                </a:effectLst>
                <a:latin typeface="Times New Roman" panose="02020503050405090304" charset="0"/>
                <a:ea typeface="微软雅黑" charset="-122"/>
                <a:cs typeface="Times New Roman" panose="02020503050405090304" charset="0"/>
              </a:rPr>
              <a:t>1</a:t>
            </a:r>
            <a:endParaRPr lang="en-US" altLang="zh-CN" sz="5400" b="1" dirty="0">
              <a:solidFill>
                <a:schemeClr val="bg1"/>
              </a:solidFill>
              <a:effectLst>
                <a:glow>
                  <a:schemeClr val="accent1">
                    <a:alpha val="40000"/>
                  </a:schemeClr>
                </a:glow>
              </a:effectLst>
              <a:latin typeface="Times New Roman" panose="02020503050405090304" charset="0"/>
              <a:ea typeface="微软雅黑" charset="-122"/>
              <a:cs typeface="Times New Roman" panose="02020503050405090304" charset="0"/>
            </a:endParaRPr>
          </a:p>
        </p:txBody>
      </p:sp>
      <p:sp>
        <p:nvSpPr>
          <p:cNvPr id="2" name="文本框 1"/>
          <p:cNvSpPr txBox="1"/>
          <p:nvPr/>
        </p:nvSpPr>
        <p:spPr>
          <a:xfrm>
            <a:off x="1094740" y="259715"/>
            <a:ext cx="6096000" cy="521970"/>
          </a:xfrm>
          <a:prstGeom prst="rect">
            <a:avLst/>
          </a:prstGeom>
          <a:noFill/>
        </p:spPr>
        <p:txBody>
          <a:bodyPr wrap="square" rtlCol="0" anchor="t">
            <a:spAutoFit/>
          </a:bodyPr>
          <a:lstStyle/>
          <a:p>
            <a:r>
              <a:rPr sz="2800" b="1">
                <a:solidFill>
                  <a:srgbClr val="000000"/>
                </a:solidFill>
                <a:latin typeface="微软雅黑" charset="-122"/>
                <a:ea typeface="微软雅黑" charset="-122"/>
                <a:cs typeface="微软雅黑" charset="-122"/>
                <a:sym typeface="+mn-ea"/>
              </a:rPr>
              <a:t>1.1 从变化率到梯度的直观引入</a:t>
            </a:r>
            <a:endParaRPr lang="zh-CN" altLang="en-US" sz="2800" b="1">
              <a:solidFill>
                <a:srgbClr val="000000"/>
              </a:solidFill>
              <a:latin typeface="微软雅黑" charset="-122"/>
              <a:ea typeface="微软雅黑" charset="-122"/>
              <a:cs typeface="微软雅黑" charset="-122"/>
              <a:sym typeface="+mn-ea"/>
            </a:endParaRPr>
          </a:p>
        </p:txBody>
      </p:sp>
      <p:sp>
        <p:nvSpPr>
          <p:cNvPr id="13" name="矩形 12"/>
          <p:cNvSpPr/>
          <p:nvPr>
            <p:custDataLst>
              <p:tags r:id="rId2"/>
            </p:custDataLst>
          </p:nvPr>
        </p:nvSpPr>
        <p:spPr>
          <a:xfrm>
            <a:off x="1353" y="600"/>
            <a:ext cx="12190495" cy="840002"/>
          </a:xfrm>
          <a:prstGeom prst="rect">
            <a:avLst/>
          </a:prstGeom>
          <a:gradFill>
            <a:gsLst>
              <a:gs pos="0">
                <a:schemeClr val="bg1"/>
              </a:gs>
              <a:gs pos="50000">
                <a:srgbClr val="5399D4"/>
              </a:gs>
              <a:gs pos="100000">
                <a:srgbClr val="2E3C63"/>
              </a:gs>
            </a:gsLst>
          </a:gradFill>
          <a:effectLst/>
        </p:spPr>
        <p:style>
          <a:lnRef idx="0">
            <a:srgbClr val="FFFFFF"/>
          </a:lnRef>
          <a:fillRef idx="2">
            <a:schemeClr val="accent1"/>
          </a:fillRef>
          <a:effectRef idx="1">
            <a:schemeClr val="accent1"/>
          </a:effectRef>
          <a:fontRef idx="minor">
            <a:schemeClr val="lt1"/>
          </a:fontRef>
        </p:style>
        <p:txBody>
          <a:bodyPr rtlCol="0" anchor="ctr"/>
          <a:lstStyle/>
          <a:p>
            <a:pPr algn="ctr" fontAlgn="base"/>
            <a:endParaRPr lang="zh-CN" altLang="en-US" sz="100" strike="noStrike" noProof="1"/>
          </a:p>
        </p:txBody>
      </p:sp>
      <p:pic>
        <p:nvPicPr>
          <p:cNvPr id="15" name="图片 14" descr="国科大标准Logo横式一（白色）"/>
          <p:cNvPicPr>
            <a:picLocks noChangeAspect="1"/>
          </p:cNvPicPr>
          <p:nvPr/>
        </p:nvPicPr>
        <p:blipFill>
          <a:blip r:embed="rId3"/>
          <a:stretch>
            <a:fillRect/>
          </a:stretch>
        </p:blipFill>
        <p:spPr>
          <a:xfrm>
            <a:off x="9815971" y="187901"/>
            <a:ext cx="2167622" cy="457144"/>
          </a:xfrm>
          <a:prstGeom prst="rect">
            <a:avLst/>
          </a:prstGeom>
        </p:spPr>
      </p:pic>
      <p:sp>
        <p:nvSpPr>
          <p:cNvPr id="3078" name="文本框 3"/>
          <p:cNvSpPr txBox="1"/>
          <p:nvPr>
            <p:custDataLst>
              <p:tags r:id="rId4"/>
            </p:custDataLst>
          </p:nvPr>
        </p:nvSpPr>
        <p:spPr>
          <a:xfrm>
            <a:off x="46644" y="-47231"/>
            <a:ext cx="850795" cy="919366"/>
          </a:xfrm>
          <a:prstGeom prst="rect">
            <a:avLst/>
          </a:prstGeom>
          <a:noFill/>
          <a:ln w="12700" cmpd="sng">
            <a:noFill/>
            <a:prstDash val="solid"/>
          </a:ln>
          <a:effectLst>
            <a:outerShdw dist="63500" dir="2700000" algn="tl" rotWithShape="0">
              <a:schemeClr val="bg1">
                <a:alpha val="100000"/>
              </a:schemeClr>
            </a:outerShdw>
          </a:effectLst>
        </p:spPr>
        <p:txBody>
          <a:bodyPr wrap="square" anchor="t" anchorCtr="0"/>
          <a:lstStyle/>
          <a:p>
            <a:pPr>
              <a:lnSpc>
                <a:spcPct val="130000"/>
              </a:lnSpc>
            </a:pPr>
            <a:r>
              <a:rPr lang="en-US" altLang="zh-CN" sz="4000" i="1" dirty="0">
                <a:ln w="19050">
                  <a:noFill/>
                </a:ln>
                <a:gradFill>
                  <a:gsLst>
                    <a:gs pos="39000">
                      <a:srgbClr val="5399D4"/>
                    </a:gs>
                    <a:gs pos="100000">
                      <a:schemeClr val="bg1"/>
                    </a:gs>
                  </a:gsLst>
                  <a:lin ang="5400000" scaled="0"/>
                </a:gradFill>
                <a:latin typeface="Bauhaus 93" panose="04030905020B02020C02" charset="0"/>
                <a:ea typeface="造字工房朗倩（非商用）常规体" charset="-122"/>
                <a:cs typeface="Bauhaus 93" panose="04030905020B02020C02" charset="0"/>
              </a:rPr>
              <a:t>02</a:t>
            </a:r>
            <a:endParaRPr lang="en-US" altLang="zh-CN" sz="4000" i="1" dirty="0">
              <a:ln w="19050">
                <a:noFill/>
              </a:ln>
              <a:gradFill>
                <a:gsLst>
                  <a:gs pos="39000">
                    <a:srgbClr val="5399D4"/>
                  </a:gs>
                  <a:gs pos="100000">
                    <a:schemeClr val="bg1"/>
                  </a:gs>
                </a:gsLst>
                <a:lin ang="5400000" scaled="0"/>
              </a:gradFill>
              <a:latin typeface="Bauhaus 93" panose="04030905020B02020C02" charset="0"/>
              <a:ea typeface="造字工房朗倩（非商用）常规体" charset="-122"/>
              <a:cs typeface="Bauhaus 93" panose="04030905020B02020C02" charset="0"/>
            </a:endParaRPr>
          </a:p>
        </p:txBody>
      </p:sp>
      <p:sp>
        <p:nvSpPr>
          <p:cNvPr id="16" name="文本框 15"/>
          <p:cNvSpPr txBox="1"/>
          <p:nvPr>
            <p:custDataLst>
              <p:tags r:id="rId5"/>
            </p:custDataLst>
          </p:nvPr>
        </p:nvSpPr>
        <p:spPr>
          <a:xfrm>
            <a:off x="897439" y="151711"/>
            <a:ext cx="8441283" cy="537779"/>
          </a:xfrm>
          <a:prstGeom prst="rect">
            <a:avLst/>
          </a:prstGeom>
          <a:noFill/>
        </p:spPr>
        <p:txBody>
          <a:bodyPr wrap="square" rtlCol="0">
            <a:noAutofit/>
          </a:bodyPr>
          <a:lstStyle/>
          <a:p>
            <a:r>
              <a:rPr lang="en-US" altLang="zh-CN" sz="3600" b="1" dirty="0">
                <a:solidFill>
                  <a:schemeClr val="tx1"/>
                </a:solidFill>
              </a:rPr>
              <a:t>Efficient Sampling and Inference</a:t>
            </a:r>
            <a:endParaRPr lang="zh-CN" altLang="en-US" sz="3600" b="1" dirty="0">
              <a:solidFill>
                <a:schemeClr val="tx1"/>
              </a:solidFill>
            </a:endParaRPr>
          </a:p>
          <a:p>
            <a:endParaRPr lang="zh-CN" altLang="en-US" sz="3600" b="1" dirty="0">
              <a:solidFill>
                <a:schemeClr val="tx1"/>
              </a:solidFill>
            </a:endParaRPr>
          </a:p>
        </p:txBody>
      </p:sp>
      <p:sp>
        <p:nvSpPr>
          <p:cNvPr id="17" name="灯片编号占位符 16"/>
          <p:cNvSpPr>
            <a:spLocks noGrp="1"/>
          </p:cNvSpPr>
          <p:nvPr>
            <p:ph type="sldNum" sz="quarter" idx="12"/>
          </p:nvPr>
        </p:nvSpPr>
        <p:spPr/>
        <p:txBody>
          <a:bodyPr>
            <a:noAutofit/>
          </a:bodyPr>
          <a:lstStyle/>
          <a:p>
            <a:pPr algn="l" fontAlgn="auto"/>
            <a:fld id="{49AE70B2-8BF9-45C0-BB95-33D1B9D3A854}" type="slidenum">
              <a:rPr lang="zh-CN" altLang="en-US" sz="1800" strike="noStrike" noProof="1" smtClean="0">
                <a:solidFill>
                  <a:schemeClr val="tx1"/>
                </a:solidFill>
                <a:latin typeface="+mn-lt"/>
                <a:ea typeface="+mn-ea"/>
                <a:cs typeface="+mn-cs"/>
              </a:rPr>
            </a:fld>
            <a:endParaRPr lang="zh-CN" altLang="en-US" sz="1800" strike="noStrike" noProof="1">
              <a:solidFill>
                <a:schemeClr val="tx1"/>
              </a:solidFill>
              <a:latin typeface="+mn-lt"/>
              <a:ea typeface="+mn-ea"/>
              <a:cs typeface="+mn-cs"/>
            </a:endParaRPr>
          </a:p>
        </p:txBody>
      </p:sp>
      <p:sp>
        <p:nvSpPr>
          <p:cNvPr id="14" name="文本框 13"/>
          <p:cNvSpPr txBox="1"/>
          <p:nvPr/>
        </p:nvSpPr>
        <p:spPr>
          <a:xfrm>
            <a:off x="560171" y="870585"/>
            <a:ext cx="9086399" cy="661848"/>
          </a:xfrm>
          <a:prstGeom prst="rect">
            <a:avLst/>
          </a:prstGeom>
          <a:noFill/>
        </p:spPr>
        <p:txBody>
          <a:bodyPr wrap="square" rtlCol="0" anchor="t">
            <a:spAutoFit/>
          </a:bodyPr>
          <a:lstStyle/>
          <a:p>
            <a:pPr lvl="1" indent="-457200" defTabSz="914400" fontAlgn="base">
              <a:lnSpc>
                <a:spcPct val="150000"/>
              </a:lnSpc>
              <a:buFont typeface="Wingdings" panose="05000000000000000000" pitchFamily="2" charset="2"/>
              <a:buChar char="Ø"/>
            </a:pPr>
            <a:r>
              <a:rPr lang="en-US" altLang="zh-CN" sz="2800" dirty="0">
                <a:solidFill>
                  <a:sysClr val="windowText" lastClr="000000"/>
                </a:solidFill>
                <a:latin typeface="Arial" panose="020B0604020202090204" pitchFamily="34" charset="0"/>
                <a:ea typeface="微软雅黑" charset="-122"/>
                <a:sym typeface="+mn-ea"/>
              </a:rPr>
              <a:t>2</a:t>
            </a:r>
            <a:r>
              <a:rPr lang="zh-CN" altLang="en-US" sz="2800" dirty="0">
                <a:solidFill>
                  <a:sysClr val="windowText" lastClr="000000"/>
                </a:solidFill>
                <a:latin typeface="Arial" panose="020B0604020202090204" pitchFamily="34" charset="0"/>
                <a:ea typeface="微软雅黑" charset="-122"/>
                <a:sym typeface="+mn-ea"/>
              </a:rPr>
              <a:t>.</a:t>
            </a:r>
            <a:r>
              <a:rPr lang="en-US" altLang="zh-CN" sz="2800" dirty="0">
                <a:solidFill>
                  <a:sysClr val="windowText" lastClr="000000"/>
                </a:solidFill>
                <a:latin typeface="Arial" panose="020B0604020202090204" pitchFamily="34" charset="0"/>
                <a:ea typeface="微软雅黑" charset="-122"/>
                <a:sym typeface="+mn-ea"/>
              </a:rPr>
              <a:t>1  </a:t>
            </a:r>
            <a:r>
              <a:rPr lang="zh-CN" altLang="en-US" sz="2800" dirty="0">
                <a:solidFill>
                  <a:sysClr val="windowText" lastClr="000000"/>
                </a:solidFill>
                <a:latin typeface="Arial" panose="020B0604020202090204" pitchFamily="34" charset="0"/>
                <a:ea typeface="微软雅黑" charset="-122"/>
              </a:rPr>
              <a:t>加速扩散模型采样的通用方法</a:t>
            </a:r>
            <a:r>
              <a:rPr lang="en-US" altLang="zh-CN" sz="2800" dirty="0">
                <a:solidFill>
                  <a:sysClr val="windowText" lastClr="000000"/>
                </a:solidFill>
                <a:latin typeface="Arial" panose="020B0604020202090204" pitchFamily="34" charset="0"/>
                <a:ea typeface="微软雅黑" charset="-122"/>
                <a:sym typeface="+mn-ea"/>
              </a:rPr>
              <a:t>DDIM</a:t>
            </a:r>
            <a:endParaRPr lang="zh-CN" altLang="en-US" sz="2800" dirty="0">
              <a:solidFill>
                <a:sysClr val="windowText" lastClr="000000"/>
              </a:solidFill>
              <a:latin typeface="Arial" panose="020B0604020202090204" pitchFamily="34" charset="0"/>
              <a:ea typeface="微软雅黑" charset="-122"/>
              <a:sym typeface="+mn-ea"/>
            </a:endParaRPr>
          </a:p>
        </p:txBody>
      </p:sp>
      <p:sp>
        <p:nvSpPr>
          <p:cNvPr id="18" name="文本框 17"/>
          <p:cNvSpPr txBox="1"/>
          <p:nvPr/>
        </p:nvSpPr>
        <p:spPr>
          <a:xfrm>
            <a:off x="1198973" y="1651114"/>
            <a:ext cx="6187904" cy="338554"/>
          </a:xfrm>
          <a:prstGeom prst="rect">
            <a:avLst/>
          </a:prstGeom>
          <a:noFill/>
        </p:spPr>
        <p:txBody>
          <a:bodyPr wrap="square">
            <a:spAutoFit/>
          </a:bodyPr>
          <a:lstStyle/>
          <a:p>
            <a:pPr marL="285750" indent="-285750">
              <a:buFont typeface="Arial" panose="020B0604020202090204" pitchFamily="34" charset="0"/>
              <a:buChar char="•"/>
            </a:pPr>
            <a:r>
              <a:rPr lang="zh-CN" altLang="en-US" sz="1600" dirty="0">
                <a:solidFill>
                  <a:schemeClr val="tx1">
                    <a:lumMod val="65000"/>
                    <a:lumOff val="35000"/>
                  </a:schemeClr>
                </a:solidFill>
                <a:latin typeface="微软雅黑" charset="-122"/>
                <a:ea typeface="微软雅黑" charset="-122"/>
              </a:rPr>
              <a:t>回顾</a:t>
            </a:r>
            <a:r>
              <a:rPr lang="en-US" altLang="zh-CN" sz="1600" dirty="0">
                <a:solidFill>
                  <a:schemeClr val="tx1">
                    <a:lumMod val="65000"/>
                    <a:lumOff val="35000"/>
                  </a:schemeClr>
                </a:solidFill>
                <a:latin typeface="微软雅黑" charset="-122"/>
                <a:ea typeface="微软雅黑" charset="-122"/>
              </a:rPr>
              <a:t>DDPM</a:t>
            </a:r>
            <a:endParaRPr lang="zh-CN" altLang="en-US" sz="1600" dirty="0">
              <a:solidFill>
                <a:schemeClr val="tx1">
                  <a:lumMod val="65000"/>
                  <a:lumOff val="35000"/>
                </a:schemeClr>
              </a:solidFill>
              <a:latin typeface="微软雅黑" charset="-122"/>
              <a:ea typeface="微软雅黑" charset="-122"/>
            </a:endParaRPr>
          </a:p>
        </p:txBody>
      </p:sp>
      <p:pic>
        <p:nvPicPr>
          <p:cNvPr id="5" name="图片 4"/>
          <p:cNvPicPr>
            <a:picLocks noChangeAspect="1"/>
          </p:cNvPicPr>
          <p:nvPr/>
        </p:nvPicPr>
        <p:blipFill>
          <a:blip r:embed="rId6"/>
          <a:stretch>
            <a:fillRect/>
          </a:stretch>
        </p:blipFill>
        <p:spPr>
          <a:xfrm>
            <a:off x="1925038" y="2209711"/>
            <a:ext cx="6611804" cy="1174990"/>
          </a:xfrm>
          <a:prstGeom prst="rect">
            <a:avLst/>
          </a:prstGeom>
        </p:spPr>
      </p:pic>
      <p:pic>
        <p:nvPicPr>
          <p:cNvPr id="7" name="图片 6"/>
          <p:cNvPicPr>
            <a:picLocks noChangeAspect="1"/>
          </p:cNvPicPr>
          <p:nvPr/>
        </p:nvPicPr>
        <p:blipFill>
          <a:blip r:embed="rId7"/>
          <a:stretch>
            <a:fillRect/>
          </a:stretch>
        </p:blipFill>
        <p:spPr>
          <a:xfrm>
            <a:off x="1915731" y="3279310"/>
            <a:ext cx="7448933" cy="1409772"/>
          </a:xfrm>
          <a:prstGeom prst="rect">
            <a:avLst/>
          </a:prstGeom>
        </p:spPr>
      </p:pic>
      <p:pic>
        <p:nvPicPr>
          <p:cNvPr id="9" name="图片 8"/>
          <p:cNvPicPr>
            <a:picLocks noChangeAspect="1"/>
          </p:cNvPicPr>
          <p:nvPr/>
        </p:nvPicPr>
        <p:blipFill>
          <a:blip r:embed="rId8"/>
          <a:stretch>
            <a:fillRect/>
          </a:stretch>
        </p:blipFill>
        <p:spPr>
          <a:xfrm>
            <a:off x="3392281" y="4839887"/>
            <a:ext cx="3529988" cy="700319"/>
          </a:xfrm>
          <a:prstGeom prst="rect">
            <a:avLst/>
          </a:prstGeom>
        </p:spPr>
      </p:pic>
      <p:sp>
        <p:nvSpPr>
          <p:cNvPr id="21" name="矩形 20"/>
          <p:cNvSpPr/>
          <p:nvPr/>
        </p:nvSpPr>
        <p:spPr>
          <a:xfrm>
            <a:off x="4572002" y="2511668"/>
            <a:ext cx="1863700" cy="61683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6493869" y="2320048"/>
            <a:ext cx="1644989" cy="37113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nvSpPr>
        <p:spPr>
          <a:xfrm>
            <a:off x="6493869" y="2786671"/>
            <a:ext cx="1729686" cy="37113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9"/>
    </p:custDataLst>
  </p:cSld>
  <p:clrMapOvr>
    <a:masterClrMapping/>
  </p:clrMapOvr>
  <p:transition advTm="58970"/>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图片 2" descr="剪影蓝 低版本"/>
          <p:cNvPicPr>
            <a:picLocks noChangeAspect="1"/>
          </p:cNvPicPr>
          <p:nvPr/>
        </p:nvPicPr>
        <p:blipFill>
          <a:blip r:embed="rId1"/>
          <a:srcRect l="-8"/>
          <a:stretch>
            <a:fillRect/>
          </a:stretch>
        </p:blipFill>
        <p:spPr>
          <a:xfrm>
            <a:off x="1505" y="5378386"/>
            <a:ext cx="12190495" cy="2438099"/>
          </a:xfrm>
          <a:prstGeom prst="rect">
            <a:avLst/>
          </a:prstGeom>
          <a:noFill/>
          <a:ln w="9525">
            <a:noFill/>
          </a:ln>
        </p:spPr>
      </p:pic>
      <p:sp>
        <p:nvSpPr>
          <p:cNvPr id="22" name="文本框 21"/>
          <p:cNvSpPr txBox="1"/>
          <p:nvPr/>
        </p:nvSpPr>
        <p:spPr>
          <a:xfrm>
            <a:off x="154297" y="-42999"/>
            <a:ext cx="552421" cy="874984"/>
          </a:xfrm>
          <a:prstGeom prst="rect">
            <a:avLst/>
          </a:prstGeom>
          <a:noFill/>
          <a:effectLst>
            <a:reflection blurRad="12700" stA="0" endPos="65000" dist="50800" dir="5400000" sy="-100000" algn="bl" rotWithShape="0"/>
          </a:effectLst>
        </p:spPr>
        <p:txBody>
          <a:bodyPr wrap="square" rtlCol="0">
            <a:noAutofit/>
          </a:bodyPr>
          <a:lstStyle/>
          <a:p>
            <a:r>
              <a:rPr lang="en-US" altLang="zh-CN" sz="5400" b="1" dirty="0">
                <a:solidFill>
                  <a:schemeClr val="bg1"/>
                </a:solidFill>
                <a:effectLst>
                  <a:glow>
                    <a:schemeClr val="accent1">
                      <a:alpha val="40000"/>
                    </a:schemeClr>
                  </a:glow>
                </a:effectLst>
                <a:latin typeface="Times New Roman" panose="02020503050405090304" charset="0"/>
                <a:ea typeface="微软雅黑" charset="-122"/>
                <a:cs typeface="Times New Roman" panose="02020503050405090304" charset="0"/>
              </a:rPr>
              <a:t>1</a:t>
            </a:r>
            <a:endParaRPr lang="en-US" altLang="zh-CN" sz="5400" b="1" dirty="0">
              <a:solidFill>
                <a:schemeClr val="bg1"/>
              </a:solidFill>
              <a:effectLst>
                <a:glow>
                  <a:schemeClr val="accent1">
                    <a:alpha val="40000"/>
                  </a:schemeClr>
                </a:glow>
              </a:effectLst>
              <a:latin typeface="Times New Roman" panose="02020503050405090304" charset="0"/>
              <a:ea typeface="微软雅黑" charset="-122"/>
              <a:cs typeface="Times New Roman" panose="02020503050405090304" charset="0"/>
            </a:endParaRPr>
          </a:p>
        </p:txBody>
      </p:sp>
      <p:sp>
        <p:nvSpPr>
          <p:cNvPr id="2" name="文本框 1"/>
          <p:cNvSpPr txBox="1"/>
          <p:nvPr/>
        </p:nvSpPr>
        <p:spPr>
          <a:xfrm>
            <a:off x="1094740" y="259715"/>
            <a:ext cx="6096000" cy="521970"/>
          </a:xfrm>
          <a:prstGeom prst="rect">
            <a:avLst/>
          </a:prstGeom>
          <a:noFill/>
        </p:spPr>
        <p:txBody>
          <a:bodyPr wrap="square" rtlCol="0" anchor="t">
            <a:spAutoFit/>
          </a:bodyPr>
          <a:lstStyle/>
          <a:p>
            <a:r>
              <a:rPr sz="2800" b="1">
                <a:solidFill>
                  <a:srgbClr val="000000"/>
                </a:solidFill>
                <a:latin typeface="微软雅黑" charset="-122"/>
                <a:ea typeface="微软雅黑" charset="-122"/>
                <a:cs typeface="微软雅黑" charset="-122"/>
                <a:sym typeface="+mn-ea"/>
              </a:rPr>
              <a:t>1.1 从变化率到梯度的直观引入</a:t>
            </a:r>
            <a:endParaRPr lang="zh-CN" altLang="en-US" sz="2800" b="1">
              <a:solidFill>
                <a:srgbClr val="000000"/>
              </a:solidFill>
              <a:latin typeface="微软雅黑" charset="-122"/>
              <a:ea typeface="微软雅黑" charset="-122"/>
              <a:cs typeface="微软雅黑" charset="-122"/>
              <a:sym typeface="+mn-ea"/>
            </a:endParaRPr>
          </a:p>
        </p:txBody>
      </p:sp>
      <p:sp>
        <p:nvSpPr>
          <p:cNvPr id="13" name="矩形 12"/>
          <p:cNvSpPr/>
          <p:nvPr>
            <p:custDataLst>
              <p:tags r:id="rId2"/>
            </p:custDataLst>
          </p:nvPr>
        </p:nvSpPr>
        <p:spPr>
          <a:xfrm>
            <a:off x="1353" y="600"/>
            <a:ext cx="12190495" cy="840002"/>
          </a:xfrm>
          <a:prstGeom prst="rect">
            <a:avLst/>
          </a:prstGeom>
          <a:gradFill>
            <a:gsLst>
              <a:gs pos="0">
                <a:schemeClr val="bg1"/>
              </a:gs>
              <a:gs pos="50000">
                <a:srgbClr val="5399D4"/>
              </a:gs>
              <a:gs pos="100000">
                <a:srgbClr val="2E3C63"/>
              </a:gs>
            </a:gsLst>
          </a:gradFill>
          <a:effectLst/>
        </p:spPr>
        <p:style>
          <a:lnRef idx="0">
            <a:srgbClr val="FFFFFF"/>
          </a:lnRef>
          <a:fillRef idx="2">
            <a:schemeClr val="accent1"/>
          </a:fillRef>
          <a:effectRef idx="1">
            <a:schemeClr val="accent1"/>
          </a:effectRef>
          <a:fontRef idx="minor">
            <a:schemeClr val="lt1"/>
          </a:fontRef>
        </p:style>
        <p:txBody>
          <a:bodyPr rtlCol="0" anchor="ctr"/>
          <a:lstStyle/>
          <a:p>
            <a:pPr algn="ctr" fontAlgn="base"/>
            <a:endParaRPr lang="zh-CN" altLang="en-US" sz="100" strike="noStrike" noProof="1"/>
          </a:p>
        </p:txBody>
      </p:sp>
      <p:pic>
        <p:nvPicPr>
          <p:cNvPr id="15" name="图片 14" descr="国科大标准Logo横式一（白色）"/>
          <p:cNvPicPr>
            <a:picLocks noChangeAspect="1"/>
          </p:cNvPicPr>
          <p:nvPr/>
        </p:nvPicPr>
        <p:blipFill>
          <a:blip r:embed="rId3"/>
          <a:stretch>
            <a:fillRect/>
          </a:stretch>
        </p:blipFill>
        <p:spPr>
          <a:xfrm>
            <a:off x="9815971" y="187901"/>
            <a:ext cx="2167622" cy="457144"/>
          </a:xfrm>
          <a:prstGeom prst="rect">
            <a:avLst/>
          </a:prstGeom>
        </p:spPr>
      </p:pic>
      <p:sp>
        <p:nvSpPr>
          <p:cNvPr id="3078" name="文本框 3"/>
          <p:cNvSpPr txBox="1"/>
          <p:nvPr>
            <p:custDataLst>
              <p:tags r:id="rId4"/>
            </p:custDataLst>
          </p:nvPr>
        </p:nvSpPr>
        <p:spPr>
          <a:xfrm>
            <a:off x="46644" y="-47231"/>
            <a:ext cx="850795" cy="919366"/>
          </a:xfrm>
          <a:prstGeom prst="rect">
            <a:avLst/>
          </a:prstGeom>
          <a:noFill/>
          <a:ln w="12700" cmpd="sng">
            <a:noFill/>
            <a:prstDash val="solid"/>
          </a:ln>
          <a:effectLst>
            <a:outerShdw dist="63500" dir="2700000" algn="tl" rotWithShape="0">
              <a:schemeClr val="bg1">
                <a:alpha val="100000"/>
              </a:schemeClr>
            </a:outerShdw>
          </a:effectLst>
        </p:spPr>
        <p:txBody>
          <a:bodyPr wrap="square" anchor="t" anchorCtr="0"/>
          <a:lstStyle/>
          <a:p>
            <a:pPr>
              <a:lnSpc>
                <a:spcPct val="130000"/>
              </a:lnSpc>
            </a:pPr>
            <a:r>
              <a:rPr lang="en-US" altLang="zh-CN" sz="4000" i="1" dirty="0">
                <a:ln w="19050">
                  <a:noFill/>
                </a:ln>
                <a:gradFill>
                  <a:gsLst>
                    <a:gs pos="39000">
                      <a:srgbClr val="5399D4"/>
                    </a:gs>
                    <a:gs pos="100000">
                      <a:schemeClr val="bg1"/>
                    </a:gs>
                  </a:gsLst>
                  <a:lin ang="5400000" scaled="0"/>
                </a:gradFill>
                <a:latin typeface="Bauhaus 93" panose="04030905020B02020C02" charset="0"/>
                <a:ea typeface="造字工房朗倩（非商用）常规体" charset="-122"/>
                <a:cs typeface="Bauhaus 93" panose="04030905020B02020C02" charset="0"/>
              </a:rPr>
              <a:t>02</a:t>
            </a:r>
            <a:endParaRPr lang="en-US" altLang="zh-CN" sz="4000" i="1" dirty="0">
              <a:ln w="19050">
                <a:noFill/>
              </a:ln>
              <a:gradFill>
                <a:gsLst>
                  <a:gs pos="39000">
                    <a:srgbClr val="5399D4"/>
                  </a:gs>
                  <a:gs pos="100000">
                    <a:schemeClr val="bg1"/>
                  </a:gs>
                </a:gsLst>
                <a:lin ang="5400000" scaled="0"/>
              </a:gradFill>
              <a:latin typeface="Bauhaus 93" panose="04030905020B02020C02" charset="0"/>
              <a:ea typeface="造字工房朗倩（非商用）常规体" charset="-122"/>
              <a:cs typeface="Bauhaus 93" panose="04030905020B02020C02" charset="0"/>
            </a:endParaRPr>
          </a:p>
        </p:txBody>
      </p:sp>
      <p:sp>
        <p:nvSpPr>
          <p:cNvPr id="16" name="文本框 15"/>
          <p:cNvSpPr txBox="1"/>
          <p:nvPr>
            <p:custDataLst>
              <p:tags r:id="rId5"/>
            </p:custDataLst>
          </p:nvPr>
        </p:nvSpPr>
        <p:spPr>
          <a:xfrm>
            <a:off x="897439" y="151711"/>
            <a:ext cx="8441283" cy="537779"/>
          </a:xfrm>
          <a:prstGeom prst="rect">
            <a:avLst/>
          </a:prstGeom>
          <a:noFill/>
        </p:spPr>
        <p:txBody>
          <a:bodyPr wrap="square" rtlCol="0">
            <a:noAutofit/>
          </a:bodyPr>
          <a:lstStyle/>
          <a:p>
            <a:r>
              <a:rPr lang="en-US" altLang="zh-CN" sz="3600" b="1" dirty="0">
                <a:solidFill>
                  <a:schemeClr val="tx1"/>
                </a:solidFill>
              </a:rPr>
              <a:t>Efficient Sampling and Inference</a:t>
            </a:r>
            <a:endParaRPr lang="zh-CN" altLang="en-US" sz="3600" b="1" dirty="0">
              <a:solidFill>
                <a:schemeClr val="tx1"/>
              </a:solidFill>
            </a:endParaRPr>
          </a:p>
          <a:p>
            <a:endParaRPr lang="zh-CN" altLang="en-US" sz="3600" b="1" dirty="0">
              <a:solidFill>
                <a:schemeClr val="tx1"/>
              </a:solidFill>
            </a:endParaRPr>
          </a:p>
        </p:txBody>
      </p:sp>
      <p:sp>
        <p:nvSpPr>
          <p:cNvPr id="17" name="灯片编号占位符 16"/>
          <p:cNvSpPr>
            <a:spLocks noGrp="1"/>
          </p:cNvSpPr>
          <p:nvPr>
            <p:ph type="sldNum" sz="quarter" idx="12"/>
          </p:nvPr>
        </p:nvSpPr>
        <p:spPr/>
        <p:txBody>
          <a:bodyPr>
            <a:noAutofit/>
          </a:bodyPr>
          <a:lstStyle/>
          <a:p>
            <a:pPr algn="l" fontAlgn="auto"/>
            <a:fld id="{49AE70B2-8BF9-45C0-BB95-33D1B9D3A854}" type="slidenum">
              <a:rPr lang="zh-CN" altLang="en-US" sz="1800" strike="noStrike" noProof="1" smtClean="0">
                <a:solidFill>
                  <a:schemeClr val="tx1"/>
                </a:solidFill>
                <a:latin typeface="+mn-lt"/>
                <a:ea typeface="+mn-ea"/>
                <a:cs typeface="+mn-cs"/>
              </a:rPr>
            </a:fld>
            <a:endParaRPr lang="zh-CN" altLang="en-US" sz="1800" strike="noStrike" noProof="1">
              <a:solidFill>
                <a:schemeClr val="tx1"/>
              </a:solidFill>
              <a:latin typeface="+mn-lt"/>
              <a:ea typeface="+mn-ea"/>
              <a:cs typeface="+mn-cs"/>
            </a:endParaRPr>
          </a:p>
        </p:txBody>
      </p:sp>
      <p:sp>
        <p:nvSpPr>
          <p:cNvPr id="14" name="文本框 13"/>
          <p:cNvSpPr txBox="1"/>
          <p:nvPr/>
        </p:nvSpPr>
        <p:spPr>
          <a:xfrm>
            <a:off x="560171" y="870585"/>
            <a:ext cx="9086399" cy="661848"/>
          </a:xfrm>
          <a:prstGeom prst="rect">
            <a:avLst/>
          </a:prstGeom>
          <a:noFill/>
        </p:spPr>
        <p:txBody>
          <a:bodyPr wrap="square" rtlCol="0" anchor="t">
            <a:spAutoFit/>
          </a:bodyPr>
          <a:lstStyle/>
          <a:p>
            <a:pPr lvl="1" indent="-457200" defTabSz="914400" fontAlgn="base">
              <a:lnSpc>
                <a:spcPct val="150000"/>
              </a:lnSpc>
              <a:buFont typeface="Wingdings" panose="05000000000000000000" pitchFamily="2" charset="2"/>
              <a:buChar char="Ø"/>
            </a:pPr>
            <a:r>
              <a:rPr lang="en-US" altLang="zh-CN" sz="2800" dirty="0">
                <a:solidFill>
                  <a:sysClr val="windowText" lastClr="000000"/>
                </a:solidFill>
                <a:latin typeface="Arial" panose="020B0604020202090204" pitchFamily="34" charset="0"/>
                <a:ea typeface="微软雅黑" charset="-122"/>
                <a:sym typeface="+mn-ea"/>
              </a:rPr>
              <a:t>2</a:t>
            </a:r>
            <a:r>
              <a:rPr lang="zh-CN" altLang="en-US" sz="2800" dirty="0">
                <a:solidFill>
                  <a:sysClr val="windowText" lastClr="000000"/>
                </a:solidFill>
                <a:latin typeface="Arial" panose="020B0604020202090204" pitchFamily="34" charset="0"/>
                <a:ea typeface="微软雅黑" charset="-122"/>
                <a:sym typeface="+mn-ea"/>
              </a:rPr>
              <a:t>.</a:t>
            </a:r>
            <a:r>
              <a:rPr lang="en-US" altLang="zh-CN" sz="2800" dirty="0">
                <a:solidFill>
                  <a:sysClr val="windowText" lastClr="000000"/>
                </a:solidFill>
                <a:latin typeface="Arial" panose="020B0604020202090204" pitchFamily="34" charset="0"/>
                <a:ea typeface="微软雅黑" charset="-122"/>
                <a:sym typeface="+mn-ea"/>
              </a:rPr>
              <a:t>1  </a:t>
            </a:r>
            <a:r>
              <a:rPr lang="zh-CN" altLang="en-US" sz="2800" dirty="0">
                <a:solidFill>
                  <a:sysClr val="windowText" lastClr="000000"/>
                </a:solidFill>
                <a:latin typeface="Arial" panose="020B0604020202090204" pitchFamily="34" charset="0"/>
                <a:ea typeface="微软雅黑" charset="-122"/>
              </a:rPr>
              <a:t>加速扩散模型采样的通用方法</a:t>
            </a:r>
            <a:r>
              <a:rPr lang="en-US" altLang="zh-CN" sz="2800" dirty="0">
                <a:solidFill>
                  <a:sysClr val="windowText" lastClr="000000"/>
                </a:solidFill>
                <a:latin typeface="Arial" panose="020B0604020202090204" pitchFamily="34" charset="0"/>
                <a:ea typeface="微软雅黑" charset="-122"/>
                <a:sym typeface="+mn-ea"/>
              </a:rPr>
              <a:t>DDIM</a:t>
            </a:r>
            <a:endParaRPr lang="zh-CN" altLang="en-US" sz="2800" dirty="0">
              <a:solidFill>
                <a:sysClr val="windowText" lastClr="000000"/>
              </a:solidFill>
              <a:latin typeface="Arial" panose="020B0604020202090204" pitchFamily="34" charset="0"/>
              <a:ea typeface="微软雅黑" charset="-122"/>
              <a:sym typeface="+mn-ea"/>
            </a:endParaRPr>
          </a:p>
        </p:txBody>
      </p:sp>
      <p:sp>
        <p:nvSpPr>
          <p:cNvPr id="18" name="文本框 17"/>
          <p:cNvSpPr txBox="1"/>
          <p:nvPr/>
        </p:nvSpPr>
        <p:spPr>
          <a:xfrm>
            <a:off x="1198973" y="1651114"/>
            <a:ext cx="6187904" cy="338554"/>
          </a:xfrm>
          <a:prstGeom prst="rect">
            <a:avLst/>
          </a:prstGeom>
          <a:noFill/>
        </p:spPr>
        <p:txBody>
          <a:bodyPr wrap="square">
            <a:spAutoFit/>
          </a:bodyPr>
          <a:lstStyle/>
          <a:p>
            <a:pPr marL="285750" indent="-285750">
              <a:buFont typeface="Arial" panose="020B0604020202090204" pitchFamily="34" charset="0"/>
              <a:buChar char="•"/>
            </a:pPr>
            <a:r>
              <a:rPr lang="zh-CN" altLang="en-US" sz="1600" dirty="0">
                <a:solidFill>
                  <a:schemeClr val="tx1">
                    <a:lumMod val="65000"/>
                    <a:lumOff val="35000"/>
                  </a:schemeClr>
                </a:solidFill>
                <a:latin typeface="微软雅黑" charset="-122"/>
                <a:ea typeface="微软雅黑" charset="-122"/>
              </a:rPr>
              <a:t>回顾</a:t>
            </a:r>
            <a:r>
              <a:rPr lang="en-US" altLang="zh-CN" sz="1600" dirty="0">
                <a:solidFill>
                  <a:schemeClr val="tx1">
                    <a:lumMod val="65000"/>
                    <a:lumOff val="35000"/>
                  </a:schemeClr>
                </a:solidFill>
                <a:latin typeface="微软雅黑" charset="-122"/>
                <a:ea typeface="微软雅黑" charset="-122"/>
              </a:rPr>
              <a:t>DDPM</a:t>
            </a:r>
            <a:endParaRPr lang="zh-CN" altLang="en-US" sz="1600" dirty="0">
              <a:solidFill>
                <a:schemeClr val="tx1">
                  <a:lumMod val="65000"/>
                  <a:lumOff val="35000"/>
                </a:schemeClr>
              </a:solidFill>
              <a:latin typeface="微软雅黑" charset="-122"/>
              <a:ea typeface="微软雅黑" charset="-122"/>
            </a:endParaRPr>
          </a:p>
        </p:txBody>
      </p:sp>
      <p:pic>
        <p:nvPicPr>
          <p:cNvPr id="4" name="图片 3"/>
          <p:cNvPicPr>
            <a:picLocks noChangeAspect="1"/>
          </p:cNvPicPr>
          <p:nvPr/>
        </p:nvPicPr>
        <p:blipFill>
          <a:blip r:embed="rId6"/>
          <a:stretch>
            <a:fillRect/>
          </a:stretch>
        </p:blipFill>
        <p:spPr>
          <a:xfrm>
            <a:off x="1094740" y="3017111"/>
            <a:ext cx="8566590" cy="704886"/>
          </a:xfrm>
          <a:prstGeom prst="rect">
            <a:avLst/>
          </a:prstGeom>
        </p:spPr>
      </p:pic>
      <p:sp>
        <p:nvSpPr>
          <p:cNvPr id="20" name="TextBox 4"/>
          <p:cNvSpPr txBox="1"/>
          <p:nvPr/>
        </p:nvSpPr>
        <p:spPr>
          <a:xfrm>
            <a:off x="1198973" y="2100481"/>
            <a:ext cx="9563953" cy="361637"/>
          </a:xfrm>
          <a:prstGeom prst="rect">
            <a:avLst/>
          </a:prstGeom>
          <a:noFill/>
        </p:spPr>
        <p:txBody>
          <a:bodyPr wrap="square" lIns="73152" tIns="54864" rIns="73152" bIns="54864" anchor="ctr">
            <a:spAutoFit/>
          </a:bodyPr>
          <a:lstStyle/>
          <a:p>
            <a:pPr marL="285750" indent="-285750">
              <a:lnSpc>
                <a:spcPts val="2080"/>
              </a:lnSpc>
              <a:buFont typeface="Arial" panose="020B0604020202090204" pitchFamily="34" charset="0"/>
              <a:buChar char="•"/>
            </a:pPr>
            <a:r>
              <a:rPr lang="zh-CN" altLang="en-US" sz="1600" dirty="0">
                <a:solidFill>
                  <a:schemeClr val="tx1">
                    <a:lumMod val="65000"/>
                    <a:lumOff val="35000"/>
                  </a:schemeClr>
                </a:solidFill>
                <a:latin typeface="微软雅黑" charset="-122"/>
                <a:ea typeface="微软雅黑" charset="-122"/>
              </a:rPr>
              <a:t>由上页推导可知</a:t>
            </a:r>
            <a:r>
              <a:rPr lang="en-US" altLang="zh-CN" sz="1600" dirty="0">
                <a:solidFill>
                  <a:schemeClr val="tx1">
                    <a:lumMod val="65000"/>
                    <a:lumOff val="35000"/>
                  </a:schemeClr>
                </a:solidFill>
                <a:latin typeface="微软雅黑" charset="-122"/>
                <a:ea typeface="微软雅黑" charset="-122"/>
              </a:rPr>
              <a:t>q(xt-1 | xt,x0)</a:t>
            </a:r>
            <a:r>
              <a:rPr lang="zh-CN" altLang="en-US" sz="1600" dirty="0">
                <a:solidFill>
                  <a:schemeClr val="tx1">
                    <a:lumMod val="65000"/>
                    <a:lumOff val="35000"/>
                  </a:schemeClr>
                </a:solidFill>
                <a:latin typeface="微软雅黑" charset="-122"/>
                <a:ea typeface="微软雅黑" charset="-122"/>
              </a:rPr>
              <a:t>只含有一个未知变量，训练目标的推理过程可以总结为：</a:t>
            </a:r>
            <a:endParaRPr lang="en-US" altLang="zh-CN" sz="1600" dirty="0">
              <a:solidFill>
                <a:schemeClr val="tx1">
                  <a:lumMod val="65000"/>
                  <a:lumOff val="35000"/>
                </a:schemeClr>
              </a:solidFill>
              <a:latin typeface="微软雅黑" charset="-122"/>
              <a:ea typeface="微软雅黑" charset="-122"/>
            </a:endParaRPr>
          </a:p>
        </p:txBody>
      </p:sp>
    </p:spTree>
    <p:custDataLst>
      <p:tags r:id="rId7"/>
    </p:custDataLst>
  </p:cSld>
  <p:clrMapOvr>
    <a:masterClrMapping/>
  </p:clrMapOvr>
  <p:transition advTm="58970"/>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 name="图片 32"/>
          <p:cNvPicPr>
            <a:picLocks noChangeAspect="1"/>
          </p:cNvPicPr>
          <p:nvPr/>
        </p:nvPicPr>
        <p:blipFill>
          <a:blip r:embed="rId1"/>
          <a:stretch>
            <a:fillRect/>
          </a:stretch>
        </p:blipFill>
        <p:spPr>
          <a:xfrm>
            <a:off x="2210523" y="4723948"/>
            <a:ext cx="5448580" cy="1346269"/>
          </a:xfrm>
          <a:prstGeom prst="rect">
            <a:avLst/>
          </a:prstGeom>
        </p:spPr>
      </p:pic>
      <p:pic>
        <p:nvPicPr>
          <p:cNvPr id="3074" name="图片 2" descr="剪影蓝 低版本"/>
          <p:cNvPicPr>
            <a:picLocks noChangeAspect="1"/>
          </p:cNvPicPr>
          <p:nvPr/>
        </p:nvPicPr>
        <p:blipFill>
          <a:blip r:embed="rId2"/>
          <a:srcRect l="-8"/>
          <a:stretch>
            <a:fillRect/>
          </a:stretch>
        </p:blipFill>
        <p:spPr>
          <a:xfrm>
            <a:off x="0" y="5378386"/>
            <a:ext cx="12190495" cy="2438099"/>
          </a:xfrm>
          <a:prstGeom prst="rect">
            <a:avLst/>
          </a:prstGeom>
          <a:noFill/>
          <a:ln w="9525">
            <a:noFill/>
          </a:ln>
        </p:spPr>
      </p:pic>
      <p:sp>
        <p:nvSpPr>
          <p:cNvPr id="22" name="文本框 21"/>
          <p:cNvSpPr txBox="1"/>
          <p:nvPr/>
        </p:nvSpPr>
        <p:spPr>
          <a:xfrm>
            <a:off x="154297" y="-42999"/>
            <a:ext cx="552421" cy="874984"/>
          </a:xfrm>
          <a:prstGeom prst="rect">
            <a:avLst/>
          </a:prstGeom>
          <a:noFill/>
          <a:effectLst>
            <a:reflection blurRad="12700" stA="0" endPos="65000" dist="50800" dir="5400000" sy="-100000" algn="bl" rotWithShape="0"/>
          </a:effectLst>
        </p:spPr>
        <p:txBody>
          <a:bodyPr wrap="square" rtlCol="0">
            <a:noAutofit/>
          </a:bodyPr>
          <a:lstStyle/>
          <a:p>
            <a:r>
              <a:rPr lang="en-US" altLang="zh-CN" sz="5400" b="1" dirty="0">
                <a:solidFill>
                  <a:schemeClr val="bg1"/>
                </a:solidFill>
                <a:effectLst>
                  <a:glow>
                    <a:schemeClr val="accent1">
                      <a:alpha val="40000"/>
                    </a:schemeClr>
                  </a:glow>
                </a:effectLst>
                <a:latin typeface="Times New Roman" panose="02020503050405090304" charset="0"/>
                <a:ea typeface="微软雅黑" charset="-122"/>
                <a:cs typeface="Times New Roman" panose="02020503050405090304" charset="0"/>
              </a:rPr>
              <a:t>1</a:t>
            </a:r>
            <a:endParaRPr lang="en-US" altLang="zh-CN" sz="5400" b="1" dirty="0">
              <a:solidFill>
                <a:schemeClr val="bg1"/>
              </a:solidFill>
              <a:effectLst>
                <a:glow>
                  <a:schemeClr val="accent1">
                    <a:alpha val="40000"/>
                  </a:schemeClr>
                </a:glow>
              </a:effectLst>
              <a:latin typeface="Times New Roman" panose="02020503050405090304" charset="0"/>
              <a:ea typeface="微软雅黑" charset="-122"/>
              <a:cs typeface="Times New Roman" panose="02020503050405090304" charset="0"/>
            </a:endParaRPr>
          </a:p>
        </p:txBody>
      </p:sp>
      <p:sp>
        <p:nvSpPr>
          <p:cNvPr id="2" name="文本框 1"/>
          <p:cNvSpPr txBox="1"/>
          <p:nvPr/>
        </p:nvSpPr>
        <p:spPr>
          <a:xfrm>
            <a:off x="1094740" y="259715"/>
            <a:ext cx="6096000" cy="521970"/>
          </a:xfrm>
          <a:prstGeom prst="rect">
            <a:avLst/>
          </a:prstGeom>
          <a:noFill/>
        </p:spPr>
        <p:txBody>
          <a:bodyPr wrap="square" rtlCol="0" anchor="t">
            <a:spAutoFit/>
          </a:bodyPr>
          <a:lstStyle/>
          <a:p>
            <a:r>
              <a:rPr sz="2800" b="1">
                <a:solidFill>
                  <a:srgbClr val="000000"/>
                </a:solidFill>
                <a:latin typeface="微软雅黑" charset="-122"/>
                <a:ea typeface="微软雅黑" charset="-122"/>
                <a:cs typeface="微软雅黑" charset="-122"/>
                <a:sym typeface="+mn-ea"/>
              </a:rPr>
              <a:t>1.1 从变化率到梯度的直观引入</a:t>
            </a:r>
            <a:endParaRPr lang="zh-CN" altLang="en-US" sz="2800" b="1">
              <a:solidFill>
                <a:srgbClr val="000000"/>
              </a:solidFill>
              <a:latin typeface="微软雅黑" charset="-122"/>
              <a:ea typeface="微软雅黑" charset="-122"/>
              <a:cs typeface="微软雅黑" charset="-122"/>
              <a:sym typeface="+mn-ea"/>
            </a:endParaRPr>
          </a:p>
        </p:txBody>
      </p:sp>
      <p:sp>
        <p:nvSpPr>
          <p:cNvPr id="13" name="矩形 12"/>
          <p:cNvSpPr/>
          <p:nvPr>
            <p:custDataLst>
              <p:tags r:id="rId3"/>
            </p:custDataLst>
          </p:nvPr>
        </p:nvSpPr>
        <p:spPr>
          <a:xfrm>
            <a:off x="1353" y="600"/>
            <a:ext cx="12190495" cy="840002"/>
          </a:xfrm>
          <a:prstGeom prst="rect">
            <a:avLst/>
          </a:prstGeom>
          <a:gradFill>
            <a:gsLst>
              <a:gs pos="0">
                <a:schemeClr val="bg1"/>
              </a:gs>
              <a:gs pos="50000">
                <a:srgbClr val="5399D4"/>
              </a:gs>
              <a:gs pos="100000">
                <a:srgbClr val="2E3C63"/>
              </a:gs>
            </a:gsLst>
          </a:gradFill>
          <a:effectLst/>
        </p:spPr>
        <p:style>
          <a:lnRef idx="0">
            <a:srgbClr val="FFFFFF"/>
          </a:lnRef>
          <a:fillRef idx="2">
            <a:schemeClr val="accent1"/>
          </a:fillRef>
          <a:effectRef idx="1">
            <a:schemeClr val="accent1"/>
          </a:effectRef>
          <a:fontRef idx="minor">
            <a:schemeClr val="lt1"/>
          </a:fontRef>
        </p:style>
        <p:txBody>
          <a:bodyPr rtlCol="0" anchor="ctr"/>
          <a:lstStyle/>
          <a:p>
            <a:pPr algn="ctr" fontAlgn="base"/>
            <a:endParaRPr lang="zh-CN" altLang="en-US" sz="100" strike="noStrike" noProof="1"/>
          </a:p>
        </p:txBody>
      </p:sp>
      <p:pic>
        <p:nvPicPr>
          <p:cNvPr id="15" name="图片 14" descr="国科大标准Logo横式一（白色）"/>
          <p:cNvPicPr>
            <a:picLocks noChangeAspect="1"/>
          </p:cNvPicPr>
          <p:nvPr/>
        </p:nvPicPr>
        <p:blipFill>
          <a:blip r:embed="rId4"/>
          <a:stretch>
            <a:fillRect/>
          </a:stretch>
        </p:blipFill>
        <p:spPr>
          <a:xfrm>
            <a:off x="9815971" y="187901"/>
            <a:ext cx="2167622" cy="457144"/>
          </a:xfrm>
          <a:prstGeom prst="rect">
            <a:avLst/>
          </a:prstGeom>
        </p:spPr>
      </p:pic>
      <p:sp>
        <p:nvSpPr>
          <p:cNvPr id="3078" name="文本框 3"/>
          <p:cNvSpPr txBox="1"/>
          <p:nvPr>
            <p:custDataLst>
              <p:tags r:id="rId5"/>
            </p:custDataLst>
          </p:nvPr>
        </p:nvSpPr>
        <p:spPr>
          <a:xfrm>
            <a:off x="46644" y="-47231"/>
            <a:ext cx="850795" cy="919366"/>
          </a:xfrm>
          <a:prstGeom prst="rect">
            <a:avLst/>
          </a:prstGeom>
          <a:noFill/>
          <a:ln w="12700" cmpd="sng">
            <a:noFill/>
            <a:prstDash val="solid"/>
          </a:ln>
          <a:effectLst>
            <a:outerShdw dist="63500" dir="2700000" algn="tl" rotWithShape="0">
              <a:schemeClr val="bg1">
                <a:alpha val="100000"/>
              </a:schemeClr>
            </a:outerShdw>
          </a:effectLst>
        </p:spPr>
        <p:txBody>
          <a:bodyPr wrap="square" anchor="t" anchorCtr="0"/>
          <a:lstStyle/>
          <a:p>
            <a:pPr>
              <a:lnSpc>
                <a:spcPct val="130000"/>
              </a:lnSpc>
            </a:pPr>
            <a:r>
              <a:rPr lang="en-US" altLang="zh-CN" sz="4000" i="1" dirty="0">
                <a:ln w="19050">
                  <a:noFill/>
                </a:ln>
                <a:gradFill>
                  <a:gsLst>
                    <a:gs pos="39000">
                      <a:srgbClr val="5399D4"/>
                    </a:gs>
                    <a:gs pos="100000">
                      <a:schemeClr val="bg1"/>
                    </a:gs>
                  </a:gsLst>
                  <a:lin ang="5400000" scaled="0"/>
                </a:gradFill>
                <a:latin typeface="Bauhaus 93" panose="04030905020B02020C02" charset="0"/>
                <a:ea typeface="造字工房朗倩（非商用）常规体" charset="-122"/>
                <a:cs typeface="Bauhaus 93" panose="04030905020B02020C02" charset="0"/>
              </a:rPr>
              <a:t>02</a:t>
            </a:r>
            <a:endParaRPr lang="en-US" altLang="zh-CN" sz="4000" i="1" dirty="0">
              <a:ln w="19050">
                <a:noFill/>
              </a:ln>
              <a:gradFill>
                <a:gsLst>
                  <a:gs pos="39000">
                    <a:srgbClr val="5399D4"/>
                  </a:gs>
                  <a:gs pos="100000">
                    <a:schemeClr val="bg1"/>
                  </a:gs>
                </a:gsLst>
                <a:lin ang="5400000" scaled="0"/>
              </a:gradFill>
              <a:latin typeface="Bauhaus 93" panose="04030905020B02020C02" charset="0"/>
              <a:ea typeface="造字工房朗倩（非商用）常规体" charset="-122"/>
              <a:cs typeface="Bauhaus 93" panose="04030905020B02020C02" charset="0"/>
            </a:endParaRPr>
          </a:p>
        </p:txBody>
      </p:sp>
      <p:sp>
        <p:nvSpPr>
          <p:cNvPr id="16" name="文本框 15"/>
          <p:cNvSpPr txBox="1"/>
          <p:nvPr>
            <p:custDataLst>
              <p:tags r:id="rId6"/>
            </p:custDataLst>
          </p:nvPr>
        </p:nvSpPr>
        <p:spPr>
          <a:xfrm>
            <a:off x="897439" y="151711"/>
            <a:ext cx="8441283" cy="537779"/>
          </a:xfrm>
          <a:prstGeom prst="rect">
            <a:avLst/>
          </a:prstGeom>
          <a:noFill/>
        </p:spPr>
        <p:txBody>
          <a:bodyPr wrap="square" rtlCol="0">
            <a:noAutofit/>
          </a:bodyPr>
          <a:lstStyle/>
          <a:p>
            <a:r>
              <a:rPr lang="en-US" altLang="zh-CN" sz="3600" b="1" dirty="0">
                <a:solidFill>
                  <a:schemeClr val="tx1"/>
                </a:solidFill>
              </a:rPr>
              <a:t>Efficient Sampling and Inference</a:t>
            </a:r>
            <a:endParaRPr lang="zh-CN" altLang="en-US" sz="3600" b="1" dirty="0">
              <a:solidFill>
                <a:schemeClr val="tx1"/>
              </a:solidFill>
            </a:endParaRPr>
          </a:p>
          <a:p>
            <a:endParaRPr lang="zh-CN" altLang="en-US" sz="3600" b="1" dirty="0">
              <a:solidFill>
                <a:schemeClr val="tx1"/>
              </a:solidFill>
            </a:endParaRPr>
          </a:p>
        </p:txBody>
      </p:sp>
      <p:sp>
        <p:nvSpPr>
          <p:cNvPr id="17" name="灯片编号占位符 16"/>
          <p:cNvSpPr>
            <a:spLocks noGrp="1"/>
          </p:cNvSpPr>
          <p:nvPr>
            <p:ph type="sldNum" sz="quarter" idx="12"/>
          </p:nvPr>
        </p:nvSpPr>
        <p:spPr/>
        <p:txBody>
          <a:bodyPr>
            <a:noAutofit/>
          </a:bodyPr>
          <a:lstStyle/>
          <a:p>
            <a:pPr algn="l" fontAlgn="auto"/>
            <a:fld id="{49AE70B2-8BF9-45C0-BB95-33D1B9D3A854}" type="slidenum">
              <a:rPr lang="zh-CN" altLang="en-US" sz="1800" strike="noStrike" noProof="1" smtClean="0">
                <a:solidFill>
                  <a:schemeClr val="tx1"/>
                </a:solidFill>
                <a:latin typeface="+mn-lt"/>
                <a:ea typeface="+mn-ea"/>
                <a:cs typeface="+mn-cs"/>
              </a:rPr>
            </a:fld>
            <a:endParaRPr lang="zh-CN" altLang="en-US" sz="1800" strike="noStrike" noProof="1">
              <a:solidFill>
                <a:schemeClr val="tx1"/>
              </a:solidFill>
              <a:latin typeface="+mn-lt"/>
              <a:ea typeface="+mn-ea"/>
              <a:cs typeface="+mn-cs"/>
            </a:endParaRPr>
          </a:p>
        </p:txBody>
      </p:sp>
      <p:sp>
        <p:nvSpPr>
          <p:cNvPr id="14" name="文本框 13"/>
          <p:cNvSpPr txBox="1"/>
          <p:nvPr/>
        </p:nvSpPr>
        <p:spPr>
          <a:xfrm>
            <a:off x="560171" y="870585"/>
            <a:ext cx="9086399" cy="661848"/>
          </a:xfrm>
          <a:prstGeom prst="rect">
            <a:avLst/>
          </a:prstGeom>
          <a:noFill/>
        </p:spPr>
        <p:txBody>
          <a:bodyPr wrap="square" rtlCol="0" anchor="t">
            <a:spAutoFit/>
          </a:bodyPr>
          <a:lstStyle/>
          <a:p>
            <a:pPr lvl="1" indent="-457200" defTabSz="914400" fontAlgn="base">
              <a:lnSpc>
                <a:spcPct val="150000"/>
              </a:lnSpc>
              <a:buFont typeface="Wingdings" panose="05000000000000000000" pitchFamily="2" charset="2"/>
              <a:buChar char="Ø"/>
            </a:pPr>
            <a:r>
              <a:rPr lang="en-US" altLang="zh-CN" sz="2800" dirty="0">
                <a:solidFill>
                  <a:sysClr val="windowText" lastClr="000000"/>
                </a:solidFill>
                <a:latin typeface="Arial" panose="020B0604020202090204" pitchFamily="34" charset="0"/>
                <a:ea typeface="微软雅黑" charset="-122"/>
                <a:sym typeface="+mn-ea"/>
              </a:rPr>
              <a:t>2</a:t>
            </a:r>
            <a:r>
              <a:rPr lang="zh-CN" altLang="en-US" sz="2800" dirty="0">
                <a:solidFill>
                  <a:sysClr val="windowText" lastClr="000000"/>
                </a:solidFill>
                <a:latin typeface="Arial" panose="020B0604020202090204" pitchFamily="34" charset="0"/>
                <a:ea typeface="微软雅黑" charset="-122"/>
                <a:sym typeface="+mn-ea"/>
              </a:rPr>
              <a:t>.</a:t>
            </a:r>
            <a:r>
              <a:rPr lang="en-US" altLang="zh-CN" sz="2800" dirty="0">
                <a:solidFill>
                  <a:sysClr val="windowText" lastClr="000000"/>
                </a:solidFill>
                <a:latin typeface="Arial" panose="020B0604020202090204" pitchFamily="34" charset="0"/>
                <a:ea typeface="微软雅黑" charset="-122"/>
                <a:sym typeface="+mn-ea"/>
              </a:rPr>
              <a:t>1  </a:t>
            </a:r>
            <a:r>
              <a:rPr lang="zh-CN" altLang="en-US" sz="2800" dirty="0">
                <a:solidFill>
                  <a:sysClr val="windowText" lastClr="000000"/>
                </a:solidFill>
                <a:latin typeface="Arial" panose="020B0604020202090204" pitchFamily="34" charset="0"/>
                <a:ea typeface="微软雅黑" charset="-122"/>
              </a:rPr>
              <a:t>加速扩散模型采样的通用方法</a:t>
            </a:r>
            <a:r>
              <a:rPr lang="en-US" altLang="zh-CN" sz="2800" dirty="0">
                <a:solidFill>
                  <a:sysClr val="windowText" lastClr="000000"/>
                </a:solidFill>
                <a:latin typeface="Arial" panose="020B0604020202090204" pitchFamily="34" charset="0"/>
                <a:ea typeface="微软雅黑" charset="-122"/>
                <a:sym typeface="+mn-ea"/>
              </a:rPr>
              <a:t>DDIM</a:t>
            </a:r>
            <a:endParaRPr lang="zh-CN" altLang="en-US" sz="2800" dirty="0">
              <a:solidFill>
                <a:sysClr val="windowText" lastClr="000000"/>
              </a:solidFill>
              <a:latin typeface="Arial" panose="020B0604020202090204" pitchFamily="34" charset="0"/>
              <a:ea typeface="微软雅黑" charset="-122"/>
              <a:sym typeface="+mn-ea"/>
            </a:endParaRPr>
          </a:p>
        </p:txBody>
      </p:sp>
      <p:sp>
        <p:nvSpPr>
          <p:cNvPr id="18" name="文本框 17"/>
          <p:cNvSpPr txBox="1"/>
          <p:nvPr/>
        </p:nvSpPr>
        <p:spPr>
          <a:xfrm>
            <a:off x="1198973" y="1623398"/>
            <a:ext cx="6187904" cy="338554"/>
          </a:xfrm>
          <a:prstGeom prst="rect">
            <a:avLst/>
          </a:prstGeom>
          <a:noFill/>
        </p:spPr>
        <p:txBody>
          <a:bodyPr wrap="square">
            <a:spAutoFit/>
          </a:bodyPr>
          <a:lstStyle/>
          <a:p>
            <a:pPr marL="285750" indent="-285750">
              <a:buFont typeface="Arial" panose="020B0604020202090204" pitchFamily="34" charset="0"/>
              <a:buChar char="•"/>
            </a:pPr>
            <a:r>
              <a:rPr lang="zh-CN" altLang="en-US" sz="1600" dirty="0">
                <a:solidFill>
                  <a:schemeClr val="tx1">
                    <a:lumMod val="65000"/>
                    <a:lumOff val="35000"/>
                  </a:schemeClr>
                </a:solidFill>
                <a:latin typeface="微软雅黑" charset="-122"/>
                <a:ea typeface="微软雅黑" charset="-122"/>
              </a:rPr>
              <a:t>任意调节采样方差的大小</a:t>
            </a:r>
            <a:endParaRPr lang="zh-CN" altLang="en-US" sz="1600" dirty="0">
              <a:solidFill>
                <a:schemeClr val="tx1">
                  <a:lumMod val="65000"/>
                  <a:lumOff val="35000"/>
                </a:schemeClr>
              </a:solidFill>
              <a:latin typeface="微软雅黑" charset="-122"/>
              <a:ea typeface="微软雅黑" charset="-122"/>
            </a:endParaRPr>
          </a:p>
        </p:txBody>
      </p:sp>
      <p:sp>
        <p:nvSpPr>
          <p:cNvPr id="30" name="文本框 29"/>
          <p:cNvSpPr txBox="1"/>
          <p:nvPr/>
        </p:nvSpPr>
        <p:spPr>
          <a:xfrm>
            <a:off x="1303675" y="2151348"/>
            <a:ext cx="6187904" cy="338554"/>
          </a:xfrm>
          <a:prstGeom prst="rect">
            <a:avLst/>
          </a:prstGeom>
          <a:noFill/>
        </p:spPr>
        <p:txBody>
          <a:bodyPr wrap="square">
            <a:spAutoFit/>
          </a:bodyPr>
          <a:lstStyle/>
          <a:p>
            <a:pPr marL="342900" indent="-342900">
              <a:buFont typeface="+mj-lt"/>
              <a:buAutoNum type="arabicPeriod"/>
            </a:pPr>
            <a:r>
              <a:rPr lang="zh-CN" altLang="en-US" sz="1600" dirty="0">
                <a:solidFill>
                  <a:schemeClr val="tx1">
                    <a:lumMod val="65000"/>
                    <a:lumOff val="35000"/>
                  </a:schemeClr>
                </a:solidFill>
                <a:latin typeface="微软雅黑" charset="-122"/>
                <a:ea typeface="微软雅黑" charset="-122"/>
              </a:rPr>
              <a:t>原来的</a:t>
            </a:r>
            <a:r>
              <a:rPr lang="en-US" altLang="zh-CN" sz="1600" dirty="0">
                <a:solidFill>
                  <a:schemeClr val="tx1">
                    <a:lumMod val="65000"/>
                    <a:lumOff val="35000"/>
                  </a:schemeClr>
                </a:solidFill>
                <a:latin typeface="微软雅黑" charset="-122"/>
                <a:ea typeface="微软雅黑" charset="-122"/>
              </a:rPr>
              <a:t>DDPM</a:t>
            </a:r>
            <a:r>
              <a:rPr lang="zh-CN" altLang="en-US" sz="1600" dirty="0">
                <a:solidFill>
                  <a:schemeClr val="tx1">
                    <a:lumMod val="65000"/>
                    <a:lumOff val="35000"/>
                  </a:schemeClr>
                </a:solidFill>
                <a:latin typeface="微软雅黑" charset="-122"/>
                <a:ea typeface="微软雅黑" charset="-122"/>
              </a:rPr>
              <a:t>的加噪声逆操作的分布为：</a:t>
            </a:r>
            <a:endParaRPr lang="zh-CN" altLang="en-US" sz="1600" dirty="0">
              <a:solidFill>
                <a:schemeClr val="tx1">
                  <a:lumMod val="65000"/>
                  <a:lumOff val="35000"/>
                </a:schemeClr>
              </a:solidFill>
              <a:latin typeface="微软雅黑" charset="-122"/>
              <a:ea typeface="微软雅黑" charset="-122"/>
            </a:endParaRPr>
          </a:p>
        </p:txBody>
      </p:sp>
      <p:pic>
        <p:nvPicPr>
          <p:cNvPr id="29" name="图片 28"/>
          <p:cNvPicPr>
            <a:picLocks noChangeAspect="1"/>
          </p:cNvPicPr>
          <p:nvPr/>
        </p:nvPicPr>
        <p:blipFill>
          <a:blip r:embed="rId7"/>
          <a:stretch>
            <a:fillRect/>
          </a:stretch>
        </p:blipFill>
        <p:spPr>
          <a:xfrm>
            <a:off x="1996146" y="2692609"/>
            <a:ext cx="5016758" cy="1536779"/>
          </a:xfrm>
          <a:prstGeom prst="rect">
            <a:avLst/>
          </a:prstGeom>
        </p:spPr>
      </p:pic>
      <p:sp>
        <p:nvSpPr>
          <p:cNvPr id="34" name="文本框 33"/>
          <p:cNvSpPr txBox="1"/>
          <p:nvPr/>
        </p:nvSpPr>
        <p:spPr>
          <a:xfrm>
            <a:off x="1303675" y="4265534"/>
            <a:ext cx="6187904" cy="338554"/>
          </a:xfrm>
          <a:prstGeom prst="rect">
            <a:avLst/>
          </a:prstGeom>
          <a:noFill/>
        </p:spPr>
        <p:txBody>
          <a:bodyPr wrap="square">
            <a:spAutoFit/>
          </a:bodyPr>
          <a:lstStyle/>
          <a:p>
            <a:pPr marL="342900" indent="-342900">
              <a:buFont typeface="+mj-lt"/>
              <a:buAutoNum type="arabicPeriod" startAt="2"/>
            </a:pPr>
            <a:r>
              <a:rPr lang="zh-CN" altLang="en-US" sz="1600" dirty="0">
                <a:solidFill>
                  <a:schemeClr val="tx1">
                    <a:lumMod val="65000"/>
                    <a:lumOff val="35000"/>
                  </a:schemeClr>
                </a:solidFill>
                <a:latin typeface="微软雅黑" charset="-122"/>
                <a:ea typeface="微软雅黑" charset="-122"/>
              </a:rPr>
              <a:t>去掉</a:t>
            </a:r>
            <a:r>
              <a:rPr lang="en-US" altLang="zh-CN" sz="1600" dirty="0">
                <a:solidFill>
                  <a:schemeClr val="tx1">
                    <a:lumMod val="65000"/>
                    <a:lumOff val="35000"/>
                  </a:schemeClr>
                </a:solidFill>
                <a:latin typeface="微软雅黑" charset="-122"/>
                <a:ea typeface="微软雅黑" charset="-122"/>
              </a:rPr>
              <a:t>q(xt|xt-1,x0)</a:t>
            </a:r>
            <a:r>
              <a:rPr lang="zh-CN" altLang="en-US" sz="1600" dirty="0">
                <a:solidFill>
                  <a:schemeClr val="tx1">
                    <a:lumMod val="65000"/>
                    <a:lumOff val="35000"/>
                  </a:schemeClr>
                </a:solidFill>
                <a:latin typeface="微软雅黑" charset="-122"/>
                <a:ea typeface="微软雅黑" charset="-122"/>
              </a:rPr>
              <a:t>限制后，新的分布公式为：</a:t>
            </a:r>
            <a:endParaRPr lang="zh-CN" altLang="en-US" sz="1600" dirty="0">
              <a:solidFill>
                <a:schemeClr val="tx1">
                  <a:lumMod val="65000"/>
                  <a:lumOff val="35000"/>
                </a:schemeClr>
              </a:solidFill>
              <a:latin typeface="微软雅黑" charset="-122"/>
              <a:ea typeface="微软雅黑" charset="-122"/>
            </a:endParaRPr>
          </a:p>
        </p:txBody>
      </p:sp>
      <p:sp>
        <p:nvSpPr>
          <p:cNvPr id="39" name="文本框 38"/>
          <p:cNvSpPr txBox="1"/>
          <p:nvPr/>
        </p:nvSpPr>
        <p:spPr>
          <a:xfrm>
            <a:off x="7285317" y="2188265"/>
            <a:ext cx="4722505" cy="338554"/>
          </a:xfrm>
          <a:prstGeom prst="rect">
            <a:avLst/>
          </a:prstGeom>
          <a:noFill/>
        </p:spPr>
        <p:txBody>
          <a:bodyPr wrap="square">
            <a:spAutoFit/>
          </a:bodyPr>
          <a:lstStyle/>
          <a:p>
            <a:pPr marL="342900" indent="-342900">
              <a:buFont typeface="+mj-lt"/>
              <a:buAutoNum type="arabicPeriod" startAt="3"/>
            </a:pPr>
            <a:r>
              <a:rPr lang="zh-CN" altLang="en-US" sz="1600" dirty="0">
                <a:solidFill>
                  <a:schemeClr val="tx1">
                    <a:lumMod val="65000"/>
                    <a:lumOff val="35000"/>
                  </a:schemeClr>
                </a:solidFill>
                <a:latin typeface="微软雅黑" charset="-122"/>
                <a:ea typeface="微软雅黑" charset="-122"/>
              </a:rPr>
              <a:t>为了方便地选取方差值，作者将方差改写为</a:t>
            </a:r>
            <a:endParaRPr lang="zh-CN" altLang="en-US" sz="1600" dirty="0">
              <a:solidFill>
                <a:schemeClr val="tx1">
                  <a:lumMod val="65000"/>
                  <a:lumOff val="35000"/>
                </a:schemeClr>
              </a:solidFill>
              <a:latin typeface="微软雅黑" charset="-122"/>
              <a:ea typeface="微软雅黑" charset="-122"/>
            </a:endParaRPr>
          </a:p>
        </p:txBody>
      </p:sp>
      <p:pic>
        <p:nvPicPr>
          <p:cNvPr id="38" name="图片 37"/>
          <p:cNvPicPr>
            <a:picLocks noChangeAspect="1"/>
          </p:cNvPicPr>
          <p:nvPr/>
        </p:nvPicPr>
        <p:blipFill>
          <a:blip r:embed="rId8"/>
          <a:stretch>
            <a:fillRect/>
          </a:stretch>
        </p:blipFill>
        <p:spPr>
          <a:xfrm>
            <a:off x="8056511" y="2692609"/>
            <a:ext cx="2444876" cy="641383"/>
          </a:xfrm>
          <a:prstGeom prst="rect">
            <a:avLst/>
          </a:prstGeom>
        </p:spPr>
      </p:pic>
    </p:spTree>
    <p:custDataLst>
      <p:tags r:id="rId9"/>
    </p:custDataLst>
  </p:cSld>
  <p:clrMapOvr>
    <a:masterClrMapping/>
  </p:clrMapOvr>
  <p:transition advTm="58970"/>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图片 2" descr="剪影蓝 低版本"/>
          <p:cNvPicPr>
            <a:picLocks noChangeAspect="1"/>
          </p:cNvPicPr>
          <p:nvPr/>
        </p:nvPicPr>
        <p:blipFill>
          <a:blip r:embed="rId1"/>
          <a:srcRect l="-8"/>
          <a:stretch>
            <a:fillRect/>
          </a:stretch>
        </p:blipFill>
        <p:spPr>
          <a:xfrm>
            <a:off x="0" y="5378386"/>
            <a:ext cx="12190495" cy="2438099"/>
          </a:xfrm>
          <a:prstGeom prst="rect">
            <a:avLst/>
          </a:prstGeom>
          <a:noFill/>
          <a:ln w="9525">
            <a:noFill/>
          </a:ln>
        </p:spPr>
      </p:pic>
      <p:sp>
        <p:nvSpPr>
          <p:cNvPr id="22" name="文本框 21"/>
          <p:cNvSpPr txBox="1"/>
          <p:nvPr/>
        </p:nvSpPr>
        <p:spPr>
          <a:xfrm>
            <a:off x="154297" y="-42999"/>
            <a:ext cx="552421" cy="874984"/>
          </a:xfrm>
          <a:prstGeom prst="rect">
            <a:avLst/>
          </a:prstGeom>
          <a:noFill/>
          <a:effectLst>
            <a:reflection blurRad="12700" stA="0" endPos="65000" dist="50800" dir="5400000" sy="-100000" algn="bl" rotWithShape="0"/>
          </a:effectLst>
        </p:spPr>
        <p:txBody>
          <a:bodyPr wrap="square" rtlCol="0">
            <a:noAutofit/>
          </a:bodyPr>
          <a:lstStyle/>
          <a:p>
            <a:r>
              <a:rPr lang="en-US" altLang="zh-CN" sz="5400" b="1" dirty="0">
                <a:solidFill>
                  <a:schemeClr val="bg1"/>
                </a:solidFill>
                <a:effectLst>
                  <a:glow>
                    <a:schemeClr val="accent1">
                      <a:alpha val="40000"/>
                    </a:schemeClr>
                  </a:glow>
                </a:effectLst>
                <a:latin typeface="Times New Roman" panose="02020503050405090304" charset="0"/>
                <a:ea typeface="微软雅黑" charset="-122"/>
                <a:cs typeface="Times New Roman" panose="02020503050405090304" charset="0"/>
              </a:rPr>
              <a:t>1</a:t>
            </a:r>
            <a:endParaRPr lang="en-US" altLang="zh-CN" sz="5400" b="1" dirty="0">
              <a:solidFill>
                <a:schemeClr val="bg1"/>
              </a:solidFill>
              <a:effectLst>
                <a:glow>
                  <a:schemeClr val="accent1">
                    <a:alpha val="40000"/>
                  </a:schemeClr>
                </a:glow>
              </a:effectLst>
              <a:latin typeface="Times New Roman" panose="02020503050405090304" charset="0"/>
              <a:ea typeface="微软雅黑" charset="-122"/>
              <a:cs typeface="Times New Roman" panose="02020503050405090304" charset="0"/>
            </a:endParaRPr>
          </a:p>
        </p:txBody>
      </p:sp>
      <p:sp>
        <p:nvSpPr>
          <p:cNvPr id="2" name="文本框 1"/>
          <p:cNvSpPr txBox="1"/>
          <p:nvPr/>
        </p:nvSpPr>
        <p:spPr>
          <a:xfrm>
            <a:off x="1094740" y="259715"/>
            <a:ext cx="6096000" cy="521970"/>
          </a:xfrm>
          <a:prstGeom prst="rect">
            <a:avLst/>
          </a:prstGeom>
          <a:noFill/>
        </p:spPr>
        <p:txBody>
          <a:bodyPr wrap="square" rtlCol="0" anchor="t">
            <a:spAutoFit/>
          </a:bodyPr>
          <a:lstStyle/>
          <a:p>
            <a:r>
              <a:rPr sz="2800" b="1">
                <a:solidFill>
                  <a:srgbClr val="000000"/>
                </a:solidFill>
                <a:latin typeface="微软雅黑" charset="-122"/>
                <a:ea typeface="微软雅黑" charset="-122"/>
                <a:cs typeface="微软雅黑" charset="-122"/>
                <a:sym typeface="+mn-ea"/>
              </a:rPr>
              <a:t>1.1 从变化率到梯度的直观引入</a:t>
            </a:r>
            <a:endParaRPr lang="zh-CN" altLang="en-US" sz="2800" b="1">
              <a:solidFill>
                <a:srgbClr val="000000"/>
              </a:solidFill>
              <a:latin typeface="微软雅黑" charset="-122"/>
              <a:ea typeface="微软雅黑" charset="-122"/>
              <a:cs typeface="微软雅黑" charset="-122"/>
              <a:sym typeface="+mn-ea"/>
            </a:endParaRPr>
          </a:p>
        </p:txBody>
      </p:sp>
      <p:sp>
        <p:nvSpPr>
          <p:cNvPr id="13" name="矩形 12"/>
          <p:cNvSpPr/>
          <p:nvPr>
            <p:custDataLst>
              <p:tags r:id="rId2"/>
            </p:custDataLst>
          </p:nvPr>
        </p:nvSpPr>
        <p:spPr>
          <a:xfrm>
            <a:off x="1353" y="600"/>
            <a:ext cx="12190495" cy="840002"/>
          </a:xfrm>
          <a:prstGeom prst="rect">
            <a:avLst/>
          </a:prstGeom>
          <a:gradFill>
            <a:gsLst>
              <a:gs pos="0">
                <a:schemeClr val="bg1"/>
              </a:gs>
              <a:gs pos="50000">
                <a:srgbClr val="5399D4"/>
              </a:gs>
              <a:gs pos="100000">
                <a:srgbClr val="2E3C63"/>
              </a:gs>
            </a:gsLst>
          </a:gradFill>
          <a:effectLst/>
        </p:spPr>
        <p:style>
          <a:lnRef idx="0">
            <a:srgbClr val="FFFFFF"/>
          </a:lnRef>
          <a:fillRef idx="2">
            <a:schemeClr val="accent1"/>
          </a:fillRef>
          <a:effectRef idx="1">
            <a:schemeClr val="accent1"/>
          </a:effectRef>
          <a:fontRef idx="minor">
            <a:schemeClr val="lt1"/>
          </a:fontRef>
        </p:style>
        <p:txBody>
          <a:bodyPr rtlCol="0" anchor="ctr"/>
          <a:lstStyle/>
          <a:p>
            <a:pPr algn="ctr" fontAlgn="base"/>
            <a:endParaRPr lang="zh-CN" altLang="en-US" sz="100" strike="noStrike" noProof="1"/>
          </a:p>
        </p:txBody>
      </p:sp>
      <p:pic>
        <p:nvPicPr>
          <p:cNvPr id="15" name="图片 14" descr="国科大标准Logo横式一（白色）"/>
          <p:cNvPicPr>
            <a:picLocks noChangeAspect="1"/>
          </p:cNvPicPr>
          <p:nvPr/>
        </p:nvPicPr>
        <p:blipFill>
          <a:blip r:embed="rId3"/>
          <a:stretch>
            <a:fillRect/>
          </a:stretch>
        </p:blipFill>
        <p:spPr>
          <a:xfrm>
            <a:off x="9815971" y="187901"/>
            <a:ext cx="2167622" cy="457144"/>
          </a:xfrm>
          <a:prstGeom prst="rect">
            <a:avLst/>
          </a:prstGeom>
        </p:spPr>
      </p:pic>
      <p:sp>
        <p:nvSpPr>
          <p:cNvPr id="3078" name="文本框 3"/>
          <p:cNvSpPr txBox="1"/>
          <p:nvPr>
            <p:custDataLst>
              <p:tags r:id="rId4"/>
            </p:custDataLst>
          </p:nvPr>
        </p:nvSpPr>
        <p:spPr>
          <a:xfrm>
            <a:off x="46644" y="-47231"/>
            <a:ext cx="850795" cy="919366"/>
          </a:xfrm>
          <a:prstGeom prst="rect">
            <a:avLst/>
          </a:prstGeom>
          <a:noFill/>
          <a:ln w="12700" cmpd="sng">
            <a:noFill/>
            <a:prstDash val="solid"/>
          </a:ln>
          <a:effectLst>
            <a:outerShdw dist="63500" dir="2700000" algn="tl" rotWithShape="0">
              <a:schemeClr val="bg1">
                <a:alpha val="100000"/>
              </a:schemeClr>
            </a:outerShdw>
          </a:effectLst>
        </p:spPr>
        <p:txBody>
          <a:bodyPr wrap="square" anchor="t" anchorCtr="0"/>
          <a:lstStyle/>
          <a:p>
            <a:pPr>
              <a:lnSpc>
                <a:spcPct val="130000"/>
              </a:lnSpc>
            </a:pPr>
            <a:r>
              <a:rPr lang="en-US" altLang="zh-CN" sz="4000" i="1" dirty="0">
                <a:ln w="19050">
                  <a:noFill/>
                </a:ln>
                <a:gradFill>
                  <a:gsLst>
                    <a:gs pos="39000">
                      <a:srgbClr val="5399D4"/>
                    </a:gs>
                    <a:gs pos="100000">
                      <a:schemeClr val="bg1"/>
                    </a:gs>
                  </a:gsLst>
                  <a:lin ang="5400000" scaled="0"/>
                </a:gradFill>
                <a:latin typeface="Bauhaus 93" panose="04030905020B02020C02" charset="0"/>
                <a:ea typeface="造字工房朗倩（非商用）常规体" charset="-122"/>
                <a:cs typeface="Bauhaus 93" panose="04030905020B02020C02" charset="0"/>
              </a:rPr>
              <a:t>02</a:t>
            </a:r>
            <a:endParaRPr lang="en-US" altLang="zh-CN" sz="4000" i="1" dirty="0">
              <a:ln w="19050">
                <a:noFill/>
              </a:ln>
              <a:gradFill>
                <a:gsLst>
                  <a:gs pos="39000">
                    <a:srgbClr val="5399D4"/>
                  </a:gs>
                  <a:gs pos="100000">
                    <a:schemeClr val="bg1"/>
                  </a:gs>
                </a:gsLst>
                <a:lin ang="5400000" scaled="0"/>
              </a:gradFill>
              <a:latin typeface="Bauhaus 93" panose="04030905020B02020C02" charset="0"/>
              <a:ea typeface="造字工房朗倩（非商用）常规体" charset="-122"/>
              <a:cs typeface="Bauhaus 93" panose="04030905020B02020C02" charset="0"/>
            </a:endParaRPr>
          </a:p>
        </p:txBody>
      </p:sp>
      <p:sp>
        <p:nvSpPr>
          <p:cNvPr id="16" name="文本框 15"/>
          <p:cNvSpPr txBox="1"/>
          <p:nvPr>
            <p:custDataLst>
              <p:tags r:id="rId5"/>
            </p:custDataLst>
          </p:nvPr>
        </p:nvSpPr>
        <p:spPr>
          <a:xfrm>
            <a:off x="897439" y="151711"/>
            <a:ext cx="8441283" cy="537779"/>
          </a:xfrm>
          <a:prstGeom prst="rect">
            <a:avLst/>
          </a:prstGeom>
          <a:noFill/>
        </p:spPr>
        <p:txBody>
          <a:bodyPr wrap="square" rtlCol="0">
            <a:noAutofit/>
          </a:bodyPr>
          <a:lstStyle/>
          <a:p>
            <a:r>
              <a:rPr lang="en-US" altLang="zh-CN" sz="3600" b="1" dirty="0">
                <a:solidFill>
                  <a:schemeClr val="tx1"/>
                </a:solidFill>
              </a:rPr>
              <a:t>Efficient Sampling and Inference</a:t>
            </a:r>
            <a:endParaRPr lang="zh-CN" altLang="en-US" sz="3600" b="1" dirty="0">
              <a:solidFill>
                <a:schemeClr val="tx1"/>
              </a:solidFill>
            </a:endParaRPr>
          </a:p>
          <a:p>
            <a:endParaRPr lang="zh-CN" altLang="en-US" sz="3600" b="1" dirty="0">
              <a:solidFill>
                <a:schemeClr val="tx1"/>
              </a:solidFill>
            </a:endParaRPr>
          </a:p>
        </p:txBody>
      </p:sp>
      <p:sp>
        <p:nvSpPr>
          <p:cNvPr id="14" name="文本框 13"/>
          <p:cNvSpPr txBox="1"/>
          <p:nvPr/>
        </p:nvSpPr>
        <p:spPr>
          <a:xfrm>
            <a:off x="560171" y="870585"/>
            <a:ext cx="9086399" cy="661848"/>
          </a:xfrm>
          <a:prstGeom prst="rect">
            <a:avLst/>
          </a:prstGeom>
          <a:noFill/>
        </p:spPr>
        <p:txBody>
          <a:bodyPr wrap="square" rtlCol="0" anchor="t">
            <a:spAutoFit/>
          </a:bodyPr>
          <a:lstStyle/>
          <a:p>
            <a:pPr lvl="1" indent="-457200" defTabSz="914400" fontAlgn="base">
              <a:lnSpc>
                <a:spcPct val="150000"/>
              </a:lnSpc>
              <a:buFont typeface="Wingdings" panose="05000000000000000000" pitchFamily="2" charset="2"/>
              <a:buChar char="Ø"/>
            </a:pPr>
            <a:r>
              <a:rPr lang="en-US" altLang="zh-CN" sz="2800" dirty="0">
                <a:solidFill>
                  <a:sysClr val="windowText" lastClr="000000"/>
                </a:solidFill>
                <a:latin typeface="Arial" panose="020B0604020202090204" pitchFamily="34" charset="0"/>
                <a:ea typeface="微软雅黑" charset="-122"/>
                <a:sym typeface="+mn-ea"/>
              </a:rPr>
              <a:t>2</a:t>
            </a:r>
            <a:r>
              <a:rPr lang="zh-CN" altLang="en-US" sz="2800" dirty="0">
                <a:solidFill>
                  <a:sysClr val="windowText" lastClr="000000"/>
                </a:solidFill>
                <a:latin typeface="Arial" panose="020B0604020202090204" pitchFamily="34" charset="0"/>
                <a:ea typeface="微软雅黑" charset="-122"/>
                <a:sym typeface="+mn-ea"/>
              </a:rPr>
              <a:t>.</a:t>
            </a:r>
            <a:r>
              <a:rPr lang="en-US" altLang="zh-CN" sz="2800" dirty="0">
                <a:solidFill>
                  <a:sysClr val="windowText" lastClr="000000"/>
                </a:solidFill>
                <a:latin typeface="Arial" panose="020B0604020202090204" pitchFamily="34" charset="0"/>
                <a:ea typeface="微软雅黑" charset="-122"/>
                <a:sym typeface="+mn-ea"/>
              </a:rPr>
              <a:t>1  </a:t>
            </a:r>
            <a:r>
              <a:rPr lang="zh-CN" altLang="en-US" sz="2800" dirty="0">
                <a:solidFill>
                  <a:sysClr val="windowText" lastClr="000000"/>
                </a:solidFill>
                <a:latin typeface="Arial" panose="020B0604020202090204" pitchFamily="34" charset="0"/>
                <a:ea typeface="微软雅黑" charset="-122"/>
              </a:rPr>
              <a:t>加速扩散模型采样的通用方法</a:t>
            </a:r>
            <a:r>
              <a:rPr lang="en-US" altLang="zh-CN" sz="2800" dirty="0">
                <a:solidFill>
                  <a:sysClr val="windowText" lastClr="000000"/>
                </a:solidFill>
                <a:latin typeface="Arial" panose="020B0604020202090204" pitchFamily="34" charset="0"/>
                <a:ea typeface="微软雅黑" charset="-122"/>
                <a:sym typeface="+mn-ea"/>
              </a:rPr>
              <a:t>DDIM</a:t>
            </a:r>
            <a:endParaRPr lang="zh-CN" altLang="en-US" sz="2800" dirty="0">
              <a:solidFill>
                <a:sysClr val="windowText" lastClr="000000"/>
              </a:solidFill>
              <a:latin typeface="Arial" panose="020B0604020202090204" pitchFamily="34" charset="0"/>
              <a:ea typeface="微软雅黑" charset="-122"/>
              <a:sym typeface="+mn-ea"/>
            </a:endParaRPr>
          </a:p>
        </p:txBody>
      </p:sp>
      <p:sp>
        <p:nvSpPr>
          <p:cNvPr id="18" name="文本框 17"/>
          <p:cNvSpPr txBox="1"/>
          <p:nvPr/>
        </p:nvSpPr>
        <p:spPr>
          <a:xfrm>
            <a:off x="1198973" y="1623398"/>
            <a:ext cx="6187904" cy="338554"/>
          </a:xfrm>
          <a:prstGeom prst="rect">
            <a:avLst/>
          </a:prstGeom>
          <a:noFill/>
        </p:spPr>
        <p:txBody>
          <a:bodyPr wrap="square">
            <a:spAutoFit/>
          </a:bodyPr>
          <a:lstStyle/>
          <a:p>
            <a:pPr marL="285750" indent="-285750">
              <a:buFont typeface="Arial" panose="020B0604020202090204" pitchFamily="34" charset="0"/>
              <a:buChar char="•"/>
            </a:pPr>
            <a:r>
              <a:rPr lang="en-US" altLang="zh-CN" sz="1600" dirty="0">
                <a:solidFill>
                  <a:schemeClr val="tx1">
                    <a:lumMod val="65000"/>
                    <a:lumOff val="35000"/>
                  </a:schemeClr>
                </a:solidFill>
                <a:latin typeface="微软雅黑" charset="-122"/>
                <a:ea typeface="微软雅黑" charset="-122"/>
              </a:rPr>
              <a:t>DDIM</a:t>
            </a:r>
            <a:r>
              <a:rPr lang="zh-CN" altLang="en-US" sz="1600" dirty="0">
                <a:solidFill>
                  <a:schemeClr val="tx1">
                    <a:lumMod val="65000"/>
                    <a:lumOff val="35000"/>
                  </a:schemeClr>
                </a:solidFill>
                <a:latin typeface="微软雅黑" charset="-122"/>
                <a:ea typeface="微软雅黑" charset="-122"/>
              </a:rPr>
              <a:t>的实验效果</a:t>
            </a:r>
            <a:endParaRPr lang="zh-CN" altLang="en-US" sz="1600" dirty="0">
              <a:solidFill>
                <a:schemeClr val="tx1">
                  <a:lumMod val="65000"/>
                  <a:lumOff val="35000"/>
                </a:schemeClr>
              </a:solidFill>
              <a:latin typeface="微软雅黑" charset="-122"/>
              <a:ea typeface="微软雅黑" charset="-122"/>
            </a:endParaRPr>
          </a:p>
        </p:txBody>
      </p:sp>
      <p:pic>
        <p:nvPicPr>
          <p:cNvPr id="4" name="图片 3"/>
          <p:cNvPicPr>
            <a:picLocks noChangeAspect="1"/>
          </p:cNvPicPr>
          <p:nvPr/>
        </p:nvPicPr>
        <p:blipFill>
          <a:blip r:embed="rId6"/>
          <a:stretch>
            <a:fillRect/>
          </a:stretch>
        </p:blipFill>
        <p:spPr>
          <a:xfrm>
            <a:off x="1567464" y="2527444"/>
            <a:ext cx="9055565" cy="2159111"/>
          </a:xfrm>
          <a:prstGeom prst="rect">
            <a:avLst/>
          </a:prstGeom>
        </p:spPr>
      </p:pic>
    </p:spTree>
    <p:custDataLst>
      <p:tags r:id="rId7"/>
    </p:custDataLst>
  </p:cSld>
  <p:clrMapOvr>
    <a:masterClrMapping/>
  </p:clrMapOvr>
  <p:transition advTm="58970"/>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p:cNvSpPr txBox="1"/>
          <p:nvPr/>
        </p:nvSpPr>
        <p:spPr>
          <a:xfrm>
            <a:off x="304800" y="1477285"/>
            <a:ext cx="11582400" cy="1674817"/>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00"/>
              </a:spcBef>
            </a:pPr>
            <a:r>
              <a:rPr lang="en-US" altLang="zh-CN" sz="5400" dirty="0"/>
              <a:t>Diffusion Models: Architecture, Guidance, Alignment and Applications</a:t>
            </a:r>
            <a:endParaRPr lang="en-US" sz="5400" spc="-10" dirty="0"/>
          </a:p>
        </p:txBody>
      </p:sp>
      <p:sp>
        <p:nvSpPr>
          <p:cNvPr id="2" name="文本框 1"/>
          <p:cNvSpPr txBox="1"/>
          <p:nvPr/>
        </p:nvSpPr>
        <p:spPr>
          <a:xfrm>
            <a:off x="4785360" y="3909099"/>
            <a:ext cx="3159760" cy="1200329"/>
          </a:xfrm>
          <a:prstGeom prst="rect">
            <a:avLst/>
          </a:prstGeom>
          <a:noFill/>
        </p:spPr>
        <p:txBody>
          <a:bodyPr wrap="square" rtlCol="0">
            <a:spAutoFit/>
          </a:bodyPr>
          <a:lstStyle/>
          <a:p>
            <a:r>
              <a:rPr lang="zh-CN" altLang="en-US" sz="2400" dirty="0">
                <a:latin typeface="微软雅黑" charset="-122"/>
                <a:ea typeface="微软雅黑" charset="-122"/>
              </a:rPr>
              <a:t>   </a:t>
            </a:r>
            <a:r>
              <a:rPr lang="en-US" altLang="zh-CN" sz="2400" dirty="0" err="1">
                <a:latin typeface="微软雅黑" charset="-122"/>
                <a:ea typeface="微软雅黑" charset="-122"/>
              </a:rPr>
              <a:t>Jiaoyang.Chen</a:t>
            </a:r>
            <a:endParaRPr lang="en-US" altLang="zh-CN" sz="2400" dirty="0">
              <a:latin typeface="微软雅黑" charset="-122"/>
              <a:ea typeface="微软雅黑" charset="-122"/>
            </a:endParaRPr>
          </a:p>
          <a:p>
            <a:endParaRPr lang="en-US" altLang="zh-CN" sz="2400" dirty="0">
              <a:latin typeface="微软雅黑" charset="-122"/>
              <a:ea typeface="微软雅黑" charset="-122"/>
            </a:endParaRPr>
          </a:p>
          <a:p>
            <a:r>
              <a:rPr lang="en-US" altLang="zh-CN" sz="2400" dirty="0">
                <a:latin typeface="微软雅黑" charset="-122"/>
                <a:ea typeface="微软雅黑" charset="-122"/>
              </a:rPr>
              <a:t>      2026.03.26</a:t>
            </a:r>
            <a:endParaRPr lang="zh-CN" altLang="en-US" sz="2400" dirty="0">
              <a:latin typeface="微软雅黑" charset="-122"/>
              <a:ea typeface="微软雅黑"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p:cNvSpPr txBox="1"/>
          <p:nvPr/>
        </p:nvSpPr>
        <p:spPr>
          <a:xfrm>
            <a:off x="609600" y="2162141"/>
            <a:ext cx="11582400" cy="843821"/>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00"/>
              </a:spcBef>
            </a:pPr>
            <a:r>
              <a:rPr lang="en-US" altLang="zh-CN" sz="5400" dirty="0"/>
              <a:t>Architecture Of Diffusion Model</a:t>
            </a:r>
            <a:endParaRPr lang="en-US" sz="5400" spc="-10" dirty="0"/>
          </a:p>
        </p:txBody>
      </p:sp>
      <p:sp>
        <p:nvSpPr>
          <p:cNvPr id="5" name="文本框 4"/>
          <p:cNvSpPr txBox="1"/>
          <p:nvPr/>
        </p:nvSpPr>
        <p:spPr>
          <a:xfrm>
            <a:off x="1978818" y="3429000"/>
            <a:ext cx="3814763" cy="830997"/>
          </a:xfrm>
          <a:prstGeom prst="rect">
            <a:avLst/>
          </a:prstGeom>
          <a:noFill/>
        </p:spPr>
        <p:txBody>
          <a:bodyPr wrap="square" rtlCol="0">
            <a:spAutoFit/>
          </a:bodyPr>
          <a:lstStyle/>
          <a:p>
            <a:pPr marL="342900" indent="-342900">
              <a:buFont typeface="Arial" panose="020B0604020202090204" pitchFamily="34" charset="0"/>
              <a:buChar char="•"/>
            </a:pPr>
            <a:r>
              <a:rPr lang="en-US" altLang="zh-CN" sz="2400" dirty="0" err="1"/>
              <a:t>Unet</a:t>
            </a:r>
            <a:endParaRPr lang="en-US" altLang="zh-CN" sz="2400" dirty="0"/>
          </a:p>
          <a:p>
            <a:pPr marL="342900" indent="-342900">
              <a:buFont typeface="Arial" panose="020B0604020202090204" pitchFamily="34" charset="0"/>
              <a:buChar char="•"/>
            </a:pPr>
            <a:r>
              <a:rPr lang="en-US" altLang="zh-CN" sz="2400" dirty="0" err="1"/>
              <a:t>DiT</a:t>
            </a:r>
            <a:endParaRPr lang="zh-CN" altLang="en-US" sz="2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190466"/>
            <a:ext cx="11582400" cy="689932"/>
          </a:xfrm>
          <a:prstGeom prst="rect">
            <a:avLst/>
          </a:prstGeom>
        </p:spPr>
        <p:txBody>
          <a:bodyPr vert="horz" wrap="square" lIns="0" tIns="12700" rIns="0" bIns="0" rtlCol="0">
            <a:spAutoFit/>
          </a:bodyPr>
          <a:lstStyle/>
          <a:p>
            <a:pPr marL="12700">
              <a:lnSpc>
                <a:spcPct val="100000"/>
              </a:lnSpc>
              <a:spcBef>
                <a:spcPts val="100"/>
              </a:spcBef>
            </a:pPr>
            <a:r>
              <a:rPr lang="en-US" dirty="0"/>
              <a:t>Stable diffusion (</a:t>
            </a:r>
            <a:r>
              <a:rPr lang="en-US" dirty="0" err="1"/>
              <a:t>Unet</a:t>
            </a:r>
            <a:r>
              <a:rPr lang="en-US" dirty="0"/>
              <a:t>)</a:t>
            </a:r>
            <a:endParaRPr spc="-10" dirty="0"/>
          </a:p>
        </p:txBody>
      </p:sp>
      <p:sp>
        <p:nvSpPr>
          <p:cNvPr id="14" name="文本框 13"/>
          <p:cNvSpPr txBox="1"/>
          <p:nvPr/>
        </p:nvSpPr>
        <p:spPr>
          <a:xfrm>
            <a:off x="142102" y="6236647"/>
            <a:ext cx="11907795" cy="430887"/>
          </a:xfrm>
          <a:prstGeom prst="rect">
            <a:avLst/>
          </a:prstGeom>
          <a:noFill/>
        </p:spPr>
        <p:txBody>
          <a:bodyPr wrap="square">
            <a:spAutoFit/>
          </a:bodyPr>
          <a:lstStyle/>
          <a:p>
            <a:r>
              <a:rPr lang="en-US" altLang="zh-CN" sz="1100" dirty="0"/>
              <a:t>Rombach, R., </a:t>
            </a:r>
            <a:r>
              <a:rPr lang="en-US" altLang="zh-CN" sz="1100" dirty="0" err="1"/>
              <a:t>Blattmann</a:t>
            </a:r>
            <a:r>
              <a:rPr lang="en-US" altLang="zh-CN" sz="1100" dirty="0"/>
              <a:t>, A., Lorenz, D., Esser, P., &amp; </a:t>
            </a:r>
            <a:r>
              <a:rPr lang="en-US" altLang="zh-CN" sz="1100" dirty="0" err="1"/>
              <a:t>Ommer</a:t>
            </a:r>
            <a:r>
              <a:rPr lang="en-US" altLang="zh-CN" sz="1100" dirty="0"/>
              <a:t>, B. (2022). High-resolution image synthesis with latent diffusion models. In Proceedings of the IEEE/CVF conference on computer vision and pattern recognition (pp. 10684-10695).</a:t>
            </a:r>
            <a:endParaRPr lang="zh-CN" altLang="en-US" sz="1100" dirty="0"/>
          </a:p>
        </p:txBody>
      </p:sp>
      <p:sp>
        <p:nvSpPr>
          <p:cNvPr id="15" name="文本框 14"/>
          <p:cNvSpPr txBox="1"/>
          <p:nvPr/>
        </p:nvSpPr>
        <p:spPr>
          <a:xfrm>
            <a:off x="518984" y="1588807"/>
            <a:ext cx="3867911" cy="2308324"/>
          </a:xfrm>
          <a:prstGeom prst="rect">
            <a:avLst/>
          </a:prstGeom>
          <a:noFill/>
        </p:spPr>
        <p:txBody>
          <a:bodyPr wrap="square" rtlCol="0">
            <a:spAutoFit/>
          </a:bodyPr>
          <a:lstStyle/>
          <a:p>
            <a:pPr marL="285750" indent="-285750">
              <a:buFont typeface="Wingdings" panose="05000000000000000000" pitchFamily="2" charset="2"/>
              <a:buChar char="l"/>
            </a:pPr>
            <a:r>
              <a:rPr lang="zh-CN" altLang="en-US" dirty="0">
                <a:latin typeface="微软雅黑" charset="-122"/>
                <a:ea typeface="微软雅黑" charset="-122"/>
              </a:rPr>
              <a:t>背景</a:t>
            </a:r>
            <a:endParaRPr lang="en-US" altLang="zh-CN" dirty="0">
              <a:latin typeface="微软雅黑" charset="-122"/>
              <a:ea typeface="微软雅黑" charset="-122"/>
            </a:endParaRPr>
          </a:p>
          <a:p>
            <a:pPr marL="285750" indent="-285750">
              <a:buFont typeface="Wingdings" panose="05000000000000000000" pitchFamily="2" charset="2"/>
              <a:buChar char="l"/>
            </a:pPr>
            <a:endParaRPr lang="en-US" altLang="zh-CN" dirty="0">
              <a:latin typeface="微软雅黑" charset="-122"/>
              <a:ea typeface="微软雅黑" charset="-122"/>
            </a:endParaRPr>
          </a:p>
          <a:p>
            <a:pPr marL="285750" indent="-285750">
              <a:buFont typeface="Wingdings" panose="05000000000000000000" pitchFamily="2" charset="2"/>
              <a:buChar char="l"/>
            </a:pPr>
            <a:r>
              <a:rPr lang="zh-CN" altLang="en-US" dirty="0">
                <a:latin typeface="微软雅黑" charset="-122"/>
                <a:ea typeface="微软雅黑" charset="-122"/>
              </a:rPr>
              <a:t>想解决的问题及解决问题的思路</a:t>
            </a:r>
            <a:endParaRPr lang="en-US" altLang="zh-CN" dirty="0">
              <a:latin typeface="微软雅黑" charset="-122"/>
              <a:ea typeface="微软雅黑" charset="-122"/>
            </a:endParaRPr>
          </a:p>
          <a:p>
            <a:pPr marL="285750" indent="-285750">
              <a:buFont typeface="Wingdings" panose="05000000000000000000" pitchFamily="2" charset="2"/>
              <a:buChar char="l"/>
            </a:pPr>
            <a:endParaRPr lang="zh-CN" altLang="en-US" dirty="0">
              <a:latin typeface="微软雅黑" charset="-122"/>
              <a:ea typeface="微软雅黑" charset="-122"/>
            </a:endParaRPr>
          </a:p>
          <a:p>
            <a:pPr marL="285750" indent="-285750">
              <a:buFont typeface="Wingdings" panose="05000000000000000000" pitchFamily="2" charset="2"/>
              <a:buChar char="l"/>
            </a:pPr>
            <a:r>
              <a:rPr lang="en-US" altLang="zh-CN" dirty="0">
                <a:latin typeface="微软雅黑" charset="-122"/>
                <a:ea typeface="微软雅黑" charset="-122"/>
              </a:rPr>
              <a:t>LDM</a:t>
            </a:r>
            <a:r>
              <a:rPr lang="zh-CN" altLang="en-US" dirty="0">
                <a:latin typeface="微软雅黑" charset="-122"/>
                <a:ea typeface="微软雅黑" charset="-122"/>
              </a:rPr>
              <a:t>的</a:t>
            </a:r>
            <a:r>
              <a:rPr lang="en-US" altLang="zh-CN" dirty="0">
                <a:latin typeface="微软雅黑" charset="-122"/>
                <a:ea typeface="微软雅黑" charset="-122"/>
              </a:rPr>
              <a:t>AE</a:t>
            </a:r>
            <a:r>
              <a:rPr lang="zh-CN" altLang="en-US" dirty="0">
                <a:latin typeface="微软雅黑" charset="-122"/>
                <a:ea typeface="微软雅黑" charset="-122"/>
              </a:rPr>
              <a:t>是怎么设计以达到压缩比例与质量的平衡的</a:t>
            </a:r>
            <a:endParaRPr lang="zh-CN" altLang="en-US" dirty="0">
              <a:latin typeface="微软雅黑" charset="-122"/>
              <a:ea typeface="微软雅黑" charset="-122"/>
            </a:endParaRPr>
          </a:p>
          <a:p>
            <a:pPr marL="285750" indent="-285750">
              <a:buFont typeface="Wingdings" panose="05000000000000000000" pitchFamily="2" charset="2"/>
              <a:buChar char="l"/>
            </a:pPr>
            <a:endParaRPr lang="en-US" altLang="zh-CN" dirty="0">
              <a:latin typeface="微软雅黑" charset="-122"/>
              <a:ea typeface="微软雅黑" charset="-122"/>
            </a:endParaRPr>
          </a:p>
          <a:p>
            <a:pPr marL="285750" indent="-285750">
              <a:buFont typeface="Wingdings" panose="05000000000000000000" pitchFamily="2" charset="2"/>
              <a:buChar char="l"/>
            </a:pPr>
            <a:r>
              <a:rPr lang="en-US" altLang="zh-CN" dirty="0">
                <a:latin typeface="微软雅黑" charset="-122"/>
                <a:ea typeface="微软雅黑" charset="-122"/>
              </a:rPr>
              <a:t>LDM</a:t>
            </a:r>
            <a:r>
              <a:rPr lang="zh-CN" altLang="en-US" dirty="0">
                <a:latin typeface="微软雅黑" charset="-122"/>
                <a:ea typeface="微软雅黑" charset="-122"/>
              </a:rPr>
              <a:t>怎么实现带约束的图像合成</a:t>
            </a:r>
            <a:endParaRPr lang="zh-CN" altLang="en-US" dirty="0">
              <a:latin typeface="微软雅黑" charset="-122"/>
              <a:ea typeface="微软雅黑" charset="-122"/>
            </a:endParaRPr>
          </a:p>
        </p:txBody>
      </p:sp>
      <p:pic>
        <p:nvPicPr>
          <p:cNvPr id="18" name="图片 17"/>
          <p:cNvPicPr>
            <a:picLocks noChangeAspect="1"/>
          </p:cNvPicPr>
          <p:nvPr/>
        </p:nvPicPr>
        <p:blipFill>
          <a:blip r:embed="rId1"/>
          <a:stretch>
            <a:fillRect/>
          </a:stretch>
        </p:blipFill>
        <p:spPr>
          <a:xfrm>
            <a:off x="4590781" y="1066922"/>
            <a:ext cx="7459116" cy="3543795"/>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190466"/>
            <a:ext cx="11582400" cy="689932"/>
          </a:xfrm>
          <a:prstGeom prst="rect">
            <a:avLst/>
          </a:prstGeom>
        </p:spPr>
        <p:txBody>
          <a:bodyPr vert="horz" wrap="square" lIns="0" tIns="12700" rIns="0" bIns="0" rtlCol="0">
            <a:spAutoFit/>
          </a:bodyPr>
          <a:lstStyle/>
          <a:p>
            <a:pPr marL="12700">
              <a:lnSpc>
                <a:spcPct val="100000"/>
              </a:lnSpc>
              <a:spcBef>
                <a:spcPts val="100"/>
              </a:spcBef>
            </a:pPr>
            <a:r>
              <a:rPr lang="en-US" dirty="0"/>
              <a:t>Stable </a:t>
            </a:r>
            <a:r>
              <a:rPr lang="en-US" dirty="0" err="1"/>
              <a:t>diffusion:background</a:t>
            </a:r>
            <a:endParaRPr spc="-10" dirty="0"/>
          </a:p>
        </p:txBody>
      </p:sp>
      <p:sp>
        <p:nvSpPr>
          <p:cNvPr id="14" name="文本框 13"/>
          <p:cNvSpPr txBox="1"/>
          <p:nvPr/>
        </p:nvSpPr>
        <p:spPr>
          <a:xfrm>
            <a:off x="142102" y="6339109"/>
            <a:ext cx="11907795" cy="430887"/>
          </a:xfrm>
          <a:prstGeom prst="rect">
            <a:avLst/>
          </a:prstGeom>
          <a:noFill/>
        </p:spPr>
        <p:txBody>
          <a:bodyPr wrap="square">
            <a:spAutoFit/>
          </a:bodyPr>
          <a:lstStyle/>
          <a:p>
            <a:r>
              <a:rPr lang="en-US" altLang="zh-CN" sz="1100" dirty="0"/>
              <a:t>Rombach, R., </a:t>
            </a:r>
            <a:r>
              <a:rPr lang="en-US" altLang="zh-CN" sz="1100" dirty="0" err="1"/>
              <a:t>Blattmann</a:t>
            </a:r>
            <a:r>
              <a:rPr lang="en-US" altLang="zh-CN" sz="1100" dirty="0"/>
              <a:t>, A., Lorenz, D., Esser, P., &amp; </a:t>
            </a:r>
            <a:r>
              <a:rPr lang="en-US" altLang="zh-CN" sz="1100" dirty="0" err="1"/>
              <a:t>Ommer</a:t>
            </a:r>
            <a:r>
              <a:rPr lang="en-US" altLang="zh-CN" sz="1100" dirty="0"/>
              <a:t>, B. (2022). High-resolution image synthesis with latent diffusion models. In Proceedings of the IEEE/CVF conference on computer vision and pattern recognition (pp. 10684-10695).</a:t>
            </a:r>
            <a:endParaRPr lang="zh-CN" altLang="en-US" sz="1100" dirty="0"/>
          </a:p>
        </p:txBody>
      </p:sp>
      <p:sp>
        <p:nvSpPr>
          <p:cNvPr id="4" name="文本框 3"/>
          <p:cNvSpPr txBox="1"/>
          <p:nvPr/>
        </p:nvSpPr>
        <p:spPr>
          <a:xfrm>
            <a:off x="324364" y="885802"/>
            <a:ext cx="6184556" cy="369332"/>
          </a:xfrm>
          <a:prstGeom prst="rect">
            <a:avLst/>
          </a:prstGeom>
          <a:noFill/>
        </p:spPr>
        <p:txBody>
          <a:bodyPr wrap="square">
            <a:spAutoFit/>
          </a:bodyPr>
          <a:lstStyle/>
          <a:p>
            <a:pPr marL="285750" indent="-285750">
              <a:buFont typeface="Arial" panose="020B0604020202090204" pitchFamily="34" charset="0"/>
              <a:buChar char="•"/>
            </a:pPr>
            <a:r>
              <a:rPr lang="en-US" altLang="zh-CN" dirty="0"/>
              <a:t>Route 1: </a:t>
            </a:r>
            <a:r>
              <a:rPr lang="en-US" altLang="zh-CN" b="1" dirty="0"/>
              <a:t>VAE and DDPM</a:t>
            </a:r>
            <a:endParaRPr lang="zh-CN" altLang="en-US" b="1" dirty="0"/>
          </a:p>
        </p:txBody>
      </p:sp>
      <p:sp>
        <p:nvSpPr>
          <p:cNvPr id="5" name="文本框 4"/>
          <p:cNvSpPr txBox="1"/>
          <p:nvPr/>
        </p:nvSpPr>
        <p:spPr>
          <a:xfrm>
            <a:off x="324364" y="4125130"/>
            <a:ext cx="6184556" cy="646331"/>
          </a:xfrm>
          <a:prstGeom prst="rect">
            <a:avLst/>
          </a:prstGeom>
          <a:noFill/>
        </p:spPr>
        <p:txBody>
          <a:bodyPr wrap="square">
            <a:spAutoFit/>
          </a:bodyPr>
          <a:lstStyle/>
          <a:p>
            <a:pPr marL="285750" indent="-285750">
              <a:buFont typeface="Arial" panose="020B0604020202090204" pitchFamily="34" charset="0"/>
              <a:buChar char="•"/>
            </a:pPr>
            <a:r>
              <a:rPr lang="en-US" altLang="zh-CN" dirty="0"/>
              <a:t>Route 2: </a:t>
            </a:r>
            <a:r>
              <a:rPr lang="en-US" altLang="zh-CN" b="1" dirty="0"/>
              <a:t>VQVAE</a:t>
            </a:r>
            <a:endParaRPr lang="en-US" altLang="zh-CN" b="1" dirty="0"/>
          </a:p>
          <a:p>
            <a:pPr marL="285750" indent="-285750">
              <a:buFont typeface="Arial" panose="020B0604020202090204" pitchFamily="34" charset="0"/>
              <a:buChar char="•"/>
            </a:pPr>
            <a:endParaRPr lang="zh-CN" altLang="en-US" dirty="0"/>
          </a:p>
        </p:txBody>
      </p:sp>
      <p:pic>
        <p:nvPicPr>
          <p:cNvPr id="7" name="图片 6"/>
          <p:cNvPicPr>
            <a:picLocks noChangeAspect="1"/>
          </p:cNvPicPr>
          <p:nvPr/>
        </p:nvPicPr>
        <p:blipFill>
          <a:blip r:embed="rId1"/>
          <a:srcRect l="2250"/>
          <a:stretch>
            <a:fillRect/>
          </a:stretch>
        </p:blipFill>
        <p:spPr>
          <a:xfrm>
            <a:off x="1020533" y="1416743"/>
            <a:ext cx="3758001" cy="1797305"/>
          </a:xfrm>
          <a:prstGeom prst="rect">
            <a:avLst/>
          </a:prstGeom>
        </p:spPr>
      </p:pic>
      <p:pic>
        <p:nvPicPr>
          <p:cNvPr id="9" name="图片 8"/>
          <p:cNvPicPr>
            <a:picLocks noChangeAspect="1"/>
          </p:cNvPicPr>
          <p:nvPr/>
        </p:nvPicPr>
        <p:blipFill>
          <a:blip r:embed="rId2"/>
          <a:stretch>
            <a:fillRect/>
          </a:stretch>
        </p:blipFill>
        <p:spPr>
          <a:xfrm>
            <a:off x="837755" y="3335882"/>
            <a:ext cx="4027275" cy="547743"/>
          </a:xfrm>
          <a:prstGeom prst="rect">
            <a:avLst/>
          </a:prstGeom>
        </p:spPr>
      </p:pic>
      <p:pic>
        <p:nvPicPr>
          <p:cNvPr id="11" name="图片 10"/>
          <p:cNvPicPr>
            <a:picLocks noChangeAspect="1"/>
          </p:cNvPicPr>
          <p:nvPr/>
        </p:nvPicPr>
        <p:blipFill>
          <a:blip r:embed="rId3"/>
          <a:srcRect l="1135" r="578"/>
          <a:stretch>
            <a:fillRect/>
          </a:stretch>
        </p:blipFill>
        <p:spPr>
          <a:xfrm>
            <a:off x="837755" y="4448295"/>
            <a:ext cx="4816557" cy="1799804"/>
          </a:xfrm>
          <a:prstGeom prst="rect">
            <a:avLst/>
          </a:prstGeom>
        </p:spPr>
      </p:pic>
      <p:pic>
        <p:nvPicPr>
          <p:cNvPr id="17" name="图片 16"/>
          <p:cNvPicPr>
            <a:picLocks noChangeAspect="1"/>
          </p:cNvPicPr>
          <p:nvPr/>
        </p:nvPicPr>
        <p:blipFill>
          <a:blip r:embed="rId4"/>
          <a:stretch>
            <a:fillRect/>
          </a:stretch>
        </p:blipFill>
        <p:spPr>
          <a:xfrm>
            <a:off x="7596244" y="2448046"/>
            <a:ext cx="3758001" cy="2464486"/>
          </a:xfrm>
          <a:prstGeom prst="rect">
            <a:avLst/>
          </a:prstGeom>
        </p:spPr>
      </p:pic>
      <p:cxnSp>
        <p:nvCxnSpPr>
          <p:cNvPr id="20" name="直接箭头连接符 19"/>
          <p:cNvCxnSpPr/>
          <p:nvPr/>
        </p:nvCxnSpPr>
        <p:spPr>
          <a:xfrm>
            <a:off x="5338119" y="2656703"/>
            <a:ext cx="1408670" cy="679179"/>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21" name="直接箭头连接符 20"/>
          <p:cNvCxnSpPr/>
          <p:nvPr/>
        </p:nvCxnSpPr>
        <p:spPr>
          <a:xfrm flipV="1">
            <a:off x="5478421" y="4056344"/>
            <a:ext cx="1263215" cy="552726"/>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3" name="文本框 2"/>
          <p:cNvSpPr txBox="1"/>
          <p:nvPr/>
        </p:nvSpPr>
        <p:spPr>
          <a:xfrm>
            <a:off x="11734800" y="274320"/>
            <a:ext cx="315097" cy="369332"/>
          </a:xfrm>
          <a:prstGeom prst="rect">
            <a:avLst/>
          </a:prstGeom>
          <a:noFill/>
        </p:spPr>
        <p:txBody>
          <a:bodyPr wrap="square" rtlCol="0">
            <a:spAutoFit/>
          </a:bodyPr>
          <a:lstStyle/>
          <a:p>
            <a:r>
              <a:rPr lang="en-US" altLang="zh-CN" dirty="0"/>
              <a:t>1</a:t>
            </a:r>
            <a:endParaRPr lang="zh-CN" alt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190466"/>
            <a:ext cx="11582400" cy="689932"/>
          </a:xfrm>
          <a:prstGeom prst="rect">
            <a:avLst/>
          </a:prstGeom>
        </p:spPr>
        <p:txBody>
          <a:bodyPr vert="horz" wrap="square" lIns="0" tIns="12700" rIns="0" bIns="0" rtlCol="0">
            <a:spAutoFit/>
          </a:bodyPr>
          <a:lstStyle/>
          <a:p>
            <a:pPr marL="12700">
              <a:lnSpc>
                <a:spcPct val="100000"/>
              </a:lnSpc>
              <a:spcBef>
                <a:spcPts val="100"/>
              </a:spcBef>
            </a:pPr>
            <a:r>
              <a:rPr lang="en-US" dirty="0"/>
              <a:t>Stable diffusion</a:t>
            </a:r>
            <a:endParaRPr spc="-10" dirty="0"/>
          </a:p>
        </p:txBody>
      </p:sp>
      <p:sp>
        <p:nvSpPr>
          <p:cNvPr id="14" name="文本框 13"/>
          <p:cNvSpPr txBox="1"/>
          <p:nvPr/>
        </p:nvSpPr>
        <p:spPr>
          <a:xfrm>
            <a:off x="142102" y="6339109"/>
            <a:ext cx="11907795" cy="430887"/>
          </a:xfrm>
          <a:prstGeom prst="rect">
            <a:avLst/>
          </a:prstGeom>
          <a:noFill/>
        </p:spPr>
        <p:txBody>
          <a:bodyPr wrap="square">
            <a:spAutoFit/>
          </a:bodyPr>
          <a:lstStyle/>
          <a:p>
            <a:r>
              <a:rPr lang="en-US" altLang="zh-CN" sz="1100" dirty="0"/>
              <a:t>Rombach, R., </a:t>
            </a:r>
            <a:r>
              <a:rPr lang="en-US" altLang="zh-CN" sz="1100" dirty="0" err="1"/>
              <a:t>Blattmann</a:t>
            </a:r>
            <a:r>
              <a:rPr lang="en-US" altLang="zh-CN" sz="1100" dirty="0"/>
              <a:t>, A., Lorenz, D., Esser, P., &amp; </a:t>
            </a:r>
            <a:r>
              <a:rPr lang="en-US" altLang="zh-CN" sz="1100" dirty="0" err="1"/>
              <a:t>Ommer</a:t>
            </a:r>
            <a:r>
              <a:rPr lang="en-US" altLang="zh-CN" sz="1100" dirty="0"/>
              <a:t>, B. (2022). High-resolution image synthesis with latent diffusion models. In Proceedings of the IEEE/CVF conference on computer vision and pattern recognition (pp. 10684-10695).</a:t>
            </a:r>
            <a:endParaRPr lang="zh-CN" altLang="en-US" sz="1100" dirty="0"/>
          </a:p>
        </p:txBody>
      </p:sp>
      <p:sp>
        <p:nvSpPr>
          <p:cNvPr id="6" name="文本框 5"/>
          <p:cNvSpPr txBox="1"/>
          <p:nvPr/>
        </p:nvSpPr>
        <p:spPr>
          <a:xfrm>
            <a:off x="262582" y="880398"/>
            <a:ext cx="6184556" cy="326371"/>
          </a:xfrm>
          <a:prstGeom prst="rect">
            <a:avLst/>
          </a:prstGeom>
          <a:noFill/>
        </p:spPr>
        <p:txBody>
          <a:bodyPr wrap="square">
            <a:spAutoFit/>
          </a:bodyPr>
          <a:lstStyle/>
          <a:p>
            <a:pPr marL="285750" indent="-285750" algn="l">
              <a:lnSpc>
                <a:spcPts val="1800"/>
              </a:lnSpc>
              <a:buFont typeface="Wingdings" panose="05000000000000000000" pitchFamily="2" charset="2"/>
              <a:buChar char="l"/>
            </a:pPr>
            <a:r>
              <a:rPr lang="en-US" altLang="zh-CN" b="1" dirty="0">
                <a:solidFill>
                  <a:srgbClr val="1F2329"/>
                </a:solidFill>
                <a:effectLst/>
                <a:latin typeface="ui-sans-serif"/>
              </a:rPr>
              <a:t>Specific Implementation Methods of AE</a:t>
            </a:r>
            <a:endParaRPr lang="en-US" altLang="zh-CN" b="0" dirty="0">
              <a:solidFill>
                <a:srgbClr val="1F2329"/>
              </a:solidFill>
              <a:effectLst/>
              <a:latin typeface="ui-sans-serif"/>
            </a:endParaRPr>
          </a:p>
        </p:txBody>
      </p:sp>
      <p:pic>
        <p:nvPicPr>
          <p:cNvPr id="13" name="图片 12"/>
          <p:cNvPicPr>
            <a:picLocks noChangeAspect="1"/>
          </p:cNvPicPr>
          <p:nvPr/>
        </p:nvPicPr>
        <p:blipFill>
          <a:blip r:embed="rId1"/>
          <a:stretch>
            <a:fillRect/>
          </a:stretch>
        </p:blipFill>
        <p:spPr>
          <a:xfrm>
            <a:off x="372248" y="1385387"/>
            <a:ext cx="5965223" cy="2123119"/>
          </a:xfrm>
          <a:prstGeom prst="rect">
            <a:avLst/>
          </a:prstGeom>
        </p:spPr>
      </p:pic>
      <p:sp>
        <p:nvSpPr>
          <p:cNvPr id="16" name="文本框 15"/>
          <p:cNvSpPr txBox="1"/>
          <p:nvPr/>
        </p:nvSpPr>
        <p:spPr>
          <a:xfrm>
            <a:off x="372248" y="3668040"/>
            <a:ext cx="6184556" cy="369332"/>
          </a:xfrm>
          <a:prstGeom prst="rect">
            <a:avLst/>
          </a:prstGeom>
          <a:noFill/>
        </p:spPr>
        <p:txBody>
          <a:bodyPr wrap="square">
            <a:spAutoFit/>
          </a:bodyPr>
          <a:lstStyle/>
          <a:p>
            <a:pPr marL="285750" indent="-285750">
              <a:buFont typeface="Wingdings" panose="05000000000000000000" pitchFamily="2" charset="2"/>
              <a:buChar char="l"/>
            </a:pPr>
            <a:r>
              <a:rPr lang="en-US" altLang="zh-CN" b="1" dirty="0"/>
              <a:t>LDM</a:t>
            </a:r>
            <a:endParaRPr lang="zh-CN" altLang="en-US" b="1" dirty="0"/>
          </a:p>
        </p:txBody>
      </p:sp>
      <p:pic>
        <p:nvPicPr>
          <p:cNvPr id="19" name="图片 18"/>
          <p:cNvPicPr>
            <a:picLocks noChangeAspect="1"/>
          </p:cNvPicPr>
          <p:nvPr/>
        </p:nvPicPr>
        <p:blipFill>
          <a:blip r:embed="rId2"/>
          <a:stretch>
            <a:fillRect/>
          </a:stretch>
        </p:blipFill>
        <p:spPr>
          <a:xfrm>
            <a:off x="602099" y="4196906"/>
            <a:ext cx="4191585" cy="628738"/>
          </a:xfrm>
          <a:prstGeom prst="rect">
            <a:avLst/>
          </a:prstGeom>
        </p:spPr>
      </p:pic>
      <p:pic>
        <p:nvPicPr>
          <p:cNvPr id="23" name="图片 22"/>
          <p:cNvPicPr>
            <a:picLocks noChangeAspect="1"/>
          </p:cNvPicPr>
          <p:nvPr/>
        </p:nvPicPr>
        <p:blipFill>
          <a:blip r:embed="rId3"/>
          <a:stretch>
            <a:fillRect/>
          </a:stretch>
        </p:blipFill>
        <p:spPr>
          <a:xfrm>
            <a:off x="589005" y="5153481"/>
            <a:ext cx="5115639" cy="638264"/>
          </a:xfrm>
          <a:prstGeom prst="rect">
            <a:avLst/>
          </a:prstGeom>
        </p:spPr>
      </p:pic>
      <p:sp>
        <p:nvSpPr>
          <p:cNvPr id="24" name="文本框 23"/>
          <p:cNvSpPr txBox="1"/>
          <p:nvPr/>
        </p:nvSpPr>
        <p:spPr>
          <a:xfrm>
            <a:off x="7211198" y="1947847"/>
            <a:ext cx="6184556" cy="326371"/>
          </a:xfrm>
          <a:prstGeom prst="rect">
            <a:avLst/>
          </a:prstGeom>
          <a:noFill/>
        </p:spPr>
        <p:txBody>
          <a:bodyPr wrap="square">
            <a:spAutoFit/>
          </a:bodyPr>
          <a:lstStyle/>
          <a:p>
            <a:pPr marL="285750" indent="-285750" algn="l">
              <a:lnSpc>
                <a:spcPts val="1800"/>
              </a:lnSpc>
              <a:buFont typeface="Wingdings" panose="05000000000000000000" pitchFamily="2" charset="2"/>
              <a:buChar char="l"/>
            </a:pPr>
            <a:r>
              <a:rPr lang="en-US" altLang="zh-CN" b="1" dirty="0">
                <a:solidFill>
                  <a:srgbClr val="1F2329"/>
                </a:solidFill>
                <a:effectLst/>
                <a:latin typeface="ui-sans-serif"/>
              </a:rPr>
              <a:t>Conditional Constraint</a:t>
            </a:r>
            <a:endParaRPr lang="en-US" altLang="zh-CN" b="0" dirty="0">
              <a:solidFill>
                <a:srgbClr val="1F2329"/>
              </a:solidFill>
              <a:effectLst/>
              <a:latin typeface="ui-sans-serif"/>
            </a:endParaRPr>
          </a:p>
        </p:txBody>
      </p:sp>
      <p:pic>
        <p:nvPicPr>
          <p:cNvPr id="26" name="图片 25"/>
          <p:cNvPicPr>
            <a:picLocks noChangeAspect="1"/>
          </p:cNvPicPr>
          <p:nvPr/>
        </p:nvPicPr>
        <p:blipFill>
          <a:blip r:embed="rId4"/>
          <a:stretch>
            <a:fillRect/>
          </a:stretch>
        </p:blipFill>
        <p:spPr>
          <a:xfrm>
            <a:off x="6189558" y="2407959"/>
            <a:ext cx="5768840" cy="3017782"/>
          </a:xfrm>
          <a:prstGeom prst="rect">
            <a:avLst/>
          </a:prstGeom>
        </p:spPr>
      </p:pic>
      <p:sp>
        <p:nvSpPr>
          <p:cNvPr id="3" name="文本框 2"/>
          <p:cNvSpPr txBox="1"/>
          <p:nvPr/>
        </p:nvSpPr>
        <p:spPr>
          <a:xfrm>
            <a:off x="11734800" y="264160"/>
            <a:ext cx="315097" cy="369332"/>
          </a:xfrm>
          <a:prstGeom prst="rect">
            <a:avLst/>
          </a:prstGeom>
          <a:noFill/>
        </p:spPr>
        <p:txBody>
          <a:bodyPr wrap="square" rtlCol="0">
            <a:spAutoFit/>
          </a:bodyPr>
          <a:lstStyle/>
          <a:p>
            <a:r>
              <a:rPr lang="en-US" altLang="zh-CN" dirty="0"/>
              <a:t>2</a:t>
            </a:r>
            <a:endParaRPr lang="zh-CN" alt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图片 14"/>
          <p:cNvPicPr>
            <a:picLocks noChangeAspect="1"/>
          </p:cNvPicPr>
          <p:nvPr/>
        </p:nvPicPr>
        <p:blipFill>
          <a:blip r:embed="rId1"/>
          <a:stretch>
            <a:fillRect/>
          </a:stretch>
        </p:blipFill>
        <p:spPr>
          <a:xfrm>
            <a:off x="1012120" y="156706"/>
            <a:ext cx="9676476" cy="5898615"/>
          </a:xfrm>
          <a:prstGeom prst="rect">
            <a:avLst/>
          </a:prstGeom>
        </p:spPr>
      </p:pic>
      <p:sp>
        <p:nvSpPr>
          <p:cNvPr id="18" name="文本框 17"/>
          <p:cNvSpPr txBox="1"/>
          <p:nvPr/>
        </p:nvSpPr>
        <p:spPr>
          <a:xfrm>
            <a:off x="308919" y="6424295"/>
            <a:ext cx="11983993" cy="276999"/>
          </a:xfrm>
          <a:prstGeom prst="rect">
            <a:avLst/>
          </a:prstGeom>
          <a:noFill/>
        </p:spPr>
        <p:txBody>
          <a:bodyPr wrap="square">
            <a:spAutoFit/>
          </a:bodyPr>
          <a:lstStyle/>
          <a:p>
            <a:r>
              <a:rPr lang="en-US" altLang="zh-CN" sz="1200" b="0" i="0" dirty="0">
                <a:solidFill>
                  <a:srgbClr val="222222"/>
                </a:solidFill>
                <a:effectLst/>
                <a:latin typeface="Arial" panose="020B0604020202090204" pitchFamily="34" charset="0"/>
              </a:rPr>
              <a:t>Esser P, </a:t>
            </a:r>
            <a:r>
              <a:rPr lang="en-US" altLang="zh-CN" sz="1200" b="0" i="0" dirty="0" err="1">
                <a:solidFill>
                  <a:srgbClr val="222222"/>
                </a:solidFill>
                <a:effectLst/>
                <a:latin typeface="Arial" panose="020B0604020202090204" pitchFamily="34" charset="0"/>
              </a:rPr>
              <a:t>Kulal</a:t>
            </a:r>
            <a:r>
              <a:rPr lang="en-US" altLang="zh-CN" sz="1200" b="0" i="0" dirty="0">
                <a:solidFill>
                  <a:srgbClr val="222222"/>
                </a:solidFill>
                <a:effectLst/>
                <a:latin typeface="Arial" panose="020B0604020202090204" pitchFamily="34" charset="0"/>
              </a:rPr>
              <a:t> S, </a:t>
            </a:r>
            <a:r>
              <a:rPr lang="en-US" altLang="zh-CN" sz="1200" b="0" i="0" dirty="0" err="1">
                <a:solidFill>
                  <a:srgbClr val="222222"/>
                </a:solidFill>
                <a:effectLst/>
                <a:latin typeface="Arial" panose="020B0604020202090204" pitchFamily="34" charset="0"/>
              </a:rPr>
              <a:t>Blattmann</a:t>
            </a:r>
            <a:r>
              <a:rPr lang="en-US" altLang="zh-CN" sz="1200" b="0" i="0" dirty="0">
                <a:solidFill>
                  <a:srgbClr val="222222"/>
                </a:solidFill>
                <a:effectLst/>
                <a:latin typeface="Arial" panose="020B0604020202090204" pitchFamily="34" charset="0"/>
              </a:rPr>
              <a:t> A, et al. Scaling rectified flow transformers for high-resolution image synthesis[C]//Forty-first international conference on machine learning. 2024.</a:t>
            </a:r>
            <a:endParaRPr lang="zh-CN" altLang="en-US" sz="1200" dirty="0"/>
          </a:p>
        </p:txBody>
      </p:sp>
      <p:sp>
        <p:nvSpPr>
          <p:cNvPr id="2" name="文本框 1"/>
          <p:cNvSpPr txBox="1"/>
          <p:nvPr/>
        </p:nvSpPr>
        <p:spPr>
          <a:xfrm>
            <a:off x="69145" y="156706"/>
            <a:ext cx="1885950" cy="461665"/>
          </a:xfrm>
          <a:prstGeom prst="rect">
            <a:avLst/>
          </a:prstGeom>
          <a:noFill/>
        </p:spPr>
        <p:txBody>
          <a:bodyPr wrap="square" rtlCol="0">
            <a:spAutoFit/>
          </a:bodyPr>
          <a:lstStyle/>
          <a:p>
            <a:r>
              <a:rPr lang="en-US" altLang="zh-CN" sz="2400" dirty="0"/>
              <a:t>SD3(MM-</a:t>
            </a:r>
            <a:r>
              <a:rPr lang="en-US" altLang="zh-CN" sz="2400" dirty="0" err="1"/>
              <a:t>DiT</a:t>
            </a:r>
            <a:r>
              <a:rPr lang="en-US" altLang="zh-CN" sz="2400" dirty="0"/>
              <a:t>)</a:t>
            </a:r>
            <a:endParaRPr lang="zh-CN" altLang="en-US" sz="2400" dirty="0"/>
          </a:p>
        </p:txBody>
      </p:sp>
      <p:sp>
        <p:nvSpPr>
          <p:cNvPr id="3" name="文本框 2"/>
          <p:cNvSpPr txBox="1"/>
          <p:nvPr/>
        </p:nvSpPr>
        <p:spPr>
          <a:xfrm>
            <a:off x="11734800" y="274320"/>
            <a:ext cx="315097" cy="369332"/>
          </a:xfrm>
          <a:prstGeom prst="rect">
            <a:avLst/>
          </a:prstGeom>
          <a:noFill/>
        </p:spPr>
        <p:txBody>
          <a:bodyPr wrap="square" rtlCol="0">
            <a:spAutoFit/>
          </a:bodyPr>
          <a:lstStyle/>
          <a:p>
            <a:r>
              <a:rPr lang="en-US" altLang="zh-CN" dirty="0"/>
              <a:t>3</a:t>
            </a:r>
            <a:endParaRPr lang="zh-CN" alt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23913" y="2162141"/>
            <a:ext cx="11582400" cy="843821"/>
          </a:xfrm>
          <a:prstGeom prst="rect">
            <a:avLst/>
          </a:prstGeom>
        </p:spPr>
        <p:txBody>
          <a:bodyPr vert="horz" wrap="square" lIns="0" tIns="12700" rIns="0" bIns="0" rtlCol="0">
            <a:spAutoFit/>
          </a:bodyPr>
          <a:lstStyle/>
          <a:p>
            <a:pPr marL="12700">
              <a:lnSpc>
                <a:spcPct val="100000"/>
              </a:lnSpc>
              <a:spcBef>
                <a:spcPts val="100"/>
              </a:spcBef>
            </a:pPr>
            <a:r>
              <a:rPr lang="en-US" altLang="zh-CN" sz="5400" dirty="0"/>
              <a:t>Guidance and Controllable Generation</a:t>
            </a:r>
            <a:endParaRPr sz="5400" spc="-10" dirty="0"/>
          </a:p>
        </p:txBody>
      </p:sp>
      <p:sp>
        <p:nvSpPr>
          <p:cNvPr id="3" name="文本框 2"/>
          <p:cNvSpPr txBox="1"/>
          <p:nvPr/>
        </p:nvSpPr>
        <p:spPr>
          <a:xfrm>
            <a:off x="4707731" y="3429000"/>
            <a:ext cx="3814763" cy="1200329"/>
          </a:xfrm>
          <a:prstGeom prst="rect">
            <a:avLst/>
          </a:prstGeom>
          <a:noFill/>
        </p:spPr>
        <p:txBody>
          <a:bodyPr wrap="square" rtlCol="0">
            <a:spAutoFit/>
          </a:bodyPr>
          <a:lstStyle/>
          <a:p>
            <a:pPr marL="342900" indent="-342900">
              <a:buFont typeface="Arial" panose="020B0604020202090204" pitchFamily="34" charset="0"/>
              <a:buChar char="•"/>
            </a:pPr>
            <a:r>
              <a:rPr lang="en-US" altLang="zh-CN" sz="2400" dirty="0"/>
              <a:t>Classifier Guidance</a:t>
            </a:r>
            <a:endParaRPr lang="en-US" altLang="zh-CN" sz="2400" dirty="0"/>
          </a:p>
          <a:p>
            <a:pPr marL="342900" indent="-342900">
              <a:buFont typeface="Arial" panose="020B0604020202090204" pitchFamily="34" charset="0"/>
              <a:buChar char="•"/>
            </a:pPr>
            <a:r>
              <a:rPr lang="en-US" altLang="zh-CN" sz="2400" dirty="0"/>
              <a:t>Classifier-Free Guidance</a:t>
            </a:r>
            <a:endParaRPr lang="en-US" altLang="zh-CN" sz="2400" dirty="0"/>
          </a:p>
          <a:p>
            <a:pPr marL="342900" indent="-342900">
              <a:buFont typeface="Arial" panose="020B0604020202090204" pitchFamily="34" charset="0"/>
              <a:buChar char="•"/>
            </a:pPr>
            <a:r>
              <a:rPr lang="en-US" altLang="zh-CN" sz="2400" dirty="0"/>
              <a:t>Model Alignment </a:t>
            </a:r>
            <a:endParaRPr lang="zh-CN" altLang="en-US" sz="2400" dirty="0"/>
          </a:p>
        </p:txBody>
      </p:sp>
      <p:sp>
        <p:nvSpPr>
          <p:cNvPr id="4" name="文本框 3"/>
          <p:cNvSpPr txBox="1"/>
          <p:nvPr/>
        </p:nvSpPr>
        <p:spPr>
          <a:xfrm>
            <a:off x="11734800" y="274320"/>
            <a:ext cx="315097" cy="369332"/>
          </a:xfrm>
          <a:prstGeom prst="rect">
            <a:avLst/>
          </a:prstGeom>
          <a:noFill/>
        </p:spPr>
        <p:txBody>
          <a:bodyPr wrap="square" rtlCol="0">
            <a:spAutoFit/>
          </a:bodyPr>
          <a:lstStyle/>
          <a:p>
            <a:r>
              <a:rPr lang="en-US" altLang="zh-CN" dirty="0"/>
              <a:t>4</a:t>
            </a:r>
            <a:endParaRPr lang="zh-CN" alt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190466"/>
            <a:ext cx="11582400" cy="689932"/>
          </a:xfrm>
          <a:prstGeom prst="rect">
            <a:avLst/>
          </a:prstGeom>
        </p:spPr>
        <p:txBody>
          <a:bodyPr vert="horz" wrap="square" lIns="0" tIns="12700" rIns="0" bIns="0" rtlCol="0">
            <a:spAutoFit/>
          </a:bodyPr>
          <a:lstStyle/>
          <a:p>
            <a:pPr marL="12700">
              <a:lnSpc>
                <a:spcPct val="100000"/>
              </a:lnSpc>
              <a:spcBef>
                <a:spcPts val="100"/>
              </a:spcBef>
            </a:pPr>
            <a:r>
              <a:rPr lang="en-US" dirty="0"/>
              <a:t>Classifier Guidance</a:t>
            </a:r>
            <a:endParaRPr spc="-10" dirty="0"/>
          </a:p>
        </p:txBody>
      </p:sp>
      <p:pic>
        <p:nvPicPr>
          <p:cNvPr id="5" name="图片 4"/>
          <p:cNvPicPr>
            <a:picLocks noChangeAspect="1"/>
          </p:cNvPicPr>
          <p:nvPr/>
        </p:nvPicPr>
        <p:blipFill>
          <a:blip r:embed="rId1"/>
          <a:stretch>
            <a:fillRect/>
          </a:stretch>
        </p:blipFill>
        <p:spPr>
          <a:xfrm>
            <a:off x="4108282" y="1235618"/>
            <a:ext cx="2721266" cy="843001"/>
          </a:xfrm>
          <a:prstGeom prst="rect">
            <a:avLst/>
          </a:prstGeom>
        </p:spPr>
      </p:pic>
      <p:sp>
        <p:nvSpPr>
          <p:cNvPr id="6" name="矩形 5"/>
          <p:cNvSpPr/>
          <p:nvPr/>
        </p:nvSpPr>
        <p:spPr>
          <a:xfrm>
            <a:off x="2319454" y="1115122"/>
            <a:ext cx="7069873" cy="1083995"/>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pic>
        <p:nvPicPr>
          <p:cNvPr id="8" name="图片 7"/>
          <p:cNvPicPr>
            <a:picLocks noChangeAspect="1"/>
          </p:cNvPicPr>
          <p:nvPr/>
        </p:nvPicPr>
        <p:blipFill>
          <a:blip r:embed="rId2"/>
          <a:stretch>
            <a:fillRect/>
          </a:stretch>
        </p:blipFill>
        <p:spPr>
          <a:xfrm>
            <a:off x="1480549" y="2514472"/>
            <a:ext cx="8430802" cy="1829055"/>
          </a:xfrm>
          <a:prstGeom prst="rect">
            <a:avLst/>
          </a:prstGeom>
        </p:spPr>
      </p:pic>
      <p:pic>
        <p:nvPicPr>
          <p:cNvPr id="10" name="图片 9"/>
          <p:cNvPicPr>
            <a:picLocks noChangeAspect="1"/>
          </p:cNvPicPr>
          <p:nvPr/>
        </p:nvPicPr>
        <p:blipFill>
          <a:blip r:embed="rId3"/>
          <a:stretch>
            <a:fillRect/>
          </a:stretch>
        </p:blipFill>
        <p:spPr>
          <a:xfrm>
            <a:off x="3909728" y="4577870"/>
            <a:ext cx="4067743" cy="704948"/>
          </a:xfrm>
          <a:prstGeom prst="rect">
            <a:avLst/>
          </a:prstGeom>
        </p:spPr>
      </p:pic>
      <p:pic>
        <p:nvPicPr>
          <p:cNvPr id="12" name="图片 11"/>
          <p:cNvPicPr>
            <a:picLocks noChangeAspect="1"/>
          </p:cNvPicPr>
          <p:nvPr/>
        </p:nvPicPr>
        <p:blipFill>
          <a:blip r:embed="rId4"/>
          <a:stretch>
            <a:fillRect/>
          </a:stretch>
        </p:blipFill>
        <p:spPr>
          <a:xfrm>
            <a:off x="1572305" y="5404693"/>
            <a:ext cx="8564170" cy="676369"/>
          </a:xfrm>
          <a:prstGeom prst="rect">
            <a:avLst/>
          </a:prstGeom>
        </p:spPr>
      </p:pic>
      <p:sp>
        <p:nvSpPr>
          <p:cNvPr id="3" name="文本框 2"/>
          <p:cNvSpPr txBox="1"/>
          <p:nvPr/>
        </p:nvSpPr>
        <p:spPr>
          <a:xfrm>
            <a:off x="11734800" y="274320"/>
            <a:ext cx="315097" cy="369332"/>
          </a:xfrm>
          <a:prstGeom prst="rect">
            <a:avLst/>
          </a:prstGeom>
          <a:noFill/>
        </p:spPr>
        <p:txBody>
          <a:bodyPr wrap="square" rtlCol="0">
            <a:spAutoFit/>
          </a:bodyPr>
          <a:lstStyle/>
          <a:p>
            <a:r>
              <a:rPr lang="en-US" altLang="zh-CN" dirty="0"/>
              <a:t>5</a:t>
            </a:r>
            <a:endParaRPr lang="zh-CN" alt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190466"/>
            <a:ext cx="11582400" cy="689932"/>
          </a:xfrm>
          <a:prstGeom prst="rect">
            <a:avLst/>
          </a:prstGeom>
        </p:spPr>
        <p:txBody>
          <a:bodyPr vert="horz" wrap="square" lIns="0" tIns="12700" rIns="0" bIns="0" rtlCol="0">
            <a:spAutoFit/>
          </a:bodyPr>
          <a:lstStyle/>
          <a:p>
            <a:pPr marL="12700">
              <a:lnSpc>
                <a:spcPct val="100000"/>
              </a:lnSpc>
              <a:spcBef>
                <a:spcPts val="100"/>
              </a:spcBef>
            </a:pPr>
            <a:r>
              <a:rPr lang="en-US" dirty="0"/>
              <a:t>Classifier Guidance</a:t>
            </a:r>
            <a:endParaRPr spc="-10" dirty="0"/>
          </a:p>
        </p:txBody>
      </p:sp>
      <p:pic>
        <p:nvPicPr>
          <p:cNvPr id="4" name="图片 3"/>
          <p:cNvPicPr>
            <a:picLocks noChangeAspect="1"/>
          </p:cNvPicPr>
          <p:nvPr/>
        </p:nvPicPr>
        <p:blipFill>
          <a:blip r:embed="rId1"/>
          <a:stretch>
            <a:fillRect/>
          </a:stretch>
        </p:blipFill>
        <p:spPr>
          <a:xfrm>
            <a:off x="2941144" y="1453306"/>
            <a:ext cx="4465219" cy="767031"/>
          </a:xfrm>
          <a:prstGeom prst="rect">
            <a:avLst/>
          </a:prstGeom>
        </p:spPr>
      </p:pic>
      <p:sp>
        <p:nvSpPr>
          <p:cNvPr id="9" name="文本框 8"/>
          <p:cNvSpPr txBox="1"/>
          <p:nvPr/>
        </p:nvSpPr>
        <p:spPr>
          <a:xfrm>
            <a:off x="820055" y="1002273"/>
            <a:ext cx="8430801" cy="461665"/>
          </a:xfrm>
          <a:prstGeom prst="rect">
            <a:avLst/>
          </a:prstGeom>
          <a:noFill/>
        </p:spPr>
        <p:txBody>
          <a:bodyPr wrap="square">
            <a:spAutoFit/>
          </a:bodyPr>
          <a:lstStyle/>
          <a:p>
            <a:r>
              <a:rPr lang="en-US" altLang="zh-CN" sz="2400" dirty="0"/>
              <a:t>Specifically, we define a one-parameter family of guided densities</a:t>
            </a:r>
            <a:endParaRPr lang="zh-CN" altLang="en-US" sz="2400" dirty="0"/>
          </a:p>
        </p:txBody>
      </p:sp>
      <p:pic>
        <p:nvPicPr>
          <p:cNvPr id="13" name="图片 12"/>
          <p:cNvPicPr>
            <a:picLocks noChangeAspect="1"/>
          </p:cNvPicPr>
          <p:nvPr/>
        </p:nvPicPr>
        <p:blipFill>
          <a:blip r:embed="rId2"/>
          <a:stretch>
            <a:fillRect/>
          </a:stretch>
        </p:blipFill>
        <p:spPr>
          <a:xfrm>
            <a:off x="820055" y="2220337"/>
            <a:ext cx="8668487" cy="1351538"/>
          </a:xfrm>
          <a:prstGeom prst="rect">
            <a:avLst/>
          </a:prstGeom>
        </p:spPr>
      </p:pic>
      <p:pic>
        <p:nvPicPr>
          <p:cNvPr id="15" name="图片 14"/>
          <p:cNvPicPr>
            <a:picLocks noChangeAspect="1"/>
          </p:cNvPicPr>
          <p:nvPr/>
        </p:nvPicPr>
        <p:blipFill>
          <a:blip r:embed="rId3"/>
          <a:stretch>
            <a:fillRect/>
          </a:stretch>
        </p:blipFill>
        <p:spPr>
          <a:xfrm>
            <a:off x="1077029" y="3952530"/>
            <a:ext cx="8154538" cy="2715004"/>
          </a:xfrm>
          <a:prstGeom prst="rect">
            <a:avLst/>
          </a:prstGeom>
        </p:spPr>
      </p:pic>
      <p:sp>
        <p:nvSpPr>
          <p:cNvPr id="3" name="文本框 2"/>
          <p:cNvSpPr txBox="1"/>
          <p:nvPr/>
        </p:nvSpPr>
        <p:spPr>
          <a:xfrm>
            <a:off x="11734800" y="274320"/>
            <a:ext cx="315097" cy="369332"/>
          </a:xfrm>
          <a:prstGeom prst="rect">
            <a:avLst/>
          </a:prstGeom>
          <a:noFill/>
        </p:spPr>
        <p:txBody>
          <a:bodyPr wrap="square" rtlCol="0">
            <a:spAutoFit/>
          </a:bodyPr>
          <a:lstStyle/>
          <a:p>
            <a:r>
              <a:rPr lang="en-US" altLang="zh-CN" dirty="0"/>
              <a:t>6</a:t>
            </a:r>
            <a:endParaRPr lang="zh-CN" alt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文本框 19"/>
          <p:cNvSpPr txBox="1"/>
          <p:nvPr/>
        </p:nvSpPr>
        <p:spPr>
          <a:xfrm>
            <a:off x="517922" y="4064482"/>
            <a:ext cx="10526316" cy="1569660"/>
          </a:xfrm>
          <a:prstGeom prst="rect">
            <a:avLst/>
          </a:prstGeom>
          <a:noFill/>
        </p:spPr>
        <p:txBody>
          <a:bodyPr wrap="square">
            <a:spAutoFit/>
          </a:bodyPr>
          <a:lstStyle/>
          <a:p>
            <a:pPr marL="342900" indent="-342900">
              <a:buFont typeface="Wingdings" panose="05000000000000000000" pitchFamily="2" charset="2"/>
              <a:buChar char="l"/>
            </a:pPr>
            <a:r>
              <a:rPr lang="en-US" altLang="zh-CN" sz="2400" dirty="0"/>
              <a:t>After training, the classifier provides scores that serves as a surrogate for the true likelihood gradient: </a:t>
            </a:r>
            <a:endParaRPr lang="en-US" altLang="zh-CN" sz="2400" dirty="0"/>
          </a:p>
          <a:p>
            <a:endParaRPr lang="en-US" altLang="zh-CN" sz="2400" dirty="0"/>
          </a:p>
          <a:p>
            <a:pPr marL="342900" indent="-342900">
              <a:buFont typeface="Wingdings" panose="05000000000000000000" pitchFamily="2" charset="2"/>
              <a:buChar char="l"/>
            </a:pPr>
            <a:r>
              <a:rPr lang="en-US" altLang="zh-CN" sz="2400" dirty="0"/>
              <a:t>Inference</a:t>
            </a:r>
            <a:endParaRPr lang="en-US" altLang="zh-CN" sz="2400" dirty="0"/>
          </a:p>
        </p:txBody>
      </p:sp>
      <p:sp>
        <p:nvSpPr>
          <p:cNvPr id="2" name="object 2"/>
          <p:cNvSpPr txBox="1">
            <a:spLocks noGrp="1"/>
          </p:cNvSpPr>
          <p:nvPr>
            <p:ph type="title"/>
          </p:nvPr>
        </p:nvSpPr>
        <p:spPr>
          <a:xfrm>
            <a:off x="152400" y="190466"/>
            <a:ext cx="11582400" cy="689932"/>
          </a:xfrm>
          <a:prstGeom prst="rect">
            <a:avLst/>
          </a:prstGeom>
        </p:spPr>
        <p:txBody>
          <a:bodyPr vert="horz" wrap="square" lIns="0" tIns="12700" rIns="0" bIns="0" rtlCol="0">
            <a:spAutoFit/>
          </a:bodyPr>
          <a:lstStyle/>
          <a:p>
            <a:pPr marL="12700">
              <a:lnSpc>
                <a:spcPct val="100000"/>
              </a:lnSpc>
              <a:spcBef>
                <a:spcPts val="100"/>
              </a:spcBef>
            </a:pPr>
            <a:r>
              <a:rPr lang="en-US" dirty="0"/>
              <a:t>Classifier Guidance</a:t>
            </a:r>
            <a:endParaRPr spc="-10" dirty="0"/>
          </a:p>
        </p:txBody>
      </p:sp>
      <p:pic>
        <p:nvPicPr>
          <p:cNvPr id="5" name="图片 4"/>
          <p:cNvPicPr>
            <a:picLocks noChangeAspect="1"/>
          </p:cNvPicPr>
          <p:nvPr/>
        </p:nvPicPr>
        <p:blipFill>
          <a:blip r:embed="rId1"/>
          <a:stretch>
            <a:fillRect/>
          </a:stretch>
        </p:blipFill>
        <p:spPr>
          <a:xfrm>
            <a:off x="2671763" y="2600282"/>
            <a:ext cx="6415087" cy="780213"/>
          </a:xfrm>
          <a:prstGeom prst="rect">
            <a:avLst/>
          </a:prstGeom>
        </p:spPr>
      </p:pic>
      <p:pic>
        <p:nvPicPr>
          <p:cNvPr id="7" name="图片 6"/>
          <p:cNvPicPr>
            <a:picLocks noChangeAspect="1"/>
          </p:cNvPicPr>
          <p:nvPr/>
        </p:nvPicPr>
        <p:blipFill>
          <a:blip r:embed="rId2"/>
          <a:stretch>
            <a:fillRect/>
          </a:stretch>
        </p:blipFill>
        <p:spPr>
          <a:xfrm>
            <a:off x="4005560" y="4453690"/>
            <a:ext cx="4842647" cy="546935"/>
          </a:xfrm>
          <a:prstGeom prst="rect">
            <a:avLst/>
          </a:prstGeom>
        </p:spPr>
      </p:pic>
      <p:sp>
        <p:nvSpPr>
          <p:cNvPr id="10" name="文本框 9"/>
          <p:cNvSpPr txBox="1"/>
          <p:nvPr/>
        </p:nvSpPr>
        <p:spPr>
          <a:xfrm>
            <a:off x="517922" y="1120942"/>
            <a:ext cx="10526316" cy="1569660"/>
          </a:xfrm>
          <a:prstGeom prst="rect">
            <a:avLst/>
          </a:prstGeom>
          <a:noFill/>
        </p:spPr>
        <p:txBody>
          <a:bodyPr wrap="square">
            <a:spAutoFit/>
          </a:bodyPr>
          <a:lstStyle/>
          <a:p>
            <a:pPr marL="342900" indent="-342900">
              <a:buFont typeface="Wingdings" panose="05000000000000000000" pitchFamily="2" charset="2"/>
              <a:buChar char="l"/>
            </a:pPr>
            <a:r>
              <a:rPr lang="en-US" altLang="zh-CN" sz="2400" dirty="0"/>
              <a:t>CG is applied only at sampling time, without modifying the diffusion model itself. To enable this, a </a:t>
            </a:r>
            <a:r>
              <a:rPr lang="en-US" altLang="zh-CN" sz="2400" b="1" dirty="0"/>
              <a:t>time-dependent classifier                           </a:t>
            </a:r>
            <a:r>
              <a:rPr lang="en-US" altLang="zh-CN" sz="2400" dirty="0"/>
              <a:t>is trained separately to predict the condition c from noisy inputs </a:t>
            </a:r>
            <a:r>
              <a:rPr lang="en-US" altLang="zh-CN" sz="2400" dirty="0" err="1"/>
              <a:t>xt</a:t>
            </a:r>
            <a:r>
              <a:rPr lang="en-US" altLang="zh-CN" sz="2400" dirty="0"/>
              <a:t> at different noise levels t. </a:t>
            </a:r>
            <a:endParaRPr lang="en-US" altLang="zh-CN" sz="2400" dirty="0"/>
          </a:p>
          <a:p>
            <a:pPr marL="342900" indent="-342900">
              <a:buFont typeface="Wingdings" panose="05000000000000000000" pitchFamily="2" charset="2"/>
              <a:buChar char="l"/>
            </a:pPr>
            <a:r>
              <a:rPr lang="en-US" altLang="zh-CN" sz="2400" dirty="0"/>
              <a:t>The classifier is trained in a standard way by minimizing the cross-entropy loss:</a:t>
            </a:r>
            <a:endParaRPr lang="zh-CN" altLang="en-US" sz="2400" dirty="0"/>
          </a:p>
        </p:txBody>
      </p:sp>
      <p:pic>
        <p:nvPicPr>
          <p:cNvPr id="12" name="图片 11"/>
          <p:cNvPicPr>
            <a:picLocks noChangeAspect="1"/>
          </p:cNvPicPr>
          <p:nvPr/>
        </p:nvPicPr>
        <p:blipFill>
          <a:blip r:embed="rId3"/>
          <a:stretch>
            <a:fillRect/>
          </a:stretch>
        </p:blipFill>
        <p:spPr>
          <a:xfrm>
            <a:off x="6558244" y="1464572"/>
            <a:ext cx="1290638" cy="451723"/>
          </a:xfrm>
          <a:prstGeom prst="rect">
            <a:avLst/>
          </a:prstGeom>
        </p:spPr>
      </p:pic>
      <p:sp>
        <p:nvSpPr>
          <p:cNvPr id="16" name="文本框 15"/>
          <p:cNvSpPr txBox="1"/>
          <p:nvPr/>
        </p:nvSpPr>
        <p:spPr>
          <a:xfrm>
            <a:off x="964547" y="3318163"/>
            <a:ext cx="10262906" cy="830997"/>
          </a:xfrm>
          <a:prstGeom prst="rect">
            <a:avLst/>
          </a:prstGeom>
          <a:noFill/>
        </p:spPr>
        <p:txBody>
          <a:bodyPr wrap="square">
            <a:spAutoFit/>
          </a:bodyPr>
          <a:lstStyle/>
          <a:p>
            <a:r>
              <a:rPr lang="en-US" altLang="zh-CN" sz="2400" dirty="0"/>
              <a:t>where (x, c) ∼ </a:t>
            </a:r>
            <a:r>
              <a:rPr lang="en-US" altLang="zh-CN" sz="2400" dirty="0" err="1"/>
              <a:t>pdata</a:t>
            </a:r>
            <a:r>
              <a:rPr lang="en-US" altLang="zh-CN" sz="2400" dirty="0"/>
              <a:t> denotes paired labeled data, and                                     is the noisy input at time t.</a:t>
            </a:r>
            <a:endParaRPr lang="zh-CN" altLang="en-US" sz="2400" dirty="0"/>
          </a:p>
        </p:txBody>
      </p:sp>
      <p:pic>
        <p:nvPicPr>
          <p:cNvPr id="18" name="图片 17"/>
          <p:cNvPicPr>
            <a:picLocks noChangeAspect="1"/>
          </p:cNvPicPr>
          <p:nvPr/>
        </p:nvPicPr>
        <p:blipFill>
          <a:blip r:embed="rId4"/>
          <a:stretch>
            <a:fillRect/>
          </a:stretch>
        </p:blipFill>
        <p:spPr>
          <a:xfrm>
            <a:off x="7848882" y="3278455"/>
            <a:ext cx="2238093" cy="455206"/>
          </a:xfrm>
          <a:prstGeom prst="rect">
            <a:avLst/>
          </a:prstGeom>
        </p:spPr>
      </p:pic>
      <p:pic>
        <p:nvPicPr>
          <p:cNvPr id="22" name="图片 21"/>
          <p:cNvPicPr>
            <a:picLocks noChangeAspect="1"/>
          </p:cNvPicPr>
          <p:nvPr/>
        </p:nvPicPr>
        <p:blipFill>
          <a:blip r:embed="rId5"/>
          <a:srcRect b="39222"/>
          <a:stretch>
            <a:fillRect/>
          </a:stretch>
        </p:blipFill>
        <p:spPr>
          <a:xfrm>
            <a:off x="2286001" y="5107541"/>
            <a:ext cx="7286624" cy="942262"/>
          </a:xfrm>
          <a:prstGeom prst="rect">
            <a:avLst/>
          </a:prstGeom>
        </p:spPr>
      </p:pic>
      <p:pic>
        <p:nvPicPr>
          <p:cNvPr id="24" name="图片 23"/>
          <p:cNvPicPr>
            <a:picLocks noChangeAspect="1"/>
          </p:cNvPicPr>
          <p:nvPr/>
        </p:nvPicPr>
        <p:blipFill>
          <a:blip r:embed="rId6"/>
          <a:stretch>
            <a:fillRect/>
          </a:stretch>
        </p:blipFill>
        <p:spPr>
          <a:xfrm>
            <a:off x="4005560" y="6151829"/>
            <a:ext cx="3181794" cy="457264"/>
          </a:xfrm>
          <a:prstGeom prst="rect">
            <a:avLst/>
          </a:prstGeom>
        </p:spPr>
      </p:pic>
      <p:pic>
        <p:nvPicPr>
          <p:cNvPr id="25" name="图片 24"/>
          <p:cNvPicPr>
            <a:picLocks noChangeAspect="1"/>
          </p:cNvPicPr>
          <p:nvPr/>
        </p:nvPicPr>
        <p:blipFill>
          <a:blip r:embed="rId5"/>
          <a:srcRect l="27670" t="64013" r="36729" b="8706"/>
          <a:stretch>
            <a:fillRect/>
          </a:stretch>
        </p:blipFill>
        <p:spPr>
          <a:xfrm>
            <a:off x="9289298" y="5137717"/>
            <a:ext cx="2840865" cy="608691"/>
          </a:xfrm>
          <a:prstGeom prst="rect">
            <a:avLst/>
          </a:prstGeom>
        </p:spPr>
      </p:pic>
      <p:sp>
        <p:nvSpPr>
          <p:cNvPr id="3" name="文本框 2"/>
          <p:cNvSpPr txBox="1"/>
          <p:nvPr/>
        </p:nvSpPr>
        <p:spPr>
          <a:xfrm>
            <a:off x="11734800" y="274320"/>
            <a:ext cx="315097" cy="369332"/>
          </a:xfrm>
          <a:prstGeom prst="rect">
            <a:avLst/>
          </a:prstGeom>
          <a:noFill/>
        </p:spPr>
        <p:txBody>
          <a:bodyPr wrap="square" rtlCol="0">
            <a:spAutoFit/>
          </a:bodyPr>
          <a:lstStyle/>
          <a:p>
            <a:r>
              <a:rPr lang="en-US" altLang="zh-CN" dirty="0"/>
              <a:t>7</a:t>
            </a:r>
            <a:endParaRPr lang="zh-CN" alt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190466"/>
            <a:ext cx="11582400" cy="689932"/>
          </a:xfrm>
          <a:prstGeom prst="rect">
            <a:avLst/>
          </a:prstGeom>
        </p:spPr>
        <p:txBody>
          <a:bodyPr vert="horz" wrap="square" lIns="0" tIns="12700" rIns="0" bIns="0" rtlCol="0">
            <a:spAutoFit/>
          </a:bodyPr>
          <a:lstStyle/>
          <a:p>
            <a:pPr marL="12700">
              <a:lnSpc>
                <a:spcPct val="100000"/>
              </a:lnSpc>
              <a:spcBef>
                <a:spcPts val="100"/>
              </a:spcBef>
            </a:pPr>
            <a:r>
              <a:rPr lang="en-US" dirty="0"/>
              <a:t>Classifier Guidance</a:t>
            </a:r>
            <a:endParaRPr spc="-10" dirty="0"/>
          </a:p>
        </p:txBody>
      </p:sp>
      <p:pic>
        <p:nvPicPr>
          <p:cNvPr id="4" name="图片 3"/>
          <p:cNvPicPr>
            <a:picLocks noChangeAspect="1"/>
          </p:cNvPicPr>
          <p:nvPr/>
        </p:nvPicPr>
        <p:blipFill>
          <a:blip r:embed="rId1"/>
          <a:stretch>
            <a:fillRect/>
          </a:stretch>
        </p:blipFill>
        <p:spPr>
          <a:xfrm>
            <a:off x="785218" y="2114362"/>
            <a:ext cx="10316173" cy="3257739"/>
          </a:xfrm>
          <a:prstGeom prst="rect">
            <a:avLst/>
          </a:prstGeom>
        </p:spPr>
      </p:pic>
      <p:sp>
        <p:nvSpPr>
          <p:cNvPr id="6" name="文本框 5"/>
          <p:cNvSpPr txBox="1"/>
          <p:nvPr/>
        </p:nvSpPr>
        <p:spPr>
          <a:xfrm>
            <a:off x="785218" y="1347679"/>
            <a:ext cx="2843213" cy="646331"/>
          </a:xfrm>
          <a:prstGeom prst="rect">
            <a:avLst/>
          </a:prstGeom>
          <a:noFill/>
        </p:spPr>
        <p:txBody>
          <a:bodyPr wrap="square" rtlCol="0">
            <a:spAutoFit/>
          </a:bodyPr>
          <a:lstStyle/>
          <a:p>
            <a:r>
              <a:rPr lang="en-US" altLang="zh-CN" sz="3600" b="1" dirty="0"/>
              <a:t>Limitations</a:t>
            </a:r>
            <a:endParaRPr lang="zh-CN" altLang="en-US" sz="3600" dirty="0"/>
          </a:p>
        </p:txBody>
      </p:sp>
      <p:sp>
        <p:nvSpPr>
          <p:cNvPr id="3" name="文本框 2"/>
          <p:cNvSpPr txBox="1"/>
          <p:nvPr/>
        </p:nvSpPr>
        <p:spPr>
          <a:xfrm>
            <a:off x="11734800" y="274320"/>
            <a:ext cx="315097" cy="369332"/>
          </a:xfrm>
          <a:prstGeom prst="rect">
            <a:avLst/>
          </a:prstGeom>
          <a:noFill/>
        </p:spPr>
        <p:txBody>
          <a:bodyPr wrap="square" rtlCol="0">
            <a:spAutoFit/>
          </a:bodyPr>
          <a:lstStyle/>
          <a:p>
            <a:r>
              <a:rPr lang="en-US" altLang="zh-CN" dirty="0"/>
              <a:t>8</a:t>
            </a:r>
            <a:endParaRPr lang="zh-CN" alt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190466"/>
            <a:ext cx="11582400" cy="689932"/>
          </a:xfrm>
          <a:prstGeom prst="rect">
            <a:avLst/>
          </a:prstGeom>
        </p:spPr>
        <p:txBody>
          <a:bodyPr vert="horz" wrap="square" lIns="0" tIns="12700" rIns="0" bIns="0" rtlCol="0">
            <a:spAutoFit/>
          </a:bodyPr>
          <a:lstStyle/>
          <a:p>
            <a:pPr marL="12700">
              <a:lnSpc>
                <a:spcPct val="100000"/>
              </a:lnSpc>
              <a:spcBef>
                <a:spcPts val="100"/>
              </a:spcBef>
            </a:pPr>
            <a:r>
              <a:rPr lang="en-US" dirty="0"/>
              <a:t>Classifier F</a:t>
            </a:r>
            <a:r>
              <a:rPr lang="en-US" altLang="zh-CN" dirty="0"/>
              <a:t>ree</a:t>
            </a:r>
            <a:r>
              <a:rPr lang="en-US" dirty="0"/>
              <a:t> Guidance</a:t>
            </a:r>
            <a:endParaRPr spc="-10" dirty="0"/>
          </a:p>
        </p:txBody>
      </p:sp>
      <p:pic>
        <p:nvPicPr>
          <p:cNvPr id="5" name="图片 4"/>
          <p:cNvPicPr>
            <a:picLocks noChangeAspect="1"/>
          </p:cNvPicPr>
          <p:nvPr/>
        </p:nvPicPr>
        <p:blipFill>
          <a:blip r:embed="rId1"/>
          <a:stretch>
            <a:fillRect/>
          </a:stretch>
        </p:blipFill>
        <p:spPr>
          <a:xfrm>
            <a:off x="1985535" y="880398"/>
            <a:ext cx="7235051" cy="865060"/>
          </a:xfrm>
          <a:prstGeom prst="rect">
            <a:avLst/>
          </a:prstGeom>
        </p:spPr>
      </p:pic>
      <p:sp>
        <p:nvSpPr>
          <p:cNvPr id="7" name="文本框 6"/>
          <p:cNvSpPr txBox="1"/>
          <p:nvPr/>
        </p:nvSpPr>
        <p:spPr>
          <a:xfrm>
            <a:off x="10053677" y="1096571"/>
            <a:ext cx="671512" cy="461665"/>
          </a:xfrm>
          <a:prstGeom prst="rect">
            <a:avLst/>
          </a:prstGeom>
          <a:noFill/>
        </p:spPr>
        <p:txBody>
          <a:bodyPr wrap="square" rtlCol="0">
            <a:spAutoFit/>
          </a:bodyPr>
          <a:lstStyle/>
          <a:p>
            <a:r>
              <a:rPr lang="en-US" altLang="zh-CN" sz="2400" dirty="0"/>
              <a:t>(1)</a:t>
            </a:r>
            <a:endParaRPr lang="zh-CN" altLang="en-US" sz="2400" dirty="0"/>
          </a:p>
        </p:txBody>
      </p:sp>
      <p:pic>
        <p:nvPicPr>
          <p:cNvPr id="9" name="图片 8"/>
          <p:cNvPicPr>
            <a:picLocks noChangeAspect="1"/>
          </p:cNvPicPr>
          <p:nvPr/>
        </p:nvPicPr>
        <p:blipFill>
          <a:blip r:embed="rId2"/>
          <a:stretch>
            <a:fillRect/>
          </a:stretch>
        </p:blipFill>
        <p:spPr>
          <a:xfrm>
            <a:off x="749801" y="4728714"/>
            <a:ext cx="9877967" cy="571050"/>
          </a:xfrm>
          <a:prstGeom prst="rect">
            <a:avLst/>
          </a:prstGeom>
        </p:spPr>
      </p:pic>
      <p:pic>
        <p:nvPicPr>
          <p:cNvPr id="11" name="图片 10"/>
          <p:cNvPicPr>
            <a:picLocks noChangeAspect="1"/>
          </p:cNvPicPr>
          <p:nvPr/>
        </p:nvPicPr>
        <p:blipFill>
          <a:blip r:embed="rId3"/>
          <a:stretch>
            <a:fillRect/>
          </a:stretch>
        </p:blipFill>
        <p:spPr>
          <a:xfrm>
            <a:off x="3237501" y="5528212"/>
            <a:ext cx="6561133" cy="948441"/>
          </a:xfrm>
          <a:prstGeom prst="rect">
            <a:avLst/>
          </a:prstGeom>
        </p:spPr>
      </p:pic>
      <p:sp>
        <p:nvSpPr>
          <p:cNvPr id="14" name="箭头: 下 13"/>
          <p:cNvSpPr/>
          <p:nvPr/>
        </p:nvSpPr>
        <p:spPr>
          <a:xfrm>
            <a:off x="7086793" y="2038818"/>
            <a:ext cx="557020" cy="2689896"/>
          </a:xfrm>
          <a:prstGeom prst="downArrow">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 name="图片 14"/>
          <p:cNvPicPr>
            <a:picLocks noChangeAspect="1"/>
          </p:cNvPicPr>
          <p:nvPr/>
        </p:nvPicPr>
        <p:blipFill>
          <a:blip r:embed="rId4"/>
          <a:stretch>
            <a:fillRect/>
          </a:stretch>
        </p:blipFill>
        <p:spPr>
          <a:xfrm>
            <a:off x="152400" y="2090011"/>
            <a:ext cx="6472238" cy="2294150"/>
          </a:xfrm>
          <a:prstGeom prst="rect">
            <a:avLst/>
          </a:prstGeom>
        </p:spPr>
      </p:pic>
      <p:pic>
        <p:nvPicPr>
          <p:cNvPr id="13" name="图片 12"/>
          <p:cNvPicPr>
            <a:picLocks noChangeAspect="1"/>
          </p:cNvPicPr>
          <p:nvPr/>
        </p:nvPicPr>
        <p:blipFill>
          <a:blip r:embed="rId5"/>
          <a:stretch>
            <a:fillRect/>
          </a:stretch>
        </p:blipFill>
        <p:spPr>
          <a:xfrm>
            <a:off x="5506286" y="3122537"/>
            <a:ext cx="6228514" cy="522458"/>
          </a:xfrm>
          <a:prstGeom prst="rect">
            <a:avLst/>
          </a:prstGeom>
        </p:spPr>
      </p:pic>
      <p:sp>
        <p:nvSpPr>
          <p:cNvPr id="3" name="文本框 2"/>
          <p:cNvSpPr txBox="1"/>
          <p:nvPr/>
        </p:nvSpPr>
        <p:spPr>
          <a:xfrm>
            <a:off x="11734800" y="274320"/>
            <a:ext cx="315097" cy="369332"/>
          </a:xfrm>
          <a:prstGeom prst="rect">
            <a:avLst/>
          </a:prstGeom>
          <a:noFill/>
        </p:spPr>
        <p:txBody>
          <a:bodyPr wrap="square" rtlCol="0">
            <a:spAutoFit/>
          </a:bodyPr>
          <a:lstStyle/>
          <a:p>
            <a:r>
              <a:rPr lang="en-US" altLang="zh-CN" dirty="0"/>
              <a:t>9</a:t>
            </a:r>
            <a:endParaRPr lang="zh-CN" alt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190466"/>
            <a:ext cx="11582400" cy="689932"/>
          </a:xfrm>
          <a:prstGeom prst="rect">
            <a:avLst/>
          </a:prstGeom>
        </p:spPr>
        <p:txBody>
          <a:bodyPr vert="horz" wrap="square" lIns="0" tIns="12700" rIns="0" bIns="0" rtlCol="0">
            <a:spAutoFit/>
          </a:bodyPr>
          <a:lstStyle/>
          <a:p>
            <a:pPr marL="12700">
              <a:lnSpc>
                <a:spcPct val="100000"/>
              </a:lnSpc>
              <a:spcBef>
                <a:spcPts val="100"/>
              </a:spcBef>
            </a:pPr>
            <a:r>
              <a:rPr lang="en-US" dirty="0"/>
              <a:t>Classifier Free Guidance</a:t>
            </a:r>
            <a:endParaRPr spc="-10" dirty="0"/>
          </a:p>
        </p:txBody>
      </p:sp>
      <p:sp>
        <p:nvSpPr>
          <p:cNvPr id="6" name="文本框 5"/>
          <p:cNvSpPr txBox="1"/>
          <p:nvPr/>
        </p:nvSpPr>
        <p:spPr>
          <a:xfrm>
            <a:off x="528638" y="1262728"/>
            <a:ext cx="3571875" cy="4154984"/>
          </a:xfrm>
          <a:prstGeom prst="rect">
            <a:avLst/>
          </a:prstGeom>
          <a:noFill/>
        </p:spPr>
        <p:txBody>
          <a:bodyPr wrap="square" rtlCol="0">
            <a:spAutoFit/>
          </a:bodyPr>
          <a:lstStyle/>
          <a:p>
            <a:pPr marL="342900" indent="-342900">
              <a:buFont typeface="Wingdings" panose="05000000000000000000" pitchFamily="2" charset="2"/>
              <a:buChar char="l"/>
            </a:pPr>
            <a:r>
              <a:rPr lang="en-US" altLang="zh-CN" sz="2400" dirty="0"/>
              <a:t>Training</a:t>
            </a:r>
            <a:endParaRPr lang="en-US" altLang="zh-CN" sz="2400" dirty="0"/>
          </a:p>
          <a:p>
            <a:pPr marL="342900" indent="-342900">
              <a:buFont typeface="Wingdings" panose="05000000000000000000" pitchFamily="2" charset="2"/>
              <a:buChar char="l"/>
            </a:pPr>
            <a:endParaRPr lang="en-US" altLang="zh-CN" sz="2400" dirty="0"/>
          </a:p>
          <a:p>
            <a:pPr marL="342900" indent="-342900">
              <a:buFont typeface="Wingdings" panose="05000000000000000000" pitchFamily="2" charset="2"/>
              <a:buChar char="l"/>
            </a:pPr>
            <a:endParaRPr lang="en-US" altLang="zh-CN" sz="2400" dirty="0"/>
          </a:p>
          <a:p>
            <a:pPr marL="342900" indent="-342900">
              <a:buFont typeface="Wingdings" panose="05000000000000000000" pitchFamily="2" charset="2"/>
              <a:buChar char="l"/>
            </a:pPr>
            <a:endParaRPr lang="en-US" altLang="zh-CN" sz="2400" dirty="0"/>
          </a:p>
          <a:p>
            <a:endParaRPr lang="en-US" altLang="zh-CN" sz="2400" dirty="0"/>
          </a:p>
          <a:p>
            <a:pPr marL="342900" indent="-342900">
              <a:buFont typeface="Wingdings" panose="05000000000000000000" pitchFamily="2" charset="2"/>
              <a:buChar char="l"/>
            </a:pPr>
            <a:endParaRPr lang="en-US" altLang="zh-CN" sz="2400" dirty="0"/>
          </a:p>
          <a:p>
            <a:pPr marL="342900" indent="-342900">
              <a:buFont typeface="Wingdings" panose="05000000000000000000" pitchFamily="2" charset="2"/>
              <a:buChar char="l"/>
            </a:pPr>
            <a:endParaRPr lang="en-US" altLang="zh-CN" sz="2400" dirty="0"/>
          </a:p>
          <a:p>
            <a:pPr marL="342900" indent="-342900">
              <a:buFont typeface="Wingdings" panose="05000000000000000000" pitchFamily="2" charset="2"/>
              <a:buChar char="l"/>
            </a:pPr>
            <a:endParaRPr lang="en-US" altLang="zh-CN" sz="2400" dirty="0"/>
          </a:p>
          <a:p>
            <a:pPr marL="342900" indent="-342900">
              <a:buFont typeface="Wingdings" panose="05000000000000000000" pitchFamily="2" charset="2"/>
              <a:buChar char="l"/>
            </a:pPr>
            <a:endParaRPr lang="en-US" altLang="zh-CN" sz="2400" dirty="0"/>
          </a:p>
          <a:p>
            <a:pPr marL="342900" indent="-342900">
              <a:buFont typeface="Wingdings" panose="05000000000000000000" pitchFamily="2" charset="2"/>
              <a:buChar char="l"/>
            </a:pPr>
            <a:endParaRPr lang="en-US" altLang="zh-CN" sz="2400" dirty="0"/>
          </a:p>
          <a:p>
            <a:pPr marL="342900" indent="-342900">
              <a:buFont typeface="Wingdings" panose="05000000000000000000" pitchFamily="2" charset="2"/>
              <a:buChar char="l"/>
            </a:pPr>
            <a:r>
              <a:rPr lang="en-US" altLang="zh-CN" sz="2400" dirty="0"/>
              <a:t>Sampling</a:t>
            </a:r>
            <a:endParaRPr lang="zh-CN" altLang="en-US" sz="2400" dirty="0"/>
          </a:p>
        </p:txBody>
      </p:sp>
      <p:pic>
        <p:nvPicPr>
          <p:cNvPr id="10" name="图片 9"/>
          <p:cNvPicPr>
            <a:picLocks noChangeAspect="1"/>
          </p:cNvPicPr>
          <p:nvPr/>
        </p:nvPicPr>
        <p:blipFill>
          <a:blip r:embed="rId1"/>
          <a:stretch>
            <a:fillRect/>
          </a:stretch>
        </p:blipFill>
        <p:spPr>
          <a:xfrm>
            <a:off x="889999" y="1870597"/>
            <a:ext cx="8411749" cy="2200582"/>
          </a:xfrm>
          <a:prstGeom prst="rect">
            <a:avLst/>
          </a:prstGeom>
        </p:spPr>
      </p:pic>
      <p:sp>
        <p:nvSpPr>
          <p:cNvPr id="15" name="文本框 14"/>
          <p:cNvSpPr txBox="1"/>
          <p:nvPr/>
        </p:nvSpPr>
        <p:spPr>
          <a:xfrm>
            <a:off x="889999" y="4130343"/>
            <a:ext cx="8826103" cy="646331"/>
          </a:xfrm>
          <a:prstGeom prst="rect">
            <a:avLst/>
          </a:prstGeom>
          <a:noFill/>
        </p:spPr>
        <p:txBody>
          <a:bodyPr wrap="square">
            <a:spAutoFit/>
          </a:bodyPr>
          <a:lstStyle/>
          <a:p>
            <a:r>
              <a:rPr lang="en-US" altLang="zh-CN" dirty="0"/>
              <a:t>These two training regimes are unified by randomly replacing c with the null input ∅ with probability </a:t>
            </a:r>
            <a:r>
              <a:rPr lang="en-US" altLang="zh-CN" dirty="0" err="1"/>
              <a:t>puncond</a:t>
            </a:r>
            <a:r>
              <a:rPr lang="en-US" altLang="zh-CN" dirty="0"/>
              <a:t> (a user-defined hyperparameter) </a:t>
            </a:r>
            <a:endParaRPr lang="zh-CN" altLang="en-US" dirty="0"/>
          </a:p>
        </p:txBody>
      </p:sp>
      <p:pic>
        <p:nvPicPr>
          <p:cNvPr id="17" name="图片 16"/>
          <p:cNvPicPr>
            <a:picLocks noChangeAspect="1"/>
          </p:cNvPicPr>
          <p:nvPr/>
        </p:nvPicPr>
        <p:blipFill>
          <a:blip r:embed="rId2"/>
          <a:stretch>
            <a:fillRect/>
          </a:stretch>
        </p:blipFill>
        <p:spPr>
          <a:xfrm>
            <a:off x="2360725" y="4877509"/>
            <a:ext cx="7216258" cy="1845065"/>
          </a:xfrm>
          <a:prstGeom prst="rect">
            <a:avLst/>
          </a:prstGeom>
        </p:spPr>
      </p:pic>
      <p:sp>
        <p:nvSpPr>
          <p:cNvPr id="3" name="文本框 2"/>
          <p:cNvSpPr txBox="1"/>
          <p:nvPr/>
        </p:nvSpPr>
        <p:spPr>
          <a:xfrm>
            <a:off x="11572240" y="274320"/>
            <a:ext cx="477657" cy="369332"/>
          </a:xfrm>
          <a:prstGeom prst="rect">
            <a:avLst/>
          </a:prstGeom>
          <a:noFill/>
        </p:spPr>
        <p:txBody>
          <a:bodyPr wrap="square" rtlCol="0">
            <a:spAutoFit/>
          </a:bodyPr>
          <a:lstStyle/>
          <a:p>
            <a:r>
              <a:rPr lang="en-US" altLang="zh-CN" dirty="0"/>
              <a:t>10</a:t>
            </a:r>
            <a:endParaRPr lang="zh-CN" alt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2066362" y="1457050"/>
            <a:ext cx="8059275" cy="3943900"/>
          </a:xfrm>
          <a:prstGeom prst="rect">
            <a:avLst/>
          </a:prstGeom>
        </p:spPr>
      </p:pic>
      <p:sp>
        <p:nvSpPr>
          <p:cNvPr id="6" name="object 2"/>
          <p:cNvSpPr txBox="1">
            <a:spLocks noGrp="1"/>
          </p:cNvSpPr>
          <p:nvPr>
            <p:ph type="title"/>
          </p:nvPr>
        </p:nvSpPr>
        <p:spPr>
          <a:xfrm>
            <a:off x="152400" y="190466"/>
            <a:ext cx="11582400" cy="689932"/>
          </a:xfrm>
          <a:prstGeom prst="rect">
            <a:avLst/>
          </a:prstGeom>
        </p:spPr>
        <p:txBody>
          <a:bodyPr vert="horz" wrap="square" lIns="0" tIns="12700" rIns="0" bIns="0" rtlCol="0">
            <a:spAutoFit/>
          </a:bodyPr>
          <a:lstStyle/>
          <a:p>
            <a:pPr marL="12700">
              <a:lnSpc>
                <a:spcPct val="100000"/>
              </a:lnSpc>
              <a:spcBef>
                <a:spcPts val="100"/>
              </a:spcBef>
            </a:pPr>
            <a:r>
              <a:rPr lang="en-US" dirty="0"/>
              <a:t>Classifier Free Guidance</a:t>
            </a:r>
            <a:endParaRPr spc="-10" dirty="0"/>
          </a:p>
        </p:txBody>
      </p:sp>
      <p:sp>
        <p:nvSpPr>
          <p:cNvPr id="2" name="文本框 1"/>
          <p:cNvSpPr txBox="1"/>
          <p:nvPr/>
        </p:nvSpPr>
        <p:spPr>
          <a:xfrm>
            <a:off x="11572240" y="274320"/>
            <a:ext cx="477657" cy="369332"/>
          </a:xfrm>
          <a:prstGeom prst="rect">
            <a:avLst/>
          </a:prstGeom>
          <a:noFill/>
        </p:spPr>
        <p:txBody>
          <a:bodyPr wrap="square" rtlCol="0">
            <a:spAutoFit/>
          </a:bodyPr>
          <a:lstStyle/>
          <a:p>
            <a:r>
              <a:rPr lang="en-US" altLang="zh-CN" dirty="0"/>
              <a:t>11</a:t>
            </a:r>
            <a:endParaRPr lang="zh-CN" alt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190466"/>
            <a:ext cx="11582400" cy="689932"/>
          </a:xfrm>
          <a:prstGeom prst="rect">
            <a:avLst/>
          </a:prstGeom>
        </p:spPr>
        <p:txBody>
          <a:bodyPr vert="horz" wrap="square" lIns="0" tIns="12700" rIns="0" bIns="0" rtlCol="0">
            <a:spAutoFit/>
          </a:bodyPr>
          <a:lstStyle/>
          <a:p>
            <a:pPr marL="12700">
              <a:lnSpc>
                <a:spcPct val="100000"/>
              </a:lnSpc>
              <a:spcBef>
                <a:spcPts val="100"/>
              </a:spcBef>
            </a:pPr>
            <a:r>
              <a:rPr lang="en-US" dirty="0"/>
              <a:t>Diffusion-DPO</a:t>
            </a:r>
            <a:endParaRPr spc="-10" dirty="0"/>
          </a:p>
        </p:txBody>
      </p:sp>
      <p:sp>
        <p:nvSpPr>
          <p:cNvPr id="6" name="文本框 5"/>
          <p:cNvSpPr txBox="1"/>
          <p:nvPr/>
        </p:nvSpPr>
        <p:spPr>
          <a:xfrm>
            <a:off x="596793" y="1006501"/>
            <a:ext cx="7387480" cy="5078313"/>
          </a:xfrm>
          <a:prstGeom prst="rect">
            <a:avLst/>
          </a:prstGeom>
          <a:noFill/>
        </p:spPr>
        <p:txBody>
          <a:bodyPr wrap="square">
            <a:spAutoFit/>
          </a:bodyPr>
          <a:lstStyle/>
          <a:p>
            <a:pPr marL="285750" indent="-285750">
              <a:buFont typeface="Wingdings" panose="05000000000000000000" pitchFamily="2" charset="2"/>
              <a:buChar char="l"/>
            </a:pPr>
            <a:r>
              <a:rPr lang="en-US" altLang="zh-CN" sz="2400" dirty="0"/>
              <a:t>Look back at DPO</a:t>
            </a:r>
            <a:endParaRPr lang="en-US" altLang="zh-CN" sz="2400" dirty="0"/>
          </a:p>
          <a:p>
            <a:pPr marL="285750" indent="-285750">
              <a:buFont typeface="Wingdings" panose="05000000000000000000" pitchFamily="2" charset="2"/>
              <a:buChar char="l"/>
            </a:pPr>
            <a:endParaRPr lang="en-US" altLang="zh-CN" dirty="0"/>
          </a:p>
          <a:p>
            <a:endParaRPr lang="en-US" altLang="zh-CN" dirty="0"/>
          </a:p>
          <a:p>
            <a:endParaRPr lang="en-US" altLang="zh-CN" dirty="0"/>
          </a:p>
          <a:p>
            <a:pPr marL="285750" indent="-285750">
              <a:buFont typeface="Wingdings" panose="05000000000000000000" pitchFamily="2" charset="2"/>
              <a:buChar char="l"/>
            </a:pPr>
            <a:endParaRPr lang="en-US" altLang="zh-CN" dirty="0"/>
          </a:p>
          <a:p>
            <a:pPr marL="742950" lvl="1" indent="-285750">
              <a:buFont typeface="Arial" panose="020B0604020202090204" pitchFamily="34" charset="0"/>
              <a:buChar char="•"/>
            </a:pPr>
            <a:r>
              <a:rPr lang="en-US" altLang="zh-CN" sz="2000" dirty="0"/>
              <a:t>Two key advantages of DPO:</a:t>
            </a:r>
            <a:endParaRPr lang="en-US" altLang="zh-CN" sz="2000" dirty="0"/>
          </a:p>
          <a:p>
            <a:pPr marL="1200150" lvl="2" indent="-285750">
              <a:buFont typeface="Arial" panose="020B0604020202090204" pitchFamily="34" charset="0"/>
              <a:buChar char="•"/>
            </a:pPr>
            <a:r>
              <a:rPr lang="en-US" altLang="zh-CN" sz="2000" dirty="0"/>
              <a:t>Implicit reward, eliminating the need for a reward model</a:t>
            </a:r>
            <a:endParaRPr lang="en-US" altLang="zh-CN" sz="2000" dirty="0"/>
          </a:p>
          <a:p>
            <a:pPr marL="1200150" lvl="2" indent="-285750">
              <a:buFont typeface="Arial" panose="020B0604020202090204" pitchFamily="34" charset="0"/>
              <a:buChar char="•"/>
            </a:pPr>
            <a:r>
              <a:rPr lang="en-US" altLang="zh-CN" sz="2000" dirty="0"/>
              <a:t>Avoids unstable reinforcement learning algorithms</a:t>
            </a:r>
            <a:endParaRPr lang="en-US" altLang="zh-CN" sz="2000" dirty="0"/>
          </a:p>
          <a:p>
            <a:pPr marL="285750" indent="-285750">
              <a:buFont typeface="Wingdings" panose="05000000000000000000" pitchFamily="2" charset="2"/>
              <a:buChar char="l"/>
            </a:pPr>
            <a:endParaRPr lang="en-US" altLang="zh-CN" dirty="0"/>
          </a:p>
          <a:p>
            <a:pPr marL="285750" indent="-285750">
              <a:buFont typeface="Wingdings" panose="05000000000000000000" pitchFamily="2" charset="2"/>
              <a:buChar char="l"/>
            </a:pPr>
            <a:endParaRPr lang="en-US" altLang="zh-CN" dirty="0"/>
          </a:p>
          <a:p>
            <a:pPr marL="285750" indent="-285750">
              <a:buFont typeface="Wingdings" panose="05000000000000000000" pitchFamily="2" charset="2"/>
              <a:buChar char="l"/>
            </a:pPr>
            <a:r>
              <a:rPr lang="en-US" altLang="zh-CN" sz="2400" dirty="0"/>
              <a:t>Why Naive DPO Fails for Diffusion Models?</a:t>
            </a:r>
            <a:endParaRPr lang="en-US" altLang="zh-CN" sz="2400" dirty="0"/>
          </a:p>
          <a:p>
            <a:pPr marL="285750" indent="-285750">
              <a:buFont typeface="Wingdings" panose="05000000000000000000" pitchFamily="2" charset="2"/>
              <a:buChar char="l"/>
            </a:pPr>
            <a:endParaRPr lang="en-US" altLang="zh-CN" dirty="0"/>
          </a:p>
          <a:p>
            <a:pPr marL="285750" indent="-285750">
              <a:buFont typeface="Wingdings" panose="05000000000000000000" pitchFamily="2" charset="2"/>
              <a:buChar char="l"/>
            </a:pPr>
            <a:endParaRPr lang="en-US" altLang="zh-CN" dirty="0"/>
          </a:p>
          <a:p>
            <a:pPr marL="285750" indent="-285750">
              <a:buFont typeface="Wingdings" panose="05000000000000000000" pitchFamily="2" charset="2"/>
              <a:buChar char="l"/>
            </a:pPr>
            <a:endParaRPr lang="en-US" altLang="zh-CN" dirty="0"/>
          </a:p>
          <a:p>
            <a:pPr marL="285750" indent="-285750">
              <a:buFont typeface="Wingdings" panose="05000000000000000000" pitchFamily="2" charset="2"/>
              <a:buChar char="l"/>
            </a:pPr>
            <a:endParaRPr lang="en-US" altLang="zh-CN" dirty="0"/>
          </a:p>
          <a:p>
            <a:pPr marL="285750" indent="-285750">
              <a:buFont typeface="Wingdings" panose="05000000000000000000" pitchFamily="2" charset="2"/>
              <a:buChar char="l"/>
            </a:pPr>
            <a:endParaRPr lang="en-US" altLang="zh-CN" dirty="0"/>
          </a:p>
          <a:p>
            <a:pPr marL="285750" indent="-285750">
              <a:buFont typeface="Wingdings" panose="05000000000000000000" pitchFamily="2" charset="2"/>
              <a:buChar char="l"/>
            </a:pPr>
            <a:endParaRPr lang="en-US" altLang="zh-CN" dirty="0"/>
          </a:p>
        </p:txBody>
      </p:sp>
      <p:pic>
        <p:nvPicPr>
          <p:cNvPr id="8" name="图片 7"/>
          <p:cNvPicPr>
            <a:picLocks noChangeAspect="1"/>
          </p:cNvPicPr>
          <p:nvPr/>
        </p:nvPicPr>
        <p:blipFill>
          <a:blip r:embed="rId1"/>
          <a:stretch>
            <a:fillRect/>
          </a:stretch>
        </p:blipFill>
        <p:spPr>
          <a:xfrm>
            <a:off x="1052183" y="1410858"/>
            <a:ext cx="7841989" cy="971256"/>
          </a:xfrm>
          <a:prstGeom prst="rect">
            <a:avLst/>
          </a:prstGeom>
        </p:spPr>
      </p:pic>
      <p:pic>
        <p:nvPicPr>
          <p:cNvPr id="10" name="图片 9"/>
          <p:cNvPicPr>
            <a:picLocks noChangeAspect="1"/>
          </p:cNvPicPr>
          <p:nvPr/>
        </p:nvPicPr>
        <p:blipFill>
          <a:blip r:embed="rId2"/>
          <a:stretch>
            <a:fillRect/>
          </a:stretch>
        </p:blipFill>
        <p:spPr>
          <a:xfrm>
            <a:off x="1052183" y="4475886"/>
            <a:ext cx="7284960" cy="1331929"/>
          </a:xfrm>
          <a:prstGeom prst="rect">
            <a:avLst/>
          </a:prstGeom>
        </p:spPr>
      </p:pic>
      <p:sp>
        <p:nvSpPr>
          <p:cNvPr id="3" name="文本框 2"/>
          <p:cNvSpPr txBox="1"/>
          <p:nvPr/>
        </p:nvSpPr>
        <p:spPr>
          <a:xfrm>
            <a:off x="11572240" y="274320"/>
            <a:ext cx="477657" cy="369332"/>
          </a:xfrm>
          <a:prstGeom prst="rect">
            <a:avLst/>
          </a:prstGeom>
          <a:noFill/>
        </p:spPr>
        <p:txBody>
          <a:bodyPr wrap="square" rtlCol="0">
            <a:spAutoFit/>
          </a:bodyPr>
          <a:lstStyle/>
          <a:p>
            <a:r>
              <a:rPr lang="en-US" altLang="zh-CN" dirty="0"/>
              <a:t>12</a:t>
            </a:r>
            <a:endParaRPr lang="zh-CN" alt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190466"/>
            <a:ext cx="11582400" cy="689932"/>
          </a:xfrm>
          <a:prstGeom prst="rect">
            <a:avLst/>
          </a:prstGeom>
        </p:spPr>
        <p:txBody>
          <a:bodyPr vert="horz" wrap="square" lIns="0" tIns="12700" rIns="0" bIns="0" rtlCol="0">
            <a:spAutoFit/>
          </a:bodyPr>
          <a:lstStyle/>
          <a:p>
            <a:pPr marL="12700">
              <a:lnSpc>
                <a:spcPct val="100000"/>
              </a:lnSpc>
              <a:spcBef>
                <a:spcPts val="100"/>
              </a:spcBef>
            </a:pPr>
            <a:r>
              <a:rPr lang="en-US" dirty="0"/>
              <a:t>Diffusion-DPO</a:t>
            </a:r>
            <a:endParaRPr spc="-10" dirty="0"/>
          </a:p>
        </p:txBody>
      </p:sp>
      <p:sp>
        <p:nvSpPr>
          <p:cNvPr id="6" name="文本框 5"/>
          <p:cNvSpPr txBox="1"/>
          <p:nvPr/>
        </p:nvSpPr>
        <p:spPr>
          <a:xfrm>
            <a:off x="614162" y="426224"/>
            <a:ext cx="6183350" cy="4339650"/>
          </a:xfrm>
          <a:prstGeom prst="rect">
            <a:avLst/>
          </a:prstGeom>
          <a:noFill/>
        </p:spPr>
        <p:txBody>
          <a:bodyPr wrap="square">
            <a:spAutoFit/>
          </a:bodyPr>
          <a:lstStyle/>
          <a:p>
            <a:endParaRPr lang="en-US" altLang="zh-CN" dirty="0"/>
          </a:p>
          <a:p>
            <a:pPr marL="285750" indent="-285750">
              <a:buFont typeface="Wingdings" panose="05000000000000000000" pitchFamily="2" charset="2"/>
              <a:buChar char="l"/>
            </a:pPr>
            <a:endParaRPr lang="en-US" altLang="zh-CN" dirty="0"/>
          </a:p>
          <a:p>
            <a:pPr marL="285750" indent="-285750">
              <a:buFont typeface="Wingdings" panose="05000000000000000000" pitchFamily="2" charset="2"/>
              <a:buChar char="l"/>
            </a:pPr>
            <a:r>
              <a:rPr lang="en-US" altLang="zh-CN" sz="2400" dirty="0"/>
              <a:t>Defining </a:t>
            </a:r>
            <a:r>
              <a:rPr lang="en-US" altLang="zh-CN" sz="2400" dirty="0" err="1"/>
              <a:t>Pathwise</a:t>
            </a:r>
            <a:r>
              <a:rPr lang="en-US" altLang="zh-CN" sz="2400" dirty="0"/>
              <a:t> Implicit Rewards</a:t>
            </a:r>
            <a:endParaRPr lang="en-US" altLang="zh-CN" sz="2400" dirty="0"/>
          </a:p>
          <a:p>
            <a:pPr marL="285750" indent="-285750">
              <a:buFont typeface="Wingdings" panose="05000000000000000000" pitchFamily="2" charset="2"/>
              <a:buChar char="l"/>
            </a:pPr>
            <a:endParaRPr lang="en-US" altLang="zh-CN" sz="2400" dirty="0"/>
          </a:p>
          <a:p>
            <a:pPr marL="285750" indent="-285750">
              <a:buFont typeface="Wingdings" panose="05000000000000000000" pitchFamily="2" charset="2"/>
              <a:buChar char="l"/>
            </a:pPr>
            <a:endParaRPr lang="en-US" altLang="zh-CN" sz="2400" dirty="0"/>
          </a:p>
          <a:p>
            <a:pPr marL="285750" indent="-285750">
              <a:buFont typeface="Wingdings" panose="05000000000000000000" pitchFamily="2" charset="2"/>
              <a:buChar char="l"/>
            </a:pPr>
            <a:endParaRPr lang="en-US" altLang="zh-CN" sz="2400" dirty="0"/>
          </a:p>
          <a:p>
            <a:pPr marL="285750" indent="-285750">
              <a:buFont typeface="Wingdings" panose="05000000000000000000" pitchFamily="2" charset="2"/>
              <a:buChar char="l"/>
            </a:pPr>
            <a:endParaRPr lang="en-US" altLang="zh-CN" sz="2400" dirty="0"/>
          </a:p>
          <a:p>
            <a:pPr marL="285750" indent="-285750">
              <a:buFont typeface="Wingdings" panose="05000000000000000000" pitchFamily="2" charset="2"/>
              <a:buChar char="l"/>
            </a:pPr>
            <a:endParaRPr lang="en-US" altLang="zh-CN" sz="2400" dirty="0"/>
          </a:p>
          <a:p>
            <a:pPr marL="285750" indent="-285750">
              <a:buFont typeface="Wingdings" panose="05000000000000000000" pitchFamily="2" charset="2"/>
              <a:buChar char="l"/>
            </a:pPr>
            <a:endParaRPr lang="en-US" altLang="zh-CN" sz="2400" dirty="0"/>
          </a:p>
          <a:p>
            <a:pPr marL="285750" indent="-285750">
              <a:buFont typeface="Wingdings" panose="05000000000000000000" pitchFamily="2" charset="2"/>
              <a:buChar char="l"/>
            </a:pPr>
            <a:endParaRPr lang="en-US" altLang="zh-CN" sz="2400" dirty="0"/>
          </a:p>
          <a:p>
            <a:endParaRPr lang="en-US" altLang="zh-CN" sz="2400" dirty="0"/>
          </a:p>
          <a:p>
            <a:pPr marL="285750" indent="-285750">
              <a:buFont typeface="Wingdings" panose="05000000000000000000" pitchFamily="2" charset="2"/>
              <a:buChar char="l"/>
            </a:pPr>
            <a:r>
              <a:rPr lang="en-US" altLang="zh-CN" sz="2400" dirty="0"/>
              <a:t>From </a:t>
            </a:r>
            <a:r>
              <a:rPr lang="en-US" altLang="zh-CN" sz="2400" dirty="0" err="1"/>
              <a:t>Pathwise</a:t>
            </a:r>
            <a:r>
              <a:rPr lang="en-US" altLang="zh-CN" sz="2400" dirty="0"/>
              <a:t> Implicit Rewards to DPO </a:t>
            </a:r>
            <a:endParaRPr lang="zh-CN" altLang="en-US" sz="2400" dirty="0"/>
          </a:p>
        </p:txBody>
      </p:sp>
      <p:pic>
        <p:nvPicPr>
          <p:cNvPr id="16" name="图片 15"/>
          <p:cNvPicPr>
            <a:picLocks noChangeAspect="1"/>
          </p:cNvPicPr>
          <p:nvPr/>
        </p:nvPicPr>
        <p:blipFill>
          <a:blip r:embed="rId1"/>
          <a:stretch>
            <a:fillRect/>
          </a:stretch>
        </p:blipFill>
        <p:spPr>
          <a:xfrm>
            <a:off x="968554" y="1435786"/>
            <a:ext cx="4229690" cy="333422"/>
          </a:xfrm>
          <a:prstGeom prst="rect">
            <a:avLst/>
          </a:prstGeom>
        </p:spPr>
      </p:pic>
      <p:pic>
        <p:nvPicPr>
          <p:cNvPr id="19" name="图片 18"/>
          <p:cNvPicPr>
            <a:picLocks noChangeAspect="1"/>
          </p:cNvPicPr>
          <p:nvPr/>
        </p:nvPicPr>
        <p:blipFill>
          <a:blip r:embed="rId2"/>
          <a:stretch>
            <a:fillRect/>
          </a:stretch>
        </p:blipFill>
        <p:spPr>
          <a:xfrm>
            <a:off x="2157649" y="2127052"/>
            <a:ext cx="6820852" cy="933580"/>
          </a:xfrm>
          <a:prstGeom prst="rect">
            <a:avLst/>
          </a:prstGeom>
        </p:spPr>
      </p:pic>
      <p:grpSp>
        <p:nvGrpSpPr>
          <p:cNvPr id="23" name="组合 22"/>
          <p:cNvGrpSpPr/>
          <p:nvPr/>
        </p:nvGrpSpPr>
        <p:grpSpPr>
          <a:xfrm>
            <a:off x="968554" y="1770212"/>
            <a:ext cx="5762050" cy="369492"/>
            <a:chOff x="2015955" y="5051287"/>
            <a:chExt cx="5762050" cy="369492"/>
          </a:xfrm>
        </p:grpSpPr>
        <p:pic>
          <p:nvPicPr>
            <p:cNvPr id="21" name="图片 20"/>
            <p:cNvPicPr>
              <a:picLocks noChangeAspect="1"/>
            </p:cNvPicPr>
            <p:nvPr/>
          </p:nvPicPr>
          <p:blipFill>
            <a:blip r:embed="rId3"/>
            <a:srcRect r="56479"/>
            <a:stretch>
              <a:fillRect/>
            </a:stretch>
          </p:blipFill>
          <p:spPr>
            <a:xfrm>
              <a:off x="2015955" y="5058778"/>
              <a:ext cx="3436991" cy="362001"/>
            </a:xfrm>
            <a:prstGeom prst="rect">
              <a:avLst/>
            </a:prstGeom>
          </p:spPr>
        </p:pic>
        <p:pic>
          <p:nvPicPr>
            <p:cNvPr id="22" name="图片 21"/>
            <p:cNvPicPr>
              <a:picLocks noChangeAspect="1"/>
            </p:cNvPicPr>
            <p:nvPr/>
          </p:nvPicPr>
          <p:blipFill>
            <a:blip r:embed="rId3"/>
            <a:srcRect l="70538" t="-1058" b="2483"/>
            <a:stretch>
              <a:fillRect/>
            </a:stretch>
          </p:blipFill>
          <p:spPr>
            <a:xfrm>
              <a:off x="5451269" y="5051287"/>
              <a:ext cx="2326736" cy="356840"/>
            </a:xfrm>
            <a:prstGeom prst="rect">
              <a:avLst/>
            </a:prstGeom>
          </p:spPr>
        </p:pic>
      </p:grpSp>
      <p:pic>
        <p:nvPicPr>
          <p:cNvPr id="4" name="图片 3"/>
          <p:cNvPicPr>
            <a:picLocks noChangeAspect="1"/>
          </p:cNvPicPr>
          <p:nvPr/>
        </p:nvPicPr>
        <p:blipFill>
          <a:blip r:embed="rId4"/>
          <a:stretch>
            <a:fillRect/>
          </a:stretch>
        </p:blipFill>
        <p:spPr>
          <a:xfrm>
            <a:off x="968554" y="3088510"/>
            <a:ext cx="7335274" cy="409632"/>
          </a:xfrm>
          <a:prstGeom prst="rect">
            <a:avLst/>
          </a:prstGeom>
        </p:spPr>
      </p:pic>
      <p:pic>
        <p:nvPicPr>
          <p:cNvPr id="7" name="图片 6"/>
          <p:cNvPicPr>
            <a:picLocks noChangeAspect="1"/>
          </p:cNvPicPr>
          <p:nvPr/>
        </p:nvPicPr>
        <p:blipFill>
          <a:blip r:embed="rId5"/>
          <a:stretch>
            <a:fillRect/>
          </a:stretch>
        </p:blipFill>
        <p:spPr>
          <a:xfrm>
            <a:off x="2618471" y="3557997"/>
            <a:ext cx="5897530" cy="689459"/>
          </a:xfrm>
          <a:prstGeom prst="rect">
            <a:avLst/>
          </a:prstGeom>
        </p:spPr>
      </p:pic>
      <p:pic>
        <p:nvPicPr>
          <p:cNvPr id="13" name="图片 12"/>
          <p:cNvPicPr>
            <a:picLocks noChangeAspect="1"/>
          </p:cNvPicPr>
          <p:nvPr/>
        </p:nvPicPr>
        <p:blipFill>
          <a:blip r:embed="rId6"/>
          <a:stretch>
            <a:fillRect/>
          </a:stretch>
        </p:blipFill>
        <p:spPr>
          <a:xfrm>
            <a:off x="2157649" y="4722816"/>
            <a:ext cx="7335274" cy="646499"/>
          </a:xfrm>
          <a:prstGeom prst="rect">
            <a:avLst/>
          </a:prstGeom>
        </p:spPr>
      </p:pic>
      <p:pic>
        <p:nvPicPr>
          <p:cNvPr id="15" name="图片 14"/>
          <p:cNvPicPr>
            <a:picLocks noChangeAspect="1"/>
          </p:cNvPicPr>
          <p:nvPr/>
        </p:nvPicPr>
        <p:blipFill>
          <a:blip r:embed="rId7"/>
          <a:stretch>
            <a:fillRect/>
          </a:stretch>
        </p:blipFill>
        <p:spPr>
          <a:xfrm>
            <a:off x="1109206" y="5647515"/>
            <a:ext cx="5372850" cy="857370"/>
          </a:xfrm>
          <a:prstGeom prst="rect">
            <a:avLst/>
          </a:prstGeom>
        </p:spPr>
      </p:pic>
      <p:pic>
        <p:nvPicPr>
          <p:cNvPr id="18" name="图片 17"/>
          <p:cNvPicPr>
            <a:picLocks noChangeAspect="1"/>
          </p:cNvPicPr>
          <p:nvPr/>
        </p:nvPicPr>
        <p:blipFill>
          <a:blip r:embed="rId8"/>
          <a:srcRect l="3559"/>
          <a:stretch>
            <a:fillRect/>
          </a:stretch>
        </p:blipFill>
        <p:spPr>
          <a:xfrm>
            <a:off x="6285676" y="5569553"/>
            <a:ext cx="3821915" cy="885949"/>
          </a:xfrm>
          <a:prstGeom prst="rect">
            <a:avLst/>
          </a:prstGeom>
        </p:spPr>
      </p:pic>
      <p:sp>
        <p:nvSpPr>
          <p:cNvPr id="3" name="文本框 2"/>
          <p:cNvSpPr txBox="1"/>
          <p:nvPr/>
        </p:nvSpPr>
        <p:spPr>
          <a:xfrm>
            <a:off x="11572240" y="274320"/>
            <a:ext cx="477657" cy="369332"/>
          </a:xfrm>
          <a:prstGeom prst="rect">
            <a:avLst/>
          </a:prstGeom>
          <a:noFill/>
        </p:spPr>
        <p:txBody>
          <a:bodyPr wrap="square" rtlCol="0">
            <a:spAutoFit/>
          </a:bodyPr>
          <a:lstStyle/>
          <a:p>
            <a:r>
              <a:rPr lang="en-US" altLang="zh-CN" dirty="0"/>
              <a:t>13</a:t>
            </a:r>
            <a:endParaRPr lang="zh-CN" alt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190466"/>
            <a:ext cx="11582400" cy="689932"/>
          </a:xfrm>
          <a:prstGeom prst="rect">
            <a:avLst/>
          </a:prstGeom>
        </p:spPr>
        <p:txBody>
          <a:bodyPr vert="horz" wrap="square" lIns="0" tIns="12700" rIns="0" bIns="0" rtlCol="0">
            <a:spAutoFit/>
          </a:bodyPr>
          <a:lstStyle/>
          <a:p>
            <a:pPr marL="12700">
              <a:lnSpc>
                <a:spcPct val="100000"/>
              </a:lnSpc>
              <a:spcBef>
                <a:spcPts val="100"/>
              </a:spcBef>
            </a:pPr>
            <a:r>
              <a:rPr lang="en-US" dirty="0"/>
              <a:t>Diffusion-DPO</a:t>
            </a:r>
            <a:endParaRPr spc="-10" dirty="0"/>
          </a:p>
        </p:txBody>
      </p:sp>
      <p:sp>
        <p:nvSpPr>
          <p:cNvPr id="6" name="文本框 5"/>
          <p:cNvSpPr txBox="1"/>
          <p:nvPr/>
        </p:nvSpPr>
        <p:spPr>
          <a:xfrm>
            <a:off x="1621891" y="4058560"/>
            <a:ext cx="8577665" cy="4339650"/>
          </a:xfrm>
          <a:prstGeom prst="rect">
            <a:avLst/>
          </a:prstGeom>
          <a:noFill/>
        </p:spPr>
        <p:txBody>
          <a:bodyPr wrap="square">
            <a:spAutoFit/>
          </a:bodyPr>
          <a:lstStyle/>
          <a:p>
            <a:endParaRPr lang="en-US" altLang="zh-CN" dirty="0"/>
          </a:p>
          <a:p>
            <a:pPr marL="285750" indent="-285750">
              <a:buFont typeface="Wingdings" panose="05000000000000000000" pitchFamily="2" charset="2"/>
              <a:buChar char="l"/>
            </a:pPr>
            <a:endParaRPr lang="en-US" altLang="zh-CN" dirty="0"/>
          </a:p>
          <a:p>
            <a:r>
              <a:rPr lang="en-US" altLang="zh-CN" sz="2400" dirty="0"/>
              <a:t>However, this equation is impractical for three practical reasons:</a:t>
            </a:r>
            <a:endParaRPr lang="en-US" altLang="zh-CN" sz="2400" dirty="0"/>
          </a:p>
          <a:p>
            <a:pPr marL="800100" lvl="1" indent="-342900">
              <a:buFont typeface="Arial" panose="020B0604020202090204" pitchFamily="34" charset="0"/>
              <a:buChar char="•"/>
            </a:pPr>
            <a:r>
              <a:rPr lang="en-US" altLang="zh-CN" sz="2400" dirty="0"/>
              <a:t>Endpoint Conditioning Induces an Intractable Path Posterior</a:t>
            </a:r>
            <a:endParaRPr lang="en-US" altLang="zh-CN" sz="2400" dirty="0"/>
          </a:p>
          <a:p>
            <a:pPr marL="800100" lvl="1" indent="-342900">
              <a:buFont typeface="Arial" panose="020B0604020202090204" pitchFamily="34" charset="0"/>
              <a:buChar char="•"/>
            </a:pPr>
            <a:r>
              <a:rPr lang="en-US" altLang="zh-CN" sz="2400" dirty="0"/>
              <a:t>Nested, </a:t>
            </a:r>
            <a:r>
              <a:rPr lang="el-GR" altLang="zh-CN" sz="2400" dirty="0"/>
              <a:t>θ-</a:t>
            </a:r>
            <a:r>
              <a:rPr lang="en-US" altLang="zh-CN" sz="2400" dirty="0"/>
              <a:t>Coupled Expectations</a:t>
            </a:r>
            <a:endParaRPr lang="en-US" altLang="zh-CN" sz="2400" dirty="0"/>
          </a:p>
          <a:p>
            <a:pPr marL="800100" lvl="1" indent="-342900">
              <a:buFont typeface="Arial" panose="020B0604020202090204" pitchFamily="34" charset="0"/>
              <a:buChar char="•"/>
            </a:pPr>
            <a:r>
              <a:rPr lang="en-US" altLang="zh-CN" sz="2400" dirty="0"/>
              <a:t>Long Chains, Large Sums, and Expensive Backpropagation</a:t>
            </a:r>
            <a:endParaRPr lang="en-US" altLang="zh-CN" sz="2400" dirty="0"/>
          </a:p>
          <a:p>
            <a:pPr marL="285750" indent="-285750">
              <a:buFont typeface="Wingdings" panose="05000000000000000000" pitchFamily="2" charset="2"/>
              <a:buChar char="l"/>
            </a:pPr>
            <a:endParaRPr lang="en-US" altLang="zh-CN" sz="2400" dirty="0"/>
          </a:p>
          <a:p>
            <a:pPr marL="285750" indent="-285750">
              <a:buFont typeface="Wingdings" panose="05000000000000000000" pitchFamily="2" charset="2"/>
              <a:buChar char="l"/>
            </a:pPr>
            <a:endParaRPr lang="en-US" altLang="zh-CN" sz="2400" dirty="0"/>
          </a:p>
          <a:p>
            <a:pPr marL="285750" indent="-285750">
              <a:buFont typeface="Wingdings" panose="05000000000000000000" pitchFamily="2" charset="2"/>
              <a:buChar char="l"/>
            </a:pPr>
            <a:endParaRPr lang="en-US" altLang="zh-CN" sz="2400" dirty="0"/>
          </a:p>
          <a:p>
            <a:pPr marL="285750" indent="-285750">
              <a:buFont typeface="Wingdings" panose="05000000000000000000" pitchFamily="2" charset="2"/>
              <a:buChar char="l"/>
            </a:pPr>
            <a:endParaRPr lang="en-US" altLang="zh-CN" sz="2400" dirty="0"/>
          </a:p>
          <a:p>
            <a:pPr marL="285750" indent="-285750">
              <a:buFont typeface="Wingdings" panose="05000000000000000000" pitchFamily="2" charset="2"/>
              <a:buChar char="l"/>
            </a:pPr>
            <a:endParaRPr lang="en-US" altLang="zh-CN" sz="2400" dirty="0"/>
          </a:p>
          <a:p>
            <a:endParaRPr lang="en-US" altLang="zh-CN" sz="2400" dirty="0"/>
          </a:p>
        </p:txBody>
      </p:sp>
      <p:pic>
        <p:nvPicPr>
          <p:cNvPr id="3" name="图片 2"/>
          <p:cNvPicPr>
            <a:picLocks noChangeAspect="1"/>
          </p:cNvPicPr>
          <p:nvPr/>
        </p:nvPicPr>
        <p:blipFill>
          <a:blip r:embed="rId1"/>
          <a:stretch>
            <a:fillRect/>
          </a:stretch>
        </p:blipFill>
        <p:spPr>
          <a:xfrm>
            <a:off x="549571" y="1374933"/>
            <a:ext cx="11092858" cy="977676"/>
          </a:xfrm>
          <a:prstGeom prst="rect">
            <a:avLst/>
          </a:prstGeom>
        </p:spPr>
      </p:pic>
      <p:pic>
        <p:nvPicPr>
          <p:cNvPr id="5" name="图片 4"/>
          <p:cNvPicPr>
            <a:picLocks noChangeAspect="1"/>
          </p:cNvPicPr>
          <p:nvPr/>
        </p:nvPicPr>
        <p:blipFill>
          <a:blip r:embed="rId2"/>
          <a:stretch>
            <a:fillRect/>
          </a:stretch>
        </p:blipFill>
        <p:spPr>
          <a:xfrm>
            <a:off x="1437908" y="2726719"/>
            <a:ext cx="5372850" cy="857370"/>
          </a:xfrm>
          <a:prstGeom prst="rect">
            <a:avLst/>
          </a:prstGeom>
        </p:spPr>
      </p:pic>
      <p:pic>
        <p:nvPicPr>
          <p:cNvPr id="8" name="图片 7"/>
          <p:cNvPicPr>
            <a:picLocks noChangeAspect="1"/>
          </p:cNvPicPr>
          <p:nvPr/>
        </p:nvPicPr>
        <p:blipFill>
          <a:blip r:embed="rId3"/>
          <a:srcRect l="3559"/>
          <a:stretch>
            <a:fillRect/>
          </a:stretch>
        </p:blipFill>
        <p:spPr>
          <a:xfrm>
            <a:off x="6592076" y="2660988"/>
            <a:ext cx="3821915" cy="885949"/>
          </a:xfrm>
          <a:prstGeom prst="rect">
            <a:avLst/>
          </a:prstGeom>
        </p:spPr>
      </p:pic>
      <p:pic>
        <p:nvPicPr>
          <p:cNvPr id="24" name="图片 23"/>
          <p:cNvPicPr>
            <a:picLocks noChangeAspect="1"/>
          </p:cNvPicPr>
          <p:nvPr/>
        </p:nvPicPr>
        <p:blipFill>
          <a:blip r:embed="rId4"/>
          <a:stretch>
            <a:fillRect/>
          </a:stretch>
        </p:blipFill>
        <p:spPr>
          <a:xfrm>
            <a:off x="1621891" y="3584089"/>
            <a:ext cx="5096586" cy="619211"/>
          </a:xfrm>
          <a:prstGeom prst="rect">
            <a:avLst/>
          </a:prstGeom>
        </p:spPr>
      </p:pic>
      <p:sp>
        <p:nvSpPr>
          <p:cNvPr id="4" name="文本框 3"/>
          <p:cNvSpPr txBox="1"/>
          <p:nvPr/>
        </p:nvSpPr>
        <p:spPr>
          <a:xfrm>
            <a:off x="11572240" y="274320"/>
            <a:ext cx="477657" cy="369332"/>
          </a:xfrm>
          <a:prstGeom prst="rect">
            <a:avLst/>
          </a:prstGeom>
          <a:noFill/>
        </p:spPr>
        <p:txBody>
          <a:bodyPr wrap="square" rtlCol="0">
            <a:spAutoFit/>
          </a:bodyPr>
          <a:lstStyle/>
          <a:p>
            <a:r>
              <a:rPr lang="en-US" altLang="zh-CN" dirty="0"/>
              <a:t>14</a:t>
            </a:r>
            <a:endParaRPr lang="zh-CN" alt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190466"/>
            <a:ext cx="11582400" cy="689932"/>
          </a:xfrm>
          <a:prstGeom prst="rect">
            <a:avLst/>
          </a:prstGeom>
        </p:spPr>
        <p:txBody>
          <a:bodyPr vert="horz" wrap="square" lIns="0" tIns="12700" rIns="0" bIns="0" rtlCol="0">
            <a:spAutoFit/>
          </a:bodyPr>
          <a:lstStyle/>
          <a:p>
            <a:pPr marL="12700">
              <a:lnSpc>
                <a:spcPct val="100000"/>
              </a:lnSpc>
              <a:spcBef>
                <a:spcPts val="100"/>
              </a:spcBef>
            </a:pPr>
            <a:r>
              <a:rPr lang="en-US" dirty="0" err="1"/>
              <a:t>Diffusion-DPO:</a:t>
            </a:r>
            <a:r>
              <a:rPr lang="en-US" altLang="zh-CN" dirty="0" err="1"/>
              <a:t>Toward</a:t>
            </a:r>
            <a:r>
              <a:rPr lang="en-US" altLang="zh-CN" dirty="0"/>
              <a:t> a Tractable Surrogate </a:t>
            </a:r>
            <a:endParaRPr spc="-10" dirty="0"/>
          </a:p>
        </p:txBody>
      </p:sp>
      <p:pic>
        <p:nvPicPr>
          <p:cNvPr id="3" name="图片 2"/>
          <p:cNvPicPr>
            <a:picLocks noChangeAspect="1"/>
          </p:cNvPicPr>
          <p:nvPr/>
        </p:nvPicPr>
        <p:blipFill>
          <a:blip r:embed="rId1"/>
          <a:stretch>
            <a:fillRect/>
          </a:stretch>
        </p:blipFill>
        <p:spPr>
          <a:xfrm>
            <a:off x="2369522" y="1709342"/>
            <a:ext cx="7335274" cy="646499"/>
          </a:xfrm>
          <a:prstGeom prst="rect">
            <a:avLst/>
          </a:prstGeom>
        </p:spPr>
      </p:pic>
      <p:pic>
        <p:nvPicPr>
          <p:cNvPr id="5" name="图片 4"/>
          <p:cNvPicPr>
            <a:picLocks noChangeAspect="1"/>
          </p:cNvPicPr>
          <p:nvPr/>
        </p:nvPicPr>
        <p:blipFill>
          <a:blip r:embed="rId2"/>
          <a:stretch>
            <a:fillRect/>
          </a:stretch>
        </p:blipFill>
        <p:spPr>
          <a:xfrm>
            <a:off x="1343381" y="2621810"/>
            <a:ext cx="5372850" cy="857370"/>
          </a:xfrm>
          <a:prstGeom prst="rect">
            <a:avLst/>
          </a:prstGeom>
        </p:spPr>
      </p:pic>
      <p:pic>
        <p:nvPicPr>
          <p:cNvPr id="8" name="图片 7"/>
          <p:cNvPicPr>
            <a:picLocks noChangeAspect="1"/>
          </p:cNvPicPr>
          <p:nvPr/>
        </p:nvPicPr>
        <p:blipFill>
          <a:blip r:embed="rId3"/>
          <a:srcRect l="3559"/>
          <a:stretch>
            <a:fillRect/>
          </a:stretch>
        </p:blipFill>
        <p:spPr>
          <a:xfrm>
            <a:off x="6497549" y="2556079"/>
            <a:ext cx="3821915" cy="885949"/>
          </a:xfrm>
          <a:prstGeom prst="rect">
            <a:avLst/>
          </a:prstGeom>
        </p:spPr>
      </p:pic>
      <p:sp>
        <p:nvSpPr>
          <p:cNvPr id="4" name="箭头: 下 3"/>
          <p:cNvSpPr/>
          <p:nvPr/>
        </p:nvSpPr>
        <p:spPr>
          <a:xfrm rot="10800000">
            <a:off x="2860176" y="3429000"/>
            <a:ext cx="284468" cy="412595"/>
          </a:xfrm>
          <a:prstGeom prst="down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箭头: 下 6"/>
          <p:cNvSpPr/>
          <p:nvPr/>
        </p:nvSpPr>
        <p:spPr>
          <a:xfrm rot="10800000">
            <a:off x="6837444" y="3429000"/>
            <a:ext cx="284468" cy="412595"/>
          </a:xfrm>
          <a:prstGeom prst="down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图片 9"/>
          <p:cNvPicPr>
            <a:picLocks noChangeAspect="1"/>
          </p:cNvPicPr>
          <p:nvPr/>
        </p:nvPicPr>
        <p:blipFill>
          <a:blip r:embed="rId4"/>
          <a:stretch>
            <a:fillRect/>
          </a:stretch>
        </p:blipFill>
        <p:spPr>
          <a:xfrm>
            <a:off x="2210701" y="4352101"/>
            <a:ext cx="8573696" cy="2057687"/>
          </a:xfrm>
          <a:prstGeom prst="rect">
            <a:avLst/>
          </a:prstGeom>
        </p:spPr>
      </p:pic>
      <p:sp>
        <p:nvSpPr>
          <p:cNvPr id="6" name="文本框 5"/>
          <p:cNvSpPr txBox="1"/>
          <p:nvPr/>
        </p:nvSpPr>
        <p:spPr>
          <a:xfrm>
            <a:off x="11572240" y="274320"/>
            <a:ext cx="477657" cy="369332"/>
          </a:xfrm>
          <a:prstGeom prst="rect">
            <a:avLst/>
          </a:prstGeom>
          <a:noFill/>
        </p:spPr>
        <p:txBody>
          <a:bodyPr wrap="square" rtlCol="0">
            <a:spAutoFit/>
          </a:bodyPr>
          <a:lstStyle/>
          <a:p>
            <a:r>
              <a:rPr lang="en-US" altLang="zh-CN" dirty="0"/>
              <a:t>15</a:t>
            </a:r>
            <a:endParaRPr lang="zh-CN" alt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190466"/>
            <a:ext cx="11582400" cy="689932"/>
          </a:xfrm>
          <a:prstGeom prst="rect">
            <a:avLst/>
          </a:prstGeom>
        </p:spPr>
        <p:txBody>
          <a:bodyPr vert="horz" wrap="square" lIns="0" tIns="12700" rIns="0" bIns="0" rtlCol="0">
            <a:spAutoFit/>
          </a:bodyPr>
          <a:lstStyle/>
          <a:p>
            <a:pPr marL="12700">
              <a:lnSpc>
                <a:spcPct val="100000"/>
              </a:lnSpc>
              <a:spcBef>
                <a:spcPts val="100"/>
              </a:spcBef>
            </a:pPr>
            <a:r>
              <a:rPr lang="en-US" dirty="0" err="1"/>
              <a:t>Diffusion-DPO:</a:t>
            </a:r>
            <a:r>
              <a:rPr lang="en-US" altLang="zh-CN" dirty="0" err="1"/>
              <a:t>Toward</a:t>
            </a:r>
            <a:r>
              <a:rPr lang="en-US" altLang="zh-CN" dirty="0"/>
              <a:t> a Tractable Surrogate </a:t>
            </a:r>
            <a:endParaRPr spc="-10" dirty="0"/>
          </a:p>
        </p:txBody>
      </p:sp>
      <p:pic>
        <p:nvPicPr>
          <p:cNvPr id="9" name="图片 8"/>
          <p:cNvPicPr>
            <a:picLocks noChangeAspect="1"/>
          </p:cNvPicPr>
          <p:nvPr/>
        </p:nvPicPr>
        <p:blipFill>
          <a:blip r:embed="rId1"/>
          <a:stretch>
            <a:fillRect/>
          </a:stretch>
        </p:blipFill>
        <p:spPr>
          <a:xfrm>
            <a:off x="3173775" y="1243074"/>
            <a:ext cx="5353797" cy="781159"/>
          </a:xfrm>
          <a:prstGeom prst="rect">
            <a:avLst/>
          </a:prstGeom>
        </p:spPr>
      </p:pic>
      <p:pic>
        <p:nvPicPr>
          <p:cNvPr id="12" name="图片 11"/>
          <p:cNvPicPr>
            <a:picLocks noChangeAspect="1"/>
          </p:cNvPicPr>
          <p:nvPr/>
        </p:nvPicPr>
        <p:blipFill>
          <a:blip r:embed="rId2"/>
          <a:stretch>
            <a:fillRect/>
          </a:stretch>
        </p:blipFill>
        <p:spPr>
          <a:xfrm>
            <a:off x="539783" y="2199117"/>
            <a:ext cx="8091262" cy="4658883"/>
          </a:xfrm>
          <a:prstGeom prst="rect">
            <a:avLst/>
          </a:prstGeom>
        </p:spPr>
      </p:pic>
      <p:sp>
        <p:nvSpPr>
          <p:cNvPr id="13" name="矩形 12"/>
          <p:cNvSpPr/>
          <p:nvPr/>
        </p:nvSpPr>
        <p:spPr>
          <a:xfrm>
            <a:off x="2319454" y="1115122"/>
            <a:ext cx="7069873" cy="1083995"/>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3" name="文本框 2"/>
          <p:cNvSpPr txBox="1"/>
          <p:nvPr/>
        </p:nvSpPr>
        <p:spPr>
          <a:xfrm>
            <a:off x="11572240" y="274320"/>
            <a:ext cx="477657" cy="369332"/>
          </a:xfrm>
          <a:prstGeom prst="rect">
            <a:avLst/>
          </a:prstGeom>
          <a:noFill/>
        </p:spPr>
        <p:txBody>
          <a:bodyPr wrap="square" rtlCol="0">
            <a:spAutoFit/>
          </a:bodyPr>
          <a:lstStyle/>
          <a:p>
            <a:r>
              <a:rPr lang="en-US" altLang="zh-CN" dirty="0"/>
              <a:t>16</a:t>
            </a:r>
            <a:endParaRPr lang="zh-CN" alt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190466"/>
            <a:ext cx="11582400" cy="689932"/>
          </a:xfrm>
          <a:prstGeom prst="rect">
            <a:avLst/>
          </a:prstGeom>
        </p:spPr>
        <p:txBody>
          <a:bodyPr vert="horz" wrap="square" lIns="0" tIns="12700" rIns="0" bIns="0" rtlCol="0">
            <a:spAutoFit/>
          </a:bodyPr>
          <a:lstStyle/>
          <a:p>
            <a:pPr marL="12700">
              <a:lnSpc>
                <a:spcPct val="100000"/>
              </a:lnSpc>
              <a:spcBef>
                <a:spcPts val="100"/>
              </a:spcBef>
            </a:pPr>
            <a:r>
              <a:rPr lang="en-US" dirty="0" err="1"/>
              <a:t>Diffusion-DPO:</a:t>
            </a:r>
            <a:r>
              <a:rPr lang="en-US" altLang="zh-CN" dirty="0" err="1"/>
              <a:t>Toward</a:t>
            </a:r>
            <a:r>
              <a:rPr lang="en-US" altLang="zh-CN" dirty="0"/>
              <a:t> a Tractable Surrogate </a:t>
            </a:r>
            <a:endParaRPr spc="-10" dirty="0"/>
          </a:p>
        </p:txBody>
      </p:sp>
      <p:pic>
        <p:nvPicPr>
          <p:cNvPr id="9" name="图片 8"/>
          <p:cNvPicPr>
            <a:picLocks noChangeAspect="1"/>
          </p:cNvPicPr>
          <p:nvPr/>
        </p:nvPicPr>
        <p:blipFill>
          <a:blip r:embed="rId1"/>
          <a:stretch>
            <a:fillRect/>
          </a:stretch>
        </p:blipFill>
        <p:spPr>
          <a:xfrm>
            <a:off x="3177491" y="1115450"/>
            <a:ext cx="5353797" cy="781159"/>
          </a:xfrm>
          <a:prstGeom prst="rect">
            <a:avLst/>
          </a:prstGeom>
        </p:spPr>
      </p:pic>
      <p:sp>
        <p:nvSpPr>
          <p:cNvPr id="13" name="矩形 12"/>
          <p:cNvSpPr/>
          <p:nvPr/>
        </p:nvSpPr>
        <p:spPr>
          <a:xfrm>
            <a:off x="2319454" y="964031"/>
            <a:ext cx="7069873" cy="1083995"/>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pic>
        <p:nvPicPr>
          <p:cNvPr id="4" name="图片 3"/>
          <p:cNvPicPr>
            <a:picLocks noChangeAspect="1"/>
          </p:cNvPicPr>
          <p:nvPr/>
        </p:nvPicPr>
        <p:blipFill>
          <a:blip r:embed="rId2"/>
          <a:stretch>
            <a:fillRect/>
          </a:stretch>
        </p:blipFill>
        <p:spPr>
          <a:xfrm>
            <a:off x="1536136" y="3097231"/>
            <a:ext cx="7916380" cy="2086266"/>
          </a:xfrm>
          <a:prstGeom prst="rect">
            <a:avLst/>
          </a:prstGeom>
        </p:spPr>
      </p:pic>
      <p:sp>
        <p:nvSpPr>
          <p:cNvPr id="5" name="矩形 4"/>
          <p:cNvSpPr/>
          <p:nvPr/>
        </p:nvSpPr>
        <p:spPr>
          <a:xfrm>
            <a:off x="2382643" y="2922347"/>
            <a:ext cx="7069873" cy="1083995"/>
          </a:xfrm>
          <a:prstGeom prst="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6" name="箭头: 下 5"/>
          <p:cNvSpPr/>
          <p:nvPr/>
        </p:nvSpPr>
        <p:spPr>
          <a:xfrm>
            <a:off x="5739161" y="2193925"/>
            <a:ext cx="356839" cy="582523"/>
          </a:xfrm>
          <a:prstGeom prst="downArrow">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p:nvPicPr>
        <p:blipFill>
          <a:blip r:embed="rId3"/>
          <a:stretch>
            <a:fillRect/>
          </a:stretch>
        </p:blipFill>
        <p:spPr>
          <a:xfrm>
            <a:off x="3057499" y="5667238"/>
            <a:ext cx="5363323" cy="762106"/>
          </a:xfrm>
          <a:prstGeom prst="rect">
            <a:avLst/>
          </a:prstGeom>
        </p:spPr>
      </p:pic>
      <p:sp>
        <p:nvSpPr>
          <p:cNvPr id="11" name="文本框 10"/>
          <p:cNvSpPr txBox="1"/>
          <p:nvPr/>
        </p:nvSpPr>
        <p:spPr>
          <a:xfrm>
            <a:off x="1569590" y="5297906"/>
            <a:ext cx="7916380" cy="369332"/>
          </a:xfrm>
          <a:prstGeom prst="rect">
            <a:avLst/>
          </a:prstGeom>
          <a:noFill/>
        </p:spPr>
        <p:txBody>
          <a:bodyPr wrap="square">
            <a:spAutoFit/>
          </a:bodyPr>
          <a:lstStyle/>
          <a:p>
            <a:r>
              <a:rPr lang="en-US" altLang="zh-CN" dirty="0"/>
              <a:t>From the definition of expectation and Jensen's inequality, we can derive that</a:t>
            </a:r>
            <a:endParaRPr lang="zh-CN" altLang="en-US" dirty="0"/>
          </a:p>
        </p:txBody>
      </p:sp>
      <p:sp>
        <p:nvSpPr>
          <p:cNvPr id="3" name="文本框 2"/>
          <p:cNvSpPr txBox="1"/>
          <p:nvPr/>
        </p:nvSpPr>
        <p:spPr>
          <a:xfrm>
            <a:off x="11572240" y="274320"/>
            <a:ext cx="477657" cy="369332"/>
          </a:xfrm>
          <a:prstGeom prst="rect">
            <a:avLst/>
          </a:prstGeom>
          <a:noFill/>
        </p:spPr>
        <p:txBody>
          <a:bodyPr wrap="square" rtlCol="0">
            <a:spAutoFit/>
          </a:bodyPr>
          <a:lstStyle/>
          <a:p>
            <a:r>
              <a:rPr lang="en-US" altLang="zh-CN" dirty="0"/>
              <a:t>17</a:t>
            </a:r>
            <a:endParaRPr lang="zh-CN" alt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190466"/>
            <a:ext cx="11582400" cy="689932"/>
          </a:xfrm>
          <a:prstGeom prst="rect">
            <a:avLst/>
          </a:prstGeom>
        </p:spPr>
        <p:txBody>
          <a:bodyPr vert="horz" wrap="square" lIns="0" tIns="12700" rIns="0" bIns="0" rtlCol="0">
            <a:spAutoFit/>
          </a:bodyPr>
          <a:lstStyle/>
          <a:p>
            <a:pPr marL="12700">
              <a:lnSpc>
                <a:spcPct val="100000"/>
              </a:lnSpc>
              <a:spcBef>
                <a:spcPts val="100"/>
              </a:spcBef>
            </a:pPr>
            <a:r>
              <a:rPr lang="en-US" dirty="0" err="1"/>
              <a:t>Diffusion-DPO:</a:t>
            </a:r>
            <a:r>
              <a:rPr lang="en-US" altLang="zh-CN" dirty="0" err="1"/>
              <a:t>Toward</a:t>
            </a:r>
            <a:r>
              <a:rPr lang="en-US" altLang="zh-CN" dirty="0"/>
              <a:t> a Tractable Surrogate </a:t>
            </a:r>
            <a:endParaRPr spc="-10" dirty="0"/>
          </a:p>
        </p:txBody>
      </p:sp>
      <p:sp>
        <p:nvSpPr>
          <p:cNvPr id="14" name="矩形 13"/>
          <p:cNvSpPr/>
          <p:nvPr/>
        </p:nvSpPr>
        <p:spPr>
          <a:xfrm>
            <a:off x="1276466" y="900933"/>
            <a:ext cx="7069873" cy="1083995"/>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pic>
        <p:nvPicPr>
          <p:cNvPr id="17" name="图片 16"/>
          <p:cNvPicPr>
            <a:picLocks noChangeAspect="1"/>
          </p:cNvPicPr>
          <p:nvPr/>
        </p:nvPicPr>
        <p:blipFill>
          <a:blip r:embed="rId1"/>
          <a:stretch>
            <a:fillRect/>
          </a:stretch>
        </p:blipFill>
        <p:spPr>
          <a:xfrm>
            <a:off x="2072582" y="1019008"/>
            <a:ext cx="5477639" cy="847843"/>
          </a:xfrm>
          <a:prstGeom prst="rect">
            <a:avLst/>
          </a:prstGeom>
        </p:spPr>
      </p:pic>
      <p:pic>
        <p:nvPicPr>
          <p:cNvPr id="21" name="图片 20"/>
          <p:cNvPicPr>
            <a:picLocks noChangeAspect="1"/>
          </p:cNvPicPr>
          <p:nvPr/>
        </p:nvPicPr>
        <p:blipFill>
          <a:blip r:embed="rId2"/>
          <a:srcRect t="4678"/>
          <a:stretch>
            <a:fillRect/>
          </a:stretch>
        </p:blipFill>
        <p:spPr>
          <a:xfrm>
            <a:off x="656081" y="2068561"/>
            <a:ext cx="8793861" cy="1715199"/>
          </a:xfrm>
          <a:prstGeom prst="rect">
            <a:avLst/>
          </a:prstGeom>
        </p:spPr>
      </p:pic>
      <p:pic>
        <p:nvPicPr>
          <p:cNvPr id="23" name="图片 22"/>
          <p:cNvPicPr>
            <a:picLocks noChangeAspect="1"/>
          </p:cNvPicPr>
          <p:nvPr/>
        </p:nvPicPr>
        <p:blipFill>
          <a:blip r:embed="rId3"/>
          <a:srcRect t="14638" b="16794"/>
          <a:stretch>
            <a:fillRect/>
          </a:stretch>
        </p:blipFill>
        <p:spPr>
          <a:xfrm>
            <a:off x="950846" y="3659251"/>
            <a:ext cx="8204329" cy="3135651"/>
          </a:xfrm>
          <a:prstGeom prst="rect">
            <a:avLst/>
          </a:prstGeom>
        </p:spPr>
      </p:pic>
      <p:pic>
        <p:nvPicPr>
          <p:cNvPr id="25" name="图片 24"/>
          <p:cNvPicPr>
            <a:picLocks noChangeAspect="1"/>
          </p:cNvPicPr>
          <p:nvPr/>
        </p:nvPicPr>
        <p:blipFill>
          <a:blip r:embed="rId4"/>
          <a:stretch>
            <a:fillRect/>
          </a:stretch>
        </p:blipFill>
        <p:spPr>
          <a:xfrm>
            <a:off x="8977136" y="2342165"/>
            <a:ext cx="3214864" cy="583995"/>
          </a:xfrm>
          <a:prstGeom prst="rect">
            <a:avLst/>
          </a:prstGeom>
        </p:spPr>
      </p:pic>
      <p:sp>
        <p:nvSpPr>
          <p:cNvPr id="3" name="文本框 2"/>
          <p:cNvSpPr txBox="1"/>
          <p:nvPr/>
        </p:nvSpPr>
        <p:spPr>
          <a:xfrm>
            <a:off x="11572240" y="274320"/>
            <a:ext cx="477657" cy="369332"/>
          </a:xfrm>
          <a:prstGeom prst="rect">
            <a:avLst/>
          </a:prstGeom>
          <a:noFill/>
        </p:spPr>
        <p:txBody>
          <a:bodyPr wrap="square" rtlCol="0">
            <a:spAutoFit/>
          </a:bodyPr>
          <a:lstStyle/>
          <a:p>
            <a:r>
              <a:rPr lang="en-US" altLang="zh-CN" dirty="0"/>
              <a:t>18</a:t>
            </a:r>
            <a:endParaRPr lang="zh-CN" alt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66875" y="2233579"/>
            <a:ext cx="11582400" cy="843821"/>
          </a:xfrm>
          <a:prstGeom prst="rect">
            <a:avLst/>
          </a:prstGeom>
        </p:spPr>
        <p:txBody>
          <a:bodyPr vert="horz" wrap="square" lIns="0" tIns="12700" rIns="0" bIns="0" rtlCol="0">
            <a:spAutoFit/>
          </a:bodyPr>
          <a:lstStyle/>
          <a:p>
            <a:pPr marL="12700">
              <a:lnSpc>
                <a:spcPct val="100000"/>
              </a:lnSpc>
              <a:spcBef>
                <a:spcPts val="100"/>
              </a:spcBef>
            </a:pPr>
            <a:r>
              <a:rPr lang="en-US" altLang="zh-CN" sz="5400" dirty="0"/>
              <a:t>Application Of Diffusion Models</a:t>
            </a:r>
            <a:endParaRPr sz="5400" spc="-10" dirty="0"/>
          </a:p>
        </p:txBody>
      </p:sp>
      <p:sp>
        <p:nvSpPr>
          <p:cNvPr id="3" name="文本框 2"/>
          <p:cNvSpPr txBox="1"/>
          <p:nvPr/>
        </p:nvSpPr>
        <p:spPr>
          <a:xfrm>
            <a:off x="4121944" y="3429000"/>
            <a:ext cx="4493419" cy="1200329"/>
          </a:xfrm>
          <a:prstGeom prst="rect">
            <a:avLst/>
          </a:prstGeom>
          <a:noFill/>
        </p:spPr>
        <p:txBody>
          <a:bodyPr wrap="square" rtlCol="0">
            <a:spAutoFit/>
          </a:bodyPr>
          <a:lstStyle/>
          <a:p>
            <a:pPr marL="342900" indent="-342900">
              <a:buFont typeface="Arial" panose="020B0604020202090204" pitchFamily="34" charset="0"/>
              <a:buChar char="•"/>
            </a:pPr>
            <a:r>
              <a:rPr lang="en-US" altLang="zh-CN" sz="2400" dirty="0"/>
              <a:t>Personalized image generation</a:t>
            </a:r>
            <a:endParaRPr lang="en-US" altLang="zh-CN" sz="2400" dirty="0"/>
          </a:p>
          <a:p>
            <a:pPr marL="342900" indent="-342900">
              <a:buFont typeface="Arial" panose="020B0604020202090204" pitchFamily="34" charset="0"/>
              <a:buChar char="•"/>
            </a:pPr>
            <a:r>
              <a:rPr lang="en-US" altLang="zh-CN" sz="2400" dirty="0"/>
              <a:t>3D Generation</a:t>
            </a:r>
            <a:endParaRPr lang="en-US" altLang="zh-CN" sz="2400" dirty="0"/>
          </a:p>
          <a:p>
            <a:pPr marL="342900" indent="-342900">
              <a:buFont typeface="Arial" panose="020B0604020202090204" pitchFamily="34" charset="0"/>
              <a:buChar char="•"/>
            </a:pPr>
            <a:r>
              <a:rPr lang="en-US" altLang="zh-CN" sz="2400" dirty="0"/>
              <a:t>Embodied Intelligence</a:t>
            </a:r>
            <a:endParaRPr lang="zh-CN" altLang="en-US" sz="24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152400" y="202511"/>
            <a:ext cx="9144000" cy="566822"/>
          </a:xfrm>
          <a:prstGeom prst="rect">
            <a:avLst/>
          </a:prstGeom>
        </p:spPr>
        <p:txBody>
          <a:bodyPr vert="horz" wrap="square" lIns="0" tIns="12700" rIns="0" bIns="0" rtlCol="0">
            <a:spAutoFit/>
          </a:bodyPr>
          <a:lstStyle/>
          <a:p>
            <a:pPr marL="12700">
              <a:lnSpc>
                <a:spcPct val="100000"/>
              </a:lnSpc>
              <a:spcBef>
                <a:spcPts val="100"/>
              </a:spcBef>
            </a:pPr>
            <a:r>
              <a:rPr lang="en-US" altLang="zh-CN" sz="3600" dirty="0"/>
              <a:t>Personalized Image Generation </a:t>
            </a:r>
            <a:r>
              <a:rPr lang="en-US" altLang="zh-CN" sz="3600" spc="-25" dirty="0"/>
              <a:t>: </a:t>
            </a:r>
            <a:r>
              <a:rPr lang="en-US" sz="3600" spc="-25" dirty="0" err="1"/>
              <a:t>Dreambooth</a:t>
            </a:r>
            <a:endParaRPr sz="3600" spc="-10" dirty="0"/>
          </a:p>
        </p:txBody>
      </p:sp>
      <p:sp>
        <p:nvSpPr>
          <p:cNvPr id="19" name="object 3"/>
          <p:cNvSpPr txBox="1"/>
          <p:nvPr/>
        </p:nvSpPr>
        <p:spPr>
          <a:xfrm>
            <a:off x="3124200" y="6579889"/>
            <a:ext cx="8991600" cy="228268"/>
          </a:xfrm>
          <a:prstGeom prst="rect">
            <a:avLst/>
          </a:prstGeom>
        </p:spPr>
        <p:txBody>
          <a:bodyPr vert="horz" wrap="square" lIns="0" tIns="12700" rIns="0" bIns="0" rtlCol="0">
            <a:spAutoFit/>
          </a:bodyPr>
          <a:lstStyle/>
          <a:p>
            <a:pPr marL="12700" marR="0" lvl="0" indent="0" algn="r" defTabSz="914400" eaLnBrk="1" fontAlgn="auto" latinLnBrk="0" hangingPunct="1">
              <a:lnSpc>
                <a:spcPct val="100000"/>
              </a:lnSpc>
              <a:spcBef>
                <a:spcPts val="100"/>
              </a:spcBef>
              <a:spcAft>
                <a:spcPts val="0"/>
              </a:spcAft>
              <a:buClrTx/>
              <a:buSzTx/>
              <a:buFontTx/>
              <a:buNone/>
              <a:defRPr/>
            </a:pPr>
            <a:r>
              <a:rPr kumimoji="0" lang="en-US" altLang="zh-CN" sz="1400" b="0" i="0" u="none" strike="noStrike" kern="0" cap="none" spc="-10" normalizeH="0" baseline="0" noProof="0" dirty="0">
                <a:ln>
                  <a:noFill/>
                </a:ln>
                <a:solidFill>
                  <a:sysClr val="windowText" lastClr="000000"/>
                </a:solidFill>
                <a:effectLst/>
                <a:uLnTx/>
                <a:uFillTx/>
                <a:latin typeface="Calibri"/>
                <a:cs typeface="Calibri"/>
              </a:rPr>
              <a:t>Feng H, Huang Z, Li L, et al. Personalize anything for free with diffusion transformer[J]. </a:t>
            </a:r>
            <a:r>
              <a:rPr kumimoji="0" lang="en-US" altLang="zh-CN" sz="1400" b="0" i="0" u="none" strike="noStrike" kern="0" cap="none" spc="-10" normalizeH="0" baseline="0" noProof="0" dirty="0" err="1">
                <a:ln>
                  <a:noFill/>
                </a:ln>
                <a:solidFill>
                  <a:sysClr val="windowText" lastClr="000000"/>
                </a:solidFill>
                <a:effectLst/>
                <a:uLnTx/>
                <a:uFillTx/>
                <a:latin typeface="Calibri"/>
                <a:cs typeface="Calibri"/>
              </a:rPr>
              <a:t>arXiv</a:t>
            </a:r>
            <a:r>
              <a:rPr kumimoji="0" lang="en-US" altLang="zh-CN" sz="1400" b="0" i="0" u="none" strike="noStrike" kern="0" cap="none" spc="-10" normalizeH="0" baseline="0" noProof="0" dirty="0">
                <a:ln>
                  <a:noFill/>
                </a:ln>
                <a:solidFill>
                  <a:sysClr val="windowText" lastClr="000000"/>
                </a:solidFill>
                <a:effectLst/>
                <a:uLnTx/>
                <a:uFillTx/>
                <a:latin typeface="Calibri"/>
                <a:cs typeface="Calibri"/>
              </a:rPr>
              <a:t> preprint arXiv:2503.12590, 2025</a:t>
            </a:r>
            <a:r>
              <a:rPr kumimoji="0" lang="en-US" altLang="zh-CN" sz="1400" b="0" i="0" u="none" strike="noStrike" kern="0" cap="none" spc="0" normalizeH="0" baseline="0" noProof="0" dirty="0">
                <a:ln>
                  <a:noFill/>
                </a:ln>
                <a:solidFill>
                  <a:sysClr val="windowText" lastClr="000000"/>
                </a:solidFill>
                <a:effectLst/>
                <a:uLnTx/>
                <a:uFillTx/>
              </a:rPr>
              <a:t>.</a:t>
            </a:r>
            <a:endParaRPr kumimoji="0" sz="1400" b="0" i="0" u="none" strike="noStrike" kern="0" cap="none" spc="0" normalizeH="0" baseline="0" noProof="0" dirty="0">
              <a:ln>
                <a:noFill/>
              </a:ln>
              <a:solidFill>
                <a:sysClr val="windowText" lastClr="000000"/>
              </a:solidFill>
              <a:effectLst/>
              <a:uLnTx/>
              <a:uFillTx/>
              <a:latin typeface="Calibri"/>
              <a:cs typeface="Calibri"/>
            </a:endParaRPr>
          </a:p>
        </p:txBody>
      </p:sp>
      <p:pic>
        <p:nvPicPr>
          <p:cNvPr id="4" name="图片 3"/>
          <p:cNvPicPr>
            <a:picLocks noChangeAspect="1"/>
          </p:cNvPicPr>
          <p:nvPr/>
        </p:nvPicPr>
        <p:blipFill>
          <a:blip r:embed="rId1"/>
          <a:stretch>
            <a:fillRect/>
          </a:stretch>
        </p:blipFill>
        <p:spPr>
          <a:xfrm>
            <a:off x="381000" y="971207"/>
            <a:ext cx="6182588" cy="4915586"/>
          </a:xfrm>
          <a:prstGeom prst="rect">
            <a:avLst/>
          </a:prstGeom>
        </p:spPr>
      </p:pic>
      <p:sp>
        <p:nvSpPr>
          <p:cNvPr id="7" name="文本框 6"/>
          <p:cNvSpPr txBox="1"/>
          <p:nvPr/>
        </p:nvSpPr>
        <p:spPr>
          <a:xfrm>
            <a:off x="7772400" y="3334261"/>
            <a:ext cx="3657600" cy="1200329"/>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a:ln>
                  <a:noFill/>
                </a:ln>
                <a:solidFill>
                  <a:sysClr val="windowText" lastClr="000000"/>
                </a:solidFill>
                <a:effectLst/>
                <a:uLnTx/>
                <a:uFillTx/>
              </a:rPr>
              <a:t>3</a:t>
            </a:r>
            <a:r>
              <a:rPr kumimoji="0" lang="zh-CN" altLang="en-US" sz="1800" b="0" i="0" u="none" strike="noStrike" kern="0" cap="none" spc="0" normalizeH="0" baseline="0" noProof="0" dirty="0">
                <a:ln>
                  <a:noFill/>
                </a:ln>
                <a:solidFill>
                  <a:sysClr val="windowText" lastClr="000000"/>
                </a:solidFill>
                <a:effectLst/>
                <a:uLnTx/>
                <a:uFillTx/>
              </a:rPr>
              <a:t>～</a:t>
            </a:r>
            <a:r>
              <a:rPr kumimoji="0" lang="en-US" altLang="zh-CN" sz="1800" b="0" i="0" u="none" strike="noStrike" kern="0" cap="none" spc="0" normalizeH="0" baseline="0" noProof="0" dirty="0">
                <a:ln>
                  <a:noFill/>
                </a:ln>
                <a:solidFill>
                  <a:sysClr val="windowText" lastClr="000000"/>
                </a:solidFill>
                <a:effectLst/>
                <a:uLnTx/>
                <a:uFillTx/>
              </a:rPr>
              <a:t>5 images of a subject is needed to finetune the network</a:t>
            </a:r>
            <a:endParaRPr kumimoji="0" lang="en-US" altLang="zh-CN" sz="1800" b="0" i="0" u="none" strike="noStrike" kern="0" cap="none" spc="0" normalizeH="0" baseline="0" noProof="0" dirty="0">
              <a:ln>
                <a:noFill/>
              </a:ln>
              <a:solidFill>
                <a:sysClr val="windowText" lastClr="000000"/>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endParaRPr kumimoji="0" lang="en-US" altLang="zh-CN" sz="1800" b="0" i="0" u="none" strike="noStrike" kern="0" cap="none" spc="0" normalizeH="0" baseline="0" noProof="0" dirty="0">
              <a:ln>
                <a:noFill/>
              </a:ln>
              <a:solidFill>
                <a:sysClr val="windowText" lastClr="000000"/>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Text" lastClr="000000"/>
              </a:solidFill>
              <a:effectLst/>
              <a:uLnTx/>
              <a:uFillTx/>
            </a:endParaRPr>
          </a:p>
        </p:txBody>
      </p:sp>
      <p:pic>
        <p:nvPicPr>
          <p:cNvPr id="9" name="图片 8"/>
          <p:cNvPicPr>
            <a:picLocks noChangeAspect="1"/>
          </p:cNvPicPr>
          <p:nvPr/>
        </p:nvPicPr>
        <p:blipFill>
          <a:blip r:embed="rId2"/>
          <a:stretch>
            <a:fillRect/>
          </a:stretch>
        </p:blipFill>
        <p:spPr>
          <a:xfrm>
            <a:off x="5105400" y="1140048"/>
            <a:ext cx="2362405" cy="426757"/>
          </a:xfrm>
          <a:prstGeom prst="rect">
            <a:avLst/>
          </a:prstGeom>
        </p:spPr>
      </p:pic>
      <p:pic>
        <p:nvPicPr>
          <p:cNvPr id="12" name="图片 11"/>
          <p:cNvPicPr>
            <a:picLocks noChangeAspect="1"/>
          </p:cNvPicPr>
          <p:nvPr/>
        </p:nvPicPr>
        <p:blipFill>
          <a:blip r:embed="rId3"/>
          <a:stretch>
            <a:fillRect/>
          </a:stretch>
        </p:blipFill>
        <p:spPr>
          <a:xfrm>
            <a:off x="6286603" y="5569038"/>
            <a:ext cx="3221598" cy="426757"/>
          </a:xfrm>
          <a:prstGeom prst="rect">
            <a:avLst/>
          </a:prstGeom>
        </p:spPr>
      </p:pic>
      <p:sp>
        <p:nvSpPr>
          <p:cNvPr id="3" name="文本框 2"/>
          <p:cNvSpPr txBox="1"/>
          <p:nvPr/>
        </p:nvSpPr>
        <p:spPr>
          <a:xfrm>
            <a:off x="11572240" y="274320"/>
            <a:ext cx="477657" cy="369332"/>
          </a:xfrm>
          <a:prstGeom prst="rect">
            <a:avLst/>
          </a:prstGeom>
          <a:noFill/>
        </p:spPr>
        <p:txBody>
          <a:bodyPr wrap="square" rtlCol="0">
            <a:spAutoFit/>
          </a:bodyPr>
          <a:lstStyle/>
          <a:p>
            <a:r>
              <a:rPr lang="en-US" altLang="zh-CN" dirty="0"/>
              <a:t>20</a:t>
            </a:r>
            <a:endParaRPr lang="zh-CN" alt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152400" y="202511"/>
            <a:ext cx="9144000" cy="566822"/>
          </a:xfrm>
          <a:prstGeom prst="rect">
            <a:avLst/>
          </a:prstGeom>
        </p:spPr>
        <p:txBody>
          <a:bodyPr vert="horz" wrap="square" lIns="0" tIns="12700" rIns="0" bIns="0" rtlCol="0">
            <a:spAutoFit/>
          </a:bodyPr>
          <a:lstStyle/>
          <a:p>
            <a:pPr marL="12700">
              <a:lnSpc>
                <a:spcPct val="100000"/>
              </a:lnSpc>
              <a:spcBef>
                <a:spcPts val="100"/>
              </a:spcBef>
            </a:pPr>
            <a:r>
              <a:rPr lang="en-US" altLang="zh-CN" sz="3600" dirty="0"/>
              <a:t>Personalized Image Generation </a:t>
            </a:r>
            <a:r>
              <a:rPr lang="en-US" altLang="zh-CN" sz="3600" spc="-25" dirty="0"/>
              <a:t>:</a:t>
            </a:r>
            <a:r>
              <a:rPr lang="en-US" sz="3600" spc="-25" dirty="0"/>
              <a:t>Textual Inversion</a:t>
            </a:r>
            <a:endParaRPr sz="3600" spc="-10" dirty="0"/>
          </a:p>
        </p:txBody>
      </p:sp>
      <p:sp>
        <p:nvSpPr>
          <p:cNvPr id="19" name="object 3"/>
          <p:cNvSpPr txBox="1"/>
          <p:nvPr/>
        </p:nvSpPr>
        <p:spPr>
          <a:xfrm>
            <a:off x="1752600" y="6333669"/>
            <a:ext cx="10363200" cy="443711"/>
          </a:xfrm>
          <a:prstGeom prst="rect">
            <a:avLst/>
          </a:prstGeom>
        </p:spPr>
        <p:txBody>
          <a:bodyPr vert="horz" wrap="square" lIns="0" tIns="12700" rIns="0" bIns="0" rtlCol="0">
            <a:spAutoFit/>
          </a:bodyPr>
          <a:lstStyle/>
          <a:p>
            <a:pPr marL="12700" marR="0" lvl="0" indent="0" algn="r" defTabSz="914400" eaLnBrk="1" fontAlgn="auto" latinLnBrk="0" hangingPunct="1">
              <a:lnSpc>
                <a:spcPct val="100000"/>
              </a:lnSpc>
              <a:spcBef>
                <a:spcPts val="100"/>
              </a:spcBef>
              <a:spcAft>
                <a:spcPts val="0"/>
              </a:spcAft>
              <a:buClrTx/>
              <a:buSzTx/>
              <a:buFontTx/>
              <a:buNone/>
              <a:defRPr/>
            </a:pPr>
            <a:r>
              <a:rPr kumimoji="0" lang="en-US" altLang="zh-CN" sz="1400" b="0" i="0" u="none" strike="noStrike" kern="0" cap="none" spc="-10" normalizeH="0" baseline="0" noProof="0" dirty="0">
                <a:ln>
                  <a:noFill/>
                </a:ln>
                <a:solidFill>
                  <a:sysClr val="windowText" lastClr="000000"/>
                </a:solidFill>
                <a:effectLst/>
                <a:uLnTx/>
                <a:uFillTx/>
                <a:latin typeface="Calibri"/>
                <a:cs typeface="Calibri"/>
              </a:rPr>
              <a:t>Gal R, </a:t>
            </a:r>
            <a:r>
              <a:rPr kumimoji="0" lang="en-US" altLang="zh-CN" sz="1400" b="0" i="0" u="none" strike="noStrike" kern="0" cap="none" spc="-10" normalizeH="0" baseline="0" noProof="0" dirty="0" err="1">
                <a:ln>
                  <a:noFill/>
                </a:ln>
                <a:solidFill>
                  <a:sysClr val="windowText" lastClr="000000"/>
                </a:solidFill>
                <a:effectLst/>
                <a:uLnTx/>
                <a:uFillTx/>
                <a:latin typeface="Calibri"/>
                <a:cs typeface="Calibri"/>
              </a:rPr>
              <a:t>Alaluf</a:t>
            </a:r>
            <a:r>
              <a:rPr kumimoji="0" lang="en-US" altLang="zh-CN" sz="1400" b="0" i="0" u="none" strike="noStrike" kern="0" cap="none" spc="-10" normalizeH="0" baseline="0" noProof="0" dirty="0">
                <a:ln>
                  <a:noFill/>
                </a:ln>
                <a:solidFill>
                  <a:sysClr val="windowText" lastClr="000000"/>
                </a:solidFill>
                <a:effectLst/>
                <a:uLnTx/>
                <a:uFillTx/>
                <a:latin typeface="Calibri"/>
                <a:cs typeface="Calibri"/>
              </a:rPr>
              <a:t> Y, Atzmon Y, et al. An image is worth one word: Personalizing text-to-image generation using textual inversion[J]. </a:t>
            </a:r>
            <a:r>
              <a:rPr kumimoji="0" lang="en-US" altLang="zh-CN" sz="1400" b="0" i="0" u="none" strike="noStrike" kern="0" cap="none" spc="-10" normalizeH="0" baseline="0" noProof="0" dirty="0" err="1">
                <a:ln>
                  <a:noFill/>
                </a:ln>
                <a:solidFill>
                  <a:sysClr val="windowText" lastClr="000000"/>
                </a:solidFill>
                <a:effectLst/>
                <a:uLnTx/>
                <a:uFillTx/>
                <a:latin typeface="Calibri"/>
                <a:cs typeface="Calibri"/>
              </a:rPr>
              <a:t>arXiv</a:t>
            </a:r>
            <a:r>
              <a:rPr kumimoji="0" lang="en-US" altLang="zh-CN" sz="1400" b="0" i="0" u="none" strike="noStrike" kern="0" cap="none" spc="-10" normalizeH="0" baseline="0" noProof="0" dirty="0">
                <a:ln>
                  <a:noFill/>
                </a:ln>
                <a:solidFill>
                  <a:sysClr val="windowText" lastClr="000000"/>
                </a:solidFill>
                <a:effectLst/>
                <a:uLnTx/>
                <a:uFillTx/>
                <a:latin typeface="Calibri"/>
                <a:cs typeface="Calibri"/>
              </a:rPr>
              <a:t> preprint arXiv:2208.01618, 2022.</a:t>
            </a:r>
            <a:endParaRPr kumimoji="0" sz="1400" b="0" i="0" u="none" strike="noStrike" kern="0" cap="none" spc="0" normalizeH="0" baseline="0" noProof="0" dirty="0">
              <a:ln>
                <a:noFill/>
              </a:ln>
              <a:solidFill>
                <a:sysClr val="windowText" lastClr="000000"/>
              </a:solidFill>
              <a:effectLst/>
              <a:uLnTx/>
              <a:uFillTx/>
              <a:latin typeface="Calibri"/>
              <a:cs typeface="Calibri"/>
            </a:endParaRPr>
          </a:p>
        </p:txBody>
      </p:sp>
      <p:pic>
        <p:nvPicPr>
          <p:cNvPr id="15" name="图片 14"/>
          <p:cNvPicPr>
            <a:picLocks noChangeAspect="1"/>
          </p:cNvPicPr>
          <p:nvPr/>
        </p:nvPicPr>
        <p:blipFill>
          <a:blip r:embed="rId1"/>
          <a:stretch>
            <a:fillRect/>
          </a:stretch>
        </p:blipFill>
        <p:spPr>
          <a:xfrm>
            <a:off x="2652232" y="1509444"/>
            <a:ext cx="6887536" cy="3839111"/>
          </a:xfrm>
          <a:prstGeom prst="rect">
            <a:avLst/>
          </a:prstGeom>
        </p:spPr>
      </p:pic>
      <p:pic>
        <p:nvPicPr>
          <p:cNvPr id="17" name="图片 16"/>
          <p:cNvPicPr>
            <a:picLocks noChangeAspect="1"/>
          </p:cNvPicPr>
          <p:nvPr/>
        </p:nvPicPr>
        <p:blipFill>
          <a:blip r:embed="rId2"/>
          <a:stretch>
            <a:fillRect/>
          </a:stretch>
        </p:blipFill>
        <p:spPr>
          <a:xfrm>
            <a:off x="2514600" y="5520511"/>
            <a:ext cx="7486679" cy="719164"/>
          </a:xfrm>
          <a:prstGeom prst="rect">
            <a:avLst/>
          </a:prstGeom>
        </p:spPr>
      </p:pic>
      <p:sp>
        <p:nvSpPr>
          <p:cNvPr id="3" name="文本框 2"/>
          <p:cNvSpPr txBox="1"/>
          <p:nvPr/>
        </p:nvSpPr>
        <p:spPr>
          <a:xfrm>
            <a:off x="11572240" y="274320"/>
            <a:ext cx="477657" cy="369332"/>
          </a:xfrm>
          <a:prstGeom prst="rect">
            <a:avLst/>
          </a:prstGeom>
          <a:noFill/>
        </p:spPr>
        <p:txBody>
          <a:bodyPr wrap="square" rtlCol="0">
            <a:spAutoFit/>
          </a:bodyPr>
          <a:lstStyle/>
          <a:p>
            <a:r>
              <a:rPr lang="en-US" altLang="zh-CN" dirty="0"/>
              <a:t>21</a:t>
            </a:r>
            <a:endParaRPr lang="zh-CN" alt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95250" y="202511"/>
            <a:ext cx="9144000" cy="566822"/>
          </a:xfrm>
          <a:prstGeom prst="rect">
            <a:avLst/>
          </a:prstGeom>
        </p:spPr>
        <p:txBody>
          <a:bodyPr vert="horz" wrap="square" lIns="0" tIns="12700" rIns="0" bIns="0" rtlCol="0">
            <a:spAutoFit/>
          </a:bodyPr>
          <a:lstStyle/>
          <a:p>
            <a:pPr marL="12700">
              <a:lnSpc>
                <a:spcPct val="100000"/>
              </a:lnSpc>
              <a:spcBef>
                <a:spcPts val="100"/>
              </a:spcBef>
            </a:pPr>
            <a:r>
              <a:rPr lang="en-US" altLang="zh-CN" sz="3600" dirty="0"/>
              <a:t>Personalized Image Generation </a:t>
            </a:r>
            <a:r>
              <a:rPr lang="en-US" altLang="zh-CN" sz="3600" spc="-25" dirty="0"/>
              <a:t>:</a:t>
            </a:r>
            <a:r>
              <a:rPr lang="en-US" sz="3600" spc="-25" dirty="0"/>
              <a:t>IP Adapter</a:t>
            </a:r>
            <a:endParaRPr sz="3600" spc="-10" dirty="0"/>
          </a:p>
        </p:txBody>
      </p:sp>
      <p:pic>
        <p:nvPicPr>
          <p:cNvPr id="4" name="图片 3"/>
          <p:cNvPicPr>
            <a:picLocks noChangeAspect="1"/>
          </p:cNvPicPr>
          <p:nvPr/>
        </p:nvPicPr>
        <p:blipFill>
          <a:blip r:embed="rId1"/>
          <a:stretch>
            <a:fillRect/>
          </a:stretch>
        </p:blipFill>
        <p:spPr>
          <a:xfrm>
            <a:off x="1428098" y="887107"/>
            <a:ext cx="9335803" cy="4372585"/>
          </a:xfrm>
          <a:prstGeom prst="rect">
            <a:avLst/>
          </a:prstGeom>
        </p:spPr>
      </p:pic>
      <p:sp>
        <p:nvSpPr>
          <p:cNvPr id="5" name="文本框 4"/>
          <p:cNvSpPr txBox="1"/>
          <p:nvPr/>
        </p:nvSpPr>
        <p:spPr>
          <a:xfrm>
            <a:off x="1708730" y="5421054"/>
            <a:ext cx="1868091" cy="523220"/>
          </a:xfrm>
          <a:prstGeom prst="rect">
            <a:avLst/>
          </a:prstGeom>
          <a:noFill/>
        </p:spPr>
        <p:txBody>
          <a:bodyPr wrap="square">
            <a:spAutoFit/>
          </a:bodyPr>
          <a:lstStyle/>
          <a:p>
            <a:r>
              <a:rPr lang="en-US" altLang="zh-CN" sz="2800" dirty="0"/>
              <a:t>Output =</a:t>
            </a:r>
            <a:endParaRPr lang="zh-CN" altLang="en-US" sz="2800" dirty="0"/>
          </a:p>
        </p:txBody>
      </p:sp>
      <p:pic>
        <p:nvPicPr>
          <p:cNvPr id="7" name="图片 6"/>
          <p:cNvPicPr>
            <a:picLocks noChangeAspect="1"/>
          </p:cNvPicPr>
          <p:nvPr/>
        </p:nvPicPr>
        <p:blipFill>
          <a:blip r:embed="rId2"/>
          <a:stretch>
            <a:fillRect/>
          </a:stretch>
        </p:blipFill>
        <p:spPr>
          <a:xfrm>
            <a:off x="3395395" y="5377466"/>
            <a:ext cx="7368506" cy="566808"/>
          </a:xfrm>
          <a:prstGeom prst="rect">
            <a:avLst/>
          </a:prstGeom>
        </p:spPr>
      </p:pic>
      <p:sp>
        <p:nvSpPr>
          <p:cNvPr id="3" name="文本框 2"/>
          <p:cNvSpPr txBox="1"/>
          <p:nvPr/>
        </p:nvSpPr>
        <p:spPr>
          <a:xfrm>
            <a:off x="11572240" y="274320"/>
            <a:ext cx="477657" cy="369332"/>
          </a:xfrm>
          <a:prstGeom prst="rect">
            <a:avLst/>
          </a:prstGeom>
          <a:noFill/>
        </p:spPr>
        <p:txBody>
          <a:bodyPr wrap="square" rtlCol="0">
            <a:spAutoFit/>
          </a:bodyPr>
          <a:lstStyle/>
          <a:p>
            <a:r>
              <a:rPr lang="en-US" altLang="zh-CN" dirty="0"/>
              <a:t>22</a:t>
            </a:r>
            <a:endParaRPr lang="zh-CN" altLang="en-US" dirty="0"/>
          </a:p>
        </p:txBody>
      </p:sp>
      <p:sp>
        <p:nvSpPr>
          <p:cNvPr id="8" name="文本框 7"/>
          <p:cNvSpPr txBox="1"/>
          <p:nvPr/>
        </p:nvSpPr>
        <p:spPr>
          <a:xfrm>
            <a:off x="-274971" y="6211669"/>
            <a:ext cx="12466971" cy="646331"/>
          </a:xfrm>
          <a:prstGeom prst="rect">
            <a:avLst/>
          </a:prstGeom>
          <a:noFill/>
        </p:spPr>
        <p:txBody>
          <a:bodyPr wrap="square">
            <a:spAutoFit/>
          </a:bodyPr>
          <a:lstStyle/>
          <a:p>
            <a:pPr algn="r"/>
            <a:r>
              <a:rPr lang="en-US" altLang="zh-CN" dirty="0"/>
              <a:t>Ye H, Zhang J, Liu S, et al. Ip-adapter: Text compatible image prompt adapter for text-to-image diffusion models[J]. </a:t>
            </a:r>
            <a:r>
              <a:rPr lang="en-US" altLang="zh-CN" dirty="0" err="1"/>
              <a:t>arXiv</a:t>
            </a:r>
            <a:r>
              <a:rPr lang="en-US" altLang="zh-CN" dirty="0"/>
              <a:t> preprint arXiv:2308.06721, 2023.</a:t>
            </a:r>
            <a:endParaRPr lang="zh-CN" alt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152400" y="202511"/>
            <a:ext cx="9144000" cy="566822"/>
          </a:xfrm>
          <a:prstGeom prst="rect">
            <a:avLst/>
          </a:prstGeom>
        </p:spPr>
        <p:txBody>
          <a:bodyPr vert="horz" wrap="square" lIns="0" tIns="12700" rIns="0" bIns="0" rtlCol="0">
            <a:spAutoFit/>
          </a:bodyPr>
          <a:lstStyle/>
          <a:p>
            <a:pPr marL="12700">
              <a:lnSpc>
                <a:spcPct val="100000"/>
              </a:lnSpc>
              <a:spcBef>
                <a:spcPts val="100"/>
              </a:spcBef>
            </a:pPr>
            <a:r>
              <a:rPr lang="en-US" altLang="zh-CN" sz="3600" dirty="0"/>
              <a:t>Diffusion for 3D: Trellis</a:t>
            </a:r>
            <a:endParaRPr sz="3600" spc="-10" dirty="0"/>
          </a:p>
        </p:txBody>
      </p:sp>
      <p:pic>
        <p:nvPicPr>
          <p:cNvPr id="5" name="图片 4"/>
          <p:cNvPicPr>
            <a:picLocks noChangeAspect="1"/>
          </p:cNvPicPr>
          <p:nvPr/>
        </p:nvPicPr>
        <p:blipFill>
          <a:blip r:embed="rId1"/>
          <a:stretch>
            <a:fillRect/>
          </a:stretch>
        </p:blipFill>
        <p:spPr>
          <a:xfrm>
            <a:off x="261207" y="1619765"/>
            <a:ext cx="8928415" cy="3855205"/>
          </a:xfrm>
          <a:prstGeom prst="rect">
            <a:avLst/>
          </a:prstGeom>
        </p:spPr>
      </p:pic>
      <p:pic>
        <p:nvPicPr>
          <p:cNvPr id="11" name="图片 10"/>
          <p:cNvPicPr>
            <a:picLocks noChangeAspect="1"/>
          </p:cNvPicPr>
          <p:nvPr/>
        </p:nvPicPr>
        <p:blipFill>
          <a:blip r:embed="rId2"/>
          <a:stretch>
            <a:fillRect/>
          </a:stretch>
        </p:blipFill>
        <p:spPr>
          <a:xfrm>
            <a:off x="9189622" y="1199928"/>
            <a:ext cx="2248095" cy="5121084"/>
          </a:xfrm>
          <a:prstGeom prst="rect">
            <a:avLst/>
          </a:prstGeom>
        </p:spPr>
      </p:pic>
      <p:sp>
        <p:nvSpPr>
          <p:cNvPr id="3" name="文本框 2"/>
          <p:cNvSpPr txBox="1"/>
          <p:nvPr/>
        </p:nvSpPr>
        <p:spPr>
          <a:xfrm>
            <a:off x="11572240" y="274320"/>
            <a:ext cx="477657" cy="369332"/>
          </a:xfrm>
          <a:prstGeom prst="rect">
            <a:avLst/>
          </a:prstGeom>
          <a:noFill/>
        </p:spPr>
        <p:txBody>
          <a:bodyPr wrap="square" rtlCol="0">
            <a:spAutoFit/>
          </a:bodyPr>
          <a:lstStyle/>
          <a:p>
            <a:r>
              <a:rPr lang="en-US" altLang="zh-CN" dirty="0"/>
              <a:t>23</a:t>
            </a:r>
            <a:endParaRPr lang="zh-CN" altLang="en-US" dirty="0"/>
          </a:p>
        </p:txBody>
      </p:sp>
      <p:sp>
        <p:nvSpPr>
          <p:cNvPr id="6" name="文本框 5"/>
          <p:cNvSpPr txBox="1"/>
          <p:nvPr/>
        </p:nvSpPr>
        <p:spPr>
          <a:xfrm>
            <a:off x="754283" y="6211669"/>
            <a:ext cx="11437717" cy="646331"/>
          </a:xfrm>
          <a:prstGeom prst="rect">
            <a:avLst/>
          </a:prstGeom>
          <a:noFill/>
        </p:spPr>
        <p:txBody>
          <a:bodyPr wrap="square">
            <a:spAutoFit/>
          </a:bodyPr>
          <a:lstStyle/>
          <a:p>
            <a:pPr algn="r"/>
            <a:r>
              <a:rPr lang="en-US" altLang="zh-CN" dirty="0"/>
              <a:t>Xiang J, </a:t>
            </a:r>
            <a:r>
              <a:rPr lang="en-US" altLang="zh-CN" dirty="0" err="1"/>
              <a:t>Lv</a:t>
            </a:r>
            <a:r>
              <a:rPr lang="en-US" altLang="zh-CN" dirty="0"/>
              <a:t> Z, Xu S, et al. Structured 3d </a:t>
            </a:r>
            <a:r>
              <a:rPr lang="en-US" altLang="zh-CN" dirty="0" err="1"/>
              <a:t>latents</a:t>
            </a:r>
            <a:r>
              <a:rPr lang="en-US" altLang="zh-CN" dirty="0"/>
              <a:t> for scalable and versatile 3d generation[C]//Proceedings of the IEEE/CVF conference on computer vision and pattern recognition. 2025: 21469-21480.</a:t>
            </a:r>
            <a:endParaRPr lang="zh-CN" alt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152400" y="202511"/>
            <a:ext cx="10479024" cy="566822"/>
          </a:xfrm>
          <a:prstGeom prst="rect">
            <a:avLst/>
          </a:prstGeom>
        </p:spPr>
        <p:txBody>
          <a:bodyPr vert="horz" wrap="square" lIns="0" tIns="12700" rIns="0" bIns="0" rtlCol="0">
            <a:spAutoFit/>
          </a:bodyPr>
          <a:lstStyle/>
          <a:p>
            <a:pPr marL="12700">
              <a:lnSpc>
                <a:spcPct val="100000"/>
              </a:lnSpc>
              <a:spcBef>
                <a:spcPts val="100"/>
              </a:spcBef>
            </a:pPr>
            <a:r>
              <a:rPr lang="en-US" altLang="zh-CN" sz="3600" dirty="0"/>
              <a:t>Diffusion for embodied intelligence: Diffusion policy</a:t>
            </a:r>
            <a:endParaRPr sz="3600" spc="-10" dirty="0"/>
          </a:p>
        </p:txBody>
      </p:sp>
      <p:pic>
        <p:nvPicPr>
          <p:cNvPr id="4" name="图片 3"/>
          <p:cNvPicPr>
            <a:picLocks noChangeAspect="1"/>
          </p:cNvPicPr>
          <p:nvPr/>
        </p:nvPicPr>
        <p:blipFill>
          <a:blip r:embed="rId1"/>
          <a:stretch>
            <a:fillRect/>
          </a:stretch>
        </p:blipFill>
        <p:spPr>
          <a:xfrm>
            <a:off x="5100320" y="757367"/>
            <a:ext cx="6656406" cy="2285164"/>
          </a:xfrm>
          <a:prstGeom prst="rect">
            <a:avLst/>
          </a:prstGeom>
        </p:spPr>
      </p:pic>
      <p:pic>
        <p:nvPicPr>
          <p:cNvPr id="6" name="图片 5"/>
          <p:cNvPicPr>
            <a:picLocks noChangeAspect="1"/>
          </p:cNvPicPr>
          <p:nvPr/>
        </p:nvPicPr>
        <p:blipFill>
          <a:blip r:embed="rId2"/>
          <a:stretch>
            <a:fillRect/>
          </a:stretch>
        </p:blipFill>
        <p:spPr>
          <a:xfrm>
            <a:off x="0" y="2965814"/>
            <a:ext cx="12192000" cy="3392691"/>
          </a:xfrm>
          <a:prstGeom prst="rect">
            <a:avLst/>
          </a:prstGeom>
        </p:spPr>
      </p:pic>
      <p:pic>
        <p:nvPicPr>
          <p:cNvPr id="8" name="图片 7"/>
          <p:cNvPicPr>
            <a:picLocks noChangeAspect="1"/>
          </p:cNvPicPr>
          <p:nvPr/>
        </p:nvPicPr>
        <p:blipFill>
          <a:blip r:embed="rId3"/>
          <a:stretch>
            <a:fillRect/>
          </a:stretch>
        </p:blipFill>
        <p:spPr>
          <a:xfrm>
            <a:off x="1049356" y="1287133"/>
            <a:ext cx="1952898" cy="724001"/>
          </a:xfrm>
          <a:prstGeom prst="rect">
            <a:avLst/>
          </a:prstGeom>
        </p:spPr>
      </p:pic>
      <p:sp>
        <p:nvSpPr>
          <p:cNvPr id="3" name="文本框 2"/>
          <p:cNvSpPr txBox="1"/>
          <p:nvPr/>
        </p:nvSpPr>
        <p:spPr>
          <a:xfrm>
            <a:off x="11572240" y="274320"/>
            <a:ext cx="477657" cy="369332"/>
          </a:xfrm>
          <a:prstGeom prst="rect">
            <a:avLst/>
          </a:prstGeom>
          <a:noFill/>
        </p:spPr>
        <p:txBody>
          <a:bodyPr wrap="square" rtlCol="0">
            <a:spAutoFit/>
          </a:bodyPr>
          <a:lstStyle/>
          <a:p>
            <a:r>
              <a:rPr lang="en-US" altLang="zh-CN" dirty="0"/>
              <a:t>24</a:t>
            </a:r>
            <a:endParaRPr lang="zh-CN" altLang="en-US" dirty="0"/>
          </a:p>
        </p:txBody>
      </p:sp>
      <p:sp>
        <p:nvSpPr>
          <p:cNvPr id="7" name="文本框 6"/>
          <p:cNvSpPr txBox="1"/>
          <p:nvPr/>
        </p:nvSpPr>
        <p:spPr>
          <a:xfrm>
            <a:off x="1049356" y="6211669"/>
            <a:ext cx="11137900" cy="646331"/>
          </a:xfrm>
          <a:prstGeom prst="rect">
            <a:avLst/>
          </a:prstGeom>
          <a:noFill/>
        </p:spPr>
        <p:txBody>
          <a:bodyPr wrap="square">
            <a:spAutoFit/>
          </a:bodyPr>
          <a:lstStyle/>
          <a:p>
            <a:pPr algn="r"/>
            <a:r>
              <a:rPr lang="en-US" altLang="zh-CN" dirty="0"/>
              <a:t>Chi C, Xu Z, Feng S, et al. Diffusion policy: Visuomotor policy learning via action diffusion[J]. The International Journal of Robotics Research, 2025, 44(10-11): 1684-1704.</a:t>
            </a:r>
            <a:endParaRPr lang="zh-CN" alt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object 2"/>
          <p:cNvSpPr txBox="1"/>
          <p:nvPr/>
        </p:nvSpPr>
        <p:spPr>
          <a:xfrm>
            <a:off x="152400" y="202511"/>
            <a:ext cx="10479024" cy="566822"/>
          </a:xfrm>
          <a:prstGeom prst="rect">
            <a:avLst/>
          </a:prstGeom>
        </p:spPr>
        <p:txBody>
          <a:bodyPr vert="horz" wrap="square" lIns="0" tIns="12700" rIns="0" bIns="0" rtlCol="0">
            <a:spAutoFit/>
          </a:bodyPr>
          <a:lstStyle>
            <a:lvl1pPr>
              <a:defRPr sz="4400" b="0" i="0">
                <a:solidFill>
                  <a:schemeClr val="tx1"/>
                </a:solidFill>
                <a:latin typeface="Calibri Light"/>
                <a:ea typeface="+mj-ea"/>
                <a:cs typeface="Calibri Light"/>
              </a:defRPr>
            </a:lvl1pPr>
          </a:lstStyle>
          <a:p>
            <a:pPr marL="12700">
              <a:spcBef>
                <a:spcPts val="100"/>
              </a:spcBef>
            </a:pPr>
            <a:r>
              <a:rPr lang="fr-FR" altLang="zh-CN" sz="3600" kern="0" dirty="0"/>
              <a:t>Diffusion for embodied intelligence: VLA</a:t>
            </a:r>
            <a:endParaRPr lang="fr-FR" sz="3600" kern="0" spc="-10" dirty="0"/>
          </a:p>
        </p:txBody>
      </p:sp>
      <p:pic>
        <p:nvPicPr>
          <p:cNvPr id="17" name="图片 16"/>
          <p:cNvPicPr>
            <a:picLocks noChangeAspect="1"/>
          </p:cNvPicPr>
          <p:nvPr/>
        </p:nvPicPr>
        <p:blipFill>
          <a:blip r:embed="rId1"/>
          <a:stretch>
            <a:fillRect/>
          </a:stretch>
        </p:blipFill>
        <p:spPr>
          <a:xfrm>
            <a:off x="0" y="1781810"/>
            <a:ext cx="7270584" cy="2018603"/>
          </a:xfrm>
          <a:prstGeom prst="rect">
            <a:avLst/>
          </a:prstGeom>
        </p:spPr>
      </p:pic>
      <p:pic>
        <p:nvPicPr>
          <p:cNvPr id="3" name="图片 2"/>
          <p:cNvPicPr>
            <a:picLocks noChangeAspect="1"/>
          </p:cNvPicPr>
          <p:nvPr/>
        </p:nvPicPr>
        <p:blipFill>
          <a:blip r:embed="rId2"/>
          <a:stretch>
            <a:fillRect/>
          </a:stretch>
        </p:blipFill>
        <p:spPr>
          <a:xfrm>
            <a:off x="152400" y="4878364"/>
            <a:ext cx="7725853" cy="685896"/>
          </a:xfrm>
          <a:prstGeom prst="rect">
            <a:avLst/>
          </a:prstGeom>
        </p:spPr>
      </p:pic>
      <p:pic>
        <p:nvPicPr>
          <p:cNvPr id="5" name="图片 4"/>
          <p:cNvPicPr>
            <a:picLocks noChangeAspect="1"/>
          </p:cNvPicPr>
          <p:nvPr/>
        </p:nvPicPr>
        <p:blipFill>
          <a:blip r:embed="rId3"/>
          <a:stretch>
            <a:fillRect/>
          </a:stretch>
        </p:blipFill>
        <p:spPr>
          <a:xfrm>
            <a:off x="3614996" y="4090921"/>
            <a:ext cx="3396203" cy="373745"/>
          </a:xfrm>
          <a:prstGeom prst="rect">
            <a:avLst/>
          </a:prstGeom>
        </p:spPr>
      </p:pic>
      <p:sp>
        <p:nvSpPr>
          <p:cNvPr id="7" name="文本框 6"/>
          <p:cNvSpPr txBox="1"/>
          <p:nvPr/>
        </p:nvSpPr>
        <p:spPr>
          <a:xfrm>
            <a:off x="152400" y="4077739"/>
            <a:ext cx="3396203" cy="400110"/>
          </a:xfrm>
          <a:prstGeom prst="rect">
            <a:avLst/>
          </a:prstGeom>
          <a:noFill/>
        </p:spPr>
        <p:txBody>
          <a:bodyPr wrap="square">
            <a:spAutoFit/>
          </a:bodyPr>
          <a:lstStyle/>
          <a:p>
            <a:r>
              <a:rPr lang="en-US" altLang="zh-CN" sz="2000" dirty="0"/>
              <a:t>Action chunk of future actions</a:t>
            </a:r>
            <a:endParaRPr lang="zh-CN" altLang="en-US" sz="2000" dirty="0"/>
          </a:p>
        </p:txBody>
      </p:sp>
      <p:pic>
        <p:nvPicPr>
          <p:cNvPr id="9" name="图片 8"/>
          <p:cNvPicPr>
            <a:picLocks noChangeAspect="1"/>
          </p:cNvPicPr>
          <p:nvPr/>
        </p:nvPicPr>
        <p:blipFill>
          <a:blip r:embed="rId4"/>
          <a:stretch>
            <a:fillRect/>
          </a:stretch>
        </p:blipFill>
        <p:spPr>
          <a:xfrm>
            <a:off x="3786187" y="1221530"/>
            <a:ext cx="3077004" cy="400106"/>
          </a:xfrm>
          <a:prstGeom prst="rect">
            <a:avLst/>
          </a:prstGeom>
        </p:spPr>
      </p:pic>
      <p:sp>
        <p:nvSpPr>
          <p:cNvPr id="10" name="文本框 9"/>
          <p:cNvSpPr txBox="1"/>
          <p:nvPr/>
        </p:nvSpPr>
        <p:spPr>
          <a:xfrm>
            <a:off x="2271172" y="1221526"/>
            <a:ext cx="3396203" cy="400110"/>
          </a:xfrm>
          <a:prstGeom prst="rect">
            <a:avLst/>
          </a:prstGeom>
          <a:noFill/>
        </p:spPr>
        <p:txBody>
          <a:bodyPr wrap="square">
            <a:spAutoFit/>
          </a:bodyPr>
          <a:lstStyle/>
          <a:p>
            <a:r>
              <a:rPr lang="en-US" altLang="zh-CN" sz="2000" dirty="0"/>
              <a:t>observations</a:t>
            </a:r>
            <a:endParaRPr lang="zh-CN" altLang="en-US" sz="2000" dirty="0"/>
          </a:p>
        </p:txBody>
      </p:sp>
      <p:sp>
        <p:nvSpPr>
          <p:cNvPr id="12" name="文本框 11"/>
          <p:cNvSpPr txBox="1"/>
          <p:nvPr/>
        </p:nvSpPr>
        <p:spPr>
          <a:xfrm>
            <a:off x="5693402" y="5483768"/>
            <a:ext cx="2339578" cy="369332"/>
          </a:xfrm>
          <a:prstGeom prst="rect">
            <a:avLst/>
          </a:prstGeom>
          <a:noFill/>
        </p:spPr>
        <p:txBody>
          <a:bodyPr wrap="square">
            <a:spAutoFit/>
          </a:bodyPr>
          <a:lstStyle/>
          <a:p>
            <a:r>
              <a:rPr lang="en-US" altLang="zh-CN" dirty="0"/>
              <a:t>denoising vector field</a:t>
            </a:r>
            <a:endParaRPr lang="zh-CN" altLang="en-US" dirty="0"/>
          </a:p>
        </p:txBody>
      </p:sp>
      <p:pic>
        <p:nvPicPr>
          <p:cNvPr id="15" name="图片 14"/>
          <p:cNvPicPr>
            <a:picLocks noChangeAspect="1"/>
          </p:cNvPicPr>
          <p:nvPr/>
        </p:nvPicPr>
        <p:blipFill>
          <a:blip r:embed="rId5"/>
          <a:stretch>
            <a:fillRect/>
          </a:stretch>
        </p:blipFill>
        <p:spPr>
          <a:xfrm>
            <a:off x="4904372" y="5853100"/>
            <a:ext cx="3181794" cy="400105"/>
          </a:xfrm>
          <a:prstGeom prst="rect">
            <a:avLst/>
          </a:prstGeom>
        </p:spPr>
      </p:pic>
      <p:pic>
        <p:nvPicPr>
          <p:cNvPr id="18" name="图片 17"/>
          <p:cNvPicPr>
            <a:picLocks noChangeAspect="1"/>
          </p:cNvPicPr>
          <p:nvPr/>
        </p:nvPicPr>
        <p:blipFill>
          <a:blip r:embed="rId6"/>
          <a:stretch>
            <a:fillRect/>
          </a:stretch>
        </p:blipFill>
        <p:spPr>
          <a:xfrm>
            <a:off x="7336977" y="1168560"/>
            <a:ext cx="4494110" cy="3775426"/>
          </a:xfrm>
          <a:prstGeom prst="rect">
            <a:avLst/>
          </a:prstGeom>
        </p:spPr>
      </p:pic>
      <p:sp>
        <p:nvSpPr>
          <p:cNvPr id="2" name="文本框 1"/>
          <p:cNvSpPr txBox="1"/>
          <p:nvPr/>
        </p:nvSpPr>
        <p:spPr>
          <a:xfrm>
            <a:off x="11572240" y="274320"/>
            <a:ext cx="477657" cy="369332"/>
          </a:xfrm>
          <a:prstGeom prst="rect">
            <a:avLst/>
          </a:prstGeom>
          <a:noFill/>
        </p:spPr>
        <p:txBody>
          <a:bodyPr wrap="square" rtlCol="0">
            <a:spAutoFit/>
          </a:bodyPr>
          <a:lstStyle/>
          <a:p>
            <a:r>
              <a:rPr lang="en-US" altLang="zh-CN" dirty="0"/>
              <a:t>25</a:t>
            </a:r>
            <a:endParaRPr lang="zh-CN" altLang="en-US" dirty="0"/>
          </a:p>
        </p:txBody>
      </p:sp>
      <p:sp>
        <p:nvSpPr>
          <p:cNvPr id="6" name="文本框 5"/>
          <p:cNvSpPr txBox="1"/>
          <p:nvPr/>
        </p:nvSpPr>
        <p:spPr>
          <a:xfrm>
            <a:off x="-880428" y="6222432"/>
            <a:ext cx="13095605" cy="646331"/>
          </a:xfrm>
          <a:prstGeom prst="rect">
            <a:avLst/>
          </a:prstGeom>
          <a:noFill/>
        </p:spPr>
        <p:txBody>
          <a:bodyPr wrap="square">
            <a:spAutoFit/>
          </a:bodyPr>
          <a:lstStyle/>
          <a:p>
            <a:pPr algn="r"/>
            <a:r>
              <a:rPr lang="en-US" altLang="zh-CN" dirty="0"/>
              <a:t>Black K, Brown N, </a:t>
            </a:r>
            <a:r>
              <a:rPr lang="en-US" altLang="zh-CN" dirty="0" err="1"/>
              <a:t>Driess</a:t>
            </a:r>
            <a:r>
              <a:rPr lang="en-US" altLang="zh-CN" dirty="0"/>
              <a:t> D, et al. $\pi_0 $: A Vision-Language-Action Flow Model for General Robot Control[J]. </a:t>
            </a:r>
            <a:r>
              <a:rPr lang="en-US" altLang="zh-CN" dirty="0" err="1"/>
              <a:t>arXiv</a:t>
            </a:r>
            <a:r>
              <a:rPr lang="en-US" altLang="zh-CN" dirty="0"/>
              <a:t> preprint arXiv:2410.24164, 2024.</a:t>
            </a:r>
            <a:endParaRPr lang="zh-CN" alt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526921" y="2936136"/>
            <a:ext cx="11064240" cy="628377"/>
          </a:xfrm>
          <a:prstGeom prst="rect">
            <a:avLst/>
          </a:prstGeom>
        </p:spPr>
        <p:txBody>
          <a:bodyPr vert="horz" wrap="square" lIns="0" tIns="12700" rIns="0" bIns="0" rtlCol="0">
            <a:spAutoFit/>
          </a:bodyPr>
          <a:lstStyle>
            <a:lvl1pPr>
              <a:defRPr sz="4400" b="0" i="0">
                <a:solidFill>
                  <a:schemeClr val="tx1"/>
                </a:solidFill>
                <a:latin typeface="Calibri Light"/>
                <a:ea typeface="+mj-ea"/>
                <a:cs typeface="Calibri Light"/>
              </a:defRPr>
            </a:lvl1pPr>
          </a:lstStyle>
          <a:p>
            <a:pPr marL="12700">
              <a:spcBef>
                <a:spcPts val="100"/>
              </a:spcBef>
            </a:pPr>
            <a:r>
              <a:rPr lang="en-US" altLang="zh-CN" sz="4000" kern="0" dirty="0"/>
              <a:t>Thank you for listening !</a:t>
            </a:r>
            <a:endParaRPr lang="fr-FR" sz="4000" kern="0" spc="-10" dirty="0"/>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9.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70.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wm#"/>
  <p:tag name="KSO_WM_TEMPLATE_CATEGORY" val="custom"/>
  <p:tag name="KSO_WM_TEMPLATE_INDEX" val="20205081"/>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BEAUTIFY_FLAG" val=""/>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125.xml><?xml version="1.0" encoding="utf-8"?>
<p:tagLst xmlns:p="http://schemas.openxmlformats.org/presentationml/2006/main">
  <p:tag name="KSO_WM_BEAUTIFY_FLAG" val=""/>
</p:tagLst>
</file>

<file path=ppt/tags/tag126.xml><?xml version="1.0" encoding="utf-8"?>
<p:tagLst xmlns:p="http://schemas.openxmlformats.org/presentationml/2006/main">
  <p:tag name="KSO_WM_BEAUTIFY_FLAG" val=""/>
</p:tagLst>
</file>

<file path=ppt/tags/tag127.xml><?xml version="1.0" encoding="utf-8"?>
<p:tagLst xmlns:p="http://schemas.openxmlformats.org/presentationml/2006/main">
  <p:tag name="KSO_WM_BEAUTIFY_FLAG" val=""/>
</p:tagLst>
</file>

<file path=ppt/tags/tag128.xml><?xml version="1.0" encoding="utf-8"?>
<p:tagLst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129.xml><?xml version="1.0" encoding="utf-8"?>
<p:tagLst xmlns:p="http://schemas.openxmlformats.org/presentationml/2006/main">
  <p:tag name="KSO_WM_BEAUTIFY_FLAG" val=""/>
</p:tagLst>
</file>

<file path=ppt/tags/tag130.xml><?xml version="1.0" encoding="utf-8"?>
<p:tagLst xmlns:p="http://schemas.openxmlformats.org/presentationml/2006/main">
  <p:tag name="KSO_WM_BEAUTIFY_FLAG" val=""/>
</p:tagLst>
</file>

<file path=ppt/tags/tag131.xml><?xml version="1.0" encoding="utf-8"?>
<p:tagLst xmlns:p="http://schemas.openxmlformats.org/presentationml/2006/main">
  <p:tag name="KSO_WM_BEAUTIFY_FLAG" val=""/>
</p:tagLst>
</file>

<file path=ppt/tags/tag132.xml><?xml version="1.0" encoding="utf-8"?>
<p:tagLst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133.xml><?xml version="1.0" encoding="utf-8"?>
<p:tagLst xmlns:p="http://schemas.openxmlformats.org/presentationml/2006/main">
  <p:tag name="KSO_WM_BEAUTIFY_FLAG" val=""/>
</p:tagLst>
</file>

<file path=ppt/tags/tag134.xml><?xml version="1.0" encoding="utf-8"?>
<p:tagLst xmlns:p="http://schemas.openxmlformats.org/presentationml/2006/main">
  <p:tag name="KSO_WM_BEAUTIFY_FLAG" val=""/>
</p:tagLst>
</file>

<file path=ppt/tags/tag135.xml><?xml version="1.0" encoding="utf-8"?>
<p:tagLst xmlns:p="http://schemas.openxmlformats.org/presentationml/2006/main">
  <p:tag name="KSO_WM_BEAUTIFY_FLAG" val=""/>
</p:tagLst>
</file>

<file path=ppt/tags/tag136.xml><?xml version="1.0" encoding="utf-8"?>
<p:tagLst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137.xml><?xml version="1.0" encoding="utf-8"?>
<p:tagLst xmlns:p="http://schemas.openxmlformats.org/presentationml/2006/main">
  <p:tag name="KSO_WM_BEAUTIFY_FLAG" val=""/>
</p:tagLst>
</file>

<file path=ppt/tags/tag138.xml><?xml version="1.0" encoding="utf-8"?>
<p:tagLst xmlns:p="http://schemas.openxmlformats.org/presentationml/2006/main">
  <p:tag name="KSO_WM_BEAUTIFY_FLAG" val=""/>
</p:tagLst>
</file>

<file path=ppt/tags/tag139.xml><?xml version="1.0" encoding="utf-8"?>
<p:tagLst xmlns:p="http://schemas.openxmlformats.org/presentationml/2006/main">
  <p:tag name="KSO_WM_BEAUTIFY_FLAG" val=""/>
</p:tagLst>
</file>

<file path=ppt/tags/tag140.xml><?xml version="1.0" encoding="utf-8"?>
<p:tagLst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141.xml><?xml version="1.0" encoding="utf-8"?>
<p:tagLst xmlns:p="http://schemas.openxmlformats.org/presentationml/2006/main">
  <p:tag name="KSO_WM_BEAUTIFY_FLAG" val=""/>
</p:tagLst>
</file>

<file path=ppt/tags/tag142.xml><?xml version="1.0" encoding="utf-8"?>
<p:tagLst xmlns:p="http://schemas.openxmlformats.org/presentationml/2006/main">
  <p:tag name="KSO_WM_BEAUTIFY_FLAG" val=""/>
</p:tagLst>
</file>

<file path=ppt/tags/tag143.xml><?xml version="1.0" encoding="utf-8"?>
<p:tagLst xmlns:p="http://schemas.openxmlformats.org/presentationml/2006/main">
  <p:tag name="KSO_WM_BEAUTIFY_FLAG" val=""/>
</p:tagLst>
</file>

<file path=ppt/tags/tag144.xml><?xml version="1.0" encoding="utf-8"?>
<p:tagLst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145.xml><?xml version="1.0" encoding="utf-8"?>
<p:tagLst xmlns:p="http://schemas.openxmlformats.org/presentationml/2006/main">
  <p:tag name="KSO_WM_BEAUTIFY_FLAG" val=""/>
</p:tagLst>
</file>

<file path=ppt/tags/tag146.xml><?xml version="1.0" encoding="utf-8"?>
<p:tagLst xmlns:p="http://schemas.openxmlformats.org/presentationml/2006/main">
  <p:tag name="KSO_WM_BEAUTIFY_FLAG" val=""/>
</p:tagLst>
</file>

<file path=ppt/tags/tag147.xml><?xml version="1.0" encoding="utf-8"?>
<p:tagLst xmlns:p="http://schemas.openxmlformats.org/presentationml/2006/main">
  <p:tag name="KSO_WM_BEAUTIFY_FLAG" val=""/>
</p:tagLst>
</file>

<file path=ppt/tags/tag148.xml><?xml version="1.0" encoding="utf-8"?>
<p:tagLst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149.xml><?xml version="1.0" encoding="utf-8"?>
<p:tagLst xmlns:p="http://schemas.openxmlformats.org/presentationml/2006/main">
  <p:tag name="KSO_WM_BEAUTIFY_FLAG" val=""/>
</p:tagLst>
</file>

<file path=ppt/tags/tag150.xml><?xml version="1.0" encoding="utf-8"?>
<p:tagLst xmlns:p="http://schemas.openxmlformats.org/presentationml/2006/main">
  <p:tag name="KSO_WM_BEAUTIFY_FLAG" val=""/>
</p:tagLst>
</file>

<file path=ppt/tags/tag151.xml><?xml version="1.0" encoding="utf-8"?>
<p:tagLst xmlns:p="http://schemas.openxmlformats.org/presentationml/2006/main">
  <p:tag name="KSO_WM_BEAUTIFY_FLAG" val=""/>
</p:tagLst>
</file>

<file path=ppt/tags/tag152.xml><?xml version="1.0" encoding="utf-8"?>
<p:tagLst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153.xml><?xml version="1.0" encoding="utf-8"?>
<p:tagLst xmlns:p="http://schemas.openxmlformats.org/presentationml/2006/main">
  <p:tag name="KSO_WM_BEAUTIFY_FLAG" val=""/>
</p:tagLst>
</file>

<file path=ppt/tags/tag154.xml><?xml version="1.0" encoding="utf-8"?>
<p:tagLst xmlns:p="http://schemas.openxmlformats.org/presentationml/2006/main">
  <p:tag name="KSO_WM_BEAUTIFY_FLAG" val=""/>
</p:tagLst>
</file>

<file path=ppt/tags/tag155.xml><?xml version="1.0" encoding="utf-8"?>
<p:tagLst xmlns:p="http://schemas.openxmlformats.org/presentationml/2006/main">
  <p:tag name="KSO_WM_BEAUTIFY_FLAG" val=""/>
</p:tagLst>
</file>

<file path=ppt/tags/tag156.xml><?xml version="1.0" encoding="utf-8"?>
<p:tagLst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157.xml><?xml version="1.0" encoding="utf-8"?>
<p:tagLst xmlns:p="http://schemas.openxmlformats.org/presentationml/2006/main">
  <p:tag name="KSO_WM_BEAUTIFY_FLAG" val=""/>
</p:tagLst>
</file>

<file path=ppt/tags/tag158.xml><?xml version="1.0" encoding="utf-8"?>
<p:tagLst xmlns:p="http://schemas.openxmlformats.org/presentationml/2006/main">
  <p:tag name="KSO_WM_BEAUTIFY_FLAG" val=""/>
</p:tagLst>
</file>

<file path=ppt/tags/tag159.xml><?xml version="1.0" encoding="utf-8"?>
<p:tagLst xmlns:p="http://schemas.openxmlformats.org/presentationml/2006/main">
  <p:tag name="KSO_WM_BEAUTIFY_FLAG" val=""/>
</p:tagLst>
</file>

<file path=ppt/tags/tag160.xml><?xml version="1.0" encoding="utf-8"?>
<p:tagLst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161.xml><?xml version="1.0" encoding="utf-8"?>
<p:tagLst xmlns:p="http://schemas.openxmlformats.org/presentationml/2006/main">
  <p:tag name="KSO_WM_BEAUTIFY_FLAG" val=""/>
</p:tagLst>
</file>

<file path=ppt/tags/tag162.xml><?xml version="1.0" encoding="utf-8"?>
<p:tagLst xmlns:p="http://schemas.openxmlformats.org/presentationml/2006/main">
  <p:tag name="KSO_WM_BEAUTIFY_FLAG" val=""/>
</p:tagLst>
</file>

<file path=ppt/tags/tag163.xml><?xml version="1.0" encoding="utf-8"?>
<p:tagLst xmlns:p="http://schemas.openxmlformats.org/presentationml/2006/main">
  <p:tag name="KSO_WM_BEAUTIFY_FLAG" val=""/>
</p:tagLst>
</file>

<file path=ppt/tags/tag164.xml><?xml version="1.0" encoding="utf-8"?>
<p:tagLst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165.xml><?xml version="1.0" encoding="utf-8"?>
<p:tagLst xmlns:p="http://schemas.openxmlformats.org/presentationml/2006/main">
  <p:tag name="KSO_WM_BEAUTIFY_FLAG" val=""/>
</p:tagLst>
</file>

<file path=ppt/tags/tag166.xml><?xml version="1.0" encoding="utf-8"?>
<p:tagLst xmlns:p="http://schemas.openxmlformats.org/presentationml/2006/main">
  <p:tag name="KSO_WM_BEAUTIFY_FLAG" val=""/>
</p:tagLst>
</file>

<file path=ppt/tags/tag167.xml><?xml version="1.0" encoding="utf-8"?>
<p:tagLst xmlns:p="http://schemas.openxmlformats.org/presentationml/2006/main">
  <p:tag name="KSO_WM_BEAUTIFY_FLAG" val=""/>
</p:tagLst>
</file>

<file path=ppt/tags/tag168.xml><?xml version="1.0" encoding="utf-8"?>
<p:tagLst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169.xml><?xml version="1.0" encoding="utf-8"?>
<p:tagLst xmlns:p="http://schemas.openxmlformats.org/presentationml/2006/main">
  <p:tag name="KSO_WM_BEAUTIFY_FLAG" val=""/>
</p:tagLst>
</file>

<file path=ppt/tags/tag170.xml><?xml version="1.0" encoding="utf-8"?>
<p:tagLst xmlns:p="http://schemas.openxmlformats.org/presentationml/2006/main">
  <p:tag name="KSO_WM_BEAUTIFY_FLAG" val=""/>
</p:tagLst>
</file>

<file path=ppt/tags/tag171.xml><?xml version="1.0" encoding="utf-8"?>
<p:tagLst xmlns:p="http://schemas.openxmlformats.org/presentationml/2006/main">
  <p:tag name="KSO_WM_BEAUTIFY_FLAG" val=""/>
</p:tagLst>
</file>

<file path=ppt/tags/tag172.xml><?xml version="1.0" encoding="utf-8"?>
<p:tagLst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173.xml><?xml version="1.0" encoding="utf-8"?>
<p:tagLst xmlns:p="http://schemas.openxmlformats.org/presentationml/2006/main">
  <p:tag name="KSO_WM_BEAUTIFY_FLAG" val=""/>
</p:tagLst>
</file>

<file path=ppt/tags/tag174.xml><?xml version="1.0" encoding="utf-8"?>
<p:tagLst xmlns:p="http://schemas.openxmlformats.org/presentationml/2006/main">
  <p:tag name="KSO_WM_BEAUTIFY_FLAG" val=""/>
</p:tagLst>
</file>

<file path=ppt/tags/tag175.xml><?xml version="1.0" encoding="utf-8"?>
<p:tagLst xmlns:p="http://schemas.openxmlformats.org/presentationml/2006/main">
  <p:tag name="KSO_WM_BEAUTIFY_FLAG" val=""/>
</p:tagLst>
</file>

<file path=ppt/tags/tag176.xml><?xml version="1.0" encoding="utf-8"?>
<p:tagLst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177.xml><?xml version="1.0" encoding="utf-8"?>
<p:tagLst xmlns:p="http://schemas.openxmlformats.org/presentationml/2006/main">
  <p:tag name="KSO_WM_BEAUTIFY_FLAG" val=""/>
</p:tagLst>
</file>

<file path=ppt/tags/tag178.xml><?xml version="1.0" encoding="utf-8"?>
<p:tagLst xmlns:p="http://schemas.openxmlformats.org/presentationml/2006/main">
  <p:tag name="KSO_WM_BEAUTIFY_FLAG" val=""/>
</p:tagLst>
</file>

<file path=ppt/tags/tag179.xml><?xml version="1.0" encoding="utf-8"?>
<p:tagLst xmlns:p="http://schemas.openxmlformats.org/presentationml/2006/main">
  <p:tag name="KSO_WM_BEAUTIFY_FLAG" val=""/>
</p:tagLst>
</file>

<file path=ppt/tags/tag180.xml><?xml version="1.0" encoding="utf-8"?>
<p:tagLst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181.xml><?xml version="1.0" encoding="utf-8"?>
<p:tagLst xmlns:p="http://schemas.openxmlformats.org/presentationml/2006/main">
  <p:tag name="KSO_WM_BEAUTIFY_FLAG" val=""/>
</p:tagLst>
</file>

<file path=ppt/tags/tag182.xml><?xml version="1.0" encoding="utf-8"?>
<p:tagLst xmlns:p="http://schemas.openxmlformats.org/presentationml/2006/main">
  <p:tag name="KSO_WM_BEAUTIFY_FLAG" val=""/>
</p:tagLst>
</file>

<file path=ppt/tags/tag183.xml><?xml version="1.0" encoding="utf-8"?>
<p:tagLst xmlns:p="http://schemas.openxmlformats.org/presentationml/2006/main">
  <p:tag name="KSO_WM_BEAUTIFY_FLAG" val=""/>
</p:tagLst>
</file>

<file path=ppt/tags/tag184.xml><?xml version="1.0" encoding="utf-8"?>
<p:tagLst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185.xml><?xml version="1.0" encoding="utf-8"?>
<p:tagLst xmlns:p="http://schemas.openxmlformats.org/presentationml/2006/main">
  <p:tag name="KSO_WM_BEAUTIFY_FLAG" val=""/>
</p:tagLst>
</file>

<file path=ppt/tags/tag186.xml><?xml version="1.0" encoding="utf-8"?>
<p:tagLst xmlns:p="http://schemas.openxmlformats.org/presentationml/2006/main">
  <p:tag name="KSO_WM_BEAUTIFY_FLAG" val=""/>
</p:tagLst>
</file>

<file path=ppt/tags/tag187.xml><?xml version="1.0" encoding="utf-8"?>
<p:tagLst xmlns:p="http://schemas.openxmlformats.org/presentationml/2006/main">
  <p:tag name="KSO_WM_BEAUTIFY_FLAG" val=""/>
</p:tagLst>
</file>

<file path=ppt/tags/tag188.xml><?xml version="1.0" encoding="utf-8"?>
<p:tagLst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189.xml><?xml version="1.0" encoding="utf-8"?>
<p:tagLst xmlns:p="http://schemas.openxmlformats.org/presentationml/2006/main">
  <p:tag name="KSO_WM_BEAUTIFY_FLAG" val=""/>
</p:tagLst>
</file>

<file path=ppt/tags/tag190.xml><?xml version="1.0" encoding="utf-8"?>
<p:tagLst xmlns:p="http://schemas.openxmlformats.org/presentationml/2006/main">
  <p:tag name="KSO_WM_BEAUTIFY_FLAG" val=""/>
</p:tagLst>
</file>

<file path=ppt/tags/tag191.xml><?xml version="1.0" encoding="utf-8"?>
<p:tagLst xmlns:p="http://schemas.openxmlformats.org/presentationml/2006/main">
  <p:tag name="KSO_WM_BEAUTIFY_FLAG" val=""/>
</p:tagLst>
</file>

<file path=ppt/tags/tag192.xml><?xml version="1.0" encoding="utf-8"?>
<p:tagLst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193.xml><?xml version="1.0" encoding="utf-8"?>
<p:tagLst xmlns:p="http://schemas.openxmlformats.org/presentationml/2006/main">
  <p:tag name="KSO_WM_BEAUTIFY_FLAG" val=""/>
</p:tagLst>
</file>

<file path=ppt/tags/tag194.xml><?xml version="1.0" encoding="utf-8"?>
<p:tagLst xmlns:p="http://schemas.openxmlformats.org/presentationml/2006/main">
  <p:tag name="KSO_WM_BEAUTIFY_FLAG" val=""/>
</p:tagLst>
</file>

<file path=ppt/tags/tag195.xml><?xml version="1.0" encoding="utf-8"?>
<p:tagLst xmlns:p="http://schemas.openxmlformats.org/presentationml/2006/main">
  <p:tag name="KSO_WM_BEAUTIFY_FLAG" val=""/>
</p:tagLst>
</file>

<file path=ppt/tags/tag196.xml><?xml version="1.0" encoding="utf-8"?>
<p:tagLst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197.xml><?xml version="1.0" encoding="utf-8"?>
<p:tagLst xmlns:p="http://schemas.openxmlformats.org/presentationml/2006/main">
  <p:tag name="KSO_WM_BEAUTIFY_FLAG" val=""/>
</p:tagLst>
</file>

<file path=ppt/tags/tag198.xml><?xml version="1.0" encoding="utf-8"?>
<p:tagLst xmlns:p="http://schemas.openxmlformats.org/presentationml/2006/main">
  <p:tag name="KSO_WM_BEAUTIFY_FLAG" val=""/>
</p:tagLst>
</file>

<file path=ppt/tags/tag199.xml><?xml version="1.0" encoding="utf-8"?>
<p:tagLst xmlns:p="http://schemas.openxmlformats.org/presentationml/2006/main">
  <p:tag name="KSO_WM_BEAUTIFY_FLAG" val=""/>
</p:tagLst>
</file>

<file path=ppt/tags/tag200.xml><?xml version="1.0" encoding="utf-8"?>
<p:tagLst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201.xml><?xml version="1.0" encoding="utf-8"?>
<p:tagLst xmlns:p="http://schemas.openxmlformats.org/presentationml/2006/main">
  <p:tag name="KSO_WM_BEAUTIFY_FLAG" val=""/>
</p:tagLst>
</file>

<file path=ppt/tags/tag202.xml><?xml version="1.0" encoding="utf-8"?>
<p:tagLst xmlns:p="http://schemas.openxmlformats.org/presentationml/2006/main">
  <p:tag name="KSO_WM_BEAUTIFY_FLAG" val=""/>
</p:tagLst>
</file>

<file path=ppt/tags/tag203.xml><?xml version="1.0" encoding="utf-8"?>
<p:tagLst xmlns:p="http://schemas.openxmlformats.org/presentationml/2006/main">
  <p:tag name="KSO_WM_BEAUTIFY_FLAG" val=""/>
</p:tagLst>
</file>

<file path=ppt/tags/tag204.xml><?xml version="1.0" encoding="utf-8"?>
<p:tagLst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ln w="12700" cmpd="sng">
          <a:noFill/>
          <a:prstDash val="solid"/>
        </a:ln>
        <a:effectLst>
          <a:outerShdw dist="63500" dir="2700000" algn="tl" rotWithShape="0">
            <a:schemeClr val="bg1">
              <a:alpha val="100000"/>
            </a:schemeClr>
          </a:outerShdw>
        </a:effectLst>
      </a:spPr>
      <a:bodyPr wrap="square" rtlCol="0" anchor="t" anchorCtr="0">
        <a:spAutoFit/>
      </a:bodyPr>
      <a:lstStyle>
        <a:defPPr algn="l">
          <a:lnSpc>
            <a:spcPct val="130000"/>
          </a:lnSpc>
          <a:defRPr sz="2400" i="0" dirty="0">
            <a:ln w="19050">
              <a:noFill/>
            </a:ln>
            <a:solidFill>
              <a:schemeClr val="tx1"/>
            </a:solidFill>
            <a:latin typeface="微软雅黑" charset="-122"/>
            <a:ea typeface="微软雅黑" charset="-122"/>
            <a:cs typeface="Bauhaus 93" panose="04030905020B02020C02"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宋体"/>
        <a:ea typeface=""/>
        <a:cs typeface=""/>
        <a:font script="Jpan" typeface="游ゴシック Light"/>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宋体"/>
        <a:ea typeface=""/>
        <a:cs typeface=""/>
        <a:font script="Jpan" typeface="游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8655</Words>
  <Application>WPS 演示</Application>
  <PresentationFormat>宽屏</PresentationFormat>
  <Paragraphs>697</Paragraphs>
  <Slides>62</Slides>
  <Notes>11</Notes>
  <HiddenSlides>0</HiddenSlides>
  <MMClips>0</MMClips>
  <ScaleCrop>false</ScaleCrop>
  <HeadingPairs>
    <vt:vector size="6" baseType="variant">
      <vt:variant>
        <vt:lpstr>已用的字体</vt:lpstr>
      </vt:variant>
      <vt:variant>
        <vt:i4>38</vt:i4>
      </vt:variant>
      <vt:variant>
        <vt:lpstr>主题</vt:lpstr>
      </vt:variant>
      <vt:variant>
        <vt:i4>4</vt:i4>
      </vt:variant>
      <vt:variant>
        <vt:lpstr>幻灯片标题</vt:lpstr>
      </vt:variant>
      <vt:variant>
        <vt:i4>62</vt:i4>
      </vt:variant>
    </vt:vector>
  </HeadingPairs>
  <TitlesOfParts>
    <vt:vector size="104" baseType="lpstr">
      <vt:lpstr>Arial</vt:lpstr>
      <vt:lpstr>宋体</vt:lpstr>
      <vt:lpstr>Wingdings</vt:lpstr>
      <vt:lpstr>微软雅黑</vt:lpstr>
      <vt:lpstr>汉仪旗黑</vt:lpstr>
      <vt:lpstr>Bauhaus 93</vt:lpstr>
      <vt:lpstr>苹方-简</vt:lpstr>
      <vt:lpstr>黑体</vt:lpstr>
      <vt:lpstr>汉仪中黑KW</vt:lpstr>
      <vt:lpstr>造字工房朗倩（非商用）常规体</vt:lpstr>
      <vt:lpstr>Times New Roman</vt:lpstr>
      <vt:lpstr>Times New Roman Regular</vt:lpstr>
      <vt:lpstr>宋体</vt:lpstr>
      <vt:lpstr>Wingdings</vt:lpstr>
      <vt:lpstr>Cambria Math</vt:lpstr>
      <vt:lpstr>DejaVu Math TeX Gyre</vt:lpstr>
      <vt:lpstr>Kingsoft Math</vt:lpstr>
      <vt:lpstr>等线</vt:lpstr>
      <vt:lpstr>汉仪中等线KW</vt:lpstr>
      <vt:lpstr>Arial Unicode MS</vt:lpstr>
      <vt:lpstr>等线 Light</vt:lpstr>
      <vt:lpstr>汉仪书宋二KW</vt:lpstr>
      <vt:lpstr>阿里巴巴普惠体 R</vt:lpstr>
      <vt:lpstr>阿里巴巴普惠体 B</vt:lpstr>
      <vt:lpstr>-apple-system</vt:lpstr>
      <vt:lpstr>Thonburi</vt:lpstr>
      <vt:lpstr>Google Sans Text</vt:lpstr>
      <vt:lpstr>KaTeX_Main</vt:lpstr>
      <vt:lpstr>KaTeX_Math</vt:lpstr>
      <vt:lpstr>Lato</vt:lpstr>
      <vt:lpstr>Calibri Light</vt:lpstr>
      <vt:lpstr>Helvetica Neue</vt:lpstr>
      <vt:lpstr>Calibri</vt:lpstr>
      <vt:lpstr>ui-sans-serif</vt:lpstr>
      <vt:lpstr>宋体-简</vt:lpstr>
      <vt:lpstr>BatangChe</vt:lpstr>
      <vt:lpstr>Apple SD Gothic Neo</vt:lpstr>
      <vt:lpstr>DejaVuMathTeXGyre</vt:lpstr>
      <vt:lpstr>Office 主题​​</vt:lpstr>
      <vt:lpstr>1_WPS</vt:lpstr>
      <vt:lpstr>1_Office 主题​​</vt:lpstr>
      <vt:lpstr>Office Theme</vt:lpstr>
      <vt:lpstr>PowerPoint 演示文稿</vt:lpstr>
      <vt:lpstr>PowerPoint 演示文稿</vt:lpstr>
      <vt:lpstr>PowerPoint 演示文稿</vt:lpstr>
      <vt:lpstr>PowerPoint 演示文稿</vt:lpstr>
      <vt:lpstr>PowerPoint 演示文稿</vt:lpstr>
      <vt:lpstr>GAN &amp; VAE</vt:lpstr>
      <vt:lpstr>DDPM整体架构</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Stable diffusion (Unet)</vt:lpstr>
      <vt:lpstr>Stable diffusion:background</vt:lpstr>
      <vt:lpstr>Stable diffusion</vt:lpstr>
      <vt:lpstr>PowerPoint 演示文稿</vt:lpstr>
      <vt:lpstr>Guidance and Controllable Generation</vt:lpstr>
      <vt:lpstr>Classifier Guidance</vt:lpstr>
      <vt:lpstr>Classifier Guidance</vt:lpstr>
      <vt:lpstr>Classifier Guidance</vt:lpstr>
      <vt:lpstr>Classifier Guidance</vt:lpstr>
      <vt:lpstr>Classifier Free Guidance</vt:lpstr>
      <vt:lpstr>Classifier Free Guidance</vt:lpstr>
      <vt:lpstr>Classifier Free Guidance</vt:lpstr>
      <vt:lpstr>Diffusion-DPO</vt:lpstr>
      <vt:lpstr>Diffusion-DPO</vt:lpstr>
      <vt:lpstr>Diffusion-DPO</vt:lpstr>
      <vt:lpstr>Diffusion-DPO:Toward a Tractable Surrogate </vt:lpstr>
      <vt:lpstr>Diffusion-DPO:Toward a Tractable Surrogate </vt:lpstr>
      <vt:lpstr>Diffusion-DPO:Toward a Tractable Surrogate </vt:lpstr>
      <vt:lpstr>Diffusion-DPO:Toward a Tractable Surrogate </vt:lpstr>
      <vt:lpstr>Application Of Diffusion Models</vt:lpstr>
      <vt:lpstr>Personalized Image Generation : Dreambooth</vt:lpstr>
      <vt:lpstr>Personalized Image Generation :Textual Inversion</vt:lpstr>
      <vt:lpstr>Personalized Image Generation :IP Adapter</vt:lpstr>
      <vt:lpstr>Diffusion for 3D: Trellis</vt:lpstr>
      <vt:lpstr>Diffusion for embodied intelligence: Diffusion policy</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G avbd</cp:lastModifiedBy>
  <cp:revision>41</cp:revision>
  <dcterms:created xsi:type="dcterms:W3CDTF">2026-04-06T11:18:47Z</dcterms:created>
  <dcterms:modified xsi:type="dcterms:W3CDTF">2026-04-06T11:18:47Z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2052-6.7.1.8828</vt:lpwstr>
  </property>
  <property fmtid="{D5CDD505-2E9C-101B-9397-08002B2CF9AE}" pid="3" name="ICV">
    <vt:lpwstr>071226C382C30E575194C369D9499B2F_41</vt:lpwstr>
  </property>
</Properties>
</file>